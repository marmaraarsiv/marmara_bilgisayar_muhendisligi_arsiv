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6" r:id="rId2"/>
    <p:sldId id="306" r:id="rId3"/>
    <p:sldId id="287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5" r:id="rId12"/>
    <p:sldId id="296" r:id="rId13"/>
    <p:sldId id="297" r:id="rId14"/>
    <p:sldId id="305" r:id="rId15"/>
    <p:sldId id="303" r:id="rId16"/>
    <p:sldId id="304" r:id="rId17"/>
    <p:sldId id="298" r:id="rId18"/>
    <p:sldId id="299" r:id="rId19"/>
    <p:sldId id="300" r:id="rId20"/>
  </p:sldIdLst>
  <p:sldSz cx="9144000" cy="6858000" type="screen4x3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94660"/>
  </p:normalViewPr>
  <p:slideViewPr>
    <p:cSldViewPr snapToGrid="0">
      <p:cViewPr varScale="1">
        <p:scale>
          <a:sx n="87" d="100"/>
          <a:sy n="87" d="100"/>
        </p:scale>
        <p:origin x="1267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85E6-D7D8-456E-B3AB-323E22BF8208}" type="datetimeFigureOut">
              <a:rPr lang="tr-TR" smtClean="0"/>
              <a:pPr/>
              <a:t>18.10.2023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8124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85E6-D7D8-456E-B3AB-323E22BF8208}" type="datetimeFigureOut">
              <a:rPr lang="tr-TR" smtClean="0"/>
              <a:pPr/>
              <a:t>18.10.2023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14883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85E6-D7D8-456E-B3AB-323E22BF8208}" type="datetimeFigureOut">
              <a:rPr lang="tr-TR" smtClean="0"/>
              <a:pPr/>
              <a:t>18.10.2023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2836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85E6-D7D8-456E-B3AB-323E22BF8208}" type="datetimeFigureOut">
              <a:rPr lang="tr-TR" smtClean="0"/>
              <a:pPr/>
              <a:t>18.10.2023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0599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85E6-D7D8-456E-B3AB-323E22BF8208}" type="datetimeFigureOut">
              <a:rPr lang="tr-TR" smtClean="0"/>
              <a:pPr/>
              <a:t>18.10.2023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38649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85E6-D7D8-456E-B3AB-323E22BF8208}" type="datetimeFigureOut">
              <a:rPr lang="tr-TR" smtClean="0"/>
              <a:pPr/>
              <a:t>18.10.2023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72071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85E6-D7D8-456E-B3AB-323E22BF8208}" type="datetimeFigureOut">
              <a:rPr lang="tr-TR" smtClean="0"/>
              <a:pPr/>
              <a:t>18.10.2023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26824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85E6-D7D8-456E-B3AB-323E22BF8208}" type="datetimeFigureOut">
              <a:rPr lang="tr-TR" smtClean="0"/>
              <a:pPr/>
              <a:t>18.10.2023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6252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85E6-D7D8-456E-B3AB-323E22BF8208}" type="datetimeFigureOut">
              <a:rPr lang="tr-TR" smtClean="0"/>
              <a:pPr/>
              <a:t>18.10.2023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66702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85E6-D7D8-456E-B3AB-323E22BF8208}" type="datetimeFigureOut">
              <a:rPr lang="tr-TR" smtClean="0"/>
              <a:pPr/>
              <a:t>18.10.2023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82765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485E6-D7D8-456E-B3AB-323E22BF8208}" type="datetimeFigureOut">
              <a:rPr lang="tr-TR" smtClean="0"/>
              <a:pPr/>
              <a:t>18.10.2023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2464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26588"/>
            <a:ext cx="7886700" cy="695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dirty="0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980661"/>
            <a:ext cx="7886700" cy="51963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dirty="0" smtClean="0"/>
              <a:t>Asıl metin stillerini düzenlemek için tıklatın</a:t>
            </a:r>
          </a:p>
          <a:p>
            <a:pPr lvl="1"/>
            <a:r>
              <a:rPr lang="tr-TR" dirty="0" smtClean="0"/>
              <a:t>İkinci düzey</a:t>
            </a:r>
          </a:p>
          <a:p>
            <a:pPr lvl="2"/>
            <a:r>
              <a:rPr lang="tr-TR" dirty="0" smtClean="0"/>
              <a:t>Üçüncü düzey</a:t>
            </a:r>
          </a:p>
          <a:p>
            <a:pPr lvl="3"/>
            <a:r>
              <a:rPr lang="tr-TR" dirty="0" smtClean="0"/>
              <a:t>Dördüncü düzey</a:t>
            </a:r>
          </a:p>
          <a:p>
            <a:pPr lvl="4"/>
            <a:r>
              <a:rPr lang="tr-TR" dirty="0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tr-TR" dirty="0" smtClean="0"/>
              <a:t>BLM2001</a:t>
            </a:r>
            <a:endParaRPr lang="tr-T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F47A8-CE79-4D40-8D7E-128A603A02E9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54382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FF0000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Bilgisayar </a:t>
            </a:r>
            <a:r>
              <a:rPr lang="tr-TR" dirty="0" err="1" smtClean="0"/>
              <a:t>Porgramlama</a:t>
            </a:r>
            <a:r>
              <a:rPr lang="tr-TR" dirty="0" smtClean="0"/>
              <a:t> II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r-TR" dirty="0" smtClean="0"/>
          </a:p>
          <a:p>
            <a:endParaRPr lang="tr-TR" dirty="0"/>
          </a:p>
          <a:p>
            <a:r>
              <a:rPr lang="tr-TR" dirty="0" smtClean="0"/>
              <a:t>BLM2001-3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88254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Örnek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Komut dosyanız, kullanıcıdan [1 : 100] aralığında pozitif bir tamsayı değeri istemeye devam edecek ve bu girdinin asal olup olmadığını değerlendirecektir.</a:t>
            </a:r>
          </a:p>
        </p:txBody>
      </p:sp>
    </p:spTree>
    <p:extLst>
      <p:ext uri="{BB962C8B-B14F-4D97-AF65-F5344CB8AC3E}">
        <p14:creationId xmlns:p14="http://schemas.microsoft.com/office/powerpoint/2010/main" val="381945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Hatırlatma – in işleci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28650" y="980661"/>
            <a:ext cx="4467785" cy="5196302"/>
          </a:xfrm>
        </p:spPr>
        <p:txBody>
          <a:bodyPr/>
          <a:lstStyle/>
          <a:p>
            <a:r>
              <a:rPr lang="tr-TR" dirty="0" smtClean="0"/>
              <a:t>İn kelimesi İngilizce de içinde, dahil anlamında kullanılır</a:t>
            </a:r>
          </a:p>
          <a:p>
            <a:pPr lvl="1"/>
            <a:r>
              <a:rPr lang="tr-TR" dirty="0" err="1" smtClean="0"/>
              <a:t>Phyton</a:t>
            </a:r>
            <a:r>
              <a:rPr lang="tr-TR" dirty="0" smtClean="0"/>
              <a:t> dili kullanımı da benzer</a:t>
            </a:r>
          </a:p>
          <a:p>
            <a:pPr lvl="1"/>
            <a:r>
              <a:rPr lang="tr-TR" dirty="0" smtClean="0"/>
              <a:t>Bir </a:t>
            </a:r>
            <a:r>
              <a:rPr lang="tr-TR" dirty="0" err="1" smtClean="0"/>
              <a:t>stringin</a:t>
            </a:r>
            <a:r>
              <a:rPr lang="tr-TR" dirty="0" smtClean="0"/>
              <a:t>, dizinin, veri kümesinin içerisinde aranan bir değer için </a:t>
            </a:r>
            <a:r>
              <a:rPr lang="tr-TR" dirty="0" err="1" smtClean="0"/>
              <a:t>boolean</a:t>
            </a:r>
            <a:r>
              <a:rPr lang="tr-TR" dirty="0" smtClean="0"/>
              <a:t> geri dönüş verebilir</a:t>
            </a:r>
          </a:p>
          <a:p>
            <a:pPr lvl="2"/>
            <a:r>
              <a:rPr lang="tr-TR" dirty="0" smtClean="0"/>
              <a:t>True - </a:t>
            </a:r>
            <a:r>
              <a:rPr lang="tr-TR" dirty="0" err="1" smtClean="0"/>
              <a:t>False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9214" y="1309687"/>
            <a:ext cx="3336964" cy="1581431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406" y="4186797"/>
            <a:ext cx="4950032" cy="117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118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Liste Veri Türü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28650" y="744711"/>
            <a:ext cx="7886700" cy="5196302"/>
          </a:xfrm>
        </p:spPr>
        <p:txBody>
          <a:bodyPr/>
          <a:lstStyle/>
          <a:p>
            <a:r>
              <a:rPr lang="tr-TR" dirty="0" smtClean="0"/>
              <a:t>Liste veri türünün klasik dizilerden farkı belirli bir türde veri içermek zorunda olmamasıdır.</a:t>
            </a:r>
          </a:p>
          <a:p>
            <a:pPr lvl="1"/>
            <a:r>
              <a:rPr lang="tr-TR" dirty="0" smtClean="0"/>
              <a:t>Hem </a:t>
            </a:r>
            <a:r>
              <a:rPr lang="tr-TR" dirty="0" err="1" smtClean="0"/>
              <a:t>string</a:t>
            </a:r>
            <a:r>
              <a:rPr lang="tr-TR" dirty="0" smtClean="0"/>
              <a:t> hem sayısal veri içerebilir</a:t>
            </a:r>
          </a:p>
          <a:p>
            <a:pPr lvl="1"/>
            <a:r>
              <a:rPr lang="tr-TR" dirty="0" smtClean="0"/>
              <a:t>Listenin üyeleri [ ] parantezler arasında , ile ayrılarak yazılır</a:t>
            </a:r>
          </a:p>
          <a:p>
            <a:pPr lvl="1"/>
            <a:r>
              <a:rPr lang="tr-TR" dirty="0" err="1" smtClean="0"/>
              <a:t>String</a:t>
            </a:r>
            <a:r>
              <a:rPr lang="tr-TR" dirty="0" smtClean="0"/>
              <a:t> ifadeler " " işaretleri arasında belirtilmelidir</a:t>
            </a:r>
          </a:p>
          <a:p>
            <a:pPr lvl="1"/>
            <a:r>
              <a:rPr lang="tr-TR" dirty="0" smtClean="0"/>
              <a:t>Sayısal veriler için ihtiyaç yoktur</a:t>
            </a:r>
          </a:p>
          <a:p>
            <a:pPr lvl="2"/>
            <a:r>
              <a:rPr lang="tr-TR" dirty="0" smtClean="0"/>
              <a:t>Sayısal verilerde "" kullanılırsa ne olur?</a:t>
            </a:r>
          </a:p>
          <a:p>
            <a:r>
              <a:rPr lang="tr-TR" sz="2400" dirty="0" smtClean="0"/>
              <a:t>Liste = ["</a:t>
            </a:r>
            <a:r>
              <a:rPr lang="tr-TR" sz="2400" dirty="0" err="1" smtClean="0"/>
              <a:t>İstanbul","Kadıköy","Ata</a:t>
            </a:r>
            <a:r>
              <a:rPr lang="tr-TR" sz="2400" dirty="0" smtClean="0"/>
              <a:t> Caddesi",10,4,34722]</a:t>
            </a:r>
          </a:p>
          <a:p>
            <a:pPr lvl="1"/>
            <a:r>
              <a:rPr lang="tr-TR" sz="2000" dirty="0" err="1" smtClean="0"/>
              <a:t>Len</a:t>
            </a:r>
            <a:r>
              <a:rPr lang="tr-TR" sz="2000" dirty="0" smtClean="0"/>
              <a:t>() işlevi listenin uzunluğunu verir</a:t>
            </a:r>
            <a:endParaRPr lang="tr-TR" sz="2000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620" y="4792195"/>
            <a:ext cx="6948420" cy="909357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27" y="5864088"/>
            <a:ext cx="7138658" cy="62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742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Liste Veri Türü – </a:t>
            </a:r>
            <a:r>
              <a:rPr lang="tr-TR" dirty="0" err="1" smtClean="0"/>
              <a:t>append</a:t>
            </a:r>
            <a:r>
              <a:rPr lang="tr-TR" dirty="0" smtClean="0"/>
              <a:t>() İşlevi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Eklemek, iliştirmek anlamına gelen </a:t>
            </a:r>
            <a:r>
              <a:rPr lang="tr-TR" dirty="0" err="1" smtClean="0"/>
              <a:t>Append</a:t>
            </a:r>
            <a:r>
              <a:rPr lang="tr-TR" dirty="0" smtClean="0"/>
              <a:t> bir listenin sonuna eleman eklemek için kullanılır.</a:t>
            </a:r>
          </a:p>
          <a:p>
            <a:endParaRPr lang="tr-TR" dirty="0"/>
          </a:p>
          <a:p>
            <a:r>
              <a:rPr lang="tr-TR" dirty="0" smtClean="0"/>
              <a:t>. İşlevi sonuna geldiği nesneye önüne geldiği işlevi uygular</a:t>
            </a:r>
          </a:p>
          <a:p>
            <a:pPr lvl="1"/>
            <a:r>
              <a:rPr lang="tr-TR" dirty="0" err="1" smtClean="0"/>
              <a:t>Liste.append</a:t>
            </a:r>
            <a:r>
              <a:rPr lang="tr-TR" dirty="0" smtClean="0"/>
              <a:t>("Türkiye")</a:t>
            </a:r>
          </a:p>
          <a:p>
            <a:pPr lvl="2"/>
            <a:r>
              <a:rPr lang="tr-TR" dirty="0" smtClean="0"/>
              <a:t>Liste nesnesine </a:t>
            </a:r>
            <a:r>
              <a:rPr lang="tr-TR" dirty="0" err="1" smtClean="0"/>
              <a:t>append</a:t>
            </a:r>
            <a:r>
              <a:rPr lang="tr-TR" dirty="0" smtClean="0"/>
              <a:t> işlevi uygulanıyor</a:t>
            </a:r>
          </a:p>
          <a:p>
            <a:r>
              <a:rPr lang="tr-TR" dirty="0" err="1" smtClean="0"/>
              <a:t>Append</a:t>
            </a:r>
            <a:r>
              <a:rPr lang="tr-TR" dirty="0" smtClean="0"/>
              <a:t> ile sadece bir eleman eklenebilir</a:t>
            </a:r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14" y="1922931"/>
            <a:ext cx="6869331" cy="573461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4948518"/>
            <a:ext cx="7066725" cy="1228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13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 smtClean="0"/>
              <a:t>Lab</a:t>
            </a:r>
            <a:r>
              <a:rPr lang="tr-TR" dirty="0" smtClean="0"/>
              <a:t> Uygulaması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Kullanıcıdan sırasıyla </a:t>
            </a:r>
          </a:p>
          <a:p>
            <a:pPr lvl="1"/>
            <a:r>
              <a:rPr lang="tr-TR" dirty="0"/>
              <a:t>A</a:t>
            </a:r>
            <a:r>
              <a:rPr lang="tr-TR" dirty="0" smtClean="0"/>
              <a:t>d, </a:t>
            </a:r>
          </a:p>
          <a:p>
            <a:pPr lvl="1"/>
            <a:r>
              <a:rPr lang="tr-TR" dirty="0" err="1" smtClean="0"/>
              <a:t>Soyad</a:t>
            </a:r>
            <a:r>
              <a:rPr lang="tr-TR" dirty="0" smtClean="0"/>
              <a:t>, </a:t>
            </a:r>
          </a:p>
          <a:p>
            <a:pPr lvl="1"/>
            <a:r>
              <a:rPr lang="tr-TR" dirty="0" smtClean="0"/>
              <a:t>Cadde,</a:t>
            </a:r>
          </a:p>
          <a:p>
            <a:pPr lvl="1"/>
            <a:r>
              <a:rPr lang="tr-TR" dirty="0" smtClean="0"/>
              <a:t>İlçe,</a:t>
            </a:r>
          </a:p>
          <a:p>
            <a:pPr lvl="1"/>
            <a:r>
              <a:rPr lang="tr-TR" dirty="0" smtClean="0"/>
              <a:t>İl,</a:t>
            </a:r>
          </a:p>
          <a:p>
            <a:pPr lvl="1"/>
            <a:r>
              <a:rPr lang="tr-TR" dirty="0" smtClean="0"/>
              <a:t>Ülke verilerini </a:t>
            </a:r>
          </a:p>
          <a:p>
            <a:r>
              <a:rPr lang="tr-TR" dirty="0" smtClean="0"/>
              <a:t>Alarak bir listeye ekleyen kodu yazınız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9184187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Liste Veri Türü – </a:t>
            </a:r>
            <a:r>
              <a:rPr lang="tr-TR" dirty="0" smtClean="0"/>
              <a:t>insert() </a:t>
            </a:r>
            <a:r>
              <a:rPr lang="tr-TR" dirty="0"/>
              <a:t>İşlevi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İnsert işlevi ile Listenin istenilen indisler arasına eleman eklenir</a:t>
            </a:r>
          </a:p>
          <a:p>
            <a:pPr lvl="1"/>
            <a:r>
              <a:rPr lang="tr-TR" dirty="0" smtClean="0"/>
              <a:t>Liste[0] = "İş Adresi" ile karıştırılmamalı</a:t>
            </a:r>
          </a:p>
          <a:p>
            <a:pPr lvl="1"/>
            <a:r>
              <a:rPr lang="tr-TR" dirty="0" smtClean="0"/>
              <a:t>Yerine geçmez, sonraki tüm elemanları kaydırır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81" y="2864224"/>
            <a:ext cx="7647842" cy="101423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85" y="4037479"/>
            <a:ext cx="8478934" cy="37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492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Liste Veri Türü – </a:t>
            </a:r>
            <a:r>
              <a:rPr lang="tr-TR" dirty="0" err="1" smtClean="0"/>
              <a:t>extend</a:t>
            </a:r>
            <a:r>
              <a:rPr lang="tr-TR" dirty="0" smtClean="0"/>
              <a:t>() </a:t>
            </a:r>
            <a:r>
              <a:rPr lang="tr-TR" dirty="0"/>
              <a:t>İşlevi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Bir listeyi genişletmek amacıyla kullanılır</a:t>
            </a:r>
          </a:p>
          <a:p>
            <a:pPr lvl="1"/>
            <a:r>
              <a:rPr lang="tr-TR" dirty="0" smtClean="0"/>
              <a:t>Bir listeyi başka liste ile genişletmek</a:t>
            </a:r>
          </a:p>
          <a:p>
            <a:pPr lvl="1"/>
            <a:endParaRPr lang="tr-TR" dirty="0" smtClean="0"/>
          </a:p>
          <a:p>
            <a:pPr lvl="1"/>
            <a:endParaRPr lang="tr-TR" dirty="0"/>
          </a:p>
          <a:p>
            <a:pPr lvl="1"/>
            <a:endParaRPr lang="tr-TR" dirty="0" smtClean="0"/>
          </a:p>
          <a:p>
            <a:pPr lvl="1"/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744" y="1844208"/>
            <a:ext cx="5690809" cy="129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818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28650" y="140035"/>
            <a:ext cx="7886700" cy="695048"/>
          </a:xfrm>
        </p:spPr>
        <p:txBody>
          <a:bodyPr>
            <a:normAutofit fontScale="90000"/>
          </a:bodyPr>
          <a:lstStyle/>
          <a:p>
            <a:r>
              <a:rPr lang="tr-TR" dirty="0"/>
              <a:t>Liste Veri Türü – </a:t>
            </a:r>
            <a:r>
              <a:rPr lang="tr-TR" dirty="0" err="1" smtClean="0"/>
              <a:t>remove</a:t>
            </a:r>
            <a:r>
              <a:rPr lang="tr-TR" dirty="0" smtClean="0"/>
              <a:t>() ve pop() İşlevleri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Bir listeden elemanı kendisini belirterek çıkarmak için </a:t>
            </a:r>
            <a:r>
              <a:rPr lang="tr-TR" dirty="0" err="1" smtClean="0"/>
              <a:t>remove</a:t>
            </a:r>
            <a:r>
              <a:rPr lang="tr-TR" dirty="0" smtClean="0"/>
              <a:t>()</a:t>
            </a:r>
          </a:p>
          <a:p>
            <a:endParaRPr lang="tr-TR" dirty="0"/>
          </a:p>
          <a:p>
            <a:endParaRPr lang="tr-TR" dirty="0" smtClean="0"/>
          </a:p>
          <a:p>
            <a:pPr lvl="1"/>
            <a:r>
              <a:rPr lang="tr-TR" dirty="0" smtClean="0"/>
              <a:t>Olmayan eleman çıkarılmak istenirse? Hata mesajı?</a:t>
            </a:r>
          </a:p>
          <a:p>
            <a:r>
              <a:rPr lang="tr-TR" dirty="0" smtClean="0"/>
              <a:t>Bir listeden elemanı indis numarası belirterek çıkarmak için pop()</a:t>
            </a:r>
          </a:p>
          <a:p>
            <a:pPr lvl="1"/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918" y="1926291"/>
            <a:ext cx="4295775" cy="628650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918" y="4280926"/>
            <a:ext cx="2320860" cy="80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8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322729" y="126588"/>
            <a:ext cx="8606117" cy="695048"/>
          </a:xfrm>
        </p:spPr>
        <p:txBody>
          <a:bodyPr>
            <a:normAutofit/>
          </a:bodyPr>
          <a:lstStyle/>
          <a:p>
            <a:r>
              <a:rPr lang="tr-TR" dirty="0"/>
              <a:t>Liste Veri Türü – </a:t>
            </a:r>
            <a:r>
              <a:rPr lang="tr-TR" dirty="0" err="1" smtClean="0"/>
              <a:t>index</a:t>
            </a:r>
            <a:r>
              <a:rPr lang="tr-TR" dirty="0" smtClean="0"/>
              <a:t>() İşlevi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Belirtilen elemanın listenin kaçıncı elemanı olduğu bilgisini verir</a:t>
            </a:r>
          </a:p>
          <a:p>
            <a:endParaRPr lang="tr-TR" dirty="0"/>
          </a:p>
          <a:p>
            <a:endParaRPr lang="tr-TR" dirty="0" smtClean="0"/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295" y="1907801"/>
            <a:ext cx="6913467" cy="76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05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28650" y="126588"/>
            <a:ext cx="8232962" cy="695048"/>
          </a:xfrm>
        </p:spPr>
        <p:txBody>
          <a:bodyPr>
            <a:normAutofit fontScale="90000"/>
          </a:bodyPr>
          <a:lstStyle/>
          <a:p>
            <a:r>
              <a:rPr lang="tr-TR" dirty="0"/>
              <a:t>Liste Veri Türü – </a:t>
            </a:r>
            <a:r>
              <a:rPr lang="tr-TR" dirty="0" err="1" smtClean="0"/>
              <a:t>sort</a:t>
            </a:r>
            <a:r>
              <a:rPr lang="tr-TR" dirty="0" smtClean="0"/>
              <a:t>() ve </a:t>
            </a:r>
            <a:r>
              <a:rPr lang="tr-TR" dirty="0" err="1" smtClean="0"/>
              <a:t>reverse</a:t>
            </a:r>
            <a:r>
              <a:rPr lang="tr-TR" dirty="0" smtClean="0"/>
              <a:t>() </a:t>
            </a:r>
            <a:r>
              <a:rPr lang="tr-TR" dirty="0"/>
              <a:t>İşlevi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Sort</a:t>
            </a:r>
            <a:r>
              <a:rPr lang="tr-TR" dirty="0"/>
              <a:t> listeyi sıralamak için kullanılır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lvl="1"/>
            <a:r>
              <a:rPr lang="tr-TR" dirty="0" err="1"/>
              <a:t>Sehirler</a:t>
            </a:r>
            <a:r>
              <a:rPr lang="tr-TR" dirty="0"/>
              <a:t> ve </a:t>
            </a:r>
            <a:r>
              <a:rPr lang="tr-TR" dirty="0" err="1"/>
              <a:t>sayilar</a:t>
            </a:r>
            <a:r>
              <a:rPr lang="tr-TR" dirty="0"/>
              <a:t> listelerini birleştirip </a:t>
            </a:r>
            <a:r>
              <a:rPr lang="tr-TR" dirty="0" smtClean="0"/>
              <a:t>sıralayın</a:t>
            </a:r>
          </a:p>
          <a:p>
            <a:r>
              <a:rPr lang="tr-TR" dirty="0" err="1" smtClean="0"/>
              <a:t>Reverse</a:t>
            </a:r>
            <a:r>
              <a:rPr lang="tr-TR" dirty="0" smtClean="0"/>
              <a:t> işlevi listeyi ters çevirmek için kullanılır</a:t>
            </a:r>
          </a:p>
          <a:p>
            <a:pPr lvl="1"/>
            <a:r>
              <a:rPr lang="tr-TR" dirty="0" smtClean="0"/>
              <a:t>Sıralama değil!!!!</a:t>
            </a:r>
            <a:endParaRPr lang="tr-TR" dirty="0"/>
          </a:p>
          <a:p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994" y="1452497"/>
            <a:ext cx="2657404" cy="54391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 rotWithShape="1">
          <a:blip r:embed="rId3"/>
          <a:srcRect b="64343"/>
          <a:stretch/>
        </p:blipFill>
        <p:spPr>
          <a:xfrm>
            <a:off x="920994" y="2155435"/>
            <a:ext cx="7302012" cy="771458"/>
          </a:xfrm>
          <a:prstGeom prst="rect">
            <a:avLst/>
          </a:prstGeom>
        </p:spPr>
      </p:pic>
      <p:pic>
        <p:nvPicPr>
          <p:cNvPr id="6" name="Resim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994" y="4367805"/>
            <a:ext cx="3979993" cy="75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53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Liste Veri Türü – </a:t>
            </a:r>
            <a:r>
              <a:rPr lang="tr-TR" dirty="0" err="1" smtClean="0"/>
              <a:t>count</a:t>
            </a:r>
            <a:r>
              <a:rPr lang="tr-TR" dirty="0" smtClean="0"/>
              <a:t>() </a:t>
            </a:r>
            <a:r>
              <a:rPr lang="tr-TR" dirty="0"/>
              <a:t>İşlevi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Belirtilen elemanın liste içerisinde kaç kez geçtiği bilgisini verir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677" y="1864378"/>
            <a:ext cx="4188758" cy="130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32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Uygulama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36176" y="980661"/>
            <a:ext cx="8807824" cy="5196302"/>
          </a:xfrm>
        </p:spPr>
        <p:txBody>
          <a:bodyPr/>
          <a:lstStyle/>
          <a:p>
            <a:r>
              <a:rPr lang="tr-TR" dirty="0" smtClean="0"/>
              <a:t>Listelerde indis işlemleri</a:t>
            </a:r>
          </a:p>
          <a:p>
            <a:r>
              <a:rPr lang="tr-TR" sz="2000" dirty="0" err="1" smtClean="0"/>
              <a:t>Sehirler</a:t>
            </a:r>
            <a:r>
              <a:rPr lang="tr-TR" sz="2000" dirty="0" smtClean="0"/>
              <a:t> = ["</a:t>
            </a:r>
            <a:r>
              <a:rPr lang="tr-TR" sz="2000" dirty="0" err="1" smtClean="0"/>
              <a:t>Çanakkale","İzmir","Aydın","Muğla","Antalya","Mersin","Adana</a:t>
            </a:r>
            <a:r>
              <a:rPr lang="tr-TR" sz="2000" dirty="0" smtClean="0"/>
              <a:t>"]</a:t>
            </a:r>
          </a:p>
          <a:p>
            <a:pPr lvl="1"/>
            <a:r>
              <a:rPr lang="tr-TR" sz="2000" dirty="0" smtClean="0"/>
              <a:t>Sehirler[-1]</a:t>
            </a:r>
            <a:r>
              <a:rPr lang="tr-TR" sz="2000" dirty="0">
                <a:sym typeface="Wingdings" panose="05000000000000000000" pitchFamily="2" charset="2"/>
              </a:rPr>
              <a:t> </a:t>
            </a:r>
            <a:r>
              <a:rPr lang="tr-TR" sz="2000" dirty="0" smtClean="0">
                <a:sym typeface="Wingdings" panose="05000000000000000000" pitchFamily="2" charset="2"/>
              </a:rPr>
              <a:t>Adana</a:t>
            </a:r>
            <a:endParaRPr lang="tr-TR" sz="2000" dirty="0"/>
          </a:p>
          <a:p>
            <a:pPr lvl="1"/>
            <a:r>
              <a:rPr lang="tr-TR" sz="2000" dirty="0" smtClean="0"/>
              <a:t>Sehirler[2:4]</a:t>
            </a:r>
            <a:r>
              <a:rPr lang="tr-TR" sz="2000" dirty="0">
                <a:sym typeface="Wingdings" panose="05000000000000000000" pitchFamily="2" charset="2"/>
              </a:rPr>
              <a:t>['Aydın', 'Muğla']</a:t>
            </a:r>
            <a:endParaRPr lang="tr-TR" sz="2000" dirty="0" smtClean="0"/>
          </a:p>
          <a:p>
            <a:pPr lvl="1"/>
            <a:r>
              <a:rPr lang="tr-TR" sz="2000" dirty="0"/>
              <a:t>Sehirler</a:t>
            </a:r>
            <a:r>
              <a:rPr lang="tr-TR" sz="2000" dirty="0" smtClean="0"/>
              <a:t>[:3]</a:t>
            </a:r>
            <a:r>
              <a:rPr lang="tr-TR" sz="2000" dirty="0">
                <a:sym typeface="Wingdings" panose="05000000000000000000" pitchFamily="2" charset="2"/>
              </a:rPr>
              <a:t>['Çanakkale', 'İzmir', 'Aydın']</a:t>
            </a:r>
            <a:endParaRPr lang="tr-TR" sz="2000" dirty="0" smtClean="0"/>
          </a:p>
          <a:p>
            <a:pPr lvl="1"/>
            <a:r>
              <a:rPr lang="tr-TR" sz="2000" dirty="0" smtClean="0"/>
              <a:t>Sehirler[2:]</a:t>
            </a:r>
            <a:r>
              <a:rPr lang="tr-TR" sz="2000" dirty="0">
                <a:sym typeface="Wingdings" panose="05000000000000000000" pitchFamily="2" charset="2"/>
              </a:rPr>
              <a:t>['Aydın', 'Muğla', 'Antalya', 'Mersin', 'Adana']</a:t>
            </a:r>
            <a:endParaRPr lang="tr-TR" sz="2000" dirty="0" smtClean="0"/>
          </a:p>
          <a:p>
            <a:pPr lvl="1"/>
            <a:r>
              <a:rPr lang="tr-TR" sz="2000" dirty="0" smtClean="0"/>
              <a:t>Sehirler[0:3]</a:t>
            </a:r>
            <a:r>
              <a:rPr lang="tr-TR" sz="2000" dirty="0">
                <a:sym typeface="Wingdings" panose="05000000000000000000" pitchFamily="2" charset="2"/>
              </a:rPr>
              <a:t>['Çanakkale', 'İzmir', 'Aydın']</a:t>
            </a:r>
            <a:endParaRPr lang="tr-TR" sz="2000" dirty="0" smtClean="0"/>
          </a:p>
          <a:p>
            <a:r>
              <a:rPr lang="tr-TR" dirty="0" smtClean="0"/>
              <a:t>Yukarıdaki </a:t>
            </a:r>
            <a:r>
              <a:rPr lang="tr-TR" dirty="0" smtClean="0"/>
              <a:t>satırları deneyiniz..</a:t>
            </a:r>
          </a:p>
          <a:p>
            <a:endParaRPr lang="tr-TR" sz="2000" dirty="0"/>
          </a:p>
          <a:p>
            <a:endParaRPr lang="tr-TR" sz="2000" dirty="0"/>
          </a:p>
          <a:p>
            <a:endParaRPr lang="tr-TR" sz="2000" dirty="0"/>
          </a:p>
          <a:p>
            <a:endParaRPr lang="tr-TR" sz="2000" dirty="0"/>
          </a:p>
          <a:p>
            <a:endParaRPr lang="tr-TR" sz="2000" dirty="0"/>
          </a:p>
          <a:p>
            <a:endParaRPr lang="tr-TR" sz="2000" dirty="0"/>
          </a:p>
          <a:p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4124396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b="0" dirty="0" err="1"/>
              <a:t>Random</a:t>
            </a:r>
            <a:r>
              <a:rPr lang="tr-TR" b="0" dirty="0"/>
              <a:t> </a:t>
            </a:r>
            <a:r>
              <a:rPr lang="tr-TR" b="0" dirty="0" smtClean="0"/>
              <a:t>Modülü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/>
              <a:t>import</a:t>
            </a:r>
            <a:r>
              <a:rPr lang="tr-TR" b="1" dirty="0"/>
              <a:t> </a:t>
            </a:r>
            <a:r>
              <a:rPr lang="tr-TR" b="1" dirty="0" err="1" smtClean="0"/>
              <a:t>random</a:t>
            </a:r>
            <a:endParaRPr lang="tr-TR" b="1" dirty="0" smtClean="0"/>
          </a:p>
          <a:p>
            <a:r>
              <a:rPr lang="tr-TR" b="1" dirty="0" err="1"/>
              <a:t>r</a:t>
            </a:r>
            <a:r>
              <a:rPr lang="tr-TR" b="1" dirty="0" err="1" smtClean="0"/>
              <a:t>andint</a:t>
            </a:r>
            <a:r>
              <a:rPr lang="tr-TR" b="1" dirty="0" smtClean="0"/>
              <a:t>(</a:t>
            </a:r>
            <a:r>
              <a:rPr lang="tr-TR" b="1" dirty="0" err="1" smtClean="0"/>
              <a:t>min,max</a:t>
            </a:r>
            <a:r>
              <a:rPr lang="tr-TR" b="1" dirty="0" smtClean="0"/>
              <a:t>)</a:t>
            </a:r>
          </a:p>
          <a:p>
            <a:pPr lvl="1"/>
            <a:r>
              <a:rPr lang="tr-TR" dirty="0" err="1" smtClean="0"/>
              <a:t>Min</a:t>
            </a:r>
            <a:r>
              <a:rPr lang="tr-TR" dirty="0" smtClean="0"/>
              <a:t> </a:t>
            </a:r>
            <a:r>
              <a:rPr lang="tr-TR" dirty="0" err="1" smtClean="0"/>
              <a:t>max</a:t>
            </a:r>
            <a:r>
              <a:rPr lang="tr-TR" dirty="0" smtClean="0"/>
              <a:t> aralığında </a:t>
            </a:r>
            <a:r>
              <a:rPr lang="tr-TR" dirty="0" err="1" smtClean="0"/>
              <a:t>integer</a:t>
            </a:r>
            <a:r>
              <a:rPr lang="tr-TR" dirty="0" smtClean="0"/>
              <a:t> olan bir sayı döner. </a:t>
            </a:r>
            <a:r>
              <a:rPr lang="tr-TR" dirty="0" err="1" smtClean="0"/>
              <a:t>Max</a:t>
            </a:r>
            <a:r>
              <a:rPr lang="tr-TR" dirty="0" smtClean="0"/>
              <a:t> dahildir. </a:t>
            </a:r>
            <a:r>
              <a:rPr lang="tr-TR" dirty="0" err="1"/>
              <a:t>m</a:t>
            </a:r>
            <a:r>
              <a:rPr lang="tr-TR" dirty="0" err="1" smtClean="0"/>
              <a:t>in</a:t>
            </a:r>
            <a:r>
              <a:rPr lang="tr-TR" dirty="0" smtClean="0"/>
              <a:t> &lt;=n &lt;=</a:t>
            </a:r>
            <a:r>
              <a:rPr lang="tr-TR" dirty="0" err="1" smtClean="0"/>
              <a:t>max</a:t>
            </a:r>
            <a:endParaRPr lang="tr-TR" dirty="0" smtClean="0"/>
          </a:p>
          <a:p>
            <a:pPr lvl="1"/>
            <a:r>
              <a:rPr lang="tr-TR" dirty="0" smtClean="0"/>
              <a:t>&gt;&gt;&gt;</a:t>
            </a:r>
            <a:r>
              <a:rPr lang="tr-TR" dirty="0" err="1" smtClean="0"/>
              <a:t>random.randint</a:t>
            </a:r>
            <a:r>
              <a:rPr lang="tr-TR" dirty="0" smtClean="0"/>
              <a:t>(1,100)-86</a:t>
            </a:r>
          </a:p>
          <a:p>
            <a:r>
              <a:rPr lang="tr-TR" b="1" dirty="0" err="1"/>
              <a:t>randrange</a:t>
            </a:r>
            <a:r>
              <a:rPr lang="tr-TR" b="1" dirty="0"/>
              <a:t>(</a:t>
            </a:r>
            <a:r>
              <a:rPr lang="tr-TR" b="1" dirty="0" err="1"/>
              <a:t>min,max</a:t>
            </a:r>
            <a:r>
              <a:rPr lang="tr-TR" b="1" dirty="0"/>
              <a:t>)</a:t>
            </a:r>
          </a:p>
          <a:p>
            <a:pPr lvl="1"/>
            <a:r>
              <a:rPr lang="tr-TR" dirty="0" err="1" smtClean="0"/>
              <a:t>Min</a:t>
            </a:r>
            <a:r>
              <a:rPr lang="tr-TR" dirty="0" smtClean="0"/>
              <a:t> ve </a:t>
            </a:r>
            <a:r>
              <a:rPr lang="tr-TR" dirty="0" err="1" smtClean="0"/>
              <a:t>max</a:t>
            </a:r>
            <a:r>
              <a:rPr lang="tr-TR" dirty="0" smtClean="0"/>
              <a:t> aralığında </a:t>
            </a:r>
            <a:r>
              <a:rPr lang="tr-TR" dirty="0" err="1" smtClean="0"/>
              <a:t>max</a:t>
            </a:r>
            <a:r>
              <a:rPr lang="tr-TR" dirty="0" smtClean="0"/>
              <a:t> dahil olmayan bir sayı döner. </a:t>
            </a:r>
            <a:r>
              <a:rPr lang="tr-TR" dirty="0" err="1" smtClean="0"/>
              <a:t>Min</a:t>
            </a:r>
            <a:r>
              <a:rPr lang="tr-TR" dirty="0" smtClean="0"/>
              <a:t>&lt;=n&lt;</a:t>
            </a:r>
            <a:r>
              <a:rPr lang="tr-TR" dirty="0" err="1" smtClean="0"/>
              <a:t>max</a:t>
            </a:r>
            <a:endParaRPr lang="tr-TR" dirty="0" smtClean="0"/>
          </a:p>
          <a:p>
            <a:pPr lvl="1"/>
            <a:r>
              <a:rPr lang="tr-TR" dirty="0" smtClean="0"/>
              <a:t>Bir parametre daha alır o parametre de bölünebilmeyi ifade eder.</a:t>
            </a:r>
          </a:p>
          <a:p>
            <a:pPr lvl="2"/>
            <a:r>
              <a:rPr lang="tr-TR" dirty="0"/>
              <a:t>&gt;&gt;&gt; </a:t>
            </a:r>
            <a:r>
              <a:rPr lang="tr-TR" dirty="0" err="1"/>
              <a:t>random.randrange</a:t>
            </a:r>
            <a:r>
              <a:rPr lang="tr-TR" dirty="0"/>
              <a:t>(1,11,3) # 1 ve 11 arasında 3'e bölündüğünde 1 kalan bir sayı getir.</a:t>
            </a:r>
          </a:p>
        </p:txBody>
      </p:sp>
    </p:spTree>
    <p:extLst>
      <p:ext uri="{BB962C8B-B14F-4D97-AF65-F5344CB8AC3E}">
        <p14:creationId xmlns:p14="http://schemas.microsoft.com/office/powerpoint/2010/main" val="16061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b="1" dirty="0" err="1"/>
              <a:t>sample</a:t>
            </a:r>
            <a:r>
              <a:rPr lang="tr-TR" b="1" dirty="0"/>
              <a:t>(</a:t>
            </a:r>
            <a:r>
              <a:rPr lang="tr-TR" b="1" dirty="0" err="1"/>
              <a:t>liste,q</a:t>
            </a:r>
            <a:r>
              <a:rPr lang="tr-TR" b="1" dirty="0"/>
              <a:t>)</a:t>
            </a:r>
          </a:p>
          <a:p>
            <a:pPr lvl="1"/>
            <a:r>
              <a:rPr lang="tr-TR" dirty="0"/>
              <a:t>Liste içinde q adet rastgele değeri döner</a:t>
            </a:r>
            <a:r>
              <a:rPr lang="tr-TR" dirty="0" smtClean="0"/>
              <a:t>.</a:t>
            </a:r>
          </a:p>
          <a:p>
            <a:pPr lvl="1"/>
            <a:r>
              <a:rPr lang="tr-TR" dirty="0"/>
              <a:t>&gt;&gt;&gt; </a:t>
            </a:r>
            <a:r>
              <a:rPr lang="tr-TR" dirty="0" err="1"/>
              <a:t>sayilar</a:t>
            </a:r>
            <a:r>
              <a:rPr lang="tr-TR" dirty="0"/>
              <a:t> = </a:t>
            </a:r>
            <a:r>
              <a:rPr lang="tr-TR" dirty="0" err="1"/>
              <a:t>range</a:t>
            </a:r>
            <a:r>
              <a:rPr lang="tr-TR" dirty="0"/>
              <a:t>(50)</a:t>
            </a:r>
            <a:br>
              <a:rPr lang="tr-TR" dirty="0"/>
            </a:br>
            <a:r>
              <a:rPr lang="tr-TR" dirty="0"/>
              <a:t>&gt;&gt;&gt; </a:t>
            </a:r>
            <a:r>
              <a:rPr lang="tr-TR" dirty="0" err="1"/>
              <a:t>random.sample</a:t>
            </a:r>
            <a:r>
              <a:rPr lang="tr-TR" dirty="0"/>
              <a:t>(sayilar,3)</a:t>
            </a:r>
            <a:br>
              <a:rPr lang="tr-TR" dirty="0"/>
            </a:br>
            <a:r>
              <a:rPr lang="tr-TR" dirty="0"/>
              <a:t>[1, 19, 16]</a:t>
            </a:r>
            <a:br>
              <a:rPr lang="tr-TR" dirty="0"/>
            </a:br>
            <a:r>
              <a:rPr lang="tr-TR" dirty="0"/>
              <a:t>&gt;&gt;&gt; </a:t>
            </a:r>
            <a:r>
              <a:rPr lang="tr-TR" dirty="0" err="1"/>
              <a:t>random.sample</a:t>
            </a:r>
            <a:r>
              <a:rPr lang="tr-TR" dirty="0"/>
              <a:t>(sayilar,3)</a:t>
            </a:r>
            <a:br>
              <a:rPr lang="tr-TR" dirty="0"/>
            </a:br>
            <a:r>
              <a:rPr lang="tr-TR" dirty="0"/>
              <a:t>[7, 10, 49]</a:t>
            </a:r>
            <a:br>
              <a:rPr lang="tr-TR" dirty="0"/>
            </a:br>
            <a:r>
              <a:rPr lang="tr-TR" dirty="0"/>
              <a:t>&gt;&gt;&gt; </a:t>
            </a:r>
            <a:r>
              <a:rPr lang="tr-TR" dirty="0" err="1"/>
              <a:t>random.sample</a:t>
            </a:r>
            <a:r>
              <a:rPr lang="tr-TR" dirty="0"/>
              <a:t>(sayilar,3)</a:t>
            </a:r>
            <a:br>
              <a:rPr lang="tr-TR" dirty="0"/>
            </a:br>
            <a:r>
              <a:rPr lang="tr-TR" dirty="0"/>
              <a:t>[11, 37, 36]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586713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tr-TR" b="1" dirty="0" err="1"/>
              <a:t>choice</a:t>
            </a:r>
            <a:r>
              <a:rPr lang="tr-TR" b="1" dirty="0"/>
              <a:t>(</a:t>
            </a:r>
            <a:r>
              <a:rPr lang="tr-TR" b="1" dirty="0" err="1"/>
              <a:t>list</a:t>
            </a:r>
            <a:r>
              <a:rPr lang="tr-TR" b="1" dirty="0"/>
              <a:t>)</a:t>
            </a:r>
          </a:p>
          <a:p>
            <a:r>
              <a:rPr lang="tr-TR" dirty="0"/>
              <a:t>Verdiğiniz bir liste içinden rastgele bir değer seçer</a:t>
            </a:r>
            <a:r>
              <a:rPr lang="tr-TR" dirty="0" smtClean="0"/>
              <a:t>.</a:t>
            </a:r>
          </a:p>
          <a:p>
            <a:r>
              <a:rPr lang="tr-TR" dirty="0"/>
              <a:t>&gt;&gt;&gt; liste = </a:t>
            </a:r>
            <a:r>
              <a:rPr lang="tr-TR" dirty="0" err="1"/>
              <a:t>list</a:t>
            </a:r>
            <a:r>
              <a:rPr lang="tr-TR" dirty="0"/>
              <a:t>(</a:t>
            </a:r>
            <a:r>
              <a:rPr lang="tr-TR" dirty="0" err="1"/>
              <a:t>range</a:t>
            </a:r>
            <a:r>
              <a:rPr lang="tr-TR" dirty="0"/>
              <a:t>(20)) # 0'dan 20'ye kadar sayılar gelsin.</a:t>
            </a:r>
            <a:br>
              <a:rPr lang="tr-TR" dirty="0"/>
            </a:br>
            <a:r>
              <a:rPr lang="tr-TR" dirty="0"/>
              <a:t>&gt;&gt;&gt; liste # doğru gelmiş mi kontrol edelim.</a:t>
            </a:r>
            <a:br>
              <a:rPr lang="tr-TR" dirty="0"/>
            </a:br>
            <a:r>
              <a:rPr lang="tr-TR" dirty="0"/>
              <a:t>[0, 1, 2, 3, 4, 5, 6, 7, 8, 9, 10, 11, 12, 13, 14, 15, 16, 17, 18, 19]</a:t>
            </a:r>
            <a:br>
              <a:rPr lang="tr-TR" dirty="0"/>
            </a:br>
            <a:r>
              <a:rPr lang="tr-TR" dirty="0"/>
              <a:t>&gt;&gt;&gt; </a:t>
            </a:r>
            <a:r>
              <a:rPr lang="tr-TR" dirty="0" err="1"/>
              <a:t>random.choice</a:t>
            </a:r>
            <a:r>
              <a:rPr lang="tr-TR" dirty="0"/>
              <a:t>(liste)</a:t>
            </a:r>
            <a:br>
              <a:rPr lang="tr-TR" dirty="0"/>
            </a:br>
            <a:r>
              <a:rPr lang="tr-TR" dirty="0"/>
              <a:t>0</a:t>
            </a:r>
            <a:br>
              <a:rPr lang="tr-TR" dirty="0"/>
            </a:br>
            <a:r>
              <a:rPr lang="tr-TR" dirty="0"/>
              <a:t>&gt;&gt;&gt; </a:t>
            </a:r>
            <a:r>
              <a:rPr lang="tr-TR" dirty="0" err="1"/>
              <a:t>random.choice</a:t>
            </a:r>
            <a:r>
              <a:rPr lang="tr-TR" dirty="0"/>
              <a:t>(liste)</a:t>
            </a:r>
            <a:br>
              <a:rPr lang="tr-TR" dirty="0"/>
            </a:br>
            <a:r>
              <a:rPr lang="tr-TR" dirty="0"/>
              <a:t>5</a:t>
            </a:r>
            <a:br>
              <a:rPr lang="tr-TR" dirty="0"/>
            </a:br>
            <a:r>
              <a:rPr lang="tr-TR" dirty="0"/>
              <a:t>&gt;&gt;&gt; </a:t>
            </a:r>
            <a:r>
              <a:rPr lang="tr-TR" dirty="0" err="1"/>
              <a:t>random.choice</a:t>
            </a:r>
            <a:r>
              <a:rPr lang="tr-TR" dirty="0"/>
              <a:t>(liste)</a:t>
            </a:r>
            <a:br>
              <a:rPr lang="tr-TR" dirty="0"/>
            </a:br>
            <a:r>
              <a:rPr lang="tr-TR" dirty="0"/>
              <a:t>10</a:t>
            </a:r>
            <a:br>
              <a:rPr lang="tr-TR" dirty="0"/>
            </a:br>
            <a:r>
              <a:rPr lang="tr-TR" dirty="0"/>
              <a:t>&gt;&gt;&gt; </a:t>
            </a:r>
            <a:r>
              <a:rPr lang="tr-TR" dirty="0" err="1"/>
              <a:t>random.choice</a:t>
            </a:r>
            <a:r>
              <a:rPr lang="tr-TR" dirty="0"/>
              <a:t>(liste)</a:t>
            </a:r>
            <a:br>
              <a:rPr lang="tr-TR" dirty="0"/>
            </a:br>
            <a:r>
              <a:rPr lang="tr-TR" dirty="0"/>
              <a:t>11</a:t>
            </a:r>
            <a:br>
              <a:rPr lang="tr-TR" dirty="0"/>
            </a:br>
            <a:r>
              <a:rPr lang="tr-TR" dirty="0"/>
              <a:t>&gt;&gt;&gt; </a:t>
            </a:r>
            <a:r>
              <a:rPr lang="tr-TR" dirty="0" err="1"/>
              <a:t>random.choice</a:t>
            </a:r>
            <a:r>
              <a:rPr lang="tr-TR" dirty="0"/>
              <a:t>(liste)</a:t>
            </a:r>
            <a:br>
              <a:rPr lang="tr-TR" dirty="0"/>
            </a:br>
            <a:r>
              <a:rPr lang="tr-TR" dirty="0"/>
              <a:t>5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040503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Demet Veri Türü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smtClean="0"/>
              <a:t>Listelere benzeyen bir veri türüdür (</a:t>
            </a:r>
            <a:r>
              <a:rPr lang="tr-TR" dirty="0" err="1" smtClean="0"/>
              <a:t>Tuple</a:t>
            </a:r>
            <a:r>
              <a:rPr lang="tr-TR" dirty="0" smtClean="0"/>
              <a:t>)</a:t>
            </a:r>
          </a:p>
          <a:p>
            <a:pPr lvl="1"/>
            <a:r>
              <a:rPr lang="tr-TR" dirty="0" smtClean="0"/>
              <a:t>Temel Fark: Değişiklik yapılamaz</a:t>
            </a:r>
          </a:p>
          <a:p>
            <a:pPr lvl="2"/>
            <a:r>
              <a:rPr lang="tr-TR" dirty="0" smtClean="0"/>
              <a:t>Eleman ekleme, çıkarma yapılamaz</a:t>
            </a:r>
          </a:p>
          <a:p>
            <a:pPr lvl="1"/>
            <a:r>
              <a:rPr lang="tr-TR" dirty="0"/>
              <a:t>calisan1 = "Ahmet","Yılmaz",</a:t>
            </a:r>
            <a:r>
              <a:rPr lang="tr-TR" dirty="0" smtClean="0"/>
              <a:t>1998,4500</a:t>
            </a:r>
          </a:p>
          <a:p>
            <a:pPr lvl="1"/>
            <a:r>
              <a:rPr lang="tr-TR" dirty="0"/>
              <a:t>calisan1 = ("Ahmet","Yılmaz",1998,4500)</a:t>
            </a:r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4" y="3217489"/>
            <a:ext cx="5859504" cy="224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509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Demet Veri Türü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 smtClean="0"/>
              <a:t>Demeti çözümleme</a:t>
            </a:r>
          </a:p>
          <a:p>
            <a:endParaRPr lang="tr-TR" dirty="0"/>
          </a:p>
          <a:p>
            <a:pPr lvl="1"/>
            <a:endParaRPr lang="tr-TR" dirty="0" smtClean="0"/>
          </a:p>
          <a:p>
            <a:pPr lvl="1"/>
            <a:r>
              <a:rPr lang="tr-TR" dirty="0" smtClean="0"/>
              <a:t>Liste bu şekilde parçalara ayırılabilir mi?</a:t>
            </a:r>
          </a:p>
          <a:p>
            <a:r>
              <a:rPr lang="tr-TR" dirty="0" smtClean="0"/>
              <a:t>Hangi durumlarda demet kullanılmalı?</a:t>
            </a:r>
          </a:p>
          <a:p>
            <a:pPr lvl="1"/>
            <a:r>
              <a:rPr lang="tr-TR" dirty="0"/>
              <a:t>Demetler listelerin aksine değişiklik yapmaya müsait olmadıklarından listelere göre daha güvenlidirler. </a:t>
            </a:r>
            <a:endParaRPr lang="tr-TR" dirty="0" smtClean="0"/>
          </a:p>
          <a:p>
            <a:pPr lvl="1"/>
            <a:r>
              <a:rPr lang="tr-TR" dirty="0" smtClean="0"/>
              <a:t>Değiştirilmemesi gereken veriler </a:t>
            </a:r>
            <a:r>
              <a:rPr lang="tr-TR" dirty="0"/>
              <a:t>içeren bir </a:t>
            </a:r>
            <a:r>
              <a:rPr lang="tr-TR" dirty="0" smtClean="0"/>
              <a:t>durumda liste yerine demetler kullanılmalıdır </a:t>
            </a:r>
          </a:p>
          <a:p>
            <a:pPr lvl="1"/>
            <a:r>
              <a:rPr lang="tr-TR" dirty="0" smtClean="0"/>
              <a:t>Demetler </a:t>
            </a:r>
            <a:r>
              <a:rPr lang="tr-TR" dirty="0"/>
              <a:t>listelere göre daha hızlı çalışır. </a:t>
            </a:r>
            <a:endParaRPr lang="tr-TR" dirty="0" smtClean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147" y="1506070"/>
            <a:ext cx="7280624" cy="672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1070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Sözlük </a:t>
            </a:r>
            <a:r>
              <a:rPr lang="tr-TR" dirty="0"/>
              <a:t>Veri Türü</a:t>
            </a:r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628650" y="980661"/>
            <a:ext cx="8138832" cy="5196302"/>
          </a:xfrm>
        </p:spPr>
        <p:txBody>
          <a:bodyPr/>
          <a:lstStyle/>
          <a:p>
            <a:r>
              <a:rPr lang="tr-TR" dirty="0" err="1" smtClean="0"/>
              <a:t>Phyton</a:t>
            </a:r>
            <a:r>
              <a:rPr lang="tr-TR" dirty="0" smtClean="0"/>
              <a:t> dilindeki en kullanışlı veri türlerinden biri</a:t>
            </a:r>
          </a:p>
          <a:p>
            <a:pPr lvl="1"/>
            <a:r>
              <a:rPr lang="tr-TR" dirty="0" smtClean="0"/>
              <a:t>Bir anahtar(</a:t>
            </a:r>
            <a:r>
              <a:rPr lang="tr-TR" dirty="0" err="1" smtClean="0"/>
              <a:t>key</a:t>
            </a:r>
            <a:r>
              <a:rPr lang="tr-TR" dirty="0" smtClean="0"/>
              <a:t>) yardımı ile verilere erişme mümkün</a:t>
            </a:r>
          </a:p>
          <a:p>
            <a:pPr lvl="1"/>
            <a:r>
              <a:rPr lang="tr-TR" dirty="0" err="1" smtClean="0"/>
              <a:t>sozluk</a:t>
            </a:r>
            <a:r>
              <a:rPr lang="tr-TR" dirty="0" smtClean="0"/>
              <a:t> = {"key1":"veri1","key2":"veri2","key3":"veri3"}</a:t>
            </a:r>
          </a:p>
          <a:p>
            <a:pPr lvl="1"/>
            <a:r>
              <a:rPr lang="tr-TR" b="1" dirty="0"/>
              <a:t>&gt;&gt;&gt; </a:t>
            </a:r>
            <a:r>
              <a:rPr lang="tr-TR" dirty="0" err="1"/>
              <a:t>sozluk</a:t>
            </a:r>
            <a:r>
              <a:rPr lang="tr-TR" dirty="0"/>
              <a:t> = {"elma": "meyve", "domates": "sebze", 1: "</a:t>
            </a:r>
            <a:r>
              <a:rPr lang="tr-TR" dirty="0" err="1"/>
              <a:t>sayi</a:t>
            </a:r>
            <a:r>
              <a:rPr lang="tr-TR" dirty="0"/>
              <a:t>"} </a:t>
            </a:r>
            <a:endParaRPr lang="tr-TR" dirty="0" smtClean="0"/>
          </a:p>
          <a:p>
            <a:pPr lvl="1"/>
            <a:r>
              <a:rPr lang="tr-TR" dirty="0" smtClean="0"/>
              <a:t>Anahtar üzerinden sözlükteki veriye erişilirken [] kullanılır.</a:t>
            </a:r>
          </a:p>
          <a:p>
            <a:pPr lvl="1"/>
            <a:r>
              <a:rPr lang="tr-TR" dirty="0"/>
              <a:t>“elma” bir “anahtar”, “meyve” ise bu anahtarın “</a:t>
            </a:r>
            <a:r>
              <a:rPr lang="tr-TR" dirty="0" err="1"/>
              <a:t>değeri”dir</a:t>
            </a:r>
            <a:r>
              <a:rPr lang="tr-TR" dirty="0"/>
              <a:t>. Aynı şekilde “sebze” değerinin anahtarı “</a:t>
            </a:r>
            <a:r>
              <a:rPr lang="tr-TR" dirty="0" err="1"/>
              <a:t>domates”tir</a:t>
            </a:r>
            <a:r>
              <a:rPr lang="tr-TR" dirty="0"/>
              <a:t>. Dolayısıyla </a:t>
            </a:r>
            <a:r>
              <a:rPr lang="tr-TR" dirty="0" err="1"/>
              <a:t>Python’da</a:t>
            </a:r>
            <a:r>
              <a:rPr lang="tr-TR" dirty="0"/>
              <a:t> sözlük; “anahtar” ve “değer” arasında bağ kuran bir veri tipidir. </a:t>
            </a:r>
            <a:endParaRPr lang="tr-TR" dirty="0" smtClean="0"/>
          </a:p>
          <a:p>
            <a:pPr lvl="1"/>
            <a:r>
              <a:rPr lang="tr-TR" dirty="0"/>
              <a:t>Mesela bir adres veya telefon defteri yazmak istediğimizde bu sözlüklerden faydalanabiliriz </a:t>
            </a:r>
          </a:p>
        </p:txBody>
      </p:sp>
    </p:spTree>
    <p:extLst>
      <p:ext uri="{BB962C8B-B14F-4D97-AF65-F5344CB8AC3E}">
        <p14:creationId xmlns:p14="http://schemas.microsoft.com/office/powerpoint/2010/main" val="39650969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 Teması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eması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eması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1464</TotalTime>
  <Words>736</Words>
  <Application>Microsoft Office PowerPoint</Application>
  <PresentationFormat>On-screen Show (4:3)</PresentationFormat>
  <Paragraphs>116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Wingdings</vt:lpstr>
      <vt:lpstr>Office Teması</vt:lpstr>
      <vt:lpstr>Bilgisayar Porgramlama II</vt:lpstr>
      <vt:lpstr>Örnek</vt:lpstr>
      <vt:lpstr>Hatırlatma – in işleci</vt:lpstr>
      <vt:lpstr>Liste Veri Türü</vt:lpstr>
      <vt:lpstr>Liste Veri Türü – append() İşlevi</vt:lpstr>
      <vt:lpstr>Lab Uygulaması</vt:lpstr>
      <vt:lpstr>Liste Veri Türü – insert() İşlevi</vt:lpstr>
      <vt:lpstr>Liste Veri Türü – extend() İşlevi</vt:lpstr>
      <vt:lpstr>Liste Veri Türü – remove() ve pop() İşlevleri</vt:lpstr>
      <vt:lpstr>Liste Veri Türü – index() İşlevi</vt:lpstr>
      <vt:lpstr>Liste Veri Türü – sort() ve reverse() İşlevi</vt:lpstr>
      <vt:lpstr>Liste Veri Türü – count() İşlevi</vt:lpstr>
      <vt:lpstr>Uygulama</vt:lpstr>
      <vt:lpstr>Random Modülü</vt:lpstr>
      <vt:lpstr>PowerPoint Presentation</vt:lpstr>
      <vt:lpstr>PowerPoint Presentation</vt:lpstr>
      <vt:lpstr>Demet Veri Türü</vt:lpstr>
      <vt:lpstr>Demet Veri Türü</vt:lpstr>
      <vt:lpstr>Sözlük Veri Türü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Phyton – Sunu 1</dc:title>
  <dc:creator>onder demir</dc:creator>
  <cp:lastModifiedBy>Berna</cp:lastModifiedBy>
  <cp:revision>108</cp:revision>
  <dcterms:created xsi:type="dcterms:W3CDTF">2019-10-01T08:30:16Z</dcterms:created>
  <dcterms:modified xsi:type="dcterms:W3CDTF">2023-10-18T20:12:36Z</dcterms:modified>
</cp:coreProperties>
</file>