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81" r:id="rId4"/>
    <p:sldId id="282" r:id="rId5"/>
    <p:sldId id="259" r:id="rId6"/>
    <p:sldId id="260" r:id="rId7"/>
    <p:sldId id="261" r:id="rId8"/>
    <p:sldId id="262" r:id="rId9"/>
    <p:sldId id="283" r:id="rId10"/>
    <p:sldId id="284" r:id="rId11"/>
    <p:sldId id="263" r:id="rId12"/>
    <p:sldId id="286" r:id="rId13"/>
    <p:sldId id="264" r:id="rId14"/>
    <p:sldId id="265" r:id="rId15"/>
    <p:sldId id="266" r:id="rId16"/>
    <p:sldId id="267" r:id="rId17"/>
    <p:sldId id="287" r:id="rId18"/>
    <p:sldId id="288" r:id="rId19"/>
    <p:sldId id="268" r:id="rId20"/>
    <p:sldId id="269" r:id="rId21"/>
    <p:sldId id="271" r:id="rId22"/>
    <p:sldId id="272" r:id="rId23"/>
    <p:sldId id="273" r:id="rId24"/>
    <p:sldId id="274" r:id="rId25"/>
    <p:sldId id="275" r:id="rId26"/>
    <p:sldId id="276" r:id="rId27"/>
    <p:sldId id="285" r:id="rId28"/>
    <p:sldId id="277" r:id="rId29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2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812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148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83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059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8649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207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682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25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670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276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20.10.2022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46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6588"/>
            <a:ext cx="7886700" cy="69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80661"/>
            <a:ext cx="7886700" cy="5196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 smtClean="0"/>
              <a:t>Asıl metin stillerini düzenlemek için tıklatın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 dirty="0" smtClean="0"/>
              <a:t>BLM2001</a:t>
            </a:r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438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685800" y="1673294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tr-TR" dirty="0" smtClean="0"/>
              <a:t/>
            </a:r>
            <a:br>
              <a:rPr lang="tr-TR" dirty="0" smtClean="0"/>
            </a:br>
            <a:r>
              <a:rPr lang="tr-TR" dirty="0"/>
              <a:t/>
            </a:r>
            <a:br>
              <a:rPr lang="tr-TR" dirty="0"/>
            </a:br>
            <a:r>
              <a:rPr lang="tr-TR" dirty="0" smtClean="0"/>
              <a:t>Teknoloji Fakültesi Bilgisayar Mühendisliği</a:t>
            </a:r>
            <a:br>
              <a:rPr lang="tr-TR" dirty="0" smtClean="0"/>
            </a:br>
            <a:r>
              <a:rPr lang="tr-TR" dirty="0" smtClean="0"/>
              <a:t>Bilgisayar Programlama – Ders2</a:t>
            </a:r>
            <a:br>
              <a:rPr lang="tr-TR" dirty="0" smtClean="0"/>
            </a:b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BLM 2001</a:t>
            </a:r>
          </a:p>
        </p:txBody>
      </p:sp>
      <p:pic>
        <p:nvPicPr>
          <p:cNvPr id="4" name="Picture 2" descr="C:\Users\ALİ MURAT\Desktop\ELB-516\ders-1\untitled.b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3406" y="4519749"/>
            <a:ext cx="1362075" cy="1857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2902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PYTHON OPERATÖRLERİ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1"/>
                </a:solidFill>
              </a:rPr>
              <a:t> Aritmetik Operatörler</a:t>
            </a:r>
          </a:p>
          <a:p>
            <a:endParaRPr lang="tr-TR" dirty="0"/>
          </a:p>
        </p:txBody>
      </p:sp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960096" y="1936972"/>
          <a:ext cx="6858048" cy="31013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2286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Operatör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İşlem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Örnek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/>
                        <a:t>=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Atama Operatörü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A=4, b=’Oku’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/>
                        <a:t>+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Toplama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A=4+86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/>
                        <a:t>-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Çıkarma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A=86-52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/>
                        <a:t>*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Çarpma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A=9*86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/>
                        <a:t>/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Bölme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A=86/12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/>
                        <a:t>**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/>
                        <a:t>Kuvvet alma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A=8**3 (8′in 3.kuvveti)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PYTHON OPERATÖRLERİ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1"/>
                </a:solidFill>
              </a:rPr>
              <a:t> Mantıksal Operatörler</a:t>
            </a:r>
          </a:p>
          <a:p>
            <a:endParaRPr lang="tr-TR" dirty="0"/>
          </a:p>
        </p:txBody>
      </p:sp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795587" y="2139854"/>
          <a:ext cx="7429552" cy="167480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78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5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692"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Operatör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İşlem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Örnek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6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000" b="1" dirty="0" err="1" smtClean="0"/>
                        <a:t>and</a:t>
                      </a:r>
                      <a:endParaRPr lang="tr-TR" sz="2000" b="1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dirty="0" smtClean="0"/>
                        <a:t>Ve</a:t>
                      </a:r>
                      <a:r>
                        <a:rPr lang="tr-TR" baseline="0" dirty="0" smtClean="0"/>
                        <a:t> işlemi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 </a:t>
                      </a:r>
                      <a:r>
                        <a:rPr lang="en-US" dirty="0" smtClean="0"/>
                        <a:t>a == 3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and</a:t>
                      </a:r>
                      <a:r>
                        <a:rPr lang="en-US" dirty="0" smtClean="0"/>
                        <a:t> b == 12 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61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000" b="1" dirty="0" err="1" smtClean="0"/>
                        <a:t>or</a:t>
                      </a:r>
                      <a:r>
                        <a:rPr lang="tr-TR" sz="2000" b="1" baseline="0" dirty="0" smtClean="0"/>
                        <a:t> </a:t>
                      </a:r>
                      <a:endParaRPr lang="tr-TR" sz="2000" b="1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Veya</a:t>
                      </a:r>
                      <a:r>
                        <a:rPr lang="tr-TR" baseline="0" dirty="0" smtClean="0"/>
                        <a:t> İşlemi</a:t>
                      </a:r>
                      <a:endParaRPr lang="tr-TR" dirty="0" smtClean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sz="1800" dirty="0" smtClean="0"/>
                        <a:t> </a:t>
                      </a:r>
                      <a:r>
                        <a:rPr lang="en-US" dirty="0" smtClean="0"/>
                        <a:t>a == 5 </a:t>
                      </a:r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or</a:t>
                      </a:r>
                      <a:r>
                        <a:rPr lang="en-US" dirty="0" smtClean="0"/>
                        <a:t> b == 43 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1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2000" b="1" dirty="0" smtClean="0"/>
                        <a:t>not</a:t>
                      </a:r>
                      <a:endParaRPr lang="tr-TR" sz="2000" b="1" dirty="0" smtClean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dirty="0" smtClean="0"/>
                        <a:t>Değil</a:t>
                      </a:r>
                      <a:r>
                        <a:rPr lang="tr-TR" baseline="0" dirty="0" smtClean="0"/>
                        <a:t> İşlemi</a:t>
                      </a:r>
                      <a:endParaRPr lang="tr-TR" dirty="0" smtClean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 </a:t>
                      </a:r>
                      <a:r>
                        <a:rPr lang="tr-TR" dirty="0" smtClean="0">
                          <a:solidFill>
                            <a:srgbClr val="FF0000"/>
                          </a:solidFill>
                        </a:rPr>
                        <a:t>not</a:t>
                      </a:r>
                      <a:r>
                        <a:rPr lang="tr-TR" dirty="0" smtClean="0"/>
                        <a:t> a % 2 == 0 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PYTHON OPERATÖRLERİ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Karşılaştırma Operatörleri</a:t>
            </a:r>
          </a:p>
          <a:p>
            <a:endParaRPr lang="tr-TR" dirty="0"/>
          </a:p>
        </p:txBody>
      </p:sp>
      <p:graphicFrame>
        <p:nvGraphicFramePr>
          <p:cNvPr id="4" name="3 Tabl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508965"/>
              </p:ext>
            </p:extLst>
          </p:nvPr>
        </p:nvGraphicFramePr>
        <p:xfrm>
          <a:off x="517590" y="1996163"/>
          <a:ext cx="7858179" cy="31013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6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Operatör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İşlem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tr-TR" sz="1800" b="1" dirty="0" smtClean="0">
                          <a:solidFill>
                            <a:srgbClr val="FF0000"/>
                          </a:solidFill>
                        </a:rPr>
                        <a:t>Örnek</a:t>
                      </a:r>
                      <a:endParaRPr lang="tr-TR" sz="1800" b="1" dirty="0">
                        <a:solidFill>
                          <a:srgbClr val="FF0000"/>
                        </a:solidFill>
                      </a:endParaRP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dirty="0" smtClean="0"/>
                        <a:t>&gt;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Büyüklük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A&gt;B (A,</a:t>
                      </a:r>
                      <a:r>
                        <a:rPr lang="tr-TR" baseline="0" dirty="0" smtClean="0"/>
                        <a:t> B’ den büyüktür</a:t>
                      </a:r>
                      <a:r>
                        <a:rPr lang="tr-TR" dirty="0" smtClean="0"/>
                        <a:t>)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dirty="0" smtClean="0"/>
                        <a:t>&gt;=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Büyüklük</a:t>
                      </a:r>
                      <a:r>
                        <a:rPr lang="tr-TR" baseline="0" dirty="0" smtClean="0"/>
                        <a:t> ya da eşitlik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A&gt;=B</a:t>
                      </a:r>
                      <a:r>
                        <a:rPr lang="tr-TR" baseline="0" dirty="0" smtClean="0"/>
                        <a:t> (A, B’ ye eşit veya büyük)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dirty="0" smtClean="0"/>
                        <a:t>&lt;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Küçüklük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A&lt;B</a:t>
                      </a:r>
                      <a:r>
                        <a:rPr lang="tr-TR" baseline="0" dirty="0" smtClean="0"/>
                        <a:t> (A, B’ den küçüktür)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dirty="0" smtClean="0"/>
                        <a:t>&lt;=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Küçüklük</a:t>
                      </a:r>
                      <a:r>
                        <a:rPr lang="tr-TR" baseline="0" dirty="0" smtClean="0"/>
                        <a:t> ya da eşitlik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A&lt;=</a:t>
                      </a:r>
                      <a:r>
                        <a:rPr lang="tr-TR" baseline="0" dirty="0" smtClean="0"/>
                        <a:t>B (A, B’ den küçük veya eşit)</a:t>
                      </a:r>
                      <a:endParaRPr lang="tr-TR" dirty="0" smtClean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dirty="0" smtClean="0"/>
                        <a:t>==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Eşitlik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A=B</a:t>
                      </a:r>
                      <a:r>
                        <a:rPr lang="tr-TR" baseline="0" dirty="0" smtClean="0"/>
                        <a:t> (A, B’ ye eşit)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tr-TR" sz="2800" b="1" dirty="0" smtClean="0">
                          <a:solidFill>
                            <a:schemeClr val="accent1"/>
                          </a:solidFill>
                        </a:rPr>
                        <a:t>!=</a:t>
                      </a:r>
                      <a:endParaRPr lang="tr-TR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Eşit</a:t>
                      </a:r>
                      <a:r>
                        <a:rPr lang="tr-TR" baseline="0" dirty="0" smtClean="0"/>
                        <a:t> değil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A!=B (A, B’ ye eşit değil)</a:t>
                      </a:r>
                      <a:endParaRPr lang="tr-TR" dirty="0"/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Phyton </a:t>
            </a:r>
            <a:r>
              <a:rPr lang="tr-TR" dirty="0" smtClean="0"/>
              <a:t>– Ekrana mesaj yazdırma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50" y="821635"/>
            <a:ext cx="7886700" cy="6134749"/>
          </a:xfrm>
        </p:spPr>
        <p:txBody>
          <a:bodyPr/>
          <a:lstStyle/>
          <a:p>
            <a:r>
              <a:rPr lang="tr-TR" dirty="0" err="1" smtClean="0"/>
              <a:t>Print</a:t>
            </a:r>
            <a:r>
              <a:rPr lang="tr-TR" dirty="0" smtClean="0"/>
              <a:t> fonksiyonu</a:t>
            </a:r>
          </a:p>
          <a:p>
            <a:pPr lvl="1"/>
            <a:r>
              <a:rPr lang="tr-TR" dirty="0" smtClean="0"/>
              <a:t>Ekrana mesaj yazmak için kullanılır</a:t>
            </a:r>
          </a:p>
          <a:p>
            <a:pPr lvl="1"/>
            <a:r>
              <a:rPr lang="tr-TR" dirty="0" smtClean="0"/>
              <a:t>" veya ' kullanılabilir..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 smtClean="0"/>
          </a:p>
          <a:p>
            <a:pPr lvl="1"/>
            <a:r>
              <a:rPr lang="tr-TR" dirty="0" smtClean="0"/>
              <a:t>' kullanılırsa dikkat edilmeli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r>
              <a:rPr lang="tr-TR" dirty="0" smtClean="0"/>
              <a:t># işareti açıklama satırı için kullanılabilir</a:t>
            </a:r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524" y="2106290"/>
            <a:ext cx="6029796" cy="93917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24" y="3607465"/>
            <a:ext cx="6416271" cy="84709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9288" y="4085628"/>
            <a:ext cx="5067892" cy="1063977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524" y="5050232"/>
            <a:ext cx="6850505" cy="58676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523" y="5649025"/>
            <a:ext cx="5343443" cy="763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9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Phyton – Aritmetiksel işlemler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‘ da aritmetiksel işlemler değişken ataması yapılmadan gerçekleştirilebilir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18" y="2034129"/>
            <a:ext cx="3058972" cy="332042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474" y="2034129"/>
            <a:ext cx="2069336" cy="1664466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402" y="3952627"/>
            <a:ext cx="5075316" cy="159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31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</a:t>
            </a:r>
            <a:r>
              <a:rPr lang="tr-TR" dirty="0" smtClean="0"/>
              <a:t>Değişkenler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3536" y="847642"/>
            <a:ext cx="4348464" cy="5196302"/>
          </a:xfrm>
        </p:spPr>
        <p:txBody>
          <a:bodyPr/>
          <a:lstStyle/>
          <a:p>
            <a:r>
              <a:rPr lang="tr-TR" dirty="0" smtClean="0"/>
              <a:t>Phyton dilinde </a:t>
            </a:r>
          </a:p>
          <a:p>
            <a:pPr lvl="1"/>
            <a:r>
              <a:rPr lang="tr-TR" dirty="0" smtClean="0"/>
              <a:t>"=" operatörü ile veri türü belirtmeden değişkenlere değer ataması yapılabilir.</a:t>
            </a:r>
          </a:p>
          <a:p>
            <a:r>
              <a:rPr lang="tr-TR" dirty="0" smtClean="0"/>
              <a:t>Değişken isimlerinde büyük-küçük harf ayrımı vardır</a:t>
            </a:r>
          </a:p>
          <a:p>
            <a:pPr lvl="1"/>
            <a:r>
              <a:rPr lang="tr-TR" dirty="0" smtClean="0"/>
              <a:t>Değişken ismi</a:t>
            </a:r>
          </a:p>
          <a:p>
            <a:pPr lvl="2"/>
            <a:r>
              <a:rPr lang="tr-TR" dirty="0" smtClean="0"/>
              <a:t>Rakam ile başlayamaz</a:t>
            </a:r>
          </a:p>
          <a:p>
            <a:pPr lvl="2"/>
            <a:r>
              <a:rPr lang="tr-TR" dirty="0" smtClean="0"/>
              <a:t>Fakat rakam içerebilir</a:t>
            </a:r>
          </a:p>
          <a:p>
            <a:pPr lvl="2"/>
            <a:r>
              <a:rPr lang="tr-TR" dirty="0" smtClean="0"/>
              <a:t>),{,! Vb. karakterleri içeremez</a:t>
            </a:r>
          </a:p>
          <a:p>
            <a:pPr lvl="2"/>
            <a:r>
              <a:rPr lang="tr-TR" dirty="0" smtClean="0"/>
              <a:t>_ karakteri kullanılabilir</a:t>
            </a:r>
          </a:p>
          <a:p>
            <a:pPr lvl="2"/>
            <a:r>
              <a:rPr lang="tr-TR" dirty="0" smtClean="0"/>
              <a:t>. İşareti kullanımı nesneler konusuyla açıklanacaktır</a:t>
            </a:r>
          </a:p>
          <a:p>
            <a:pPr lvl="2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b="2016"/>
          <a:stretch/>
        </p:blipFill>
        <p:spPr>
          <a:xfrm>
            <a:off x="4977114" y="821636"/>
            <a:ext cx="1417175" cy="281281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144" y="942168"/>
            <a:ext cx="1657350" cy="1285875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172" y="3767469"/>
            <a:ext cx="4503275" cy="247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Değişkenler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28600" y="682906"/>
            <a:ext cx="8724900" cy="6088283"/>
          </a:xfrm>
        </p:spPr>
        <p:txBody>
          <a:bodyPr>
            <a:normAutofit lnSpcReduction="10000"/>
          </a:bodyPr>
          <a:lstStyle/>
          <a:p>
            <a:r>
              <a:rPr lang="tr-TR" dirty="0" err="1" smtClean="0"/>
              <a:t>Print</a:t>
            </a:r>
            <a:r>
              <a:rPr lang="tr-TR" dirty="0" smtClean="0"/>
              <a:t> fonksiyonu içerisinde ifade arasında değişken değeri yazdırılacaksa , işareti kullanılır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r>
              <a:rPr lang="tr-TR" dirty="0" smtClean="0"/>
              <a:t>İfade içerisine değerler sonradan eklenecek ise %s belirteci kullanılır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r>
              <a:rPr lang="tr-TR" dirty="0" smtClean="0"/>
              <a:t>NOT: </a:t>
            </a:r>
            <a:r>
              <a:rPr lang="tr-TR" dirty="0" smtClean="0">
                <a:solidFill>
                  <a:srgbClr val="FF0000"/>
                </a:solidFill>
              </a:rPr>
              <a:t># </a:t>
            </a:r>
            <a:r>
              <a:rPr lang="tr-TR" dirty="0">
                <a:solidFill>
                  <a:srgbClr val="FF0000"/>
                </a:solidFill>
              </a:rPr>
              <a:t>-*- </a:t>
            </a:r>
            <a:r>
              <a:rPr lang="tr-TR" dirty="0" err="1">
                <a:solidFill>
                  <a:srgbClr val="FF0000"/>
                </a:solidFill>
              </a:rPr>
              <a:t>coding</a:t>
            </a:r>
            <a:r>
              <a:rPr lang="tr-TR" dirty="0">
                <a:solidFill>
                  <a:srgbClr val="FF0000"/>
                </a:solidFill>
              </a:rPr>
              <a:t>: cp1254 -*- 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smtClean="0"/>
              <a:t>ifadesi Türkçe karakter problemi yaşanırsa kodun başına eklenmelidir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7954"/>
            <a:ext cx="8763000" cy="125645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3"/>
          <a:srcRect b="47903"/>
          <a:stretch/>
        </p:blipFill>
        <p:spPr>
          <a:xfrm>
            <a:off x="266700" y="3584950"/>
            <a:ext cx="8724900" cy="477766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" y="4221669"/>
            <a:ext cx="8642571" cy="918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DEĞİŞKENLER ve VERİ TİPLERİ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1"/>
                </a:solidFill>
              </a:rPr>
              <a:t> Sayısal Değişkenler</a:t>
            </a:r>
          </a:p>
          <a:p>
            <a:endParaRPr lang="tr-TR" dirty="0"/>
          </a:p>
        </p:txBody>
      </p:sp>
      <p:graphicFrame>
        <p:nvGraphicFramePr>
          <p:cNvPr id="4" name="3 Tablo"/>
          <p:cNvGraphicFramePr>
            <a:graphicFrameLocks noGrp="1"/>
          </p:cNvGraphicFramePr>
          <p:nvPr/>
        </p:nvGraphicFramePr>
        <p:xfrm>
          <a:off x="1071538" y="2643182"/>
          <a:ext cx="7143800" cy="130803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42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513">
                <a:tc>
                  <a:txBody>
                    <a:bodyPr/>
                    <a:lstStyle/>
                    <a:p>
                      <a:r>
                        <a:rPr lang="tr-TR" sz="1700" b="1" dirty="0">
                          <a:solidFill>
                            <a:srgbClr val="FF0000"/>
                          </a:solidFill>
                        </a:rPr>
                        <a:t>Fonksiyon 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tr-TR" sz="1700" b="1" dirty="0">
                          <a:solidFill>
                            <a:srgbClr val="FF0000"/>
                          </a:solidFill>
                        </a:rPr>
                        <a:t>Anlamı </a:t>
                      </a:r>
                    </a:p>
                  </a:txBody>
                  <a:tcPr marL="88348" marR="88348" marT="44174" marB="4417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303">
                <a:tc>
                  <a:txBody>
                    <a:bodyPr/>
                    <a:lstStyle/>
                    <a:p>
                      <a:r>
                        <a:rPr lang="tr-TR" sz="1700" b="1" dirty="0" err="1"/>
                        <a:t>oct</a:t>
                      </a:r>
                      <a:r>
                        <a:rPr lang="tr-TR" sz="1700" b="1" dirty="0"/>
                        <a:t>(n)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tr-TR" sz="1700"/>
                        <a:t>n sayısının sekizlik tabandaki karşılığını verir. Örn: oct(13) </a:t>
                      </a:r>
                    </a:p>
                  </a:txBody>
                  <a:tcPr marL="88348" marR="88348" marT="44174" marB="4417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303">
                <a:tc>
                  <a:txBody>
                    <a:bodyPr/>
                    <a:lstStyle/>
                    <a:p>
                      <a:r>
                        <a:rPr lang="tr-TR" sz="1700" b="1" dirty="0" err="1"/>
                        <a:t>hex</a:t>
                      </a:r>
                      <a:r>
                        <a:rPr lang="tr-TR" sz="1700" b="1" dirty="0"/>
                        <a:t>(n)</a:t>
                      </a:r>
                    </a:p>
                  </a:txBody>
                  <a:tcPr marL="88348" marR="88348" marT="44174" marB="44174" anchor="ctr"/>
                </a:tc>
                <a:tc>
                  <a:txBody>
                    <a:bodyPr/>
                    <a:lstStyle/>
                    <a:p>
                      <a:r>
                        <a:rPr lang="tr-TR" sz="1700" dirty="0"/>
                        <a:t>n sayısının onaltılık tabandaki karşılığını verir. Örn: </a:t>
                      </a:r>
                      <a:r>
                        <a:rPr lang="tr-TR" sz="1700" dirty="0" err="1"/>
                        <a:t>hex</a:t>
                      </a:r>
                      <a:r>
                        <a:rPr lang="tr-TR" sz="1700" dirty="0"/>
                        <a:t>(13) </a:t>
                      </a:r>
                    </a:p>
                  </a:txBody>
                  <a:tcPr marL="88348" marR="88348" marT="44174" marB="441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DEĞİŞKENLER ve VERİ TİPLERİ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accent1"/>
                </a:solidFill>
              </a:rPr>
              <a:t> </a:t>
            </a:r>
            <a:r>
              <a:rPr lang="tr-TR" b="1" dirty="0" err="1" smtClean="0">
                <a:solidFill>
                  <a:schemeClr val="accent1"/>
                </a:solidFill>
              </a:rPr>
              <a:t>String</a:t>
            </a:r>
            <a:r>
              <a:rPr lang="tr-TR" b="1" dirty="0" smtClean="0">
                <a:solidFill>
                  <a:schemeClr val="accent1"/>
                </a:solidFill>
              </a:rPr>
              <a:t> Değişkenler </a:t>
            </a:r>
            <a:endParaRPr lang="tr-TR" sz="20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tr-TR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tr-TR" dirty="0" smtClean="0">
                <a:latin typeface="Times New Roman" pitchFamily="18" charset="0"/>
                <a:cs typeface="Times New Roman" pitchFamily="18" charset="0"/>
              </a:rPr>
              <a:t> bir değişkene değer atamak için “ (çift tırnak) veya ‘ (tek tırnak) ifadesi kullanılır. Eğer karakter dizisi belirtilirken çift tırnak kullanılırsa o karakter dizisi içerisinde çeşitli özel karakterler (%s , %d vs.) aranır , varsa değiştirilir</a:t>
            </a:r>
            <a:r>
              <a:rPr lang="tr-TR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buClr>
                <a:schemeClr val="accent1"/>
              </a:buClr>
            </a:pP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&gt;&gt;&gt;ad=“</a:t>
            </a:r>
            <a:r>
              <a:rPr lang="tr-TR" sz="16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alimurat</a:t>
            </a: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lvl="1">
              <a:buClr>
                <a:schemeClr val="accent1"/>
              </a:buClr>
            </a:pP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	&gt;&gt;&gt;ad=‘</a:t>
            </a:r>
            <a:r>
              <a:rPr lang="tr-TR" sz="16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alimurat</a:t>
            </a: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’</a:t>
            </a:r>
          </a:p>
          <a:p>
            <a:pPr lvl="2">
              <a:buClr>
                <a:schemeClr val="accent1"/>
              </a:buClr>
            </a:pPr>
            <a:endParaRPr lang="tr-TR" sz="16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Clr>
                <a:schemeClr val="accent1"/>
              </a:buClr>
            </a:pP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&gt;&gt;&gt;=a=9</a:t>
            </a:r>
          </a:p>
          <a:p>
            <a:pPr lvl="2">
              <a:buClr>
                <a:schemeClr val="accent1"/>
              </a:buClr>
            </a:pP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&gt;&gt;&gt;b=“5”</a:t>
            </a:r>
          </a:p>
          <a:p>
            <a:pPr lvl="2">
              <a:buClr>
                <a:schemeClr val="accent1"/>
              </a:buClr>
            </a:pPr>
            <a:r>
              <a:rPr lang="tr-TR" sz="16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&gt;&gt;&gt;c=a+b</a:t>
            </a:r>
          </a:p>
          <a:p>
            <a:pPr lvl="2">
              <a:buClr>
                <a:schemeClr val="accent1"/>
              </a:buClr>
            </a:pPr>
            <a:r>
              <a:rPr lang="en-US" sz="1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(most recent call last):</a:t>
            </a:r>
          </a:p>
          <a:p>
            <a:pPr lvl="2">
              <a:buClr>
                <a:schemeClr val="accent1"/>
              </a:buClr>
            </a:pP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File "&lt;pyshell#11&gt;", line 1, in &lt;module&gt;</a:t>
            </a:r>
          </a:p>
          <a:p>
            <a:pPr lvl="2">
              <a:buClr>
                <a:schemeClr val="accent1"/>
              </a:buClr>
            </a:pP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a+b</a:t>
            </a:r>
            <a:endParaRPr lang="en-US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buClr>
                <a:schemeClr val="accent1"/>
              </a:buClr>
            </a:pPr>
            <a:r>
              <a:rPr lang="en-US" sz="1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TypeError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 unsupported operand type(s) for +: '</a:t>
            </a:r>
            <a:r>
              <a:rPr lang="en-US" sz="1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 and '</a:t>
            </a:r>
            <a:r>
              <a:rPr lang="en-US" sz="16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‘</a:t>
            </a:r>
            <a:endParaRPr lang="tr-TR" sz="16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tr-TR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</a:t>
            </a:r>
            <a:r>
              <a:rPr lang="tr-TR" dirty="0" smtClean="0"/>
              <a:t>Veri Girişi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49" y="821636"/>
            <a:ext cx="7886700" cy="6036364"/>
          </a:xfrm>
        </p:spPr>
        <p:txBody>
          <a:bodyPr>
            <a:normAutofit/>
          </a:bodyPr>
          <a:lstStyle/>
          <a:p>
            <a:r>
              <a:rPr lang="tr-TR" dirty="0" smtClean="0"/>
              <a:t>Veri girişi için </a:t>
            </a:r>
            <a:r>
              <a:rPr lang="tr-TR" dirty="0" err="1" smtClean="0"/>
              <a:t>input</a:t>
            </a:r>
            <a:r>
              <a:rPr lang="tr-TR" dirty="0" smtClean="0"/>
              <a:t>() fonksiyonu kullanılır.</a:t>
            </a:r>
          </a:p>
          <a:p>
            <a:pPr lvl="1"/>
            <a:r>
              <a:rPr lang="tr-TR" dirty="0" smtClean="0"/>
              <a:t>Phyton2.x versiyonlarında olan </a:t>
            </a:r>
            <a:r>
              <a:rPr lang="tr-TR" dirty="0" err="1" smtClean="0"/>
              <a:t>raw_input</a:t>
            </a:r>
            <a:r>
              <a:rPr lang="tr-TR" dirty="0" smtClean="0"/>
              <a:t>() fonksiyonu artık kullanılmamaktadır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r>
              <a:rPr lang="tr-TR" dirty="0" smtClean="0"/>
              <a:t>                                                                         ????                        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118" y="1949333"/>
            <a:ext cx="6491168" cy="81806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05" y="2976183"/>
            <a:ext cx="4711734" cy="757010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625" y="2940844"/>
            <a:ext cx="2911581" cy="75701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11" y="3992554"/>
            <a:ext cx="4881385" cy="800227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718" y="3992554"/>
            <a:ext cx="2757695" cy="785943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911" y="5026900"/>
            <a:ext cx="4702223" cy="663574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1625" y="4904531"/>
            <a:ext cx="2757695" cy="785943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910" y="5790837"/>
            <a:ext cx="4336527" cy="69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5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4900" y="1413034"/>
            <a:ext cx="6161786" cy="98182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 rotWithShape="1">
          <a:blip r:embed="rId3"/>
          <a:srcRect t="24090" r="32331" b="11209"/>
          <a:stretch/>
        </p:blipFill>
        <p:spPr bwMode="auto">
          <a:xfrm>
            <a:off x="1413329" y="2986255"/>
            <a:ext cx="5065848" cy="27091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1083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Veri Girişi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8" y="1370821"/>
            <a:ext cx="5450104" cy="2207991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88" y="3968972"/>
            <a:ext cx="5070775" cy="201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8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Veri Girişi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50" y="980661"/>
            <a:ext cx="4012798" cy="5196302"/>
          </a:xfrm>
        </p:spPr>
        <p:txBody>
          <a:bodyPr/>
          <a:lstStyle/>
          <a:p>
            <a:r>
              <a:rPr lang="tr-TR" dirty="0" err="1" smtClean="0"/>
              <a:t>int</a:t>
            </a:r>
            <a:r>
              <a:rPr lang="tr-TR" dirty="0" smtClean="0"/>
              <a:t>() fonksiyonu ile </a:t>
            </a:r>
            <a:r>
              <a:rPr lang="tr-TR" dirty="0" err="1" smtClean="0"/>
              <a:t>string</a:t>
            </a:r>
            <a:r>
              <a:rPr lang="tr-TR" dirty="0" smtClean="0"/>
              <a:t> tam sayıya </a:t>
            </a:r>
            <a:r>
              <a:rPr lang="tr-TR" dirty="0" err="1" smtClean="0"/>
              <a:t>çevirilebilir</a:t>
            </a:r>
            <a:endParaRPr lang="tr-TR" dirty="0" smtClean="0"/>
          </a:p>
          <a:p>
            <a:r>
              <a:rPr lang="tr-TR" dirty="0" err="1"/>
              <a:t>s</a:t>
            </a:r>
            <a:r>
              <a:rPr lang="tr-TR" dirty="0" err="1" smtClean="0"/>
              <a:t>tr</a:t>
            </a:r>
            <a:r>
              <a:rPr lang="tr-TR" dirty="0" smtClean="0"/>
              <a:t>() ile </a:t>
            </a:r>
            <a:r>
              <a:rPr lang="tr-TR" dirty="0" err="1" smtClean="0"/>
              <a:t>int</a:t>
            </a:r>
            <a:r>
              <a:rPr lang="tr-TR" dirty="0" smtClean="0"/>
              <a:t>, </a:t>
            </a:r>
            <a:r>
              <a:rPr lang="tr-TR" dirty="0" err="1" smtClean="0"/>
              <a:t>float</a:t>
            </a:r>
            <a:r>
              <a:rPr lang="tr-TR" dirty="0" smtClean="0"/>
              <a:t> gibi türler </a:t>
            </a:r>
            <a:r>
              <a:rPr lang="tr-TR" dirty="0" err="1" smtClean="0"/>
              <a:t>stringe</a:t>
            </a:r>
            <a:r>
              <a:rPr lang="tr-TR" dirty="0" smtClean="0"/>
              <a:t> </a:t>
            </a:r>
            <a:r>
              <a:rPr lang="tr-TR" dirty="0" err="1" smtClean="0"/>
              <a:t>çevirilebilir</a:t>
            </a:r>
            <a:endParaRPr lang="tr-TR" dirty="0"/>
          </a:p>
          <a:p>
            <a:r>
              <a:rPr lang="tr-TR" dirty="0" err="1" smtClean="0"/>
              <a:t>float</a:t>
            </a:r>
            <a:r>
              <a:rPr lang="tr-TR" dirty="0" smtClean="0"/>
              <a:t>() ile </a:t>
            </a:r>
            <a:r>
              <a:rPr lang="tr-TR" dirty="0" err="1" smtClean="0"/>
              <a:t>int</a:t>
            </a:r>
            <a:r>
              <a:rPr lang="tr-TR" dirty="0" smtClean="0"/>
              <a:t> türü </a:t>
            </a:r>
            <a:r>
              <a:rPr lang="tr-TR" dirty="0" err="1" smtClean="0"/>
              <a:t>float'a</a:t>
            </a:r>
            <a:r>
              <a:rPr lang="tr-TR" dirty="0" smtClean="0"/>
              <a:t> </a:t>
            </a:r>
            <a:r>
              <a:rPr lang="tr-TR" dirty="0" err="1" smtClean="0"/>
              <a:t>çevirilebilir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461" y="1153383"/>
            <a:ext cx="2589474" cy="502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8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Phyton – Koşul ifadeleri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Koşul ifadesi</a:t>
            </a:r>
          </a:p>
          <a:p>
            <a:pPr lvl="1"/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2095017" y="1516285"/>
            <a:ext cx="370389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dirty="0" smtClean="0"/>
              <a:t>if koşul:</a:t>
            </a:r>
          </a:p>
          <a:p>
            <a:r>
              <a:rPr lang="tr-TR" dirty="0" smtClean="0"/>
              <a:t>    sağlandıysa yapılacak işlemler</a:t>
            </a:r>
          </a:p>
          <a:p>
            <a:r>
              <a:rPr lang="tr-TR" dirty="0" smtClean="0"/>
              <a:t>Else:</a:t>
            </a:r>
          </a:p>
          <a:p>
            <a:r>
              <a:rPr lang="tr-TR" dirty="0" smtClean="0"/>
              <a:t>    sağlanmadıysa yapılacak işlemler</a:t>
            </a:r>
            <a:endParaRPr lang="tr-TR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48" y="3252238"/>
            <a:ext cx="5949310" cy="1540012"/>
          </a:xfrm>
          <a:prstGeom prst="rect">
            <a:avLst/>
          </a:prstGeom>
        </p:spPr>
      </p:pic>
      <p:graphicFrame>
        <p:nvGraphicFramePr>
          <p:cNvPr id="8" name="Tablo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647612"/>
              </p:ext>
            </p:extLst>
          </p:nvPr>
        </p:nvGraphicFramePr>
        <p:xfrm>
          <a:off x="6342158" y="1590787"/>
          <a:ext cx="256111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7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İşleç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Anlam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==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Eşit ise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&lt;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Küçük ise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&gt;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Büyük ise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&lt;=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Küçük</a:t>
                      </a:r>
                      <a:r>
                        <a:rPr lang="tr-TR" baseline="0" dirty="0" smtClean="0"/>
                        <a:t>  eşit ise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&gt;=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Büyük</a:t>
                      </a:r>
                      <a:r>
                        <a:rPr lang="tr-TR" baseline="0" dirty="0" smtClean="0"/>
                        <a:t> eşit ise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tr-TR" dirty="0" smtClean="0"/>
                        <a:t>!=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 smtClean="0"/>
                        <a:t>Eşit değil ise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Metin kutusu 9"/>
          <p:cNvSpPr txBox="1"/>
          <p:nvPr/>
        </p:nvSpPr>
        <p:spPr>
          <a:xfrm>
            <a:off x="266217" y="5161441"/>
            <a:ext cx="8657863" cy="83099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tr-TR" sz="2400" dirty="0" smtClean="0">
                <a:solidFill>
                  <a:schemeClr val="bg1"/>
                </a:solidFill>
              </a:rPr>
              <a:t>DİKKAT…</a:t>
            </a:r>
          </a:p>
          <a:p>
            <a:r>
              <a:rPr lang="tr-TR" sz="2400" dirty="0" smtClean="0">
                <a:solidFill>
                  <a:schemeClr val="bg1"/>
                </a:solidFill>
              </a:rPr>
              <a:t>İf else gibi bloklar içerisindeki ifadeler hizalama ile birbirinden ayrılır</a:t>
            </a:r>
            <a:endParaRPr lang="tr-T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5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Koşul ifadeleri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Else if yapısı elif: şeklinde kullanılır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3" y="1072002"/>
            <a:ext cx="6281932" cy="199183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26" y="3728913"/>
            <a:ext cx="5453921" cy="1804988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243068" y="5504991"/>
            <a:ext cx="8657863" cy="83099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tr-TR" sz="2400" dirty="0" smtClean="0">
                <a:solidFill>
                  <a:schemeClr val="bg1"/>
                </a:solidFill>
              </a:rPr>
              <a:t>DİKKAT…</a:t>
            </a:r>
          </a:p>
          <a:p>
            <a:r>
              <a:rPr lang="tr-TR" sz="2400" dirty="0" smtClean="0">
                <a:solidFill>
                  <a:schemeClr val="bg1"/>
                </a:solidFill>
              </a:rPr>
              <a:t>İf else gibi bloklar içerisindeki ifadeler hizalama ile birbirinden ayrılır</a:t>
            </a:r>
            <a:endParaRPr lang="tr-T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25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3040"/>
          <a:stretch/>
        </p:blipFill>
        <p:spPr>
          <a:xfrm>
            <a:off x="628650" y="1436914"/>
            <a:ext cx="8324008" cy="449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2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4276"/>
          <a:stretch/>
        </p:blipFill>
        <p:spPr>
          <a:xfrm>
            <a:off x="112986" y="1367245"/>
            <a:ext cx="8918028" cy="374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53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</a:t>
            </a:r>
            <a:r>
              <a:rPr lang="tr-TR" dirty="0" smtClean="0"/>
              <a:t>Ev Çalışması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3 kodu çalıştırıp kıyaslayınız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68" y="2405777"/>
            <a:ext cx="3641975" cy="20594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405777"/>
            <a:ext cx="3749542" cy="2059450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014" y="4663267"/>
            <a:ext cx="3668102" cy="1957755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243068" y="1376741"/>
            <a:ext cx="8657863" cy="83099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tr-TR" sz="2400" dirty="0" smtClean="0">
                <a:solidFill>
                  <a:schemeClr val="bg1"/>
                </a:solidFill>
              </a:rPr>
              <a:t>DİKKAT…</a:t>
            </a:r>
          </a:p>
          <a:p>
            <a:r>
              <a:rPr lang="tr-TR" sz="2400" dirty="0" smtClean="0">
                <a:solidFill>
                  <a:schemeClr val="bg1"/>
                </a:solidFill>
              </a:rPr>
              <a:t>İf else gibi bloklar içerisindeki ifadeler hizalama ile birbirinden ayrılır</a:t>
            </a:r>
            <a:endParaRPr lang="tr-T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1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Phyton – Koşul ifadeleri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70389" y="980661"/>
            <a:ext cx="8310623" cy="5196302"/>
          </a:xfrm>
        </p:spPr>
        <p:txBody>
          <a:bodyPr/>
          <a:lstStyle/>
          <a:p>
            <a:r>
              <a:rPr lang="tr-TR" dirty="0" smtClean="0"/>
              <a:t>Çoklu koşul sınamalarına </a:t>
            </a:r>
            <a:r>
              <a:rPr lang="tr-TR" dirty="0" err="1" smtClean="0"/>
              <a:t>and</a:t>
            </a:r>
            <a:r>
              <a:rPr lang="tr-TR" dirty="0" smtClean="0"/>
              <a:t> ve </a:t>
            </a:r>
            <a:r>
              <a:rPr lang="tr-TR" dirty="0" err="1" smtClean="0"/>
              <a:t>or</a:t>
            </a:r>
            <a:r>
              <a:rPr lang="tr-TR" dirty="0" smtClean="0"/>
              <a:t> ifadeleri kullanılır.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88" y="1668260"/>
            <a:ext cx="5915630" cy="220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44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While Döngüsü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While döngüsü koşul sağlandıkça işlemleri tekrar eden döngüdür.</a:t>
            </a:r>
            <a:endParaRPr lang="tr-TR" dirty="0"/>
          </a:p>
        </p:txBody>
      </p:sp>
      <p:sp>
        <p:nvSpPr>
          <p:cNvPr id="4" name="Metin kutusu 3"/>
          <p:cNvSpPr txBox="1"/>
          <p:nvPr/>
        </p:nvSpPr>
        <p:spPr>
          <a:xfrm>
            <a:off x="2395959" y="1824486"/>
            <a:ext cx="3703899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dirty="0" smtClean="0"/>
              <a:t>While koşul:</a:t>
            </a:r>
          </a:p>
          <a:p>
            <a:r>
              <a:rPr lang="tr-TR" dirty="0" smtClean="0"/>
              <a:t>    işlem1</a:t>
            </a:r>
          </a:p>
          <a:p>
            <a:r>
              <a:rPr lang="tr-TR" dirty="0"/>
              <a:t> </a:t>
            </a:r>
            <a:r>
              <a:rPr lang="tr-TR" dirty="0" smtClean="0"/>
              <a:t>   işlem2</a:t>
            </a:r>
          </a:p>
          <a:p>
            <a:r>
              <a:rPr lang="tr-TR" dirty="0"/>
              <a:t> </a:t>
            </a:r>
            <a:r>
              <a:rPr lang="tr-TR" dirty="0" smtClean="0"/>
              <a:t>   işlem3</a:t>
            </a:r>
          </a:p>
          <a:p>
            <a:r>
              <a:rPr lang="tr-TR" dirty="0" smtClean="0"/>
              <a:t>işlem4</a:t>
            </a:r>
          </a:p>
          <a:p>
            <a:r>
              <a:rPr lang="tr-TR" dirty="0" smtClean="0"/>
              <a:t>   #işlem4 döngü sonlandıktan sonra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009" y="3948835"/>
            <a:ext cx="4114845" cy="169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13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While Döngüsü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While True: ifadesi sonsuz döngü kurmak için kullanılır </a:t>
            </a:r>
          </a:p>
          <a:p>
            <a:pPr lvl="1"/>
            <a:r>
              <a:rPr lang="tr-TR" dirty="0" smtClean="0"/>
              <a:t>Break deyimi yada </a:t>
            </a:r>
            <a:r>
              <a:rPr lang="tr-TR" dirty="0" err="1" smtClean="0"/>
              <a:t>Ctrl+c</a:t>
            </a:r>
            <a:r>
              <a:rPr lang="tr-TR" dirty="0" smtClean="0"/>
              <a:t> ile kırılabilir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954" y="2492961"/>
            <a:ext cx="6119434" cy="185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1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/>
              <a:t>Döngüsü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degisken</a:t>
            </a:r>
            <a:r>
              <a:rPr lang="tr-TR" dirty="0" smtClean="0"/>
              <a:t> </a:t>
            </a:r>
            <a:r>
              <a:rPr lang="tr-TR" b="1" dirty="0" smtClean="0"/>
              <a:t>in</a:t>
            </a:r>
            <a:r>
              <a:rPr lang="tr-TR" dirty="0" smtClean="0"/>
              <a:t> (Aralık)</a:t>
            </a:r>
          </a:p>
          <a:p>
            <a:pPr lvl="1"/>
            <a:r>
              <a:rPr lang="tr-TR" dirty="0" smtClean="0"/>
              <a:t>Biçiminde kullanılır</a:t>
            </a:r>
          </a:p>
          <a:p>
            <a:pPr lvl="1"/>
            <a:r>
              <a:rPr lang="tr-TR" dirty="0" smtClean="0"/>
              <a:t>Sayı aralıkları </a:t>
            </a:r>
            <a:r>
              <a:rPr lang="tr-TR" dirty="0" err="1" smtClean="0"/>
              <a:t>range</a:t>
            </a:r>
            <a:r>
              <a:rPr lang="tr-TR" dirty="0" smtClean="0"/>
              <a:t>() fonksiyonu ile tanımlanabilir</a:t>
            </a:r>
          </a:p>
          <a:p>
            <a:pPr lvl="1"/>
            <a:r>
              <a:rPr lang="tr-TR" dirty="0" smtClean="0"/>
              <a:t>1'den 9'a kadar sayıları yazdırmak için: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r>
              <a:rPr lang="tr-TR" dirty="0" smtClean="0"/>
              <a:t>5'den 23'e kadar üçer üçer yazdırmak için: (23?)</a:t>
            </a:r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r>
              <a:rPr lang="tr-TR" dirty="0" smtClean="0"/>
              <a:t>MARMARA ifadesinin harflerini yazdırmak için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08" y="2659102"/>
            <a:ext cx="3402837" cy="67755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267" y="3813194"/>
            <a:ext cx="3789328" cy="735657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267" y="5155858"/>
            <a:ext cx="3265195" cy="72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0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Break Deyimi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50" y="980661"/>
            <a:ext cx="8515350" cy="5196302"/>
          </a:xfrm>
        </p:spPr>
        <p:txBody>
          <a:bodyPr/>
          <a:lstStyle/>
          <a:p>
            <a:r>
              <a:rPr lang="tr-TR" dirty="0" smtClean="0"/>
              <a:t>While ve </a:t>
            </a:r>
            <a:r>
              <a:rPr lang="tr-TR" dirty="0" err="1" smtClean="0"/>
              <a:t>For</a:t>
            </a:r>
            <a:r>
              <a:rPr lang="tr-TR" dirty="0" smtClean="0"/>
              <a:t> döngüleri break deyimi ile sonlandırılabilir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91" y="1681523"/>
            <a:ext cx="7255116" cy="1152682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819" y="3154594"/>
            <a:ext cx="4638156" cy="204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5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Continue</a:t>
            </a:r>
            <a:r>
              <a:rPr lang="tr-TR" dirty="0" smtClean="0"/>
              <a:t> Deyimi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Döngünün o anki </a:t>
            </a:r>
            <a:r>
              <a:rPr lang="tr-TR" dirty="0" err="1" smtClean="0"/>
              <a:t>iterasyonunu</a:t>
            </a:r>
            <a:r>
              <a:rPr lang="tr-TR" dirty="0" smtClean="0"/>
              <a:t> sonlandırır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97" y="1534616"/>
            <a:ext cx="8574605" cy="1222031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97" y="3093639"/>
            <a:ext cx="7599290" cy="166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28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Pass</a:t>
            </a:r>
            <a:r>
              <a:rPr lang="tr-TR" dirty="0" smtClean="0"/>
              <a:t> Deyimi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Döngünün bir </a:t>
            </a:r>
            <a:r>
              <a:rPr lang="tr-TR" dirty="0" err="1" smtClean="0"/>
              <a:t>iterasyonunda</a:t>
            </a:r>
            <a:r>
              <a:rPr lang="tr-TR" dirty="0" smtClean="0"/>
              <a:t> farklı bir blok çalışması için kullanılır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444" y="2264361"/>
            <a:ext cx="7081090" cy="209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Lab</a:t>
            </a:r>
            <a:r>
              <a:rPr lang="tr-TR" dirty="0" smtClean="0"/>
              <a:t> Uygulamaları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208344" y="980661"/>
            <a:ext cx="8808334" cy="5196302"/>
          </a:xfrm>
        </p:spPr>
        <p:txBody>
          <a:bodyPr/>
          <a:lstStyle/>
          <a:p>
            <a:r>
              <a:rPr lang="tr-TR" dirty="0" smtClean="0"/>
              <a:t>Klavyeden 3 kenar uzunluğu girilen üçgenin türünü bulan programı yazınız</a:t>
            </a:r>
          </a:p>
          <a:p>
            <a:r>
              <a:rPr lang="tr-TR" dirty="0" smtClean="0"/>
              <a:t>a, b, c katsayıları girilen ax</a:t>
            </a:r>
            <a:r>
              <a:rPr lang="tr-TR" baseline="30000" dirty="0" smtClean="0"/>
              <a:t>2</a:t>
            </a:r>
            <a:r>
              <a:rPr lang="tr-TR" dirty="0" smtClean="0"/>
              <a:t>+bx+c = 0 formundaki denklemin</a:t>
            </a:r>
          </a:p>
          <a:p>
            <a:pPr lvl="1"/>
            <a:r>
              <a:rPr lang="tr-TR" dirty="0" smtClean="0"/>
              <a:t>Reel kökü olup olmadığı</a:t>
            </a:r>
          </a:p>
          <a:p>
            <a:pPr lvl="1"/>
            <a:r>
              <a:rPr lang="tr-TR" dirty="0" smtClean="0"/>
              <a:t>Çift katlı kökü olup olmadığı</a:t>
            </a:r>
          </a:p>
          <a:p>
            <a:pPr lvl="1"/>
            <a:r>
              <a:rPr lang="tr-TR" dirty="0" smtClean="0"/>
              <a:t>Köklerini bulan programı yazınız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797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Lab</a:t>
            </a:r>
            <a:r>
              <a:rPr lang="tr-TR" dirty="0" smtClean="0"/>
              <a:t> uygulamaları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Girilen bir sayının asal olup olmadığını bulan program</a:t>
            </a:r>
          </a:p>
          <a:p>
            <a:r>
              <a:rPr lang="tr-TR" dirty="0" smtClean="0"/>
              <a:t>Belirtilen aralıktaki asal sayıları belirten</a:t>
            </a:r>
          </a:p>
          <a:p>
            <a:pPr lvl="1"/>
            <a:r>
              <a:rPr lang="tr-TR" dirty="0" smtClean="0"/>
              <a:t>Asal olmayanları çarpanları ile yazan program</a:t>
            </a:r>
          </a:p>
          <a:p>
            <a:pPr lvl="1"/>
            <a:endParaRPr lang="tr-TR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59352" y="3074987"/>
            <a:ext cx="2361236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10 = 2 *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11 asal sayıdır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12 = 2 * 6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13 asal sayıdır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14 = 2 * 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15 = 3 *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16 = 2 * 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17 asal sayıdır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18 = 2 * 9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19 asal sayıdır</a:t>
            </a:r>
            <a:endParaRPr kumimoji="0" lang="tr-T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1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1693</TotalTime>
  <Words>753</Words>
  <Application>Microsoft Office PowerPoint</Application>
  <PresentationFormat>On-screen Show (4:3)</PresentationFormat>
  <Paragraphs>235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Unicode MS</vt:lpstr>
      <vt:lpstr>Calibri</vt:lpstr>
      <vt:lpstr>Calibri Light</vt:lpstr>
      <vt:lpstr>Times New Roman</vt:lpstr>
      <vt:lpstr>Office Teması</vt:lpstr>
      <vt:lpstr>  Teknoloji Fakültesi Bilgisayar Mühendisliği Bilgisayar Programlama – Ders2 </vt:lpstr>
      <vt:lpstr>PYTHON OPERATÖRLERİ</vt:lpstr>
      <vt:lpstr>PYTHON OPERATÖRLERİ</vt:lpstr>
      <vt:lpstr>PYTHON OPERATÖRLERİ</vt:lpstr>
      <vt:lpstr>Phyton – Ekrana mesaj yazdırma</vt:lpstr>
      <vt:lpstr>Phyton – Aritmetiksel işlemler</vt:lpstr>
      <vt:lpstr>Phyton – Değişkenler</vt:lpstr>
      <vt:lpstr>Phyton – Değişkenler</vt:lpstr>
      <vt:lpstr>DEĞİŞKENLER ve VERİ TİPLERİ</vt:lpstr>
      <vt:lpstr>DEĞİŞKENLER ve VERİ TİPLERİ</vt:lpstr>
      <vt:lpstr>Phyton – Veri Girişi</vt:lpstr>
      <vt:lpstr>PowerPoint Presentation</vt:lpstr>
      <vt:lpstr>Phyton – Veri Girişi</vt:lpstr>
      <vt:lpstr>Phyton – Veri Girişi</vt:lpstr>
      <vt:lpstr>Phyton – Koşul ifadeleri</vt:lpstr>
      <vt:lpstr>Phyton – Koşul ifadeleri</vt:lpstr>
      <vt:lpstr>PowerPoint Presentation</vt:lpstr>
      <vt:lpstr>PowerPoint Presentation</vt:lpstr>
      <vt:lpstr>Phyton – Ev Çalışması</vt:lpstr>
      <vt:lpstr>Phyton – Koşul ifadeleri</vt:lpstr>
      <vt:lpstr>While Döngüsü</vt:lpstr>
      <vt:lpstr>While Döngüsü</vt:lpstr>
      <vt:lpstr>For Döngüsü</vt:lpstr>
      <vt:lpstr>Break Deyimi</vt:lpstr>
      <vt:lpstr>Continue Deyimi</vt:lpstr>
      <vt:lpstr>Pass Deyimi </vt:lpstr>
      <vt:lpstr>Lab Uygulamaları</vt:lpstr>
      <vt:lpstr>Lab uygulamaları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Phyton – Sunu 1</dc:title>
  <dc:creator>onder demir</dc:creator>
  <cp:lastModifiedBy>Berna</cp:lastModifiedBy>
  <cp:revision>106</cp:revision>
  <dcterms:created xsi:type="dcterms:W3CDTF">2019-10-01T08:30:16Z</dcterms:created>
  <dcterms:modified xsi:type="dcterms:W3CDTF">2022-10-20T07:45:27Z</dcterms:modified>
</cp:coreProperties>
</file>