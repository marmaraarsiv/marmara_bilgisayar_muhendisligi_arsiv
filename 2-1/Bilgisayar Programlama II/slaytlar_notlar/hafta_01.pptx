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261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34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553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408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24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05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38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065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262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65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32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E30E-6639-456A-9904-A1550EDA403C}" type="datetimeFigureOut">
              <a:rPr lang="tr-TR" smtClean="0"/>
              <a:t>12.10.2022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5B299-609C-4DA6-8FC0-FAA53D788A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263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pypl.github.io/PYPL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hyperlink" Target="https://www.digitalocean.com/community/tutorials/understanding-data-types-in-python-3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BLM 2001 BİLGİSAYAR PROGRAMLAMA 2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(PHYTON PROGRAMMING)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9081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Bilgisi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Phyton</a:t>
            </a:r>
            <a:r>
              <a:rPr lang="tr-TR" dirty="0" smtClean="0"/>
              <a:t> programlama dersi daha önce </a:t>
            </a:r>
            <a:r>
              <a:rPr lang="tr-TR" dirty="0" err="1" smtClean="0"/>
              <a:t>phyton</a:t>
            </a:r>
            <a:r>
              <a:rPr lang="tr-TR" dirty="0" smtClean="0"/>
              <a:t> ile programlama deneyimi olan veya olmayan tüm öğrenciler içindir.</a:t>
            </a:r>
            <a:endParaRPr lang="tr-TR" dirty="0"/>
          </a:p>
          <a:p>
            <a:r>
              <a:rPr lang="tr-TR" dirty="0" smtClean="0"/>
              <a:t>Dersin amacı </a:t>
            </a:r>
          </a:p>
          <a:p>
            <a:pPr lvl="1"/>
            <a:r>
              <a:rPr lang="tr-TR" dirty="0" smtClean="0"/>
              <a:t>problem çözme sürecinde </a:t>
            </a:r>
            <a:r>
              <a:rPr lang="tr-TR" dirty="0" err="1" smtClean="0"/>
              <a:t>phyton</a:t>
            </a:r>
            <a:r>
              <a:rPr lang="tr-TR" dirty="0" smtClean="0"/>
              <a:t> programlama dilini anlamak </a:t>
            </a:r>
          </a:p>
          <a:p>
            <a:pPr lvl="1"/>
            <a:r>
              <a:rPr lang="tr-TR" dirty="0" smtClean="0"/>
              <a:t>Belirlenen hedeflere ulaşabilmek için yazılan programlarda kendine güvenilir bir şekilde bu yetiyi kazanabilmek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168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Değerlendirme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Vize   </a:t>
            </a:r>
            <a:endParaRPr lang="tr-TR" dirty="0"/>
          </a:p>
          <a:p>
            <a:r>
              <a:rPr lang="tr-TR" dirty="0" smtClean="0"/>
              <a:t>Final  </a:t>
            </a:r>
            <a:endParaRPr lang="tr-TR" dirty="0"/>
          </a:p>
          <a:p>
            <a:r>
              <a:rPr lang="tr-TR" dirty="0" err="1" smtClean="0"/>
              <a:t>Lab</a:t>
            </a:r>
            <a:r>
              <a:rPr lang="tr-TR" dirty="0" smtClean="0"/>
              <a:t>     -Detaylar </a:t>
            </a:r>
            <a:r>
              <a:rPr lang="tr-TR" dirty="0" err="1" smtClean="0"/>
              <a:t>lab</a:t>
            </a:r>
            <a:r>
              <a:rPr lang="tr-TR" dirty="0" smtClean="0"/>
              <a:t> saatinde açıklanacaktır.</a:t>
            </a:r>
            <a:endParaRPr lang="tr-TR" dirty="0"/>
          </a:p>
          <a:p>
            <a:r>
              <a:rPr lang="tr-TR" dirty="0" smtClean="0"/>
              <a:t>Ödev  -Detaylar </a:t>
            </a:r>
            <a:r>
              <a:rPr lang="tr-TR" dirty="0" err="1" smtClean="0"/>
              <a:t>lab</a:t>
            </a:r>
            <a:r>
              <a:rPr lang="tr-TR" dirty="0" smtClean="0"/>
              <a:t> saatinde açıklanacaktır.</a:t>
            </a:r>
            <a:endParaRPr lang="tr-TR" dirty="0"/>
          </a:p>
          <a:p>
            <a:r>
              <a:rPr lang="tr-TR" dirty="0" smtClean="0"/>
              <a:t>Proje  -Detaylar </a:t>
            </a:r>
            <a:r>
              <a:rPr lang="tr-TR" dirty="0" err="1" smtClean="0"/>
              <a:t>lab</a:t>
            </a:r>
            <a:r>
              <a:rPr lang="tr-TR" dirty="0" smtClean="0"/>
              <a:t> saatinde açıklanacaktır.</a:t>
            </a:r>
            <a:endParaRPr lang="tr-TR" dirty="0"/>
          </a:p>
          <a:p>
            <a:r>
              <a:rPr lang="tr-TR" dirty="0" smtClean="0"/>
              <a:t>Sınıf ve </a:t>
            </a:r>
            <a:r>
              <a:rPr lang="tr-TR" dirty="0" err="1" smtClean="0"/>
              <a:t>lab</a:t>
            </a:r>
            <a:r>
              <a:rPr lang="tr-TR" dirty="0" smtClean="0"/>
              <a:t> çalışması </a:t>
            </a:r>
            <a:r>
              <a:rPr lang="tr-TR" dirty="0"/>
              <a:t>(</a:t>
            </a:r>
            <a:r>
              <a:rPr lang="tr-TR" dirty="0" err="1"/>
              <a:t>bonus</a:t>
            </a:r>
            <a:r>
              <a:rPr lang="tr-TR" dirty="0"/>
              <a:t>) 5% </a:t>
            </a:r>
            <a:r>
              <a:rPr lang="tr-TR" dirty="0" smtClean="0"/>
              <a:t> olarak kullanılacaktır.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29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Kitabı ve Kaynaklar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694098"/>
            <a:ext cx="10515600" cy="4351338"/>
          </a:xfrm>
        </p:spPr>
        <p:txBody>
          <a:bodyPr/>
          <a:lstStyle/>
          <a:p>
            <a:r>
              <a:rPr lang="en-US" dirty="0" smtClean="0"/>
              <a:t>Python </a:t>
            </a:r>
            <a:r>
              <a:rPr lang="en-US" dirty="0"/>
              <a:t>Crash Course: Eric </a:t>
            </a:r>
            <a:r>
              <a:rPr lang="en-US" dirty="0" err="1"/>
              <a:t>Matthes</a:t>
            </a:r>
            <a:r>
              <a:rPr lang="en-US" dirty="0"/>
              <a:t> </a:t>
            </a:r>
            <a:r>
              <a:rPr lang="en-US" i="1" dirty="0"/>
              <a:t>(No Starch Press, 2016</a:t>
            </a:r>
            <a:r>
              <a:rPr lang="en-US" i="1" dirty="0" smtClean="0"/>
              <a:t>)</a:t>
            </a:r>
            <a:endParaRPr lang="tr-TR" i="1" dirty="0" smtClean="0"/>
          </a:p>
          <a:p>
            <a:r>
              <a:rPr lang="en-US" dirty="0" smtClean="0"/>
              <a:t>One </a:t>
            </a:r>
            <a:r>
              <a:rPr lang="en-US" dirty="0"/>
              <a:t>of the best books for learning Python 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36" y="2881744"/>
            <a:ext cx="2964873" cy="35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4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Lab</a:t>
            </a:r>
            <a:r>
              <a:rPr lang="tr-TR" dirty="0" smtClean="0"/>
              <a:t> Editor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</a:t>
            </a:r>
            <a:r>
              <a:rPr lang="en-US" dirty="0"/>
              <a:t>of the best Editors for developing Python applications </a:t>
            </a:r>
            <a:endParaRPr lang="tr-TR" dirty="0" smtClean="0"/>
          </a:p>
          <a:p>
            <a:r>
              <a:rPr lang="tr-TR" dirty="0" smtClean="0"/>
              <a:t>Zorunlu değil dileyen farklı ide kullanabilir.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91" y="3457932"/>
            <a:ext cx="7397764" cy="271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4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Kitabı ve Kaynaklar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Head-First </a:t>
            </a:r>
            <a:r>
              <a:rPr lang="en-US" dirty="0"/>
              <a:t>Python, 2nd edition Paul Barry </a:t>
            </a:r>
            <a:r>
              <a:rPr lang="en-US" i="1" dirty="0"/>
              <a:t>(O’Reilly, 2016) </a:t>
            </a:r>
            <a:endParaRPr lang="en-US" dirty="0"/>
          </a:p>
          <a:p>
            <a:r>
              <a:rPr lang="en-US" dirty="0" smtClean="0"/>
              <a:t>Learn </a:t>
            </a:r>
            <a:r>
              <a:rPr lang="en-US" dirty="0"/>
              <a:t>Python 3 the Hard Way Zed A. Shaw </a:t>
            </a:r>
            <a:r>
              <a:rPr lang="en-US" i="1" dirty="0"/>
              <a:t>(Addison-Wesley, 2016) 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official Python Tutorial </a:t>
            </a:r>
            <a:endParaRPr lang="tr-TR" dirty="0" smtClean="0"/>
          </a:p>
          <a:p>
            <a:pPr lvl="1"/>
            <a:r>
              <a:rPr lang="en-US" dirty="0" smtClean="0"/>
              <a:t>https</a:t>
            </a:r>
            <a:r>
              <a:rPr lang="en-US" dirty="0"/>
              <a:t>://docs.python.org/3/tutorial/ </a:t>
            </a:r>
          </a:p>
          <a:p>
            <a:r>
              <a:rPr lang="en-US" dirty="0" smtClean="0"/>
              <a:t>How </a:t>
            </a:r>
            <a:r>
              <a:rPr lang="en-US" dirty="0"/>
              <a:t>to think like a computer </a:t>
            </a:r>
            <a:r>
              <a:rPr lang="en-US" dirty="0" smtClean="0"/>
              <a:t>scientist</a:t>
            </a:r>
            <a:endParaRPr lang="tr-TR" dirty="0" smtClean="0"/>
          </a:p>
          <a:p>
            <a:pPr lvl="1"/>
            <a:r>
              <a:rPr lang="en-US" dirty="0" smtClean="0"/>
              <a:t>http</a:t>
            </a:r>
            <a:r>
              <a:rPr lang="en-US" dirty="0"/>
              <a:t>://openbookproject.net/thinkcs/python/english3e/ </a:t>
            </a:r>
          </a:p>
          <a:p>
            <a:r>
              <a:rPr lang="tr-TR" dirty="0" err="1" smtClean="0"/>
              <a:t>Code</a:t>
            </a:r>
            <a:r>
              <a:rPr lang="tr-TR" dirty="0" smtClean="0"/>
              <a:t> </a:t>
            </a:r>
            <a:r>
              <a:rPr lang="tr-TR" dirty="0"/>
              <a:t>Academy </a:t>
            </a:r>
            <a:r>
              <a:rPr lang="tr-TR" dirty="0" err="1"/>
              <a:t>Python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http</a:t>
            </a:r>
            <a:r>
              <a:rPr lang="tr-TR" dirty="0"/>
              <a:t>://www.codecademy.com/tracks/python </a:t>
            </a:r>
          </a:p>
        </p:txBody>
      </p:sp>
    </p:spTree>
    <p:extLst>
      <p:ext uri="{BB962C8B-B14F-4D97-AF65-F5344CB8AC3E}">
        <p14:creationId xmlns:p14="http://schemas.microsoft.com/office/powerpoint/2010/main" val="224579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Kuralları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Dikkatli bir şekilde dersi dinleyiniz.</a:t>
            </a:r>
          </a:p>
          <a:p>
            <a:r>
              <a:rPr lang="tr-TR" dirty="0" smtClean="0"/>
              <a:t>Devam zorunluluğu</a:t>
            </a:r>
          </a:p>
          <a:p>
            <a:r>
              <a:rPr lang="tr-TR" dirty="0" smtClean="0"/>
              <a:t>Derse bilgisayarınız ile katılım</a:t>
            </a:r>
          </a:p>
          <a:p>
            <a:r>
              <a:rPr lang="tr-TR" dirty="0" smtClean="0"/>
              <a:t>Yoklama için sizden katılım istenebilir.</a:t>
            </a: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128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Kopya kesinlikle yasak!!!!!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Vize, final, Ödev ve projelerde </a:t>
            </a:r>
            <a:r>
              <a:rPr lang="tr-TR" dirty="0" err="1" smtClean="0"/>
              <a:t>honor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. </a:t>
            </a:r>
          </a:p>
          <a:p>
            <a:r>
              <a:rPr lang="tr-TR" dirty="0" smtClean="0"/>
              <a:t>-100</a:t>
            </a:r>
          </a:p>
          <a:p>
            <a:r>
              <a:rPr lang="tr-TR" dirty="0" smtClean="0"/>
              <a:t>Gönderim konusunda hard </a:t>
            </a:r>
            <a:r>
              <a:rPr lang="tr-TR" dirty="0" err="1" smtClean="0"/>
              <a:t>deadline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88" y="3578102"/>
            <a:ext cx="3860928" cy="286851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364" y="3578102"/>
            <a:ext cx="4460416" cy="288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5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Nedir?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tr-TR" sz="2800" dirty="0" err="1"/>
              <a:t>Guido</a:t>
            </a:r>
            <a:r>
              <a:rPr lang="tr-TR" sz="2800" dirty="0"/>
              <a:t> Van </a:t>
            </a:r>
            <a:r>
              <a:rPr lang="tr-TR" sz="2800" dirty="0" err="1"/>
              <a:t>Rossum</a:t>
            </a:r>
            <a:r>
              <a:rPr lang="tr-TR" sz="2800" dirty="0"/>
              <a:t> tarafından 1990 yılında geliştirilmeye  başlanan yüksek seviyeli bir dil olan </a:t>
            </a:r>
            <a:r>
              <a:rPr lang="tr-TR" sz="2800" dirty="0" err="1"/>
              <a:t>Python</a:t>
            </a:r>
            <a:r>
              <a:rPr lang="tr-TR" sz="2800" dirty="0"/>
              <a:t>; </a:t>
            </a:r>
          </a:p>
          <a:p>
            <a:r>
              <a:rPr lang="tr-TR" dirty="0" err="1" smtClean="0"/>
              <a:t>Phyton</a:t>
            </a:r>
            <a:r>
              <a:rPr lang="tr-TR" dirty="0" smtClean="0"/>
              <a:t> öğrenilmesi kolay, güçlü bir programlama dilidir.</a:t>
            </a:r>
          </a:p>
          <a:p>
            <a:r>
              <a:rPr lang="tr-TR" dirty="0" smtClean="0"/>
              <a:t>Yüksek seviyeli veri yapılarında etkili, nesne programlamada kolay ve etkili uygulamalar sunan,</a:t>
            </a:r>
          </a:p>
          <a:p>
            <a:pPr marL="228600" lvl="2">
              <a:spcBef>
                <a:spcPts val="1000"/>
              </a:spcBef>
            </a:pPr>
            <a:r>
              <a:rPr lang="tr-TR" sz="2800" dirty="0"/>
              <a:t>Bir derleyiciye ihtiyaç duymayan</a:t>
            </a:r>
          </a:p>
          <a:p>
            <a:pPr marL="228600" lvl="2">
              <a:spcBef>
                <a:spcPts val="1000"/>
              </a:spcBef>
            </a:pPr>
            <a:r>
              <a:rPr lang="tr-TR" sz="2800" dirty="0"/>
              <a:t>Kolay okunabilir.</a:t>
            </a:r>
          </a:p>
          <a:p>
            <a:endParaRPr lang="tr-TR" dirty="0" smtClean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7542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Nedir?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Python’s elegant syntax and dynamic typing, together with its interpreted nature, make it an ideal language for scripting and rapid application development in many areas on most platforms. </a:t>
            </a:r>
            <a:endParaRPr lang="tr-TR" dirty="0" smtClean="0"/>
          </a:p>
          <a:p>
            <a:r>
              <a:rPr lang="en-US" dirty="0" smtClean="0"/>
              <a:t>"</a:t>
            </a:r>
            <a:r>
              <a:rPr lang="en-US" dirty="0"/>
              <a:t>Python is one of the most popular programming languages owing to its ease of use and wide range of application," </a:t>
            </a:r>
            <a:endParaRPr lang="en-US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640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/>
            </a:r>
            <a:br>
              <a:rPr lang="tr-TR" dirty="0"/>
            </a:br>
            <a:r>
              <a:rPr lang="tr-TR" i="1" dirty="0"/>
              <a:t>Interpreter/Compiler </a:t>
            </a: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Interpreter kaynak koddan 1 ifade okur, onu makine kodu veya sanal koda dönüştürür, daha sonra doğru bir şekilde </a:t>
            </a:r>
            <a:r>
              <a:rPr lang="tr-TR" dirty="0" err="1" smtClean="0"/>
              <a:t>execute</a:t>
            </a:r>
            <a:r>
              <a:rPr lang="tr-TR" dirty="0" smtClean="0"/>
              <a:t> eder.</a:t>
            </a:r>
          </a:p>
          <a:p>
            <a:r>
              <a:rPr lang="tr-TR" dirty="0" smtClean="0"/>
              <a:t>Compiler giriş kaynak kodu makine koduna çevirir, ardından makine kod dosyası çalıştırılır.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335" y="3549640"/>
            <a:ext cx="6672493" cy="3128250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9656619" y="3724295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tr-TR" sz="1200" b="0" i="0" u="none" strike="noStrik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tr-TR" dirty="0">
                <a:latin typeface="Calibri" panose="020F0502020204030204" pitchFamily="34" charset="0"/>
              </a:rPr>
              <a:t>C, C++, Java, C# </a:t>
            </a:r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8647935" y="5757902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tr-TR" sz="1200" b="0" i="0" u="none" strike="noStrik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tr-TR" dirty="0" err="1">
                <a:latin typeface="Calibri" panose="020F0502020204030204" pitchFamily="34" charset="0"/>
              </a:rPr>
              <a:t>JavaScript</a:t>
            </a:r>
            <a:r>
              <a:rPr lang="tr-TR" dirty="0">
                <a:latin typeface="Calibri" panose="020F0502020204030204" pitchFamily="34" charset="0"/>
              </a:rPr>
              <a:t>, PHP, </a:t>
            </a:r>
            <a:r>
              <a:rPr lang="tr-TR" dirty="0" err="1">
                <a:latin typeface="Calibri" panose="020F0502020204030204" pitchFamily="34" charset="0"/>
              </a:rPr>
              <a:t>Python</a:t>
            </a:r>
            <a:r>
              <a:rPr lang="tr-TR" dirty="0">
                <a:latin typeface="Calibri" panose="020F0502020204030204" pitchFamily="34" charset="0"/>
              </a:rPr>
              <a:t>, </a:t>
            </a:r>
            <a:r>
              <a:rPr lang="tr-TR" dirty="0" err="1">
                <a:latin typeface="Calibri" panose="020F0502020204030204" pitchFamily="34" charset="0"/>
              </a:rPr>
              <a:t>VBScript</a:t>
            </a:r>
            <a:r>
              <a:rPr lang="tr-TR" dirty="0">
                <a:latin typeface="Calibri" panose="020F0502020204030204" pitchFamily="34" charset="0"/>
              </a:rPr>
              <a:t> 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1311953" y="4282768"/>
            <a:ext cx="293716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1200" b="0" i="0" u="none" strike="noStrik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Compiled programs run faster than interpreted programs because they are first converted native machine code.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2919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Nerelerde Kullanılır?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dirty="0" err="1" smtClean="0">
                <a:latin typeface="Times New Roman" pitchFamily="18" charset="0"/>
                <a:cs typeface="Times New Roman" pitchFamily="18" charset="0"/>
              </a:rPr>
              <a:t>Veritabanı</a:t>
            </a: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 Programcılığı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endParaRPr lang="tr-TR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 GUI (</a:t>
            </a:r>
            <a:r>
              <a:rPr lang="tr-TR" dirty="0" err="1" smtClean="0">
                <a:latin typeface="Times New Roman" pitchFamily="18" charset="0"/>
                <a:cs typeface="Times New Roman" pitchFamily="18" charset="0"/>
              </a:rPr>
              <a:t>Graphic</a:t>
            </a: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 User </a:t>
            </a:r>
            <a:r>
              <a:rPr lang="tr-TR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) Programcılığı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endParaRPr lang="tr-TR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 İnternet </a:t>
            </a: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Programcılığı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endParaRPr lang="tr-TR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Yapay Zeka (Öğrenme Algoritmaları, Doğal Dil İşleme)</a:t>
            </a:r>
            <a:endParaRPr lang="tr-TR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291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/>
            </a:r>
            <a:br>
              <a:rPr lang="tr-TR" dirty="0"/>
            </a:br>
            <a:r>
              <a:rPr lang="tr-TR" dirty="0"/>
              <a:t>Python2 </a:t>
            </a:r>
            <a:r>
              <a:rPr lang="tr-TR" dirty="0" smtClean="0"/>
              <a:t>ve </a:t>
            </a:r>
            <a:r>
              <a:rPr lang="tr-TR" dirty="0"/>
              <a:t>Python3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Python </a:t>
            </a:r>
            <a:r>
              <a:rPr lang="en-US" dirty="0"/>
              <a:t>2.x: the old version </a:t>
            </a:r>
          </a:p>
          <a:p>
            <a:r>
              <a:rPr lang="en-US" dirty="0" smtClean="0"/>
              <a:t>Python </a:t>
            </a:r>
            <a:r>
              <a:rPr lang="en-US" dirty="0"/>
              <a:t>3.X: the new version </a:t>
            </a:r>
          </a:p>
          <a:p>
            <a:r>
              <a:rPr lang="tr-TR" dirty="0" smtClean="0"/>
              <a:t>Aralık</a:t>
            </a:r>
            <a:r>
              <a:rPr lang="en-US" dirty="0" smtClean="0"/>
              <a:t> </a:t>
            </a:r>
            <a:r>
              <a:rPr lang="en-US" dirty="0"/>
              <a:t>2008, Python released version 3.0. mainly released to fix problems exist in Python 2. The nature of these change is such that Python 3 was incompatible with Python 2. </a:t>
            </a:r>
          </a:p>
          <a:p>
            <a:r>
              <a:rPr lang="tr-TR" dirty="0" smtClean="0"/>
              <a:t>Derste yeni </a:t>
            </a:r>
            <a:r>
              <a:rPr lang="tr-TR" dirty="0" err="1" smtClean="0"/>
              <a:t>verisiyonu</a:t>
            </a:r>
            <a:r>
              <a:rPr lang="tr-TR" dirty="0" smtClean="0"/>
              <a:t> kullanmaya çalışacağız </a:t>
            </a:r>
            <a:r>
              <a:rPr lang="en-US" dirty="0" smtClean="0"/>
              <a:t>Python </a:t>
            </a:r>
            <a:r>
              <a:rPr lang="en-US" dirty="0"/>
              <a:t>3. </a:t>
            </a:r>
          </a:p>
          <a:p>
            <a:r>
              <a:rPr lang="tr-TR" dirty="0" err="1" smtClean="0"/>
              <a:t>Beginner</a:t>
            </a:r>
            <a:r>
              <a:rPr lang="tr-TR" dirty="0" smtClean="0"/>
              <a:t> için sizce hangisi daha iyi?</a:t>
            </a:r>
            <a:r>
              <a:rPr lang="en-US" dirty="0" smtClean="0"/>
              <a:t> </a:t>
            </a:r>
            <a:endParaRPr lang="en-US" dirty="0"/>
          </a:p>
          <a:p>
            <a:r>
              <a:rPr lang="tr-TR" dirty="0" smtClean="0"/>
              <a:t>Basit cevap…</a:t>
            </a:r>
            <a:r>
              <a:rPr lang="en-US" dirty="0" smtClean="0"/>
              <a:t> </a:t>
            </a:r>
            <a:endParaRPr lang="tr-TR" dirty="0" smtClean="0"/>
          </a:p>
          <a:p>
            <a:r>
              <a:rPr lang="tr-TR" dirty="0" smtClean="0"/>
              <a:t>Neden </a:t>
            </a:r>
            <a:r>
              <a:rPr lang="tr-TR" dirty="0" err="1"/>
              <a:t>Python</a:t>
            </a:r>
            <a:r>
              <a:rPr lang="tr-TR" dirty="0"/>
              <a:t> 3? </a:t>
            </a:r>
            <a:endParaRPr lang="tr-TR" dirty="0" smtClean="0"/>
          </a:p>
          <a:p>
            <a:pPr lvl="1"/>
            <a:r>
              <a:rPr lang="en-US" b="1" dirty="0" smtClean="0"/>
              <a:t>COMPANIES </a:t>
            </a:r>
            <a:r>
              <a:rPr lang="en-US" b="1" dirty="0"/>
              <a:t>ARE MOVING FROM 2 TO 3 AS: </a:t>
            </a:r>
            <a:endParaRPr lang="tr-TR" dirty="0" smtClean="0"/>
          </a:p>
          <a:p>
            <a:pPr lvl="2"/>
            <a:r>
              <a:rPr lang="tr-TR" b="1" dirty="0" smtClean="0"/>
              <a:t>INSTAGRAM </a:t>
            </a:r>
            <a:endParaRPr lang="tr-TR" dirty="0" smtClean="0"/>
          </a:p>
          <a:p>
            <a:pPr lvl="2"/>
            <a:r>
              <a:rPr lang="tr-TR" b="1" dirty="0" smtClean="0"/>
              <a:t>FACEBOOK </a:t>
            </a:r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461" y="3861626"/>
            <a:ext cx="4868848" cy="31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93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Neden Phyton3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INSTAGRAM 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2017, Instagram migrated the majority of their Python code base from Python 2.7 to Python 3 </a:t>
            </a:r>
            <a:endParaRPr lang="tr-TR" dirty="0"/>
          </a:p>
          <a:p>
            <a:pPr lvl="1"/>
            <a:r>
              <a:rPr lang="tr-TR" i="1" dirty="0" smtClean="0"/>
              <a:t>Çünkü: </a:t>
            </a:r>
          </a:p>
          <a:p>
            <a:pPr lvl="2"/>
            <a:r>
              <a:rPr lang="en-US" dirty="0" smtClean="0"/>
              <a:t>Python </a:t>
            </a:r>
            <a:r>
              <a:rPr lang="en-US" dirty="0"/>
              <a:t>is not traditionally a typed language, but Python v3.5 supports typing, which removes development conflicts when working new pieces of code. </a:t>
            </a:r>
            <a:endParaRPr lang="tr-TR" dirty="0" smtClean="0"/>
          </a:p>
          <a:p>
            <a:pPr lvl="2"/>
            <a:r>
              <a:rPr lang="en-US" dirty="0" smtClean="0"/>
              <a:t>Each </a:t>
            </a:r>
            <a:r>
              <a:rPr lang="en-US" dirty="0"/>
              <a:t>newer version of Python continues to get faster runtime. Meanwhile, nobody’s currently working to make Python 2.7 work faster. </a:t>
            </a:r>
            <a:endParaRPr lang="tr-TR" dirty="0" smtClean="0"/>
          </a:p>
          <a:p>
            <a:pPr lvl="2"/>
            <a:r>
              <a:rPr lang="en-US" dirty="0" smtClean="0"/>
              <a:t>Community </a:t>
            </a:r>
            <a:r>
              <a:rPr lang="en-US" dirty="0"/>
              <a:t>support is better with Python 3. </a:t>
            </a:r>
          </a:p>
          <a:p>
            <a:pPr lvl="2"/>
            <a:endParaRPr lang="tr-TR" dirty="0"/>
          </a:p>
          <a:p>
            <a:pPr lvl="1"/>
            <a:endParaRPr lang="en-US" dirty="0"/>
          </a:p>
          <a:p>
            <a:pPr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865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Phyton2 ile Phyton3 Farkları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1417637"/>
            <a:ext cx="2673927" cy="516731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55" y="1414985"/>
            <a:ext cx="7676664" cy="51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0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Tarihçesi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b="1" dirty="0" err="1" smtClean="0"/>
              <a:t>Python</a:t>
            </a:r>
            <a:r>
              <a:rPr lang="tr-TR" b="1" dirty="0" smtClean="0"/>
              <a:t> </a:t>
            </a:r>
            <a:r>
              <a:rPr lang="tr-TR" b="1" dirty="0"/>
              <a:t>2 </a:t>
            </a:r>
            <a:endParaRPr lang="tr-TR" dirty="0"/>
          </a:p>
          <a:p>
            <a:pPr lvl="1"/>
            <a:r>
              <a:rPr lang="en-US" dirty="0" smtClean="0"/>
              <a:t>Python </a:t>
            </a:r>
            <a:r>
              <a:rPr lang="en-US" dirty="0"/>
              <a:t>2.0 - October 16, 2000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2.1 - April 17, 2001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2.2 - </a:t>
            </a:r>
            <a:r>
              <a:rPr lang="tr-TR" dirty="0" err="1"/>
              <a:t>December</a:t>
            </a:r>
            <a:r>
              <a:rPr lang="tr-TR" dirty="0"/>
              <a:t> 21, 2001 </a:t>
            </a:r>
            <a:endParaRPr lang="tr-TR" dirty="0" smtClean="0"/>
          </a:p>
          <a:p>
            <a:pPr lvl="1"/>
            <a:r>
              <a:rPr lang="en-US" dirty="0" smtClean="0"/>
              <a:t>Python </a:t>
            </a:r>
            <a:r>
              <a:rPr lang="en-US" dirty="0"/>
              <a:t>2.3 - July 29, 2003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2.4 - </a:t>
            </a:r>
            <a:r>
              <a:rPr lang="tr-TR" dirty="0" err="1"/>
              <a:t>November</a:t>
            </a:r>
            <a:r>
              <a:rPr lang="tr-TR" dirty="0"/>
              <a:t> 30, 2004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2.5 - </a:t>
            </a:r>
            <a:r>
              <a:rPr lang="tr-TR" dirty="0" err="1"/>
              <a:t>September</a:t>
            </a:r>
            <a:r>
              <a:rPr lang="tr-TR" dirty="0"/>
              <a:t> 19, 2006 </a:t>
            </a:r>
            <a:endParaRPr lang="tr-TR" dirty="0" smtClean="0"/>
          </a:p>
          <a:p>
            <a:pPr lvl="1"/>
            <a:r>
              <a:rPr lang="en-US" dirty="0" smtClean="0"/>
              <a:t>Python </a:t>
            </a:r>
            <a:r>
              <a:rPr lang="en-US" dirty="0"/>
              <a:t>2.6 - October 1, 2008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2.7-July 3, 2010 </a:t>
            </a:r>
          </a:p>
          <a:p>
            <a:r>
              <a:rPr lang="tr-TR" b="1" dirty="0" err="1" smtClean="0"/>
              <a:t>Python</a:t>
            </a:r>
            <a:r>
              <a:rPr lang="tr-TR" b="1" dirty="0" smtClean="0"/>
              <a:t> </a:t>
            </a:r>
            <a:r>
              <a:rPr lang="tr-TR" b="1" dirty="0"/>
              <a:t>3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3.0 - </a:t>
            </a:r>
            <a:r>
              <a:rPr lang="tr-TR" dirty="0" err="1"/>
              <a:t>December</a:t>
            </a:r>
            <a:r>
              <a:rPr lang="tr-TR" dirty="0"/>
              <a:t> 3, 2008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3.1 - </a:t>
            </a:r>
            <a:r>
              <a:rPr lang="tr-TR" dirty="0" err="1"/>
              <a:t>June</a:t>
            </a:r>
            <a:r>
              <a:rPr lang="tr-TR" dirty="0"/>
              <a:t> 27, 2009 </a:t>
            </a:r>
            <a:endParaRPr lang="tr-TR" dirty="0" smtClean="0"/>
          </a:p>
          <a:p>
            <a:pPr lvl="1"/>
            <a:r>
              <a:rPr lang="en-US" dirty="0" smtClean="0"/>
              <a:t>Python </a:t>
            </a:r>
            <a:r>
              <a:rPr lang="en-US" dirty="0"/>
              <a:t>3.2 - February 20, 2011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3.3 - </a:t>
            </a:r>
            <a:r>
              <a:rPr lang="tr-TR" dirty="0" err="1"/>
              <a:t>September</a:t>
            </a:r>
            <a:r>
              <a:rPr lang="tr-TR" dirty="0"/>
              <a:t> 29, 2012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3.4-March 16, 2014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3.5 - </a:t>
            </a:r>
            <a:r>
              <a:rPr lang="tr-TR" dirty="0" err="1"/>
              <a:t>September</a:t>
            </a:r>
            <a:r>
              <a:rPr lang="tr-TR" dirty="0"/>
              <a:t> 13, 2015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3.6- </a:t>
            </a:r>
            <a:r>
              <a:rPr lang="tr-TR" dirty="0" err="1"/>
              <a:t>October</a:t>
            </a:r>
            <a:r>
              <a:rPr lang="tr-TR" dirty="0"/>
              <a:t> 2016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3.7- </a:t>
            </a:r>
            <a:r>
              <a:rPr lang="tr-TR" dirty="0" err="1"/>
              <a:t>June</a:t>
            </a:r>
            <a:r>
              <a:rPr lang="tr-TR" dirty="0"/>
              <a:t> 2018. </a:t>
            </a:r>
            <a:endParaRPr lang="tr-TR" dirty="0" smtClean="0"/>
          </a:p>
          <a:p>
            <a:pPr lvl="1"/>
            <a:r>
              <a:rPr lang="tr-TR" dirty="0" err="1" smtClean="0"/>
              <a:t>Python</a:t>
            </a:r>
            <a:r>
              <a:rPr lang="tr-TR" dirty="0" smtClean="0"/>
              <a:t> </a:t>
            </a:r>
            <a:r>
              <a:rPr lang="tr-TR" dirty="0"/>
              <a:t>3.8- </a:t>
            </a:r>
            <a:r>
              <a:rPr lang="tr-TR" dirty="0" err="1"/>
              <a:t>October</a:t>
            </a:r>
            <a:r>
              <a:rPr lang="tr-TR" dirty="0"/>
              <a:t> 2019.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20635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Phyton2 ne zaman öğrenilir.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Although</a:t>
            </a:r>
            <a:r>
              <a:rPr lang="en-US" dirty="0"/>
              <a:t>, Python 2 is an old open source version here are where you still need to learn Python 2: </a:t>
            </a:r>
            <a:endParaRPr lang="tr-TR" dirty="0"/>
          </a:p>
          <a:p>
            <a:pPr lvl="1"/>
            <a:r>
              <a:rPr lang="en-US" dirty="0" smtClean="0"/>
              <a:t>If </a:t>
            </a:r>
            <a:r>
              <a:rPr lang="en-US" dirty="0"/>
              <a:t>your company's code written in Python 2, you will require to learn to work with that </a:t>
            </a:r>
            <a:endParaRPr lang="tr-TR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your development team is working on a project that depends on specific third-party libraries or software which you are not able to port to Python 3, then Python 2 is the only option available for you. </a:t>
            </a:r>
          </a:p>
          <a:p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6433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Neden Önemli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TIOBE Eylül </a:t>
            </a:r>
            <a:r>
              <a:rPr lang="tr-TR" dirty="0" smtClean="0"/>
              <a:t>2021 </a:t>
            </a:r>
            <a:r>
              <a:rPr lang="tr-TR" dirty="0"/>
              <a:t>değerlendirmesi (https://www.tiobe.com/tiobe-index/)</a:t>
            </a:r>
          </a:p>
          <a:p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769" y="3158836"/>
            <a:ext cx="3977632" cy="258226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562" y="2757055"/>
            <a:ext cx="4052705" cy="38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23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Neden Önemli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84910" y="1690688"/>
            <a:ext cx="5417127" cy="310659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hlinkClick r:id="rId2"/>
              </a:rPr>
              <a:t>PYPL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PopularitY</a:t>
            </a:r>
            <a:r>
              <a:rPr lang="en-US" dirty="0"/>
              <a:t> of Programming Language Index) scores Python as the most popular language and ranks it as the fastest-growing language, based on search engine searches for various programming languages. </a:t>
            </a:r>
            <a:endParaRPr lang="tr-TR" dirty="0" smtClean="0"/>
          </a:p>
          <a:p>
            <a:r>
              <a:rPr lang="en-US" dirty="0"/>
              <a:t>https://statisticstimes.com/tech/top-computer-languages.php</a:t>
            </a:r>
          </a:p>
          <a:p>
            <a:endParaRPr lang="tr-TR" dirty="0"/>
          </a:p>
        </p:txBody>
      </p:sp>
      <p:sp>
        <p:nvSpPr>
          <p:cNvPr id="5" name="Dikdörtgen 4"/>
          <p:cNvSpPr/>
          <p:nvPr/>
        </p:nvSpPr>
        <p:spPr>
          <a:xfrm>
            <a:off x="678873" y="5185317"/>
            <a:ext cx="4391891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1050" b="0" i="0" u="none" strike="noStrik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They said: Python is the most popular language, Python grew the most in the last 5 years (17.6%). 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2563"/>
            <a:ext cx="42005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7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Peki Neden Bu kadar popüler oldu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Kodlama öğrenmeye başlarken en iyi dillerden bir tanesi, öğrenmesi en kolay dillerden birisi</a:t>
            </a:r>
          </a:p>
          <a:p>
            <a:pPr lvl="1"/>
            <a:r>
              <a:rPr lang="tr-TR" dirty="0" smtClean="0"/>
              <a:t>Gerçekten bakılırsa, okuması ve yazması basit bir İngilizce gibi</a:t>
            </a:r>
            <a:endParaRPr lang="tr-TR" dirty="0"/>
          </a:p>
          <a:p>
            <a:r>
              <a:rPr lang="en-US" dirty="0" smtClean="0"/>
              <a:t>Python </a:t>
            </a:r>
            <a:r>
              <a:rPr lang="en-US" dirty="0"/>
              <a:t>is heavily used in the Internet of Things: </a:t>
            </a:r>
            <a:endParaRPr lang="tr-TR" dirty="0" smtClean="0"/>
          </a:p>
          <a:p>
            <a:pPr lvl="1"/>
            <a:r>
              <a:rPr lang="en-US" dirty="0" smtClean="0"/>
              <a:t>Raspberry </a:t>
            </a:r>
            <a:r>
              <a:rPr lang="en-US" dirty="0"/>
              <a:t>Pi </a:t>
            </a:r>
            <a:r>
              <a:rPr lang="tr-TR" dirty="0" smtClean="0"/>
              <a:t>donanımlar, </a:t>
            </a:r>
            <a:r>
              <a:rPr lang="en-US" dirty="0" smtClean="0"/>
              <a:t>are </a:t>
            </a:r>
            <a:r>
              <a:rPr lang="en-US" dirty="0"/>
              <a:t>tiny and connect to a multitude of sensors, displays, lights, robots and more, allow you to write code to communicate between these parts, send and receive data over Bluetooth. </a:t>
            </a:r>
            <a:endParaRPr lang="tr-TR" dirty="0" smtClean="0"/>
          </a:p>
          <a:p>
            <a:r>
              <a:rPr lang="en-US" dirty="0" smtClean="0"/>
              <a:t>Python </a:t>
            </a:r>
            <a:r>
              <a:rPr lang="en-US" dirty="0"/>
              <a:t>is heavily used in data science and AI </a:t>
            </a:r>
            <a:endParaRPr lang="tr-TR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great number of robust and popular libraries you can download for Python and use in your projects, such as </a:t>
            </a:r>
            <a:r>
              <a:rPr lang="en-US" dirty="0" err="1"/>
              <a:t>NumPy</a:t>
            </a:r>
            <a:r>
              <a:rPr lang="en-US" dirty="0"/>
              <a:t>, Pandas, </a:t>
            </a:r>
            <a:r>
              <a:rPr lang="en-US" dirty="0" err="1"/>
              <a:t>matplotlib</a:t>
            </a:r>
            <a:r>
              <a:rPr lang="en-US" dirty="0"/>
              <a:t>, and </a:t>
            </a:r>
            <a:r>
              <a:rPr lang="en-US" dirty="0" err="1"/>
              <a:t>SciPy</a:t>
            </a:r>
            <a:r>
              <a:rPr lang="en-US" dirty="0"/>
              <a:t> for math, data manipulation, data visual </a:t>
            </a:r>
          </a:p>
          <a:p>
            <a:pPr lvl="1"/>
            <a:endParaRPr lang="en-US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32512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Peki Neden Bu kadar popüler oldu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Python </a:t>
            </a:r>
            <a:r>
              <a:rPr lang="en-US" dirty="0"/>
              <a:t>is used also for web development </a:t>
            </a:r>
            <a:endParaRPr lang="tr-TR" dirty="0" smtClean="0"/>
          </a:p>
          <a:p>
            <a:pPr lvl="1"/>
            <a:r>
              <a:rPr lang="en-US" dirty="0" smtClean="0"/>
              <a:t>frameworks </a:t>
            </a:r>
            <a:r>
              <a:rPr lang="en-US" dirty="0"/>
              <a:t>there as Flask and Django. </a:t>
            </a:r>
          </a:p>
          <a:p>
            <a:r>
              <a:rPr lang="en-US" dirty="0" smtClean="0"/>
              <a:t>Python </a:t>
            </a:r>
            <a:r>
              <a:rPr lang="en-US" dirty="0"/>
              <a:t>has an active and supportive community with some great corporate sponsors and high number of useful libraries </a:t>
            </a:r>
            <a:endParaRPr lang="tr-TR" dirty="0"/>
          </a:p>
          <a:p>
            <a:pPr lvl="1"/>
            <a:r>
              <a:rPr lang="en-US" dirty="0" smtClean="0"/>
              <a:t>plenty </a:t>
            </a:r>
            <a:r>
              <a:rPr lang="en-US" dirty="0"/>
              <a:t>of documentation, guides, tutorials and more. Plus, the developer community is incredibly active. That means any time someone needs help or support, they can get it in a timely manner. </a:t>
            </a:r>
            <a:endParaRPr lang="tr-TR" dirty="0" smtClean="0"/>
          </a:p>
          <a:p>
            <a:pPr lvl="1"/>
            <a:r>
              <a:rPr lang="en-US" dirty="0" smtClean="0"/>
              <a:t>C</a:t>
            </a:r>
            <a:r>
              <a:rPr lang="en-US" dirty="0"/>
              <a:t># has Microsoft, Java had Sun and PHP is used by Facebook. Google adopted Python heavily back in 2006, and they’ve used it for many platforms and applications since.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86270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Programcılarının Maaşları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38" y="1673917"/>
            <a:ext cx="5117853" cy="450304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763" y="1690688"/>
            <a:ext cx="5907309" cy="392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73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Değişkenleri ve Basit Veri Tipleri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message</a:t>
            </a:r>
            <a:r>
              <a:rPr lang="tr-TR" dirty="0" smtClean="0"/>
              <a:t>=</a:t>
            </a:r>
            <a:r>
              <a:rPr lang="tr-TR" b="1" dirty="0" smtClean="0"/>
              <a:t>"</a:t>
            </a:r>
            <a:r>
              <a:rPr lang="tr-TR" b="1" dirty="0" err="1" smtClean="0"/>
              <a:t>Hello</a:t>
            </a:r>
            <a:r>
              <a:rPr lang="tr-TR" b="1" dirty="0" smtClean="0"/>
              <a:t> </a:t>
            </a:r>
            <a:r>
              <a:rPr lang="tr-TR" b="1" dirty="0" err="1" smtClean="0"/>
              <a:t>Phyton</a:t>
            </a:r>
            <a:r>
              <a:rPr lang="tr-TR" b="1" dirty="0" smtClean="0"/>
              <a:t> World!"</a:t>
            </a:r>
          </a:p>
          <a:p>
            <a:r>
              <a:rPr lang="tr-TR" b="1" dirty="0" err="1"/>
              <a:t>p</a:t>
            </a:r>
            <a:r>
              <a:rPr lang="tr-TR" b="1" dirty="0" err="1" smtClean="0"/>
              <a:t>rint</a:t>
            </a:r>
            <a:r>
              <a:rPr lang="tr-TR" b="1" dirty="0" smtClean="0"/>
              <a:t>(</a:t>
            </a:r>
            <a:r>
              <a:rPr lang="tr-TR" b="1" dirty="0" err="1" smtClean="0"/>
              <a:t>message</a:t>
            </a:r>
            <a:r>
              <a:rPr lang="tr-TR" b="1" dirty="0" smtClean="0"/>
              <a:t>)</a:t>
            </a:r>
          </a:p>
          <a:p>
            <a:endParaRPr lang="tr-TR" b="1" dirty="0"/>
          </a:p>
          <a:p>
            <a:endParaRPr lang="tr-TR" dirty="0"/>
          </a:p>
          <a:p>
            <a:r>
              <a:rPr lang="tr-TR" dirty="0" err="1" smtClean="0"/>
              <a:t>Output</a:t>
            </a:r>
            <a:r>
              <a:rPr lang="tr-TR" dirty="0"/>
              <a:t>: </a:t>
            </a:r>
            <a:r>
              <a:rPr lang="tr-TR" dirty="0" err="1"/>
              <a:t>Hello</a:t>
            </a:r>
            <a:r>
              <a:rPr lang="tr-TR" dirty="0"/>
              <a:t> </a:t>
            </a:r>
            <a:r>
              <a:rPr lang="tr-TR" dirty="0" err="1"/>
              <a:t>Python</a:t>
            </a:r>
            <a:r>
              <a:rPr lang="tr-TR" dirty="0"/>
              <a:t> </a:t>
            </a:r>
            <a:r>
              <a:rPr lang="tr-TR" dirty="0" err="1"/>
              <a:t>world</a:t>
            </a:r>
            <a:r>
              <a:rPr lang="tr-TR" dirty="0"/>
              <a:t>!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5781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İsimlendirme ve Değişkenlerin Kullanımı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err="1" smtClean="0"/>
              <a:t>Phyton’da</a:t>
            </a:r>
            <a:r>
              <a:rPr lang="tr-TR" dirty="0" smtClean="0"/>
              <a:t> değişken kullanımında, bazı kurallar ve yönlendirmeler bulunmaktadır;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Hataya Neden Olanlar:</a:t>
            </a:r>
          </a:p>
          <a:p>
            <a:pPr lvl="1"/>
            <a:r>
              <a:rPr lang="tr-TR" dirty="0" smtClean="0"/>
              <a:t>Değişken isimlerinin sadece </a:t>
            </a:r>
            <a:r>
              <a:rPr lang="tr-TR" dirty="0" err="1" smtClean="0"/>
              <a:t>harf,rakam</a:t>
            </a:r>
            <a:r>
              <a:rPr lang="tr-TR" dirty="0" smtClean="0"/>
              <a:t> ve alt çizgi içermesi</a:t>
            </a:r>
          </a:p>
          <a:p>
            <a:pPr lvl="1"/>
            <a:r>
              <a:rPr lang="tr-TR" dirty="0" smtClean="0"/>
              <a:t>Harf veya altçizgi ile başlayabilir, ama sayı ile başlamaz.</a:t>
            </a:r>
          </a:p>
          <a:p>
            <a:pPr lvl="1"/>
            <a:r>
              <a:rPr lang="tr-TR" dirty="0" smtClean="0"/>
              <a:t>Boşluklar değişken adlarında izin verilmez, ama değişken isimlendirmede alt çizgi kullanılabilir</a:t>
            </a:r>
          </a:p>
          <a:p>
            <a:pPr lvl="1"/>
            <a:r>
              <a:rPr lang="tr-TR" dirty="0" smtClean="0"/>
              <a:t>Phyton daki </a:t>
            </a:r>
            <a:r>
              <a:rPr lang="tr-TR" dirty="0" smtClean="0"/>
              <a:t>keywordlerin </a:t>
            </a:r>
            <a:r>
              <a:rPr lang="tr-TR" dirty="0" smtClean="0"/>
              <a:t>ve fonksiyon isimlerinini kullanılmaması; yani reserve kelimeler değişken isimlerinde kullanılamaz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Okuması ve anlaması kolay:</a:t>
            </a:r>
          </a:p>
          <a:p>
            <a:pPr lvl="1"/>
            <a:r>
              <a:rPr lang="tr-TR" dirty="0" smtClean="0"/>
              <a:t>Değişken isimleri kısa ve tanımlayıcı olmalı. </a:t>
            </a:r>
            <a:endParaRPr lang="tr-TR" dirty="0" smtClean="0"/>
          </a:p>
          <a:p>
            <a:pPr lvl="1"/>
            <a:r>
              <a:rPr lang="tr-TR" dirty="0" smtClean="0"/>
              <a:t>Büyük </a:t>
            </a:r>
            <a:r>
              <a:rPr lang="tr-TR" dirty="0" smtClean="0"/>
              <a:t>küçük harf kullanımına dikkat edilmeli.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1979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İsimlendirme ve Değişkenlerin Kullanımı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can take some practice to learn how to create good variable names, especially as your programs become more interesting and complicated. </a:t>
            </a:r>
          </a:p>
          <a:p>
            <a:r>
              <a:rPr lang="en-US" dirty="0" smtClean="0"/>
              <a:t>As </a:t>
            </a:r>
            <a:r>
              <a:rPr lang="en-US" dirty="0"/>
              <a:t>you write more programs and start to read through other people’s code, you’ll get better at coming up with meaningful names.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1625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Veri Tipleri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745" y="1364106"/>
            <a:ext cx="7252709" cy="527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75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Değişken Tipleri: </a:t>
            </a:r>
            <a:r>
              <a:rPr lang="tr-TR" dirty="0" err="1" smtClean="0"/>
              <a:t>String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String</a:t>
            </a:r>
            <a:r>
              <a:rPr lang="tr-TR" dirty="0" smtClean="0"/>
              <a:t>, karakter serisidir.</a:t>
            </a:r>
          </a:p>
          <a:p>
            <a:r>
              <a:rPr lang="tr-TR" dirty="0" smtClean="0"/>
              <a:t>Tırnak içindeki </a:t>
            </a:r>
            <a:r>
              <a:rPr lang="tr-TR" dirty="0" err="1" smtClean="0"/>
              <a:t>herşey</a:t>
            </a:r>
            <a:r>
              <a:rPr lang="tr-TR" dirty="0"/>
              <a:t> </a:t>
            </a:r>
            <a:r>
              <a:rPr lang="tr-TR" dirty="0" err="1" smtClean="0"/>
              <a:t>string</a:t>
            </a:r>
            <a:r>
              <a:rPr lang="tr-TR" dirty="0" smtClean="0"/>
              <a:t> olarak </a:t>
            </a:r>
            <a:r>
              <a:rPr lang="tr-TR" dirty="0" err="1" smtClean="0"/>
              <a:t>Phyton</a:t>
            </a:r>
            <a:r>
              <a:rPr lang="tr-TR" dirty="0" smtClean="0"/>
              <a:t> da kabul edilir.</a:t>
            </a:r>
          </a:p>
          <a:p>
            <a:r>
              <a:rPr lang="tr-TR" dirty="0" smtClean="0"/>
              <a:t>Tek ve ya çift tırnak kullanılabilir.</a:t>
            </a:r>
          </a:p>
          <a:p>
            <a:pPr lvl="1"/>
            <a:r>
              <a:rPr lang="tr-TR" b="1" dirty="0"/>
              <a:t>"</a:t>
            </a:r>
            <a:r>
              <a:rPr lang="tr-TR" b="1" dirty="0" err="1" smtClean="0"/>
              <a:t>This</a:t>
            </a:r>
            <a:r>
              <a:rPr lang="tr-TR" b="1" dirty="0" smtClean="0"/>
              <a:t> is </a:t>
            </a:r>
            <a:r>
              <a:rPr lang="tr-TR" b="1" dirty="0" err="1" smtClean="0"/>
              <a:t>string</a:t>
            </a:r>
            <a:r>
              <a:rPr lang="tr-TR" b="1" dirty="0" smtClean="0"/>
              <a:t>.</a:t>
            </a:r>
            <a:r>
              <a:rPr lang="tr-TR" b="1" dirty="0"/>
              <a:t> "</a:t>
            </a:r>
            <a:r>
              <a:rPr lang="tr-TR" b="1" dirty="0" smtClean="0"/>
              <a:t> veya ‘</a:t>
            </a:r>
            <a:r>
              <a:rPr lang="tr-TR" b="1" dirty="0" err="1" smtClean="0"/>
              <a:t>this</a:t>
            </a:r>
            <a:r>
              <a:rPr lang="tr-TR" b="1" dirty="0" smtClean="0"/>
              <a:t> is </a:t>
            </a:r>
            <a:r>
              <a:rPr lang="tr-TR" b="1" dirty="0" err="1" smtClean="0"/>
              <a:t>also</a:t>
            </a:r>
            <a:r>
              <a:rPr lang="tr-TR" b="1" dirty="0" smtClean="0"/>
              <a:t> </a:t>
            </a:r>
            <a:r>
              <a:rPr lang="tr-TR" b="1" dirty="0" err="1" smtClean="0"/>
              <a:t>string</a:t>
            </a:r>
            <a:r>
              <a:rPr lang="tr-TR" b="1" dirty="0" smtClean="0"/>
              <a:t>’</a:t>
            </a:r>
          </a:p>
          <a:p>
            <a:r>
              <a:rPr lang="tr-TR" dirty="0" err="1" smtClean="0"/>
              <a:t>Method</a:t>
            </a:r>
            <a:r>
              <a:rPr lang="tr-TR" dirty="0" smtClean="0"/>
              <a:t> içinde </a:t>
            </a:r>
            <a:r>
              <a:rPr lang="tr-TR" dirty="0" err="1" smtClean="0"/>
              <a:t>stringlerin</a:t>
            </a:r>
            <a:r>
              <a:rPr lang="tr-TR" dirty="0" smtClean="0"/>
              <a:t> durumu değiştirilebilir.</a:t>
            </a:r>
          </a:p>
          <a:p>
            <a:pPr lvl="1"/>
            <a:r>
              <a:rPr lang="tr-TR" dirty="0" smtClean="0"/>
              <a:t>Name=</a:t>
            </a:r>
            <a:r>
              <a:rPr lang="tr-TR" b="1" dirty="0"/>
              <a:t>"</a:t>
            </a:r>
            <a:r>
              <a:rPr lang="tr-TR" b="1" dirty="0" smtClean="0"/>
              <a:t>computer </a:t>
            </a:r>
            <a:r>
              <a:rPr lang="tr-TR" b="1" dirty="0"/>
              <a:t>systems"</a:t>
            </a:r>
            <a:endParaRPr lang="tr-TR" b="1" dirty="0" smtClean="0"/>
          </a:p>
          <a:p>
            <a:pPr lvl="1"/>
            <a:r>
              <a:rPr lang="tr-TR" b="1" dirty="0" err="1"/>
              <a:t>p</a:t>
            </a:r>
            <a:r>
              <a:rPr lang="tr-TR" b="1" dirty="0" err="1" smtClean="0"/>
              <a:t>rint</a:t>
            </a:r>
            <a:r>
              <a:rPr lang="tr-TR" b="1" dirty="0" smtClean="0"/>
              <a:t>(</a:t>
            </a:r>
            <a:r>
              <a:rPr lang="tr-TR" b="1" dirty="0" err="1" smtClean="0"/>
              <a:t>name.title</a:t>
            </a:r>
            <a:r>
              <a:rPr lang="tr-TR" b="1" dirty="0" smtClean="0"/>
              <a:t>())</a:t>
            </a:r>
          </a:p>
          <a:p>
            <a:pPr lvl="1"/>
            <a:r>
              <a:rPr lang="tr-TR" b="1" dirty="0" err="1" smtClean="0"/>
              <a:t>Output</a:t>
            </a:r>
            <a:r>
              <a:rPr lang="tr-TR" b="1" dirty="0" smtClean="0"/>
              <a:t>: </a:t>
            </a:r>
            <a:r>
              <a:rPr lang="tr-TR" b="1" dirty="0" err="1" smtClean="0"/>
              <a:t>Computer</a:t>
            </a:r>
            <a:r>
              <a:rPr lang="tr-TR" b="1" dirty="0" smtClean="0"/>
              <a:t> </a:t>
            </a:r>
            <a:r>
              <a:rPr lang="tr-TR" b="1" dirty="0" err="1" smtClean="0"/>
              <a:t>Systems</a:t>
            </a:r>
            <a:endParaRPr lang="tr-TR" b="1" dirty="0" smtClean="0"/>
          </a:p>
          <a:p>
            <a:r>
              <a:rPr lang="tr-TR" b="1" dirty="0" smtClean="0"/>
              <a:t>Diğer metotlar: </a:t>
            </a:r>
            <a:r>
              <a:rPr lang="tr-TR" b="1" dirty="0" err="1" smtClean="0"/>
              <a:t>upper</a:t>
            </a:r>
            <a:r>
              <a:rPr lang="tr-TR" b="1" dirty="0" smtClean="0"/>
              <a:t>(),</a:t>
            </a:r>
            <a:r>
              <a:rPr lang="tr-TR" b="1" dirty="0" err="1" smtClean="0"/>
              <a:t>lower</a:t>
            </a:r>
            <a:r>
              <a:rPr lang="tr-TR" b="1" dirty="0" smtClean="0"/>
              <a:t>()</a:t>
            </a:r>
            <a:endParaRPr lang="tr-TR" dirty="0" smtClean="0"/>
          </a:p>
          <a:p>
            <a:pPr lvl="1"/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8577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</a:t>
            </a:r>
            <a:r>
              <a:rPr lang="tr-TR" dirty="0" err="1"/>
              <a:t>String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 smtClean="0"/>
              <a:t>Combining</a:t>
            </a:r>
            <a:r>
              <a:rPr lang="tr-TR" dirty="0" smtClean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Concatenating</a:t>
            </a:r>
            <a:r>
              <a:rPr lang="tr-TR" dirty="0"/>
              <a:t> </a:t>
            </a:r>
            <a:r>
              <a:rPr lang="tr-TR" dirty="0" err="1"/>
              <a:t>Strings</a:t>
            </a:r>
            <a:r>
              <a:rPr lang="tr-TR" dirty="0"/>
              <a:t> </a:t>
            </a:r>
          </a:p>
          <a:p>
            <a:pPr lvl="1"/>
            <a:r>
              <a:rPr lang="tr-TR" dirty="0" err="1" smtClean="0"/>
              <a:t>first_name</a:t>
            </a:r>
            <a:r>
              <a:rPr lang="tr-TR" dirty="0" smtClean="0"/>
              <a:t> </a:t>
            </a:r>
            <a:r>
              <a:rPr lang="tr-TR" dirty="0"/>
              <a:t>= "ada" </a:t>
            </a:r>
            <a:endParaRPr lang="tr-TR" dirty="0" smtClean="0"/>
          </a:p>
          <a:p>
            <a:pPr lvl="1"/>
            <a:r>
              <a:rPr lang="tr-TR" dirty="0" err="1" smtClean="0"/>
              <a:t>last_name</a:t>
            </a:r>
            <a:r>
              <a:rPr lang="tr-TR" dirty="0" smtClean="0"/>
              <a:t> </a:t>
            </a:r>
            <a:r>
              <a:rPr lang="tr-TR" dirty="0"/>
              <a:t>= "</a:t>
            </a:r>
            <a:r>
              <a:rPr lang="tr-TR" dirty="0" err="1"/>
              <a:t>lovelace</a:t>
            </a:r>
            <a:r>
              <a:rPr lang="tr-TR" dirty="0"/>
              <a:t>“ </a:t>
            </a:r>
            <a:endParaRPr lang="tr-TR" dirty="0" smtClean="0"/>
          </a:p>
          <a:p>
            <a:pPr lvl="1"/>
            <a:r>
              <a:rPr lang="tr-TR" dirty="0" err="1" smtClean="0"/>
              <a:t>full_name</a:t>
            </a:r>
            <a:r>
              <a:rPr lang="tr-TR" dirty="0" smtClean="0"/>
              <a:t> </a:t>
            </a:r>
            <a:r>
              <a:rPr lang="tr-TR" dirty="0"/>
              <a:t>= </a:t>
            </a:r>
            <a:r>
              <a:rPr lang="tr-TR" dirty="0" err="1"/>
              <a:t>first_name</a:t>
            </a:r>
            <a:r>
              <a:rPr lang="tr-TR" dirty="0"/>
              <a:t> </a:t>
            </a:r>
            <a:r>
              <a:rPr lang="tr-TR" b="1" dirty="0"/>
              <a:t>+ </a:t>
            </a:r>
            <a:r>
              <a:rPr lang="tr-TR" dirty="0"/>
              <a:t>" " </a:t>
            </a:r>
            <a:r>
              <a:rPr lang="tr-TR" b="1" dirty="0"/>
              <a:t>+ </a:t>
            </a:r>
            <a:r>
              <a:rPr lang="tr-TR" dirty="0" err="1"/>
              <a:t>last_name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err="1" smtClean="0"/>
              <a:t>print</a:t>
            </a:r>
            <a:r>
              <a:rPr lang="tr-TR" dirty="0" smtClean="0"/>
              <a:t>(</a:t>
            </a:r>
            <a:r>
              <a:rPr lang="tr-TR" dirty="0" err="1" smtClean="0"/>
              <a:t>full_name</a:t>
            </a:r>
            <a:r>
              <a:rPr lang="tr-TR" dirty="0"/>
              <a:t>) </a:t>
            </a:r>
            <a:endParaRPr lang="tr-TR" dirty="0" smtClean="0"/>
          </a:p>
          <a:p>
            <a:pPr lvl="1"/>
            <a:r>
              <a:rPr lang="tr-TR" dirty="0" err="1" smtClean="0"/>
              <a:t>Output</a:t>
            </a:r>
            <a:r>
              <a:rPr lang="tr-TR" dirty="0"/>
              <a:t>: ada </a:t>
            </a:r>
            <a:r>
              <a:rPr lang="tr-TR" dirty="0" err="1"/>
              <a:t>lovelace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err="1" smtClean="0"/>
              <a:t>print</a:t>
            </a:r>
            <a:r>
              <a:rPr lang="tr-TR" dirty="0"/>
              <a:t>("</a:t>
            </a:r>
            <a:r>
              <a:rPr lang="tr-TR" dirty="0" err="1"/>
              <a:t>Hello</a:t>
            </a:r>
            <a:r>
              <a:rPr lang="tr-TR" dirty="0"/>
              <a:t>, " </a:t>
            </a:r>
            <a:r>
              <a:rPr lang="tr-TR" b="1" dirty="0"/>
              <a:t>+ </a:t>
            </a:r>
            <a:r>
              <a:rPr lang="tr-TR" dirty="0" err="1"/>
              <a:t>full_name.title</a:t>
            </a:r>
            <a:r>
              <a:rPr lang="tr-TR" dirty="0"/>
              <a:t>() </a:t>
            </a:r>
            <a:r>
              <a:rPr lang="tr-TR" b="1" dirty="0"/>
              <a:t>+ </a:t>
            </a:r>
            <a:r>
              <a:rPr lang="tr-TR" dirty="0"/>
              <a:t>"!") </a:t>
            </a:r>
            <a:endParaRPr lang="tr-TR" dirty="0" smtClean="0"/>
          </a:p>
          <a:p>
            <a:pPr lvl="1"/>
            <a:r>
              <a:rPr lang="tr-TR" dirty="0" err="1" smtClean="0"/>
              <a:t>Output</a:t>
            </a:r>
            <a:r>
              <a:rPr lang="tr-TR" dirty="0" smtClean="0"/>
              <a:t> </a:t>
            </a:r>
            <a:r>
              <a:rPr lang="tr-TR" dirty="0"/>
              <a:t>: </a:t>
            </a:r>
            <a:r>
              <a:rPr lang="tr-TR" dirty="0" err="1"/>
              <a:t>Hello</a:t>
            </a:r>
            <a:r>
              <a:rPr lang="tr-TR" dirty="0"/>
              <a:t>, Ada </a:t>
            </a:r>
            <a:r>
              <a:rPr lang="tr-TR" dirty="0" err="1"/>
              <a:t>Lovelace</a:t>
            </a:r>
            <a:r>
              <a:rPr lang="tr-TR" dirty="0"/>
              <a:t>! </a:t>
            </a:r>
            <a:endParaRPr lang="tr-TR" dirty="0" smtClean="0"/>
          </a:p>
          <a:p>
            <a:r>
              <a:rPr lang="tr-TR" dirty="0" err="1" smtClean="0"/>
              <a:t>Concatenation</a:t>
            </a:r>
            <a:r>
              <a:rPr lang="tr-TR" dirty="0"/>
              <a:t>: </a:t>
            </a:r>
          </a:p>
          <a:p>
            <a:pPr lvl="1"/>
            <a:r>
              <a:rPr lang="tr-TR" dirty="0" err="1" smtClean="0"/>
              <a:t>message</a:t>
            </a:r>
            <a:r>
              <a:rPr lang="tr-TR" dirty="0" smtClean="0"/>
              <a:t> </a:t>
            </a:r>
            <a:r>
              <a:rPr lang="tr-TR" dirty="0"/>
              <a:t>= "</a:t>
            </a:r>
            <a:r>
              <a:rPr lang="tr-TR" dirty="0" err="1"/>
              <a:t>Hello</a:t>
            </a:r>
            <a:r>
              <a:rPr lang="tr-TR" dirty="0"/>
              <a:t>, " </a:t>
            </a:r>
            <a:r>
              <a:rPr lang="tr-TR" b="1" dirty="0"/>
              <a:t>+ </a:t>
            </a:r>
            <a:r>
              <a:rPr lang="tr-TR" dirty="0" err="1"/>
              <a:t>full_name.title</a:t>
            </a:r>
            <a:r>
              <a:rPr lang="tr-TR" dirty="0"/>
              <a:t>() </a:t>
            </a:r>
            <a:r>
              <a:rPr lang="tr-TR" b="1" dirty="0"/>
              <a:t>+ </a:t>
            </a:r>
            <a:r>
              <a:rPr lang="tr-TR" dirty="0"/>
              <a:t>"!“ </a:t>
            </a:r>
            <a:endParaRPr lang="tr-TR" dirty="0" smtClean="0"/>
          </a:p>
          <a:p>
            <a:pPr lvl="1"/>
            <a:r>
              <a:rPr lang="tr-TR" dirty="0" err="1" smtClean="0"/>
              <a:t>print</a:t>
            </a:r>
            <a:r>
              <a:rPr lang="tr-TR" dirty="0" smtClean="0"/>
              <a:t>(</a:t>
            </a:r>
            <a:r>
              <a:rPr lang="tr-TR" dirty="0" err="1" smtClean="0"/>
              <a:t>message</a:t>
            </a:r>
            <a:r>
              <a:rPr lang="tr-TR" dirty="0"/>
              <a:t>) </a:t>
            </a:r>
          </a:p>
          <a:p>
            <a:pPr lvl="1"/>
            <a:endParaRPr lang="tr-TR" dirty="0"/>
          </a:p>
          <a:p>
            <a:endParaRPr lang="tr-TR" dirty="0"/>
          </a:p>
          <a:p>
            <a:endParaRPr lang="tr-TR" dirty="0"/>
          </a:p>
          <a:p>
            <a:pPr lvl="1"/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0080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</a:t>
            </a:r>
            <a:r>
              <a:rPr lang="tr-TR" dirty="0" err="1"/>
              <a:t>String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Stringler</a:t>
            </a:r>
            <a:r>
              <a:rPr lang="tr-TR" dirty="0" smtClean="0"/>
              <a:t> boş bırakılması için </a:t>
            </a:r>
            <a:r>
              <a:rPr lang="tr-TR" dirty="0" err="1" smtClean="0"/>
              <a:t>newline</a:t>
            </a:r>
            <a:r>
              <a:rPr lang="tr-TR" dirty="0" smtClean="0"/>
              <a:t> veya </a:t>
            </a:r>
            <a:r>
              <a:rPr lang="tr-TR" dirty="0" err="1" smtClean="0"/>
              <a:t>tab</a:t>
            </a:r>
            <a:r>
              <a:rPr lang="tr-TR" dirty="0" smtClean="0"/>
              <a:t> kullanımı</a:t>
            </a:r>
            <a:endParaRPr lang="tr-TR" dirty="0"/>
          </a:p>
          <a:p>
            <a:pPr lvl="1"/>
            <a:r>
              <a:rPr lang="tr-TR" dirty="0" err="1" smtClean="0"/>
              <a:t>Tab</a:t>
            </a:r>
            <a:r>
              <a:rPr lang="tr-TR" dirty="0"/>
              <a:t>: </a:t>
            </a:r>
            <a:r>
              <a:rPr lang="tr-TR" dirty="0" err="1"/>
              <a:t>print</a:t>
            </a:r>
            <a:r>
              <a:rPr lang="tr-TR" dirty="0"/>
              <a:t>("\</a:t>
            </a:r>
            <a:r>
              <a:rPr lang="tr-TR" dirty="0" err="1"/>
              <a:t>tPython</a:t>
            </a:r>
            <a:r>
              <a:rPr lang="tr-TR" dirty="0"/>
              <a:t>") </a:t>
            </a:r>
            <a:endParaRPr lang="tr-TR" dirty="0" smtClean="0"/>
          </a:p>
          <a:p>
            <a:pPr lvl="1"/>
            <a:r>
              <a:rPr lang="tr-TR" dirty="0" err="1" smtClean="0"/>
              <a:t>print</a:t>
            </a:r>
            <a:r>
              <a:rPr lang="tr-TR" dirty="0"/>
              <a:t>("</a:t>
            </a:r>
            <a:r>
              <a:rPr lang="tr-TR" dirty="0" err="1"/>
              <a:t>Languages</a:t>
            </a:r>
            <a:r>
              <a:rPr lang="tr-TR" dirty="0"/>
              <a:t>:\</a:t>
            </a:r>
            <a:r>
              <a:rPr lang="tr-TR" dirty="0" err="1"/>
              <a:t>nPython</a:t>
            </a:r>
            <a:r>
              <a:rPr lang="tr-TR" dirty="0"/>
              <a:t>\</a:t>
            </a:r>
            <a:r>
              <a:rPr lang="tr-TR" dirty="0" err="1"/>
              <a:t>nC</a:t>
            </a:r>
            <a:r>
              <a:rPr lang="tr-TR" dirty="0"/>
              <a:t>\</a:t>
            </a:r>
            <a:r>
              <a:rPr lang="tr-TR" dirty="0" err="1"/>
              <a:t>nJavaScript</a:t>
            </a:r>
            <a:r>
              <a:rPr lang="tr-TR" dirty="0"/>
              <a:t>") </a:t>
            </a:r>
            <a:endParaRPr lang="tr-TR" dirty="0" smtClean="0"/>
          </a:p>
          <a:p>
            <a:pPr lvl="1"/>
            <a:r>
              <a:rPr lang="tr-TR" dirty="0" err="1" smtClean="0"/>
              <a:t>print</a:t>
            </a:r>
            <a:r>
              <a:rPr lang="tr-TR" dirty="0"/>
              <a:t>("</a:t>
            </a:r>
            <a:r>
              <a:rPr lang="tr-TR" dirty="0" err="1"/>
              <a:t>Languages</a:t>
            </a:r>
            <a:r>
              <a:rPr lang="tr-TR" dirty="0"/>
              <a:t>:\n\</a:t>
            </a:r>
            <a:r>
              <a:rPr lang="tr-TR" dirty="0" err="1"/>
              <a:t>tPython</a:t>
            </a:r>
            <a:r>
              <a:rPr lang="tr-TR" dirty="0"/>
              <a:t>\n\</a:t>
            </a:r>
            <a:r>
              <a:rPr lang="tr-TR" dirty="0" err="1"/>
              <a:t>tC</a:t>
            </a:r>
            <a:r>
              <a:rPr lang="tr-TR" dirty="0"/>
              <a:t>\n\</a:t>
            </a:r>
            <a:r>
              <a:rPr lang="tr-TR" dirty="0" err="1"/>
              <a:t>tJavaScript</a:t>
            </a:r>
            <a:r>
              <a:rPr lang="tr-TR" dirty="0"/>
              <a:t>") </a:t>
            </a:r>
          </a:p>
          <a:p>
            <a:pPr lvl="1"/>
            <a:endParaRPr lang="tr-TR" dirty="0"/>
          </a:p>
          <a:p>
            <a:pPr marL="0" indent="0">
              <a:buNone/>
            </a:pPr>
            <a:r>
              <a:rPr lang="tr-TR" dirty="0"/>
              <a:t>Languages: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Python 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C </a:t>
            </a:r>
            <a:endParaRPr lang="tr-TR" dirty="0"/>
          </a:p>
          <a:p>
            <a:pPr marL="0" indent="0">
              <a:buNone/>
            </a:pPr>
            <a:r>
              <a:rPr lang="tr-TR" dirty="0" smtClean="0"/>
              <a:t>JavaScript </a:t>
            </a:r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6482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</a:t>
            </a:r>
            <a:r>
              <a:rPr lang="tr-TR" dirty="0" err="1"/>
              <a:t>String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‘phyton’ ve ‘phyton </a:t>
            </a:r>
            <a:r>
              <a:rPr lang="tr-TR" dirty="0"/>
              <a:t>’ </a:t>
            </a:r>
            <a:endParaRPr lang="tr-TR" dirty="0" smtClean="0"/>
          </a:p>
          <a:p>
            <a:r>
              <a:rPr lang="tr-TR" dirty="0" smtClean="0"/>
              <a:t>İkisi </a:t>
            </a:r>
            <a:r>
              <a:rPr lang="tr-TR" dirty="0" smtClean="0"/>
              <a:t>farklı</a:t>
            </a:r>
          </a:p>
          <a:p>
            <a:r>
              <a:rPr lang="tr-TR" dirty="0" smtClean="0"/>
              <a:t>Phyton ekstra boşluk için stringin sağını ve solunu </a:t>
            </a:r>
            <a:r>
              <a:rPr lang="tr-TR" dirty="0" smtClean="0"/>
              <a:t>kontrol</a:t>
            </a:r>
            <a:r>
              <a:rPr lang="tr-TR" dirty="0" smtClean="0"/>
              <a:t> </a:t>
            </a:r>
            <a:r>
              <a:rPr lang="tr-TR" dirty="0" smtClean="0"/>
              <a:t>eder.</a:t>
            </a:r>
          </a:p>
          <a:p>
            <a:pPr lvl="1"/>
            <a:r>
              <a:rPr lang="tr-TR" dirty="0" err="1" smtClean="0"/>
              <a:t>Strip</a:t>
            </a:r>
            <a:r>
              <a:rPr lang="tr-TR" dirty="0" smtClean="0"/>
              <a:t>()/</a:t>
            </a:r>
            <a:r>
              <a:rPr lang="tr-TR" dirty="0" err="1" smtClean="0"/>
              <a:t>lstrip</a:t>
            </a:r>
            <a:r>
              <a:rPr lang="tr-TR" dirty="0" smtClean="0"/>
              <a:t>()/</a:t>
            </a:r>
            <a:r>
              <a:rPr lang="tr-TR" dirty="0" err="1" smtClean="0"/>
              <a:t>rstrip</a:t>
            </a:r>
            <a:r>
              <a:rPr lang="tr-TR" dirty="0" smtClean="0"/>
              <a:t>().</a:t>
            </a:r>
          </a:p>
          <a:p>
            <a:pPr lvl="1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596" y="4001294"/>
            <a:ext cx="3952727" cy="2127938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5466323" y="4511265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tr-TR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tr-TR" dirty="0" err="1">
                <a:latin typeface="Calibri" panose="020F0502020204030204" pitchFamily="34" charset="0"/>
              </a:rPr>
              <a:t>value</a:t>
            </a:r>
            <a:r>
              <a:rPr lang="tr-TR" dirty="0">
                <a:latin typeface="Calibri" panose="020F0502020204030204" pitchFamily="34" charset="0"/>
              </a:rPr>
              <a:t> of </a:t>
            </a:r>
            <a:r>
              <a:rPr lang="tr-TR" dirty="0" err="1">
                <a:latin typeface="Calibri" panose="020F0502020204030204" pitchFamily="34" charset="0"/>
              </a:rPr>
              <a:t>favorite_language</a:t>
            </a:r>
            <a:r>
              <a:rPr lang="tr-TR" dirty="0">
                <a:latin typeface="Calibri" panose="020F0502020204030204" pitchFamily="34" charset="0"/>
              </a:rPr>
              <a:t> ?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3587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</a:t>
            </a:r>
            <a:r>
              <a:rPr lang="tr-TR" dirty="0" err="1"/>
              <a:t>String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remove the whitespace from the string permanently ? 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81" y="2834615"/>
            <a:ext cx="6527438" cy="164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2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</a:t>
            </a:r>
            <a:r>
              <a:rPr lang="tr-TR" dirty="0" smtClean="0"/>
              <a:t>Sayılar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Integers</a:t>
            </a:r>
            <a:r>
              <a:rPr lang="en-US" dirty="0" smtClean="0"/>
              <a:t> </a:t>
            </a:r>
            <a:r>
              <a:rPr lang="en-US" dirty="0"/>
              <a:t>are whole numbers that can be positive, negative, or 0 (…, -1, 0, 1, …). </a:t>
            </a:r>
          </a:p>
          <a:p>
            <a:r>
              <a:rPr lang="en-US" dirty="0" smtClean="0">
                <a:hlinkClick r:id="rId2"/>
              </a:rPr>
              <a:t>Floats</a:t>
            </a:r>
            <a:r>
              <a:rPr lang="en-US" dirty="0" smtClean="0"/>
              <a:t> </a:t>
            </a:r>
            <a:r>
              <a:rPr lang="en-US" dirty="0"/>
              <a:t>are real numbers, they contain a decimal point (as in 9.0 or -2.25). </a:t>
            </a:r>
            <a:endParaRPr lang="tr-TR" dirty="0" smtClean="0"/>
          </a:p>
          <a:p>
            <a:r>
              <a:rPr lang="en-US" dirty="0" smtClean="0"/>
              <a:t>An </a:t>
            </a:r>
            <a:r>
              <a:rPr lang="en-US" b="1" dirty="0"/>
              <a:t>operator </a:t>
            </a:r>
            <a:r>
              <a:rPr lang="en-US" dirty="0"/>
              <a:t>is a symbol or function that indicates an operation. For example, in math the plus sign or + is the operator that indicates addition. </a:t>
            </a:r>
          </a:p>
          <a:p>
            <a:endParaRPr lang="en-US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837" y="4520906"/>
            <a:ext cx="6599966" cy="233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87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Tipleri: Sayılar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425940" cy="435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57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Hatalardan Kaçınma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tr-TR" dirty="0" err="1" smtClean="0"/>
              <a:t>age</a:t>
            </a:r>
            <a:r>
              <a:rPr lang="tr-TR" dirty="0" smtClean="0"/>
              <a:t> </a:t>
            </a:r>
            <a:r>
              <a:rPr lang="tr-TR" dirty="0"/>
              <a:t>= 23 </a:t>
            </a:r>
          </a:p>
          <a:p>
            <a:r>
              <a:rPr lang="en-US" dirty="0" smtClean="0"/>
              <a:t>message </a:t>
            </a:r>
            <a:r>
              <a:rPr lang="en-US" dirty="0"/>
              <a:t>= "Happy " + age + "</a:t>
            </a:r>
            <a:r>
              <a:rPr lang="en-US" dirty="0" err="1"/>
              <a:t>rd</a:t>
            </a:r>
            <a:r>
              <a:rPr lang="en-US" dirty="0"/>
              <a:t> Birthday</a:t>
            </a:r>
            <a:r>
              <a:rPr lang="en-US" dirty="0" smtClean="0"/>
              <a:t>!“</a:t>
            </a:r>
            <a:endParaRPr lang="tr-TR" dirty="0" smtClean="0"/>
          </a:p>
          <a:p>
            <a:r>
              <a:rPr lang="tr-TR" dirty="0" smtClean="0"/>
              <a:t>Doğru mu?</a:t>
            </a:r>
          </a:p>
          <a:p>
            <a:pPr lvl="1"/>
            <a:r>
              <a:rPr lang="en-US" dirty="0" err="1" smtClean="0"/>
              <a:t>TypeError</a:t>
            </a:r>
            <a:r>
              <a:rPr lang="en-US" dirty="0"/>
              <a:t>: Can't convert '</a:t>
            </a:r>
            <a:r>
              <a:rPr lang="en-US" dirty="0" err="1"/>
              <a:t>int</a:t>
            </a:r>
            <a:r>
              <a:rPr lang="en-US" dirty="0"/>
              <a:t>' object to </a:t>
            </a:r>
            <a:r>
              <a:rPr lang="en-US" dirty="0" err="1"/>
              <a:t>str</a:t>
            </a:r>
            <a:r>
              <a:rPr lang="en-US" dirty="0"/>
              <a:t> implicitly </a:t>
            </a:r>
            <a:endParaRPr lang="tr-TR" dirty="0" smtClean="0"/>
          </a:p>
          <a:p>
            <a:pPr lvl="1"/>
            <a:endParaRPr lang="tr-TR" dirty="0"/>
          </a:p>
          <a:p>
            <a:r>
              <a:rPr lang="tr-TR" dirty="0" err="1" smtClean="0"/>
              <a:t>age</a:t>
            </a:r>
            <a:r>
              <a:rPr lang="tr-TR" dirty="0" smtClean="0"/>
              <a:t> </a:t>
            </a:r>
            <a:r>
              <a:rPr lang="tr-TR" dirty="0"/>
              <a:t>= 23 </a:t>
            </a:r>
          </a:p>
          <a:p>
            <a:r>
              <a:rPr lang="en-US" dirty="0" smtClean="0"/>
              <a:t>message </a:t>
            </a:r>
            <a:r>
              <a:rPr lang="en-US" dirty="0"/>
              <a:t>= "Happy " + </a:t>
            </a:r>
            <a:r>
              <a:rPr lang="en-US" dirty="0" err="1"/>
              <a:t>str</a:t>
            </a:r>
            <a:r>
              <a:rPr lang="en-US" dirty="0"/>
              <a:t>(age) + "</a:t>
            </a:r>
            <a:r>
              <a:rPr lang="en-US" dirty="0" err="1"/>
              <a:t>rd</a:t>
            </a:r>
            <a:r>
              <a:rPr lang="en-US" dirty="0"/>
              <a:t> Birthday!" </a:t>
            </a:r>
            <a:endParaRPr lang="tr-TR" dirty="0" smtClean="0"/>
          </a:p>
          <a:p>
            <a:r>
              <a:rPr lang="en-US" dirty="0" smtClean="0"/>
              <a:t>print(message</a:t>
            </a:r>
            <a:r>
              <a:rPr lang="en-US" dirty="0"/>
              <a:t>) </a:t>
            </a:r>
            <a:endParaRPr lang="tr-TR" dirty="0" smtClean="0"/>
          </a:p>
          <a:p>
            <a:r>
              <a:rPr lang="tr-TR" dirty="0" err="1" smtClean="0"/>
              <a:t>Output</a:t>
            </a:r>
            <a:r>
              <a:rPr lang="tr-TR" dirty="0"/>
              <a:t>: </a:t>
            </a:r>
            <a:r>
              <a:rPr lang="tr-TR" dirty="0" err="1"/>
              <a:t>Happy</a:t>
            </a:r>
            <a:r>
              <a:rPr lang="tr-TR" dirty="0"/>
              <a:t> 23rd </a:t>
            </a:r>
            <a:r>
              <a:rPr lang="tr-TR" dirty="0" err="1"/>
              <a:t>Birthday</a:t>
            </a:r>
            <a:r>
              <a:rPr lang="tr-TR" dirty="0"/>
              <a:t>! </a:t>
            </a:r>
          </a:p>
          <a:p>
            <a:endParaRPr lang="en-US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0864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Açıklama Satırları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Açıklama satırları birçok programlama dilinde önemli bir özelliktir.</a:t>
            </a:r>
          </a:p>
          <a:p>
            <a:r>
              <a:rPr lang="tr-TR" dirty="0" smtClean="0"/>
              <a:t>Programlar uzadıkça ve karmaşık hale geldikçe, programcı kod bloğu içine kodun işleyişi ve genel bilgi açısından açıklama satır yazma ihtiyacı olabilir.</a:t>
            </a:r>
          </a:p>
          <a:p>
            <a:r>
              <a:rPr lang="tr-TR" dirty="0" smtClean="0"/>
              <a:t>Açıklama satırı programcıya bu şekilde farklı dilde yorum yazma imkanı vermektedir.</a:t>
            </a:r>
          </a:p>
          <a:p>
            <a:r>
              <a:rPr lang="tr-TR" dirty="0" err="1" smtClean="0"/>
              <a:t>Phyton’da</a:t>
            </a:r>
            <a:r>
              <a:rPr lang="tr-TR" dirty="0" smtClean="0"/>
              <a:t> # işareti yorum satırı anlamına gelmektedir.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28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Açıklama Satırları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67189"/>
            <a:ext cx="10515600" cy="4351338"/>
          </a:xfrm>
        </p:spPr>
        <p:txBody>
          <a:bodyPr/>
          <a:lstStyle/>
          <a:p>
            <a:r>
              <a:rPr lang="tr-TR" dirty="0" smtClean="0"/>
              <a:t>Profesyonel bir yazılımcı olmak veya diğer kod yazarları ile anlaşabilmek amacı ile anlamlı açıklama satırları yazılmalıdır.</a:t>
            </a:r>
          </a:p>
          <a:p>
            <a:r>
              <a:rPr lang="tr-TR" dirty="0" smtClean="0"/>
              <a:t>Günümüzde, </a:t>
            </a:r>
            <a:r>
              <a:rPr lang="tr-TR" dirty="0" err="1" smtClean="0"/>
              <a:t>pekçok</a:t>
            </a:r>
            <a:r>
              <a:rPr lang="tr-TR" dirty="0" smtClean="0"/>
              <a:t> yazılım projesi işbirliği ile yazılmaktadır. Şirket içindeki tüm çalışanlar veya bir grubu beraber açık kaynak proje üzerinde çalışmaktadır.</a:t>
            </a:r>
          </a:p>
          <a:p>
            <a:r>
              <a:rPr lang="tr-TR" i="1" dirty="0" smtClean="0">
                <a:solidFill>
                  <a:srgbClr val="FF0000"/>
                </a:solidFill>
              </a:rPr>
              <a:t>Yetenekli yazılımcılar</a:t>
            </a:r>
            <a:r>
              <a:rPr lang="tr-TR" dirty="0" smtClean="0"/>
              <a:t> kod içinde yorum görmek isterler, bu nedenle bugünden itibaren kod bloklarınıza anlamlı yorum satırları eklemeyi unutmayın!!!!.</a:t>
            </a:r>
          </a:p>
          <a:p>
            <a:r>
              <a:rPr lang="tr-TR" dirty="0" smtClean="0"/>
              <a:t>Açık ve tam açıklama satırlarının kod bloğu içine yazılması bunda sonraki kodlama hayatınızda önemli bir yetenek olarak ekleyin.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7594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Açıklama </a:t>
            </a:r>
            <a:r>
              <a:rPr lang="tr-TR" dirty="0" smtClean="0"/>
              <a:t>Satırları Örnekleri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" y="1318638"/>
            <a:ext cx="7071392" cy="268265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873" y="1811963"/>
            <a:ext cx="6527438" cy="43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8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Teşekkürler.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473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1730</Words>
  <Application>Microsoft Office PowerPoint</Application>
  <PresentationFormat>Widescreen</PresentationFormat>
  <Paragraphs>224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Wingdings</vt:lpstr>
      <vt:lpstr>Office Teması</vt:lpstr>
      <vt:lpstr>BLM 2001 BİLGİSAYAR PROGRAMLAMA 2</vt:lpstr>
      <vt:lpstr>Ders Bilgisi</vt:lpstr>
      <vt:lpstr>Değerlendirme</vt:lpstr>
      <vt:lpstr>Ders Kitabı ve Kaynaklar</vt:lpstr>
      <vt:lpstr>Lab Editor</vt:lpstr>
      <vt:lpstr>Ders Kitabı ve Kaynaklar</vt:lpstr>
      <vt:lpstr>Ders Kuralları</vt:lpstr>
      <vt:lpstr>Kopya kesinlikle yasak!!!!!</vt:lpstr>
      <vt:lpstr>Phyton Nedir?</vt:lpstr>
      <vt:lpstr>Phyton Nedir?</vt:lpstr>
      <vt:lpstr> Interpreter/Compiler  </vt:lpstr>
      <vt:lpstr>Nerelerde Kullanılır?</vt:lpstr>
      <vt:lpstr> Python2 ve Python3 </vt:lpstr>
      <vt:lpstr>Neden Phyton3</vt:lpstr>
      <vt:lpstr>Phyton2 ile Phyton3 Farkları</vt:lpstr>
      <vt:lpstr>Tarihçesi</vt:lpstr>
      <vt:lpstr>Phyton2 ne zaman öğrenilir.</vt:lpstr>
      <vt:lpstr>Phyton Neden Önemli</vt:lpstr>
      <vt:lpstr>Phyton Neden Önemli</vt:lpstr>
      <vt:lpstr>Peki Neden Bu kadar popüler oldu</vt:lpstr>
      <vt:lpstr>Peki Neden Bu kadar popüler oldu</vt:lpstr>
      <vt:lpstr>Phyton Programcılarının Maaşları</vt:lpstr>
      <vt:lpstr>Phyton Değişkenleri ve Basit Veri Tipleri</vt:lpstr>
      <vt:lpstr>İsimlendirme ve Değişkenlerin Kullanımı</vt:lpstr>
      <vt:lpstr>İsimlendirme ve Değişkenlerin Kullanımı</vt:lpstr>
      <vt:lpstr>Phyton Veri Tipleri</vt:lpstr>
      <vt:lpstr>Değişken Tipleri: String</vt:lpstr>
      <vt:lpstr>Değişken Tipleri: String</vt:lpstr>
      <vt:lpstr>Değişken Tipleri: String</vt:lpstr>
      <vt:lpstr>Değişken Tipleri: String</vt:lpstr>
      <vt:lpstr>Değişken Tipleri: String</vt:lpstr>
      <vt:lpstr>Değişken Tipleri: Sayılar</vt:lpstr>
      <vt:lpstr>Değişken Tipleri: Sayılar</vt:lpstr>
      <vt:lpstr>Hatalardan Kaçınma</vt:lpstr>
      <vt:lpstr>Açıklama Satırları</vt:lpstr>
      <vt:lpstr>Açıklama Satırları</vt:lpstr>
      <vt:lpstr>Açıklama Satırları Örnekleri</vt:lpstr>
      <vt:lpstr>Teşekkürler.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BLM 2001 BİLGİSAYAR PROGRAMLAMA 2</dc:title>
  <dc:creator>Kazım Yıldız PC</dc:creator>
  <cp:lastModifiedBy>Berna</cp:lastModifiedBy>
  <cp:revision>52</cp:revision>
  <dcterms:created xsi:type="dcterms:W3CDTF">2020-10-11T06:23:23Z</dcterms:created>
  <dcterms:modified xsi:type="dcterms:W3CDTF">2022-10-12T10:38:24Z</dcterms:modified>
</cp:coreProperties>
</file>