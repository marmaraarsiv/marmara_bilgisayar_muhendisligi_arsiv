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30"/>
  </p:notesMasterIdLst>
  <p:sldIdLst>
    <p:sldId id="256" r:id="rId2"/>
    <p:sldId id="262" r:id="rId3"/>
    <p:sldId id="274" r:id="rId4"/>
    <p:sldId id="422" r:id="rId5"/>
    <p:sldId id="423" r:id="rId6"/>
    <p:sldId id="424" r:id="rId7"/>
    <p:sldId id="425" r:id="rId8"/>
    <p:sldId id="426" r:id="rId9"/>
    <p:sldId id="427" r:id="rId10"/>
    <p:sldId id="444" r:id="rId11"/>
    <p:sldId id="428" r:id="rId12"/>
    <p:sldId id="429" r:id="rId13"/>
    <p:sldId id="443" r:id="rId14"/>
    <p:sldId id="430" r:id="rId15"/>
    <p:sldId id="431" r:id="rId16"/>
    <p:sldId id="432" r:id="rId17"/>
    <p:sldId id="433" r:id="rId18"/>
    <p:sldId id="434" r:id="rId19"/>
    <p:sldId id="435" r:id="rId20"/>
    <p:sldId id="445" r:id="rId21"/>
    <p:sldId id="436" r:id="rId22"/>
    <p:sldId id="437" r:id="rId23"/>
    <p:sldId id="438" r:id="rId24"/>
    <p:sldId id="439" r:id="rId25"/>
    <p:sldId id="440" r:id="rId26"/>
    <p:sldId id="441" r:id="rId27"/>
    <p:sldId id="442" r:id="rId28"/>
    <p:sldId id="345" r:id="rId2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8000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5975" autoAdjust="0"/>
  </p:normalViewPr>
  <p:slideViewPr>
    <p:cSldViewPr>
      <p:cViewPr>
        <p:scale>
          <a:sx n="96" d="100"/>
          <a:sy n="96" d="100"/>
        </p:scale>
        <p:origin x="1224" y="-15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2A135-22CC-429C-9706-1CC56B005689}" type="datetimeFigureOut">
              <a:rPr lang="tr-TR" smtClean="0"/>
              <a:pPr/>
              <a:t>18.12.2025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281E5-013A-4FDC-BBE5-88D0D9098083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4686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251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678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3142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1985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9336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4646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2336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6361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stdlib.h</a:t>
            </a:r>
            <a:r>
              <a:rPr lang="tr-TR" dirty="0"/>
              <a:t>&gt;</a:t>
            </a:r>
          </a:p>
          <a:p>
            <a:endParaRPr lang="tr-TR" dirty="0"/>
          </a:p>
          <a:p>
            <a:r>
              <a:rPr lang="tr-TR" dirty="0" err="1"/>
              <a:t>int</a:t>
            </a:r>
            <a:r>
              <a:rPr lang="tr-TR" dirty="0"/>
              <a:t> main()</a:t>
            </a:r>
          </a:p>
          <a:p>
            <a:r>
              <a:rPr lang="tr-TR" dirty="0"/>
              <a:t>{</a:t>
            </a:r>
          </a:p>
          <a:p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dizi[50];</a:t>
            </a:r>
          </a:p>
          <a:p>
            <a:r>
              <a:rPr lang="tr-TR" dirty="0"/>
              <a:t>    </a:t>
            </a:r>
            <a:r>
              <a:rPr lang="tr-TR" dirty="0" err="1"/>
              <a:t>int</a:t>
            </a:r>
            <a:r>
              <a:rPr lang="tr-TR" dirty="0"/>
              <a:t> i;</a:t>
            </a:r>
          </a:p>
          <a:p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Lutfen</a:t>
            </a:r>
            <a:r>
              <a:rPr lang="tr-TR" dirty="0"/>
              <a:t> metni giriniz: ");</a:t>
            </a:r>
          </a:p>
          <a:p>
            <a:r>
              <a:rPr lang="tr-TR" dirty="0"/>
              <a:t>    </a:t>
            </a:r>
            <a:r>
              <a:rPr lang="tr-TR" dirty="0" err="1"/>
              <a:t>gets</a:t>
            </a:r>
            <a:r>
              <a:rPr lang="tr-TR" dirty="0"/>
              <a:t>(dizi);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("\</a:t>
            </a:r>
            <a:r>
              <a:rPr lang="tr-TR" dirty="0" err="1"/>
              <a:t>nKarakterleri</a:t>
            </a:r>
            <a:r>
              <a:rPr lang="tr-TR" dirty="0"/>
              <a:t> tek tek </a:t>
            </a:r>
            <a:r>
              <a:rPr lang="tr-TR" dirty="0" err="1"/>
              <a:t>yazdir</a:t>
            </a:r>
            <a:r>
              <a:rPr lang="tr-TR" dirty="0"/>
              <a:t>\n");</a:t>
            </a:r>
          </a:p>
          <a:p>
            <a:r>
              <a:rPr lang="tr-TR" dirty="0"/>
              <a:t>    </a:t>
            </a:r>
            <a:r>
              <a:rPr lang="tr-TR" dirty="0" err="1"/>
              <a:t>for</a:t>
            </a:r>
            <a:r>
              <a:rPr lang="tr-TR" dirty="0"/>
              <a:t> (i=0; i&lt;=dizi[i]; i++){</a:t>
            </a:r>
          </a:p>
          <a:p>
            <a:r>
              <a:rPr lang="tr-TR" dirty="0"/>
              <a:t>        </a:t>
            </a:r>
            <a:r>
              <a:rPr lang="tr-TR" dirty="0" err="1"/>
              <a:t>printf</a:t>
            </a:r>
            <a:r>
              <a:rPr lang="tr-TR" dirty="0"/>
              <a:t>("%c \n", dizi[i]);</a:t>
            </a:r>
          </a:p>
          <a:p>
            <a:r>
              <a:rPr lang="tr-TR" dirty="0"/>
              <a:t>    }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("\</a:t>
            </a:r>
            <a:r>
              <a:rPr lang="tr-TR" dirty="0" err="1"/>
              <a:t>nTum</a:t>
            </a:r>
            <a:r>
              <a:rPr lang="tr-TR" dirty="0"/>
              <a:t> karakterleri </a:t>
            </a:r>
            <a:r>
              <a:rPr lang="tr-TR" dirty="0" err="1"/>
              <a:t>yazdir</a:t>
            </a:r>
            <a:r>
              <a:rPr lang="tr-TR" dirty="0"/>
              <a:t>\n");</a:t>
            </a:r>
          </a:p>
          <a:p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(dizi);</a:t>
            </a:r>
          </a:p>
          <a:p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("\n");</a:t>
            </a:r>
          </a:p>
          <a:p>
            <a:r>
              <a:rPr lang="tr-TR" dirty="0"/>
              <a:t>    </a:t>
            </a:r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3218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6960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781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#include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/>
              <a:t>#include &lt;</a:t>
            </a:r>
            <a:r>
              <a:rPr lang="tr-TR" dirty="0" err="1"/>
              <a:t>string.h</a:t>
            </a:r>
            <a:r>
              <a:rPr lang="tr-TR" dirty="0"/>
              <a:t>&gt;</a:t>
            </a:r>
          </a:p>
          <a:p>
            <a:endParaRPr lang="tr-TR" dirty="0"/>
          </a:p>
          <a:p>
            <a:r>
              <a:rPr lang="tr-TR" dirty="0" err="1"/>
              <a:t>int</a:t>
            </a:r>
            <a:r>
              <a:rPr lang="tr-TR" dirty="0"/>
              <a:t> main()</a:t>
            </a:r>
          </a:p>
          <a:p>
            <a:r>
              <a:rPr lang="tr-TR" dirty="0"/>
              <a:t>{</a:t>
            </a:r>
          </a:p>
          <a:p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ad[30] = "Buket";</a:t>
            </a:r>
          </a:p>
          <a:p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</a:t>
            </a:r>
            <a:r>
              <a:rPr lang="tr-TR" dirty="0" err="1"/>
              <a:t>soyad</a:t>
            </a:r>
            <a:r>
              <a:rPr lang="tr-TR" dirty="0"/>
              <a:t>[] = " </a:t>
            </a:r>
            <a:r>
              <a:rPr lang="tr-TR" dirty="0" err="1"/>
              <a:t>Dogan</a:t>
            </a:r>
            <a:r>
              <a:rPr lang="tr-TR" dirty="0"/>
              <a:t>";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strcat</a:t>
            </a:r>
            <a:r>
              <a:rPr lang="tr-TR" dirty="0"/>
              <a:t>(ad, </a:t>
            </a:r>
            <a:r>
              <a:rPr lang="tr-TR" dirty="0" err="1"/>
              <a:t>soyad</a:t>
            </a:r>
            <a:r>
              <a:rPr lang="tr-TR" dirty="0"/>
              <a:t>);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("%s\n", ad);</a:t>
            </a:r>
          </a:p>
          <a:p>
            <a:r>
              <a:rPr lang="tr-TR" dirty="0"/>
              <a:t> </a:t>
            </a:r>
            <a:r>
              <a:rPr lang="tr-TR" dirty="0" err="1"/>
              <a:t>printf</a:t>
            </a:r>
            <a:r>
              <a:rPr lang="tr-TR" dirty="0"/>
              <a:t>("%s\n", </a:t>
            </a:r>
            <a:r>
              <a:rPr lang="tr-TR" dirty="0" err="1"/>
              <a:t>soyad</a:t>
            </a:r>
            <a:r>
              <a:rPr lang="tr-TR" dirty="0"/>
              <a:t>);</a:t>
            </a:r>
          </a:p>
          <a:p>
            <a:r>
              <a:rPr lang="tr-TR" dirty="0"/>
              <a:t>    </a:t>
            </a:r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37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2676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6006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3481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0190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#include &lt;</a:t>
            </a:r>
            <a:r>
              <a:rPr lang="tr-TR" dirty="0" err="1"/>
              <a:t>stdio.h</a:t>
            </a:r>
            <a:r>
              <a:rPr lang="tr-TR" dirty="0"/>
              <a:t>&gt;      // </a:t>
            </a:r>
            <a:r>
              <a:rPr lang="tr-TR" dirty="0" err="1"/>
              <a:t>printf</a:t>
            </a:r>
            <a:endParaRPr lang="tr-TR" dirty="0"/>
          </a:p>
          <a:p>
            <a:r>
              <a:rPr lang="tr-TR" dirty="0"/>
              <a:t>#include &lt;</a:t>
            </a:r>
            <a:r>
              <a:rPr lang="tr-TR" dirty="0" err="1"/>
              <a:t>string.h</a:t>
            </a:r>
            <a:r>
              <a:rPr lang="tr-TR" dirty="0"/>
              <a:t>&gt;     // </a:t>
            </a:r>
            <a:r>
              <a:rPr lang="tr-TR" dirty="0" err="1"/>
              <a:t>strcmp</a:t>
            </a:r>
            <a:r>
              <a:rPr lang="tr-TR" dirty="0"/>
              <a:t>, </a:t>
            </a:r>
            <a:r>
              <a:rPr lang="tr-TR" dirty="0" err="1"/>
              <a:t>strcpy</a:t>
            </a:r>
            <a:endParaRPr lang="tr-TR" dirty="0"/>
          </a:p>
          <a:p>
            <a:r>
              <a:rPr lang="tr-TR" dirty="0"/>
              <a:t>#include &lt;</a:t>
            </a:r>
            <a:r>
              <a:rPr lang="tr-TR" dirty="0" err="1"/>
              <a:t>stdlib.h</a:t>
            </a:r>
            <a:r>
              <a:rPr lang="tr-TR" dirty="0"/>
              <a:t>&gt;     // </a:t>
            </a:r>
            <a:r>
              <a:rPr lang="tr-TR" dirty="0" err="1"/>
              <a:t>rand</a:t>
            </a:r>
            <a:r>
              <a:rPr lang="tr-TR" dirty="0"/>
              <a:t>, </a:t>
            </a:r>
            <a:r>
              <a:rPr lang="tr-TR" dirty="0" err="1"/>
              <a:t>srand</a:t>
            </a:r>
            <a:endParaRPr lang="tr-TR" dirty="0"/>
          </a:p>
          <a:p>
            <a:r>
              <a:rPr lang="tr-TR" dirty="0"/>
              <a:t>#include &lt;</a:t>
            </a:r>
            <a:r>
              <a:rPr lang="tr-TR" dirty="0" err="1"/>
              <a:t>time.h</a:t>
            </a:r>
            <a:r>
              <a:rPr lang="tr-TR" dirty="0"/>
              <a:t>&gt;       // time</a:t>
            </a:r>
          </a:p>
          <a:p>
            <a:endParaRPr lang="tr-TR" dirty="0"/>
          </a:p>
          <a:p>
            <a:r>
              <a:rPr lang="tr-TR" dirty="0" err="1"/>
              <a:t>int</a:t>
            </a:r>
            <a:r>
              <a:rPr lang="tr-TR" dirty="0"/>
              <a:t> main()</a:t>
            </a:r>
          </a:p>
          <a:p>
            <a:r>
              <a:rPr lang="tr-TR" dirty="0"/>
              <a:t>{</a:t>
            </a:r>
          </a:p>
          <a:p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kelimeler[3][20];   // 3 adet </a:t>
            </a:r>
            <a:r>
              <a:rPr lang="tr-TR" dirty="0" err="1"/>
              <a:t>string</a:t>
            </a:r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</a:t>
            </a:r>
            <a:r>
              <a:rPr lang="tr-TR" dirty="0" err="1"/>
              <a:t>temp</a:t>
            </a:r>
            <a:r>
              <a:rPr lang="tr-TR" dirty="0"/>
              <a:t>[20];           // Yer değiştirme için</a:t>
            </a:r>
          </a:p>
          <a:p>
            <a:r>
              <a:rPr lang="tr-TR" dirty="0"/>
              <a:t>    </a:t>
            </a:r>
            <a:r>
              <a:rPr lang="tr-TR" dirty="0" err="1"/>
              <a:t>int</a:t>
            </a:r>
            <a:r>
              <a:rPr lang="tr-TR" dirty="0"/>
              <a:t> i, j;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srand</a:t>
            </a:r>
            <a:r>
              <a:rPr lang="tr-TR" dirty="0"/>
              <a:t>(time(NULL));       // </a:t>
            </a:r>
            <a:r>
              <a:rPr lang="tr-TR" dirty="0" err="1"/>
              <a:t>Rastgelelik</a:t>
            </a:r>
            <a:r>
              <a:rPr lang="tr-TR" dirty="0"/>
              <a:t> başlatılır</a:t>
            </a:r>
          </a:p>
          <a:p>
            <a:endParaRPr lang="tr-TR" dirty="0"/>
          </a:p>
          <a:p>
            <a:r>
              <a:rPr lang="tr-TR" dirty="0"/>
              <a:t>    // Rastgele 3 kelime üretme</a:t>
            </a:r>
          </a:p>
          <a:p>
            <a:r>
              <a:rPr lang="tr-TR" dirty="0"/>
              <a:t>    </a:t>
            </a:r>
            <a:r>
              <a:rPr lang="tr-TR" dirty="0" err="1"/>
              <a:t>for</a:t>
            </a:r>
            <a:r>
              <a:rPr lang="tr-TR" dirty="0"/>
              <a:t> (i = 0; i &lt; 3; i++) {</a:t>
            </a:r>
          </a:p>
          <a:p>
            <a:r>
              <a:rPr lang="tr-TR" dirty="0"/>
              <a:t>        </a:t>
            </a:r>
            <a:r>
              <a:rPr lang="tr-TR" dirty="0" err="1"/>
              <a:t>for</a:t>
            </a:r>
            <a:r>
              <a:rPr lang="tr-TR" dirty="0"/>
              <a:t> (j = 0; j &lt; 5; j++) {</a:t>
            </a:r>
          </a:p>
          <a:p>
            <a:r>
              <a:rPr lang="tr-TR" dirty="0"/>
              <a:t>            kelimeler[i][j] = 'a' + </a:t>
            </a:r>
            <a:r>
              <a:rPr lang="tr-TR" dirty="0" err="1"/>
              <a:t>rand</a:t>
            </a:r>
            <a:r>
              <a:rPr lang="tr-TR" dirty="0"/>
              <a:t>() % 26; // a-z arası harf</a:t>
            </a:r>
          </a:p>
          <a:p>
            <a:r>
              <a:rPr lang="tr-TR" dirty="0"/>
              <a:t>        }</a:t>
            </a:r>
          </a:p>
          <a:p>
            <a:r>
              <a:rPr lang="tr-TR" dirty="0"/>
              <a:t>        kelimeler[i][5] = '\0'; // </a:t>
            </a:r>
            <a:r>
              <a:rPr lang="tr-TR" dirty="0" err="1"/>
              <a:t>string</a:t>
            </a:r>
            <a:r>
              <a:rPr lang="tr-TR" dirty="0"/>
              <a:t> sonu</a:t>
            </a:r>
          </a:p>
          <a:p>
            <a:r>
              <a:rPr lang="tr-TR" dirty="0"/>
              <a:t>    }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("Rastgele </a:t>
            </a:r>
            <a:r>
              <a:rPr lang="tr-TR" dirty="0" err="1"/>
              <a:t>uretilen</a:t>
            </a:r>
            <a:r>
              <a:rPr lang="tr-TR" dirty="0"/>
              <a:t> kelimeler:\n");</a:t>
            </a:r>
          </a:p>
          <a:p>
            <a:r>
              <a:rPr lang="tr-TR" dirty="0"/>
              <a:t>    </a:t>
            </a:r>
            <a:r>
              <a:rPr lang="tr-TR" dirty="0" err="1"/>
              <a:t>for</a:t>
            </a:r>
            <a:r>
              <a:rPr lang="tr-TR" dirty="0"/>
              <a:t> (i = 0; i &lt; 3; i++) {</a:t>
            </a:r>
          </a:p>
          <a:p>
            <a:r>
              <a:rPr lang="tr-TR" dirty="0"/>
              <a:t>        </a:t>
            </a:r>
            <a:r>
              <a:rPr lang="tr-TR" dirty="0" err="1"/>
              <a:t>printf</a:t>
            </a:r>
            <a:r>
              <a:rPr lang="tr-TR" dirty="0"/>
              <a:t>("%s\n", kelimeler[i]);</a:t>
            </a:r>
          </a:p>
          <a:p>
            <a:r>
              <a:rPr lang="tr-TR" dirty="0"/>
              <a:t>    }</a:t>
            </a:r>
          </a:p>
          <a:p>
            <a:endParaRPr lang="tr-TR" dirty="0"/>
          </a:p>
          <a:p>
            <a:r>
              <a:rPr lang="tr-TR" dirty="0"/>
              <a:t>    // Alfabetik sıralama (</a:t>
            </a:r>
            <a:r>
              <a:rPr lang="tr-TR" dirty="0" err="1"/>
              <a:t>Bubble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 mantığı)</a:t>
            </a:r>
          </a:p>
          <a:p>
            <a:r>
              <a:rPr lang="tr-TR" dirty="0"/>
              <a:t>    </a:t>
            </a:r>
            <a:r>
              <a:rPr lang="tr-TR" dirty="0" err="1"/>
              <a:t>for</a:t>
            </a:r>
            <a:r>
              <a:rPr lang="tr-TR" dirty="0"/>
              <a:t> (i = 0; i &lt; 3 - 1; i++) {</a:t>
            </a:r>
          </a:p>
          <a:p>
            <a:r>
              <a:rPr lang="tr-TR" dirty="0"/>
              <a:t>        </a:t>
            </a:r>
            <a:r>
              <a:rPr lang="tr-TR" dirty="0" err="1"/>
              <a:t>for</a:t>
            </a:r>
            <a:r>
              <a:rPr lang="tr-TR" dirty="0"/>
              <a:t> (j = i + 1; j &lt; 3; j++) {</a:t>
            </a:r>
          </a:p>
          <a:p>
            <a:r>
              <a:rPr lang="tr-TR" dirty="0"/>
              <a:t>            </a:t>
            </a:r>
            <a:r>
              <a:rPr lang="tr-TR" dirty="0" err="1"/>
              <a:t>if</a:t>
            </a:r>
            <a:r>
              <a:rPr lang="tr-TR" dirty="0"/>
              <a:t> (</a:t>
            </a:r>
            <a:r>
              <a:rPr lang="tr-TR" dirty="0" err="1"/>
              <a:t>strcmp</a:t>
            </a:r>
            <a:r>
              <a:rPr lang="tr-TR" dirty="0"/>
              <a:t>(kelimeler[i], kelimeler[j]) &gt; 0) {</a:t>
            </a:r>
          </a:p>
          <a:p>
            <a:r>
              <a:rPr lang="tr-TR" dirty="0"/>
              <a:t>                </a:t>
            </a:r>
            <a:r>
              <a:rPr lang="tr-TR" dirty="0" err="1"/>
              <a:t>strcpy</a:t>
            </a:r>
            <a:r>
              <a:rPr lang="tr-TR" dirty="0"/>
              <a:t>(</a:t>
            </a:r>
            <a:r>
              <a:rPr lang="tr-TR" dirty="0" err="1"/>
              <a:t>temp</a:t>
            </a:r>
            <a:r>
              <a:rPr lang="tr-TR" dirty="0"/>
              <a:t>, kelimeler[i]);</a:t>
            </a:r>
          </a:p>
          <a:p>
            <a:r>
              <a:rPr lang="tr-TR" dirty="0"/>
              <a:t>                </a:t>
            </a:r>
            <a:r>
              <a:rPr lang="tr-TR" dirty="0" err="1"/>
              <a:t>strcpy</a:t>
            </a:r>
            <a:r>
              <a:rPr lang="tr-TR" dirty="0"/>
              <a:t>(kelimeler[i], kelimeler[j]);</a:t>
            </a:r>
          </a:p>
          <a:p>
            <a:r>
              <a:rPr lang="tr-TR" dirty="0"/>
              <a:t>                </a:t>
            </a:r>
            <a:r>
              <a:rPr lang="tr-TR" dirty="0" err="1"/>
              <a:t>strcpy</a:t>
            </a:r>
            <a:r>
              <a:rPr lang="tr-TR" dirty="0"/>
              <a:t>(kelimeler[j], </a:t>
            </a:r>
            <a:r>
              <a:rPr lang="tr-TR" dirty="0" err="1"/>
              <a:t>temp</a:t>
            </a:r>
            <a:r>
              <a:rPr lang="tr-TR" dirty="0"/>
              <a:t>);</a:t>
            </a:r>
          </a:p>
          <a:p>
            <a:r>
              <a:rPr lang="tr-TR" dirty="0"/>
              <a:t>            }</a:t>
            </a:r>
          </a:p>
          <a:p>
            <a:r>
              <a:rPr lang="tr-TR" dirty="0"/>
              <a:t>        }</a:t>
            </a:r>
          </a:p>
          <a:p>
            <a:r>
              <a:rPr lang="tr-TR" dirty="0"/>
              <a:t>    }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("\</a:t>
            </a:r>
            <a:r>
              <a:rPr lang="tr-TR" dirty="0" err="1"/>
              <a:t>nAlfabetik</a:t>
            </a:r>
            <a:r>
              <a:rPr lang="tr-TR" dirty="0"/>
              <a:t> </a:t>
            </a:r>
            <a:r>
              <a:rPr lang="tr-TR" dirty="0" err="1"/>
              <a:t>sirali</a:t>
            </a:r>
            <a:r>
              <a:rPr lang="tr-TR" dirty="0"/>
              <a:t> hali:\n");</a:t>
            </a:r>
          </a:p>
          <a:p>
            <a:r>
              <a:rPr lang="tr-TR" dirty="0"/>
              <a:t>    </a:t>
            </a:r>
            <a:r>
              <a:rPr lang="tr-TR" dirty="0" err="1"/>
              <a:t>for</a:t>
            </a:r>
            <a:r>
              <a:rPr lang="tr-TR" dirty="0"/>
              <a:t> (i = 0; i &lt; 3; i++) {</a:t>
            </a:r>
          </a:p>
          <a:p>
            <a:r>
              <a:rPr lang="tr-TR" dirty="0"/>
              <a:t>        </a:t>
            </a:r>
            <a:r>
              <a:rPr lang="tr-TR" dirty="0" err="1"/>
              <a:t>printf</a:t>
            </a:r>
            <a:r>
              <a:rPr lang="tr-TR" dirty="0"/>
              <a:t>("%s\n", kelimeler[i]);</a:t>
            </a:r>
          </a:p>
          <a:p>
            <a:r>
              <a:rPr lang="tr-TR" dirty="0"/>
              <a:t>    }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60944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#include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/>
              <a:t>#include &lt;</a:t>
            </a:r>
            <a:r>
              <a:rPr lang="tr-TR" dirty="0" err="1"/>
              <a:t>ctype.h</a:t>
            </a:r>
            <a:r>
              <a:rPr lang="tr-TR" dirty="0"/>
              <a:t>&gt;   // </a:t>
            </a:r>
            <a:r>
              <a:rPr lang="tr-TR" dirty="0" err="1"/>
              <a:t>isdigit</a:t>
            </a:r>
            <a:r>
              <a:rPr lang="tr-TR" dirty="0"/>
              <a:t> fonksiyonu için</a:t>
            </a:r>
          </a:p>
          <a:p>
            <a:r>
              <a:rPr lang="tr-TR" dirty="0" err="1"/>
              <a:t>int</a:t>
            </a:r>
            <a:r>
              <a:rPr lang="tr-TR" dirty="0"/>
              <a:t> main()</a:t>
            </a:r>
          </a:p>
          <a:p>
            <a:r>
              <a:rPr lang="tr-TR" dirty="0"/>
              <a:t>{ </a:t>
            </a:r>
            <a:r>
              <a:rPr lang="tr-TR" dirty="0" err="1"/>
              <a:t>char</a:t>
            </a:r>
            <a:r>
              <a:rPr lang="tr-TR" dirty="0"/>
              <a:t> metin[50] = "-C20Programlama 101";</a:t>
            </a:r>
          </a:p>
          <a:p>
            <a:r>
              <a:rPr lang="tr-TR" dirty="0"/>
              <a:t>    </a:t>
            </a:r>
            <a:r>
              <a:rPr lang="tr-TR" dirty="0" err="1"/>
              <a:t>int</a:t>
            </a:r>
            <a:r>
              <a:rPr lang="tr-TR" dirty="0"/>
              <a:t> i, </a:t>
            </a:r>
            <a:r>
              <a:rPr lang="tr-TR" dirty="0" err="1"/>
              <a:t>sayac</a:t>
            </a:r>
            <a:r>
              <a:rPr lang="tr-TR" dirty="0"/>
              <a:t> = 0;</a:t>
            </a:r>
          </a:p>
          <a:p>
            <a:r>
              <a:rPr lang="tr-TR" dirty="0"/>
              <a:t>    </a:t>
            </a:r>
            <a:r>
              <a:rPr lang="tr-TR" dirty="0" err="1"/>
              <a:t>for</a:t>
            </a:r>
            <a:r>
              <a:rPr lang="tr-TR" dirty="0"/>
              <a:t> (i = 0; metin[i] != '\0'; i++) {</a:t>
            </a:r>
          </a:p>
          <a:p>
            <a:r>
              <a:rPr lang="tr-TR" dirty="0"/>
              <a:t>        </a:t>
            </a:r>
            <a:r>
              <a:rPr lang="tr-TR" dirty="0" err="1"/>
              <a:t>if</a:t>
            </a:r>
            <a:r>
              <a:rPr lang="tr-TR" dirty="0"/>
              <a:t> (</a:t>
            </a:r>
            <a:r>
              <a:rPr lang="tr-TR" dirty="0" err="1"/>
              <a:t>isdigit</a:t>
            </a:r>
            <a:r>
              <a:rPr lang="tr-TR" dirty="0"/>
              <a:t>(metin[i])) {   // Karakter rakam mı?</a:t>
            </a:r>
          </a:p>
          <a:p>
            <a:r>
              <a:rPr lang="tr-TR" dirty="0"/>
              <a:t>            </a:t>
            </a:r>
            <a:r>
              <a:rPr lang="tr-TR" dirty="0" err="1"/>
              <a:t>sayac</a:t>
            </a:r>
            <a:r>
              <a:rPr lang="tr-TR" dirty="0"/>
              <a:t>++;</a:t>
            </a:r>
          </a:p>
          <a:p>
            <a:r>
              <a:rPr lang="tr-TR" dirty="0"/>
              <a:t>        }</a:t>
            </a:r>
          </a:p>
          <a:p>
            <a:r>
              <a:rPr lang="tr-TR" dirty="0"/>
              <a:t>    }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("Metin </a:t>
            </a:r>
            <a:r>
              <a:rPr lang="tr-TR" dirty="0" err="1"/>
              <a:t>icindeki</a:t>
            </a:r>
            <a:r>
              <a:rPr lang="tr-TR" dirty="0"/>
              <a:t> rakam </a:t>
            </a:r>
            <a:r>
              <a:rPr lang="tr-TR" dirty="0" err="1"/>
              <a:t>sayisi</a:t>
            </a:r>
            <a:r>
              <a:rPr lang="tr-TR" dirty="0"/>
              <a:t>: %d\n", </a:t>
            </a:r>
            <a:r>
              <a:rPr lang="tr-TR" dirty="0" err="1"/>
              <a:t>sayac</a:t>
            </a:r>
            <a:r>
              <a:rPr lang="tr-TR" dirty="0"/>
              <a:t>);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49544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6493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Dikdörtgen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ikdörtgen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Başlık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8 Alt Başlık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27 Veri Yer Tutucusu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A62E8E6-019D-4547-B98E-4729AF7EE185}" type="datetime1">
              <a:rPr lang="tr-TR" smtClean="0"/>
              <a:t>18.12.2025</a:t>
            </a:fld>
            <a:endParaRPr lang="tr-TR"/>
          </a:p>
        </p:txBody>
      </p:sp>
      <p:sp>
        <p:nvSpPr>
          <p:cNvPr id="17" name="16 Altbilgi Yer Tutucusu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tr-TR"/>
              <a:t>YZM 1101 – Algoritma ve Programlama I</a:t>
            </a:r>
          </a:p>
        </p:txBody>
      </p:sp>
      <p:sp>
        <p:nvSpPr>
          <p:cNvPr id="29" name="28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501C0-68AA-4318-AC5B-E4EDCCED901A}" type="datetime1">
              <a:rPr lang="tr-TR" smtClean="0"/>
              <a:t>18.12.2025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YZM 1101 – Algoritma ve Programlama I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İçerik Yer Tutucusu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7" name="6 Dikdörtgen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Dikdörtgen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2" name="1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03A1-F4A9-4D24-B401-B0FA691FA541}" type="datetime1">
              <a:rPr lang="tr-TR" smtClean="0"/>
              <a:t>18.12.2025</a:t>
            </a:fld>
            <a:endParaRPr lang="tr-TR"/>
          </a:p>
        </p:txBody>
      </p:sp>
      <p:sp>
        <p:nvSpPr>
          <p:cNvPr id="13" name="12 Slayt Numarası Yer Tutucusu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4" name="13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tr-TR"/>
              <a:t>YZM 1101 – Algoritma ve Programlama 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8" name="7 Veri Yer Tutucusu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6ED02F5-41FC-4F5E-AA47-141B0FF1997A}" type="datetime1">
              <a:rPr lang="tr-TR" smtClean="0"/>
              <a:t>18.12.2025</a:t>
            </a:fld>
            <a:endParaRPr lang="tr-TR"/>
          </a:p>
        </p:txBody>
      </p:sp>
      <p:sp>
        <p:nvSpPr>
          <p:cNvPr id="10" name="9 Slayt Numarası Yer Tutucusu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2" name="11 Altbilgi Yer Tutucusu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tr-TR"/>
              <a:t>YZM 1101 – Algoritma ve Programlama I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12 İçerik Yer Tutucusu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6D5B4DC-754E-4FBF-AE66-2CD7C9F4B539}" type="datetime1">
              <a:rPr lang="tr-TR" smtClean="0"/>
              <a:t>18.12.2025</a:t>
            </a:fld>
            <a:endParaRPr lang="tr-TR"/>
          </a:p>
        </p:txBody>
      </p:sp>
      <p:sp>
        <p:nvSpPr>
          <p:cNvPr id="12" name="11 Slayt Numarası Yer Tutucusu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4" name="13 Altbilgi Yer Tutucusu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tr-TR"/>
              <a:t>YZM 1101 – Algoritma ve Programlama I</a:t>
            </a:r>
          </a:p>
        </p:txBody>
      </p:sp>
      <p:sp>
        <p:nvSpPr>
          <p:cNvPr id="16" name="15 Metin Yer Tutucusu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5" name="14 Metin Yer Tutucusu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66B9-F5DF-4E1D-9957-7419DFCAE44D}" type="datetime1">
              <a:rPr lang="tr-TR" smtClean="0"/>
              <a:t>18.12.2025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YZM 1101 – Algoritma ve Programlama I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594A2-A77B-4DCB-8B3D-EAA9FAD5017A}" type="datetime1">
              <a:rPr lang="tr-TR" smtClean="0"/>
              <a:t>18.12.2025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YZM 1101 – Algoritma ve Programlama I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10BF-D591-4A1E-8A99-E4F05D3860F7}" type="datetime1">
              <a:rPr lang="tr-TR" smtClean="0"/>
              <a:t>18.12.2025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YZM 1101 – Algoritma ve Programlama I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8" name="7 Dikdörtgen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1" name="10 Dikdörtgen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Veri Yer Tutucusu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7E3E812-923A-4908-8148-947618C23296}" type="datetime1">
              <a:rPr lang="tr-TR" smtClean="0"/>
              <a:t>18.12.2025</a:t>
            </a:fld>
            <a:endParaRPr lang="tr-TR"/>
          </a:p>
        </p:txBody>
      </p:sp>
      <p:sp>
        <p:nvSpPr>
          <p:cNvPr id="13" name="12 Slayt Numarası Yer Tutucusu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4" name="13 Altbilgi Yer Tutucusu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tr-TR"/>
              <a:t>YZM 1101 – Algoritma ve Programlama I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r-TR"/>
              <a:t>Resim eklemek için simgeyi tıklatın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DED65-81C9-4ADB-9A6E-106228E1603B}" type="datetime1">
              <a:rPr lang="tr-TR" smtClean="0"/>
              <a:t>18.12.2025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YZM 1101 – Algoritma ve Programlama I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AFB9C645-079D-4C01-B5A3-866F74291DAB}" type="datetime1">
              <a:rPr lang="tr-TR" smtClean="0"/>
              <a:t>18.12.2025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tr-TR"/>
              <a:t>YZM 1101 – Algoritma ve Programlama I</a:t>
            </a:r>
          </a:p>
        </p:txBody>
      </p:sp>
      <p:sp>
        <p:nvSpPr>
          <p:cNvPr id="7" name="6 Dikdörtgen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Dikdörtgen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Başlık Yer Tutucusu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12 Metin Yer Tutucusu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13 Veri Yer Tutucusu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519C70-8203-459A-98A9-E0C056AF8EFE}" type="datetime1">
              <a:rPr lang="tr-TR" smtClean="0"/>
              <a:t>18.12.2025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tr-TR"/>
              <a:t>YZM 1101 – Algoritma ve Programlama I</a:t>
            </a:r>
          </a:p>
        </p:txBody>
      </p:sp>
      <p:sp>
        <p:nvSpPr>
          <p:cNvPr id="7" name="6 Dikdörtgen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Dikdörtgen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tr.wikipedia.org/wiki/Code::Blocks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1.gantep.edu.tr/~bingul/c" TargetMode="External"/><Relationship Id="rId5" Type="http://schemas.openxmlformats.org/officeDocument/2006/relationships/hyperlink" Target="http://www.algoritmaveprogramlama.com/" TargetMode="External"/><Relationship Id="rId4" Type="http://schemas.openxmlformats.org/officeDocument/2006/relationships/hyperlink" Target="http://www.codeblock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Başlık"/>
          <p:cNvSpPr>
            <a:spLocks noGrp="1"/>
          </p:cNvSpPr>
          <p:nvPr>
            <p:ph type="ctrTitle"/>
          </p:nvPr>
        </p:nvSpPr>
        <p:spPr>
          <a:xfrm>
            <a:off x="104775" y="2062146"/>
            <a:ext cx="8929718" cy="1581168"/>
          </a:xfrm>
        </p:spPr>
        <p:txBody>
          <a:bodyPr>
            <a:normAutofit/>
          </a:bodyPr>
          <a:lstStyle/>
          <a:p>
            <a:pPr algn="ctr"/>
            <a:r>
              <a:rPr lang="tr-TR" sz="3400" dirty="0">
                <a:latin typeface="Times New Roman" pitchFamily="18" charset="0"/>
                <a:cs typeface="Times New Roman" pitchFamily="18" charset="0"/>
              </a:rPr>
              <a:t>ALGORİTMA </a:t>
            </a:r>
            <a:r>
              <a:rPr lang="tr-TR" sz="3400" cap="none" dirty="0">
                <a:latin typeface="Times New Roman" pitchFamily="18" charset="0"/>
                <a:cs typeface="Times New Roman" pitchFamily="18" charset="0"/>
              </a:rPr>
              <a:t>ve</a:t>
            </a:r>
            <a:r>
              <a:rPr lang="tr-TR" sz="3400" dirty="0">
                <a:latin typeface="Times New Roman" pitchFamily="18" charset="0"/>
                <a:cs typeface="Times New Roman" pitchFamily="18" charset="0"/>
              </a:rPr>
              <a:t> Programlama</a:t>
            </a:r>
            <a:br>
              <a:rPr lang="tr-TR" sz="2400" dirty="0">
                <a:latin typeface="Times New Roman" pitchFamily="18" charset="0"/>
                <a:cs typeface="Times New Roman" pitchFamily="18" charset="0"/>
              </a:rPr>
            </a:br>
            <a:br>
              <a:rPr lang="tr-TR" sz="1200" dirty="0">
                <a:latin typeface="Times New Roman" pitchFamily="18" charset="0"/>
                <a:cs typeface="Times New Roman" pitchFamily="18" charset="0"/>
              </a:rPr>
            </a:br>
            <a:endParaRPr lang="tr-TR" sz="3600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2 Alt Başlık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>
            <a:normAutofit/>
          </a:bodyPr>
          <a:lstStyle/>
          <a:p>
            <a:pPr algn="ctr"/>
            <a:endParaRPr lang="tr-TR" dirty="0"/>
          </a:p>
        </p:txBody>
      </p:sp>
      <p:sp>
        <p:nvSpPr>
          <p:cNvPr id="6" name="2 Alt Başlık"/>
          <p:cNvSpPr txBox="1">
            <a:spLocks/>
          </p:cNvSpPr>
          <p:nvPr/>
        </p:nvSpPr>
        <p:spPr>
          <a:xfrm>
            <a:off x="0" y="6072206"/>
            <a:ext cx="2214546" cy="685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endParaRPr lang="tr-TR" sz="26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031318" cy="990600"/>
          </a:xfrm>
        </p:spPr>
        <p:txBody>
          <a:bodyPr/>
          <a:lstStyle/>
          <a:p>
            <a:pPr algn="ctr"/>
            <a:endParaRPr lang="tr-TR" dirty="0">
              <a:solidFill>
                <a:srgbClr val="808000"/>
              </a:solidFill>
            </a:endParaRPr>
          </a:p>
        </p:txBody>
      </p:sp>
      <p:sp>
        <p:nvSpPr>
          <p:cNvPr id="4" name="2 İçerik Yer Tutucusu"/>
          <p:cNvSpPr>
            <a:spLocks noGrp="1"/>
          </p:cNvSpPr>
          <p:nvPr>
            <p:ph sz="quarter" idx="1"/>
          </p:nvPr>
        </p:nvSpPr>
        <p:spPr>
          <a:xfrm>
            <a:off x="107504" y="2714620"/>
            <a:ext cx="8928992" cy="147161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tr-TR" sz="4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Karakter Dizileri</a:t>
            </a: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494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959880" cy="4781128"/>
          </a:xfrm>
        </p:spPr>
        <p:txBody>
          <a:bodyPr>
            <a:normAutofit/>
          </a:bodyPr>
          <a:lstStyle/>
          <a:p>
            <a:pPr>
              <a:buSzPct val="100000"/>
              <a:buFont typeface="Arial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Karakter Dizileri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Karakter Dizilerini Okumak ve Yazmak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Karakter Dizilerinin Uzunluğunu Bulmak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Karakter Dizilerini Birleştirmek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Karakter Dizisi Kopyalamak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Karakter Dizilerini Karşılaştırmak</a:t>
            </a:r>
          </a:p>
          <a:p>
            <a:pPr marL="0" indent="0">
              <a:buSzPct val="100000"/>
              <a:buNone/>
            </a:pPr>
            <a:endParaRPr lang="tr-TR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SzPct val="100000"/>
              <a:buFont typeface="Arial" pitchFamily="34" charset="0"/>
              <a:buChar char="•"/>
            </a:pPr>
            <a:endParaRPr lang="tr-TR" sz="2100" dirty="0">
              <a:latin typeface="Times New Roman" pitchFamily="18" charset="0"/>
              <a:cs typeface="Times New Roman" pitchFamily="18" charset="0"/>
            </a:endParaRPr>
          </a:p>
          <a:p>
            <a:pPr>
              <a:buSzPct val="100000"/>
              <a:buFont typeface="Arial" pitchFamily="34" charset="0"/>
              <a:buChar char="•"/>
            </a:pPr>
            <a:endParaRPr lang="tr-TR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SzPct val="100000"/>
              <a:buFont typeface="Arial" pitchFamily="34" charset="0"/>
              <a:buChar char="•"/>
            </a:pPr>
            <a:endParaRPr lang="tr-TR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SzPct val="100000"/>
              <a:buFont typeface="Arial" pitchFamily="34" charset="0"/>
              <a:buChar char="•"/>
            </a:pPr>
            <a:endParaRPr lang="tr-T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dirty="0">
                <a:latin typeface="Times New Roman" pitchFamily="18" charset="0"/>
                <a:cs typeface="Times New Roman" pitchFamily="18" charset="0"/>
              </a:rPr>
              <a:t>Genel Bakış…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8208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Dizileri (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Strings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tr-TR" sz="21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8"/>
            <a:ext cx="7991800" cy="4566486"/>
          </a:xfrm>
        </p:spPr>
        <p:txBody>
          <a:bodyPr>
            <a:noAutofit/>
          </a:bodyPr>
          <a:lstStyle/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Bazı programlama dillerinde karakter dizilerini tutmak için </a:t>
            </a:r>
            <a:r>
              <a:rPr lang="tr-T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 veri türleri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vb.) bulunmaktadır.</a:t>
            </a:r>
          </a:p>
          <a:p>
            <a:pPr marL="0" indent="0" algn="just">
              <a:buSzPct val="100000"/>
              <a:buNone/>
            </a:pPr>
            <a:endParaRPr lang="tr-T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Ancak C programlama dilinde böyle bir veri türü olmadığı için yerine </a:t>
            </a:r>
            <a:r>
              <a:rPr lang="tr-T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karakterlerden oluşan bir boyutlu diziler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kullanılır.</a:t>
            </a:r>
          </a:p>
          <a:p>
            <a:pPr marL="0" indent="0" algn="just">
              <a:buSzPct val="100000"/>
              <a:buNone/>
            </a:pPr>
            <a:endParaRPr lang="tr-T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Karakter dizilerine özel olarak, karakter dizilerinin sonuna </a:t>
            </a:r>
            <a:r>
              <a:rPr lang="tr-T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sonlandırıcı karakter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olarak adlandırılan bir simge eklenir.</a:t>
            </a:r>
          </a:p>
          <a:p>
            <a:pPr marL="0" indent="0" algn="just">
              <a:buSzPct val="100000"/>
              <a:buNone/>
            </a:pPr>
            <a:endParaRPr lang="tr-T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Sonlandırıcı karakter:</a:t>
            </a:r>
          </a:p>
          <a:p>
            <a:pPr lvl="1" algn="just">
              <a:buSzPct val="100000"/>
              <a:buFont typeface="Wingdings" panose="05000000000000000000" pitchFamily="2" charset="2"/>
              <a:buChar char="§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Dizinin bittiği yeri gösterir.</a:t>
            </a:r>
          </a:p>
          <a:p>
            <a:pPr lvl="1" algn="just">
              <a:buSzPct val="100000"/>
              <a:buFont typeface="Wingdings" panose="05000000000000000000" pitchFamily="2" charset="2"/>
              <a:buChar char="§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 tablosunun </a:t>
            </a:r>
            <a:r>
              <a:rPr lang="tr-T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sıfır numaralı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('</a:t>
            </a:r>
            <a:r>
              <a:rPr lang="tr-T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\0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 karakteridir.</a:t>
            </a:r>
          </a:p>
        </p:txBody>
      </p:sp>
    </p:spTree>
    <p:extLst>
      <p:ext uri="{BB962C8B-B14F-4D97-AF65-F5344CB8AC3E}">
        <p14:creationId xmlns:p14="http://schemas.microsoft.com/office/powerpoint/2010/main" val="918855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Dizileri (</a:t>
            </a:r>
            <a:r>
              <a:rPr lang="tr-TR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Strings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tr-TR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devam…</a:t>
            </a:r>
          </a:p>
        </p:txBody>
      </p:sp>
      <p:sp>
        <p:nvSpPr>
          <p:cNvPr id="6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8"/>
            <a:ext cx="7991800" cy="4782510"/>
          </a:xfrm>
        </p:spPr>
        <p:txBody>
          <a:bodyPr>
            <a:noAutofit/>
          </a:bodyPr>
          <a:lstStyle/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Karakter dizilerine iki şekilde başlangıç değeri verilebilir:</a:t>
            </a:r>
          </a:p>
          <a:p>
            <a:pPr marL="0" indent="0" algn="just" defTabSz="536575">
              <a:buSzPct val="100000"/>
              <a:buNone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tr-TR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(1) </a:t>
            </a:r>
            <a:r>
              <a:rPr lang="tr-TR" sz="1900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tr-TR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s[7] </a:t>
            </a:r>
            <a:r>
              <a:rPr lang="tr-TR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= {'</a:t>
            </a:r>
            <a:r>
              <a:rPr lang="tr-TR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d','e','n','e','m','e</a:t>
            </a:r>
            <a:r>
              <a:rPr lang="tr-TR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','\0'};</a:t>
            </a:r>
          </a:p>
          <a:p>
            <a:pPr marL="0" indent="0" algn="just" defTabSz="536575">
              <a:spcAft>
                <a:spcPts val="800"/>
              </a:spcAft>
              <a:buSzPct val="100000"/>
              <a:buNone/>
            </a:pPr>
            <a:r>
              <a:rPr lang="tr-TR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(2) </a:t>
            </a:r>
            <a:r>
              <a:rPr lang="tr-TR" sz="1900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tr-TR" sz="19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s[7] </a:t>
            </a:r>
            <a:r>
              <a:rPr lang="tr-TR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= "deneme";</a:t>
            </a:r>
          </a:p>
          <a:p>
            <a:pPr marL="0" indent="0" algn="just">
              <a:buSzPct val="100000"/>
              <a:buNone/>
            </a:pPr>
            <a:endParaRPr lang="tr-TR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Birinci tanımlamada sonlandırıcı karakter programcı tarafından konmalıdır. </a:t>
            </a:r>
          </a:p>
          <a:p>
            <a:pPr marL="0" indent="0" algn="just">
              <a:buSzPct val="100000"/>
              <a:buNone/>
            </a:pPr>
            <a:endParaRPr lang="tr-T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İkinci tanımlamada ise buna gerek yoktur. Çünkü, sonlandırıcı karakter bu atamayla, derleyici tarafından eklenir.</a:t>
            </a:r>
          </a:p>
        </p:txBody>
      </p:sp>
    </p:spTree>
    <p:extLst>
      <p:ext uri="{BB962C8B-B14F-4D97-AF65-F5344CB8AC3E}">
        <p14:creationId xmlns:p14="http://schemas.microsoft.com/office/powerpoint/2010/main" val="1123429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Dizilerini Okumak</a:t>
            </a:r>
            <a:endParaRPr lang="tr-TR" sz="19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8"/>
            <a:ext cx="7991800" cy="4782510"/>
          </a:xfrm>
        </p:spPr>
        <p:txBody>
          <a:bodyPr>
            <a:noAutofit/>
          </a:bodyPr>
          <a:lstStyle/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karakter dizisini klavyeden okumak için C'nin standart </a:t>
            </a:r>
            <a:r>
              <a:rPr lang="tr-T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</a:t>
            </a:r>
            <a:r>
              <a:rPr lang="tr-T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 kullanılır. </a:t>
            </a:r>
          </a:p>
          <a:p>
            <a:pPr marL="268288" indent="-268288" algn="just">
              <a:buSzPct val="100000"/>
              <a:buNone/>
            </a:pPr>
            <a:endParaRPr lang="tr-T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dışında yeni bir kitaplığı C programına dahil etmeye gerek yoktur. </a:t>
            </a:r>
          </a:p>
          <a:p>
            <a:pPr marL="268288" indent="-268288" algn="just">
              <a:buSzPct val="100000"/>
              <a:buNone/>
            </a:pPr>
            <a:endParaRPr lang="tr-T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fonksiyon herhangi bir indeks tanımlamadan karakter dizilerinin okunmasını sağlar. </a:t>
            </a:r>
          </a:p>
          <a:p>
            <a:pPr marL="268288" indent="-268288" algn="just">
              <a:buSzPct val="100000"/>
              <a:buNone/>
            </a:pPr>
            <a:endParaRPr lang="tr-T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Okuduğu karakter dizisinin sonuna satır sonu işaretini değil, </a:t>
            </a:r>
            <a:r>
              <a:rPr lang="tr-T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değerini yerleştirir. </a:t>
            </a:r>
          </a:p>
        </p:txBody>
      </p:sp>
    </p:spTree>
    <p:extLst>
      <p:ext uri="{BB962C8B-B14F-4D97-AF65-F5344CB8AC3E}">
        <p14:creationId xmlns:p14="http://schemas.microsoft.com/office/powerpoint/2010/main" val="3967559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Dizilerini Okumak </a:t>
            </a:r>
            <a:r>
              <a:rPr lang="tr-TR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6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8"/>
            <a:ext cx="7991800" cy="4782510"/>
          </a:xfrm>
        </p:spPr>
        <p:txBody>
          <a:bodyPr>
            <a:noAutofit/>
          </a:bodyPr>
          <a:lstStyle/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gets</a:t>
            </a:r>
            <a:r>
              <a:rPr lang="tr-T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fonksiyonu, klavyeden girilen karakter dizilerini, herhangi bir ek tanımlamaya gerek duymadan bir dizi içine yerleştirir. </a:t>
            </a:r>
          </a:p>
          <a:p>
            <a:pPr marL="0" indent="0" algn="just">
              <a:buSzPct val="100000"/>
              <a:buNone/>
            </a:pPr>
            <a:endParaRPr lang="tr-T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Dizinin her bir karakteri dizinin farklı bir hücresi içine yerleşir.</a:t>
            </a:r>
          </a:p>
          <a:p>
            <a:pPr marL="0" indent="0" algn="just">
              <a:buSzPct val="100000"/>
              <a:buNone/>
            </a:pPr>
            <a:endParaRPr lang="tr-T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Örnek: </a:t>
            </a:r>
          </a:p>
          <a:p>
            <a:pPr marL="0" indent="0" algn="just">
              <a:buSzPct val="100000"/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ad[20];</a:t>
            </a:r>
          </a:p>
          <a:p>
            <a:pPr marL="0" indent="0" algn="just">
              <a:buSzPct val="100000"/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	...</a:t>
            </a:r>
          </a:p>
          <a:p>
            <a:pPr marL="0" indent="0" algn="just">
              <a:buSzPct val="100000"/>
              <a:buNone/>
            </a:pP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tr-T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</a:t>
            </a:r>
            <a:r>
              <a:rPr lang="tr-T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(ad);</a:t>
            </a:r>
          </a:p>
        </p:txBody>
      </p:sp>
    </p:spTree>
    <p:extLst>
      <p:ext uri="{BB962C8B-B14F-4D97-AF65-F5344CB8AC3E}">
        <p14:creationId xmlns:p14="http://schemas.microsoft.com/office/powerpoint/2010/main" val="2010771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 fontScale="90000"/>
          </a:bodyPr>
          <a:lstStyle/>
          <a:p>
            <a:r>
              <a:rPr lang="tr-TR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Örnek-1: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Dizisi Okuma ve Yazma</a:t>
            </a:r>
            <a:endParaRPr lang="tr-TR" sz="21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8"/>
            <a:ext cx="7991800" cy="4782510"/>
          </a:xfrm>
        </p:spPr>
        <p:txBody>
          <a:bodyPr>
            <a:noAutofit/>
          </a:bodyPr>
          <a:lstStyle/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Maksimum 50 karakter okuyabilecek bir karakter dizisi tanımlayın.</a:t>
            </a:r>
          </a:p>
          <a:p>
            <a:pPr marL="268288" indent="-268288" algn="just">
              <a:buSzPct val="100000"/>
              <a:buNone/>
            </a:pPr>
            <a:endParaRPr lang="tr-T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Klavyeden karakter dizisini okuyun ve ekrana karakterleri yazdırın.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 tek karakterleri yazdırın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Tüm metni tek seferde yazdırın</a:t>
            </a:r>
          </a:p>
          <a:p>
            <a:pPr marL="0" indent="0" algn="just">
              <a:buSzPct val="100000"/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36096" y="3912341"/>
            <a:ext cx="2808312" cy="202020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97097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 fontScale="90000"/>
          </a:bodyPr>
          <a:lstStyle/>
          <a:p>
            <a:r>
              <a:rPr lang="tr-TR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Örnek-1: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Dizisi Okuma ve Yazma </a:t>
            </a:r>
            <a:r>
              <a:rPr lang="tr-T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  <a:endParaRPr lang="tr-TR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40152" y="1916832"/>
            <a:ext cx="2808312" cy="202020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4176"/>
            <a:ext cx="7416825" cy="6813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1781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58BAFA9-EAA6-45C9-A7BC-59D25B05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30E81AE9-AACE-4B1D-BFA3-F0C87CB3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2269BBC-2B29-41CD-8E16-5C52F96BEC8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tr-TR" dirty="0"/>
              <a:t>#include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endParaRPr lang="tr-TR" dirty="0"/>
          </a:p>
          <a:p>
            <a:r>
              <a:rPr lang="tr-TR" dirty="0" err="1"/>
              <a:t>int</a:t>
            </a:r>
            <a:r>
              <a:rPr lang="tr-TR" dirty="0"/>
              <a:t> main()</a:t>
            </a:r>
          </a:p>
          <a:p>
            <a:r>
              <a:rPr lang="tr-TR" dirty="0"/>
              <a:t>{</a:t>
            </a:r>
          </a:p>
          <a:p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dizi[50];</a:t>
            </a:r>
          </a:p>
          <a:p>
            <a:r>
              <a:rPr lang="tr-TR" dirty="0"/>
              <a:t>    </a:t>
            </a:r>
            <a:r>
              <a:rPr lang="tr-TR" dirty="0" err="1"/>
              <a:t>int</a:t>
            </a:r>
            <a:r>
              <a:rPr lang="tr-TR" dirty="0"/>
              <a:t> i, </a:t>
            </a:r>
            <a:r>
              <a:rPr lang="tr-TR" dirty="0" err="1"/>
              <a:t>sayac</a:t>
            </a:r>
            <a:r>
              <a:rPr lang="tr-TR" dirty="0"/>
              <a:t> = 0;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("Metni giriniz: ");</a:t>
            </a:r>
          </a:p>
          <a:p>
            <a:r>
              <a:rPr lang="tr-TR" sz="6200" dirty="0"/>
              <a:t>    </a:t>
            </a:r>
            <a:r>
              <a:rPr lang="tr-TR" sz="6200" dirty="0" err="1"/>
              <a:t>fgets</a:t>
            </a:r>
            <a:r>
              <a:rPr lang="tr-TR" sz="6200" dirty="0"/>
              <a:t>(dizi, 50, </a:t>
            </a:r>
            <a:r>
              <a:rPr lang="tr-TR" sz="6200" dirty="0" err="1"/>
              <a:t>stdin</a:t>
            </a:r>
            <a:r>
              <a:rPr lang="tr-TR" sz="6200" dirty="0"/>
              <a:t>);</a:t>
            </a:r>
          </a:p>
          <a:p>
            <a:r>
              <a:rPr lang="tr-TR" dirty="0"/>
              <a:t>    </a:t>
            </a:r>
            <a:r>
              <a:rPr lang="tr-TR" dirty="0" err="1"/>
              <a:t>for</a:t>
            </a:r>
            <a:r>
              <a:rPr lang="tr-TR" dirty="0"/>
              <a:t> (i = 0; dizi[i] != '\0'; i++) {</a:t>
            </a:r>
          </a:p>
          <a:p>
            <a:r>
              <a:rPr lang="tr-TR" dirty="0"/>
              <a:t>        </a:t>
            </a:r>
            <a:r>
              <a:rPr lang="tr-TR" dirty="0" err="1"/>
              <a:t>if</a:t>
            </a:r>
            <a:r>
              <a:rPr lang="tr-TR" dirty="0"/>
              <a:t> (dizi[i] == 'c' || dizi[i] == 'C') {</a:t>
            </a:r>
          </a:p>
          <a:p>
            <a:r>
              <a:rPr lang="tr-TR" dirty="0"/>
              <a:t>            </a:t>
            </a:r>
            <a:r>
              <a:rPr lang="tr-TR" dirty="0" err="1"/>
              <a:t>sayac</a:t>
            </a:r>
            <a:r>
              <a:rPr lang="tr-TR" dirty="0"/>
              <a:t>++;  } </a:t>
            </a:r>
          </a:p>
          <a:p>
            <a:r>
              <a:rPr lang="tr-TR" dirty="0"/>
              <a:t>			</a:t>
            </a:r>
          </a:p>
          <a:p>
            <a:r>
              <a:rPr lang="tr-TR" dirty="0"/>
              <a:t>			}</a:t>
            </a:r>
          </a:p>
          <a:p>
            <a:r>
              <a:rPr lang="tr-TR" dirty="0"/>
              <a:t>  </a:t>
            </a:r>
            <a:r>
              <a:rPr lang="tr-TR" dirty="0" err="1"/>
              <a:t>if</a:t>
            </a:r>
            <a:r>
              <a:rPr lang="tr-TR" dirty="0"/>
              <a:t> (</a:t>
            </a:r>
            <a:r>
              <a:rPr lang="tr-TR" dirty="0" err="1"/>
              <a:t>sayac</a:t>
            </a:r>
            <a:r>
              <a:rPr lang="tr-TR" dirty="0"/>
              <a:t>==0) </a:t>
            </a:r>
          </a:p>
          <a:p>
            <a:r>
              <a:rPr lang="tr-TR" dirty="0"/>
              <a:t>  </a:t>
            </a:r>
            <a:r>
              <a:rPr lang="tr-TR" dirty="0" err="1"/>
              <a:t>printf</a:t>
            </a:r>
            <a:r>
              <a:rPr lang="tr-TR" dirty="0"/>
              <a:t>("c veya C karakteri YOK");</a:t>
            </a:r>
          </a:p>
          <a:p>
            <a:r>
              <a:rPr lang="tr-TR" dirty="0"/>
              <a:t>  else</a:t>
            </a:r>
          </a:p>
          <a:p>
            <a:r>
              <a:rPr lang="tr-TR" dirty="0"/>
              <a:t>  </a:t>
            </a:r>
            <a:r>
              <a:rPr lang="tr-TR" dirty="0" err="1"/>
              <a:t>printf</a:t>
            </a:r>
            <a:r>
              <a:rPr lang="tr-TR" dirty="0"/>
              <a:t>("c veya C karakteri </a:t>
            </a:r>
            <a:r>
              <a:rPr lang="tr-TR" dirty="0" err="1"/>
              <a:t>sayisi</a:t>
            </a:r>
            <a:r>
              <a:rPr lang="tr-TR" dirty="0"/>
              <a:t>: %d\n", </a:t>
            </a:r>
            <a:r>
              <a:rPr lang="tr-TR" dirty="0" err="1"/>
              <a:t>sayac</a:t>
            </a:r>
            <a:r>
              <a:rPr lang="tr-TR" dirty="0"/>
              <a:t>);</a:t>
            </a:r>
          </a:p>
          <a:p>
            <a:r>
              <a:rPr lang="tr-TR" dirty="0"/>
              <a:t>    </a:t>
            </a:r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1875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11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Dizilerinin Uzunluğu Bulmak</a:t>
            </a:r>
            <a:endParaRPr lang="tr-TR" sz="19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8"/>
            <a:ext cx="8063808" cy="4782510"/>
          </a:xfrm>
        </p:spPr>
        <p:txBody>
          <a:bodyPr>
            <a:no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Bazı uygulamalarda bir karakter dizisinin uzunluğunu bulmak gerekebilir.</a:t>
            </a:r>
          </a:p>
          <a:p>
            <a:pPr marL="0" indent="0" algn="just">
              <a:buSzPct val="100000"/>
              <a:buNone/>
            </a:pPr>
            <a:r>
              <a:rPr lang="tr-T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karakter dizisinin uzunluğunu, yani kaç karakter içerdiğini bulmak için C'nin standart </a:t>
            </a:r>
            <a:r>
              <a:rPr lang="tr-TR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tr-T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 kullanılır.</a:t>
            </a:r>
          </a:p>
          <a:p>
            <a:pPr marL="0" indent="0" algn="just">
              <a:buSzPct val="100000"/>
              <a:buNone/>
            </a:pPr>
            <a:r>
              <a:rPr lang="tr-T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Uzunluk bulunurken, içerdiği en son karakter olan </a:t>
            </a:r>
            <a:r>
              <a:rPr lang="tr-T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karakteri </a:t>
            </a:r>
            <a:r>
              <a:rPr lang="tr-T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göz özüne alınmaz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SzPct val="100000"/>
              <a:buNone/>
            </a:pPr>
            <a:endParaRPr lang="tr-T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Örneğin, karakter dizisi </a:t>
            </a:r>
            <a:r>
              <a:rPr lang="tr-T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tr-T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değerlerini içeriyorsa, </a:t>
            </a:r>
            <a:r>
              <a:rPr lang="tr-TR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tr-T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 bu uzunluk olarak </a:t>
            </a:r>
            <a:r>
              <a:rPr lang="tr-T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"3"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değerini döndürür.</a:t>
            </a:r>
          </a:p>
        </p:txBody>
      </p:sp>
    </p:spTree>
    <p:extLst>
      <p:ext uri="{BB962C8B-B14F-4D97-AF65-F5344CB8AC3E}">
        <p14:creationId xmlns:p14="http://schemas.microsoft.com/office/powerpoint/2010/main" val="1867524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12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 fontScale="90000"/>
          </a:bodyPr>
          <a:lstStyle/>
          <a:p>
            <a:r>
              <a:rPr lang="tr-TR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Örnek-2: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tr-TR" sz="3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Girilen Karakter Dizisinin Uzunluğunu Bulmak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tr-TR" sz="21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9992" y="5085184"/>
            <a:ext cx="3735768" cy="41169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62" y="1582306"/>
            <a:ext cx="4301624" cy="32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4681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13</a:t>
            </a:fld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>
          <a:xfrm>
            <a:off x="289012" y="476672"/>
            <a:ext cx="8370512" cy="6267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stdlib.h</a:t>
            </a:r>
            <a:r>
              <a:rPr lang="tr-TR" dirty="0"/>
              <a:t>&gt;</a:t>
            </a:r>
          </a:p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string.h</a:t>
            </a:r>
            <a:r>
              <a:rPr lang="tr-TR" dirty="0"/>
              <a:t>&gt;</a:t>
            </a:r>
          </a:p>
          <a:p>
            <a:pPr marL="0" indent="0">
              <a:buNone/>
            </a:pPr>
            <a:r>
              <a:rPr lang="tr-TR" dirty="0" err="1"/>
              <a:t>int</a:t>
            </a:r>
            <a:r>
              <a:rPr lang="tr-TR" dirty="0"/>
              <a:t> main()</a:t>
            </a:r>
          </a:p>
          <a:p>
            <a:pPr marL="0" indent="0">
              <a:buNone/>
            </a:pPr>
            <a:r>
              <a:rPr lang="tr-TR" dirty="0"/>
              <a:t>{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dizi[50];</a:t>
            </a:r>
          </a:p>
          <a:p>
            <a:pPr marL="0" indent="0">
              <a:buNone/>
            </a:pPr>
            <a:r>
              <a:rPr lang="tr-TR" dirty="0"/>
              <a:t>     </a:t>
            </a:r>
            <a:r>
              <a:rPr lang="tr-TR" dirty="0" err="1"/>
              <a:t>int</a:t>
            </a:r>
            <a:r>
              <a:rPr lang="tr-TR" dirty="0"/>
              <a:t>  </a:t>
            </a:r>
            <a:r>
              <a:rPr lang="tr-TR" dirty="0" err="1"/>
              <a:t>i,k</a:t>
            </a:r>
            <a:r>
              <a:rPr lang="tr-TR" dirty="0"/>
              <a:t>=0;</a:t>
            </a:r>
          </a:p>
          <a:p>
            <a:pPr marL="0" indent="0">
              <a:buNone/>
            </a:pPr>
            <a:r>
              <a:rPr lang="tr-TR" dirty="0"/>
              <a:t>  </a:t>
            </a:r>
            <a:r>
              <a:rPr lang="tr-TR" dirty="0" err="1"/>
              <a:t>char</a:t>
            </a:r>
            <a:r>
              <a:rPr lang="tr-TR" dirty="0"/>
              <a:t> b;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Lutfen</a:t>
            </a:r>
            <a:r>
              <a:rPr lang="tr-TR" dirty="0"/>
              <a:t> metni giriniz: ");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gets</a:t>
            </a:r>
            <a:r>
              <a:rPr lang="tr-TR" dirty="0"/>
              <a:t>(dizi);</a:t>
            </a:r>
          </a:p>
          <a:p>
            <a:pPr marL="0" indent="0">
              <a:buNone/>
            </a:pPr>
            <a:r>
              <a:rPr lang="tr-TR" dirty="0"/>
              <a:t>    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Lutfen</a:t>
            </a:r>
            <a:r>
              <a:rPr lang="tr-TR" dirty="0"/>
              <a:t> </a:t>
            </a:r>
            <a:r>
              <a:rPr lang="tr-TR" dirty="0" err="1"/>
              <a:t>aradiginiz</a:t>
            </a:r>
            <a:r>
              <a:rPr lang="tr-TR" dirty="0"/>
              <a:t> karakteri giriniz: ");</a:t>
            </a:r>
          </a:p>
          <a:p>
            <a:pPr marL="0" indent="0">
              <a:buNone/>
            </a:pPr>
            <a:r>
              <a:rPr lang="tr-TR" dirty="0"/>
              <a:t>   </a:t>
            </a:r>
            <a:r>
              <a:rPr lang="tr-TR" dirty="0" err="1"/>
              <a:t>scanf</a:t>
            </a:r>
            <a:r>
              <a:rPr lang="tr-TR" dirty="0"/>
              <a:t>("%c", &amp;b);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("Uzunluk:%d", </a:t>
            </a:r>
            <a:r>
              <a:rPr lang="tr-TR" dirty="0" err="1"/>
              <a:t>strlen</a:t>
            </a:r>
            <a:r>
              <a:rPr lang="tr-TR" dirty="0"/>
              <a:t>(dizi));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for</a:t>
            </a:r>
            <a:r>
              <a:rPr lang="tr-TR" dirty="0"/>
              <a:t> (i=0; i&lt;</a:t>
            </a:r>
            <a:r>
              <a:rPr lang="tr-TR" dirty="0" err="1"/>
              <a:t>strlen</a:t>
            </a:r>
            <a:r>
              <a:rPr lang="tr-TR" dirty="0"/>
              <a:t>(dizi);i++)</a:t>
            </a:r>
          </a:p>
          <a:p>
            <a:pPr marL="0" indent="0">
              <a:buNone/>
            </a:pPr>
            <a:r>
              <a:rPr lang="tr-TR" dirty="0"/>
              <a:t>      </a:t>
            </a:r>
            <a:r>
              <a:rPr lang="tr-TR" dirty="0" err="1"/>
              <a:t>if</a:t>
            </a:r>
            <a:r>
              <a:rPr lang="tr-TR" dirty="0"/>
              <a:t>( dizi[i]== b ) k++;</a:t>
            </a:r>
          </a:p>
          <a:p>
            <a:pPr marL="0" indent="0">
              <a:buNone/>
            </a:pPr>
            <a:r>
              <a:rPr lang="tr-TR" dirty="0"/>
              <a:t>     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 dizinin </a:t>
            </a:r>
            <a:r>
              <a:rPr lang="tr-TR" dirty="0" err="1"/>
              <a:t>icinde</a:t>
            </a:r>
            <a:r>
              <a:rPr lang="tr-TR" dirty="0"/>
              <a:t> %d tane %c  karakteri var\n", k, b);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pPr marL="0" indent="0">
              <a:buNone/>
            </a:pPr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3479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14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Dizilerini Birleştirmek</a:t>
            </a:r>
            <a:endParaRPr lang="tr-TR" sz="19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8"/>
            <a:ext cx="7991800" cy="4782510"/>
          </a:xfrm>
        </p:spPr>
        <p:txBody>
          <a:bodyPr>
            <a:no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İki karakter dizisini birleştirilerek tek bir karakter dizisi haline dönüştürmek için C'nin </a:t>
            </a:r>
            <a:r>
              <a:rPr lang="tr-TR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tr-TR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 kullanılır.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fonksiyon, var olan bir karakter dizisinin sonuna bir başka karakter dizisini ekleyecektir.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Örneğin </a:t>
            </a:r>
            <a:r>
              <a:rPr lang="tr-TR" sz="20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tr-TR" sz="2000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tr-TR" sz="20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karakter dizisinin sonuna </a:t>
            </a:r>
            <a:r>
              <a:rPr lang="tr-TR" sz="20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"def"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karakter dizisi </a:t>
            </a:r>
            <a:r>
              <a:rPr lang="tr-TR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tr-TR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 kullanılarak eklenebilir.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03176" y="3836664"/>
            <a:ext cx="4548081" cy="24213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Metin kutusu 2"/>
          <p:cNvSpPr txBox="1"/>
          <p:nvPr/>
        </p:nvSpPr>
        <p:spPr>
          <a:xfrm>
            <a:off x="4211960" y="5085184"/>
            <a:ext cx="1080120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 err="1"/>
              <a:t>strcat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96350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48680"/>
            <a:ext cx="5976677" cy="6129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 fontScale="90000"/>
          </a:bodyPr>
          <a:lstStyle/>
          <a:p>
            <a:r>
              <a:rPr lang="tr-TR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Örnek-3: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Girilen Karakter Dizilerini Birleştirmek</a:t>
            </a:r>
            <a:endParaRPr lang="tr-TR" sz="21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496" y="255577"/>
            <a:ext cx="4437000" cy="151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8341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16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Dizisi Kopyalama</a:t>
            </a:r>
            <a:endParaRPr lang="tr-TR" sz="19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8"/>
            <a:ext cx="7991800" cy="4782510"/>
          </a:xfrm>
        </p:spPr>
        <p:txBody>
          <a:bodyPr>
            <a:noAutofit/>
          </a:bodyPr>
          <a:lstStyle/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Karakter dizilerine direk atama yapılamamaktadır. </a:t>
            </a:r>
          </a:p>
          <a:p>
            <a:pPr marL="268288" indent="-268288" algn="just">
              <a:buSzPct val="100000"/>
              <a:buFont typeface="Arial" panose="020B0604020202020204" pitchFamily="34" charset="0"/>
              <a:buChar char="•"/>
            </a:pP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Örneğin aşağıdaki atama ifadesi yanlıştır:</a:t>
            </a:r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0040" lvl="1" indent="0" algn="just">
              <a:buSzPct val="100000"/>
              <a:buNone/>
            </a:pPr>
            <a:endParaRPr lang="tr-T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 algn="just">
              <a:buSzPct val="100000"/>
              <a:buNone/>
            </a:pPr>
            <a:r>
              <a:rPr lang="tr-TR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tr-TR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dizi[50];</a:t>
            </a:r>
          </a:p>
          <a:p>
            <a:pPr marL="320040" lvl="1" indent="0" algn="just">
              <a:buSzPct val="100000"/>
              <a:buNone/>
            </a:pPr>
            <a:r>
              <a:rPr lang="tr-TR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dizi = "</a:t>
            </a:r>
            <a:r>
              <a:rPr lang="tr-TR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abcde</a:t>
            </a:r>
            <a:r>
              <a:rPr lang="tr-TR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Çünkü bu atama göstergeye yapılan atamadır.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Göstergelerin ne olduğunu daha sonra detaylı olarak ele alınacaktır.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Atamanın bir karakter dizisine yapılabilmesi için, C'nin standart </a:t>
            </a:r>
            <a:r>
              <a:rPr lang="tr-TR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tr-TR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 kullanılır.</a:t>
            </a:r>
          </a:p>
        </p:txBody>
      </p:sp>
    </p:spTree>
    <p:extLst>
      <p:ext uri="{BB962C8B-B14F-4D97-AF65-F5344CB8AC3E}">
        <p14:creationId xmlns:p14="http://schemas.microsoft.com/office/powerpoint/2010/main" val="4143201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64" y="1582306"/>
            <a:ext cx="4053324" cy="36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17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 fontScale="90000"/>
          </a:bodyPr>
          <a:lstStyle/>
          <a:p>
            <a:r>
              <a:rPr lang="tr-TR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Örnek-4: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Dizilerini Kopyalamak</a:t>
            </a:r>
            <a:endParaRPr lang="tr-TR" sz="21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35139" y="4581128"/>
            <a:ext cx="3296775" cy="40163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82562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18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Dizilerini Karşılaştırmak</a:t>
            </a:r>
            <a:endParaRPr lang="tr-TR" sz="19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8"/>
            <a:ext cx="7991800" cy="4782510"/>
          </a:xfrm>
        </p:spPr>
        <p:txBody>
          <a:bodyPr>
            <a:no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İki karakter dizisinin birbirleriyle karşılaştırılarak, içerdiği karakterlerin aynı olup olmadıkları test edilebilir.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amaçla </a:t>
            </a:r>
            <a:r>
              <a:rPr lang="tr-TR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tr-TR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 kullanılır.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Karşılaştırma sonucunda, </a:t>
            </a:r>
            <a:r>
              <a:rPr lang="tr-TR" sz="20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 iki karakter dizisi birbirinin aynı ise "0"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tr-TR" sz="20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birbirinden farklı ise "1"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değeri üretilir. Elde edilen bu değer kullanılarak programın akışı yönlendirilebilir.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39080" y="3789040"/>
            <a:ext cx="6298518" cy="25194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5249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38" y="1653210"/>
            <a:ext cx="5102561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19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 fontScale="90000"/>
          </a:bodyPr>
          <a:lstStyle/>
          <a:p>
            <a:r>
              <a:rPr lang="tr-TR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Örnek-5: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Karakter Dizilerini Karşılaştırmak</a:t>
            </a:r>
            <a:endParaRPr lang="tr-TR" sz="21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24572" y="5445224"/>
            <a:ext cx="3773241" cy="27386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13065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1E1F24-81AB-4606-B209-C81317FF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3D6D4A2B-7F89-4144-A54C-084F0E54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20</a:t>
            </a:fld>
            <a:endParaRPr lang="tr-TR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3BBDD3E-2384-4D0F-897B-0030F6F9A0F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tr-TR" dirty="0"/>
              <a:t>#include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/>
              <a:t>#include &lt;</a:t>
            </a:r>
            <a:r>
              <a:rPr lang="tr-TR" dirty="0" err="1"/>
              <a:t>string.h</a:t>
            </a:r>
            <a:r>
              <a:rPr lang="tr-TR" dirty="0"/>
              <a:t>&gt;</a:t>
            </a:r>
          </a:p>
          <a:p>
            <a:endParaRPr lang="tr-TR" dirty="0"/>
          </a:p>
          <a:p>
            <a:r>
              <a:rPr lang="tr-TR" dirty="0" err="1"/>
              <a:t>int</a:t>
            </a:r>
            <a:r>
              <a:rPr lang="tr-TR" dirty="0"/>
              <a:t> main()</a:t>
            </a:r>
          </a:p>
          <a:p>
            <a:r>
              <a:rPr lang="tr-TR" dirty="0"/>
              <a:t>{</a:t>
            </a:r>
          </a:p>
          <a:p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a[] = "Ali";</a:t>
            </a:r>
          </a:p>
          <a:p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b[] = "Veli";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int</a:t>
            </a:r>
            <a:r>
              <a:rPr lang="tr-TR" dirty="0"/>
              <a:t> </a:t>
            </a:r>
            <a:r>
              <a:rPr lang="tr-TR" dirty="0" err="1"/>
              <a:t>sonuc</a:t>
            </a:r>
            <a:r>
              <a:rPr lang="tr-TR" dirty="0"/>
              <a:t> = </a:t>
            </a:r>
            <a:r>
              <a:rPr lang="tr-TR" dirty="0" err="1"/>
              <a:t>strcmp</a:t>
            </a:r>
            <a:r>
              <a:rPr lang="tr-TR" dirty="0"/>
              <a:t>(a, b);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if</a:t>
            </a:r>
            <a:r>
              <a:rPr lang="tr-TR" dirty="0"/>
              <a:t> (</a:t>
            </a:r>
            <a:r>
              <a:rPr lang="tr-TR" dirty="0" err="1"/>
              <a:t>sonuc</a:t>
            </a:r>
            <a:r>
              <a:rPr lang="tr-TR" dirty="0"/>
              <a:t> &lt; 0)</a:t>
            </a:r>
          </a:p>
          <a:p>
            <a:r>
              <a:rPr lang="tr-TR" dirty="0"/>
              <a:t>     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strcmp</a:t>
            </a:r>
            <a:r>
              <a:rPr lang="tr-TR" dirty="0"/>
              <a:t> negatif (%d) </a:t>
            </a:r>
            <a:r>
              <a:rPr lang="tr-TR" dirty="0" err="1"/>
              <a:t>deger</a:t>
            </a:r>
            <a:r>
              <a:rPr lang="tr-TR" dirty="0"/>
              <a:t> dondurdu.\n", </a:t>
            </a:r>
            <a:r>
              <a:rPr lang="tr-TR" dirty="0" err="1"/>
              <a:t>sonuc</a:t>
            </a:r>
            <a:r>
              <a:rPr lang="tr-TR" dirty="0"/>
              <a:t>);</a:t>
            </a:r>
          </a:p>
          <a:p>
            <a:r>
              <a:rPr lang="tr-TR" dirty="0"/>
              <a:t>    else</a:t>
            </a:r>
          </a:p>
          <a:p>
            <a:r>
              <a:rPr lang="tr-TR" dirty="0"/>
              <a:t>        </a:t>
            </a:r>
            <a:r>
              <a:rPr lang="tr-TR" dirty="0" err="1"/>
              <a:t>printf</a:t>
            </a:r>
            <a:r>
              <a:rPr lang="tr-TR" dirty="0"/>
              <a:t>("</a:t>
            </a:r>
            <a:r>
              <a:rPr lang="tr-TR" dirty="0" err="1"/>
              <a:t>strcmp</a:t>
            </a:r>
            <a:r>
              <a:rPr lang="tr-TR" dirty="0"/>
              <a:t> negatif </a:t>
            </a:r>
            <a:r>
              <a:rPr lang="tr-TR" dirty="0" err="1"/>
              <a:t>degil</a:t>
            </a:r>
            <a:r>
              <a:rPr lang="tr-TR" dirty="0"/>
              <a:t>.\n");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r>
              <a:rPr lang="tr-T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4686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21</a:t>
            </a:fld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b="1" dirty="0" err="1"/>
              <a:t>getch</a:t>
            </a:r>
            <a:r>
              <a:rPr lang="tr-TR" b="1" dirty="0"/>
              <a:t>() ve </a:t>
            </a:r>
            <a:r>
              <a:rPr lang="tr-TR" b="1" dirty="0" err="1"/>
              <a:t>getche</a:t>
            </a:r>
            <a:r>
              <a:rPr lang="tr-TR" b="1" dirty="0"/>
              <a:t>() Fonksiyonları :</a:t>
            </a:r>
            <a:r>
              <a:rPr lang="tr-TR" dirty="0"/>
              <a:t> </a:t>
            </a:r>
            <a:r>
              <a:rPr lang="tr-TR" dirty="0" err="1"/>
              <a:t>getch</a:t>
            </a:r>
            <a:r>
              <a:rPr lang="tr-TR" dirty="0"/>
              <a:t> fonksiyonu aynen </a:t>
            </a:r>
            <a:r>
              <a:rPr lang="tr-TR" dirty="0" err="1"/>
              <a:t>getchar</a:t>
            </a:r>
            <a:r>
              <a:rPr lang="tr-TR" dirty="0"/>
              <a:t> fonksiyonu gibi klavyeden yazılan tek bir karakteri okur. Klavyeden bir karakter girildiğinde okur ve bellek değişkenine atar. </a:t>
            </a:r>
          </a:p>
          <a:p>
            <a:r>
              <a:rPr lang="tr-TR" dirty="0"/>
              <a:t>Ayrıca </a:t>
            </a:r>
            <a:r>
              <a:rPr lang="tr-TR" dirty="0" err="1"/>
              <a:t>enter</a:t>
            </a:r>
            <a:r>
              <a:rPr lang="tr-TR" dirty="0"/>
              <a:t> tuşuna ihtiyacı yoktur. Klavyeden girilen karakter </a:t>
            </a:r>
            <a:r>
              <a:rPr lang="tr-TR" dirty="0" err="1"/>
              <a:t>unsigned</a:t>
            </a:r>
            <a:r>
              <a:rPr lang="tr-TR" dirty="0"/>
              <a:t> </a:t>
            </a:r>
            <a:r>
              <a:rPr lang="tr-TR" dirty="0" err="1"/>
              <a:t>char</a:t>
            </a:r>
            <a:r>
              <a:rPr lang="tr-TR" dirty="0"/>
              <a:t> bir değer olarak okunur ve </a:t>
            </a:r>
            <a:r>
              <a:rPr lang="tr-TR" dirty="0" err="1"/>
              <a:t>int</a:t>
            </a:r>
            <a:r>
              <a:rPr lang="tr-TR" dirty="0"/>
              <a:t> bir değere çevrilir. Sonuçta, klavyeden okunan değer </a:t>
            </a:r>
            <a:r>
              <a:rPr lang="tr-TR" dirty="0" err="1"/>
              <a:t>char</a:t>
            </a:r>
            <a:r>
              <a:rPr lang="tr-TR" dirty="0"/>
              <a:t> bir değişkene atanır. Bu </a:t>
            </a:r>
            <a:r>
              <a:rPr lang="tr-TR" dirty="0" err="1"/>
              <a:t>foksiyon</a:t>
            </a:r>
            <a:r>
              <a:rPr lang="tr-TR" dirty="0"/>
              <a:t> klavye arabelleğini kullanmamaktadır. </a:t>
            </a:r>
          </a:p>
          <a:p>
            <a:r>
              <a:rPr lang="tr-TR" dirty="0"/>
              <a:t>Atama sonrası kullanıcının girdiği karakter ekrana yazdırılmaz. </a:t>
            </a:r>
            <a:r>
              <a:rPr lang="tr-TR" dirty="0" err="1"/>
              <a:t>getche</a:t>
            </a:r>
            <a:r>
              <a:rPr lang="tr-TR" dirty="0"/>
              <a:t> fonksiyonu ise kullanıcı karakter değerini girer girmez </a:t>
            </a:r>
            <a:r>
              <a:rPr lang="tr-TR" dirty="0" err="1"/>
              <a:t>enter</a:t>
            </a:r>
            <a:r>
              <a:rPr lang="tr-TR" dirty="0"/>
              <a:t> tuşunun basılmasını beklemeden okunan değeri bize döndürür. </a:t>
            </a:r>
            <a:r>
              <a:rPr lang="tr-TR" dirty="0" err="1"/>
              <a:t>getche</a:t>
            </a:r>
            <a:r>
              <a:rPr lang="tr-TR" dirty="0"/>
              <a:t> fonksiyonuyla </a:t>
            </a:r>
            <a:r>
              <a:rPr lang="tr-TR" dirty="0" err="1"/>
              <a:t>getch</a:t>
            </a:r>
            <a:r>
              <a:rPr lang="tr-TR" dirty="0"/>
              <a:t> arasındaki farklılık okunan karakter değerini ekrana yazdırmasıdır.</a:t>
            </a:r>
          </a:p>
        </p:txBody>
      </p:sp>
    </p:spTree>
    <p:extLst>
      <p:ext uri="{BB962C8B-B14F-4D97-AF65-F5344CB8AC3E}">
        <p14:creationId xmlns:p14="http://schemas.microsoft.com/office/powerpoint/2010/main" val="1528763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22</a:t>
            </a:fld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1"/>
          </p:nvPr>
        </p:nvSpPr>
        <p:spPr>
          <a:xfrm>
            <a:off x="526503" y="1844824"/>
            <a:ext cx="8153400" cy="4495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/>
              <a:t>int</a:t>
            </a:r>
            <a:r>
              <a:rPr lang="tr-TR" dirty="0"/>
              <a:t> main()</a:t>
            </a:r>
          </a:p>
          <a:p>
            <a:pPr marL="0" indent="0">
              <a:buNone/>
            </a:pPr>
            <a:r>
              <a:rPr lang="tr-TR" dirty="0"/>
              <a:t>{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karakter;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("bir karakter giriniz ve </a:t>
            </a:r>
            <a:r>
              <a:rPr lang="tr-TR" dirty="0" err="1"/>
              <a:t>enter</a:t>
            </a:r>
            <a:r>
              <a:rPr lang="tr-TR" dirty="0"/>
              <a:t> </a:t>
            </a:r>
            <a:r>
              <a:rPr lang="tr-TR" dirty="0" err="1"/>
              <a:t>tusuna</a:t>
            </a:r>
            <a:r>
              <a:rPr lang="tr-TR" dirty="0"/>
              <a:t> </a:t>
            </a:r>
            <a:r>
              <a:rPr lang="tr-TR" dirty="0" err="1"/>
              <a:t>basiniz</a:t>
            </a:r>
            <a:r>
              <a:rPr lang="tr-TR" dirty="0"/>
              <a:t>:");</a:t>
            </a:r>
          </a:p>
          <a:p>
            <a:pPr marL="0" indent="0">
              <a:buNone/>
            </a:pPr>
            <a:r>
              <a:rPr lang="tr-TR" dirty="0"/>
              <a:t>    karakter=</a:t>
            </a:r>
            <a:r>
              <a:rPr lang="tr-TR" dirty="0" err="1"/>
              <a:t>getchar</a:t>
            </a:r>
            <a:r>
              <a:rPr lang="tr-TR" dirty="0"/>
              <a:t>();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printf</a:t>
            </a:r>
            <a:r>
              <a:rPr lang="tr-TR" dirty="0"/>
              <a:t>("girilen karakter:");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putchar</a:t>
            </a:r>
            <a:r>
              <a:rPr lang="tr-TR" dirty="0"/>
              <a:t> (karakter);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return</a:t>
            </a:r>
            <a:r>
              <a:rPr lang="tr-TR" dirty="0"/>
              <a:t> 0;</a:t>
            </a:r>
          </a:p>
          <a:p>
            <a:pPr marL="0" indent="0">
              <a:buNone/>
            </a:pPr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8114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23</a:t>
            </a:fld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isdigit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c);</a:t>
            </a:r>
          </a:p>
          <a:p>
            <a:r>
              <a:rPr lang="tr-TR" dirty="0"/>
              <a:t>Fonksiyona geçirilen c parametre değerinin bir rakam olup olmadığını kontrol eder.</a:t>
            </a:r>
          </a:p>
          <a:p>
            <a:r>
              <a:rPr lang="tr-TR" dirty="0"/>
              <a:t>c: İşlem yapılacak karakter değeridir.</a:t>
            </a:r>
          </a:p>
          <a:p>
            <a:r>
              <a:rPr lang="tr-TR" dirty="0"/>
              <a:t>Eğer karakter bir rakam ise sıfır olmayan bir değer, aksi takdirde 0 değerini geri döndürür.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4356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24</a:t>
            </a:fld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islower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c);</a:t>
            </a:r>
          </a:p>
          <a:p>
            <a:r>
              <a:rPr lang="tr-TR" dirty="0"/>
              <a:t>Fonksiyona geçirilen c parametre değerinin küçük bir harf olup olmadığını kontrol eder.</a:t>
            </a:r>
          </a:p>
          <a:p>
            <a:r>
              <a:rPr lang="tr-TR" dirty="0"/>
              <a:t>c: İşlem yapılacak karakter değeridir.</a:t>
            </a:r>
          </a:p>
          <a:p>
            <a:r>
              <a:rPr lang="tr-TR" dirty="0"/>
              <a:t>Eğer karakter küçük bir harf ise sıfır olmayan bir değer, aksi takdirde 0 değerini geri döndürür.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9374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25</a:t>
            </a:fld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isupper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c);</a:t>
            </a:r>
          </a:p>
          <a:p>
            <a:r>
              <a:rPr lang="tr-TR" dirty="0"/>
              <a:t>Fonksiyona geçirilen c parametre değerinin büyük bir harf olup olmadığını kontrol eder.</a:t>
            </a:r>
          </a:p>
          <a:p>
            <a:r>
              <a:rPr lang="tr-TR" dirty="0"/>
              <a:t>c: İşlem yapılacak karakter değeridir.</a:t>
            </a:r>
          </a:p>
          <a:p>
            <a:r>
              <a:rPr lang="tr-TR" dirty="0"/>
              <a:t>Eğer karakter büyük bir harf ise sıfır olmayan bir değer, aksi takdirde 0 değerini geri döndürür.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05698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26</a:t>
            </a:fld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tolower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c);</a:t>
            </a:r>
          </a:p>
          <a:p>
            <a:r>
              <a:rPr lang="tr-TR" dirty="0"/>
              <a:t>Fonksiyona geçirilen c parametre değerinde yer alan büyük harfi küçük harfe çevirir.</a:t>
            </a:r>
          </a:p>
          <a:p>
            <a:r>
              <a:rPr lang="tr-TR" dirty="0"/>
              <a:t>c: İşlem yapılacak karakter değeridir.</a:t>
            </a:r>
          </a:p>
          <a:p>
            <a:r>
              <a:rPr lang="tr-TR" dirty="0"/>
              <a:t>Parametrede yer alan karakteri küçük harfe çevirerek, eğer küçük harf karşılığı yoksa aynı karakteri geri döndürür.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58897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27</a:t>
            </a:fld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toupper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c);</a:t>
            </a:r>
          </a:p>
          <a:p>
            <a:r>
              <a:rPr lang="tr-TR" dirty="0"/>
              <a:t>Fonksiyona geçirilen c parametre değerinde yer alan küçük harfi büyük harfe çevirir.</a:t>
            </a:r>
          </a:p>
          <a:p>
            <a:r>
              <a:rPr lang="tr-TR" dirty="0"/>
              <a:t>c: İşlem yapılacak karakter değeridir.</a:t>
            </a:r>
          </a:p>
          <a:p>
            <a:r>
              <a:rPr lang="tr-TR" dirty="0"/>
              <a:t>Parametrede yer alan karakteri büyük harfe çevirerek, eğer büyük harf karşılığı yoksa aynı karakteri geri döndürür.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68841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28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KAYNAKLAR</a:t>
            </a:r>
          </a:p>
        </p:txBody>
      </p:sp>
      <p:sp>
        <p:nvSpPr>
          <p:cNvPr id="12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9"/>
            <a:ext cx="7919792" cy="4824537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N. Ercil </a:t>
            </a:r>
            <a:r>
              <a:rPr lang="tr-TR" sz="2400" dirty="0" err="1">
                <a:latin typeface="Times New Roman" pitchFamily="18" charset="0"/>
                <a:cs typeface="Times New Roman" pitchFamily="18" charset="0"/>
              </a:rPr>
              <a:t>Çağıltay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 ve ark., C DERSİ PROGRAMLAMAYA GİRİŞ, Ada Matbaacılık, ANKARA; 2009.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Milli Eğitim Bakanlığı "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Programlamaya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Giriş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Algoritmalar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Ders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Notları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, 2007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  <a:hlinkClick r:id="rId3"/>
              </a:rPr>
              <a:t>http://tr.wikipedia.org/wiki/Code::Blocks</a:t>
            </a:r>
            <a:endParaRPr lang="tr-TR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  <a:hlinkClick r:id="rId4"/>
              </a:rPr>
              <a:t>http://www.codeblocks.org</a:t>
            </a:r>
            <a:endParaRPr lang="tr-TR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  <a:hlinkClick r:id="rId5"/>
              </a:rPr>
              <a:t>http://www.AlgoritmaveProgramlama.com</a:t>
            </a:r>
            <a:endParaRPr lang="tr-TR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  <a:hlinkClick r:id="rId6"/>
              </a:rPr>
              <a:t>http://www1.gantep.edu.tr/~bingul/c</a:t>
            </a:r>
            <a:endParaRPr lang="tr-TR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tr-TR" sz="2400" dirty="0"/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069" y="4011087"/>
            <a:ext cx="1943371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563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talam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talama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35790</TotalTime>
  <Words>2023</Words>
  <Application>Microsoft Office PowerPoint</Application>
  <PresentationFormat>Ekran Gösterisi (4:3)</PresentationFormat>
  <Paragraphs>322</Paragraphs>
  <Slides>28</Slides>
  <Notes>19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28</vt:i4>
      </vt:variant>
    </vt:vector>
  </HeadingPairs>
  <TitlesOfParts>
    <vt:vector size="36" baseType="lpstr">
      <vt:lpstr>Arial</vt:lpstr>
      <vt:lpstr>Calibri</vt:lpstr>
      <vt:lpstr>Courier New</vt:lpstr>
      <vt:lpstr>Times New Roman</vt:lpstr>
      <vt:lpstr>Tw Cen MT</vt:lpstr>
      <vt:lpstr>Wingdings</vt:lpstr>
      <vt:lpstr>Wingdings 2</vt:lpstr>
      <vt:lpstr>Ortalama</vt:lpstr>
      <vt:lpstr>ALGORİTMA ve Programlama  </vt:lpstr>
      <vt:lpstr>PowerPoint Sunusu</vt:lpstr>
      <vt:lpstr>Genel Bakış…</vt:lpstr>
      <vt:lpstr>Karakter Dizileri (Strings)</vt:lpstr>
      <vt:lpstr>Karakter Dizileri (Strings) devam…</vt:lpstr>
      <vt:lpstr>Karakter Dizilerini Okumak</vt:lpstr>
      <vt:lpstr>Karakter Dizilerini Okumak (devam…)</vt:lpstr>
      <vt:lpstr>Örnek-1:  Karakter Dizisi Okuma ve Yazma</vt:lpstr>
      <vt:lpstr>Örnek-1:  Karakter Dizisi Okuma ve Yazma (devam…)</vt:lpstr>
      <vt:lpstr>PowerPoint Sunusu</vt:lpstr>
      <vt:lpstr>Karakter Dizilerinin Uzunluğu Bulmak</vt:lpstr>
      <vt:lpstr>Örnek-2:  Girilen Karakter Dizisinin Uzunluğunu Bulmak </vt:lpstr>
      <vt:lpstr>PowerPoint Sunusu</vt:lpstr>
      <vt:lpstr>Karakter Dizilerini Birleştirmek</vt:lpstr>
      <vt:lpstr>Örnek-3:  Girilen Karakter Dizilerini Birleştirmek</vt:lpstr>
      <vt:lpstr>Karakter Dizisi Kopyalama</vt:lpstr>
      <vt:lpstr>Örnek-4:  Karakter Dizilerini Kopyalamak</vt:lpstr>
      <vt:lpstr>Karakter Dizilerini Karşılaştırmak</vt:lpstr>
      <vt:lpstr>Örnek-5:  Karakter Dizilerini Karşılaştırmak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KAYNAKLAR</vt:lpstr>
    </vt:vector>
  </TitlesOfParts>
  <Company>Maltepe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YAZILIM KALİTESİ  (Concepts of Programming Languages)  Öğr. Gör. Fatih YÜCALAR fatihy@maltepe.edu.tr</dc:title>
  <dc:creator>Fatih Yücalar</dc:creator>
  <cp:lastModifiedBy>marmara</cp:lastModifiedBy>
  <cp:revision>1226</cp:revision>
  <dcterms:created xsi:type="dcterms:W3CDTF">2009-02-19T19:45:44Z</dcterms:created>
  <dcterms:modified xsi:type="dcterms:W3CDTF">2025-12-18T11:37:34Z</dcterms:modified>
</cp:coreProperties>
</file>