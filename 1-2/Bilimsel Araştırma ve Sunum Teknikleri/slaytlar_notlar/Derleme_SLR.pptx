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hbN2kQFJcNR+qXoaefLgg4Txrp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tr-T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Slaydı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8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6200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8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175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oogle Shape;22;p28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23" name="Google Shape;23;p2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8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28"/>
          <p:cNvSpPr txBox="1"/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  <a:defRPr sz="96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" type="subTitle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7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None/>
              <a:defRPr sz="2000"/>
            </a:lvl9pPr>
          </a:lstStyle>
          <a:p/>
        </p:txBody>
      </p:sp>
      <p:sp>
        <p:nvSpPr>
          <p:cNvPr id="27" name="Google Shape;27;p28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2" type="sldNum"/>
          </p:nvPr>
        </p:nvSpPr>
        <p:spPr>
          <a:xfrm>
            <a:off x="9592733" y="4289334"/>
            <a:ext cx="11938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İçerik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3200">
                <a:solidFill>
                  <a:srgbClr val="7030A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 sz="18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5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5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5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5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5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9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pic>
        <p:nvPicPr>
          <p:cNvPr id="36" name="Google Shape;3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65229" y="66502"/>
            <a:ext cx="1414582" cy="143155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 spd="slow" p14:dur="1500"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ölüm Üstbilgisi" showMasterSp="0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0"/>
          <p:cNvSpPr txBox="1"/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  <a:defRPr b="0"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" type="body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30"/>
          <p:cNvSpPr txBox="1"/>
          <p:nvPr>
            <p:ph idx="10" type="dt"/>
          </p:nvPr>
        </p:nvSpPr>
        <p:spPr>
          <a:xfrm>
            <a:off x="8593667" y="6272784"/>
            <a:ext cx="2644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1" type="ftr"/>
          </p:nvPr>
        </p:nvSpPr>
        <p:spPr>
          <a:xfrm>
            <a:off x="2182708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3" name="Google Shape;43;p30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44" name="Google Shape;44;p3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0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30"/>
          <p:cNvSpPr txBox="1"/>
          <p:nvPr>
            <p:ph idx="12" type="sldNum"/>
          </p:nvPr>
        </p:nvSpPr>
        <p:spPr>
          <a:xfrm>
            <a:off x="843702" y="2506133"/>
            <a:ext cx="1188298" cy="72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İki İçerik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1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1"/>
          <p:cNvSpPr txBox="1"/>
          <p:nvPr>
            <p:ph idx="1" type="body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6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6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0" name="Google Shape;50;p31"/>
          <p:cNvSpPr txBox="1"/>
          <p:nvPr>
            <p:ph idx="2" type="body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6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6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rşılaştırma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1066800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1069848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6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6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8" name="Google Shape;58;p32"/>
          <p:cNvSpPr txBox="1"/>
          <p:nvPr>
            <p:ph idx="3" type="body"/>
          </p:nvPr>
        </p:nvSpPr>
        <p:spPr>
          <a:xfrm>
            <a:off x="6364224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59" name="Google Shape;59;p32"/>
          <p:cNvSpPr txBox="1"/>
          <p:nvPr>
            <p:ph idx="4" type="body"/>
          </p:nvPr>
        </p:nvSpPr>
        <p:spPr>
          <a:xfrm>
            <a:off x="6364224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6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6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60" name="Google Shape;60;p32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2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2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alnızca Başlık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3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ş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lı İçerik" showMasterSp="0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5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" type="body"/>
          </p:nvPr>
        </p:nvSpPr>
        <p:spPr>
          <a:xfrm>
            <a:off x="838200" y="685800"/>
            <a:ext cx="6711696" cy="5020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6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6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76" name="Google Shape;76;p35"/>
          <p:cNvSpPr txBox="1"/>
          <p:nvPr>
            <p:ph idx="2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9" name="Google Shape;79;p35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0" name="Google Shape;80;p35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5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35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lı Resim" showMasterSp="0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6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6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6"/>
          <p:cNvSpPr/>
          <p:nvPr>
            <p:ph idx="2" type="pic"/>
          </p:nvPr>
        </p:nvSpPr>
        <p:spPr>
          <a:xfrm>
            <a:off x="0" y="0"/>
            <a:ext cx="8303740" cy="6858000"/>
          </a:xfrm>
          <a:prstGeom prst="rect">
            <a:avLst/>
          </a:prstGeom>
          <a:solidFill>
            <a:srgbClr val="E1DFDF"/>
          </a:solidFill>
          <a:ln>
            <a:noFill/>
          </a:ln>
        </p:spPr>
      </p:sp>
      <p:sp>
        <p:nvSpPr>
          <p:cNvPr id="87" name="Google Shape;87;p36"/>
          <p:cNvSpPr txBox="1"/>
          <p:nvPr>
            <p:ph idx="1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88" name="Google Shape;88;p36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9" name="Google Shape;89;p36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0" name="Google Shape;90;p36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36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" name="Google Shape;92;p36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Dikey Metin" type="vertTx">
  <p:cSld name="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7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7"/>
          <p:cNvSpPr txBox="1"/>
          <p:nvPr>
            <p:ph idx="1" type="body"/>
          </p:nvPr>
        </p:nvSpPr>
        <p:spPr>
          <a:xfrm rot="5400000">
            <a:off x="4073652" y="-882396"/>
            <a:ext cx="4050792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5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5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5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5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5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96" name="Google Shape;96;p37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7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7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key Başlık ve Metin" type="vertTitleAndTx">
  <p:cSld name="VERTICAL_TITLE_AND_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8"/>
          <p:cNvSpPr txBox="1"/>
          <p:nvPr>
            <p:ph type="title"/>
          </p:nvPr>
        </p:nvSpPr>
        <p:spPr>
          <a:xfrm rot="5400000">
            <a:off x="7181850" y="2076450"/>
            <a:ext cx="56388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8"/>
          <p:cNvSpPr txBox="1"/>
          <p:nvPr>
            <p:ph idx="1" type="body"/>
          </p:nvPr>
        </p:nvSpPr>
        <p:spPr>
          <a:xfrm rot="5400000">
            <a:off x="2000250" y="-400050"/>
            <a:ext cx="5638800" cy="75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5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5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5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5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5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102" name="Google Shape;102;p38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8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8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Rockwell"/>
              <a:buNone/>
              <a:defRPr b="0" i="0" sz="5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7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25755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1496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496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496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496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496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496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496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grpSp>
        <p:nvGrpSpPr>
          <p:cNvPr id="14" name="Google Shape;14;p27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5" name="Google Shape;15;p2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7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27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slow" p14:dur="1500"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WUErib-fXV0" TargetMode="External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type="ctrTitle"/>
          </p:nvPr>
        </p:nvSpPr>
        <p:spPr>
          <a:xfrm>
            <a:off x="1562100" y="942975"/>
            <a:ext cx="9071240" cy="449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ckwell"/>
              <a:buNone/>
            </a:pPr>
            <a:r>
              <a:rPr lang="tr-TR" sz="2800"/>
              <a:t>SISTEMATIK HARITALAMA İNCELEMESI? </a:t>
            </a:r>
            <a:br>
              <a:rPr lang="tr-TR" sz="2800"/>
            </a:br>
            <a:br>
              <a:rPr lang="tr-TR" sz="2800"/>
            </a:br>
            <a:br>
              <a:rPr lang="tr-TR" sz="2800"/>
            </a:br>
            <a:r>
              <a:rPr lang="tr-TR" sz="2800"/>
              <a:t>SISTEMATIK LITERATÜR TARAMASI?</a:t>
            </a:r>
            <a:endParaRPr/>
          </a:p>
        </p:txBody>
      </p:sp>
      <p:sp>
        <p:nvSpPr>
          <p:cNvPr id="110" name="Google Shape;110;p1"/>
          <p:cNvSpPr txBox="1"/>
          <p:nvPr>
            <p:ph idx="1" type="subTitle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/>
          </a:p>
        </p:txBody>
      </p:sp>
      <p:sp>
        <p:nvSpPr>
          <p:cNvPr id="111" name="Google Shape;111;p1"/>
          <p:cNvSpPr txBox="1"/>
          <p:nvPr>
            <p:ph idx="12" type="sldNum"/>
          </p:nvPr>
        </p:nvSpPr>
        <p:spPr>
          <a:xfrm>
            <a:off x="9592733" y="4289334"/>
            <a:ext cx="11938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tr-TR"/>
              <a:t>TANIM</a:t>
            </a:r>
            <a:endParaRPr/>
          </a:p>
        </p:txBody>
      </p:sp>
      <p:sp>
        <p:nvSpPr>
          <p:cNvPr id="117" name="Google Shape;117;p2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- "bir alanı inceleme eylemi ...«</a:t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 u="sng">
                <a:solidFill>
                  <a:schemeClr val="hlink"/>
                </a:solidFill>
                <a:hlinkClick r:id="rId3"/>
              </a:rPr>
              <a:t>https://www.youtube.com/watch?v=WUErib-fXV0</a:t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18" name="Google Shape;118;p2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pic>
        <p:nvPicPr>
          <p:cNvPr id="119" name="Google Shape;1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4700" y="1181100"/>
            <a:ext cx="6303412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p14:dur="1500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Sistematik Haritalama İncelemesi?  </a:t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Sistematik Literatür Taraması? Systematic Reviews</a:t>
            </a:r>
            <a:endParaRPr/>
          </a:p>
        </p:txBody>
      </p:sp>
      <p:sp>
        <p:nvSpPr>
          <p:cNvPr id="126" name="Google Shape;126;p3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tr-TR"/>
              <a:t>SISTEMATIK DERLEME-</a:t>
            </a:r>
            <a:br>
              <a:rPr lang="tr-TR"/>
            </a:br>
            <a:r>
              <a:rPr lang="tr-TR"/>
              <a:t>SYSTEMATIC REVIEWS</a:t>
            </a:r>
            <a:endParaRPr/>
          </a:p>
        </p:txBody>
      </p:sp>
      <p:sp>
        <p:nvSpPr>
          <p:cNvPr id="132" name="Google Shape;132;p4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Önyargıyı en aza indirmek için titiz, sistematik ve şeffaf yöntemler kullanır.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Şeffaf, kararların açıkça belgelendiği anlamına gelir.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 Bir şeyle ilgili mevcut kanıtları özetlemek için, belirli bir özelliğin faydaları ve sınırlamalarının ampirik kanıtlarını özetler.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 Daha fazla araştırma yapılabilecek alanlar önermek için mevcut araştırmadaki boşlukları belirlemek.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Yeni araştırma faaliyetlerini uygun şekilde konumlandırmak için bir çerçeve / background- sağlamak.</a:t>
            </a:r>
            <a:endParaRPr/>
          </a:p>
        </p:txBody>
      </p:sp>
      <p:sp>
        <p:nvSpPr>
          <p:cNvPr id="133" name="Google Shape;133;p4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pic>
        <p:nvPicPr>
          <p:cNvPr id="134" name="Google Shape;1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1076" y="144780"/>
            <a:ext cx="2135635" cy="3731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p14:dur="1500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b="1" lang="tr-TR"/>
              <a:t>SYSTEMATIC MAPPING REVIEW </a:t>
            </a:r>
            <a:r>
              <a:rPr lang="tr-TR"/>
              <a:t>SISTEMATIK HARITALAMA İNCELEMESI</a:t>
            </a:r>
            <a:endParaRPr/>
          </a:p>
        </p:txBody>
      </p:sp>
      <p:sp>
        <p:nvSpPr>
          <p:cNvPr id="140" name="Google Shape;140;p5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Hedef - bir araştırma alanına genel bir bakış sağlayın ve mevcut araştırma miktarını, türünü ve sonuçlarını belirleyin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Eğilimleri görmek için zaman içindeki yayın sıklıklarının haritasını çıkarın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Alandaki araştırmaların yayınlandığı dergi/konferansları ve ilgili yazarları belirleyin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Kullanım - araştırmaya başladığınızda ve araştırmanızı yapmak istediğiniz alan hakkında emin değilseniz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Avantajlar - yayınlanabilir ve tezinizin bir bölümü olabilir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Çaba - Yüksek </a:t>
            </a:r>
            <a:endParaRPr/>
          </a:p>
        </p:txBody>
      </p:sp>
      <p:sp>
        <p:nvSpPr>
          <p:cNvPr id="141" name="Google Shape;141;p5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pic>
        <p:nvPicPr>
          <p:cNvPr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1893" y="4964661"/>
            <a:ext cx="5629275" cy="1966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p14:dur="1500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b="1" lang="tr-TR"/>
              <a:t>SYSTEMATIC MAPPING </a:t>
            </a:r>
            <a:r>
              <a:rPr b="1" lang="tr-TR" sz="4000"/>
              <a:t>REVIEW</a:t>
            </a:r>
            <a:br>
              <a:rPr lang="tr-TR"/>
            </a:br>
            <a:r>
              <a:rPr lang="tr-TR"/>
              <a:t>SISTEMATIK LITERATÜR İNCELEMESI</a:t>
            </a:r>
            <a:endParaRPr/>
          </a:p>
        </p:txBody>
      </p:sp>
      <p:sp>
        <p:nvSpPr>
          <p:cNvPr id="148" name="Google Shape;148;p6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b="1" lang="tr-TR"/>
              <a:t>Hedef</a:t>
            </a:r>
            <a:r>
              <a:rPr lang="tr-TR"/>
              <a:t> - </a:t>
            </a:r>
            <a:r>
              <a:rPr b="1" lang="tr-TR"/>
              <a:t>belirli bir araştırma alanında yapılmakta olan araştırmanın durumunu belirtmek ve mevcut çalışmaları tanımlamak</a:t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 Bu araştırma alanındaki açık soruları cevaplamak için yapılır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Konuyla çalışan veya çalışmış olan yazarları ve araştırmalarının hangi noktada yayınlandığını belirleyin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Kullanım - araştırma alanınızı zaten bildiğinizde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Avantajlar - Düzgün yapılırsa bir dergide yayımlanabilir ve kesinlikle bir tez bölümü olacaktır.</a:t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tr-TR"/>
              <a:t> </a:t>
            </a:r>
            <a:r>
              <a:rPr b="1" lang="tr-TR"/>
              <a:t>Çaba - ÇOK YÜKSEK</a:t>
            </a:r>
            <a:endParaRPr/>
          </a:p>
        </p:txBody>
      </p:sp>
      <p:sp>
        <p:nvSpPr>
          <p:cNvPr id="149" name="Google Shape;149;p6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b="1" lang="tr-TR"/>
              <a:t>SYSTEMATIC MAPPING REVIEW</a:t>
            </a:r>
            <a:br>
              <a:rPr lang="tr-TR"/>
            </a:br>
            <a:r>
              <a:rPr lang="tr-TR"/>
              <a:t>SISTEMATIK LITERATÜR İNCELEMESI</a:t>
            </a:r>
            <a:endParaRPr/>
          </a:p>
        </p:txBody>
      </p:sp>
      <p:pic>
        <p:nvPicPr>
          <p:cNvPr id="155" name="Google Shape;155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6392" y="2295568"/>
            <a:ext cx="3850383" cy="434234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tr-TR"/>
              <a:t>SYSTEMATIC MAPPING</a:t>
            </a:r>
            <a:endParaRPr/>
          </a:p>
        </p:txBody>
      </p:sp>
      <p:pic>
        <p:nvPicPr>
          <p:cNvPr id="162" name="Google Shape;162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212" y="2214219"/>
            <a:ext cx="11417387" cy="332184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tr-TR"/>
              <a:t>SISTEMATIK HARITALAMA</a:t>
            </a:r>
            <a:endParaRPr/>
          </a:p>
        </p:txBody>
      </p:sp>
      <p:sp>
        <p:nvSpPr>
          <p:cNvPr id="169" name="Google Shape;169;p9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4929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pic>
        <p:nvPicPr>
          <p:cNvPr id="171" name="Google Shape;1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128" y="2492692"/>
            <a:ext cx="8562975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p14:dur="1500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tr-TR"/>
              <a:t>SISTEMATIK HARITALAMA SORULARI: </a:t>
            </a:r>
            <a:br>
              <a:rPr lang="tr-TR"/>
            </a:br>
            <a:endParaRPr/>
          </a:p>
        </p:txBody>
      </p:sp>
      <p:sp>
        <p:nvSpPr>
          <p:cNvPr id="177" name="Google Shape;177;p10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b="1" lang="tr-TR"/>
              <a:t>Sistematik Haritalama Soruları: </a:t>
            </a:r>
            <a:endParaRPr b="1"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Genel: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AR1: Hangi dergiler “alan” üzerine makaleler içerir?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AS2: En çok araştırılan “alan” konuları nelerdir ve bunlar zaman içinde nasıl değişti?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AS3: En sık uygulanan araştırma yöntemleri nelerdir ve hangi çalışma bağlamında?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Daha özel: AS1: "****" daki hangi alanlar ele alınmaktadır ve kaç makale farklı alanları kapsamaktadır?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AS2: Bu alanda ne tür makaleler yayınlanıyor ve özellikle ne tür değerlendirme ve yenilikleri oluşturuyorlar?</a:t>
            </a:r>
            <a:endParaRPr/>
          </a:p>
        </p:txBody>
      </p:sp>
      <p:sp>
        <p:nvSpPr>
          <p:cNvPr id="178" name="Google Shape;178;p10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tr-TR"/>
              <a:t>HARITALAMA ÖRNEK  ARAŞTIRMA SORULARI</a:t>
            </a:r>
            <a:endParaRPr/>
          </a:p>
        </p:txBody>
      </p:sp>
      <p:sp>
        <p:nvSpPr>
          <p:cNvPr id="184" name="Google Shape;184;p11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91122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tr-TR"/>
              <a:t> </a:t>
            </a:r>
            <a:r>
              <a:rPr b="1" lang="tr-TR"/>
              <a:t>Yazılım hatalarının atanması: bir sistematik literatür haritalaması</a:t>
            </a:r>
            <a:endParaRPr/>
          </a:p>
          <a:p>
            <a:pPr indent="-91122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b="1" lang="tr-TR"/>
              <a:t>HS1: </a:t>
            </a:r>
            <a:r>
              <a:rPr lang="tr-TR"/>
              <a:t>Çalışmaların araştırmaya katkı tipleri: Hata atama konusundaki makalelerden kaç tanesi metot/yöntem, teknik, araç, metrik vb. sunmaktadır? </a:t>
            </a:r>
            <a:endParaRPr/>
          </a:p>
          <a:p>
            <a:pPr indent="-91122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b="1" lang="tr-TR"/>
              <a:t>HS2: </a:t>
            </a:r>
            <a:r>
              <a:rPr lang="tr-TR"/>
              <a:t>Araştırma yöntemi tipleri: Makalelerde hangi araştırma tipleri kullanılmıştır? </a:t>
            </a:r>
            <a:endParaRPr/>
          </a:p>
          <a:p>
            <a:pPr indent="-91122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b="1" lang="tr-TR"/>
              <a:t>HS3: </a:t>
            </a:r>
            <a:r>
              <a:rPr lang="tr-TR"/>
              <a:t>Makine öğrenme yöntemi tipleri: Hata atama konusundaki makalelerde hangi öğrenme yöntemleri kullanılmıştır? </a:t>
            </a:r>
            <a:endParaRPr/>
          </a:p>
          <a:p>
            <a:pPr indent="-91122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b="1" lang="tr-TR"/>
              <a:t>HS4: </a:t>
            </a:r>
            <a:r>
              <a:rPr lang="tr-TR"/>
              <a:t>Teste tabi tutulan projelerin isim ve sayıları: Test edilen sistemde kullanılan projelerin isim ve sayıları nelerdir? </a:t>
            </a:r>
            <a:endParaRPr/>
          </a:p>
          <a:p>
            <a:pPr indent="-91122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-91122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-91122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</p:txBody>
      </p:sp>
      <p:sp>
        <p:nvSpPr>
          <p:cNvPr id="185" name="Google Shape;185;p11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tr-TR"/>
              <a:t>HARITALAMA ÖRNEK  ARAŞTIRMA SORULARI</a:t>
            </a:r>
            <a:endParaRPr/>
          </a:p>
        </p:txBody>
      </p:sp>
      <p:sp>
        <p:nvSpPr>
          <p:cNvPr id="191" name="Google Shape;191;p12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3026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-83026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tr-TR"/>
              <a:t> </a:t>
            </a:r>
            <a:r>
              <a:rPr b="1" lang="tr-TR"/>
              <a:t>Yazılım test edilebilirliği: bir sistematik literatür haritalaması </a:t>
            </a:r>
            <a:endParaRPr/>
          </a:p>
          <a:p>
            <a:pPr indent="-83026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tr-TR"/>
              <a:t>HS 1. Çalışmaların araştırmaya yönelik katkıları nelerdir? Çalışmaların kaç tanesi metot, teknik, model, araç veya süreç sunmaktadır?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tr-TR"/>
              <a:t>HS 2. Çalışmalarda kullanılan araştırma yöntemleri nelerdir?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tr-TR"/>
              <a:t>HS 3. Bir yazılımın test edilebilirlik düzeyi modeller kullanılarak nasıl tahmin edilebilir? Bu modellerin güvenilirlik düzeyleri nasıldır?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tr-TR"/>
              <a:t>HS 4. En çok atıf sayısına sahip makaleler hangileridir?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tr-TR"/>
              <a:t>HS 5. Yapılan çalışmaların endüstri/akademik olmalarına göre dağılımları nasıldır? </a:t>
            </a:r>
            <a:endParaRPr/>
          </a:p>
          <a:p>
            <a:pPr indent="-83026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sp>
        <p:nvSpPr>
          <p:cNvPr id="192" name="Google Shape;192;p12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b="1" lang="tr-TR"/>
              <a:t>SYSTEMATIC REVIEW</a:t>
            </a:r>
            <a:br>
              <a:rPr lang="tr-TR"/>
            </a:br>
            <a:r>
              <a:rPr lang="tr-TR"/>
              <a:t>SISTEMATIK LITERATÜR İNCELEMESI</a:t>
            </a:r>
            <a:endParaRPr/>
          </a:p>
        </p:txBody>
      </p:sp>
      <p:sp>
        <p:nvSpPr>
          <p:cNvPr id="198" name="Google Shape;198;p13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Sistematik Literatür İnceleme Soruları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b="1" lang="tr-TR"/>
              <a:t>Sorular ALANA özeldir</a:t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AS1. Yayınlanmış ampirik çalışmalara göre çevik gereksinim mühendisliği için benimsenen uygulamalar nelerdir?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AS2. Agile gereksinim mühendisliği ile azaltılabilecek geleneksel ihtiyaç mühendisliği zorlukları nelerdir?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AS3. Agile gereksinim mühendisliği'nin zorlukları nelerdir? </a:t>
            </a:r>
            <a:endParaRPr/>
          </a:p>
        </p:txBody>
      </p:sp>
      <p:sp>
        <p:nvSpPr>
          <p:cNvPr id="199" name="Google Shape;199;p13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tr-TR"/>
              <a:t>ÖRNEK</a:t>
            </a:r>
            <a:endParaRPr/>
          </a:p>
        </p:txBody>
      </p:sp>
      <p:sp>
        <p:nvSpPr>
          <p:cNvPr id="205" name="Google Shape;205;p14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83026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tr-TR"/>
              <a:t>Bulut bilişim ortamını kullanarak çevik geliştirmede son teknoloji araştırma nedir?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tr-TR"/>
              <a:t>Birincil çalışmalarda hangi farklı araştırma türleri ve bunların katkılarının kapsamı tanımlanmıştır? </a:t>
            </a:r>
            <a:endParaRPr/>
          </a:p>
          <a:p>
            <a:pPr indent="-83026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tr-TR"/>
              <a:t>Bulut bilişim ortamında çevik yazılım geliştirmeye yönelik birincil çalışmalarda kullanılan çözüm yaklaşımları nelerdir?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tr-TR"/>
              <a:t>Bulut bilişimin çevik yazılım geliştirme üzerindeki etkileri nelerdir?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tr-TR"/>
              <a:t>Çevik yazılım geliştirmede bulut bilişimin avantajları nelerdir?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tr-TR"/>
              <a:t>Agile Development in Cloud Computing environment(ADCC)'yi uygularken karşılaşılan zorluklar nelerdir?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tr-TR"/>
              <a:t>ADCC'deki araştırma eğilimleri ve boşluklar nelerdir? </a:t>
            </a:r>
            <a:endParaRPr/>
          </a:p>
          <a:p>
            <a:pPr indent="-83026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</p:txBody>
      </p:sp>
      <p:sp>
        <p:nvSpPr>
          <p:cNvPr id="206" name="Google Shape;206;p14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t/>
            </a:r>
            <a:endParaRPr/>
          </a:p>
        </p:txBody>
      </p:sp>
      <p:sp>
        <p:nvSpPr>
          <p:cNvPr id="212" name="Google Shape;212;p15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3026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-83026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-83026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-83026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-83026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-83026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-83026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-83026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</a:pPr>
            <a:r>
              <a:rPr lang="tr-TR"/>
              <a:t>Younas, M., Jawawi, D. N., Ghani, I., Fries, T., &amp; Kazmi, R. (2018). Agile development in the cloud computing environment: A systematic review. </a:t>
            </a:r>
            <a:r>
              <a:rPr i="1" lang="tr-TR"/>
              <a:t>Information and Software Technology</a:t>
            </a:r>
            <a:r>
              <a:rPr lang="tr-TR"/>
              <a:t>, </a:t>
            </a:r>
            <a:r>
              <a:rPr i="1" lang="tr-TR"/>
              <a:t>103</a:t>
            </a:r>
            <a:r>
              <a:rPr lang="tr-TR"/>
              <a:t>, 142-158.</a:t>
            </a:r>
            <a:endParaRPr/>
          </a:p>
          <a:p>
            <a:pPr indent="-83026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</p:txBody>
      </p:sp>
      <p:sp>
        <p:nvSpPr>
          <p:cNvPr id="213" name="Google Shape;213;p15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pic>
        <p:nvPicPr>
          <p:cNvPr id="214" name="Google Shape;2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418" y="621438"/>
            <a:ext cx="12204932" cy="4367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p14:dur="1500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t/>
            </a:r>
            <a:endParaRPr/>
          </a:p>
        </p:txBody>
      </p:sp>
      <p:sp>
        <p:nvSpPr>
          <p:cNvPr id="220" name="Google Shape;220;p16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Arama dizeleri araştırma sorularından türetilmiştir.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b="1" lang="tr-TR"/>
              <a:t> İlk olarak: anahtar kelimeleri tanımlayın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b="1" lang="tr-TR"/>
              <a:t>Bu arama kelimeleri denemeler yapın</a:t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b="1" lang="tr-TR">
                <a:solidFill>
                  <a:srgbClr val="7030A0"/>
                </a:solidFill>
              </a:rPr>
              <a:t>Şimdi, işin kolay kısmı bitti, zor kısma  geçebilirsiniz ☺ </a:t>
            </a:r>
            <a:endParaRPr b="1">
              <a:solidFill>
                <a:srgbClr val="7030A0"/>
              </a:solidFill>
            </a:endParaRPr>
          </a:p>
        </p:txBody>
      </p:sp>
      <p:sp>
        <p:nvSpPr>
          <p:cNvPr id="221" name="Google Shape;221;p16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tr-TR"/>
              <a:t>NEREDE ARAYACAĞIM?</a:t>
            </a:r>
            <a:endParaRPr/>
          </a:p>
        </p:txBody>
      </p:sp>
      <p:sp>
        <p:nvSpPr>
          <p:cNvPr id="227" name="Google Shape;227;p17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Char char="▪"/>
            </a:pPr>
            <a:r>
              <a:rPr b="1" lang="tr-TR"/>
              <a:t>Databases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tr-TR"/>
              <a:t>. Most relevant ones: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tr-TR"/>
              <a:t>. IEEExplore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tr-TR"/>
              <a:t> .  Web of Science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tr-TR"/>
              <a:t>. ACM Digital library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tr-TR"/>
              <a:t>. Citeseer library (citeseer.ist.psu.edu)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tr-TR"/>
              <a:t>. Inspec (www.iee.org/Publish/INSPEC/)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tr-TR"/>
              <a:t>. ScienceDirect (www.sciencedirect.com)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tr-TR"/>
              <a:t>. EI Compendex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tr-TR"/>
              <a:t>. Scopus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tr-TR"/>
              <a:t>. SpringerLink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lang="tr-TR"/>
              <a:t>. Elsevier</a:t>
            </a:r>
            <a:endParaRPr/>
          </a:p>
          <a:p>
            <a:pPr indent="-115411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Char char="▪"/>
            </a:pPr>
            <a:r>
              <a:rPr b="1" lang="tr-TR"/>
              <a:t>. Tip: do not use all of them, choose 5 or 6</a:t>
            </a:r>
            <a:endParaRPr b="1"/>
          </a:p>
        </p:txBody>
      </p:sp>
      <p:sp>
        <p:nvSpPr>
          <p:cNvPr id="228" name="Google Shape;228;p17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t/>
            </a:r>
            <a:endParaRPr/>
          </a:p>
        </p:txBody>
      </p:sp>
      <p:pic>
        <p:nvPicPr>
          <p:cNvPr id="234" name="Google Shape;234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975" y="2729311"/>
            <a:ext cx="10058400" cy="283447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8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br>
              <a:rPr lang="tr-TR"/>
            </a:br>
            <a:r>
              <a:rPr lang="tr-TR"/>
              <a:t> TÜRKIYE’DE YEŞIL BILIŞIM ÇALIŞMALARI: SISTEMATIK LITERATÜR TARAMASINDAN BIR ÖRNEK</a:t>
            </a:r>
            <a:endParaRPr/>
          </a:p>
        </p:txBody>
      </p:sp>
      <p:sp>
        <p:nvSpPr>
          <p:cNvPr id="241" name="Google Shape;241;p19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4929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242" name="Google Shape;242;p19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pic>
        <p:nvPicPr>
          <p:cNvPr id="243" name="Google Shape;2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8300" y="2286000"/>
            <a:ext cx="6491287" cy="3739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p14:dur="1500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t/>
            </a:r>
            <a:endParaRPr/>
          </a:p>
        </p:txBody>
      </p:sp>
      <p:sp>
        <p:nvSpPr>
          <p:cNvPr id="249" name="Google Shape;249;p20"/>
          <p:cNvSpPr txBox="1"/>
          <p:nvPr>
            <p:ph idx="1" type="body"/>
          </p:nvPr>
        </p:nvSpPr>
        <p:spPr>
          <a:xfrm>
            <a:off x="1024128" y="2286000"/>
            <a:ext cx="3271647" cy="3686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«A Systematic Literature Review of Success Factors and Barriers of Agile Software Development « çalışmasından bir örnek</a:t>
            </a:r>
            <a:endParaRPr/>
          </a:p>
        </p:txBody>
      </p:sp>
      <p:sp>
        <p:nvSpPr>
          <p:cNvPr id="250" name="Google Shape;250;p20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pic>
        <p:nvPicPr>
          <p:cNvPr id="251" name="Google Shape;2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2100" y="1049274"/>
            <a:ext cx="6286500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p14:dur="1500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tr-TR"/>
              <a:t>REFERANS YAZIMI IÇIN ŞU ARAÇLARI KULLANIN </a:t>
            </a:r>
            <a:endParaRPr/>
          </a:p>
        </p:txBody>
      </p:sp>
      <p:sp>
        <p:nvSpPr>
          <p:cNvPr id="257" name="Google Shape;257;p21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EndNote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. Mendeley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. RefDB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. Zotero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. JabRef</a:t>
            </a:r>
            <a:endParaRPr/>
          </a:p>
        </p:txBody>
      </p:sp>
      <p:sp>
        <p:nvSpPr>
          <p:cNvPr id="258" name="Google Shape;258;p21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tr-TR"/>
              <a:t>ARAMAYA DEVAM</a:t>
            </a:r>
            <a:endParaRPr/>
          </a:p>
        </p:txBody>
      </p:sp>
      <p:sp>
        <p:nvSpPr>
          <p:cNvPr id="264" name="Google Shape;264;p22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Arama anahtar kelimeleri ile –  çok sayıda makale çıkar </a:t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Tüm bulunan çalışmaların birleştirilmesi </a:t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% 10 -% 20 - tekrarlanan makaleler </a:t>
            </a:r>
            <a:endParaRPr/>
          </a:p>
        </p:txBody>
      </p:sp>
      <p:sp>
        <p:nvSpPr>
          <p:cNvPr id="265" name="Google Shape;265;p22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tr-TR"/>
              <a:t>HADI SEÇ BAKALIM</a:t>
            </a:r>
            <a:endParaRPr/>
          </a:p>
        </p:txBody>
      </p:sp>
      <p:sp>
        <p:nvSpPr>
          <p:cNvPr id="271" name="Google Shape;271;p23"/>
          <p:cNvSpPr txBox="1"/>
          <p:nvPr>
            <p:ph idx="1" type="body"/>
          </p:nvPr>
        </p:nvSpPr>
        <p:spPr>
          <a:xfrm>
            <a:off x="1024128" y="2286000"/>
            <a:ext cx="2471547" cy="3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Dahil etme ve Hariç Tutma kriterlerinizi belirleyin</a:t>
            </a:r>
            <a:endParaRPr/>
          </a:p>
        </p:txBody>
      </p:sp>
      <p:sp>
        <p:nvSpPr>
          <p:cNvPr id="272" name="Google Shape;272;p23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pic>
        <p:nvPicPr>
          <p:cNvPr id="273" name="Google Shape;27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3399" y="1522264"/>
            <a:ext cx="5229225" cy="4607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p14:dur="1500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tr-TR"/>
              <a:t>ŞIMDI EĞLENCE BAŞLIYOR !!!!</a:t>
            </a:r>
            <a:endParaRPr/>
          </a:p>
        </p:txBody>
      </p:sp>
      <p:sp>
        <p:nvSpPr>
          <p:cNvPr id="279" name="Google Shape;279;p24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Tüm başlıkları ve özetleri okuyun ve çalışma dahil edilecek veya çıkarılacaktır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 Zaman alıcı ve sıkıcı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Bazı belgelerin çıkarılması / çıkarılmaması arasında bir anlaşma olmadığında, üçüncü bir kişiden karar vermesi istenebilir.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Sonunda muhtemelen ilk bulunan çalışmaların % 10 -% 20'sine sahip olacaksınız.</a:t>
            </a:r>
            <a:endParaRPr/>
          </a:p>
        </p:txBody>
      </p:sp>
      <p:sp>
        <p:nvSpPr>
          <p:cNvPr id="280" name="Google Shape;280;p24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tr-TR"/>
              <a:t>AZ KALDI BIRAZ DAHA GAYRET</a:t>
            </a:r>
            <a:endParaRPr/>
          </a:p>
        </p:txBody>
      </p:sp>
      <p:sp>
        <p:nvSpPr>
          <p:cNvPr id="286" name="Google Shape;286;p25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Son bölüm: Tüm kağıtları okuyun (tam okuma)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Makalelerin her birinin dahil etme / hariç tutma kriterlerine uyup uymadığını değerlendirin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Dahil etme kriterlerine katılırsanız, </a:t>
            </a:r>
            <a:r>
              <a:rPr b="1" lang="tr-TR" sz="2800"/>
              <a:t>araştırma sorularınızı cevaplamak için ihtiyacınız olan bilgileri toplayın.</a:t>
            </a:r>
            <a:endParaRPr b="1"/>
          </a:p>
        </p:txBody>
      </p:sp>
      <p:sp>
        <p:nvSpPr>
          <p:cNvPr id="287" name="Google Shape;287;p25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tr-TR"/>
              <a:t>TEBRIKLER…</a:t>
            </a:r>
            <a:endParaRPr/>
          </a:p>
        </p:txBody>
      </p:sp>
      <p:sp>
        <p:nvSpPr>
          <p:cNvPr id="293" name="Google Shape;293;p26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Tüm bu çalışmaları yaptıktan sonra, sistematik literatür taramanızı yazmanız gerekmektedir. </a:t>
            </a:r>
            <a:endParaRPr/>
          </a:p>
          <a:p>
            <a:pPr indent="-74929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tr-TR"/>
              <a:t>Bir haritalama yapıyorsanız, sadece verileri analiz etmeniz ve grafiğe dökmeniz gerekir (bir balon grafiği gibi)</a:t>
            </a:r>
            <a:endParaRPr/>
          </a:p>
        </p:txBody>
      </p:sp>
      <p:sp>
        <p:nvSpPr>
          <p:cNvPr id="294" name="Google Shape;294;p26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  <p:transition spd="slow" p14:dur="1500">
    <p:random/>
  </p:transition>
</p:sld>
</file>

<file path=ppt/theme/theme1.xml><?xml version="1.0" encoding="utf-8"?>
<a:theme xmlns:a="http://schemas.openxmlformats.org/drawingml/2006/main" xmlns:r="http://schemas.openxmlformats.org/officeDocument/2006/relationships" name="Wood Type Yazı Tipi">
  <a:themeElements>
    <a:clrScheme name="Wood Type Yazı Tipi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marmara</dc:creator>
</cp:coreProperties>
</file>