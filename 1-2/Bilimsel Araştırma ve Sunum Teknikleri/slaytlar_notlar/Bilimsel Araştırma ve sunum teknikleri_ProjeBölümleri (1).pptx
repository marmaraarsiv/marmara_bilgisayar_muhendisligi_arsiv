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sldSz cy="6858000" cx="9144000"/>
  <p:notesSz cx="6858000" cy="9144000"/>
  <p:embeddedFontLst>
    <p:embeddedFont>
      <p:font typeface="Constantia"/>
      <p:regular r:id="rId47"/>
      <p:bold r:id="rId48"/>
      <p:italic r:id="rId49"/>
      <p:boldItalic r:id="rId50"/>
    </p:embeddedFont>
    <p:embeddedFont>
      <p:font typeface="Tahoma"/>
      <p:regular r:id="rId51"/>
      <p:bold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C0786C2-FAF9-4CB1-B4D6-09287A97D0E9}">
  <a:tblStyle styleId="{8C0786C2-FAF9-4CB1-B4D6-09287A97D0E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Constantia-bold.fntdata"/><Relationship Id="rId47" Type="http://schemas.openxmlformats.org/officeDocument/2006/relationships/font" Target="fonts/Constantia-regular.fntdata"/><Relationship Id="rId49" Type="http://schemas.openxmlformats.org/officeDocument/2006/relationships/font" Target="fonts/Constantia-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Tahoma-regular.fntdata"/><Relationship Id="rId50" Type="http://schemas.openxmlformats.org/officeDocument/2006/relationships/font" Target="fonts/Constantia-boldItalic.fntdata"/><Relationship Id="rId52" Type="http://schemas.openxmlformats.org/officeDocument/2006/relationships/font" Target="fonts/Tahoma-bold.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tr-T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1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2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p2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2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8" name="Google Shape;328;p2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p2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p2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2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56" name="Google Shape;356;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None/>
            </a:pPr>
            <a:fld id="{00000000-1234-1234-1234-123412341234}" type="slidenum">
              <a:rPr lang="tr-TR"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 name="Google Shape;364;p2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 name="Google Shape;371;p2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 name="Google Shape;378;p2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5" name="Google Shape;385;p3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3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92" name="Google Shape;392;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3" name="Google Shape;393;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None/>
            </a:pPr>
            <a:fld id="{00000000-1234-1234-1234-123412341234}" type="slidenum">
              <a:rPr lang="tr-TR"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 name="Google Shape;400;p3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7" name="Google Shape;407;p3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4" name="Google Shape;414;p3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1" name="Google Shape;421;p3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8" name="Google Shape;428;p3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5" name="Google Shape;435;p3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2" name="Google Shape;442;p3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9" name="Google Shape;449;p3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6" name="Google Shape;456;p4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 ve İçerik" type="obj">
  <p:cSld name="OBJECT">
    <p:spTree>
      <p:nvGrpSpPr>
        <p:cNvPr id="20" name="Shape 20"/>
        <p:cNvGrpSpPr/>
        <p:nvPr/>
      </p:nvGrpSpPr>
      <p:grpSpPr>
        <a:xfrm>
          <a:off x="0" y="0"/>
          <a:ext cx="0" cy="0"/>
          <a:chOff x="0" y="0"/>
          <a:chExt cx="0" cy="0"/>
        </a:xfrm>
      </p:grpSpPr>
      <p:sp>
        <p:nvSpPr>
          <p:cNvPr id="21" name="Google Shape;21;p2"/>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2"/>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23" name="Google Shape;23;p2"/>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 Slaydı" type="title">
  <p:cSld name="TITLE">
    <p:bg>
      <p:bgPr>
        <a:gradFill>
          <a:gsLst>
            <a:gs pos="0">
              <a:srgbClr val="439FD7"/>
            </a:gs>
            <a:gs pos="25000">
              <a:srgbClr val="4397CA"/>
            </a:gs>
            <a:gs pos="100000">
              <a:srgbClr val="00466A"/>
            </a:gs>
          </a:gsLst>
          <a:path path="circle">
            <a:fillToRect b="50%" l="50%" r="50%" t="50%"/>
          </a:path>
          <a:tileRect/>
        </a:gradFill>
      </p:bgPr>
    </p:bg>
    <p:spTree>
      <p:nvGrpSpPr>
        <p:cNvPr id="26" name="Shape 26"/>
        <p:cNvGrpSpPr/>
        <p:nvPr/>
      </p:nvGrpSpPr>
      <p:grpSpPr>
        <a:xfrm>
          <a:off x="0" y="0"/>
          <a:ext cx="0" cy="0"/>
          <a:chOff x="0" y="0"/>
          <a:chExt cx="0" cy="0"/>
        </a:xfrm>
      </p:grpSpPr>
      <p:sp>
        <p:nvSpPr>
          <p:cNvPr id="27" name="Google Shape;27;p3"/>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lvl1pPr lvl="0" algn="r">
              <a:spcBef>
                <a:spcPts val="0"/>
              </a:spcBef>
              <a:spcAft>
                <a:spcPts val="0"/>
              </a:spcAft>
              <a:buClr>
                <a:srgbClr val="4CE0EA"/>
              </a:buClr>
              <a:buSzPts val="5600"/>
              <a:buFont typeface="Calibri"/>
              <a:buNone/>
              <a:defRPr b="1" sz="5600">
                <a:solidFill>
                  <a:srgbClr val="4CE0E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3"/>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rmAutofit/>
          </a:bodyPr>
          <a:lstStyle>
            <a:lvl1pPr lvl="0" marR="4572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29" name="Google Shape;29;p3"/>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ölüm Üstbilgisi" type="secHead">
  <p:cSld name="SECTION_HEADER">
    <p:bg>
      <p:bgPr>
        <a:gradFill>
          <a:gsLst>
            <a:gs pos="0">
              <a:srgbClr val="439FD7"/>
            </a:gs>
            <a:gs pos="25000">
              <a:srgbClr val="4397CA"/>
            </a:gs>
            <a:gs pos="100000">
              <a:srgbClr val="00466A"/>
            </a:gs>
          </a:gsLst>
          <a:path path="circle">
            <a:fillToRect b="50%" l="50%" r="50%" t="50%"/>
          </a:path>
          <a:tileRect/>
        </a:gradFill>
      </p:bgPr>
    </p:bg>
    <p:spTree>
      <p:nvGrpSpPr>
        <p:cNvPr id="32" name="Shape 32"/>
        <p:cNvGrpSpPr/>
        <p:nvPr/>
      </p:nvGrpSpPr>
      <p:grpSpPr>
        <a:xfrm>
          <a:off x="0" y="0"/>
          <a:ext cx="0" cy="0"/>
          <a:chOff x="0" y="0"/>
          <a:chExt cx="0" cy="0"/>
        </a:xfrm>
      </p:grpSpPr>
      <p:sp>
        <p:nvSpPr>
          <p:cNvPr id="33" name="Google Shape;33;p4"/>
          <p:cNvSpPr txBox="1"/>
          <p:nvPr>
            <p:ph type="title"/>
          </p:nvPr>
        </p:nvSpPr>
        <p:spPr>
          <a:xfrm>
            <a:off x="530352" y="1316736"/>
            <a:ext cx="7772400" cy="1362456"/>
          </a:xfrm>
          <a:prstGeom prst="rect">
            <a:avLst/>
          </a:prstGeom>
          <a:noFill/>
          <a:ln>
            <a:noFill/>
          </a:ln>
        </p:spPr>
        <p:txBody>
          <a:bodyPr anchorCtr="0" anchor="b" bIns="0" lIns="0" spcFirstLastPara="1" rIns="0" wrap="square" tIns="0">
            <a:noAutofit/>
          </a:bodyPr>
          <a:lstStyle>
            <a:lvl1pPr lvl="0" algn="l">
              <a:spcBef>
                <a:spcPts val="0"/>
              </a:spcBef>
              <a:spcAft>
                <a:spcPts val="0"/>
              </a:spcAft>
              <a:buClr>
                <a:srgbClr val="4AE3AC"/>
              </a:buClr>
              <a:buSzPts val="5600"/>
              <a:buFont typeface="Calibri"/>
              <a:buNone/>
              <a:defRPr b="1" sz="5600" cap="none">
                <a:solidFill>
                  <a:srgbClr val="4AE3AC"/>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4"/>
          <p:cNvSpPr txBox="1"/>
          <p:nvPr>
            <p:ph idx="1" type="body"/>
          </p:nvPr>
        </p:nvSpPr>
        <p:spPr>
          <a:xfrm>
            <a:off x="530352" y="2704664"/>
            <a:ext cx="7772400" cy="1509712"/>
          </a:xfrm>
          <a:prstGeom prst="rect">
            <a:avLst/>
          </a:prstGeom>
          <a:noFill/>
          <a:ln>
            <a:noFill/>
          </a:ln>
        </p:spPr>
        <p:txBody>
          <a:bodyPr anchorCtr="0" anchor="t" bIns="45700" lIns="45700" spcFirstLastPara="1" rIns="45700" wrap="square" tIns="45700">
            <a:normAutofit/>
          </a:bodyPr>
          <a:lstStyle>
            <a:lvl1pPr indent="-228600" lvl="0" marL="457200" algn="l">
              <a:spcBef>
                <a:spcPts val="440"/>
              </a:spcBef>
              <a:spcAft>
                <a:spcPts val="0"/>
              </a:spcAft>
              <a:buSzPts val="2090"/>
              <a:buNone/>
              <a:defRPr sz="2200">
                <a:solidFill>
                  <a:schemeClr val="lt1"/>
                </a:solidFill>
              </a:defRPr>
            </a:lvl1pPr>
            <a:lvl2pPr indent="-228600" lvl="1" marL="914400" algn="l">
              <a:spcBef>
                <a:spcPts val="360"/>
              </a:spcBef>
              <a:spcAft>
                <a:spcPts val="0"/>
              </a:spcAft>
              <a:buSzPts val="1530"/>
              <a:buNone/>
              <a:defRPr sz="1800">
                <a:solidFill>
                  <a:schemeClr val="lt1"/>
                </a:solidFill>
              </a:defRPr>
            </a:lvl2pPr>
            <a:lvl3pPr indent="-228600" lvl="2" marL="1371600" algn="l">
              <a:spcBef>
                <a:spcPts val="320"/>
              </a:spcBef>
              <a:spcAft>
                <a:spcPts val="0"/>
              </a:spcAft>
              <a:buSzPts val="1120"/>
              <a:buNone/>
              <a:defRPr sz="1600">
                <a:solidFill>
                  <a:schemeClr val="lt1"/>
                </a:solidFill>
              </a:defRPr>
            </a:lvl3pPr>
            <a:lvl4pPr indent="-228600" lvl="3" marL="1828800" algn="l">
              <a:spcBef>
                <a:spcPts val="280"/>
              </a:spcBef>
              <a:spcAft>
                <a:spcPts val="0"/>
              </a:spcAft>
              <a:buSzPts val="910"/>
              <a:buNone/>
              <a:defRPr sz="1400">
                <a:solidFill>
                  <a:schemeClr val="lt1"/>
                </a:solidFill>
              </a:defRPr>
            </a:lvl4pPr>
            <a:lvl5pPr indent="-228600" lvl="4" marL="2286000" algn="l">
              <a:spcBef>
                <a:spcPts val="280"/>
              </a:spcBef>
              <a:spcAft>
                <a:spcPts val="0"/>
              </a:spcAft>
              <a:buSzPts val="910"/>
              <a:buNone/>
              <a:defRPr sz="1400">
                <a:solidFill>
                  <a:schemeClr val="lt1"/>
                </a:solidFill>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35" name="Google Shape;35;p4"/>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4"/>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ki İçerik" type="twoObj">
  <p:cSld name="TWO_OBJECTS">
    <p:spTree>
      <p:nvGrpSpPr>
        <p:cNvPr id="38" name="Shape 38"/>
        <p:cNvGrpSpPr/>
        <p:nvPr/>
      </p:nvGrpSpPr>
      <p:grpSpPr>
        <a:xfrm>
          <a:off x="0" y="0"/>
          <a:ext cx="0" cy="0"/>
          <a:chOff x="0" y="0"/>
          <a:chExt cx="0" cy="0"/>
        </a:xfrm>
      </p:grpSpPr>
      <p:sp>
        <p:nvSpPr>
          <p:cNvPr id="39" name="Google Shape;39;p5"/>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5"/>
          <p:cNvSpPr txBox="1"/>
          <p:nvPr>
            <p:ph idx="1" type="body"/>
          </p:nvPr>
        </p:nvSpPr>
        <p:spPr>
          <a:xfrm>
            <a:off x="457200" y="1920085"/>
            <a:ext cx="4038600" cy="4434840"/>
          </a:xfrm>
          <a:prstGeom prst="rect">
            <a:avLst/>
          </a:prstGeom>
          <a:noFill/>
          <a:ln>
            <a:noFill/>
          </a:ln>
        </p:spPr>
        <p:txBody>
          <a:bodyPr anchorCtr="0" anchor="t" bIns="45700" lIns="91425" spcFirstLastPara="1" rIns="91425" wrap="square" tIns="45700">
            <a:norm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1" name="Google Shape;41;p5"/>
          <p:cNvSpPr txBox="1"/>
          <p:nvPr>
            <p:ph idx="2" type="body"/>
          </p:nvPr>
        </p:nvSpPr>
        <p:spPr>
          <a:xfrm>
            <a:off x="4648200" y="1920085"/>
            <a:ext cx="4038600" cy="4434840"/>
          </a:xfrm>
          <a:prstGeom prst="rect">
            <a:avLst/>
          </a:prstGeom>
          <a:noFill/>
          <a:ln>
            <a:noFill/>
          </a:ln>
        </p:spPr>
        <p:txBody>
          <a:bodyPr anchorCtr="0" anchor="t" bIns="45700" lIns="91425" spcFirstLastPara="1" rIns="91425" wrap="square" tIns="45700">
            <a:norm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2" name="Google Shape;42;p5"/>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arşılaştırma" type="twoTxTwoObj">
  <p:cSld name="TWO_OBJECTS_WITH_TEXT">
    <p:spTree>
      <p:nvGrpSpPr>
        <p:cNvPr id="45" name="Shape 45"/>
        <p:cNvGrpSpPr/>
        <p:nvPr/>
      </p:nvGrpSpPr>
      <p:grpSpPr>
        <a:xfrm>
          <a:off x="0" y="0"/>
          <a:ext cx="0" cy="0"/>
          <a:chOff x="0" y="0"/>
          <a:chExt cx="0" cy="0"/>
        </a:xfrm>
      </p:grpSpPr>
      <p:sp>
        <p:nvSpPr>
          <p:cNvPr id="46" name="Google Shape;46;p6"/>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6"/>
          <p:cNvSpPr txBox="1"/>
          <p:nvPr>
            <p:ph idx="1" type="body"/>
          </p:nvPr>
        </p:nvSpPr>
        <p:spPr>
          <a:xfrm>
            <a:off x="457200" y="1855248"/>
            <a:ext cx="4040188" cy="659352"/>
          </a:xfrm>
          <a:prstGeom prst="rect">
            <a:avLst/>
          </a:prstGeom>
          <a:noFill/>
          <a:ln>
            <a:noFill/>
          </a:ln>
        </p:spPr>
        <p:txBody>
          <a:bodyPr anchorCtr="0" anchor="ctr" bIns="0" lIns="45700" spcFirstLastPara="1" rIns="45700" wrap="square" tIns="0">
            <a:no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8" name="Google Shape;48;p6"/>
          <p:cNvSpPr txBox="1"/>
          <p:nvPr>
            <p:ph idx="2" type="body"/>
          </p:nvPr>
        </p:nvSpPr>
        <p:spPr>
          <a:xfrm>
            <a:off x="4645025" y="1859757"/>
            <a:ext cx="4041775" cy="654843"/>
          </a:xfrm>
          <a:prstGeom prst="rect">
            <a:avLst/>
          </a:prstGeom>
          <a:noFill/>
          <a:ln>
            <a:noFill/>
          </a:ln>
        </p:spPr>
        <p:txBody>
          <a:bodyPr anchorCtr="0" anchor="ctr" bIns="0" lIns="45700" spcFirstLastPara="1" rIns="45700" wrap="square" tIns="0">
            <a:norm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9" name="Google Shape;49;p6"/>
          <p:cNvSpPr txBox="1"/>
          <p:nvPr>
            <p:ph idx="3" type="body"/>
          </p:nvPr>
        </p:nvSpPr>
        <p:spPr>
          <a:xfrm>
            <a:off x="457200" y="2514600"/>
            <a:ext cx="4040188" cy="3845720"/>
          </a:xfrm>
          <a:prstGeom prst="rect">
            <a:avLst/>
          </a:prstGeom>
          <a:noFill/>
          <a:ln>
            <a:noFill/>
          </a:ln>
        </p:spPr>
        <p:txBody>
          <a:bodyPr anchorCtr="0" anchor="t" bIns="45700" lIns="91425" spcFirstLastPara="1" rIns="91425" wrap="square" tIns="0">
            <a:norm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0" name="Google Shape;50;p6"/>
          <p:cNvSpPr txBox="1"/>
          <p:nvPr>
            <p:ph idx="4" type="body"/>
          </p:nvPr>
        </p:nvSpPr>
        <p:spPr>
          <a:xfrm>
            <a:off x="4645025" y="2514600"/>
            <a:ext cx="4041775" cy="3845720"/>
          </a:xfrm>
          <a:prstGeom prst="rect">
            <a:avLst/>
          </a:prstGeom>
          <a:noFill/>
          <a:ln>
            <a:noFill/>
          </a:ln>
        </p:spPr>
        <p:txBody>
          <a:bodyPr anchorCtr="0" anchor="t" bIns="45700" lIns="91425" spcFirstLastPara="1" rIns="91425" wrap="square" tIns="0">
            <a:norm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1" name="Google Shape;51;p6"/>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6"/>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Yalnızca Başlık" type="titleOnly">
  <p:cSld name="TITLE_ONLY">
    <p:spTree>
      <p:nvGrpSpPr>
        <p:cNvPr id="54" name="Shape 54"/>
        <p:cNvGrpSpPr/>
        <p:nvPr/>
      </p:nvGrpSpPr>
      <p:grpSpPr>
        <a:xfrm>
          <a:off x="0" y="0"/>
          <a:ext cx="0" cy="0"/>
          <a:chOff x="0" y="0"/>
          <a:chExt cx="0" cy="0"/>
        </a:xfrm>
      </p:grpSpPr>
      <p:sp>
        <p:nvSpPr>
          <p:cNvPr id="55" name="Google Shape;55;p7"/>
          <p:cNvSpPr txBox="1"/>
          <p:nvPr>
            <p:ph type="title"/>
          </p:nvPr>
        </p:nvSpPr>
        <p:spPr>
          <a:xfrm>
            <a:off x="457200" y="704088"/>
            <a:ext cx="83058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alibri"/>
              <a:buNone/>
              <a:defRPr b="0" sz="5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7"/>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7"/>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ş" type="blank">
  <p:cSld name="BLANK">
    <p:spTree>
      <p:nvGrpSpPr>
        <p:cNvPr id="59" name="Shape 59"/>
        <p:cNvGrpSpPr/>
        <p:nvPr/>
      </p:nvGrpSpPr>
      <p:grpSpPr>
        <a:xfrm>
          <a:off x="0" y="0"/>
          <a:ext cx="0" cy="0"/>
          <a:chOff x="0" y="0"/>
          <a:chExt cx="0" cy="0"/>
        </a:xfrm>
      </p:grpSpPr>
      <p:sp>
        <p:nvSpPr>
          <p:cNvPr id="60" name="Google Shape;60;p8"/>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8"/>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lı İçerik" type="objTx">
  <p:cSld name="OBJECT_WITH_CAPTION_TEXT">
    <p:spTree>
      <p:nvGrpSpPr>
        <p:cNvPr id="63" name="Shape 63"/>
        <p:cNvGrpSpPr/>
        <p:nvPr/>
      </p:nvGrpSpPr>
      <p:grpSpPr>
        <a:xfrm>
          <a:off x="0" y="0"/>
          <a:ext cx="0" cy="0"/>
          <a:chOff x="0" y="0"/>
          <a:chExt cx="0" cy="0"/>
        </a:xfrm>
      </p:grpSpPr>
      <p:sp>
        <p:nvSpPr>
          <p:cNvPr id="64" name="Google Shape;64;p9"/>
          <p:cNvSpPr txBox="1"/>
          <p:nvPr>
            <p:ph type="title"/>
          </p:nvPr>
        </p:nvSpPr>
        <p:spPr>
          <a:xfrm>
            <a:off x="685800" y="514352"/>
            <a:ext cx="2743200" cy="1162050"/>
          </a:xfrm>
          <a:prstGeom prst="rect">
            <a:avLst/>
          </a:prstGeom>
          <a:noFill/>
          <a:ln>
            <a:noFill/>
          </a:ln>
        </p:spPr>
        <p:txBody>
          <a:bodyPr anchorCtr="0" anchor="b" bIns="0" lIns="0" spcFirstLastPara="1" rIns="0" wrap="square" tIns="45700">
            <a:noAutofit/>
          </a:bodyPr>
          <a:lstStyle>
            <a:lvl1pPr lvl="0" algn="l">
              <a:spcBef>
                <a:spcPts val="0"/>
              </a:spcBef>
              <a:spcAft>
                <a:spcPts val="0"/>
              </a:spcAft>
              <a:buClr>
                <a:schemeClr val="dk2"/>
              </a:buClr>
              <a:buSzPts val="2600"/>
              <a:buFont typeface="Calibri"/>
              <a:buNone/>
              <a:defRPr b="0" sz="26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9"/>
          <p:cNvSpPr txBox="1"/>
          <p:nvPr>
            <p:ph idx="1" type="body"/>
          </p:nvPr>
        </p:nvSpPr>
        <p:spPr>
          <a:xfrm>
            <a:off x="685800" y="1676400"/>
            <a:ext cx="2743200" cy="4572000"/>
          </a:xfrm>
          <a:prstGeom prst="rect">
            <a:avLst/>
          </a:prstGeom>
          <a:noFill/>
          <a:ln>
            <a:noFill/>
          </a:ln>
        </p:spPr>
        <p:txBody>
          <a:bodyPr anchorCtr="0" anchor="t" bIns="45700" lIns="18275" spcFirstLastPara="1" rIns="18275" wrap="square" tIns="45700">
            <a:normAutofit/>
          </a:bodyPr>
          <a:lstStyle>
            <a:lvl1pPr indent="-228600" lvl="0" marL="457200" algn="l">
              <a:spcBef>
                <a:spcPts val="280"/>
              </a:spcBef>
              <a:spcAft>
                <a:spcPts val="0"/>
              </a:spcAft>
              <a:buSzPts val="133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700"/>
              <a:buNone/>
              <a:defRPr sz="1000"/>
            </a:lvl3pPr>
            <a:lvl4pPr indent="-228600" lvl="3" marL="1828800" algn="l">
              <a:spcBef>
                <a:spcPts val="180"/>
              </a:spcBef>
              <a:spcAft>
                <a:spcPts val="0"/>
              </a:spcAft>
              <a:buSzPts val="585"/>
              <a:buNone/>
              <a:defRPr sz="900"/>
            </a:lvl4pPr>
            <a:lvl5pPr indent="-228600" lvl="4" marL="2286000" algn="l">
              <a:spcBef>
                <a:spcPts val="180"/>
              </a:spcBef>
              <a:spcAft>
                <a:spcPts val="0"/>
              </a:spcAft>
              <a:buSzPts val="585"/>
              <a:buNone/>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6" name="Google Shape;66;p9"/>
          <p:cNvSpPr txBox="1"/>
          <p:nvPr>
            <p:ph idx="2" type="body"/>
          </p:nvPr>
        </p:nvSpPr>
        <p:spPr>
          <a:xfrm>
            <a:off x="3575050" y="1676400"/>
            <a:ext cx="5111750" cy="4572000"/>
          </a:xfrm>
          <a:prstGeom prst="rect">
            <a:avLst/>
          </a:prstGeom>
          <a:noFill/>
          <a:ln>
            <a:noFill/>
          </a:ln>
        </p:spPr>
        <p:txBody>
          <a:bodyPr anchorCtr="0" anchor="t" bIns="45700" lIns="91425" spcFirstLastPara="1" rIns="91425" wrap="square" tIns="0">
            <a:normAutofit/>
          </a:bodyPr>
          <a:lstStyle>
            <a:lvl1pPr indent="-397510" lvl="0" marL="457200" algn="l">
              <a:spcBef>
                <a:spcPts val="560"/>
              </a:spcBef>
              <a:spcAft>
                <a:spcPts val="0"/>
              </a:spcAft>
              <a:buSzPts val="2660"/>
              <a:buChar char="⚫"/>
              <a:defRPr sz="2800"/>
            </a:lvl1pPr>
            <a:lvl2pPr indent="-368935" lvl="1" marL="914400" algn="l">
              <a:spcBef>
                <a:spcPts val="520"/>
              </a:spcBef>
              <a:spcAft>
                <a:spcPts val="0"/>
              </a:spcAft>
              <a:buSzPts val="2210"/>
              <a:buChar char="⚫"/>
              <a:defRPr sz="2600"/>
            </a:lvl2pPr>
            <a:lvl3pPr indent="-335280" lvl="2" marL="1371600" algn="l">
              <a:spcBef>
                <a:spcPts val="480"/>
              </a:spcBef>
              <a:spcAft>
                <a:spcPts val="0"/>
              </a:spcAft>
              <a:buSzPts val="1680"/>
              <a:buChar char="⚫"/>
              <a:defRPr sz="2400"/>
            </a:lvl3pPr>
            <a:lvl4pPr indent="-311150" lvl="3" marL="1828800" algn="l">
              <a:spcBef>
                <a:spcPts val="400"/>
              </a:spcBef>
              <a:spcAft>
                <a:spcPts val="0"/>
              </a:spcAft>
              <a:buSzPts val="1300"/>
              <a:buChar char="⚫"/>
              <a:defRPr sz="20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7" name="Google Shape;67;p9"/>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9"/>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lı Resim" showMasterSp="0" type="picTx">
  <p:cSld name="PICTURE_WITH_CAPTION_TEXT">
    <p:spTree>
      <p:nvGrpSpPr>
        <p:cNvPr id="70" name="Shape 70"/>
        <p:cNvGrpSpPr/>
        <p:nvPr/>
      </p:nvGrpSpPr>
      <p:grpSpPr>
        <a:xfrm>
          <a:off x="0" y="0"/>
          <a:ext cx="0" cy="0"/>
          <a:chOff x="0" y="0"/>
          <a:chExt cx="0" cy="0"/>
        </a:xfrm>
      </p:grpSpPr>
      <p:sp>
        <p:nvSpPr>
          <p:cNvPr id="71" name="Google Shape;71;p10"/>
          <p:cNvSpPr/>
          <p:nvPr/>
        </p:nvSpPr>
        <p:spPr>
          <a:xfrm flipH="1" rot="-10380000">
            <a:off x="3165753" y="1108077"/>
            <a:ext cx="5257800" cy="4114800"/>
          </a:xfrm>
          <a:prstGeom prst="snipRoundRect">
            <a:avLst>
              <a:gd fmla="val 0" name="adj1"/>
              <a:gd fmla="val 3646" name="adj2"/>
            </a:avLst>
          </a:prstGeom>
          <a:solidFill>
            <a:srgbClr val="FFFFFF"/>
          </a:solidFill>
          <a:ln cap="rnd" cmpd="sng" w="9525">
            <a:solidFill>
              <a:srgbClr val="C0C0C0"/>
            </a:solidFill>
            <a:prstDash val="solid"/>
            <a:round/>
            <a:headEnd len="sm" w="sm" type="none"/>
            <a:tailEnd len="sm" w="sm" type="none"/>
          </a:ln>
          <a:effectLst>
            <a:outerShdw blurRad="63500" sx="98500" kx="100000" rotWithShape="0" algn="tl" dir="7500000" dist="38500" sy="100080">
              <a:srgbClr val="000000">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72" name="Google Shape;72;p10"/>
          <p:cNvSpPr/>
          <p:nvPr/>
        </p:nvSpPr>
        <p:spPr>
          <a:xfrm flipH="1" rot="-10380000">
            <a:off x="8004134" y="5359769"/>
            <a:ext cx="155448" cy="155448"/>
          </a:xfrm>
          <a:prstGeom prst="rtTriangle">
            <a:avLst/>
          </a:prstGeom>
          <a:solidFill>
            <a:srgbClr val="FFFFFF"/>
          </a:solidFill>
          <a:ln cap="flat" cmpd="sng" w="12700">
            <a:solidFill>
              <a:srgbClr val="FFFFFF"/>
            </a:solidFill>
            <a:prstDash val="solid"/>
            <a:bevel/>
            <a:headEnd len="sm" w="sm" type="none"/>
            <a:tailEnd len="sm" w="sm" type="none"/>
          </a:ln>
          <a:effectLst>
            <a:outerShdw blurRad="19685" rotWithShape="0" algn="tl" dir="12900000" dist="6350">
              <a:srgbClr val="000000">
                <a:alpha val="4666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73" name="Google Shape;73;p10"/>
          <p:cNvSpPr txBox="1"/>
          <p:nvPr>
            <p:ph type="title"/>
          </p:nvPr>
        </p:nvSpPr>
        <p:spPr>
          <a:xfrm>
            <a:off x="609600" y="1176996"/>
            <a:ext cx="2212848" cy="1582621"/>
          </a:xfrm>
          <a:prstGeom prst="rect">
            <a:avLst/>
          </a:prstGeom>
          <a:noFill/>
          <a:ln>
            <a:noFill/>
          </a:ln>
        </p:spPr>
        <p:txBody>
          <a:bodyPr anchorCtr="0" anchor="b" bIns="45700" lIns="45700" spcFirstLastPara="1" rIns="45700" wrap="square" tIns="45700">
            <a:normAutofit/>
          </a:bodyPr>
          <a:lstStyle>
            <a:lvl1pPr lvl="0" algn="l">
              <a:spcBef>
                <a:spcPts val="0"/>
              </a:spcBef>
              <a:spcAft>
                <a:spcPts val="0"/>
              </a:spcAft>
              <a:buClr>
                <a:schemeClr val="dk2"/>
              </a:buClr>
              <a:buSzPts val="2000"/>
              <a:buFont typeface="Calibri"/>
              <a:buNone/>
              <a:defRPr b="1" sz="2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0"/>
          <p:cNvSpPr txBox="1"/>
          <p:nvPr>
            <p:ph idx="1" type="body"/>
          </p:nvPr>
        </p:nvSpPr>
        <p:spPr>
          <a:xfrm>
            <a:off x="609600" y="2828785"/>
            <a:ext cx="2209800" cy="2179320"/>
          </a:xfrm>
          <a:prstGeom prst="rect">
            <a:avLst/>
          </a:prstGeom>
          <a:noFill/>
          <a:ln>
            <a:noFill/>
          </a:ln>
        </p:spPr>
        <p:txBody>
          <a:bodyPr anchorCtr="0" anchor="t" bIns="45700" lIns="64000" spcFirstLastPara="1" rIns="45700" wrap="square" tIns="45700">
            <a:normAutofit/>
          </a:bodyPr>
          <a:lstStyle>
            <a:lvl1pPr indent="-228600" lvl="0" marL="457200" algn="l">
              <a:spcBef>
                <a:spcPts val="250"/>
              </a:spcBef>
              <a:spcAft>
                <a:spcPts val="0"/>
              </a:spcAft>
              <a:buSzPts val="1235"/>
              <a:buFont typeface="Constantia"/>
              <a:buNone/>
              <a:defRPr sz="1300"/>
            </a:lvl1pPr>
            <a:lvl2pPr indent="-293369" lvl="1" marL="914400" algn="l">
              <a:spcBef>
                <a:spcPts val="240"/>
              </a:spcBef>
              <a:spcAft>
                <a:spcPts val="0"/>
              </a:spcAft>
              <a:buSzPts val="1020"/>
              <a:buChar char="⚫"/>
              <a:defRPr sz="1200"/>
            </a:lvl2pPr>
            <a:lvl3pPr indent="-273050" lvl="2" marL="1371600" algn="l">
              <a:spcBef>
                <a:spcPts val="200"/>
              </a:spcBef>
              <a:spcAft>
                <a:spcPts val="0"/>
              </a:spcAft>
              <a:buSzPts val="700"/>
              <a:buChar char="⚫"/>
              <a:defRPr sz="1000"/>
            </a:lvl3pPr>
            <a:lvl4pPr indent="-265747" lvl="3" marL="1828800" algn="l">
              <a:spcBef>
                <a:spcPts val="180"/>
              </a:spcBef>
              <a:spcAft>
                <a:spcPts val="0"/>
              </a:spcAft>
              <a:buSzPts val="585"/>
              <a:buChar char="⚫"/>
              <a:defRPr sz="900"/>
            </a:lvl4pPr>
            <a:lvl5pPr indent="-265747" lvl="4" marL="2286000" algn="l">
              <a:spcBef>
                <a:spcPts val="180"/>
              </a:spcBef>
              <a:spcAft>
                <a:spcPts val="0"/>
              </a:spcAft>
              <a:buSzPts val="585"/>
              <a:buChar char="⚫"/>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5" name="Google Shape;75;p10"/>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0"/>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0"/>
          <p:cNvSpPr txBox="1"/>
          <p:nvPr>
            <p:ph idx="12" type="sldNum"/>
          </p:nvPr>
        </p:nvSpPr>
        <p:spPr>
          <a:xfrm>
            <a:off x="8077200" y="6356350"/>
            <a:ext cx="6096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
        <p:nvSpPr>
          <p:cNvPr id="78" name="Google Shape;78;p10"/>
          <p:cNvSpPr/>
          <p:nvPr>
            <p:ph idx="2" type="pic"/>
          </p:nvPr>
        </p:nvSpPr>
        <p:spPr>
          <a:xfrm rot="420000">
            <a:off x="3485793" y="1199517"/>
            <a:ext cx="4617720" cy="3931920"/>
          </a:xfrm>
          <a:prstGeom prst="rect">
            <a:avLst/>
          </a:prstGeom>
          <a:solidFill>
            <a:schemeClr val="lt2"/>
          </a:solidFill>
          <a:ln cap="rnd" cmpd="sng" w="9525">
            <a:solidFill>
              <a:srgbClr val="C0C0C0"/>
            </a:solidFill>
            <a:prstDash val="solid"/>
            <a:round/>
            <a:headEnd len="sm" w="sm" type="none"/>
            <a:tailEnd len="sm" w="sm" type="none"/>
          </a:ln>
        </p:spPr>
      </p:sp>
      <p:sp>
        <p:nvSpPr>
          <p:cNvPr id="79" name="Google Shape;79;p10"/>
          <p:cNvSpPr/>
          <p:nvPr/>
        </p:nvSpPr>
        <p:spPr>
          <a:xfrm flipH="1" rot="10800000">
            <a:off x="-9525" y="5816600"/>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80" name="Google Shape;80;p10"/>
          <p:cNvSpPr/>
          <p:nvPr/>
        </p:nvSpPr>
        <p:spPr>
          <a:xfrm flipH="1" rot="10800000">
            <a:off x="4381500" y="6219825"/>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 Dikey Metin" type="vertTx">
  <p:cSld name="VERTICAL_TEXT">
    <p:spTree>
      <p:nvGrpSpPr>
        <p:cNvPr id="81" name="Shape 81"/>
        <p:cNvGrpSpPr/>
        <p:nvPr/>
      </p:nvGrpSpPr>
      <p:grpSpPr>
        <a:xfrm>
          <a:off x="0" y="0"/>
          <a:ext cx="0" cy="0"/>
          <a:chOff x="0" y="0"/>
          <a:chExt cx="0" cy="0"/>
        </a:xfrm>
      </p:grpSpPr>
      <p:sp>
        <p:nvSpPr>
          <p:cNvPr id="82" name="Google Shape;82;p11"/>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11"/>
          <p:cNvSpPr txBox="1"/>
          <p:nvPr>
            <p:ph idx="1" type="body"/>
          </p:nvPr>
        </p:nvSpPr>
        <p:spPr>
          <a:xfrm rot="5400000">
            <a:off x="2377440" y="15240"/>
            <a:ext cx="4389120" cy="82296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4" name="Google Shape;84;p11"/>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1"/>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key Başlık ve Metin" type="vertTitleAndTx">
  <p:cSld name="VERTICAL_TITLE_AND_VERTICAL_TEXT">
    <p:spTree>
      <p:nvGrpSpPr>
        <p:cNvPr id="87" name="Shape 87"/>
        <p:cNvGrpSpPr/>
        <p:nvPr/>
      </p:nvGrpSpPr>
      <p:grpSpPr>
        <a:xfrm>
          <a:off x="0" y="0"/>
          <a:ext cx="0" cy="0"/>
          <a:chOff x="0" y="0"/>
          <a:chExt cx="0" cy="0"/>
        </a:xfrm>
      </p:grpSpPr>
      <p:sp>
        <p:nvSpPr>
          <p:cNvPr id="88" name="Google Shape;88;p12"/>
          <p:cNvSpPr txBox="1"/>
          <p:nvPr>
            <p:ph type="title"/>
          </p:nvPr>
        </p:nvSpPr>
        <p:spPr>
          <a:xfrm rot="5400000">
            <a:off x="5052219" y="2491582"/>
            <a:ext cx="5211763" cy="20574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 name="Google Shape;89;p12"/>
          <p:cNvSpPr txBox="1"/>
          <p:nvPr>
            <p:ph idx="1" type="body"/>
          </p:nvPr>
        </p:nvSpPr>
        <p:spPr>
          <a:xfrm rot="5400000">
            <a:off x="861219" y="510382"/>
            <a:ext cx="5211763" cy="60198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0" name="Google Shape;90;p12"/>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2"/>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0" ty="0" sy="65000"/>
        </a:blipFill>
      </p:bgPr>
    </p:bg>
    <p:spTree>
      <p:nvGrpSpPr>
        <p:cNvPr id="9" name="Shape 9"/>
        <p:cNvGrpSpPr/>
        <p:nvPr/>
      </p:nvGrpSpPr>
      <p:grpSpPr>
        <a:xfrm>
          <a:off x="0" y="0"/>
          <a:ext cx="0" cy="0"/>
          <a:chOff x="0" y="0"/>
          <a:chExt cx="0" cy="0"/>
        </a:xfrm>
      </p:grpSpPr>
      <p:sp>
        <p:nvSpPr>
          <p:cNvPr id="10" name="Google Shape;10;p1"/>
          <p:cNvSpPr/>
          <p:nvPr/>
        </p:nvSpPr>
        <p:spPr>
          <a:xfrm>
            <a:off x="-9525" y="-7144"/>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onstantia"/>
              <a:ea typeface="Constantia"/>
              <a:cs typeface="Constantia"/>
              <a:sym typeface="Constantia"/>
            </a:endParaRPr>
          </a:p>
        </p:txBody>
      </p:sp>
      <p:sp>
        <p:nvSpPr>
          <p:cNvPr id="11" name="Google Shape;11;p1"/>
          <p:cNvSpPr/>
          <p:nvPr/>
        </p:nvSpPr>
        <p:spPr>
          <a:xfrm>
            <a:off x="4381500" y="-7144"/>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onstantia"/>
              <a:ea typeface="Constantia"/>
              <a:cs typeface="Constantia"/>
              <a:sym typeface="Constantia"/>
            </a:endParaRPr>
          </a:p>
        </p:txBody>
      </p:sp>
      <p:sp>
        <p:nvSpPr>
          <p:cNvPr id="12" name="Google Shape;12;p1"/>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marR="0" rtl="0" algn="l">
              <a:spcBef>
                <a:spcPts val="0"/>
              </a:spcBef>
              <a:spcAft>
                <a:spcPts val="0"/>
              </a:spcAft>
              <a:buClr>
                <a:schemeClr val="dk2"/>
              </a:buClr>
              <a:buSzPts val="5000"/>
              <a:buFont typeface="Calibri"/>
              <a:buNone/>
              <a:defRPr b="0" i="0" sz="5000" u="none" cap="none" strike="noStrike">
                <a:solidFill>
                  <a:schemeClr val="dk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1"/>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85445" lvl="0" marL="457200" marR="0" rtl="0" algn="l">
              <a:spcBef>
                <a:spcPts val="520"/>
              </a:spcBef>
              <a:spcAft>
                <a:spcPts val="0"/>
              </a:spcAft>
              <a:buClr>
                <a:schemeClr val="accent3"/>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rtl="0" algn="l">
              <a:spcBef>
                <a:spcPts val="400"/>
              </a:spcBef>
              <a:spcAft>
                <a:spcPts val="0"/>
              </a:spcAft>
              <a:buClr>
                <a:schemeClr val="accent3"/>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rtl="0" algn="l">
              <a:spcBef>
                <a:spcPts val="400"/>
              </a:spcBef>
              <a:spcAft>
                <a:spcPts val="0"/>
              </a:spcAft>
              <a:buClr>
                <a:schemeClr val="accent4"/>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14" name="Google Shape;14;p1"/>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200" u="none" cap="none" strike="noStrike">
                <a:solidFill>
                  <a:srgbClr val="035C75"/>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9pPr>
          </a:lstStyle>
          <a:p/>
        </p:txBody>
      </p:sp>
      <p:sp>
        <p:nvSpPr>
          <p:cNvPr id="15" name="Google Shape;15;p1"/>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200" u="none" cap="none" strike="noStrike">
                <a:solidFill>
                  <a:srgbClr val="035C75"/>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9pPr>
          </a:lstStyle>
          <a:p/>
        </p:txBody>
      </p:sp>
      <p:sp>
        <p:nvSpPr>
          <p:cNvPr id="16" name="Google Shape;16;p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spcBef>
                <a:spcPts val="0"/>
              </a:spcBef>
              <a:buNone/>
              <a:defRPr b="0" i="0" sz="1200" u="none" cap="none" strike="noStrike">
                <a:solidFill>
                  <a:srgbClr val="035C75"/>
                </a:solidFill>
                <a:latin typeface="Constantia"/>
                <a:ea typeface="Constantia"/>
                <a:cs typeface="Constantia"/>
                <a:sym typeface="Constantia"/>
              </a:defRPr>
            </a:lvl1pPr>
            <a:lvl2pPr indent="0" lvl="1" marL="0" marR="0" rtl="0" algn="r">
              <a:spcBef>
                <a:spcPts val="0"/>
              </a:spcBef>
              <a:buNone/>
              <a:defRPr b="0" i="0" sz="1200" u="none" cap="none" strike="noStrike">
                <a:solidFill>
                  <a:srgbClr val="035C75"/>
                </a:solidFill>
                <a:latin typeface="Constantia"/>
                <a:ea typeface="Constantia"/>
                <a:cs typeface="Constantia"/>
                <a:sym typeface="Constantia"/>
              </a:defRPr>
            </a:lvl2pPr>
            <a:lvl3pPr indent="0" lvl="2" marL="0" marR="0" rtl="0" algn="r">
              <a:spcBef>
                <a:spcPts val="0"/>
              </a:spcBef>
              <a:buNone/>
              <a:defRPr b="0" i="0" sz="1200" u="none" cap="none" strike="noStrike">
                <a:solidFill>
                  <a:srgbClr val="035C75"/>
                </a:solidFill>
                <a:latin typeface="Constantia"/>
                <a:ea typeface="Constantia"/>
                <a:cs typeface="Constantia"/>
                <a:sym typeface="Constantia"/>
              </a:defRPr>
            </a:lvl3pPr>
            <a:lvl4pPr indent="0" lvl="3" marL="0" marR="0" rtl="0" algn="r">
              <a:spcBef>
                <a:spcPts val="0"/>
              </a:spcBef>
              <a:buNone/>
              <a:defRPr b="0" i="0" sz="1200" u="none" cap="none" strike="noStrike">
                <a:solidFill>
                  <a:srgbClr val="035C75"/>
                </a:solidFill>
                <a:latin typeface="Constantia"/>
                <a:ea typeface="Constantia"/>
                <a:cs typeface="Constantia"/>
                <a:sym typeface="Constantia"/>
              </a:defRPr>
            </a:lvl4pPr>
            <a:lvl5pPr indent="0" lvl="4" marL="0" marR="0" rtl="0" algn="r">
              <a:spcBef>
                <a:spcPts val="0"/>
              </a:spcBef>
              <a:buNone/>
              <a:defRPr b="0" i="0" sz="1200" u="none" cap="none" strike="noStrike">
                <a:solidFill>
                  <a:srgbClr val="035C75"/>
                </a:solidFill>
                <a:latin typeface="Constantia"/>
                <a:ea typeface="Constantia"/>
                <a:cs typeface="Constantia"/>
                <a:sym typeface="Constantia"/>
              </a:defRPr>
            </a:lvl5pPr>
            <a:lvl6pPr indent="0" lvl="5" marL="0" marR="0" rtl="0" algn="r">
              <a:spcBef>
                <a:spcPts val="0"/>
              </a:spcBef>
              <a:buNone/>
              <a:defRPr b="0" i="0" sz="1200" u="none" cap="none" strike="noStrike">
                <a:solidFill>
                  <a:srgbClr val="035C75"/>
                </a:solidFill>
                <a:latin typeface="Constantia"/>
                <a:ea typeface="Constantia"/>
                <a:cs typeface="Constantia"/>
                <a:sym typeface="Constantia"/>
              </a:defRPr>
            </a:lvl6pPr>
            <a:lvl7pPr indent="0" lvl="6" marL="0" marR="0" rtl="0" algn="r">
              <a:spcBef>
                <a:spcPts val="0"/>
              </a:spcBef>
              <a:buNone/>
              <a:defRPr b="0" i="0" sz="1200" u="none" cap="none" strike="noStrike">
                <a:solidFill>
                  <a:srgbClr val="035C75"/>
                </a:solidFill>
                <a:latin typeface="Constantia"/>
                <a:ea typeface="Constantia"/>
                <a:cs typeface="Constantia"/>
                <a:sym typeface="Constantia"/>
              </a:defRPr>
            </a:lvl7pPr>
            <a:lvl8pPr indent="0" lvl="7" marL="0" marR="0" rtl="0" algn="r">
              <a:spcBef>
                <a:spcPts val="0"/>
              </a:spcBef>
              <a:buNone/>
              <a:defRPr b="0" i="0" sz="1200" u="none" cap="none" strike="noStrike">
                <a:solidFill>
                  <a:srgbClr val="035C75"/>
                </a:solidFill>
                <a:latin typeface="Constantia"/>
                <a:ea typeface="Constantia"/>
                <a:cs typeface="Constantia"/>
                <a:sym typeface="Constantia"/>
              </a:defRPr>
            </a:lvl8pPr>
            <a:lvl9pPr indent="0" lvl="8" marL="0" marR="0" rtl="0" algn="r">
              <a:spcBef>
                <a:spcPts val="0"/>
              </a:spcBef>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tr-TR"/>
              <a:t>‹#›</a:t>
            </a:fld>
            <a:endParaRPr/>
          </a:p>
        </p:txBody>
      </p:sp>
      <p:grpSp>
        <p:nvGrpSpPr>
          <p:cNvPr id="17" name="Google Shape;17;p1"/>
          <p:cNvGrpSpPr/>
          <p:nvPr/>
        </p:nvGrpSpPr>
        <p:grpSpPr>
          <a:xfrm>
            <a:off x="-29294" y="-16113"/>
            <a:ext cx="9198255" cy="1086266"/>
            <a:chOff x="-29322" y="-1971"/>
            <a:chExt cx="9198255" cy="1086266"/>
          </a:xfrm>
        </p:grpSpPr>
        <p:sp>
          <p:nvSpPr>
            <p:cNvPr id="18" name="Google Shape;18;p1"/>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9" name="Google Shape;19;p1"/>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3"/>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5000"/>
              <a:buFont typeface="Calibri"/>
              <a:buNone/>
            </a:pPr>
            <a:r>
              <a:t/>
            </a:r>
            <a:endParaRPr>
              <a:solidFill>
                <a:srgbClr val="C00000"/>
              </a:solidFill>
            </a:endParaRPr>
          </a:p>
        </p:txBody>
      </p:sp>
      <p:sp>
        <p:nvSpPr>
          <p:cNvPr id="98" name="Google Shape;98;p13"/>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tr-TR"/>
              <a:t>Bu derste  bir projede;</a:t>
            </a:r>
            <a:endParaRPr/>
          </a:p>
          <a:p>
            <a:pPr indent="0" lvl="0" marL="0" rtl="0" algn="l">
              <a:spcBef>
                <a:spcPts val="520"/>
              </a:spcBef>
              <a:spcAft>
                <a:spcPts val="0"/>
              </a:spcAft>
              <a:buSzPts val="2470"/>
              <a:buNone/>
            </a:pPr>
            <a:r>
              <a:t/>
            </a:r>
            <a:endParaRPr/>
          </a:p>
          <a:p>
            <a:pPr indent="-274320" lvl="0" marL="274320" rtl="0" algn="l">
              <a:spcBef>
                <a:spcPts val="520"/>
              </a:spcBef>
              <a:spcAft>
                <a:spcPts val="0"/>
              </a:spcAft>
              <a:buSzPts val="2470"/>
              <a:buChar char="⚫"/>
            </a:pPr>
            <a:r>
              <a:rPr lang="tr-TR">
                <a:solidFill>
                  <a:srgbClr val="FF0000"/>
                </a:solidFill>
              </a:rPr>
              <a:t>Bilimsel bir araştırmanın tanımını,</a:t>
            </a:r>
            <a:endParaRPr/>
          </a:p>
          <a:p>
            <a:pPr indent="0" lvl="0" marL="0" rtl="0" algn="l">
              <a:spcBef>
                <a:spcPts val="520"/>
              </a:spcBef>
              <a:spcAft>
                <a:spcPts val="0"/>
              </a:spcAft>
              <a:buSzPts val="2470"/>
              <a:buNone/>
            </a:pPr>
            <a:r>
              <a:t/>
            </a:r>
            <a:endParaRPr/>
          </a:p>
          <a:p>
            <a:pPr indent="-274320" lvl="0" marL="274320" rtl="0" algn="l">
              <a:spcBef>
                <a:spcPts val="520"/>
              </a:spcBef>
              <a:spcAft>
                <a:spcPts val="0"/>
              </a:spcAft>
              <a:buSzPts val="2470"/>
              <a:buChar char="⚫"/>
            </a:pPr>
            <a:r>
              <a:rPr lang="tr-TR">
                <a:solidFill>
                  <a:srgbClr val="C00000"/>
                </a:solidFill>
              </a:rPr>
              <a:t>Özgün değerini</a:t>
            </a:r>
            <a:endParaRPr/>
          </a:p>
          <a:p>
            <a:pPr indent="0" lvl="0" marL="0" rtl="0" algn="l">
              <a:spcBef>
                <a:spcPts val="520"/>
              </a:spcBef>
              <a:spcAft>
                <a:spcPts val="0"/>
              </a:spcAft>
              <a:buSzPts val="2470"/>
              <a:buNone/>
            </a:pPr>
            <a:r>
              <a:t/>
            </a:r>
            <a:endParaRPr>
              <a:solidFill>
                <a:srgbClr val="C00000"/>
              </a:solidFill>
            </a:endParaRPr>
          </a:p>
          <a:p>
            <a:pPr indent="-274320" lvl="0" marL="274320" rtl="0" algn="l">
              <a:spcBef>
                <a:spcPts val="520"/>
              </a:spcBef>
              <a:spcAft>
                <a:spcPts val="0"/>
              </a:spcAft>
              <a:buSzPts val="2470"/>
              <a:buChar char="⚫"/>
            </a:pPr>
            <a:r>
              <a:rPr lang="tr-TR">
                <a:solidFill>
                  <a:srgbClr val="C00000"/>
                </a:solidFill>
              </a:rPr>
              <a:t>Amaç ve hedeflerini</a:t>
            </a:r>
            <a:endParaRPr/>
          </a:p>
          <a:p>
            <a:pPr indent="0" lvl="0" marL="0" rtl="0" algn="l">
              <a:spcBef>
                <a:spcPts val="520"/>
              </a:spcBef>
              <a:spcAft>
                <a:spcPts val="0"/>
              </a:spcAft>
              <a:buSzPts val="2470"/>
              <a:buNone/>
            </a:pPr>
            <a:r>
              <a:t/>
            </a:r>
            <a:endParaRPr>
              <a:solidFill>
                <a:srgbClr val="C00000"/>
              </a:solidFill>
            </a:endParaRPr>
          </a:p>
          <a:p>
            <a:pPr indent="-274320" lvl="0" marL="274320" rtl="0" algn="l">
              <a:spcBef>
                <a:spcPts val="520"/>
              </a:spcBef>
              <a:spcAft>
                <a:spcPts val="0"/>
              </a:spcAft>
              <a:buSzPts val="2470"/>
              <a:buChar char="⚫"/>
            </a:pPr>
            <a:r>
              <a:rPr lang="tr-TR">
                <a:solidFill>
                  <a:srgbClr val="C00000"/>
                </a:solidFill>
              </a:rPr>
              <a:t>Yaygın etki/katma değerini </a:t>
            </a:r>
            <a:r>
              <a:rPr lang="tr-TR"/>
              <a:t>anlamaya çalışacağız.</a:t>
            </a:r>
            <a:endParaRPr/>
          </a:p>
        </p:txBody>
      </p:sp>
      <p:sp>
        <p:nvSpPr>
          <p:cNvPr id="99" name="Google Shape;99;p1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4"/>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5000"/>
              <a:buFont typeface="Calibri"/>
              <a:buNone/>
            </a:pPr>
            <a:r>
              <a:rPr lang="tr-TR"/>
              <a:t>Bilimsel Bir Araştırma</a:t>
            </a:r>
            <a:endParaRPr/>
          </a:p>
        </p:txBody>
      </p:sp>
      <p:sp>
        <p:nvSpPr>
          <p:cNvPr id="105" name="Google Shape;105;p14"/>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117475" lvl="0" marL="274320" rtl="0" algn="l">
              <a:spcBef>
                <a:spcPts val="0"/>
              </a:spcBef>
              <a:spcAft>
                <a:spcPts val="0"/>
              </a:spcAft>
              <a:buSzPts val="2470"/>
              <a:buNone/>
            </a:pPr>
            <a:r>
              <a:t/>
            </a:r>
            <a:endParaRPr/>
          </a:p>
          <a:p>
            <a:pPr indent="-274320" lvl="0" marL="274320" rtl="0" algn="l">
              <a:spcBef>
                <a:spcPts val="560"/>
              </a:spcBef>
              <a:spcAft>
                <a:spcPts val="0"/>
              </a:spcAft>
              <a:buSzPts val="2470"/>
              <a:buChar char="⚫"/>
            </a:pPr>
            <a:r>
              <a:rPr lang="tr-TR"/>
              <a:t>Bilimsel bir araştırma, "</a:t>
            </a:r>
            <a:r>
              <a:rPr b="1" lang="tr-TR">
                <a:solidFill>
                  <a:srgbClr val="002060"/>
                </a:solidFill>
              </a:rPr>
              <a:t>insan, kültür ve toplum bilgisi </a:t>
            </a:r>
            <a:r>
              <a:rPr b="1" lang="tr-TR" sz="2800">
                <a:solidFill>
                  <a:srgbClr val="002060"/>
                </a:solidFill>
              </a:rPr>
              <a:t>dâhil</a:t>
            </a:r>
            <a:r>
              <a:rPr b="1" lang="tr-TR">
                <a:solidFill>
                  <a:srgbClr val="002060"/>
                </a:solidFill>
              </a:rPr>
              <a:t> olmak üzere bilgi birikimini artırmak için yapılan türetici ve sistematik çalışmayı ve/veya bu yeni bilgi birikimi ile yeni uygulamaların geliştirilmesi için kullanılan yöntemler topluluğ</a:t>
            </a:r>
            <a:r>
              <a:rPr lang="tr-TR">
                <a:solidFill>
                  <a:srgbClr val="002060"/>
                </a:solidFill>
              </a:rPr>
              <a:t>u</a:t>
            </a:r>
            <a:r>
              <a:rPr lang="tr-TR"/>
              <a:t>" diye ifade edilebilir.</a:t>
            </a:r>
            <a:endParaRPr/>
          </a:p>
        </p:txBody>
      </p:sp>
      <p:sp>
        <p:nvSpPr>
          <p:cNvPr id="106" name="Google Shape;106;p1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5"/>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rgbClr val="FF0000"/>
              </a:buClr>
              <a:buSzPts val="5000"/>
              <a:buFont typeface="Calibri"/>
              <a:buNone/>
            </a:pPr>
            <a:r>
              <a:rPr lang="tr-TR">
                <a:solidFill>
                  <a:srgbClr val="FF0000"/>
                </a:solidFill>
              </a:rPr>
              <a:t>Tek Bir Fikir Edinmek</a:t>
            </a:r>
            <a:endParaRPr/>
          </a:p>
        </p:txBody>
      </p:sp>
      <p:pic>
        <p:nvPicPr>
          <p:cNvPr id="112" name="Google Shape;112;p15"/>
          <p:cNvPicPr preferRelativeResize="0"/>
          <p:nvPr>
            <p:ph idx="1" type="body"/>
          </p:nvPr>
        </p:nvPicPr>
        <p:blipFill rotWithShape="1">
          <a:blip r:embed="rId3">
            <a:alphaModFix/>
          </a:blip>
          <a:srcRect b="7084" l="1435" r="0" t="0"/>
          <a:stretch/>
        </p:blipFill>
        <p:spPr>
          <a:xfrm>
            <a:off x="1445048" y="1935163"/>
            <a:ext cx="6253904" cy="4389437"/>
          </a:xfrm>
          <a:prstGeom prst="rect">
            <a:avLst/>
          </a:prstGeom>
          <a:noFill/>
          <a:ln>
            <a:noFill/>
          </a:ln>
        </p:spPr>
      </p:pic>
      <p:sp>
        <p:nvSpPr>
          <p:cNvPr id="113" name="Google Shape;113;p1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6"/>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rgbClr val="FF0000"/>
              </a:buClr>
              <a:buSzPts val="5000"/>
              <a:buFont typeface="Calibri"/>
              <a:buNone/>
            </a:pPr>
            <a:r>
              <a:rPr lang="tr-TR">
                <a:solidFill>
                  <a:srgbClr val="FF0000"/>
                </a:solidFill>
              </a:rPr>
              <a:t>Araştırma Sarmalı</a:t>
            </a:r>
            <a:endParaRPr/>
          </a:p>
        </p:txBody>
      </p:sp>
      <p:grpSp>
        <p:nvGrpSpPr>
          <p:cNvPr id="119" name="Google Shape;119;p16"/>
          <p:cNvGrpSpPr/>
          <p:nvPr/>
        </p:nvGrpSpPr>
        <p:grpSpPr>
          <a:xfrm>
            <a:off x="2396974" y="1982527"/>
            <a:ext cx="3969053" cy="4416945"/>
            <a:chOff x="1634973" y="1327"/>
            <a:chExt cx="3969053" cy="4416945"/>
          </a:xfrm>
        </p:grpSpPr>
        <p:sp>
          <p:nvSpPr>
            <p:cNvPr id="120" name="Google Shape;120;p16"/>
            <p:cNvSpPr/>
            <p:nvPr/>
          </p:nvSpPr>
          <p:spPr>
            <a:xfrm>
              <a:off x="1909285" y="499585"/>
              <a:ext cx="3420429" cy="3420429"/>
            </a:xfrm>
            <a:prstGeom prst="blockArc">
              <a:avLst>
                <a:gd fmla="val 12600000" name="adj1"/>
                <a:gd fmla="val 16200000" name="adj2"/>
                <a:gd fmla="val 4522" name="adj3"/>
              </a:avLst>
            </a:prstGeom>
            <a:solidFill>
              <a:srgbClr val="A7B9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6"/>
            <p:cNvSpPr/>
            <p:nvPr/>
          </p:nvSpPr>
          <p:spPr>
            <a:xfrm>
              <a:off x="1909285" y="499585"/>
              <a:ext cx="3420429" cy="3420429"/>
            </a:xfrm>
            <a:prstGeom prst="blockArc">
              <a:avLst>
                <a:gd fmla="val 9000000" name="adj1"/>
                <a:gd fmla="val 12600000" name="adj2"/>
                <a:gd fmla="val 4522" name="adj3"/>
              </a:avLst>
            </a:prstGeom>
            <a:solidFill>
              <a:srgbClr val="A7B9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6"/>
            <p:cNvSpPr/>
            <p:nvPr/>
          </p:nvSpPr>
          <p:spPr>
            <a:xfrm>
              <a:off x="1909285" y="499585"/>
              <a:ext cx="3420429" cy="3420429"/>
            </a:xfrm>
            <a:prstGeom prst="blockArc">
              <a:avLst>
                <a:gd fmla="val 5400000" name="adj1"/>
                <a:gd fmla="val 9000000" name="adj2"/>
                <a:gd fmla="val 4522" name="adj3"/>
              </a:avLst>
            </a:prstGeom>
            <a:solidFill>
              <a:srgbClr val="A7B9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6"/>
            <p:cNvSpPr/>
            <p:nvPr/>
          </p:nvSpPr>
          <p:spPr>
            <a:xfrm>
              <a:off x="1909285" y="499585"/>
              <a:ext cx="3420429" cy="3420429"/>
            </a:xfrm>
            <a:prstGeom prst="blockArc">
              <a:avLst>
                <a:gd fmla="val 1800000" name="adj1"/>
                <a:gd fmla="val 5400000" name="adj2"/>
                <a:gd fmla="val 4522" name="adj3"/>
              </a:avLst>
            </a:prstGeom>
            <a:solidFill>
              <a:srgbClr val="A7B9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6"/>
            <p:cNvSpPr/>
            <p:nvPr/>
          </p:nvSpPr>
          <p:spPr>
            <a:xfrm>
              <a:off x="1909285" y="499585"/>
              <a:ext cx="3420429" cy="3420429"/>
            </a:xfrm>
            <a:prstGeom prst="blockArc">
              <a:avLst>
                <a:gd fmla="val 19800000" name="adj1"/>
                <a:gd fmla="val 1800000" name="adj2"/>
                <a:gd fmla="val 4522" name="adj3"/>
              </a:avLst>
            </a:prstGeom>
            <a:solidFill>
              <a:srgbClr val="A7B9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6"/>
            <p:cNvSpPr/>
            <p:nvPr/>
          </p:nvSpPr>
          <p:spPr>
            <a:xfrm>
              <a:off x="1909285" y="499585"/>
              <a:ext cx="3420429" cy="3420429"/>
            </a:xfrm>
            <a:prstGeom prst="blockArc">
              <a:avLst>
                <a:gd fmla="val 16200000" name="adj1"/>
                <a:gd fmla="val 19800000" name="adj2"/>
                <a:gd fmla="val 4522" name="adj3"/>
              </a:avLst>
            </a:prstGeom>
            <a:solidFill>
              <a:srgbClr val="A7B9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6"/>
            <p:cNvSpPr/>
            <p:nvPr/>
          </p:nvSpPr>
          <p:spPr>
            <a:xfrm>
              <a:off x="2852477" y="1442777"/>
              <a:ext cx="1534045" cy="1534045"/>
            </a:xfrm>
            <a:prstGeom prst="ellipse">
              <a:avLst/>
            </a:prstGeom>
            <a:solidFill>
              <a:srgbClr val="0D6DC5"/>
            </a:solidFill>
            <a:ln>
              <a:noFill/>
            </a:ln>
            <a:effectLst>
              <a:outerShdw blurRad="57150" rotWithShape="0" algn="ctr" dir="5400000" dist="38100">
                <a:srgbClr val="022442">
                  <a:alpha val="4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6"/>
            <p:cNvSpPr txBox="1"/>
            <p:nvPr/>
          </p:nvSpPr>
          <p:spPr>
            <a:xfrm>
              <a:off x="3077133" y="1667433"/>
              <a:ext cx="1084733" cy="1084733"/>
            </a:xfrm>
            <a:prstGeom prst="rect">
              <a:avLst/>
            </a:prstGeom>
            <a:noFill/>
            <a:ln>
              <a:noFill/>
            </a:ln>
          </p:spPr>
          <p:txBody>
            <a:bodyPr anchorCtr="0" anchor="ctr" bIns="22850" lIns="22850" spcFirstLastPara="1" rIns="22850" wrap="square" tIns="22850">
              <a:noAutofit/>
            </a:bodyPr>
            <a:lstStyle/>
            <a:p>
              <a:pPr indent="0" lvl="0" marL="0" marR="0" rtl="0" algn="ctr">
                <a:lnSpc>
                  <a:spcPct val="90000"/>
                </a:lnSpc>
                <a:spcBef>
                  <a:spcPts val="0"/>
                </a:spcBef>
                <a:spcAft>
                  <a:spcPts val="0"/>
                </a:spcAft>
                <a:buNone/>
              </a:pPr>
              <a:r>
                <a:rPr lang="tr-TR" sz="1800">
                  <a:solidFill>
                    <a:schemeClr val="lt1"/>
                  </a:solidFill>
                  <a:latin typeface="Calibri"/>
                  <a:ea typeface="Calibri"/>
                  <a:cs typeface="Calibri"/>
                  <a:sym typeface="Calibri"/>
                </a:rPr>
                <a:t>Özgün değer-Amaç ve hedefler</a:t>
              </a:r>
              <a:endParaRPr sz="1800">
                <a:solidFill>
                  <a:schemeClr val="lt1"/>
                </a:solidFill>
                <a:latin typeface="Calibri"/>
                <a:ea typeface="Calibri"/>
                <a:cs typeface="Calibri"/>
                <a:sym typeface="Calibri"/>
              </a:endParaRPr>
            </a:p>
          </p:txBody>
        </p:sp>
        <p:sp>
          <p:nvSpPr>
            <p:cNvPr id="128" name="Google Shape;128;p16"/>
            <p:cNvSpPr/>
            <p:nvPr/>
          </p:nvSpPr>
          <p:spPr>
            <a:xfrm>
              <a:off x="3082583" y="1327"/>
              <a:ext cx="1073832" cy="1073832"/>
            </a:xfrm>
            <a:prstGeom prst="ellipse">
              <a:avLst/>
            </a:prstGeom>
            <a:solidFill>
              <a:srgbClr val="0D6DC5"/>
            </a:solidFill>
            <a:ln>
              <a:noFill/>
            </a:ln>
            <a:effectLst>
              <a:outerShdw blurRad="57150" rotWithShape="0" algn="ctr" dir="5400000" dist="38100">
                <a:srgbClr val="022442">
                  <a:alpha val="4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6"/>
            <p:cNvSpPr txBox="1"/>
            <p:nvPr/>
          </p:nvSpPr>
          <p:spPr>
            <a:xfrm>
              <a:off x="3239842" y="158586"/>
              <a:ext cx="759314" cy="759314"/>
            </a:xfrm>
            <a:prstGeom prst="rect">
              <a:avLst/>
            </a:prstGeom>
            <a:noFill/>
            <a:ln>
              <a:noFill/>
            </a:ln>
          </p:spPr>
          <p:txBody>
            <a:bodyPr anchorCtr="0" anchor="ctr" bIns="16500" lIns="16500" spcFirstLastPara="1" rIns="16500" wrap="square" tIns="16500">
              <a:noAutofit/>
            </a:bodyPr>
            <a:lstStyle/>
            <a:p>
              <a:pPr indent="0" lvl="0" marL="0" marR="0" rtl="0" algn="ctr">
                <a:lnSpc>
                  <a:spcPct val="90000"/>
                </a:lnSpc>
                <a:spcBef>
                  <a:spcPts val="0"/>
                </a:spcBef>
                <a:spcAft>
                  <a:spcPts val="0"/>
                </a:spcAft>
                <a:buNone/>
              </a:pPr>
              <a:r>
                <a:rPr lang="tr-TR" sz="1300">
                  <a:solidFill>
                    <a:schemeClr val="lt1"/>
                  </a:solidFill>
                  <a:latin typeface="Calibri"/>
                  <a:ea typeface="Calibri"/>
                  <a:cs typeface="Calibri"/>
                  <a:sym typeface="Calibri"/>
                </a:rPr>
                <a:t>Araştırma konusunu belirlemek</a:t>
              </a:r>
              <a:endParaRPr sz="1300">
                <a:solidFill>
                  <a:schemeClr val="lt1"/>
                </a:solidFill>
                <a:latin typeface="Calibri"/>
                <a:ea typeface="Calibri"/>
                <a:cs typeface="Calibri"/>
                <a:sym typeface="Calibri"/>
              </a:endParaRPr>
            </a:p>
          </p:txBody>
        </p:sp>
        <p:sp>
          <p:nvSpPr>
            <p:cNvPr id="130" name="Google Shape;130;p16"/>
            <p:cNvSpPr/>
            <p:nvPr/>
          </p:nvSpPr>
          <p:spPr>
            <a:xfrm>
              <a:off x="4530194" y="837105"/>
              <a:ext cx="1073832" cy="1073832"/>
            </a:xfrm>
            <a:prstGeom prst="ellipse">
              <a:avLst/>
            </a:prstGeom>
            <a:solidFill>
              <a:srgbClr val="0D6DC5"/>
            </a:solidFill>
            <a:ln>
              <a:noFill/>
            </a:ln>
            <a:effectLst>
              <a:outerShdw blurRad="57150" rotWithShape="0" algn="ctr" dir="5400000" dist="38100">
                <a:srgbClr val="022442">
                  <a:alpha val="4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6"/>
            <p:cNvSpPr txBox="1"/>
            <p:nvPr/>
          </p:nvSpPr>
          <p:spPr>
            <a:xfrm>
              <a:off x="4687453" y="994364"/>
              <a:ext cx="759314" cy="759314"/>
            </a:xfrm>
            <a:prstGeom prst="rect">
              <a:avLst/>
            </a:prstGeom>
            <a:noFill/>
            <a:ln>
              <a:noFill/>
            </a:ln>
          </p:spPr>
          <p:txBody>
            <a:bodyPr anchorCtr="0" anchor="ctr" bIns="16500" lIns="16500" spcFirstLastPara="1" rIns="16500" wrap="square" tIns="16500">
              <a:noAutofit/>
            </a:bodyPr>
            <a:lstStyle/>
            <a:p>
              <a:pPr indent="0" lvl="0" marL="0" marR="0" rtl="0" algn="ctr">
                <a:lnSpc>
                  <a:spcPct val="90000"/>
                </a:lnSpc>
                <a:spcBef>
                  <a:spcPts val="0"/>
                </a:spcBef>
                <a:spcAft>
                  <a:spcPts val="0"/>
                </a:spcAft>
                <a:buNone/>
              </a:pPr>
              <a:r>
                <a:rPr lang="tr-TR" sz="1300">
                  <a:solidFill>
                    <a:schemeClr val="lt1"/>
                  </a:solidFill>
                  <a:latin typeface="Calibri"/>
                  <a:ea typeface="Calibri"/>
                  <a:cs typeface="Calibri"/>
                  <a:sym typeface="Calibri"/>
                </a:rPr>
                <a:t>Araştırma yöntemi hakkında düşünmek</a:t>
              </a:r>
              <a:endParaRPr sz="1300">
                <a:solidFill>
                  <a:schemeClr val="lt1"/>
                </a:solidFill>
                <a:latin typeface="Calibri"/>
                <a:ea typeface="Calibri"/>
                <a:cs typeface="Calibri"/>
                <a:sym typeface="Calibri"/>
              </a:endParaRPr>
            </a:p>
          </p:txBody>
        </p:sp>
        <p:sp>
          <p:nvSpPr>
            <p:cNvPr id="132" name="Google Shape;132;p16"/>
            <p:cNvSpPr/>
            <p:nvPr/>
          </p:nvSpPr>
          <p:spPr>
            <a:xfrm>
              <a:off x="4530194" y="2508662"/>
              <a:ext cx="1073832" cy="1073832"/>
            </a:xfrm>
            <a:prstGeom prst="ellipse">
              <a:avLst/>
            </a:prstGeom>
            <a:solidFill>
              <a:srgbClr val="0D6DC5"/>
            </a:solidFill>
            <a:ln>
              <a:noFill/>
            </a:ln>
            <a:effectLst>
              <a:outerShdw blurRad="57150" rotWithShape="0" algn="ctr" dir="5400000" dist="38100">
                <a:srgbClr val="022442">
                  <a:alpha val="4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6"/>
            <p:cNvSpPr txBox="1"/>
            <p:nvPr/>
          </p:nvSpPr>
          <p:spPr>
            <a:xfrm>
              <a:off x="4687453" y="2665921"/>
              <a:ext cx="759314" cy="759314"/>
            </a:xfrm>
            <a:prstGeom prst="rect">
              <a:avLst/>
            </a:prstGeom>
            <a:noFill/>
            <a:ln>
              <a:noFill/>
            </a:ln>
          </p:spPr>
          <p:txBody>
            <a:bodyPr anchorCtr="0" anchor="ctr" bIns="16500" lIns="16500" spcFirstLastPara="1" rIns="16500" wrap="square" tIns="16500">
              <a:noAutofit/>
            </a:bodyPr>
            <a:lstStyle/>
            <a:p>
              <a:pPr indent="0" lvl="0" marL="0" marR="0" rtl="0" algn="ctr">
                <a:lnSpc>
                  <a:spcPct val="90000"/>
                </a:lnSpc>
                <a:spcBef>
                  <a:spcPts val="0"/>
                </a:spcBef>
                <a:spcAft>
                  <a:spcPts val="0"/>
                </a:spcAft>
                <a:buNone/>
              </a:pPr>
              <a:r>
                <a:rPr lang="tr-TR" sz="1300">
                  <a:solidFill>
                    <a:schemeClr val="lt1"/>
                  </a:solidFill>
                  <a:latin typeface="Calibri"/>
                  <a:ea typeface="Calibri"/>
                  <a:cs typeface="Calibri"/>
                  <a:sym typeface="Calibri"/>
                </a:rPr>
                <a:t>İlgili literatürü okumak</a:t>
              </a:r>
              <a:endParaRPr sz="1300">
                <a:solidFill>
                  <a:schemeClr val="lt1"/>
                </a:solidFill>
                <a:latin typeface="Calibri"/>
                <a:ea typeface="Calibri"/>
                <a:cs typeface="Calibri"/>
                <a:sym typeface="Calibri"/>
              </a:endParaRPr>
            </a:p>
          </p:txBody>
        </p:sp>
        <p:sp>
          <p:nvSpPr>
            <p:cNvPr id="134" name="Google Shape;134;p16"/>
            <p:cNvSpPr/>
            <p:nvPr/>
          </p:nvSpPr>
          <p:spPr>
            <a:xfrm>
              <a:off x="3082583" y="3344440"/>
              <a:ext cx="1073832" cy="1073832"/>
            </a:xfrm>
            <a:prstGeom prst="ellipse">
              <a:avLst/>
            </a:prstGeom>
            <a:solidFill>
              <a:srgbClr val="0D6DC5"/>
            </a:solidFill>
            <a:ln>
              <a:noFill/>
            </a:ln>
            <a:effectLst>
              <a:outerShdw blurRad="57150" rotWithShape="0" algn="ctr" dir="5400000" dist="38100">
                <a:srgbClr val="022442">
                  <a:alpha val="4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6"/>
            <p:cNvSpPr txBox="1"/>
            <p:nvPr/>
          </p:nvSpPr>
          <p:spPr>
            <a:xfrm>
              <a:off x="3239842" y="3501699"/>
              <a:ext cx="759314" cy="759314"/>
            </a:xfrm>
            <a:prstGeom prst="rect">
              <a:avLst/>
            </a:prstGeom>
            <a:noFill/>
            <a:ln>
              <a:noFill/>
            </a:ln>
          </p:spPr>
          <p:txBody>
            <a:bodyPr anchorCtr="0" anchor="ctr" bIns="16500" lIns="16500" spcFirstLastPara="1" rIns="16500" wrap="square" tIns="16500">
              <a:noAutofit/>
            </a:bodyPr>
            <a:lstStyle/>
            <a:p>
              <a:pPr indent="0" lvl="0" marL="0" marR="0" rtl="0" algn="ctr">
                <a:lnSpc>
                  <a:spcPct val="90000"/>
                </a:lnSpc>
                <a:spcBef>
                  <a:spcPts val="0"/>
                </a:spcBef>
                <a:spcAft>
                  <a:spcPts val="0"/>
                </a:spcAft>
                <a:buNone/>
              </a:pPr>
              <a:r>
                <a:rPr lang="tr-TR" sz="1300">
                  <a:solidFill>
                    <a:schemeClr val="lt1"/>
                  </a:solidFill>
                  <a:latin typeface="Calibri"/>
                  <a:ea typeface="Calibri"/>
                  <a:cs typeface="Calibri"/>
                  <a:sym typeface="Calibri"/>
                </a:rPr>
                <a:t>Verileri toplamak</a:t>
              </a:r>
              <a:endParaRPr sz="1300">
                <a:solidFill>
                  <a:schemeClr val="lt1"/>
                </a:solidFill>
                <a:latin typeface="Calibri"/>
                <a:ea typeface="Calibri"/>
                <a:cs typeface="Calibri"/>
                <a:sym typeface="Calibri"/>
              </a:endParaRPr>
            </a:p>
          </p:txBody>
        </p:sp>
        <p:sp>
          <p:nvSpPr>
            <p:cNvPr id="136" name="Google Shape;136;p16"/>
            <p:cNvSpPr/>
            <p:nvPr/>
          </p:nvSpPr>
          <p:spPr>
            <a:xfrm>
              <a:off x="1634973" y="2508662"/>
              <a:ext cx="1073832" cy="1073832"/>
            </a:xfrm>
            <a:prstGeom prst="ellipse">
              <a:avLst/>
            </a:prstGeom>
            <a:solidFill>
              <a:srgbClr val="0D6DC5"/>
            </a:solidFill>
            <a:ln>
              <a:noFill/>
            </a:ln>
            <a:effectLst>
              <a:outerShdw blurRad="57150" rotWithShape="0" algn="ctr" dir="5400000" dist="38100">
                <a:srgbClr val="022442">
                  <a:alpha val="4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6"/>
            <p:cNvSpPr txBox="1"/>
            <p:nvPr/>
          </p:nvSpPr>
          <p:spPr>
            <a:xfrm>
              <a:off x="1792232" y="2665921"/>
              <a:ext cx="759314" cy="759314"/>
            </a:xfrm>
            <a:prstGeom prst="rect">
              <a:avLst/>
            </a:prstGeom>
            <a:noFill/>
            <a:ln>
              <a:noFill/>
            </a:ln>
          </p:spPr>
          <p:txBody>
            <a:bodyPr anchorCtr="0" anchor="ctr" bIns="16500" lIns="16500" spcFirstLastPara="1" rIns="16500" wrap="square" tIns="16500">
              <a:noAutofit/>
            </a:bodyPr>
            <a:lstStyle/>
            <a:p>
              <a:pPr indent="0" lvl="0" marL="0" marR="0" rtl="0" algn="ctr">
                <a:lnSpc>
                  <a:spcPct val="90000"/>
                </a:lnSpc>
                <a:spcBef>
                  <a:spcPts val="0"/>
                </a:spcBef>
                <a:spcAft>
                  <a:spcPts val="0"/>
                </a:spcAft>
                <a:buNone/>
              </a:pPr>
              <a:r>
                <a:rPr lang="tr-TR" sz="1300">
                  <a:solidFill>
                    <a:schemeClr val="lt1"/>
                  </a:solidFill>
                  <a:latin typeface="Calibri"/>
                  <a:ea typeface="Calibri"/>
                  <a:cs typeface="Calibri"/>
                  <a:sym typeface="Calibri"/>
                </a:rPr>
                <a:t>Verileri analiz etmek</a:t>
              </a:r>
              <a:endParaRPr sz="1300">
                <a:solidFill>
                  <a:schemeClr val="lt1"/>
                </a:solidFill>
                <a:latin typeface="Calibri"/>
                <a:ea typeface="Calibri"/>
                <a:cs typeface="Calibri"/>
                <a:sym typeface="Calibri"/>
              </a:endParaRPr>
            </a:p>
          </p:txBody>
        </p:sp>
        <p:sp>
          <p:nvSpPr>
            <p:cNvPr id="138" name="Google Shape;138;p16"/>
            <p:cNvSpPr/>
            <p:nvPr/>
          </p:nvSpPr>
          <p:spPr>
            <a:xfrm>
              <a:off x="1634973" y="837105"/>
              <a:ext cx="1073832" cy="1073832"/>
            </a:xfrm>
            <a:prstGeom prst="ellipse">
              <a:avLst/>
            </a:prstGeom>
            <a:solidFill>
              <a:srgbClr val="0D6DC5"/>
            </a:solidFill>
            <a:ln>
              <a:noFill/>
            </a:ln>
            <a:effectLst>
              <a:outerShdw blurRad="57150" rotWithShape="0" algn="ctr" dir="5400000" dist="38100">
                <a:srgbClr val="022442">
                  <a:alpha val="4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6"/>
            <p:cNvSpPr txBox="1"/>
            <p:nvPr/>
          </p:nvSpPr>
          <p:spPr>
            <a:xfrm>
              <a:off x="1792232" y="994364"/>
              <a:ext cx="759314" cy="759314"/>
            </a:xfrm>
            <a:prstGeom prst="rect">
              <a:avLst/>
            </a:prstGeom>
            <a:noFill/>
            <a:ln>
              <a:noFill/>
            </a:ln>
          </p:spPr>
          <p:txBody>
            <a:bodyPr anchorCtr="0" anchor="ctr" bIns="16500" lIns="16500" spcFirstLastPara="1" rIns="16500" wrap="square" tIns="16500">
              <a:noAutofit/>
            </a:bodyPr>
            <a:lstStyle/>
            <a:p>
              <a:pPr indent="0" lvl="0" marL="0" marR="0" rtl="0" algn="ctr">
                <a:lnSpc>
                  <a:spcPct val="90000"/>
                </a:lnSpc>
                <a:spcBef>
                  <a:spcPts val="0"/>
                </a:spcBef>
                <a:spcAft>
                  <a:spcPts val="0"/>
                </a:spcAft>
                <a:buNone/>
              </a:pPr>
              <a:r>
                <a:rPr lang="tr-TR" sz="1300">
                  <a:solidFill>
                    <a:schemeClr val="lt1"/>
                  </a:solidFill>
                  <a:latin typeface="Calibri"/>
                  <a:ea typeface="Calibri"/>
                  <a:cs typeface="Calibri"/>
                  <a:sym typeface="Calibri"/>
                </a:rPr>
                <a:t>Raporu yazmak</a:t>
              </a:r>
              <a:endParaRPr sz="1300">
                <a:solidFill>
                  <a:schemeClr val="lt1"/>
                </a:solidFill>
                <a:latin typeface="Calibri"/>
                <a:ea typeface="Calibri"/>
                <a:cs typeface="Calibri"/>
                <a:sym typeface="Calibri"/>
              </a:endParaRPr>
            </a:p>
          </p:txBody>
        </p:sp>
      </p:grpSp>
      <p:sp>
        <p:nvSpPr>
          <p:cNvPr id="140" name="Google Shape;140;p1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7"/>
          <p:cNvSpPr txBox="1"/>
          <p:nvPr>
            <p:ph type="title"/>
          </p:nvPr>
        </p:nvSpPr>
        <p:spPr>
          <a:xfrm>
            <a:off x="457200" y="704088"/>
            <a:ext cx="8229600" cy="743712"/>
          </a:xfrm>
          <a:prstGeom prst="rect">
            <a:avLst/>
          </a:prstGeom>
          <a:noFill/>
          <a:ln>
            <a:noFill/>
          </a:ln>
        </p:spPr>
        <p:txBody>
          <a:bodyPr anchorCtr="0" anchor="b" bIns="0" lIns="0" spcFirstLastPara="1" rIns="0" wrap="square" tIns="45700">
            <a:normAutofit fontScale="90000"/>
          </a:bodyPr>
          <a:lstStyle/>
          <a:p>
            <a:pPr indent="0" lvl="0" marL="0" rtl="0" algn="ctr">
              <a:spcBef>
                <a:spcPts val="0"/>
              </a:spcBef>
              <a:spcAft>
                <a:spcPts val="0"/>
              </a:spcAft>
              <a:buClr>
                <a:srgbClr val="FF0000"/>
              </a:buClr>
              <a:buSzPct val="100000"/>
              <a:buFont typeface="Calibri"/>
              <a:buNone/>
            </a:pPr>
            <a:r>
              <a:rPr lang="tr-TR">
                <a:solidFill>
                  <a:srgbClr val="FF0000"/>
                </a:solidFill>
              </a:rPr>
              <a:t>Araştırma Sarmalı</a:t>
            </a:r>
            <a:endParaRPr/>
          </a:p>
        </p:txBody>
      </p:sp>
      <p:grpSp>
        <p:nvGrpSpPr>
          <p:cNvPr id="146" name="Google Shape;146;p17"/>
          <p:cNvGrpSpPr/>
          <p:nvPr/>
        </p:nvGrpSpPr>
        <p:grpSpPr>
          <a:xfrm>
            <a:off x="458526" y="1935163"/>
            <a:ext cx="8226947" cy="1675628"/>
            <a:chOff x="1326" y="0"/>
            <a:chExt cx="8226947" cy="1675628"/>
          </a:xfrm>
        </p:grpSpPr>
        <p:sp>
          <p:nvSpPr>
            <p:cNvPr id="147" name="Google Shape;147;p17"/>
            <p:cNvSpPr/>
            <p:nvPr/>
          </p:nvSpPr>
          <p:spPr>
            <a:xfrm>
              <a:off x="1326" y="333195"/>
              <a:ext cx="1576560" cy="185477"/>
            </a:xfrm>
            <a:prstGeom prst="rect">
              <a:avLst/>
            </a:prstGeom>
            <a:solidFill>
              <a:srgbClr val="0D6DC5"/>
            </a:solidFill>
            <a:ln>
              <a:noFill/>
            </a:ln>
            <a:effectLst>
              <a:outerShdw blurRad="57150" rotWithShape="0" algn="ctr" dir="5400000" dist="38100">
                <a:srgbClr val="022442">
                  <a:alpha val="4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7"/>
            <p:cNvSpPr/>
            <p:nvPr/>
          </p:nvSpPr>
          <p:spPr>
            <a:xfrm>
              <a:off x="1326" y="402853"/>
              <a:ext cx="115819" cy="115819"/>
            </a:xfrm>
            <a:prstGeom prst="rect">
              <a:avLst/>
            </a:prstGeom>
            <a:solidFill>
              <a:schemeClr val="lt1">
                <a:alpha val="89803"/>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7"/>
            <p:cNvSpPr/>
            <p:nvPr/>
          </p:nvSpPr>
          <p:spPr>
            <a:xfrm>
              <a:off x="1326" y="0"/>
              <a:ext cx="1576560" cy="333195"/>
            </a:xfrm>
            <a:prstGeom prst="rect">
              <a:avLst/>
            </a:prstGeom>
            <a:noFill/>
            <a:ln cap="flat" cmpd="sng" w="9525">
              <a:solidFill>
                <a:schemeClr val="dk1">
                  <a:alpha val="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7"/>
            <p:cNvSpPr txBox="1"/>
            <p:nvPr/>
          </p:nvSpPr>
          <p:spPr>
            <a:xfrm>
              <a:off x="1326" y="0"/>
              <a:ext cx="1576560" cy="333195"/>
            </a:xfrm>
            <a:prstGeom prst="rect">
              <a:avLst/>
            </a:prstGeom>
            <a:noFill/>
            <a:ln>
              <a:noFill/>
            </a:ln>
          </p:spPr>
          <p:txBody>
            <a:bodyPr anchorCtr="0" anchor="ctr" bIns="15225" lIns="22850" spcFirstLastPara="1" rIns="22850" wrap="square" tIns="15225">
              <a:noAutofit/>
            </a:bodyPr>
            <a:lstStyle/>
            <a:p>
              <a:pPr indent="0" lvl="0" marL="0" marR="0" rtl="0" algn="l">
                <a:lnSpc>
                  <a:spcPct val="90000"/>
                </a:lnSpc>
                <a:spcBef>
                  <a:spcPts val="0"/>
                </a:spcBef>
                <a:spcAft>
                  <a:spcPts val="0"/>
                </a:spcAft>
                <a:buNone/>
              </a:pPr>
              <a:r>
                <a:rPr lang="tr-TR" sz="1200">
                  <a:solidFill>
                    <a:schemeClr val="dk1"/>
                  </a:solidFill>
                  <a:latin typeface="Constantia"/>
                  <a:ea typeface="Constantia"/>
                  <a:cs typeface="Constantia"/>
                  <a:sym typeface="Constantia"/>
                </a:rPr>
                <a:t>Fikir Kaynakları</a:t>
              </a:r>
              <a:endParaRPr sz="1200">
                <a:solidFill>
                  <a:schemeClr val="dk1"/>
                </a:solidFill>
                <a:latin typeface="Constantia"/>
                <a:ea typeface="Constantia"/>
                <a:cs typeface="Constantia"/>
                <a:sym typeface="Constantia"/>
              </a:endParaRPr>
            </a:p>
          </p:txBody>
        </p:sp>
        <p:sp>
          <p:nvSpPr>
            <p:cNvPr id="151" name="Google Shape;151;p17"/>
            <p:cNvSpPr/>
            <p:nvPr/>
          </p:nvSpPr>
          <p:spPr>
            <a:xfrm>
              <a:off x="1326" y="672826"/>
              <a:ext cx="115816" cy="115816"/>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7"/>
            <p:cNvSpPr/>
            <p:nvPr/>
          </p:nvSpPr>
          <p:spPr>
            <a:xfrm>
              <a:off x="111685" y="595750"/>
              <a:ext cx="1466201" cy="269969"/>
            </a:xfrm>
            <a:prstGeom prst="rect">
              <a:avLst/>
            </a:prstGeom>
            <a:noFill/>
            <a:ln cap="flat" cmpd="sng" w="9525">
              <a:solidFill>
                <a:schemeClr val="dk1">
                  <a:alpha val="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7"/>
            <p:cNvSpPr txBox="1"/>
            <p:nvPr/>
          </p:nvSpPr>
          <p:spPr>
            <a:xfrm>
              <a:off x="111685" y="595750"/>
              <a:ext cx="1466201" cy="269969"/>
            </a:xfrm>
            <a:prstGeom prst="rect">
              <a:avLst/>
            </a:prstGeom>
            <a:noFill/>
            <a:ln>
              <a:noFill/>
            </a:ln>
          </p:spPr>
          <p:txBody>
            <a:bodyPr anchorCtr="0" anchor="ctr" bIns="85325" lIns="85325" spcFirstLastPara="1" rIns="85325" wrap="square" tIns="85325">
              <a:noAutofit/>
            </a:bodyPr>
            <a:lstStyle/>
            <a:p>
              <a:pPr indent="0" lvl="0" marL="0" marR="0" rtl="0" algn="l">
                <a:lnSpc>
                  <a:spcPct val="90000"/>
                </a:lnSpc>
                <a:spcBef>
                  <a:spcPts val="0"/>
                </a:spcBef>
                <a:spcAft>
                  <a:spcPts val="0"/>
                </a:spcAft>
                <a:buNone/>
              </a:pPr>
              <a:r>
                <a:rPr lang="tr-TR" sz="1200">
                  <a:solidFill>
                    <a:schemeClr val="dk1"/>
                  </a:solidFill>
                  <a:latin typeface="Constantia"/>
                  <a:ea typeface="Constantia"/>
                  <a:cs typeface="Constantia"/>
                  <a:sym typeface="Constantia"/>
                </a:rPr>
                <a:t>Gündelik yaşam</a:t>
              </a:r>
              <a:endParaRPr sz="1200">
                <a:solidFill>
                  <a:schemeClr val="dk1"/>
                </a:solidFill>
                <a:latin typeface="Constantia"/>
                <a:ea typeface="Constantia"/>
                <a:cs typeface="Constantia"/>
                <a:sym typeface="Constantia"/>
              </a:endParaRPr>
            </a:p>
          </p:txBody>
        </p:sp>
        <p:sp>
          <p:nvSpPr>
            <p:cNvPr id="154" name="Google Shape;154;p17"/>
            <p:cNvSpPr/>
            <p:nvPr/>
          </p:nvSpPr>
          <p:spPr>
            <a:xfrm>
              <a:off x="1326" y="942796"/>
              <a:ext cx="115816" cy="115816"/>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7"/>
            <p:cNvSpPr/>
            <p:nvPr/>
          </p:nvSpPr>
          <p:spPr>
            <a:xfrm>
              <a:off x="111685" y="865719"/>
              <a:ext cx="1466201" cy="269969"/>
            </a:xfrm>
            <a:prstGeom prst="rect">
              <a:avLst/>
            </a:prstGeom>
            <a:noFill/>
            <a:ln cap="flat" cmpd="sng" w="9525">
              <a:solidFill>
                <a:schemeClr val="dk1">
                  <a:alpha val="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7"/>
            <p:cNvSpPr txBox="1"/>
            <p:nvPr/>
          </p:nvSpPr>
          <p:spPr>
            <a:xfrm>
              <a:off x="111685" y="865719"/>
              <a:ext cx="1466201" cy="269969"/>
            </a:xfrm>
            <a:prstGeom prst="rect">
              <a:avLst/>
            </a:prstGeom>
            <a:noFill/>
            <a:ln>
              <a:noFill/>
            </a:ln>
          </p:spPr>
          <p:txBody>
            <a:bodyPr anchorCtr="0" anchor="ctr" bIns="85325" lIns="85325" spcFirstLastPara="1" rIns="85325" wrap="square" tIns="85325">
              <a:noAutofit/>
            </a:bodyPr>
            <a:lstStyle/>
            <a:p>
              <a:pPr indent="0" lvl="0" marL="0" marR="0" rtl="0" algn="l">
                <a:lnSpc>
                  <a:spcPct val="90000"/>
                </a:lnSpc>
                <a:spcBef>
                  <a:spcPts val="0"/>
                </a:spcBef>
                <a:spcAft>
                  <a:spcPts val="0"/>
                </a:spcAft>
                <a:buNone/>
              </a:pPr>
              <a:r>
                <a:rPr lang="tr-TR" sz="1200">
                  <a:solidFill>
                    <a:schemeClr val="dk1"/>
                  </a:solidFill>
                  <a:latin typeface="Constantia"/>
                  <a:ea typeface="Constantia"/>
                  <a:cs typeface="Constantia"/>
                  <a:sym typeface="Constantia"/>
                </a:rPr>
                <a:t>Pratik konular</a:t>
              </a:r>
              <a:endParaRPr sz="1200">
                <a:solidFill>
                  <a:schemeClr val="dk1"/>
                </a:solidFill>
                <a:latin typeface="Constantia"/>
                <a:ea typeface="Constantia"/>
                <a:cs typeface="Constantia"/>
                <a:sym typeface="Constantia"/>
              </a:endParaRPr>
            </a:p>
          </p:txBody>
        </p:sp>
        <p:sp>
          <p:nvSpPr>
            <p:cNvPr id="157" name="Google Shape;157;p17"/>
            <p:cNvSpPr/>
            <p:nvPr/>
          </p:nvSpPr>
          <p:spPr>
            <a:xfrm>
              <a:off x="1326" y="1212765"/>
              <a:ext cx="115816" cy="115816"/>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7"/>
            <p:cNvSpPr/>
            <p:nvPr/>
          </p:nvSpPr>
          <p:spPr>
            <a:xfrm>
              <a:off x="111685" y="1135689"/>
              <a:ext cx="1466201" cy="269969"/>
            </a:xfrm>
            <a:prstGeom prst="rect">
              <a:avLst/>
            </a:prstGeom>
            <a:noFill/>
            <a:ln cap="flat" cmpd="sng" w="9525">
              <a:solidFill>
                <a:schemeClr val="dk1">
                  <a:alpha val="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7"/>
            <p:cNvSpPr txBox="1"/>
            <p:nvPr/>
          </p:nvSpPr>
          <p:spPr>
            <a:xfrm>
              <a:off x="111685" y="1135689"/>
              <a:ext cx="1466201" cy="269969"/>
            </a:xfrm>
            <a:prstGeom prst="rect">
              <a:avLst/>
            </a:prstGeom>
            <a:noFill/>
            <a:ln>
              <a:noFill/>
            </a:ln>
          </p:spPr>
          <p:txBody>
            <a:bodyPr anchorCtr="0" anchor="ctr" bIns="85325" lIns="85325" spcFirstLastPara="1" rIns="85325" wrap="square" tIns="85325">
              <a:noAutofit/>
            </a:bodyPr>
            <a:lstStyle/>
            <a:p>
              <a:pPr indent="0" lvl="0" marL="0" marR="0" rtl="0" algn="r">
                <a:lnSpc>
                  <a:spcPct val="90000"/>
                </a:lnSpc>
                <a:spcBef>
                  <a:spcPts val="0"/>
                </a:spcBef>
                <a:spcAft>
                  <a:spcPts val="0"/>
                </a:spcAft>
                <a:buNone/>
              </a:pPr>
              <a:r>
                <a:rPr lang="tr-TR" sz="1200">
                  <a:solidFill>
                    <a:schemeClr val="dk1"/>
                  </a:solidFill>
                  <a:latin typeface="Constantia"/>
                  <a:ea typeface="Constantia"/>
                  <a:cs typeface="Constantia"/>
                  <a:sym typeface="Constantia"/>
                </a:rPr>
                <a:t>Geçmiş araştırmalar</a:t>
              </a:r>
              <a:endParaRPr sz="1200">
                <a:solidFill>
                  <a:schemeClr val="dk1"/>
                </a:solidFill>
                <a:latin typeface="Constantia"/>
                <a:ea typeface="Constantia"/>
                <a:cs typeface="Constantia"/>
                <a:sym typeface="Constantia"/>
              </a:endParaRPr>
            </a:p>
          </p:txBody>
        </p:sp>
        <p:sp>
          <p:nvSpPr>
            <p:cNvPr id="160" name="Google Shape;160;p17"/>
            <p:cNvSpPr/>
            <p:nvPr/>
          </p:nvSpPr>
          <p:spPr>
            <a:xfrm>
              <a:off x="1326" y="1482735"/>
              <a:ext cx="115816" cy="115816"/>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7"/>
            <p:cNvSpPr/>
            <p:nvPr/>
          </p:nvSpPr>
          <p:spPr>
            <a:xfrm>
              <a:off x="111685" y="1405659"/>
              <a:ext cx="1466201" cy="269969"/>
            </a:xfrm>
            <a:prstGeom prst="rect">
              <a:avLst/>
            </a:prstGeom>
            <a:noFill/>
            <a:ln cap="flat" cmpd="sng" w="9525">
              <a:solidFill>
                <a:schemeClr val="dk1">
                  <a:alpha val="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7"/>
            <p:cNvSpPr txBox="1"/>
            <p:nvPr/>
          </p:nvSpPr>
          <p:spPr>
            <a:xfrm>
              <a:off x="111685" y="1405659"/>
              <a:ext cx="1466201" cy="269969"/>
            </a:xfrm>
            <a:prstGeom prst="rect">
              <a:avLst/>
            </a:prstGeom>
            <a:noFill/>
            <a:ln>
              <a:noFill/>
            </a:ln>
          </p:spPr>
          <p:txBody>
            <a:bodyPr anchorCtr="0" anchor="ctr" bIns="85325" lIns="85325" spcFirstLastPara="1" rIns="85325" wrap="square" tIns="85325">
              <a:noAutofit/>
            </a:bodyPr>
            <a:lstStyle/>
            <a:p>
              <a:pPr indent="0" lvl="0" marL="0" marR="0" rtl="0" algn="l">
                <a:lnSpc>
                  <a:spcPct val="90000"/>
                </a:lnSpc>
                <a:spcBef>
                  <a:spcPts val="0"/>
                </a:spcBef>
                <a:spcAft>
                  <a:spcPts val="0"/>
                </a:spcAft>
                <a:buNone/>
              </a:pPr>
              <a:r>
                <a:rPr lang="tr-TR" sz="1200">
                  <a:solidFill>
                    <a:schemeClr val="dk1"/>
                  </a:solidFill>
                  <a:latin typeface="Constantia"/>
                  <a:ea typeface="Constantia"/>
                  <a:cs typeface="Constantia"/>
                  <a:sym typeface="Constantia"/>
                </a:rPr>
                <a:t>Teori veya kuram</a:t>
              </a:r>
              <a:endParaRPr sz="1200">
                <a:solidFill>
                  <a:schemeClr val="dk1"/>
                </a:solidFill>
                <a:latin typeface="Constantia"/>
                <a:ea typeface="Constantia"/>
                <a:cs typeface="Constantia"/>
                <a:sym typeface="Constantia"/>
              </a:endParaRPr>
            </a:p>
          </p:txBody>
        </p:sp>
        <p:sp>
          <p:nvSpPr>
            <p:cNvPr id="163" name="Google Shape;163;p17"/>
            <p:cNvSpPr/>
            <p:nvPr/>
          </p:nvSpPr>
          <p:spPr>
            <a:xfrm>
              <a:off x="1656714" y="333195"/>
              <a:ext cx="1576560" cy="185477"/>
            </a:xfrm>
            <a:prstGeom prst="rect">
              <a:avLst/>
            </a:prstGeom>
            <a:solidFill>
              <a:srgbClr val="0D6DC5"/>
            </a:solidFill>
            <a:ln>
              <a:noFill/>
            </a:ln>
            <a:effectLst>
              <a:outerShdw blurRad="57150" rotWithShape="0" algn="ctr" dir="5400000" dist="38100">
                <a:srgbClr val="022442">
                  <a:alpha val="4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7"/>
            <p:cNvSpPr/>
            <p:nvPr/>
          </p:nvSpPr>
          <p:spPr>
            <a:xfrm>
              <a:off x="1656714" y="402853"/>
              <a:ext cx="115819" cy="115819"/>
            </a:xfrm>
            <a:prstGeom prst="rect">
              <a:avLst/>
            </a:prstGeom>
            <a:solidFill>
              <a:schemeClr val="lt1">
                <a:alpha val="89803"/>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7"/>
            <p:cNvSpPr/>
            <p:nvPr/>
          </p:nvSpPr>
          <p:spPr>
            <a:xfrm>
              <a:off x="1656714" y="0"/>
              <a:ext cx="1576560" cy="333195"/>
            </a:xfrm>
            <a:prstGeom prst="rect">
              <a:avLst/>
            </a:prstGeom>
            <a:noFill/>
            <a:ln cap="flat" cmpd="sng" w="9525">
              <a:solidFill>
                <a:schemeClr val="dk1">
                  <a:alpha val="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7"/>
            <p:cNvSpPr txBox="1"/>
            <p:nvPr/>
          </p:nvSpPr>
          <p:spPr>
            <a:xfrm>
              <a:off x="1656714" y="0"/>
              <a:ext cx="1576560" cy="333195"/>
            </a:xfrm>
            <a:prstGeom prst="rect">
              <a:avLst/>
            </a:prstGeom>
            <a:noFill/>
            <a:ln>
              <a:noFill/>
            </a:ln>
          </p:spPr>
          <p:txBody>
            <a:bodyPr anchorCtr="0" anchor="ctr" bIns="15225" lIns="22850" spcFirstLastPara="1" rIns="22850" wrap="square" tIns="15225">
              <a:noAutofit/>
            </a:bodyPr>
            <a:lstStyle/>
            <a:p>
              <a:pPr indent="0" lvl="0" marL="0" marR="0" rtl="0" algn="l">
                <a:lnSpc>
                  <a:spcPct val="90000"/>
                </a:lnSpc>
                <a:spcBef>
                  <a:spcPts val="0"/>
                </a:spcBef>
                <a:spcAft>
                  <a:spcPts val="0"/>
                </a:spcAft>
                <a:buNone/>
              </a:pPr>
              <a:r>
                <a:rPr lang="tr-TR" sz="1200">
                  <a:solidFill>
                    <a:schemeClr val="dk1"/>
                  </a:solidFill>
                  <a:latin typeface="Constantia"/>
                  <a:ea typeface="Constantia"/>
                  <a:cs typeface="Constantia"/>
                  <a:sym typeface="Constantia"/>
                </a:rPr>
                <a:t>Literatür Taraması</a:t>
              </a:r>
              <a:endParaRPr sz="1200">
                <a:solidFill>
                  <a:schemeClr val="dk1"/>
                </a:solidFill>
                <a:latin typeface="Constantia"/>
                <a:ea typeface="Constantia"/>
                <a:cs typeface="Constantia"/>
                <a:sym typeface="Constantia"/>
              </a:endParaRPr>
            </a:p>
          </p:txBody>
        </p:sp>
        <p:sp>
          <p:nvSpPr>
            <p:cNvPr id="167" name="Google Shape;167;p17"/>
            <p:cNvSpPr/>
            <p:nvPr/>
          </p:nvSpPr>
          <p:spPr>
            <a:xfrm>
              <a:off x="1656714" y="672826"/>
              <a:ext cx="115816" cy="115816"/>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7"/>
            <p:cNvSpPr/>
            <p:nvPr/>
          </p:nvSpPr>
          <p:spPr>
            <a:xfrm>
              <a:off x="1767073" y="595750"/>
              <a:ext cx="1466201" cy="269969"/>
            </a:xfrm>
            <a:prstGeom prst="rect">
              <a:avLst/>
            </a:prstGeom>
            <a:noFill/>
            <a:ln cap="flat" cmpd="sng" w="9525">
              <a:solidFill>
                <a:schemeClr val="dk1">
                  <a:alpha val="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7"/>
            <p:cNvSpPr txBox="1"/>
            <p:nvPr/>
          </p:nvSpPr>
          <p:spPr>
            <a:xfrm>
              <a:off x="1767073" y="595750"/>
              <a:ext cx="1466201" cy="269969"/>
            </a:xfrm>
            <a:prstGeom prst="rect">
              <a:avLst/>
            </a:prstGeom>
            <a:noFill/>
            <a:ln>
              <a:noFill/>
            </a:ln>
          </p:spPr>
          <p:txBody>
            <a:bodyPr anchorCtr="0" anchor="ctr" bIns="85325" lIns="85325" spcFirstLastPara="1" rIns="85325" wrap="square" tIns="85325">
              <a:noAutofit/>
            </a:bodyPr>
            <a:lstStyle/>
            <a:p>
              <a:pPr indent="0" lvl="0" marL="0" marR="0" rtl="0" algn="l">
                <a:lnSpc>
                  <a:spcPct val="90000"/>
                </a:lnSpc>
                <a:spcBef>
                  <a:spcPts val="0"/>
                </a:spcBef>
                <a:spcAft>
                  <a:spcPts val="0"/>
                </a:spcAft>
                <a:buNone/>
              </a:pPr>
              <a:r>
                <a:rPr lang="tr-TR" sz="1200">
                  <a:solidFill>
                    <a:schemeClr val="dk1"/>
                  </a:solidFill>
                  <a:latin typeface="Constantia"/>
                  <a:ea typeface="Constantia"/>
                  <a:cs typeface="Constantia"/>
                  <a:sym typeface="Constantia"/>
                </a:rPr>
                <a:t>Kitaplar</a:t>
              </a:r>
              <a:endParaRPr/>
            </a:p>
          </p:txBody>
        </p:sp>
        <p:sp>
          <p:nvSpPr>
            <p:cNvPr id="170" name="Google Shape;170;p17"/>
            <p:cNvSpPr/>
            <p:nvPr/>
          </p:nvSpPr>
          <p:spPr>
            <a:xfrm>
              <a:off x="1656714" y="942796"/>
              <a:ext cx="115816" cy="115816"/>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7"/>
            <p:cNvSpPr/>
            <p:nvPr/>
          </p:nvSpPr>
          <p:spPr>
            <a:xfrm>
              <a:off x="1767073" y="865719"/>
              <a:ext cx="1466201" cy="269969"/>
            </a:xfrm>
            <a:prstGeom prst="rect">
              <a:avLst/>
            </a:prstGeom>
            <a:noFill/>
            <a:ln cap="flat" cmpd="sng" w="9525">
              <a:solidFill>
                <a:schemeClr val="dk1">
                  <a:alpha val="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7"/>
            <p:cNvSpPr txBox="1"/>
            <p:nvPr/>
          </p:nvSpPr>
          <p:spPr>
            <a:xfrm>
              <a:off x="1767073" y="865719"/>
              <a:ext cx="1466201" cy="269969"/>
            </a:xfrm>
            <a:prstGeom prst="rect">
              <a:avLst/>
            </a:prstGeom>
            <a:noFill/>
            <a:ln>
              <a:noFill/>
            </a:ln>
          </p:spPr>
          <p:txBody>
            <a:bodyPr anchorCtr="0" anchor="ctr" bIns="85325" lIns="85325" spcFirstLastPara="1" rIns="85325" wrap="square" tIns="85325">
              <a:noAutofit/>
            </a:bodyPr>
            <a:lstStyle/>
            <a:p>
              <a:pPr indent="0" lvl="0" marL="0" marR="0" rtl="0" algn="l">
                <a:lnSpc>
                  <a:spcPct val="90000"/>
                </a:lnSpc>
                <a:spcBef>
                  <a:spcPts val="0"/>
                </a:spcBef>
                <a:spcAft>
                  <a:spcPts val="0"/>
                </a:spcAft>
                <a:buNone/>
              </a:pPr>
              <a:r>
                <a:rPr lang="tr-TR" sz="1200">
                  <a:solidFill>
                    <a:schemeClr val="dk1"/>
                  </a:solidFill>
                  <a:latin typeface="Constantia"/>
                  <a:ea typeface="Constantia"/>
                  <a:cs typeface="Constantia"/>
                  <a:sym typeface="Constantia"/>
                </a:rPr>
                <a:t>Dergiler</a:t>
              </a:r>
              <a:endParaRPr sz="1200">
                <a:solidFill>
                  <a:schemeClr val="dk1"/>
                </a:solidFill>
                <a:latin typeface="Constantia"/>
                <a:ea typeface="Constantia"/>
                <a:cs typeface="Constantia"/>
                <a:sym typeface="Constantia"/>
              </a:endParaRPr>
            </a:p>
          </p:txBody>
        </p:sp>
        <p:sp>
          <p:nvSpPr>
            <p:cNvPr id="173" name="Google Shape;173;p17"/>
            <p:cNvSpPr/>
            <p:nvPr/>
          </p:nvSpPr>
          <p:spPr>
            <a:xfrm>
              <a:off x="1656714" y="1212765"/>
              <a:ext cx="115816" cy="115816"/>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7"/>
            <p:cNvSpPr/>
            <p:nvPr/>
          </p:nvSpPr>
          <p:spPr>
            <a:xfrm>
              <a:off x="1767073" y="1135689"/>
              <a:ext cx="1466201" cy="269969"/>
            </a:xfrm>
            <a:prstGeom prst="rect">
              <a:avLst/>
            </a:prstGeom>
            <a:noFill/>
            <a:ln cap="flat" cmpd="sng" w="9525">
              <a:solidFill>
                <a:schemeClr val="dk1">
                  <a:alpha val="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7"/>
            <p:cNvSpPr txBox="1"/>
            <p:nvPr/>
          </p:nvSpPr>
          <p:spPr>
            <a:xfrm>
              <a:off x="1767073" y="1135689"/>
              <a:ext cx="1466201" cy="269969"/>
            </a:xfrm>
            <a:prstGeom prst="rect">
              <a:avLst/>
            </a:prstGeom>
            <a:noFill/>
            <a:ln>
              <a:noFill/>
            </a:ln>
          </p:spPr>
          <p:txBody>
            <a:bodyPr anchorCtr="0" anchor="ctr" bIns="85325" lIns="85325" spcFirstLastPara="1" rIns="85325" wrap="square" tIns="85325">
              <a:noAutofit/>
            </a:bodyPr>
            <a:lstStyle/>
            <a:p>
              <a:pPr indent="0" lvl="0" marL="0" marR="0" rtl="0" algn="l">
                <a:lnSpc>
                  <a:spcPct val="90000"/>
                </a:lnSpc>
                <a:spcBef>
                  <a:spcPts val="0"/>
                </a:spcBef>
                <a:spcAft>
                  <a:spcPts val="0"/>
                </a:spcAft>
                <a:buNone/>
              </a:pPr>
              <a:r>
                <a:rPr lang="tr-TR" sz="1200">
                  <a:solidFill>
                    <a:schemeClr val="dk1"/>
                  </a:solidFill>
                  <a:latin typeface="Constantia"/>
                  <a:ea typeface="Constantia"/>
                  <a:cs typeface="Constantia"/>
                  <a:sym typeface="Constantia"/>
                </a:rPr>
                <a:t>Elektronik veri tabanı</a:t>
              </a:r>
              <a:endParaRPr sz="1200">
                <a:solidFill>
                  <a:schemeClr val="dk1"/>
                </a:solidFill>
                <a:latin typeface="Constantia"/>
                <a:ea typeface="Constantia"/>
                <a:cs typeface="Constantia"/>
                <a:sym typeface="Constantia"/>
              </a:endParaRPr>
            </a:p>
          </p:txBody>
        </p:sp>
        <p:sp>
          <p:nvSpPr>
            <p:cNvPr id="176" name="Google Shape;176;p17"/>
            <p:cNvSpPr/>
            <p:nvPr/>
          </p:nvSpPr>
          <p:spPr>
            <a:xfrm>
              <a:off x="1656714" y="1482735"/>
              <a:ext cx="115816" cy="115816"/>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7"/>
            <p:cNvSpPr/>
            <p:nvPr/>
          </p:nvSpPr>
          <p:spPr>
            <a:xfrm>
              <a:off x="1767073" y="1405659"/>
              <a:ext cx="1466201" cy="269969"/>
            </a:xfrm>
            <a:prstGeom prst="rect">
              <a:avLst/>
            </a:prstGeom>
            <a:noFill/>
            <a:ln cap="flat" cmpd="sng" w="9525">
              <a:solidFill>
                <a:schemeClr val="dk1">
                  <a:alpha val="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7"/>
            <p:cNvSpPr txBox="1"/>
            <p:nvPr/>
          </p:nvSpPr>
          <p:spPr>
            <a:xfrm>
              <a:off x="1767073" y="1405659"/>
              <a:ext cx="1466201" cy="269969"/>
            </a:xfrm>
            <a:prstGeom prst="rect">
              <a:avLst/>
            </a:prstGeom>
            <a:noFill/>
            <a:ln>
              <a:noFill/>
            </a:ln>
          </p:spPr>
          <p:txBody>
            <a:bodyPr anchorCtr="0" anchor="ctr" bIns="85325" lIns="85325" spcFirstLastPara="1" rIns="85325" wrap="square" tIns="85325">
              <a:noAutofit/>
            </a:bodyPr>
            <a:lstStyle/>
            <a:p>
              <a:pPr indent="0" lvl="0" marL="0" marR="0" rtl="0" algn="l">
                <a:lnSpc>
                  <a:spcPct val="90000"/>
                </a:lnSpc>
                <a:spcBef>
                  <a:spcPts val="0"/>
                </a:spcBef>
                <a:spcAft>
                  <a:spcPts val="0"/>
                </a:spcAft>
                <a:buNone/>
              </a:pPr>
              <a:r>
                <a:rPr lang="tr-TR" sz="1200">
                  <a:solidFill>
                    <a:schemeClr val="dk1"/>
                  </a:solidFill>
                  <a:latin typeface="Constantia"/>
                  <a:ea typeface="Constantia"/>
                  <a:cs typeface="Constantia"/>
                  <a:sym typeface="Constantia"/>
                </a:rPr>
                <a:t>Internet</a:t>
              </a:r>
              <a:endParaRPr sz="1200">
                <a:solidFill>
                  <a:schemeClr val="dk1"/>
                </a:solidFill>
                <a:latin typeface="Constantia"/>
                <a:ea typeface="Constantia"/>
                <a:cs typeface="Constantia"/>
                <a:sym typeface="Constantia"/>
              </a:endParaRPr>
            </a:p>
          </p:txBody>
        </p:sp>
        <p:sp>
          <p:nvSpPr>
            <p:cNvPr id="179" name="Google Shape;179;p17"/>
            <p:cNvSpPr/>
            <p:nvPr/>
          </p:nvSpPr>
          <p:spPr>
            <a:xfrm>
              <a:off x="3312103" y="333195"/>
              <a:ext cx="1576560" cy="185477"/>
            </a:xfrm>
            <a:prstGeom prst="rect">
              <a:avLst/>
            </a:prstGeom>
            <a:solidFill>
              <a:srgbClr val="0D6DC5"/>
            </a:solidFill>
            <a:ln>
              <a:noFill/>
            </a:ln>
            <a:effectLst>
              <a:outerShdw blurRad="57150" rotWithShape="0" algn="ctr" dir="5400000" dist="38100">
                <a:srgbClr val="022442">
                  <a:alpha val="4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7"/>
            <p:cNvSpPr/>
            <p:nvPr/>
          </p:nvSpPr>
          <p:spPr>
            <a:xfrm>
              <a:off x="3312103" y="402853"/>
              <a:ext cx="115819" cy="115819"/>
            </a:xfrm>
            <a:prstGeom prst="rect">
              <a:avLst/>
            </a:prstGeom>
            <a:solidFill>
              <a:schemeClr val="lt1">
                <a:alpha val="89803"/>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7"/>
            <p:cNvSpPr/>
            <p:nvPr/>
          </p:nvSpPr>
          <p:spPr>
            <a:xfrm>
              <a:off x="3312103" y="0"/>
              <a:ext cx="1576560" cy="333195"/>
            </a:xfrm>
            <a:prstGeom prst="rect">
              <a:avLst/>
            </a:prstGeom>
            <a:noFill/>
            <a:ln cap="flat" cmpd="sng" w="9525">
              <a:solidFill>
                <a:schemeClr val="dk1">
                  <a:alpha val="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7"/>
            <p:cNvSpPr txBox="1"/>
            <p:nvPr/>
          </p:nvSpPr>
          <p:spPr>
            <a:xfrm>
              <a:off x="3312103" y="0"/>
              <a:ext cx="1576560" cy="333195"/>
            </a:xfrm>
            <a:prstGeom prst="rect">
              <a:avLst/>
            </a:prstGeom>
            <a:noFill/>
            <a:ln>
              <a:noFill/>
            </a:ln>
          </p:spPr>
          <p:txBody>
            <a:bodyPr anchorCtr="0" anchor="ctr" bIns="15225" lIns="22850" spcFirstLastPara="1" rIns="22850" wrap="square" tIns="15225">
              <a:noAutofit/>
            </a:bodyPr>
            <a:lstStyle/>
            <a:p>
              <a:pPr indent="0" lvl="0" marL="0" marR="0" rtl="0" algn="l">
                <a:lnSpc>
                  <a:spcPct val="90000"/>
                </a:lnSpc>
                <a:spcBef>
                  <a:spcPts val="0"/>
                </a:spcBef>
                <a:spcAft>
                  <a:spcPts val="0"/>
                </a:spcAft>
                <a:buNone/>
              </a:pPr>
              <a:r>
                <a:rPr b="1" lang="tr-TR" sz="1200">
                  <a:solidFill>
                    <a:schemeClr val="dk1"/>
                  </a:solidFill>
                  <a:latin typeface="Constantia"/>
                  <a:ea typeface="Constantia"/>
                  <a:cs typeface="Constantia"/>
                  <a:sym typeface="Constantia"/>
                </a:rPr>
                <a:t>Çalışmanın Fizibilitesi</a:t>
              </a:r>
              <a:endParaRPr b="1" sz="1200">
                <a:solidFill>
                  <a:schemeClr val="dk1"/>
                </a:solidFill>
                <a:latin typeface="Constantia"/>
                <a:ea typeface="Constantia"/>
                <a:cs typeface="Constantia"/>
                <a:sym typeface="Constantia"/>
              </a:endParaRPr>
            </a:p>
          </p:txBody>
        </p:sp>
        <p:sp>
          <p:nvSpPr>
            <p:cNvPr id="183" name="Google Shape;183;p17"/>
            <p:cNvSpPr/>
            <p:nvPr/>
          </p:nvSpPr>
          <p:spPr>
            <a:xfrm>
              <a:off x="3312103" y="672826"/>
              <a:ext cx="115816" cy="115816"/>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7"/>
            <p:cNvSpPr/>
            <p:nvPr/>
          </p:nvSpPr>
          <p:spPr>
            <a:xfrm>
              <a:off x="3422462" y="595750"/>
              <a:ext cx="1466201" cy="269969"/>
            </a:xfrm>
            <a:prstGeom prst="rect">
              <a:avLst/>
            </a:prstGeom>
            <a:noFill/>
            <a:ln cap="flat" cmpd="sng" w="9525">
              <a:solidFill>
                <a:schemeClr val="dk1">
                  <a:alpha val="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7"/>
            <p:cNvSpPr txBox="1"/>
            <p:nvPr/>
          </p:nvSpPr>
          <p:spPr>
            <a:xfrm>
              <a:off x="3422462" y="595750"/>
              <a:ext cx="1466201" cy="269969"/>
            </a:xfrm>
            <a:prstGeom prst="rect">
              <a:avLst/>
            </a:prstGeom>
            <a:noFill/>
            <a:ln>
              <a:noFill/>
            </a:ln>
          </p:spPr>
          <p:txBody>
            <a:bodyPr anchorCtr="0" anchor="ctr" bIns="85325" lIns="85325" spcFirstLastPara="1" rIns="85325" wrap="square" tIns="85325">
              <a:noAutofit/>
            </a:bodyPr>
            <a:lstStyle/>
            <a:p>
              <a:pPr indent="0" lvl="0" marL="0" marR="0" rtl="0" algn="l">
                <a:lnSpc>
                  <a:spcPct val="90000"/>
                </a:lnSpc>
                <a:spcBef>
                  <a:spcPts val="0"/>
                </a:spcBef>
                <a:spcAft>
                  <a:spcPts val="0"/>
                </a:spcAft>
                <a:buNone/>
              </a:pPr>
              <a:r>
                <a:rPr lang="tr-TR" sz="1200">
                  <a:solidFill>
                    <a:schemeClr val="dk1"/>
                  </a:solidFill>
                  <a:latin typeface="Constantia"/>
                  <a:ea typeface="Constantia"/>
                  <a:cs typeface="Constantia"/>
                  <a:sym typeface="Constantia"/>
                </a:rPr>
                <a:t>Fayda/masraf oranı</a:t>
              </a:r>
              <a:endParaRPr sz="1200">
                <a:solidFill>
                  <a:schemeClr val="dk1"/>
                </a:solidFill>
                <a:latin typeface="Constantia"/>
                <a:ea typeface="Constantia"/>
                <a:cs typeface="Constantia"/>
                <a:sym typeface="Constantia"/>
              </a:endParaRPr>
            </a:p>
          </p:txBody>
        </p:sp>
        <p:sp>
          <p:nvSpPr>
            <p:cNvPr id="186" name="Google Shape;186;p17"/>
            <p:cNvSpPr/>
            <p:nvPr/>
          </p:nvSpPr>
          <p:spPr>
            <a:xfrm>
              <a:off x="4967491" y="333195"/>
              <a:ext cx="1576560" cy="185477"/>
            </a:xfrm>
            <a:prstGeom prst="rect">
              <a:avLst/>
            </a:prstGeom>
            <a:solidFill>
              <a:srgbClr val="0D6DC5"/>
            </a:solidFill>
            <a:ln>
              <a:noFill/>
            </a:ln>
            <a:effectLst>
              <a:outerShdw blurRad="57150" rotWithShape="0" algn="ctr" dir="5400000" dist="38100">
                <a:srgbClr val="022442">
                  <a:alpha val="4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7"/>
            <p:cNvSpPr/>
            <p:nvPr/>
          </p:nvSpPr>
          <p:spPr>
            <a:xfrm>
              <a:off x="4967491" y="402853"/>
              <a:ext cx="115819" cy="115819"/>
            </a:xfrm>
            <a:prstGeom prst="rect">
              <a:avLst/>
            </a:prstGeom>
            <a:solidFill>
              <a:schemeClr val="lt1">
                <a:alpha val="89803"/>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7"/>
            <p:cNvSpPr/>
            <p:nvPr/>
          </p:nvSpPr>
          <p:spPr>
            <a:xfrm>
              <a:off x="4967491" y="0"/>
              <a:ext cx="1576560" cy="333195"/>
            </a:xfrm>
            <a:prstGeom prst="rect">
              <a:avLst/>
            </a:prstGeom>
            <a:noFill/>
            <a:ln cap="flat" cmpd="sng" w="9525">
              <a:solidFill>
                <a:schemeClr val="dk1">
                  <a:alpha val="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7"/>
            <p:cNvSpPr txBox="1"/>
            <p:nvPr/>
          </p:nvSpPr>
          <p:spPr>
            <a:xfrm>
              <a:off x="4967491" y="0"/>
              <a:ext cx="1576560" cy="333195"/>
            </a:xfrm>
            <a:prstGeom prst="rect">
              <a:avLst/>
            </a:prstGeom>
            <a:noFill/>
            <a:ln>
              <a:noFill/>
            </a:ln>
          </p:spPr>
          <p:txBody>
            <a:bodyPr anchorCtr="0" anchor="ctr" bIns="15225" lIns="22850" spcFirstLastPara="1" rIns="22850" wrap="square" tIns="15225">
              <a:noAutofit/>
            </a:bodyPr>
            <a:lstStyle/>
            <a:p>
              <a:pPr indent="0" lvl="0" marL="0" marR="0" rtl="0" algn="l">
                <a:lnSpc>
                  <a:spcPct val="90000"/>
                </a:lnSpc>
                <a:spcBef>
                  <a:spcPts val="0"/>
                </a:spcBef>
                <a:spcAft>
                  <a:spcPts val="0"/>
                </a:spcAft>
                <a:buNone/>
              </a:pPr>
              <a:r>
                <a:rPr lang="tr-TR" sz="1200">
                  <a:solidFill>
                    <a:schemeClr val="dk1"/>
                  </a:solidFill>
                  <a:latin typeface="Constantia"/>
                  <a:ea typeface="Constantia"/>
                  <a:cs typeface="Constantia"/>
                  <a:sym typeface="Constantia"/>
                </a:rPr>
                <a:t>Araştırma probleminin yapılandırılması</a:t>
              </a:r>
              <a:endParaRPr sz="1200">
                <a:solidFill>
                  <a:schemeClr val="dk1"/>
                </a:solidFill>
                <a:latin typeface="Constantia"/>
                <a:ea typeface="Constantia"/>
                <a:cs typeface="Constantia"/>
                <a:sym typeface="Constantia"/>
              </a:endParaRPr>
            </a:p>
          </p:txBody>
        </p:sp>
        <p:sp>
          <p:nvSpPr>
            <p:cNvPr id="190" name="Google Shape;190;p17"/>
            <p:cNvSpPr/>
            <p:nvPr/>
          </p:nvSpPr>
          <p:spPr>
            <a:xfrm>
              <a:off x="4967491" y="672826"/>
              <a:ext cx="115816" cy="115816"/>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7"/>
            <p:cNvSpPr/>
            <p:nvPr/>
          </p:nvSpPr>
          <p:spPr>
            <a:xfrm>
              <a:off x="5077851" y="595750"/>
              <a:ext cx="1466201" cy="269969"/>
            </a:xfrm>
            <a:prstGeom prst="rect">
              <a:avLst/>
            </a:prstGeom>
            <a:noFill/>
            <a:ln cap="flat" cmpd="sng" w="9525">
              <a:solidFill>
                <a:schemeClr val="dk1">
                  <a:alpha val="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7"/>
            <p:cNvSpPr txBox="1"/>
            <p:nvPr/>
          </p:nvSpPr>
          <p:spPr>
            <a:xfrm>
              <a:off x="5077851" y="595750"/>
              <a:ext cx="1466201" cy="269969"/>
            </a:xfrm>
            <a:prstGeom prst="rect">
              <a:avLst/>
            </a:prstGeom>
            <a:noFill/>
            <a:ln>
              <a:noFill/>
            </a:ln>
          </p:spPr>
          <p:txBody>
            <a:bodyPr anchorCtr="0" anchor="ctr" bIns="85325" lIns="85325" spcFirstLastPara="1" rIns="85325" wrap="square" tIns="85325">
              <a:noAutofit/>
            </a:bodyPr>
            <a:lstStyle/>
            <a:p>
              <a:pPr indent="0" lvl="0" marL="0" marR="0" rtl="0" algn="l">
                <a:lnSpc>
                  <a:spcPct val="90000"/>
                </a:lnSpc>
                <a:spcBef>
                  <a:spcPts val="0"/>
                </a:spcBef>
                <a:spcAft>
                  <a:spcPts val="0"/>
                </a:spcAft>
                <a:buNone/>
              </a:pPr>
              <a:r>
                <a:rPr lang="tr-TR" sz="1200">
                  <a:solidFill>
                    <a:schemeClr val="dk1"/>
                  </a:solidFill>
                  <a:latin typeface="Constantia"/>
                  <a:ea typeface="Constantia"/>
                  <a:cs typeface="Constantia"/>
                  <a:sym typeface="Constantia"/>
                </a:rPr>
                <a:t>Araştırma problemini tanıtmak</a:t>
              </a:r>
              <a:endParaRPr sz="1200">
                <a:solidFill>
                  <a:schemeClr val="dk1"/>
                </a:solidFill>
                <a:latin typeface="Constantia"/>
                <a:ea typeface="Constantia"/>
                <a:cs typeface="Constantia"/>
                <a:sym typeface="Constantia"/>
              </a:endParaRPr>
            </a:p>
          </p:txBody>
        </p:sp>
        <p:sp>
          <p:nvSpPr>
            <p:cNvPr id="193" name="Google Shape;193;p17"/>
            <p:cNvSpPr/>
            <p:nvPr/>
          </p:nvSpPr>
          <p:spPr>
            <a:xfrm>
              <a:off x="4971126" y="1114695"/>
              <a:ext cx="115816" cy="115816"/>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7"/>
            <p:cNvSpPr/>
            <p:nvPr/>
          </p:nvSpPr>
          <p:spPr>
            <a:xfrm>
              <a:off x="5077851" y="865719"/>
              <a:ext cx="1466201" cy="269969"/>
            </a:xfrm>
            <a:prstGeom prst="rect">
              <a:avLst/>
            </a:prstGeom>
            <a:noFill/>
            <a:ln cap="flat" cmpd="sng" w="9525">
              <a:solidFill>
                <a:schemeClr val="dk1">
                  <a:alpha val="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7"/>
            <p:cNvSpPr txBox="1"/>
            <p:nvPr/>
          </p:nvSpPr>
          <p:spPr>
            <a:xfrm>
              <a:off x="5077851" y="865719"/>
              <a:ext cx="1466201" cy="269969"/>
            </a:xfrm>
            <a:prstGeom prst="rect">
              <a:avLst/>
            </a:prstGeom>
            <a:noFill/>
            <a:ln>
              <a:noFill/>
            </a:ln>
          </p:spPr>
          <p:txBody>
            <a:bodyPr anchorCtr="0" anchor="ctr" bIns="85325" lIns="85325" spcFirstLastPara="1" rIns="85325" wrap="square" tIns="85325">
              <a:noAutofit/>
            </a:bodyPr>
            <a:lstStyle/>
            <a:p>
              <a:pPr indent="0" lvl="0" marL="0" marR="0" rtl="0" algn="l">
                <a:lnSpc>
                  <a:spcPct val="90000"/>
                </a:lnSpc>
                <a:spcBef>
                  <a:spcPts val="0"/>
                </a:spcBef>
                <a:spcAft>
                  <a:spcPts val="0"/>
                </a:spcAft>
                <a:buNone/>
              </a:pPr>
              <a:r>
                <a:t/>
              </a:r>
              <a:endParaRPr sz="1200">
                <a:solidFill>
                  <a:schemeClr val="dk1"/>
                </a:solidFill>
                <a:latin typeface="Constantia"/>
                <a:ea typeface="Constantia"/>
                <a:cs typeface="Constantia"/>
                <a:sym typeface="Constantia"/>
              </a:endParaRPr>
            </a:p>
            <a:p>
              <a:pPr indent="0" lvl="0" marL="0" marR="0" rtl="0" algn="l">
                <a:lnSpc>
                  <a:spcPct val="90000"/>
                </a:lnSpc>
                <a:spcBef>
                  <a:spcPts val="420"/>
                </a:spcBef>
                <a:spcAft>
                  <a:spcPts val="0"/>
                </a:spcAft>
                <a:buNone/>
              </a:pPr>
              <a:r>
                <a:t/>
              </a:r>
              <a:endParaRPr sz="1200">
                <a:solidFill>
                  <a:schemeClr val="dk1"/>
                </a:solidFill>
                <a:latin typeface="Constantia"/>
                <a:ea typeface="Constantia"/>
                <a:cs typeface="Constantia"/>
                <a:sym typeface="Constantia"/>
              </a:endParaRPr>
            </a:p>
            <a:p>
              <a:pPr indent="0" lvl="0" marL="0" marR="0" rtl="0" algn="l">
                <a:lnSpc>
                  <a:spcPct val="90000"/>
                </a:lnSpc>
                <a:spcBef>
                  <a:spcPts val="420"/>
                </a:spcBef>
                <a:spcAft>
                  <a:spcPts val="0"/>
                </a:spcAft>
                <a:buNone/>
              </a:pPr>
              <a:r>
                <a:rPr lang="tr-TR" sz="1200">
                  <a:solidFill>
                    <a:schemeClr val="dk1"/>
                  </a:solidFill>
                  <a:latin typeface="Constantia"/>
                  <a:ea typeface="Constantia"/>
                  <a:cs typeface="Constantia"/>
                  <a:sym typeface="Constantia"/>
                </a:rPr>
                <a:t>Araştırma sorusunun özgünlüğü</a:t>
              </a:r>
              <a:endParaRPr sz="1200">
                <a:solidFill>
                  <a:schemeClr val="dk1"/>
                </a:solidFill>
                <a:latin typeface="Constantia"/>
                <a:ea typeface="Constantia"/>
                <a:cs typeface="Constantia"/>
                <a:sym typeface="Constantia"/>
              </a:endParaRPr>
            </a:p>
          </p:txBody>
        </p:sp>
        <p:sp>
          <p:nvSpPr>
            <p:cNvPr id="196" name="Google Shape;196;p17"/>
            <p:cNvSpPr/>
            <p:nvPr/>
          </p:nvSpPr>
          <p:spPr>
            <a:xfrm>
              <a:off x="6622880" y="333195"/>
              <a:ext cx="1576560" cy="185477"/>
            </a:xfrm>
            <a:prstGeom prst="rect">
              <a:avLst/>
            </a:prstGeom>
            <a:solidFill>
              <a:srgbClr val="0D6DC5"/>
            </a:solidFill>
            <a:ln>
              <a:noFill/>
            </a:ln>
            <a:effectLst>
              <a:outerShdw blurRad="57150" rotWithShape="0" algn="ctr" dir="5400000" dist="38100">
                <a:srgbClr val="022442">
                  <a:alpha val="4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7"/>
            <p:cNvSpPr/>
            <p:nvPr/>
          </p:nvSpPr>
          <p:spPr>
            <a:xfrm>
              <a:off x="6622880" y="402853"/>
              <a:ext cx="115819" cy="115819"/>
            </a:xfrm>
            <a:prstGeom prst="rect">
              <a:avLst/>
            </a:prstGeom>
            <a:solidFill>
              <a:schemeClr val="lt1">
                <a:alpha val="89803"/>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7"/>
            <p:cNvSpPr/>
            <p:nvPr/>
          </p:nvSpPr>
          <p:spPr>
            <a:xfrm>
              <a:off x="6622880" y="0"/>
              <a:ext cx="1576560" cy="333195"/>
            </a:xfrm>
            <a:prstGeom prst="rect">
              <a:avLst/>
            </a:prstGeom>
            <a:noFill/>
            <a:ln cap="flat" cmpd="sng" w="9525">
              <a:solidFill>
                <a:schemeClr val="dk1">
                  <a:alpha val="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7"/>
            <p:cNvSpPr txBox="1"/>
            <p:nvPr/>
          </p:nvSpPr>
          <p:spPr>
            <a:xfrm>
              <a:off x="6622880" y="0"/>
              <a:ext cx="1576560" cy="333195"/>
            </a:xfrm>
            <a:prstGeom prst="rect">
              <a:avLst/>
            </a:prstGeom>
            <a:noFill/>
            <a:ln>
              <a:noFill/>
            </a:ln>
          </p:spPr>
          <p:txBody>
            <a:bodyPr anchorCtr="0" anchor="ctr" bIns="15225" lIns="22850" spcFirstLastPara="1" rIns="22850" wrap="square" tIns="15225">
              <a:noAutofit/>
            </a:bodyPr>
            <a:lstStyle/>
            <a:p>
              <a:pPr indent="0" lvl="0" marL="0" marR="0" rtl="0" algn="l">
                <a:lnSpc>
                  <a:spcPct val="90000"/>
                </a:lnSpc>
                <a:spcBef>
                  <a:spcPts val="0"/>
                </a:spcBef>
                <a:spcAft>
                  <a:spcPts val="0"/>
                </a:spcAft>
                <a:buNone/>
              </a:pPr>
              <a:r>
                <a:rPr lang="tr-TR" sz="1200">
                  <a:solidFill>
                    <a:schemeClr val="dk1"/>
                  </a:solidFill>
                  <a:latin typeface="Constantia"/>
                  <a:ea typeface="Constantia"/>
                  <a:cs typeface="Constantia"/>
                  <a:sym typeface="Constantia"/>
                </a:rPr>
                <a:t>Hipotezleri yapılandırma</a:t>
              </a:r>
              <a:endParaRPr sz="1200">
                <a:solidFill>
                  <a:schemeClr val="dk1"/>
                </a:solidFill>
                <a:latin typeface="Constantia"/>
                <a:ea typeface="Constantia"/>
                <a:cs typeface="Constantia"/>
                <a:sym typeface="Constantia"/>
              </a:endParaRPr>
            </a:p>
          </p:txBody>
        </p:sp>
        <p:sp>
          <p:nvSpPr>
            <p:cNvPr id="200" name="Google Shape;200;p17"/>
            <p:cNvSpPr/>
            <p:nvPr/>
          </p:nvSpPr>
          <p:spPr>
            <a:xfrm>
              <a:off x="6651713" y="672826"/>
              <a:ext cx="115816" cy="115816"/>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7"/>
            <p:cNvSpPr/>
            <p:nvPr/>
          </p:nvSpPr>
          <p:spPr>
            <a:xfrm>
              <a:off x="6762072" y="595750"/>
              <a:ext cx="1466201" cy="269969"/>
            </a:xfrm>
            <a:prstGeom prst="rect">
              <a:avLst/>
            </a:prstGeom>
            <a:noFill/>
            <a:ln cap="flat" cmpd="sng" w="9525">
              <a:solidFill>
                <a:schemeClr val="dk1">
                  <a:alpha val="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7"/>
            <p:cNvSpPr txBox="1"/>
            <p:nvPr/>
          </p:nvSpPr>
          <p:spPr>
            <a:xfrm>
              <a:off x="6762072" y="595750"/>
              <a:ext cx="1466201" cy="269969"/>
            </a:xfrm>
            <a:prstGeom prst="rect">
              <a:avLst/>
            </a:prstGeom>
            <a:noFill/>
            <a:ln>
              <a:noFill/>
            </a:ln>
          </p:spPr>
          <p:txBody>
            <a:bodyPr anchorCtr="0" anchor="ctr" bIns="85325" lIns="85325" spcFirstLastPara="1" rIns="85325" wrap="square" tIns="85325">
              <a:noAutofit/>
            </a:bodyPr>
            <a:lstStyle/>
            <a:p>
              <a:pPr indent="0" lvl="0" marL="0" marR="0" rtl="0" algn="l">
                <a:lnSpc>
                  <a:spcPct val="90000"/>
                </a:lnSpc>
                <a:spcBef>
                  <a:spcPts val="0"/>
                </a:spcBef>
                <a:spcAft>
                  <a:spcPts val="0"/>
                </a:spcAft>
                <a:buNone/>
              </a:pPr>
              <a:r>
                <a:rPr lang="tr-TR" sz="1200">
                  <a:solidFill>
                    <a:schemeClr val="dk1"/>
                  </a:solidFill>
                  <a:latin typeface="Constantia"/>
                  <a:ea typeface="Constantia"/>
                  <a:cs typeface="Constantia"/>
                  <a:sym typeface="Constantia"/>
                </a:rPr>
                <a:t>Bilimsel araştırma varsayımları</a:t>
              </a:r>
              <a:endParaRPr sz="1200">
                <a:solidFill>
                  <a:schemeClr val="dk1"/>
                </a:solidFill>
                <a:latin typeface="Constantia"/>
                <a:ea typeface="Constantia"/>
                <a:cs typeface="Constantia"/>
                <a:sym typeface="Constantia"/>
              </a:endParaRPr>
            </a:p>
          </p:txBody>
        </p:sp>
        <p:sp>
          <p:nvSpPr>
            <p:cNvPr id="203" name="Google Shape;203;p17"/>
            <p:cNvSpPr/>
            <p:nvPr/>
          </p:nvSpPr>
          <p:spPr>
            <a:xfrm>
              <a:off x="6649982" y="1191006"/>
              <a:ext cx="115816" cy="115816"/>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7"/>
            <p:cNvSpPr/>
            <p:nvPr/>
          </p:nvSpPr>
          <p:spPr>
            <a:xfrm>
              <a:off x="6649981" y="1038384"/>
              <a:ext cx="1523867" cy="269969"/>
            </a:xfrm>
            <a:prstGeom prst="rect">
              <a:avLst/>
            </a:prstGeom>
            <a:noFill/>
            <a:ln cap="flat" cmpd="sng" w="9525">
              <a:solidFill>
                <a:schemeClr val="dk1">
                  <a:alpha val="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7"/>
            <p:cNvSpPr txBox="1"/>
            <p:nvPr/>
          </p:nvSpPr>
          <p:spPr>
            <a:xfrm>
              <a:off x="6649981" y="1038384"/>
              <a:ext cx="1523867" cy="269969"/>
            </a:xfrm>
            <a:prstGeom prst="rect">
              <a:avLst/>
            </a:prstGeom>
            <a:noFill/>
            <a:ln>
              <a:noFill/>
            </a:ln>
          </p:spPr>
          <p:txBody>
            <a:bodyPr anchorCtr="0" anchor="ctr" bIns="85325" lIns="85325" spcFirstLastPara="1" rIns="85325" wrap="square" tIns="85325">
              <a:noAutofit/>
            </a:bodyPr>
            <a:lstStyle/>
            <a:p>
              <a:pPr indent="0" lvl="0" marL="0" marR="0" rtl="0" algn="l">
                <a:lnSpc>
                  <a:spcPct val="90000"/>
                </a:lnSpc>
                <a:spcBef>
                  <a:spcPts val="0"/>
                </a:spcBef>
                <a:spcAft>
                  <a:spcPts val="0"/>
                </a:spcAft>
                <a:buNone/>
              </a:pPr>
              <a:r>
                <a:t/>
              </a:r>
              <a:endParaRPr sz="1200">
                <a:solidFill>
                  <a:schemeClr val="dk1"/>
                </a:solidFill>
                <a:latin typeface="Constantia"/>
                <a:ea typeface="Constantia"/>
                <a:cs typeface="Constantia"/>
                <a:sym typeface="Constantia"/>
              </a:endParaRPr>
            </a:p>
            <a:p>
              <a:pPr indent="0" lvl="0" marL="0" marR="0" rtl="0" algn="l">
                <a:lnSpc>
                  <a:spcPct val="90000"/>
                </a:lnSpc>
                <a:spcBef>
                  <a:spcPts val="420"/>
                </a:spcBef>
                <a:spcAft>
                  <a:spcPts val="0"/>
                </a:spcAft>
                <a:buNone/>
              </a:pPr>
              <a:r>
                <a:rPr lang="tr-TR" sz="1200">
                  <a:solidFill>
                    <a:schemeClr val="dk1"/>
                  </a:solidFill>
                  <a:latin typeface="Constantia"/>
                  <a:ea typeface="Constantia"/>
                  <a:cs typeface="Constantia"/>
                  <a:sym typeface="Constantia"/>
                </a:rPr>
                <a:t>   Sıfır hipotezleri</a:t>
              </a:r>
              <a:endParaRPr sz="1200">
                <a:solidFill>
                  <a:schemeClr val="dk1"/>
                </a:solidFill>
                <a:latin typeface="Constantia"/>
                <a:ea typeface="Constantia"/>
                <a:cs typeface="Constantia"/>
                <a:sym typeface="Constantia"/>
              </a:endParaRPr>
            </a:p>
          </p:txBody>
        </p:sp>
      </p:grpSp>
      <p:sp>
        <p:nvSpPr>
          <p:cNvPr id="206" name="Google Shape;206;p1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8"/>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tr-TR"/>
              <a:t>Fizibilite çalışması</a:t>
            </a:r>
            <a:endParaRPr/>
          </a:p>
        </p:txBody>
      </p:sp>
      <p:sp>
        <p:nvSpPr>
          <p:cNvPr id="212" name="Google Shape;212;p18"/>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tr-TR"/>
              <a:t>Fizibilite çalışması, henüz fikir aşamasında olan projenin ya da düşüncenin belirli kıstaslara göre araştırılarak yapılabilirliğinin ölçülmesi için yapılan çalışmalar bütünüdür. </a:t>
            </a:r>
            <a:endParaRPr/>
          </a:p>
          <a:p>
            <a:pPr indent="-274320" lvl="0" marL="274320" rtl="0" algn="l">
              <a:spcBef>
                <a:spcPts val="520"/>
              </a:spcBef>
              <a:spcAft>
                <a:spcPts val="0"/>
              </a:spcAft>
              <a:buSzPts val="2470"/>
              <a:buChar char="⚫"/>
            </a:pPr>
            <a:r>
              <a:rPr lang="tr-TR"/>
              <a:t>Ortaya konacak olan projenin finans, işe yararlılığı, yasallığı, politikalara ve teknik olarak projeye uygunluğu araştırılır ve bu araştırmalar sonucunda olası problemler belirlenerek projenin hayata geçirilip geçirilmeyeceğine karar verilir.</a:t>
            </a:r>
            <a:endParaRPr/>
          </a:p>
        </p:txBody>
      </p:sp>
      <p:sp>
        <p:nvSpPr>
          <p:cNvPr id="213" name="Google Shape;213;p1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9"/>
          <p:cNvSpPr txBox="1"/>
          <p:nvPr>
            <p:ph type="title"/>
          </p:nvPr>
        </p:nvSpPr>
        <p:spPr>
          <a:xfrm>
            <a:off x="228600" y="76200"/>
            <a:ext cx="8458200" cy="1770888"/>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600"/>
              <a:buFont typeface="Calibri"/>
              <a:buNone/>
            </a:pPr>
            <a:r>
              <a:rPr b="1" lang="tr-TR" sz="3600"/>
              <a:t>Fizibilite Çalışmasının aşamaları</a:t>
            </a:r>
            <a:br>
              <a:rPr lang="tr-TR"/>
            </a:br>
            <a:endParaRPr/>
          </a:p>
        </p:txBody>
      </p:sp>
      <p:sp>
        <p:nvSpPr>
          <p:cNvPr id="219" name="Google Shape;219;p19"/>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fontScale="70000" lnSpcReduction="20000"/>
          </a:bodyPr>
          <a:lstStyle/>
          <a:p>
            <a:pPr indent="-274320" lvl="0" marL="274320" rtl="0" algn="l">
              <a:spcBef>
                <a:spcPts val="0"/>
              </a:spcBef>
              <a:spcAft>
                <a:spcPts val="0"/>
              </a:spcAft>
              <a:buSzPct val="95000"/>
              <a:buChar char="⚫"/>
            </a:pPr>
            <a:r>
              <a:rPr b="1" lang="tr-TR"/>
              <a:t>a) Ekonomik Araştırmalar:</a:t>
            </a:r>
            <a:r>
              <a:rPr lang="tr-TR"/>
              <a:t> Üretilmesi planlanan mal veya hizmete ilişkin talep ve pazar payının tahmini yapılır ve işletmenin kuruluş yeri belirlenir.</a:t>
            </a:r>
            <a:endParaRPr/>
          </a:p>
          <a:p>
            <a:pPr indent="-274320" lvl="0" marL="274320" rtl="0" algn="l">
              <a:spcBef>
                <a:spcPts val="364"/>
              </a:spcBef>
              <a:spcAft>
                <a:spcPts val="0"/>
              </a:spcAft>
              <a:buSzPct val="95000"/>
              <a:buChar char="⚫"/>
            </a:pPr>
            <a:r>
              <a:rPr b="1" lang="tr-TR"/>
              <a:t>b) Teknik Araştırmalar:</a:t>
            </a:r>
            <a:r>
              <a:rPr lang="tr-TR"/>
              <a:t> İşletmelerin seçeceği teknolojinin belirlenmesinde temel olur. Üretim süreci aşamalarının tanımlanması, üretim teknolojisinin seçimi, varsa makinelerinin seçimi ve fabrika içindeki yerleşimi, bakım onarım olanaklarının araştırılması bu çalışmalar kapsamındadır.</a:t>
            </a:r>
            <a:endParaRPr/>
          </a:p>
          <a:p>
            <a:pPr indent="-274320" lvl="0" marL="274320" rtl="0" algn="l">
              <a:spcBef>
                <a:spcPts val="364"/>
              </a:spcBef>
              <a:spcAft>
                <a:spcPts val="0"/>
              </a:spcAft>
              <a:buSzPct val="95000"/>
              <a:buChar char="⚫"/>
            </a:pPr>
            <a:r>
              <a:rPr b="1" lang="tr-TR"/>
              <a:t>c) Finansal Araştırmalar:</a:t>
            </a:r>
            <a:r>
              <a:rPr lang="tr-TR"/>
              <a:t> Kurulacak işletmenin yatırım maliyetinin tespit edilmesi, sermaye ihtiyacının belirlenmesi, gelir ve gider hesaplarının yapılması, finans kaynaklarının ve işletme karlılığının saptanmasıyla ilgili değerlendirmelerin yapılmasını içerir.</a:t>
            </a:r>
            <a:endParaRPr/>
          </a:p>
          <a:p>
            <a:pPr indent="-274320" lvl="0" marL="274320" rtl="0" algn="l">
              <a:spcBef>
                <a:spcPts val="364"/>
              </a:spcBef>
              <a:spcAft>
                <a:spcPts val="0"/>
              </a:spcAft>
              <a:buSzPct val="95000"/>
              <a:buChar char="⚫"/>
            </a:pPr>
            <a:r>
              <a:rPr b="1" lang="tr-TR"/>
              <a:t>ç) Yasal Araştırmalar:</a:t>
            </a:r>
            <a:r>
              <a:rPr lang="tr-TR"/>
              <a:t> Sermaye ihtiyacı, mali sorumluluğu sınırlama, vergilendirmedeki farklılık, kredi sağlama olanakları, kuruluş giderleri, işletme yapısından gelen zorunluluk gibi etkenlerin değerlendirilmesini kapsar.</a:t>
            </a:r>
            <a:endParaRPr/>
          </a:p>
          <a:p>
            <a:pPr indent="-274320" lvl="0" marL="274320" rtl="0" algn="l">
              <a:spcBef>
                <a:spcPts val="364"/>
              </a:spcBef>
              <a:spcAft>
                <a:spcPts val="0"/>
              </a:spcAft>
              <a:buSzPct val="95000"/>
              <a:buChar char="⚫"/>
            </a:pPr>
            <a:r>
              <a:rPr b="1" lang="tr-TR"/>
              <a:t>d) Örgütsel Araştırmalar:</a:t>
            </a:r>
            <a:r>
              <a:rPr lang="tr-TR"/>
              <a:t> İş analizi, iş bölümü ve uzmanlaşma, yetki ve sorumluluk dağılımı, iletişim kanalları, çalışacak kişilerin belirlenmesi, örgüt şemasının çıkarılması çalışmalarıdır.</a:t>
            </a:r>
            <a:endParaRPr/>
          </a:p>
          <a:p>
            <a:pPr indent="-164528" lvl="0" marL="274320" rtl="0" algn="l">
              <a:spcBef>
                <a:spcPts val="364"/>
              </a:spcBef>
              <a:spcAft>
                <a:spcPts val="0"/>
              </a:spcAft>
              <a:buSzPct val="95000"/>
              <a:buNone/>
            </a:pPr>
            <a:r>
              <a:t/>
            </a:r>
            <a:endParaRPr/>
          </a:p>
        </p:txBody>
      </p:sp>
      <p:sp>
        <p:nvSpPr>
          <p:cNvPr id="220" name="Google Shape;220;p1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0"/>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rgbClr val="C00000"/>
              </a:buClr>
              <a:buSzPts val="5000"/>
              <a:buFont typeface="Calibri"/>
              <a:buNone/>
            </a:pPr>
            <a:r>
              <a:rPr lang="tr-TR">
                <a:solidFill>
                  <a:srgbClr val="C00000"/>
                </a:solidFill>
              </a:rPr>
              <a:t>Özgün Değer</a:t>
            </a:r>
            <a:endParaRPr/>
          </a:p>
        </p:txBody>
      </p:sp>
      <p:sp>
        <p:nvSpPr>
          <p:cNvPr id="226" name="Google Shape;226;p20"/>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2470"/>
              <a:buChar char="⚫"/>
            </a:pPr>
            <a:r>
              <a:rPr lang="tr-TR">
                <a:solidFill>
                  <a:srgbClr val="002060"/>
                </a:solidFill>
              </a:rPr>
              <a:t>Proje değerlendirmede, derecelendirme «</a:t>
            </a:r>
            <a:r>
              <a:rPr lang="tr-TR">
                <a:solidFill>
                  <a:srgbClr val="00B050"/>
                </a:solidFill>
              </a:rPr>
              <a:t>eserdeki özgünlüğün varlığına göre ve mevcut bir bilim dalına yapacağı katkı nispetinde</a:t>
            </a:r>
            <a:r>
              <a:rPr lang="tr-TR">
                <a:solidFill>
                  <a:srgbClr val="002060"/>
                </a:solidFill>
              </a:rPr>
              <a:t> »</a:t>
            </a:r>
            <a:r>
              <a:rPr lang="tr-TR">
                <a:solidFill>
                  <a:srgbClr val="00B050"/>
                </a:solidFill>
              </a:rPr>
              <a:t> </a:t>
            </a:r>
            <a:r>
              <a:rPr lang="tr-TR">
                <a:solidFill>
                  <a:srgbClr val="002060"/>
                </a:solidFill>
              </a:rPr>
              <a:t>belirlendiği kriterdir.</a:t>
            </a:r>
            <a:endParaRPr/>
          </a:p>
          <a:p>
            <a:pPr indent="-274320" lvl="0" marL="274320" rtl="0" algn="just">
              <a:spcBef>
                <a:spcPts val="520"/>
              </a:spcBef>
              <a:spcAft>
                <a:spcPts val="0"/>
              </a:spcAft>
              <a:buSzPts val="2470"/>
              <a:buChar char="⚫"/>
            </a:pPr>
            <a:r>
              <a:rPr lang="tr-TR">
                <a:solidFill>
                  <a:srgbClr val="002060"/>
                </a:solidFill>
              </a:rPr>
              <a:t>Aşağıda sunacağım bazı nitelikler sizlere özgünlük kavramı ile ilgili fikir ve tanıma yönelik bazı teknik ve stratejileri sunacaktır.</a:t>
            </a:r>
            <a:endParaRPr/>
          </a:p>
          <a:p>
            <a:pPr indent="-274320" lvl="0" marL="274320" rtl="0" algn="just">
              <a:spcBef>
                <a:spcPts val="520"/>
              </a:spcBef>
              <a:spcAft>
                <a:spcPts val="0"/>
              </a:spcAft>
              <a:buSzPts val="2470"/>
              <a:buChar char="⚫"/>
            </a:pPr>
            <a:r>
              <a:rPr lang="tr-TR">
                <a:solidFill>
                  <a:srgbClr val="002060"/>
                </a:solidFill>
              </a:rPr>
              <a:t>Projede özgünlük üç aşamalı bir süreç ile ortaya çıkabilmektedir. Bunlar;</a:t>
            </a:r>
            <a:endParaRPr/>
          </a:p>
        </p:txBody>
      </p:sp>
      <p:sp>
        <p:nvSpPr>
          <p:cNvPr id="227" name="Google Shape;227;p2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1"/>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2470"/>
              <a:buFont typeface="Noto Sans Symbols"/>
              <a:buChar char="✔"/>
            </a:pPr>
            <a:r>
              <a:rPr lang="tr-TR">
                <a:solidFill>
                  <a:srgbClr val="00B050"/>
                </a:solidFill>
              </a:rPr>
              <a:t>Özgünlüğün ne anlama geldiğini, nasıl yorumlanabileceğini ve projede kendini nasıl gösterebileceğini </a:t>
            </a:r>
            <a:r>
              <a:rPr lang="tr-TR"/>
              <a:t>iyi anlamak gerekiyor.</a:t>
            </a:r>
            <a:endParaRPr/>
          </a:p>
          <a:p>
            <a:pPr indent="0" lvl="0" marL="0" rtl="0" algn="just">
              <a:spcBef>
                <a:spcPts val="520"/>
              </a:spcBef>
              <a:spcAft>
                <a:spcPts val="0"/>
              </a:spcAft>
              <a:buSzPts val="2470"/>
              <a:buNone/>
            </a:pPr>
            <a:r>
              <a:t/>
            </a:r>
            <a:endParaRPr/>
          </a:p>
          <a:p>
            <a:pPr indent="-274320" lvl="0" marL="274320" rtl="0" algn="just">
              <a:spcBef>
                <a:spcPts val="520"/>
              </a:spcBef>
              <a:spcAft>
                <a:spcPts val="0"/>
              </a:spcAft>
              <a:buSzPts val="2470"/>
              <a:buFont typeface="Noto Sans Symbols"/>
              <a:buChar char="✔"/>
            </a:pPr>
            <a:r>
              <a:rPr lang="tr-TR">
                <a:solidFill>
                  <a:srgbClr val="00B050"/>
                </a:solidFill>
              </a:rPr>
              <a:t>Özgünlüğü kolaylaştırmak için yanal (eleştirel) düşünceyi ve türetici becerileri öğrenmek ve kullanmak </a:t>
            </a:r>
            <a:r>
              <a:rPr lang="tr-TR"/>
              <a:t>gerekiyor.</a:t>
            </a:r>
            <a:endParaRPr/>
          </a:p>
          <a:p>
            <a:pPr indent="0" lvl="0" marL="0" rtl="0" algn="just">
              <a:spcBef>
                <a:spcPts val="520"/>
              </a:spcBef>
              <a:spcAft>
                <a:spcPts val="0"/>
              </a:spcAft>
              <a:buSzPts val="2470"/>
              <a:buNone/>
            </a:pPr>
            <a:r>
              <a:t/>
            </a:r>
            <a:endParaRPr/>
          </a:p>
          <a:p>
            <a:pPr indent="-274320" lvl="0" marL="274320" rtl="0" algn="just">
              <a:spcBef>
                <a:spcPts val="520"/>
              </a:spcBef>
              <a:spcAft>
                <a:spcPts val="0"/>
              </a:spcAft>
              <a:buSzPts val="2470"/>
              <a:buFont typeface="Noto Sans Symbols"/>
              <a:buChar char="✔"/>
            </a:pPr>
            <a:r>
              <a:rPr lang="tr-TR">
                <a:solidFill>
                  <a:srgbClr val="00B050"/>
                </a:solidFill>
              </a:rPr>
              <a:t>Bu becerilerin etkin bir şekilde gelişmesi için kuluçka dönemini (beyin cimnastiği) geliştirmek </a:t>
            </a:r>
            <a:r>
              <a:rPr lang="tr-TR"/>
              <a:t>gerekiyor.</a:t>
            </a:r>
            <a:endParaRPr/>
          </a:p>
        </p:txBody>
      </p:sp>
      <p:sp>
        <p:nvSpPr>
          <p:cNvPr id="233" name="Google Shape;233;p21"/>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rgbClr val="C00000"/>
              </a:buClr>
              <a:buSzPts val="5000"/>
              <a:buFont typeface="Calibri"/>
              <a:buNone/>
            </a:pPr>
            <a:r>
              <a:rPr lang="tr-TR">
                <a:solidFill>
                  <a:srgbClr val="C00000"/>
                </a:solidFill>
              </a:rPr>
              <a:t>Özgün Değer</a:t>
            </a:r>
            <a:endParaRPr/>
          </a:p>
        </p:txBody>
      </p:sp>
      <p:sp>
        <p:nvSpPr>
          <p:cNvPr id="234" name="Google Shape;234;p2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2"/>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tr-TR"/>
              <a:t>Yukarıdaki bu üç kriter, özgünlüğü ortaya koymanın yollarıdır ancak zaman ve çaba gerektirmektedir. </a:t>
            </a:r>
            <a:endParaRPr/>
          </a:p>
        </p:txBody>
      </p:sp>
      <p:sp>
        <p:nvSpPr>
          <p:cNvPr id="240" name="Google Shape;240;p22"/>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rgbClr val="C00000"/>
              </a:buClr>
              <a:buSzPts val="5000"/>
              <a:buFont typeface="Calibri"/>
              <a:buNone/>
            </a:pPr>
            <a:r>
              <a:rPr lang="tr-TR">
                <a:solidFill>
                  <a:srgbClr val="C00000"/>
                </a:solidFill>
              </a:rPr>
              <a:t>Özgün Değer</a:t>
            </a:r>
            <a:endParaRPr/>
          </a:p>
        </p:txBody>
      </p:sp>
      <p:sp>
        <p:nvSpPr>
          <p:cNvPr id="241" name="Google Shape;241;p2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3"/>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2470"/>
              <a:buChar char="⚫"/>
            </a:pPr>
            <a:r>
              <a:rPr lang="tr-TR"/>
              <a:t>Peki «özgünlük nedir?» sorusuna;  genel bir tanımla başlasak «projenizi diğer tüm çalışmalardan ayıran, kendine özgün kılan nitelik» diye tanımlayabiliriz. Kısacası, ortaya atılan fikrin «orjinalliğidir». Ayrıca aşağıdaki nitelikler özgünlüğü anlamamıza yardım edebilir: Örneğin,</a:t>
            </a:r>
            <a:endParaRPr/>
          </a:p>
          <a:p>
            <a:pPr indent="-274320" lvl="0" marL="274320" rtl="0" algn="just">
              <a:spcBef>
                <a:spcPts val="520"/>
              </a:spcBef>
              <a:spcAft>
                <a:spcPts val="0"/>
              </a:spcAft>
              <a:buSzPts val="2470"/>
              <a:buFont typeface="Noto Sans Symbols"/>
              <a:buChar char="❑"/>
            </a:pPr>
            <a:r>
              <a:rPr lang="tr-TR"/>
              <a:t>İlk kez yazılı yeni bir bilgiyi sunabilme becerisini gösterebiliyorsanız,</a:t>
            </a:r>
            <a:endParaRPr/>
          </a:p>
          <a:p>
            <a:pPr indent="-274320" lvl="0" marL="274320" rtl="0" algn="just">
              <a:spcBef>
                <a:spcPts val="520"/>
              </a:spcBef>
              <a:spcAft>
                <a:spcPts val="0"/>
              </a:spcAft>
              <a:buSzPts val="2470"/>
              <a:buFont typeface="Noto Sans Symbols"/>
              <a:buChar char="❑"/>
            </a:pPr>
            <a:r>
              <a:rPr lang="tr-TR"/>
              <a:t> Mevcut bir eserin (ürünün) iyileştirilmesi, nitelendirilmesi veya üzerinde durulması gerekiyorsa,</a:t>
            </a:r>
            <a:endParaRPr/>
          </a:p>
        </p:txBody>
      </p:sp>
      <p:sp>
        <p:nvSpPr>
          <p:cNvPr id="247" name="Google Shape;247;p23"/>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rgbClr val="C00000"/>
              </a:buClr>
              <a:buSzPts val="5000"/>
              <a:buFont typeface="Calibri"/>
              <a:buNone/>
            </a:pPr>
            <a:r>
              <a:rPr lang="tr-TR">
                <a:solidFill>
                  <a:srgbClr val="C00000"/>
                </a:solidFill>
              </a:rPr>
              <a:t>Özgün Değer</a:t>
            </a:r>
            <a:endParaRPr/>
          </a:p>
        </p:txBody>
      </p:sp>
      <p:sp>
        <p:nvSpPr>
          <p:cNvPr id="248" name="Google Shape;248;p2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4"/>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fontScale="92500" lnSpcReduction="10000"/>
          </a:bodyPr>
          <a:lstStyle/>
          <a:p>
            <a:pPr indent="-129238" lvl="0" marL="274320" rtl="0" algn="l">
              <a:spcBef>
                <a:spcPts val="0"/>
              </a:spcBef>
              <a:spcAft>
                <a:spcPts val="0"/>
              </a:spcAft>
              <a:buSzPct val="95000"/>
              <a:buFont typeface="Noto Sans Symbols"/>
              <a:buNone/>
            </a:pPr>
            <a:r>
              <a:t/>
            </a:r>
            <a:endParaRPr/>
          </a:p>
          <a:p>
            <a:pPr indent="-274320" lvl="0" marL="274320" rtl="0" algn="just">
              <a:spcBef>
                <a:spcPts val="481"/>
              </a:spcBef>
              <a:spcAft>
                <a:spcPts val="0"/>
              </a:spcAft>
              <a:buSzPct val="95000"/>
              <a:buFont typeface="Noto Sans Symbols"/>
              <a:buChar char="❑"/>
            </a:pPr>
            <a:r>
              <a:rPr lang="tr-TR"/>
              <a:t>Başkası tarafından tasarlanmış orijinal bir eseri ortaya çıkarma çabası içerisinde iseniz,</a:t>
            </a:r>
            <a:endParaRPr/>
          </a:p>
          <a:p>
            <a:pPr indent="-274320" lvl="0" marL="274320" rtl="0" algn="just">
              <a:spcBef>
                <a:spcPts val="481"/>
              </a:spcBef>
              <a:spcAft>
                <a:spcPts val="0"/>
              </a:spcAft>
              <a:buSzPct val="95000"/>
              <a:buFont typeface="Noto Sans Symbols"/>
              <a:buChar char="❑"/>
            </a:pPr>
            <a:r>
              <a:rPr lang="tr-TR"/>
              <a:t>Yeni bir ürün veya var olan ürünü geliştirme becerisini gösteriyorsanız,</a:t>
            </a:r>
            <a:endParaRPr/>
          </a:p>
          <a:p>
            <a:pPr indent="-274320" lvl="0" marL="274320" rtl="0" algn="just">
              <a:spcBef>
                <a:spcPts val="481"/>
              </a:spcBef>
              <a:spcAft>
                <a:spcPts val="0"/>
              </a:spcAft>
              <a:buSzPct val="95000"/>
              <a:buFont typeface="Noto Sans Symbols"/>
              <a:buChar char="❑"/>
            </a:pPr>
            <a:r>
              <a:rPr lang="tr-TR"/>
              <a:t>Başkasının fikrini test ederek orijinallik gösterebilme becerisi içerisinde iseniz,</a:t>
            </a:r>
            <a:endParaRPr/>
          </a:p>
          <a:p>
            <a:pPr indent="-274320" lvl="0" marL="274320" rtl="0" algn="just">
              <a:spcBef>
                <a:spcPts val="481"/>
              </a:spcBef>
              <a:spcAft>
                <a:spcPts val="0"/>
              </a:spcAft>
              <a:buSzPct val="95000"/>
              <a:buFont typeface="Noto Sans Symbols"/>
              <a:buChar char="❑"/>
            </a:pPr>
            <a:r>
              <a:rPr lang="tr-TR"/>
              <a:t>Daha önce yapılmamış ampirik çalışmaları yapabilme becerisi içerisinde iseniz,</a:t>
            </a:r>
            <a:endParaRPr/>
          </a:p>
          <a:p>
            <a:pPr indent="-274320" lvl="0" marL="274320" rtl="0" algn="just">
              <a:spcBef>
                <a:spcPts val="481"/>
              </a:spcBef>
              <a:spcAft>
                <a:spcPts val="0"/>
              </a:spcAft>
              <a:buSzPct val="95000"/>
              <a:buFont typeface="Noto Sans Symbols"/>
              <a:buChar char="❑"/>
            </a:pPr>
            <a:r>
              <a:rPr lang="tr-TR"/>
              <a:t>Bir soruna hitap etmek için farklı bir metodolojik yaklaşım kullanma tekniğinin peşinde iseniz, </a:t>
            </a:r>
            <a:endParaRPr/>
          </a:p>
          <a:p>
            <a:pPr indent="-129238" lvl="0" marL="274320" rtl="0" algn="just">
              <a:spcBef>
                <a:spcPts val="481"/>
              </a:spcBef>
              <a:spcAft>
                <a:spcPts val="0"/>
              </a:spcAft>
              <a:buSzPct val="95000"/>
              <a:buFont typeface="Noto Sans Symbols"/>
              <a:buNone/>
            </a:pPr>
            <a:r>
              <a:t/>
            </a:r>
            <a:endParaRPr/>
          </a:p>
        </p:txBody>
      </p:sp>
      <p:sp>
        <p:nvSpPr>
          <p:cNvPr id="254" name="Google Shape;254;p24"/>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rgbClr val="C00000"/>
              </a:buClr>
              <a:buSzPts val="5000"/>
              <a:buFont typeface="Calibri"/>
              <a:buNone/>
            </a:pPr>
            <a:r>
              <a:rPr lang="tr-TR">
                <a:solidFill>
                  <a:srgbClr val="C00000"/>
                </a:solidFill>
              </a:rPr>
              <a:t>Özgün Değer</a:t>
            </a:r>
            <a:endParaRPr/>
          </a:p>
        </p:txBody>
      </p:sp>
      <p:sp>
        <p:nvSpPr>
          <p:cNvPr id="255" name="Google Shape;255;p2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5"/>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117475" lvl="0" marL="274320" rtl="0" algn="just">
              <a:spcBef>
                <a:spcPts val="0"/>
              </a:spcBef>
              <a:spcAft>
                <a:spcPts val="0"/>
              </a:spcAft>
              <a:buSzPts val="2470"/>
              <a:buFont typeface="Noto Sans Symbols"/>
              <a:buNone/>
            </a:pPr>
            <a:r>
              <a:t/>
            </a:r>
            <a:endParaRPr/>
          </a:p>
          <a:p>
            <a:pPr indent="-274320" lvl="0" marL="274320" rtl="0" algn="just">
              <a:spcBef>
                <a:spcPts val="520"/>
              </a:spcBef>
              <a:spcAft>
                <a:spcPts val="0"/>
              </a:spcAft>
              <a:buSzPts val="2470"/>
              <a:buFont typeface="Noto Sans Symbols"/>
              <a:buChar char="❑"/>
            </a:pPr>
            <a:r>
              <a:rPr lang="tr-TR"/>
              <a:t>Bilgileri yeni veya farklı bir şekilde sentezleme uğraşını gösteriyorsanız,</a:t>
            </a:r>
            <a:endParaRPr/>
          </a:p>
          <a:p>
            <a:pPr indent="-274320" lvl="0" marL="274320" rtl="0" algn="just">
              <a:spcBef>
                <a:spcPts val="520"/>
              </a:spcBef>
              <a:spcAft>
                <a:spcPts val="0"/>
              </a:spcAft>
              <a:buSzPts val="2470"/>
              <a:buFont typeface="Noto Sans Symbols"/>
              <a:buChar char="❑"/>
            </a:pPr>
            <a:r>
              <a:rPr lang="tr-TR"/>
              <a:t>Mevcut/bilinen bilgileri kullanarak yeni bir yorumlama uğraşı içerisinde iseniz,</a:t>
            </a:r>
            <a:endParaRPr/>
          </a:p>
          <a:p>
            <a:pPr indent="-274320" lvl="0" marL="274320" rtl="0" algn="just">
              <a:spcBef>
                <a:spcPts val="520"/>
              </a:spcBef>
              <a:spcAft>
                <a:spcPts val="0"/>
              </a:spcAft>
              <a:buClr>
                <a:srgbClr val="0BD0D9"/>
              </a:buClr>
              <a:buSzPts val="2470"/>
              <a:buFont typeface="Noto Sans Symbols"/>
              <a:buChar char="❑"/>
            </a:pPr>
            <a:r>
              <a:rPr lang="tr-TR">
                <a:solidFill>
                  <a:srgbClr val="000000"/>
                </a:solidFill>
              </a:rPr>
              <a:t>Başka bağlamlarda, örneğin farklı bir ülkede yapılan araştırmaların ülkenizde tekrarlanmasını içeren bir uğraş içerisindeyseniz,</a:t>
            </a:r>
            <a:endParaRPr/>
          </a:p>
          <a:p>
            <a:pPr indent="-274320" lvl="0" marL="274320" rtl="0" algn="just">
              <a:spcBef>
                <a:spcPts val="520"/>
              </a:spcBef>
              <a:spcAft>
                <a:spcPts val="0"/>
              </a:spcAft>
              <a:buClr>
                <a:srgbClr val="0BD0D9"/>
              </a:buClr>
              <a:buSzPts val="2470"/>
              <a:buFont typeface="Noto Sans Symbols"/>
              <a:buChar char="❑"/>
            </a:pPr>
            <a:r>
              <a:rPr lang="tr-TR">
                <a:solidFill>
                  <a:srgbClr val="000000"/>
                </a:solidFill>
              </a:rPr>
              <a:t>Mevcut fikirleri yeni alanlara uygulama özelliği içeren bir fikirdeyseniz,</a:t>
            </a:r>
            <a:endParaRPr/>
          </a:p>
          <a:p>
            <a:pPr indent="-117475" lvl="0" marL="274320" rtl="0" algn="just">
              <a:spcBef>
                <a:spcPts val="520"/>
              </a:spcBef>
              <a:spcAft>
                <a:spcPts val="0"/>
              </a:spcAft>
              <a:buSzPts val="2470"/>
              <a:buFont typeface="Noto Sans Symbols"/>
              <a:buNone/>
            </a:pPr>
            <a:r>
              <a:t/>
            </a:r>
            <a:endParaRPr/>
          </a:p>
          <a:p>
            <a:pPr indent="0" lvl="0" marL="0" rtl="0" algn="l">
              <a:spcBef>
                <a:spcPts val="520"/>
              </a:spcBef>
              <a:spcAft>
                <a:spcPts val="0"/>
              </a:spcAft>
              <a:buSzPts val="2470"/>
              <a:buNone/>
            </a:pPr>
            <a:r>
              <a:t/>
            </a:r>
            <a:endParaRPr/>
          </a:p>
        </p:txBody>
      </p:sp>
      <p:sp>
        <p:nvSpPr>
          <p:cNvPr id="261" name="Google Shape;261;p25"/>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rgbClr val="C00000"/>
              </a:buClr>
              <a:buSzPts val="5000"/>
              <a:buFont typeface="Calibri"/>
              <a:buNone/>
            </a:pPr>
            <a:r>
              <a:rPr lang="tr-TR">
                <a:solidFill>
                  <a:srgbClr val="C00000"/>
                </a:solidFill>
              </a:rPr>
              <a:t>Özgün Değer</a:t>
            </a:r>
            <a:endParaRPr/>
          </a:p>
        </p:txBody>
      </p:sp>
      <p:sp>
        <p:nvSpPr>
          <p:cNvPr id="262" name="Google Shape;262;p2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6"/>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2470"/>
              <a:buFont typeface="Noto Sans Symbols"/>
              <a:buChar char="❑"/>
            </a:pPr>
            <a:r>
              <a:rPr lang="tr-TR"/>
              <a:t>Belirli bir tekniği kullanarak yeni bir alana uygulama uğraşı içerisinde veya yeni bir araştırma aracı veya tekniği geliştirmek çabası içerisinde iseniz,</a:t>
            </a:r>
            <a:endParaRPr/>
          </a:p>
          <a:p>
            <a:pPr indent="-274320" lvl="0" marL="274320" rtl="0" algn="just">
              <a:spcBef>
                <a:spcPts val="520"/>
              </a:spcBef>
              <a:spcAft>
                <a:spcPts val="0"/>
              </a:spcAft>
              <a:buSzPts val="2470"/>
              <a:buFont typeface="Noto Sans Symbols"/>
              <a:buChar char="❑"/>
            </a:pPr>
            <a:r>
              <a:rPr lang="tr-TR"/>
              <a:t>Farklı bir yaklaşım benimsemek, örneğin disiplinlerarası bir bakış açısında olan bir çalışma uğraşı içerisinde iseniz,</a:t>
            </a:r>
            <a:endParaRPr/>
          </a:p>
          <a:p>
            <a:pPr indent="-274320" lvl="0" marL="274320" rtl="0" algn="just">
              <a:spcBef>
                <a:spcPts val="520"/>
              </a:spcBef>
              <a:spcAft>
                <a:spcPts val="0"/>
              </a:spcAft>
              <a:buSzPts val="2470"/>
              <a:buFont typeface="Noto Sans Symbols"/>
              <a:buChar char="❑"/>
            </a:pPr>
            <a:r>
              <a:rPr lang="tr-TR"/>
              <a:t>Daha önce araştırılmamış bir alan veya konuyla ilgili bir araştırma veya daha önce incelenmemiş bir konu veya olayın eleştirel bir analizini türeterek topluma sunan bir çalışma orijinaldir.</a:t>
            </a:r>
            <a:endParaRPr/>
          </a:p>
          <a:p>
            <a:pPr indent="-117475" lvl="0" marL="274320" rtl="0" algn="just">
              <a:spcBef>
                <a:spcPts val="520"/>
              </a:spcBef>
              <a:spcAft>
                <a:spcPts val="0"/>
              </a:spcAft>
              <a:buSzPts val="2470"/>
              <a:buFont typeface="Noto Sans Symbols"/>
              <a:buNone/>
            </a:pPr>
            <a:r>
              <a:t/>
            </a:r>
            <a:endParaRPr/>
          </a:p>
        </p:txBody>
      </p:sp>
      <p:sp>
        <p:nvSpPr>
          <p:cNvPr id="268" name="Google Shape;268;p26"/>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rgbClr val="C00000"/>
              </a:buClr>
              <a:buSzPts val="5000"/>
              <a:buFont typeface="Calibri"/>
              <a:buNone/>
            </a:pPr>
            <a:r>
              <a:rPr lang="tr-TR">
                <a:solidFill>
                  <a:srgbClr val="C00000"/>
                </a:solidFill>
              </a:rPr>
              <a:t>Özgün Değer</a:t>
            </a:r>
            <a:endParaRPr/>
          </a:p>
        </p:txBody>
      </p:sp>
      <p:sp>
        <p:nvSpPr>
          <p:cNvPr id="269" name="Google Shape;269;p2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7"/>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lnSpcReduction="10000"/>
          </a:bodyPr>
          <a:lstStyle/>
          <a:p>
            <a:pPr indent="-274320" lvl="0" marL="274320" rtl="0" algn="just">
              <a:spcBef>
                <a:spcPts val="0"/>
              </a:spcBef>
              <a:spcAft>
                <a:spcPts val="0"/>
              </a:spcAft>
              <a:buSzPts val="2470"/>
              <a:buChar char="⚫"/>
            </a:pPr>
            <a:r>
              <a:rPr lang="tr-TR"/>
              <a:t>Çalışmalarınızı bu kriterler ışığında değerlendirirseniz, araştırmanızın bir şekilde orijinal olduğunu kabul etmelisiniz. </a:t>
            </a:r>
            <a:endParaRPr/>
          </a:p>
          <a:p>
            <a:pPr indent="0" lvl="0" marL="0" rtl="0" algn="just">
              <a:spcBef>
                <a:spcPts val="520"/>
              </a:spcBef>
              <a:spcAft>
                <a:spcPts val="0"/>
              </a:spcAft>
              <a:buSzPts val="2470"/>
              <a:buNone/>
            </a:pPr>
            <a:r>
              <a:t/>
            </a:r>
            <a:endParaRPr/>
          </a:p>
          <a:p>
            <a:pPr indent="-274320" lvl="0" marL="274320" rtl="0" algn="just">
              <a:spcBef>
                <a:spcPts val="520"/>
              </a:spcBef>
              <a:spcAft>
                <a:spcPts val="0"/>
              </a:spcAft>
              <a:buSzPts val="2470"/>
              <a:buChar char="⚫"/>
            </a:pPr>
            <a:r>
              <a:rPr lang="tr-TR"/>
              <a:t>Eserinizde  halen 'özgünlük' bulamıyorsanız, bunu yakın araştırmacı arkadaşlarınızla, meslektaşlarınızla, akranlarınızla veya aile bireylerinizle beyin cimnastiği yaparak değerlendirebilirsiniz. Bunlar sizi en iyi tanıyan insanlardır ve bir çok konuda karşı karşıya kaldığınız sorunların çoğunda eminim; yararlı yönlendirmeler sunmuşlardır ve sunacaklardır. </a:t>
            </a:r>
            <a:endParaRPr/>
          </a:p>
          <a:p>
            <a:pPr indent="-117475" lvl="0" marL="274320" rtl="0" algn="l">
              <a:spcBef>
                <a:spcPts val="520"/>
              </a:spcBef>
              <a:spcAft>
                <a:spcPts val="0"/>
              </a:spcAft>
              <a:buSzPts val="2470"/>
              <a:buNone/>
            </a:pPr>
            <a:r>
              <a:t/>
            </a:r>
            <a:endParaRPr/>
          </a:p>
        </p:txBody>
      </p:sp>
      <p:sp>
        <p:nvSpPr>
          <p:cNvPr id="275" name="Google Shape;275;p27"/>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rgbClr val="C00000"/>
              </a:buClr>
              <a:buSzPts val="5000"/>
              <a:buFont typeface="Calibri"/>
              <a:buNone/>
            </a:pPr>
            <a:r>
              <a:rPr lang="tr-TR">
                <a:solidFill>
                  <a:srgbClr val="C00000"/>
                </a:solidFill>
              </a:rPr>
              <a:t>Özgün Değer</a:t>
            </a:r>
            <a:endParaRPr/>
          </a:p>
        </p:txBody>
      </p:sp>
      <p:sp>
        <p:nvSpPr>
          <p:cNvPr id="276" name="Google Shape;276;p2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8"/>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tr-TR">
                <a:solidFill>
                  <a:srgbClr val="FF0000"/>
                </a:solidFill>
              </a:rPr>
              <a:t>DİKKAT!</a:t>
            </a:r>
            <a:endParaRPr/>
          </a:p>
          <a:p>
            <a:pPr indent="-274320" lvl="0" marL="274320" rtl="0" algn="just">
              <a:spcBef>
                <a:spcPts val="520"/>
              </a:spcBef>
              <a:spcAft>
                <a:spcPts val="0"/>
              </a:spcAft>
              <a:buSzPts val="2470"/>
              <a:buFont typeface="Noto Sans Symbols"/>
              <a:buChar char="⮚"/>
            </a:pPr>
            <a:r>
              <a:rPr lang="tr-TR"/>
              <a:t>Bazen kendi algılarımız, alternatif ve yapıcı seçenekleri görmemizi engelleyerek 'orijinal' veya ‘türetici' olmamızı engelleyebilir. Bununla birlikte, özgünlüğe erişmenin anahtarının «kendi türetkenliğimiz» olduğunu unutmalıyım!</a:t>
            </a:r>
            <a:endParaRPr/>
          </a:p>
          <a:p>
            <a:pPr indent="-274320" lvl="0" marL="274320" rtl="0" algn="just">
              <a:spcBef>
                <a:spcPts val="520"/>
              </a:spcBef>
              <a:spcAft>
                <a:spcPts val="0"/>
              </a:spcAft>
              <a:buSzPts val="2470"/>
              <a:buFont typeface="Noto Sans Symbols"/>
              <a:buChar char="⮚"/>
            </a:pPr>
            <a:r>
              <a:rPr lang="tr-TR"/>
              <a:t>Araştırmanızın içinde özgünlüğü algılama veya geliştirme konusunda sorun yaşıyorsanız, belki de aktif bir şekilde üretkenliğinizi kullanmanın zamanı gelmiştir.</a:t>
            </a:r>
            <a:endParaRPr/>
          </a:p>
        </p:txBody>
      </p:sp>
      <p:sp>
        <p:nvSpPr>
          <p:cNvPr id="282" name="Google Shape;282;p28"/>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rgbClr val="C00000"/>
              </a:buClr>
              <a:buSzPts val="5000"/>
              <a:buFont typeface="Calibri"/>
              <a:buNone/>
            </a:pPr>
            <a:r>
              <a:rPr lang="tr-TR">
                <a:solidFill>
                  <a:srgbClr val="C00000"/>
                </a:solidFill>
              </a:rPr>
              <a:t>Özgün Değer</a:t>
            </a:r>
            <a:endParaRPr/>
          </a:p>
        </p:txBody>
      </p:sp>
      <p:sp>
        <p:nvSpPr>
          <p:cNvPr id="283" name="Google Shape;283;p2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29"/>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fontScale="77500" lnSpcReduction="20000"/>
          </a:bodyPr>
          <a:lstStyle/>
          <a:p>
            <a:pPr indent="-274320" lvl="0" marL="274320" rtl="0" algn="just">
              <a:spcBef>
                <a:spcPts val="0"/>
              </a:spcBef>
              <a:spcAft>
                <a:spcPts val="0"/>
              </a:spcAft>
              <a:buSzPct val="95000"/>
              <a:buFont typeface="Noto Sans Symbols"/>
              <a:buChar char="✔"/>
            </a:pPr>
            <a:r>
              <a:rPr lang="tr-TR">
                <a:solidFill>
                  <a:srgbClr val="002060"/>
                </a:solidFill>
              </a:rPr>
              <a:t>Projenizin özgünlüğünü çok sade ve yalın bir şekilde açıklayınız. Tekrardan kaçınarak panelistlerin zihninde fikir çakışmasına asla müsaade etmeyiniz.</a:t>
            </a:r>
            <a:endParaRPr/>
          </a:p>
          <a:p>
            <a:pPr indent="-274320" lvl="0" marL="274320" rtl="0" algn="just">
              <a:spcBef>
                <a:spcPts val="403"/>
              </a:spcBef>
              <a:spcAft>
                <a:spcPts val="0"/>
              </a:spcAft>
              <a:buSzPct val="95000"/>
              <a:buFont typeface="Noto Sans Symbols"/>
              <a:buChar char="✔"/>
            </a:pPr>
            <a:r>
              <a:rPr lang="tr-TR">
                <a:solidFill>
                  <a:srgbClr val="002060"/>
                </a:solidFill>
              </a:rPr>
              <a:t>Projenizde özgün değeri tanımlamadan önce TÜBİTAK’ın ÖZGÜN DEĞER için tanımladığı </a:t>
            </a:r>
            <a:r>
              <a:rPr lang="tr-TR">
                <a:solidFill>
                  <a:srgbClr val="FF0000"/>
                </a:solidFill>
              </a:rPr>
              <a:t>YÖNERGEYİ</a:t>
            </a:r>
            <a:r>
              <a:rPr lang="tr-TR">
                <a:solidFill>
                  <a:srgbClr val="002060"/>
                </a:solidFill>
              </a:rPr>
              <a:t> mutlaka okuyunuz.</a:t>
            </a:r>
            <a:endParaRPr/>
          </a:p>
          <a:p>
            <a:pPr indent="-274320" lvl="0" marL="274320" rtl="0" algn="just">
              <a:spcBef>
                <a:spcPts val="403"/>
              </a:spcBef>
              <a:spcAft>
                <a:spcPts val="0"/>
              </a:spcAft>
              <a:buSzPct val="95000"/>
              <a:buChar char="⚫"/>
            </a:pPr>
            <a:r>
              <a:rPr lang="tr-TR">
                <a:solidFill>
                  <a:srgbClr val="FF0000"/>
                </a:solidFill>
              </a:rPr>
              <a:t>YÖNERGE: «Proje önerisinde ele alınan konunun kapsamı ve sınırları ile önemi literatürün eleştirel bir değerlendirmesinin yanı sıra nitel veya nicel verilerle açıklanır.</a:t>
            </a:r>
            <a:endParaRPr/>
          </a:p>
          <a:p>
            <a:pPr indent="-274350" lvl="0" marL="274320" rtl="0" algn="just">
              <a:spcBef>
                <a:spcPts val="480"/>
              </a:spcBef>
              <a:spcAft>
                <a:spcPts val="0"/>
              </a:spcAft>
              <a:buSzPct val="95000"/>
              <a:buChar char="⚫"/>
            </a:pPr>
            <a:r>
              <a:rPr b="1" lang="tr-TR" sz="3100">
                <a:solidFill>
                  <a:srgbClr val="FF0000"/>
                </a:solidFill>
              </a:rPr>
              <a:t>Özgün değer yazılırken projenin bilimsel kalitesi, farklılığı ve yeniliği, hangi eksikliği nasıl gidereceği veya hangi soruna nasıl bir çözüm geliştireceği ve/veya ilgili bilim veya teknoloji alan(lar)ına kavramsal, kuramsal ve/veya metodolojik olarak ne gibi özgün katkılarda bulunacağı literatüre atıf yapılarak açıklanır.» </a:t>
            </a:r>
            <a:endParaRPr b="1" sz="3100">
              <a:solidFill>
                <a:srgbClr val="FF0000"/>
              </a:solidFill>
            </a:endParaRPr>
          </a:p>
          <a:p>
            <a:pPr indent="0" lvl="0" marL="0" rtl="0" algn="just">
              <a:spcBef>
                <a:spcPts val="403"/>
              </a:spcBef>
              <a:spcAft>
                <a:spcPts val="0"/>
              </a:spcAft>
              <a:buSzPct val="95000"/>
              <a:buNone/>
            </a:pPr>
            <a:r>
              <a:t/>
            </a:r>
            <a:endParaRPr>
              <a:solidFill>
                <a:srgbClr val="002060"/>
              </a:solidFill>
            </a:endParaRPr>
          </a:p>
        </p:txBody>
      </p:sp>
      <p:sp>
        <p:nvSpPr>
          <p:cNvPr id="289" name="Google Shape;289;p29"/>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rgbClr val="C00000"/>
              </a:buClr>
              <a:buSzPts val="5000"/>
              <a:buFont typeface="Calibri"/>
              <a:buNone/>
            </a:pPr>
            <a:r>
              <a:rPr lang="tr-TR">
                <a:solidFill>
                  <a:srgbClr val="C00000"/>
                </a:solidFill>
              </a:rPr>
              <a:t>Özgün Değer</a:t>
            </a:r>
            <a:endParaRPr/>
          </a:p>
        </p:txBody>
      </p:sp>
      <p:sp>
        <p:nvSpPr>
          <p:cNvPr id="290" name="Google Shape;290;p2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0"/>
          <p:cNvSpPr txBox="1"/>
          <p:nvPr>
            <p:ph type="title"/>
          </p:nvPr>
        </p:nvSpPr>
        <p:spPr>
          <a:xfrm>
            <a:off x="914400" y="457200"/>
            <a:ext cx="7772400" cy="609600"/>
          </a:xfrm>
          <a:prstGeom prst="rect">
            <a:avLst/>
          </a:prstGeom>
          <a:noFill/>
          <a:ln>
            <a:noFill/>
          </a:ln>
        </p:spPr>
        <p:txBody>
          <a:bodyPr anchorCtr="0" anchor="b" bIns="0" lIns="0" spcFirstLastPara="1" rIns="0" wrap="square" tIns="45700">
            <a:normAutofit fontScale="90000"/>
          </a:bodyPr>
          <a:lstStyle/>
          <a:p>
            <a:pPr indent="0" lvl="0" marL="0" rtl="0" algn="l">
              <a:spcBef>
                <a:spcPts val="0"/>
              </a:spcBef>
              <a:spcAft>
                <a:spcPts val="0"/>
              </a:spcAft>
              <a:buClr>
                <a:srgbClr val="FF0000"/>
              </a:buClr>
              <a:buSzPct val="100000"/>
              <a:buFont typeface="Calibri"/>
              <a:buNone/>
            </a:pPr>
            <a:br>
              <a:rPr b="1" lang="tr-TR" sz="1600">
                <a:solidFill>
                  <a:srgbClr val="FF0000"/>
                </a:solidFill>
              </a:rPr>
            </a:br>
            <a:br>
              <a:rPr b="1" lang="tr-TR" sz="1600">
                <a:solidFill>
                  <a:srgbClr val="FF0000"/>
                </a:solidFill>
              </a:rPr>
            </a:br>
            <a:br>
              <a:rPr b="1" lang="tr-TR" sz="1600">
                <a:solidFill>
                  <a:srgbClr val="FF0000"/>
                </a:solidFill>
              </a:rPr>
            </a:br>
            <a:br>
              <a:rPr b="1" lang="tr-TR" sz="1600">
                <a:solidFill>
                  <a:srgbClr val="FF0000"/>
                </a:solidFill>
              </a:rPr>
            </a:br>
            <a:br>
              <a:rPr lang="tr-TR"/>
            </a:br>
            <a:r>
              <a:rPr b="1" lang="tr-TR" sz="2000">
                <a:solidFill>
                  <a:srgbClr val="FF0000"/>
                </a:solidFill>
              </a:rPr>
              <a:t>1.1. Konunun Önemi, Projenin Özgün Değeri ve Araştırma Sorusu veya Hipotezi</a:t>
            </a:r>
            <a:endParaRPr sz="2000"/>
          </a:p>
        </p:txBody>
      </p:sp>
      <p:sp>
        <p:nvSpPr>
          <p:cNvPr id="296" name="Google Shape;296;p30"/>
          <p:cNvSpPr txBox="1"/>
          <p:nvPr>
            <p:ph idx="1" type="body"/>
          </p:nvPr>
        </p:nvSpPr>
        <p:spPr>
          <a:xfrm>
            <a:off x="457200" y="1219200"/>
            <a:ext cx="8229600" cy="5105400"/>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2470"/>
              <a:buChar char="⚫"/>
            </a:pPr>
            <a:r>
              <a:rPr b="1" lang="tr-TR">
                <a:solidFill>
                  <a:srgbClr val="FF0000"/>
                </a:solidFill>
              </a:rPr>
              <a:t>Konunun Önemi Açıklanmalı</a:t>
            </a:r>
            <a:endParaRPr/>
          </a:p>
        </p:txBody>
      </p:sp>
      <p:sp>
        <p:nvSpPr>
          <p:cNvPr id="297" name="Google Shape;297;p3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1"/>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805"/>
              <a:buChar char="⚫"/>
            </a:pPr>
            <a:r>
              <a:rPr b="1" lang="tr-TR" sz="1900">
                <a:solidFill>
                  <a:srgbClr val="FF0000"/>
                </a:solidFill>
              </a:rPr>
              <a:t>Projenin kapsamı ve sınırlıkları:</a:t>
            </a:r>
            <a:endParaRPr sz="1900">
              <a:solidFill>
                <a:srgbClr val="FF0000"/>
              </a:solidFill>
            </a:endParaRPr>
          </a:p>
          <a:p>
            <a:pPr indent="-117475" lvl="0" marL="274320" rtl="0" algn="just">
              <a:spcBef>
                <a:spcPts val="520"/>
              </a:spcBef>
              <a:spcAft>
                <a:spcPts val="0"/>
              </a:spcAft>
              <a:buSzPts val="2470"/>
              <a:buNone/>
            </a:pPr>
            <a:r>
              <a:t/>
            </a:r>
            <a:endParaRPr/>
          </a:p>
        </p:txBody>
      </p:sp>
      <p:sp>
        <p:nvSpPr>
          <p:cNvPr id="303" name="Google Shape;303;p31"/>
          <p:cNvSpPr txBox="1"/>
          <p:nvPr>
            <p:ph type="title"/>
          </p:nvPr>
        </p:nvSpPr>
        <p:spPr>
          <a:xfrm>
            <a:off x="457200" y="990600"/>
            <a:ext cx="7772400" cy="609600"/>
          </a:xfrm>
          <a:prstGeom prst="rect">
            <a:avLst/>
          </a:prstGeom>
          <a:noFill/>
          <a:ln>
            <a:noFill/>
          </a:ln>
        </p:spPr>
        <p:txBody>
          <a:bodyPr anchorCtr="0" anchor="b" bIns="0" lIns="0" spcFirstLastPara="1" rIns="0" wrap="square" tIns="45700">
            <a:normAutofit fontScale="90000"/>
          </a:bodyPr>
          <a:lstStyle/>
          <a:p>
            <a:pPr indent="0" lvl="0" marL="0" rtl="0" algn="l">
              <a:spcBef>
                <a:spcPts val="0"/>
              </a:spcBef>
              <a:spcAft>
                <a:spcPts val="0"/>
              </a:spcAft>
              <a:buClr>
                <a:srgbClr val="FF0000"/>
              </a:buClr>
              <a:buSzPct val="100000"/>
              <a:buFont typeface="Calibri"/>
              <a:buNone/>
            </a:pPr>
            <a:br>
              <a:rPr b="1" lang="tr-TR" sz="1600">
                <a:solidFill>
                  <a:srgbClr val="FF0000"/>
                </a:solidFill>
              </a:rPr>
            </a:br>
            <a:br>
              <a:rPr b="1" lang="tr-TR" sz="1600">
                <a:solidFill>
                  <a:srgbClr val="FF0000"/>
                </a:solidFill>
              </a:rPr>
            </a:br>
            <a:br>
              <a:rPr b="1" lang="tr-TR" sz="1600">
                <a:solidFill>
                  <a:srgbClr val="FF0000"/>
                </a:solidFill>
              </a:rPr>
            </a:br>
            <a:br>
              <a:rPr b="1" lang="tr-TR" sz="1600">
                <a:solidFill>
                  <a:srgbClr val="FF0000"/>
                </a:solidFill>
              </a:rPr>
            </a:br>
            <a:br>
              <a:rPr lang="tr-TR"/>
            </a:br>
            <a:r>
              <a:rPr b="1" lang="tr-TR" sz="2000">
                <a:solidFill>
                  <a:srgbClr val="FF0000"/>
                </a:solidFill>
              </a:rPr>
              <a:t>1.1. Konunun Önemi, Projenin Özgün Değeri ve Araştırma Sorusu veya Hipotezi</a:t>
            </a:r>
            <a:endParaRPr sz="2000"/>
          </a:p>
        </p:txBody>
      </p:sp>
      <p:sp>
        <p:nvSpPr>
          <p:cNvPr id="304" name="Google Shape;304;p3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2"/>
          <p:cNvSpPr txBox="1"/>
          <p:nvPr>
            <p:ph idx="1" type="body"/>
          </p:nvPr>
        </p:nvSpPr>
        <p:spPr>
          <a:xfrm>
            <a:off x="457200" y="1143000"/>
            <a:ext cx="8229600" cy="55626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3515"/>
              <a:buChar char="⚫"/>
            </a:pPr>
            <a:r>
              <a:rPr b="1" lang="tr-TR" sz="3700">
                <a:solidFill>
                  <a:srgbClr val="FF0000"/>
                </a:solidFill>
              </a:rPr>
              <a:t>Literatür Özeti:</a:t>
            </a:r>
            <a:endParaRPr sz="3700">
              <a:solidFill>
                <a:srgbClr val="FF0000"/>
              </a:solidFill>
            </a:endParaRPr>
          </a:p>
          <a:p>
            <a:pPr indent="-274320" lvl="0" marL="274320" rtl="0" algn="just">
              <a:spcBef>
                <a:spcPts val="740"/>
              </a:spcBef>
              <a:spcAft>
                <a:spcPts val="0"/>
              </a:spcAft>
              <a:buSzPts val="3515"/>
              <a:buChar char="⚫"/>
            </a:pPr>
            <a:r>
              <a:rPr lang="tr-TR" sz="3700"/>
              <a:t>Bu konuda başka araştırmacılar neler yapmış?</a:t>
            </a:r>
            <a:endParaRPr/>
          </a:p>
          <a:p>
            <a:pPr indent="-274320" lvl="0" marL="274320" rtl="0" algn="just">
              <a:spcBef>
                <a:spcPts val="740"/>
              </a:spcBef>
              <a:spcAft>
                <a:spcPts val="0"/>
              </a:spcAft>
              <a:buSzPts val="3515"/>
              <a:buChar char="⚫"/>
            </a:pPr>
            <a:r>
              <a:rPr lang="tr-TR" sz="3700"/>
              <a:t>Siz ne yapmayı planlıyorsunuz?</a:t>
            </a:r>
            <a:endParaRPr/>
          </a:p>
          <a:p>
            <a:pPr indent="-117475" lvl="0" marL="274320" rtl="0" algn="l">
              <a:spcBef>
                <a:spcPts val="520"/>
              </a:spcBef>
              <a:spcAft>
                <a:spcPts val="0"/>
              </a:spcAft>
              <a:buSzPts val="2470"/>
              <a:buNone/>
            </a:pPr>
            <a:r>
              <a:t/>
            </a:r>
            <a:endParaRPr/>
          </a:p>
        </p:txBody>
      </p:sp>
      <p:sp>
        <p:nvSpPr>
          <p:cNvPr id="310" name="Google Shape;310;p32"/>
          <p:cNvSpPr txBox="1"/>
          <p:nvPr>
            <p:ph type="title"/>
          </p:nvPr>
        </p:nvSpPr>
        <p:spPr>
          <a:xfrm>
            <a:off x="914400" y="457200"/>
            <a:ext cx="7772400" cy="609600"/>
          </a:xfrm>
          <a:prstGeom prst="rect">
            <a:avLst/>
          </a:prstGeom>
          <a:noFill/>
          <a:ln>
            <a:noFill/>
          </a:ln>
        </p:spPr>
        <p:txBody>
          <a:bodyPr anchorCtr="0" anchor="b" bIns="0" lIns="0" spcFirstLastPara="1" rIns="0" wrap="square" tIns="45700">
            <a:normAutofit fontScale="90000"/>
          </a:bodyPr>
          <a:lstStyle/>
          <a:p>
            <a:pPr indent="0" lvl="0" marL="0" rtl="0" algn="l">
              <a:spcBef>
                <a:spcPts val="0"/>
              </a:spcBef>
              <a:spcAft>
                <a:spcPts val="0"/>
              </a:spcAft>
              <a:buClr>
                <a:srgbClr val="FF0000"/>
              </a:buClr>
              <a:buSzPct val="100000"/>
              <a:buFont typeface="Calibri"/>
              <a:buNone/>
            </a:pPr>
            <a:br>
              <a:rPr b="1" lang="tr-TR" sz="1600">
                <a:solidFill>
                  <a:srgbClr val="FF0000"/>
                </a:solidFill>
              </a:rPr>
            </a:br>
            <a:br>
              <a:rPr b="1" lang="tr-TR" sz="1600">
                <a:solidFill>
                  <a:srgbClr val="FF0000"/>
                </a:solidFill>
              </a:rPr>
            </a:br>
            <a:br>
              <a:rPr b="1" lang="tr-TR" sz="1600">
                <a:solidFill>
                  <a:srgbClr val="FF0000"/>
                </a:solidFill>
              </a:rPr>
            </a:br>
            <a:br>
              <a:rPr b="1" lang="tr-TR" sz="1600">
                <a:solidFill>
                  <a:srgbClr val="FF0000"/>
                </a:solidFill>
              </a:rPr>
            </a:br>
            <a:br>
              <a:rPr lang="tr-TR"/>
            </a:br>
            <a:r>
              <a:rPr b="1" lang="tr-TR" sz="2000">
                <a:solidFill>
                  <a:srgbClr val="FF0000"/>
                </a:solidFill>
              </a:rPr>
              <a:t>1.1. Konunun Önemi, Projenin Özgün Değeri ve Araştırma Sorusu veya Hipotezi</a:t>
            </a:r>
            <a:endParaRPr sz="2000"/>
          </a:p>
        </p:txBody>
      </p:sp>
      <p:sp>
        <p:nvSpPr>
          <p:cNvPr id="311" name="Google Shape;311;p3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33"/>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lnSpcReduction="10000"/>
          </a:bodyPr>
          <a:lstStyle/>
          <a:p>
            <a:pPr indent="-274320" lvl="0" marL="274320" rtl="0" algn="just">
              <a:spcBef>
                <a:spcPts val="0"/>
              </a:spcBef>
              <a:spcAft>
                <a:spcPts val="0"/>
              </a:spcAft>
              <a:buSzPts val="2470"/>
              <a:buChar char="⚫"/>
            </a:pPr>
            <a:r>
              <a:rPr lang="tr-TR"/>
              <a:t>Yukarıdaki literatür tartışmasında açıkça görüleceği gibi …….</a:t>
            </a:r>
            <a:endParaRPr/>
          </a:p>
          <a:p>
            <a:pPr indent="-117475" lvl="0" marL="274320" rtl="0" algn="just">
              <a:spcBef>
                <a:spcPts val="520"/>
              </a:spcBef>
              <a:spcAft>
                <a:spcPts val="0"/>
              </a:spcAft>
              <a:buSzPts val="2470"/>
              <a:buNone/>
            </a:pPr>
            <a:r>
              <a:t/>
            </a:r>
            <a:endParaRPr/>
          </a:p>
          <a:p>
            <a:pPr indent="-117475" lvl="0" marL="274320" rtl="0" algn="just">
              <a:spcBef>
                <a:spcPts val="520"/>
              </a:spcBef>
              <a:spcAft>
                <a:spcPts val="0"/>
              </a:spcAft>
              <a:buSzPts val="2470"/>
              <a:buNone/>
            </a:pPr>
            <a:r>
              <a:t/>
            </a:r>
            <a:endParaRPr/>
          </a:p>
          <a:p>
            <a:pPr indent="-274320" lvl="0" marL="274320" rtl="0" algn="just">
              <a:spcBef>
                <a:spcPts val="520"/>
              </a:spcBef>
              <a:spcAft>
                <a:spcPts val="0"/>
              </a:spcAft>
              <a:buSzPts val="2470"/>
              <a:buChar char="⚫"/>
            </a:pPr>
            <a:r>
              <a:rPr lang="tr-TR"/>
              <a:t>……. </a:t>
            </a:r>
            <a:r>
              <a:rPr lang="tr-TR">
                <a:solidFill>
                  <a:srgbClr val="FF0000"/>
                </a:solidFill>
              </a:rPr>
              <a:t>literatürde var olan bu yöndeki boşluk bu şekilde doldurulmuş olacaktır</a:t>
            </a:r>
            <a:r>
              <a:rPr lang="tr-TR"/>
              <a:t>. </a:t>
            </a:r>
            <a:endParaRPr/>
          </a:p>
          <a:p>
            <a:pPr indent="-117475" lvl="0" marL="274320" rtl="0" algn="just">
              <a:spcBef>
                <a:spcPts val="520"/>
              </a:spcBef>
              <a:spcAft>
                <a:spcPts val="0"/>
              </a:spcAft>
              <a:buSzPts val="2470"/>
              <a:buNone/>
            </a:pPr>
            <a:r>
              <a:t/>
            </a:r>
            <a:endParaRPr/>
          </a:p>
          <a:p>
            <a:pPr indent="-274320" lvl="0" marL="274320" rtl="0" algn="just">
              <a:spcBef>
                <a:spcPts val="520"/>
              </a:spcBef>
              <a:spcAft>
                <a:spcPts val="0"/>
              </a:spcAft>
              <a:buSzPts val="2470"/>
              <a:buChar char="⚫"/>
            </a:pPr>
            <a:r>
              <a:rPr lang="tr-TR"/>
              <a:t>…….., literatür bulgularıyla örtüşen ve ayrışan yönlerinin ortaya konulması mevcut literatüre ayrıca bir zenginlik katmış olacaktır. </a:t>
            </a:r>
            <a:endParaRPr/>
          </a:p>
        </p:txBody>
      </p:sp>
      <p:sp>
        <p:nvSpPr>
          <p:cNvPr id="317" name="Google Shape;317;p33"/>
          <p:cNvSpPr txBox="1"/>
          <p:nvPr>
            <p:ph type="title"/>
          </p:nvPr>
        </p:nvSpPr>
        <p:spPr>
          <a:xfrm>
            <a:off x="762000" y="990600"/>
            <a:ext cx="7696200" cy="6096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rgbClr val="FF0000"/>
              </a:buClr>
              <a:buSzPts val="1800"/>
              <a:buFont typeface="Calibri"/>
              <a:buNone/>
            </a:pPr>
            <a:br>
              <a:rPr b="1" lang="tr-TR" sz="1800">
                <a:solidFill>
                  <a:srgbClr val="FF0000"/>
                </a:solidFill>
              </a:rPr>
            </a:br>
            <a:br>
              <a:rPr b="1" lang="tr-TR" sz="1800">
                <a:solidFill>
                  <a:srgbClr val="FF0000"/>
                </a:solidFill>
              </a:rPr>
            </a:br>
            <a:br>
              <a:rPr b="1" lang="tr-TR" sz="1800">
                <a:solidFill>
                  <a:srgbClr val="FF0000"/>
                </a:solidFill>
              </a:rPr>
            </a:br>
            <a:br>
              <a:rPr b="1" lang="tr-TR" sz="1800">
                <a:solidFill>
                  <a:srgbClr val="FF0000"/>
                </a:solidFill>
              </a:rPr>
            </a:br>
            <a:br>
              <a:rPr lang="tr-TR" sz="1800"/>
            </a:br>
            <a:r>
              <a:rPr b="1" lang="tr-TR" sz="1800">
                <a:solidFill>
                  <a:srgbClr val="FF0000"/>
                </a:solidFill>
              </a:rPr>
              <a:t>1.1. Konunun Önemi, Projenin Özgün Değeri ve Araştırma Sorusu veya Hipotezi</a:t>
            </a:r>
            <a:endParaRPr sz="1800"/>
          </a:p>
        </p:txBody>
      </p:sp>
      <p:sp>
        <p:nvSpPr>
          <p:cNvPr id="318" name="Google Shape;318;p3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graphicFrame>
        <p:nvGraphicFramePr>
          <p:cNvPr id="323" name="Google Shape;323;p34"/>
          <p:cNvGraphicFramePr/>
          <p:nvPr/>
        </p:nvGraphicFramePr>
        <p:xfrm>
          <a:off x="457200" y="1847088"/>
          <a:ext cx="3000000" cy="3000000"/>
        </p:xfrm>
        <a:graphic>
          <a:graphicData uri="http://schemas.openxmlformats.org/drawingml/2006/table">
            <a:tbl>
              <a:tblPr>
                <a:noFill/>
                <a:tableStyleId>{8C0786C2-FAF9-4CB1-B4D6-09287A97D0E9}</a:tableStyleId>
              </a:tblPr>
              <a:tblGrid>
                <a:gridCol w="8077200"/>
              </a:tblGrid>
              <a:tr h="4782300">
                <a:tc>
                  <a:txBody>
                    <a:bodyPr/>
                    <a:lstStyle/>
                    <a:p>
                      <a:pPr indent="0" lvl="0" marL="0" marR="0" rtl="0" algn="just">
                        <a:spcBef>
                          <a:spcPts val="0"/>
                        </a:spcBef>
                        <a:spcAft>
                          <a:spcPts val="0"/>
                        </a:spcAft>
                        <a:buNone/>
                      </a:pPr>
                      <a:r>
                        <a:rPr lang="tr-TR" sz="900" u="none" cap="none" strike="noStrike">
                          <a:solidFill>
                            <a:srgbClr val="000000"/>
                          </a:solidFill>
                          <a:latin typeface="Arial"/>
                          <a:ea typeface="Arial"/>
                          <a:cs typeface="Arial"/>
                          <a:sym typeface="Arial"/>
                        </a:rPr>
                        <a:t> </a:t>
                      </a:r>
                      <a:endParaRPr sz="1200" u="none" cap="none" strike="noStrike">
                        <a:latin typeface="Times New Roman"/>
                        <a:ea typeface="Times New Roman"/>
                        <a:cs typeface="Times New Roman"/>
                        <a:sym typeface="Times New Roman"/>
                      </a:endParaRPr>
                    </a:p>
                    <a:p>
                      <a:pPr indent="0" lvl="0" marL="0" marR="0" rtl="0" algn="just">
                        <a:lnSpc>
                          <a:spcPct val="100000"/>
                        </a:lnSpc>
                        <a:spcBef>
                          <a:spcPts val="360"/>
                        </a:spcBef>
                        <a:spcAft>
                          <a:spcPts val="0"/>
                        </a:spcAft>
                        <a:buClr>
                          <a:srgbClr val="0BD0D9"/>
                        </a:buClr>
                        <a:buSzPts val="1710"/>
                        <a:buFont typeface="Noto Sans Symbols"/>
                        <a:buNone/>
                      </a:pPr>
                      <a:r>
                        <a:rPr b="1" i="0" lang="tr-TR" sz="1800" u="none" cap="none" strike="noStrike">
                          <a:solidFill>
                            <a:schemeClr val="dk1"/>
                          </a:solidFill>
                          <a:latin typeface="Constantia"/>
                          <a:ea typeface="Constantia"/>
                          <a:cs typeface="Constantia"/>
                          <a:sym typeface="Constantia"/>
                        </a:rPr>
                        <a:t>Projenin Özgün Değeri:</a:t>
                      </a:r>
                      <a:endParaRPr/>
                    </a:p>
                    <a:p>
                      <a:pPr indent="0" lvl="0" marL="0" marR="0" rtl="0" algn="just">
                        <a:lnSpc>
                          <a:spcPct val="100000"/>
                        </a:lnSpc>
                        <a:spcBef>
                          <a:spcPts val="360"/>
                        </a:spcBef>
                        <a:spcAft>
                          <a:spcPts val="0"/>
                        </a:spcAft>
                        <a:buClr>
                          <a:srgbClr val="0BD0D9"/>
                        </a:buClr>
                        <a:buSzPts val="1710"/>
                        <a:buFont typeface="Noto Sans Symbols"/>
                        <a:buNone/>
                      </a:pPr>
                      <a:r>
                        <a:rPr b="1" i="0" lang="tr-TR" sz="1800" u="none" cap="none" strike="noStrike">
                          <a:solidFill>
                            <a:schemeClr val="dk1"/>
                          </a:solidFill>
                          <a:latin typeface="Constantia"/>
                          <a:ea typeface="Constantia"/>
                          <a:cs typeface="Constantia"/>
                          <a:sym typeface="Constantia"/>
                        </a:rPr>
                        <a:t>Örnek 1:</a:t>
                      </a:r>
                      <a:endParaRPr/>
                    </a:p>
                    <a:p>
                      <a:pPr indent="-274320" lvl="0" marL="274320" marR="0" rtl="0" algn="just">
                        <a:lnSpc>
                          <a:spcPct val="100000"/>
                        </a:lnSpc>
                        <a:spcBef>
                          <a:spcPts val="320"/>
                        </a:spcBef>
                        <a:spcAft>
                          <a:spcPts val="0"/>
                        </a:spcAft>
                        <a:buClr>
                          <a:srgbClr val="0BD0D9"/>
                        </a:buClr>
                        <a:buSzPts val="1520"/>
                        <a:buFont typeface="Noto Sans Symbols"/>
                        <a:buChar char="✔"/>
                      </a:pPr>
                      <a:r>
                        <a:rPr b="0" i="0" lang="tr-TR" sz="1600" u="none" cap="none" strike="noStrike">
                          <a:solidFill>
                            <a:schemeClr val="dk1"/>
                          </a:solidFill>
                          <a:latin typeface="Constantia"/>
                          <a:ea typeface="Constantia"/>
                          <a:cs typeface="Constantia"/>
                          <a:sym typeface="Constantia"/>
                        </a:rPr>
                        <a:t>…….ülkemizde </a:t>
                      </a:r>
                      <a:r>
                        <a:rPr b="0" i="0" lang="tr-TR" sz="1600" u="none" cap="none" strike="noStrike">
                          <a:solidFill>
                            <a:srgbClr val="FF0000"/>
                          </a:solidFill>
                          <a:latin typeface="Constantia"/>
                          <a:ea typeface="Constantia"/>
                          <a:cs typeface="Constantia"/>
                          <a:sym typeface="Constantia"/>
                        </a:rPr>
                        <a:t>ilk kez ampirik olarak ortaya koymakla ÖZGÜN bir çalışma niteliğine sahiptir</a:t>
                      </a:r>
                      <a:r>
                        <a:rPr b="0" i="0" lang="tr-TR" sz="1600" u="none" cap="none" strike="noStrike">
                          <a:solidFill>
                            <a:schemeClr val="dk1"/>
                          </a:solidFill>
                          <a:latin typeface="Constantia"/>
                          <a:ea typeface="Constantia"/>
                          <a:cs typeface="Constantia"/>
                          <a:sym typeface="Constantia"/>
                        </a:rPr>
                        <a:t>.</a:t>
                      </a:r>
                      <a:r>
                        <a:rPr lang="tr-TR" sz="1600" u="none" cap="none" strike="noStrike">
                          <a:solidFill>
                            <a:schemeClr val="dk1"/>
                          </a:solidFill>
                        </a:rPr>
                        <a:t> </a:t>
                      </a:r>
                      <a:endParaRPr/>
                    </a:p>
                    <a:p>
                      <a:pPr indent="-177800" lvl="0" marL="274320" marR="0" rtl="0" algn="just">
                        <a:lnSpc>
                          <a:spcPct val="100000"/>
                        </a:lnSpc>
                        <a:spcBef>
                          <a:spcPts val="320"/>
                        </a:spcBef>
                        <a:spcAft>
                          <a:spcPts val="0"/>
                        </a:spcAft>
                        <a:buClr>
                          <a:srgbClr val="0BD0D9"/>
                        </a:buClr>
                        <a:buSzPts val="1520"/>
                        <a:buFont typeface="Noto Sans Symbols"/>
                        <a:buNone/>
                      </a:pPr>
                      <a:r>
                        <a:t/>
                      </a:r>
                      <a:endParaRPr sz="1600" u="none" cap="none" strike="noStrike">
                        <a:solidFill>
                          <a:schemeClr val="dk1"/>
                        </a:solidFill>
                      </a:endParaRPr>
                    </a:p>
                    <a:p>
                      <a:pPr indent="-274320" lvl="0" marL="274320" marR="0" rtl="0" algn="just">
                        <a:lnSpc>
                          <a:spcPct val="100000"/>
                        </a:lnSpc>
                        <a:spcBef>
                          <a:spcPts val="320"/>
                        </a:spcBef>
                        <a:spcAft>
                          <a:spcPts val="0"/>
                        </a:spcAft>
                        <a:buClr>
                          <a:srgbClr val="0BD0D9"/>
                        </a:buClr>
                        <a:buSzPts val="1520"/>
                        <a:buFont typeface="Noto Sans Symbols"/>
                        <a:buChar char="✔"/>
                      </a:pPr>
                      <a:r>
                        <a:rPr lang="tr-TR" sz="1600" u="none" cap="none" strike="noStrike">
                          <a:solidFill>
                            <a:schemeClr val="dk1"/>
                          </a:solidFill>
                        </a:rPr>
                        <a:t>Ayrıca ………. </a:t>
                      </a:r>
                      <a:r>
                        <a:rPr lang="tr-TR" sz="1600" u="none" cap="none" strike="noStrike">
                          <a:solidFill>
                            <a:srgbClr val="FF0000"/>
                          </a:solidFill>
                        </a:rPr>
                        <a:t>orijinallik niteliğini </a:t>
                      </a:r>
                      <a:r>
                        <a:rPr lang="tr-TR" sz="1600" u="none" cap="none" strike="noStrike">
                          <a:solidFill>
                            <a:schemeClr val="dk1"/>
                          </a:solidFill>
                        </a:rPr>
                        <a:t>daha da artıracaktır. </a:t>
                      </a:r>
                      <a:endParaRPr/>
                    </a:p>
                    <a:p>
                      <a:pPr indent="-177800" lvl="0" marL="274320" marR="0" rtl="0" algn="just">
                        <a:lnSpc>
                          <a:spcPct val="100000"/>
                        </a:lnSpc>
                        <a:spcBef>
                          <a:spcPts val="320"/>
                        </a:spcBef>
                        <a:spcAft>
                          <a:spcPts val="0"/>
                        </a:spcAft>
                        <a:buClr>
                          <a:srgbClr val="0BD0D9"/>
                        </a:buClr>
                        <a:buSzPts val="1520"/>
                        <a:buFont typeface="Noto Sans Symbols"/>
                        <a:buNone/>
                      </a:pPr>
                      <a:r>
                        <a:t/>
                      </a:r>
                      <a:endParaRPr sz="1600" u="none" cap="none" strike="noStrike">
                        <a:solidFill>
                          <a:schemeClr val="dk1"/>
                        </a:solidFill>
                      </a:endParaRPr>
                    </a:p>
                    <a:p>
                      <a:pPr indent="-177800" lvl="0" marL="274320" marR="0" rtl="0" algn="just">
                        <a:lnSpc>
                          <a:spcPct val="100000"/>
                        </a:lnSpc>
                        <a:spcBef>
                          <a:spcPts val="320"/>
                        </a:spcBef>
                        <a:spcAft>
                          <a:spcPts val="0"/>
                        </a:spcAft>
                        <a:buClr>
                          <a:srgbClr val="0BD0D9"/>
                        </a:buClr>
                        <a:buSzPts val="1520"/>
                        <a:buFont typeface="Noto Sans Symbols"/>
                        <a:buNone/>
                      </a:pPr>
                      <a:r>
                        <a:t/>
                      </a:r>
                      <a:endParaRPr sz="1600" u="none" cap="none" strike="noStrike">
                        <a:solidFill>
                          <a:schemeClr val="dk1"/>
                        </a:solidFill>
                      </a:endParaRPr>
                    </a:p>
                    <a:p>
                      <a:pPr indent="-274320" lvl="0" marL="274320" marR="0" rtl="0" algn="just">
                        <a:lnSpc>
                          <a:spcPct val="100000"/>
                        </a:lnSpc>
                        <a:spcBef>
                          <a:spcPts val="320"/>
                        </a:spcBef>
                        <a:spcAft>
                          <a:spcPts val="0"/>
                        </a:spcAft>
                        <a:buClr>
                          <a:srgbClr val="0BD0D9"/>
                        </a:buClr>
                        <a:buSzPts val="1520"/>
                        <a:buFont typeface="Noto Sans Symbols"/>
                        <a:buChar char="✔"/>
                      </a:pPr>
                      <a:r>
                        <a:rPr lang="tr-TR" sz="1600" u="none" cap="none" strike="noStrike">
                          <a:solidFill>
                            <a:schemeClr val="dk1"/>
                          </a:solidFill>
                        </a:rPr>
                        <a:t>…………………</a:t>
                      </a:r>
                      <a:r>
                        <a:rPr lang="tr-TR" sz="1600" u="none" cap="none" strike="noStrike">
                          <a:solidFill>
                            <a:srgbClr val="FF0000"/>
                          </a:solidFill>
                        </a:rPr>
                        <a:t>çalışmamız ÖZGÜN bir niteliktedir</a:t>
                      </a:r>
                      <a:r>
                        <a:rPr lang="tr-TR" sz="1600" u="none" cap="none" strike="noStrike">
                          <a:solidFill>
                            <a:schemeClr val="dk1"/>
                          </a:solidFill>
                        </a:rPr>
                        <a:t>.</a:t>
                      </a:r>
                      <a:endParaRPr sz="1600" u="none" cap="none" strike="noStrike">
                        <a:solidFill>
                          <a:schemeClr val="dk1"/>
                        </a:solidFill>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324" name="Google Shape;324;p34"/>
          <p:cNvSpPr txBox="1"/>
          <p:nvPr>
            <p:ph type="title"/>
          </p:nvPr>
        </p:nvSpPr>
        <p:spPr>
          <a:xfrm>
            <a:off x="457200" y="990600"/>
            <a:ext cx="7772400" cy="609600"/>
          </a:xfrm>
          <a:prstGeom prst="rect">
            <a:avLst/>
          </a:prstGeom>
          <a:noFill/>
          <a:ln>
            <a:noFill/>
          </a:ln>
        </p:spPr>
        <p:txBody>
          <a:bodyPr anchorCtr="0" anchor="b" bIns="0" lIns="0" spcFirstLastPara="1" rIns="0" wrap="square" tIns="45700">
            <a:normAutofit fontScale="90000"/>
          </a:bodyPr>
          <a:lstStyle/>
          <a:p>
            <a:pPr indent="0" lvl="0" marL="0" rtl="0" algn="l">
              <a:spcBef>
                <a:spcPts val="0"/>
              </a:spcBef>
              <a:spcAft>
                <a:spcPts val="0"/>
              </a:spcAft>
              <a:buClr>
                <a:srgbClr val="FF0000"/>
              </a:buClr>
              <a:buSzPct val="100000"/>
              <a:buFont typeface="Calibri"/>
              <a:buNone/>
            </a:pPr>
            <a:br>
              <a:rPr b="1" lang="tr-TR" sz="1600">
                <a:solidFill>
                  <a:srgbClr val="FF0000"/>
                </a:solidFill>
              </a:rPr>
            </a:br>
            <a:br>
              <a:rPr b="1" lang="tr-TR" sz="1600">
                <a:solidFill>
                  <a:srgbClr val="FF0000"/>
                </a:solidFill>
              </a:rPr>
            </a:br>
            <a:br>
              <a:rPr b="1" lang="tr-TR" sz="1600">
                <a:solidFill>
                  <a:srgbClr val="FF0000"/>
                </a:solidFill>
              </a:rPr>
            </a:br>
            <a:br>
              <a:rPr b="1" lang="tr-TR" sz="1600">
                <a:solidFill>
                  <a:srgbClr val="FF0000"/>
                </a:solidFill>
              </a:rPr>
            </a:br>
            <a:br>
              <a:rPr lang="tr-TR"/>
            </a:br>
            <a:r>
              <a:rPr b="1" lang="tr-TR" sz="1800">
                <a:solidFill>
                  <a:srgbClr val="FF0000"/>
                </a:solidFill>
              </a:rPr>
              <a:t>1.1. Konunun Önemi, Projenin Özgün Değeri ve Araştırma Sorusu veya Hipotezi</a:t>
            </a:r>
            <a:endParaRPr sz="1800"/>
          </a:p>
        </p:txBody>
      </p:sp>
      <p:sp>
        <p:nvSpPr>
          <p:cNvPr id="325" name="Google Shape;325;p3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35"/>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fontScale="92500"/>
          </a:bodyPr>
          <a:lstStyle/>
          <a:p>
            <a:pPr indent="-274320" lvl="0" marL="274320" rtl="0" algn="just">
              <a:spcBef>
                <a:spcPts val="0"/>
              </a:spcBef>
              <a:spcAft>
                <a:spcPts val="0"/>
              </a:spcAft>
              <a:buSzPct val="95000"/>
              <a:buChar char="⚫"/>
            </a:pPr>
            <a:r>
              <a:rPr lang="tr-TR"/>
              <a:t>Amaç ve hedefler, bir proje teklifinin en önemli bölümünü oluşturur ve bunları şekillendirirken büyük önem verilmelidir. </a:t>
            </a:r>
            <a:endParaRPr/>
          </a:p>
          <a:p>
            <a:pPr indent="-274320" lvl="0" marL="274320" rtl="0" algn="just">
              <a:spcBef>
                <a:spcPts val="481"/>
              </a:spcBef>
              <a:spcAft>
                <a:spcPts val="0"/>
              </a:spcAft>
              <a:buSzPct val="95000"/>
              <a:buChar char="⚫"/>
            </a:pPr>
            <a:r>
              <a:rPr lang="tr-TR"/>
              <a:t>Amacı belirlemek, genellikle projenin temelini oluşturduğu için atılan ilk adımdır. Sonraki süreç, amaca ulaşmada yardımcı olacak alt hedefleri tanımlamaktır. Proje ekibi, bu adımları göz ardı etmemelidir; çünkü taslak amaç ve hedefler, finanse etme şansının yüksek olduğu açık bir önerinin geliştirilmesinde kolaylık sağlamaktadır.</a:t>
            </a:r>
            <a:endParaRPr/>
          </a:p>
          <a:p>
            <a:pPr indent="-274320" lvl="0" marL="274320" rtl="0" algn="just">
              <a:spcBef>
                <a:spcPts val="481"/>
              </a:spcBef>
              <a:spcAft>
                <a:spcPts val="0"/>
              </a:spcAft>
              <a:buSzPct val="95000"/>
              <a:buChar char="⚫"/>
            </a:pPr>
            <a:r>
              <a:rPr lang="tr-TR"/>
              <a:t>Başarılı bir araştırmanın en önemli unsuru: </a:t>
            </a:r>
            <a:r>
              <a:rPr b="1" lang="tr-TR">
                <a:solidFill>
                  <a:srgbClr val="FF0000"/>
                </a:solidFill>
              </a:rPr>
              <a:t>Ulaşılabilir amaçların </a:t>
            </a:r>
            <a:r>
              <a:rPr lang="tr-TR"/>
              <a:t>ve </a:t>
            </a:r>
            <a:r>
              <a:rPr b="1" lang="tr-TR">
                <a:solidFill>
                  <a:srgbClr val="FF0000"/>
                </a:solidFill>
              </a:rPr>
              <a:t>ölçülebilir hedeflerin </a:t>
            </a:r>
            <a:r>
              <a:rPr lang="tr-TR"/>
              <a:t>geliştirilmesidir.</a:t>
            </a:r>
            <a:endParaRPr/>
          </a:p>
        </p:txBody>
      </p:sp>
      <p:sp>
        <p:nvSpPr>
          <p:cNvPr id="331" name="Google Shape;331;p35"/>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rgbClr val="C00000"/>
              </a:buClr>
              <a:buSzPts val="5000"/>
              <a:buFont typeface="Calibri"/>
              <a:buNone/>
            </a:pPr>
            <a:r>
              <a:rPr lang="tr-TR">
                <a:solidFill>
                  <a:srgbClr val="C00000"/>
                </a:solidFill>
              </a:rPr>
              <a:t>Amaç</a:t>
            </a:r>
            <a:endParaRPr/>
          </a:p>
        </p:txBody>
      </p:sp>
      <p:sp>
        <p:nvSpPr>
          <p:cNvPr id="332" name="Google Shape;332;p3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36"/>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rgbClr val="C00000"/>
              </a:buClr>
              <a:buSzPts val="5000"/>
              <a:buFont typeface="Calibri"/>
              <a:buNone/>
            </a:pPr>
            <a:r>
              <a:rPr lang="tr-TR">
                <a:solidFill>
                  <a:srgbClr val="C00000"/>
                </a:solidFill>
              </a:rPr>
              <a:t>Amaç ve Hedefler</a:t>
            </a:r>
            <a:endParaRPr/>
          </a:p>
        </p:txBody>
      </p:sp>
      <p:sp>
        <p:nvSpPr>
          <p:cNvPr id="338" name="Google Shape;338;p36"/>
          <p:cNvSpPr txBox="1"/>
          <p:nvPr/>
        </p:nvSpPr>
        <p:spPr>
          <a:xfrm>
            <a:off x="2057400" y="3133725"/>
            <a:ext cx="1141413" cy="461665"/>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Clr>
                <a:srgbClr val="FF0000"/>
              </a:buClr>
              <a:buSzPts val="2400"/>
              <a:buFont typeface="Calibri"/>
              <a:buNone/>
            </a:pPr>
            <a:r>
              <a:rPr lang="tr-TR" sz="2400">
                <a:solidFill>
                  <a:srgbClr val="FF0000"/>
                </a:solidFill>
                <a:latin typeface="Calibri"/>
                <a:ea typeface="Calibri"/>
                <a:cs typeface="Calibri"/>
                <a:sym typeface="Calibri"/>
              </a:rPr>
              <a:t>Amaç</a:t>
            </a:r>
            <a:endParaRPr sz="2400">
              <a:solidFill>
                <a:srgbClr val="FF0000"/>
              </a:solidFill>
              <a:latin typeface="Calibri"/>
              <a:ea typeface="Calibri"/>
              <a:cs typeface="Calibri"/>
              <a:sym typeface="Calibri"/>
            </a:endParaRPr>
          </a:p>
        </p:txBody>
      </p:sp>
      <p:cxnSp>
        <p:nvCxnSpPr>
          <p:cNvPr id="339" name="Google Shape;339;p36"/>
          <p:cNvCxnSpPr/>
          <p:nvPr/>
        </p:nvCxnSpPr>
        <p:spPr>
          <a:xfrm flipH="1" rot="10800000">
            <a:off x="3198813" y="2290763"/>
            <a:ext cx="2895600" cy="1076325"/>
          </a:xfrm>
          <a:prstGeom prst="straightConnector1">
            <a:avLst/>
          </a:prstGeom>
          <a:noFill/>
          <a:ln cap="flat" cmpd="sng" w="9525">
            <a:solidFill>
              <a:schemeClr val="dk1"/>
            </a:solidFill>
            <a:prstDash val="solid"/>
            <a:miter lim="800000"/>
            <a:headEnd len="med" w="med" type="triangle"/>
            <a:tailEnd len="med" w="med" type="triangle"/>
          </a:ln>
        </p:spPr>
      </p:cxnSp>
      <p:cxnSp>
        <p:nvCxnSpPr>
          <p:cNvPr id="340" name="Google Shape;340;p36"/>
          <p:cNvCxnSpPr/>
          <p:nvPr/>
        </p:nvCxnSpPr>
        <p:spPr>
          <a:xfrm flipH="1" rot="10800000">
            <a:off x="3198813" y="3357563"/>
            <a:ext cx="2895600" cy="9525"/>
          </a:xfrm>
          <a:prstGeom prst="straightConnector1">
            <a:avLst/>
          </a:prstGeom>
          <a:noFill/>
          <a:ln cap="flat" cmpd="sng" w="9525">
            <a:solidFill>
              <a:schemeClr val="dk1"/>
            </a:solidFill>
            <a:prstDash val="solid"/>
            <a:miter lim="800000"/>
            <a:headEnd len="med" w="med" type="triangle"/>
            <a:tailEnd len="med" w="med" type="triangle"/>
          </a:ln>
        </p:spPr>
      </p:cxnSp>
      <p:cxnSp>
        <p:nvCxnSpPr>
          <p:cNvPr id="341" name="Google Shape;341;p36"/>
          <p:cNvCxnSpPr/>
          <p:nvPr/>
        </p:nvCxnSpPr>
        <p:spPr>
          <a:xfrm>
            <a:off x="3198813" y="3367088"/>
            <a:ext cx="2895600" cy="981075"/>
          </a:xfrm>
          <a:prstGeom prst="straightConnector1">
            <a:avLst/>
          </a:prstGeom>
          <a:noFill/>
          <a:ln cap="flat" cmpd="sng" w="9525">
            <a:solidFill>
              <a:schemeClr val="dk1"/>
            </a:solidFill>
            <a:prstDash val="solid"/>
            <a:miter lim="800000"/>
            <a:headEnd len="med" w="med" type="triangle"/>
            <a:tailEnd len="med" w="med" type="triangle"/>
          </a:ln>
        </p:spPr>
      </p:cxnSp>
      <p:sp>
        <p:nvSpPr>
          <p:cNvPr id="342" name="Google Shape;342;p36"/>
          <p:cNvSpPr txBox="1"/>
          <p:nvPr/>
        </p:nvSpPr>
        <p:spPr>
          <a:xfrm>
            <a:off x="6094413" y="2057400"/>
            <a:ext cx="2133600" cy="466725"/>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Clr>
                <a:srgbClr val="FF0000"/>
              </a:buClr>
              <a:buSzPts val="2400"/>
              <a:buFont typeface="Calibri"/>
              <a:buNone/>
            </a:pPr>
            <a:r>
              <a:rPr lang="tr-TR" sz="2400">
                <a:solidFill>
                  <a:srgbClr val="FF0000"/>
                </a:solidFill>
                <a:latin typeface="Calibri"/>
                <a:ea typeface="Calibri"/>
                <a:cs typeface="Calibri"/>
                <a:sym typeface="Calibri"/>
              </a:rPr>
              <a:t>1. hedef</a:t>
            </a:r>
            <a:endParaRPr sz="2400">
              <a:solidFill>
                <a:srgbClr val="FF0000"/>
              </a:solidFill>
              <a:latin typeface="Calibri"/>
              <a:ea typeface="Calibri"/>
              <a:cs typeface="Calibri"/>
              <a:sym typeface="Calibri"/>
            </a:endParaRPr>
          </a:p>
        </p:txBody>
      </p:sp>
      <p:sp>
        <p:nvSpPr>
          <p:cNvPr id="343" name="Google Shape;343;p36"/>
          <p:cNvSpPr txBox="1"/>
          <p:nvPr/>
        </p:nvSpPr>
        <p:spPr>
          <a:xfrm>
            <a:off x="6093620" y="3157538"/>
            <a:ext cx="2211387" cy="466725"/>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Clr>
                <a:srgbClr val="FF0000"/>
              </a:buClr>
              <a:buSzPts val="2400"/>
              <a:buFont typeface="Calibri"/>
              <a:buNone/>
            </a:pPr>
            <a:r>
              <a:rPr lang="tr-TR" sz="2400">
                <a:solidFill>
                  <a:srgbClr val="FF0000"/>
                </a:solidFill>
                <a:latin typeface="Calibri"/>
                <a:ea typeface="Calibri"/>
                <a:cs typeface="Calibri"/>
                <a:sym typeface="Calibri"/>
              </a:rPr>
              <a:t>2. hedef</a:t>
            </a:r>
            <a:endParaRPr sz="2400">
              <a:solidFill>
                <a:srgbClr val="FF0000"/>
              </a:solidFill>
              <a:latin typeface="Calibri"/>
              <a:ea typeface="Calibri"/>
              <a:cs typeface="Calibri"/>
              <a:sym typeface="Calibri"/>
            </a:endParaRPr>
          </a:p>
        </p:txBody>
      </p:sp>
      <p:sp>
        <p:nvSpPr>
          <p:cNvPr id="344" name="Google Shape;344;p36"/>
          <p:cNvSpPr txBox="1"/>
          <p:nvPr/>
        </p:nvSpPr>
        <p:spPr>
          <a:xfrm>
            <a:off x="6094413" y="4114800"/>
            <a:ext cx="2209800" cy="466725"/>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Clr>
                <a:srgbClr val="FF0000"/>
              </a:buClr>
              <a:buSzPts val="2400"/>
              <a:buFont typeface="Calibri"/>
              <a:buNone/>
            </a:pPr>
            <a:r>
              <a:rPr lang="tr-TR" sz="2400">
                <a:solidFill>
                  <a:srgbClr val="FF0000"/>
                </a:solidFill>
                <a:latin typeface="Calibri"/>
                <a:ea typeface="Calibri"/>
                <a:cs typeface="Calibri"/>
                <a:sym typeface="Calibri"/>
              </a:rPr>
              <a:t>3. hedef</a:t>
            </a:r>
            <a:endParaRPr sz="2400">
              <a:solidFill>
                <a:srgbClr val="FF0000"/>
              </a:solidFill>
              <a:latin typeface="Calibri"/>
              <a:ea typeface="Calibri"/>
              <a:cs typeface="Calibri"/>
              <a:sym typeface="Calibri"/>
            </a:endParaRPr>
          </a:p>
        </p:txBody>
      </p:sp>
      <p:sp>
        <p:nvSpPr>
          <p:cNvPr id="345" name="Google Shape;345;p36"/>
          <p:cNvSpPr txBox="1"/>
          <p:nvPr/>
        </p:nvSpPr>
        <p:spPr>
          <a:xfrm>
            <a:off x="304800" y="5257800"/>
            <a:ext cx="8790915" cy="4308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2200">
                <a:solidFill>
                  <a:srgbClr val="FF0000"/>
                </a:solidFill>
                <a:latin typeface="Constantia"/>
                <a:ea typeface="Constantia"/>
                <a:cs typeface="Constantia"/>
                <a:sym typeface="Constantia"/>
              </a:rPr>
              <a:t>Amaç ve hedefleriniz arasında net bir bağlantı kurulmasını sağlayınız.</a:t>
            </a:r>
            <a:endParaRPr/>
          </a:p>
        </p:txBody>
      </p:sp>
      <p:sp>
        <p:nvSpPr>
          <p:cNvPr id="346" name="Google Shape;346;p3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37"/>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fontScale="92500"/>
          </a:bodyPr>
          <a:lstStyle/>
          <a:p>
            <a:pPr indent="-274320" lvl="0" marL="274320" rtl="0" algn="just">
              <a:spcBef>
                <a:spcPts val="0"/>
              </a:spcBef>
              <a:spcAft>
                <a:spcPts val="0"/>
              </a:spcAft>
              <a:buSzPct val="95000"/>
              <a:buChar char="⚫"/>
            </a:pPr>
            <a:r>
              <a:rPr lang="tr-TR"/>
              <a:t>Öncelikle, bir projede Amaç ve Hedeflerin ne anlama geldiğini ve bunların arasındaki farkı bilmemizde fayda var.</a:t>
            </a:r>
            <a:endParaRPr/>
          </a:p>
          <a:p>
            <a:pPr indent="-274320" lvl="0" marL="274320" rtl="0" algn="just">
              <a:spcBef>
                <a:spcPts val="481"/>
              </a:spcBef>
              <a:spcAft>
                <a:spcPts val="0"/>
              </a:spcAft>
              <a:buSzPct val="95000"/>
              <a:buChar char="⚫"/>
            </a:pPr>
            <a:r>
              <a:rPr lang="tr-TR">
                <a:solidFill>
                  <a:srgbClr val="FF0000"/>
                </a:solidFill>
              </a:rPr>
              <a:t>1. Amaç: </a:t>
            </a:r>
            <a:endParaRPr/>
          </a:p>
          <a:p>
            <a:pPr indent="0" lvl="0" marL="236538" rtl="0" algn="just">
              <a:spcBef>
                <a:spcPts val="481"/>
              </a:spcBef>
              <a:spcAft>
                <a:spcPts val="0"/>
              </a:spcAft>
              <a:buSzPct val="95000"/>
              <a:buNone/>
            </a:pPr>
            <a:r>
              <a:rPr lang="tr-TR"/>
              <a:t>Bir projede ne yapmayı planladığınızı belirten geniş bir açıklamadan ibarettir. Panelistlere, sizin ve ekibinizin </a:t>
            </a:r>
            <a:r>
              <a:rPr lang="tr-TR">
                <a:solidFill>
                  <a:srgbClr val="FF0000"/>
                </a:solidFill>
              </a:rPr>
              <a:t>hangi sorunu çözmek istediğiniz hakkında </a:t>
            </a:r>
            <a:r>
              <a:rPr lang="tr-TR"/>
              <a:t>bir fikir vermektedir.</a:t>
            </a:r>
            <a:endParaRPr/>
          </a:p>
          <a:p>
            <a:pPr indent="-274320" lvl="0" marL="274320" rtl="0" algn="just">
              <a:spcBef>
                <a:spcPts val="481"/>
              </a:spcBef>
              <a:spcAft>
                <a:spcPts val="0"/>
              </a:spcAft>
              <a:buSzPct val="95000"/>
              <a:buChar char="⚫"/>
            </a:pPr>
            <a:r>
              <a:rPr lang="tr-TR">
                <a:solidFill>
                  <a:srgbClr val="FF0000"/>
                </a:solidFill>
              </a:rPr>
              <a:t>2. Hedefler: </a:t>
            </a:r>
            <a:endParaRPr/>
          </a:p>
          <a:p>
            <a:pPr indent="0" lvl="0" marL="236538" rtl="0" algn="just">
              <a:spcBef>
                <a:spcPts val="481"/>
              </a:spcBef>
              <a:spcAft>
                <a:spcPts val="0"/>
              </a:spcAft>
              <a:buSzPct val="95000"/>
              <a:buNone/>
            </a:pPr>
            <a:r>
              <a:rPr lang="tr-TR"/>
              <a:t>Hedefler, amaça ulaşma niyetinde olduğunuzu ve nasıl ulaşacağınızı açıklayan ayrıntılı ifadelerden oluşan </a:t>
            </a:r>
            <a:r>
              <a:rPr lang="tr-TR">
                <a:solidFill>
                  <a:srgbClr val="FF0000"/>
                </a:solidFill>
              </a:rPr>
              <a:t>araçlardır</a:t>
            </a:r>
            <a:r>
              <a:rPr lang="tr-TR"/>
              <a:t>.</a:t>
            </a:r>
            <a:endParaRPr/>
          </a:p>
        </p:txBody>
      </p:sp>
      <p:sp>
        <p:nvSpPr>
          <p:cNvPr id="352" name="Google Shape;352;p37"/>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rgbClr val="C00000"/>
              </a:buClr>
              <a:buSzPts val="5000"/>
              <a:buFont typeface="Calibri"/>
              <a:buNone/>
            </a:pPr>
            <a:r>
              <a:rPr lang="tr-TR">
                <a:solidFill>
                  <a:srgbClr val="C00000"/>
                </a:solidFill>
              </a:rPr>
              <a:t>Amaç</a:t>
            </a:r>
            <a:endParaRPr/>
          </a:p>
        </p:txBody>
      </p:sp>
      <p:sp>
        <p:nvSpPr>
          <p:cNvPr id="353" name="Google Shape;353;p3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Clr>
                <a:schemeClr val="dk1"/>
              </a:buClr>
              <a:buSzPts val="1400"/>
              <a:buFont typeface="Times New Roman"/>
              <a:buNone/>
            </a:pPr>
            <a:fld id="{00000000-1234-1234-1234-123412341234}" type="slidenum">
              <a:rPr lang="tr-TR" sz="1400">
                <a:solidFill>
                  <a:schemeClr val="dk1"/>
                </a:solidFill>
                <a:latin typeface="Times New Roman"/>
                <a:ea typeface="Times New Roman"/>
                <a:cs typeface="Times New Roman"/>
                <a:sym typeface="Times New Roman"/>
              </a:rPr>
              <a:t>‹#›</a:t>
            </a:fld>
            <a:endParaRPr sz="1400">
              <a:solidFill>
                <a:schemeClr val="dk1"/>
              </a:solidFill>
              <a:latin typeface="Times New Roman"/>
              <a:ea typeface="Times New Roman"/>
              <a:cs typeface="Times New Roman"/>
              <a:sym typeface="Times New Roman"/>
            </a:endParaRPr>
          </a:p>
        </p:txBody>
      </p:sp>
      <p:sp>
        <p:nvSpPr>
          <p:cNvPr id="360" name="Google Shape;360;p38"/>
          <p:cNvSpPr/>
          <p:nvPr/>
        </p:nvSpPr>
        <p:spPr>
          <a:xfrm>
            <a:off x="1219200" y="381000"/>
            <a:ext cx="6934200" cy="114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0000"/>
              </a:buClr>
              <a:buSzPts val="4400"/>
              <a:buFont typeface="Tahoma"/>
              <a:buNone/>
            </a:pPr>
            <a:r>
              <a:rPr lang="tr-TR" sz="4400">
                <a:solidFill>
                  <a:srgbClr val="FF0000"/>
                </a:solidFill>
                <a:latin typeface="Tahoma"/>
                <a:ea typeface="Tahoma"/>
                <a:cs typeface="Tahoma"/>
                <a:sym typeface="Tahoma"/>
              </a:rPr>
              <a:t>Amaç</a:t>
            </a:r>
            <a:endParaRPr sz="4400">
              <a:solidFill>
                <a:srgbClr val="FF0000"/>
              </a:solidFill>
              <a:latin typeface="Calibri"/>
              <a:ea typeface="Calibri"/>
              <a:cs typeface="Calibri"/>
              <a:sym typeface="Calibri"/>
            </a:endParaRPr>
          </a:p>
        </p:txBody>
      </p:sp>
      <p:sp>
        <p:nvSpPr>
          <p:cNvPr id="361" name="Google Shape;361;p38"/>
          <p:cNvSpPr txBox="1"/>
          <p:nvPr>
            <p:ph idx="1" type="body"/>
          </p:nvPr>
        </p:nvSpPr>
        <p:spPr>
          <a:xfrm>
            <a:off x="685800" y="1752600"/>
            <a:ext cx="7924800" cy="4191000"/>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l">
              <a:spcBef>
                <a:spcPts val="0"/>
              </a:spcBef>
              <a:spcAft>
                <a:spcPts val="0"/>
              </a:spcAft>
              <a:buSzPct val="95000"/>
              <a:buChar char="⚫"/>
            </a:pPr>
            <a:r>
              <a:rPr lang="tr-TR" sz="2400"/>
              <a:t>Kaliteli bir amaç ve hedefler ile gelen bu basamaklar projemizin niteliğini artıracaktır:</a:t>
            </a:r>
            <a:endParaRPr/>
          </a:p>
          <a:p>
            <a:pPr indent="-274320" lvl="0" marL="274320" rtl="0" algn="l">
              <a:spcBef>
                <a:spcPts val="444"/>
              </a:spcBef>
              <a:spcAft>
                <a:spcPts val="0"/>
              </a:spcAft>
              <a:buSzPct val="95000"/>
              <a:buChar char="⚫"/>
            </a:pPr>
            <a:r>
              <a:rPr lang="tr-TR" sz="2400">
                <a:solidFill>
                  <a:srgbClr val="FF0000"/>
                </a:solidFill>
              </a:rPr>
              <a:t>1. Muğlak bir amaç yazmaktan kesinlikle sakınınız: </a:t>
            </a:r>
            <a:endParaRPr/>
          </a:p>
          <a:p>
            <a:pPr indent="0" lvl="0" marL="236538" rtl="0" algn="just">
              <a:spcBef>
                <a:spcPts val="444"/>
              </a:spcBef>
              <a:spcAft>
                <a:spcPts val="0"/>
              </a:spcAft>
              <a:buSzPct val="95000"/>
              <a:buNone/>
            </a:pPr>
            <a:r>
              <a:rPr lang="tr-TR" sz="2400"/>
              <a:t>Amaç kapsamlı bir ifade olmasına rağmen, proje amacının belirsiz olması gerektiği anlamına gelmez. Panlistlere; bir proje teklifinde bulunduğunuzu gösterir bir şekilde amacınızı açık bir dille ediniz.</a:t>
            </a:r>
            <a:endParaRPr/>
          </a:p>
          <a:p>
            <a:pPr indent="0" lvl="0" marL="236538" rtl="0" algn="just">
              <a:spcBef>
                <a:spcPts val="444"/>
              </a:spcBef>
              <a:spcAft>
                <a:spcPts val="0"/>
              </a:spcAft>
              <a:buSzPct val="95000"/>
              <a:buNone/>
            </a:pPr>
            <a:r>
              <a:rPr lang="tr-TR" sz="2400">
                <a:solidFill>
                  <a:srgbClr val="FF0000"/>
                </a:solidFill>
              </a:rPr>
              <a:t>2. Amaç, problem bildirimiyle (problem statement) aynı çizgide olmalıdır: </a:t>
            </a:r>
            <a:endParaRPr/>
          </a:p>
          <a:p>
            <a:pPr indent="0" lvl="0" marL="236538" rtl="0" algn="just">
              <a:spcBef>
                <a:spcPts val="444"/>
              </a:spcBef>
              <a:spcAft>
                <a:spcPts val="0"/>
              </a:spcAft>
              <a:buSzPct val="95000"/>
              <a:buNone/>
            </a:pPr>
            <a:r>
              <a:rPr lang="tr-TR" sz="2400"/>
              <a:t>Proje teklifinin amacı, belirli bir sorunun çözümüne yönelik niyetinizi panelistlere göstermektedir, bu nedenle amaç, problem bildirimi ile uyumlu olmalıdır. </a:t>
            </a:r>
            <a:endParaRPr/>
          </a:p>
          <a:p>
            <a:pPr indent="0" lvl="0" marL="236538" rtl="0" algn="just">
              <a:spcBef>
                <a:spcPts val="444"/>
              </a:spcBef>
              <a:spcAft>
                <a:spcPts val="0"/>
              </a:spcAft>
              <a:buSzPct val="95000"/>
              <a:buNone/>
            </a:pPr>
            <a:r>
              <a:t/>
            </a:r>
            <a:endParaRPr sz="24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39"/>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fontScale="92500" lnSpcReduction="20000"/>
          </a:bodyPr>
          <a:lstStyle/>
          <a:p>
            <a:pPr indent="-274320" lvl="0" marL="274320" rtl="0" algn="just">
              <a:spcBef>
                <a:spcPts val="0"/>
              </a:spcBef>
              <a:spcAft>
                <a:spcPts val="0"/>
              </a:spcAft>
              <a:buSzPct val="95000"/>
              <a:buChar char="⚫"/>
            </a:pPr>
            <a:r>
              <a:rPr lang="tr-TR"/>
              <a:t>Örnek:</a:t>
            </a:r>
            <a:endParaRPr/>
          </a:p>
          <a:p>
            <a:pPr indent="-274320" lvl="0" marL="274320" rtl="0" algn="just">
              <a:spcBef>
                <a:spcPts val="481"/>
              </a:spcBef>
              <a:spcAft>
                <a:spcPts val="0"/>
              </a:spcAft>
              <a:buSzPct val="95000"/>
              <a:buChar char="⚫"/>
            </a:pPr>
            <a:r>
              <a:rPr lang="tr-TR"/>
              <a:t>Problem bildiriminizin </a:t>
            </a:r>
            <a:r>
              <a:rPr b="1" lang="tr-TR"/>
              <a:t>«yoksulluk veya belirli bir bölgedeki yoksul ve marjinal ailelerle ilgili konuları» </a:t>
            </a:r>
            <a:r>
              <a:rPr lang="tr-TR"/>
              <a:t>içeriyorsa,  o zaman amacınız; </a:t>
            </a:r>
            <a:endParaRPr/>
          </a:p>
          <a:p>
            <a:pPr indent="-274320" lvl="0" marL="274320" rtl="0" algn="just">
              <a:spcBef>
                <a:spcPts val="481"/>
              </a:spcBef>
              <a:spcAft>
                <a:spcPts val="0"/>
              </a:spcAft>
              <a:buSzPct val="95000"/>
              <a:buChar char="⚫"/>
            </a:pPr>
            <a:r>
              <a:rPr lang="tr-TR"/>
              <a:t>Önerilen proje aracılığıyla «</a:t>
            </a:r>
            <a:r>
              <a:rPr lang="tr-TR">
                <a:solidFill>
                  <a:srgbClr val="FF0000"/>
                </a:solidFill>
              </a:rPr>
              <a:t>bölgedeki yoksulluğun hafifletilmesinin araştırıldığını» </a:t>
            </a:r>
            <a:r>
              <a:rPr lang="tr-TR"/>
              <a:t>ifade etmelisiniz.</a:t>
            </a:r>
            <a:endParaRPr/>
          </a:p>
          <a:p>
            <a:pPr indent="-274320" lvl="0" marL="274320" rtl="0" algn="just">
              <a:spcBef>
                <a:spcPts val="481"/>
              </a:spcBef>
              <a:spcAft>
                <a:spcPts val="0"/>
              </a:spcAft>
              <a:buSzPct val="95000"/>
              <a:buChar char="⚫"/>
            </a:pPr>
            <a:r>
              <a:rPr lang="tr-TR">
                <a:solidFill>
                  <a:srgbClr val="FF0000"/>
                </a:solidFill>
              </a:rPr>
              <a:t>3. Amaç, bilim dalınızın veya bağlı bulunduğunuz biriminizin misyonu ve vizyonu ile tutarlı olmalıdır: </a:t>
            </a:r>
            <a:r>
              <a:rPr lang="tr-TR"/>
              <a:t>Örneğin, biriminiz bazı sosyal ve gelişim konularına hitap ederken, proje teklif taslakları ve amaçı hazırlarken bunları aklınızda bulundurunuz. Biriminiz sokak çocukları için çalışıyorsa, proje teklifinin amacı </a:t>
            </a:r>
            <a:r>
              <a:rPr b="1" lang="tr-TR">
                <a:solidFill>
                  <a:srgbClr val="FF0000"/>
                </a:solidFill>
              </a:rPr>
              <a:t>ana paydaşlarınızla (Aile ve Sosyal Politikalar  Bakanlığı) </a:t>
            </a:r>
            <a:r>
              <a:rPr lang="tr-TR"/>
              <a:t>ilgili olmalıdır.</a:t>
            </a:r>
            <a:endParaRPr/>
          </a:p>
          <a:p>
            <a:pPr indent="-129238" lvl="0" marL="274320" rtl="0" algn="just">
              <a:spcBef>
                <a:spcPts val="481"/>
              </a:spcBef>
              <a:spcAft>
                <a:spcPts val="0"/>
              </a:spcAft>
              <a:buSzPct val="95000"/>
              <a:buNone/>
            </a:pPr>
            <a:r>
              <a:t/>
            </a:r>
            <a:endParaRPr>
              <a:latin typeface="Times New Roman"/>
              <a:ea typeface="Times New Roman"/>
              <a:cs typeface="Times New Roman"/>
              <a:sym typeface="Times New Roman"/>
            </a:endParaRPr>
          </a:p>
          <a:p>
            <a:pPr indent="0" lvl="0" marL="0" rtl="0" algn="l">
              <a:spcBef>
                <a:spcPts val="481"/>
              </a:spcBef>
              <a:spcAft>
                <a:spcPts val="0"/>
              </a:spcAft>
              <a:buSzPct val="95000"/>
              <a:buNone/>
            </a:pPr>
            <a:r>
              <a:t/>
            </a:r>
            <a:endParaRPr/>
          </a:p>
        </p:txBody>
      </p:sp>
      <p:sp>
        <p:nvSpPr>
          <p:cNvPr id="367" name="Google Shape;367;p39"/>
          <p:cNvSpPr txBox="1"/>
          <p:nvPr>
            <p:ph type="title"/>
          </p:nvPr>
        </p:nvSpPr>
        <p:spPr>
          <a:xfrm>
            <a:off x="457200" y="704088"/>
            <a:ext cx="8229600" cy="1143000"/>
          </a:xfrm>
          <a:prstGeom prst="rect">
            <a:avLst/>
          </a:prstGeom>
          <a:noFill/>
          <a:ln>
            <a:noFill/>
          </a:ln>
        </p:spPr>
        <p:txBody>
          <a:bodyPr anchorCtr="0" anchor="ctr" bIns="0" lIns="0" spcFirstLastPara="1" rIns="0" wrap="square" tIns="45700">
            <a:normAutofit/>
          </a:bodyPr>
          <a:lstStyle/>
          <a:p>
            <a:pPr indent="0" lvl="0" marL="0" marR="0" rtl="0" algn="ctr">
              <a:spcBef>
                <a:spcPts val="0"/>
              </a:spcBef>
              <a:spcAft>
                <a:spcPts val="0"/>
              </a:spcAft>
              <a:buClr>
                <a:srgbClr val="FF0000"/>
              </a:buClr>
              <a:buSzPts val="4400"/>
              <a:buFont typeface="Tahoma"/>
              <a:buNone/>
            </a:pPr>
            <a:r>
              <a:rPr b="0" i="0" lang="tr-TR" sz="4400" u="none" cap="none" strike="noStrike">
                <a:solidFill>
                  <a:srgbClr val="FF0000"/>
                </a:solidFill>
                <a:latin typeface="Tahoma"/>
                <a:ea typeface="Tahoma"/>
                <a:cs typeface="Tahoma"/>
                <a:sym typeface="Tahoma"/>
              </a:rPr>
              <a:t>Amaç</a:t>
            </a:r>
            <a:endParaRPr b="0" i="0" sz="4400" u="none" cap="none" strike="noStrike">
              <a:solidFill>
                <a:srgbClr val="FF0000"/>
              </a:solidFill>
              <a:latin typeface="Calibri"/>
              <a:ea typeface="Calibri"/>
              <a:cs typeface="Calibri"/>
              <a:sym typeface="Calibri"/>
            </a:endParaRPr>
          </a:p>
        </p:txBody>
      </p:sp>
      <p:sp>
        <p:nvSpPr>
          <p:cNvPr id="368" name="Google Shape;368;p3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0"/>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lnSpcReduction="10000"/>
          </a:bodyPr>
          <a:lstStyle/>
          <a:p>
            <a:pPr indent="-274320" lvl="0" marL="274320" rtl="0" algn="just">
              <a:spcBef>
                <a:spcPts val="0"/>
              </a:spcBef>
              <a:spcAft>
                <a:spcPts val="0"/>
              </a:spcAft>
              <a:buSzPts val="2470"/>
              <a:buChar char="⚫"/>
            </a:pPr>
            <a:r>
              <a:rPr lang="tr-TR">
                <a:solidFill>
                  <a:srgbClr val="FF0000"/>
                </a:solidFill>
              </a:rPr>
              <a:t>4. Amaç yazmak için basit bir dil kullanın: </a:t>
            </a:r>
            <a:endParaRPr/>
          </a:p>
          <a:p>
            <a:pPr indent="0" lvl="0" marL="236538" rtl="0" algn="just">
              <a:spcBef>
                <a:spcPts val="520"/>
              </a:spcBef>
              <a:spcAft>
                <a:spcPts val="0"/>
              </a:spcAft>
              <a:buSzPts val="2470"/>
              <a:buNone/>
            </a:pPr>
            <a:r>
              <a:rPr lang="tr-TR"/>
              <a:t>Amaç yazmak için jargon ve teknik terimleri aşırı kullanmaktan lütfen kaçınınız. İnsanlar tarafından anlaşılması kolay bir dili seçiniz, panelistleri projenizi okurken ayrıca yanlarında </a:t>
            </a:r>
            <a:r>
              <a:rPr b="1" lang="tr-TR">
                <a:solidFill>
                  <a:srgbClr val="FF0000"/>
                </a:solidFill>
              </a:rPr>
              <a:t>«bir sözlük» </a:t>
            </a:r>
            <a:r>
              <a:rPr lang="tr-TR"/>
              <a:t>bulundurmak zorunda bırakmayınız.</a:t>
            </a:r>
            <a:endParaRPr/>
          </a:p>
          <a:p>
            <a:pPr indent="-274320" lvl="0" marL="274320" rtl="0" algn="just">
              <a:spcBef>
                <a:spcPts val="520"/>
              </a:spcBef>
              <a:spcAft>
                <a:spcPts val="0"/>
              </a:spcAft>
              <a:buSzPts val="2470"/>
              <a:buChar char="⚫"/>
            </a:pPr>
            <a:r>
              <a:rPr lang="tr-TR">
                <a:solidFill>
                  <a:srgbClr val="C00000"/>
                </a:solidFill>
              </a:rPr>
              <a:t>5. Proje teklifiniz için yalnızca bir amaç belirleyiniz: </a:t>
            </a:r>
            <a:r>
              <a:rPr lang="tr-TR"/>
              <a:t>Belirli bir projede birden fazla amaca sahip olmak panelist zihninde karışıklık yaratır. Amaç geniş bir açıklama olduğu için mutlaka çeşitli alt hedefler vasıtasıyla ele alınacak, çok şey kapsayacaktır.</a:t>
            </a:r>
            <a:endParaRPr/>
          </a:p>
        </p:txBody>
      </p:sp>
      <p:sp>
        <p:nvSpPr>
          <p:cNvPr id="374" name="Google Shape;374;p40"/>
          <p:cNvSpPr txBox="1"/>
          <p:nvPr>
            <p:ph type="title"/>
          </p:nvPr>
        </p:nvSpPr>
        <p:spPr>
          <a:xfrm>
            <a:off x="457200" y="704088"/>
            <a:ext cx="8229600" cy="1143000"/>
          </a:xfrm>
          <a:prstGeom prst="rect">
            <a:avLst/>
          </a:prstGeom>
          <a:noFill/>
          <a:ln>
            <a:noFill/>
          </a:ln>
        </p:spPr>
        <p:txBody>
          <a:bodyPr anchorCtr="0" anchor="ctr" bIns="0" lIns="0" spcFirstLastPara="1" rIns="0" wrap="square" tIns="45700">
            <a:normAutofit/>
          </a:bodyPr>
          <a:lstStyle/>
          <a:p>
            <a:pPr indent="0" lvl="0" marL="0" marR="0" rtl="0" algn="ctr">
              <a:spcBef>
                <a:spcPts val="0"/>
              </a:spcBef>
              <a:spcAft>
                <a:spcPts val="0"/>
              </a:spcAft>
              <a:buClr>
                <a:srgbClr val="FF0000"/>
              </a:buClr>
              <a:buSzPts val="4400"/>
              <a:buFont typeface="Tahoma"/>
              <a:buNone/>
            </a:pPr>
            <a:r>
              <a:rPr b="0" i="0" lang="tr-TR" sz="4400" u="none" cap="none" strike="noStrike">
                <a:solidFill>
                  <a:srgbClr val="FF0000"/>
                </a:solidFill>
                <a:latin typeface="Tahoma"/>
                <a:ea typeface="Tahoma"/>
                <a:cs typeface="Tahoma"/>
                <a:sym typeface="Tahoma"/>
              </a:rPr>
              <a:t>Amaç</a:t>
            </a:r>
            <a:endParaRPr b="0" i="0" sz="4400" u="none" cap="none" strike="noStrike">
              <a:solidFill>
                <a:srgbClr val="FF0000"/>
              </a:solidFill>
              <a:latin typeface="Calibri"/>
              <a:ea typeface="Calibri"/>
              <a:cs typeface="Calibri"/>
              <a:sym typeface="Calibri"/>
            </a:endParaRPr>
          </a:p>
        </p:txBody>
      </p:sp>
      <p:sp>
        <p:nvSpPr>
          <p:cNvPr id="375" name="Google Shape;375;p4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41"/>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Font typeface="Noto Sans Symbols"/>
              <a:buChar char="❖"/>
            </a:pPr>
            <a:r>
              <a:rPr lang="tr-TR">
                <a:solidFill>
                  <a:srgbClr val="C00000"/>
                </a:solidFill>
              </a:rPr>
              <a:t>1. </a:t>
            </a:r>
            <a:r>
              <a:rPr lang="tr-TR" sz="2400">
                <a:solidFill>
                  <a:srgbClr val="FF0000"/>
                </a:solidFill>
              </a:rPr>
              <a:t>Hedefler 4 N + 1 K’yı içermelidir:</a:t>
            </a:r>
            <a:r>
              <a:rPr lang="tr-TR">
                <a:solidFill>
                  <a:srgbClr val="C00000"/>
                </a:solidFill>
              </a:rPr>
              <a:t> Neden, Neyi, Ne zaman, Nerede ve Kimler için projeyi tasarladığınızı içermelidir.</a:t>
            </a:r>
            <a:endParaRPr/>
          </a:p>
          <a:p>
            <a:pPr indent="-274320" lvl="0" marL="274320" rtl="0" algn="l">
              <a:spcBef>
                <a:spcPts val="520"/>
              </a:spcBef>
              <a:spcAft>
                <a:spcPts val="0"/>
              </a:spcAft>
              <a:buSzPts val="2470"/>
              <a:buFont typeface="Noto Sans Symbols"/>
              <a:buChar char="❖"/>
            </a:pPr>
            <a:r>
              <a:rPr lang="tr-TR">
                <a:solidFill>
                  <a:srgbClr val="C00000"/>
                </a:solidFill>
              </a:rPr>
              <a:t>2. Hedefler, projedeki ana amacınızı desteklemelidir: </a:t>
            </a:r>
            <a:r>
              <a:rPr lang="tr-TR"/>
              <a:t>Hedeflerinizin her birinin çok önemli olması projeye katkıda bulunur ve ana amaca ulaşmada destek olur.</a:t>
            </a:r>
            <a:endParaRPr/>
          </a:p>
          <a:p>
            <a:pPr indent="0" lvl="0" marL="284163" rtl="0" algn="l">
              <a:spcBef>
                <a:spcPts val="520"/>
              </a:spcBef>
              <a:spcAft>
                <a:spcPts val="0"/>
              </a:spcAft>
              <a:buSzPts val="2470"/>
              <a:buNone/>
            </a:pPr>
            <a:r>
              <a:rPr lang="tr-TR">
                <a:solidFill>
                  <a:srgbClr val="FF0000"/>
                </a:solidFill>
              </a:rPr>
              <a:t>Örneğin</a:t>
            </a:r>
            <a:r>
              <a:rPr lang="tr-TR"/>
              <a:t>, projenin amacı, XYZ bölgesindeki annelerin sağlığını iyileştirmek ise, o zaman hedeflerin her biri anne sağlığının iyileştirilmesi için öneri ve katkıda bulunmalıdır.</a:t>
            </a:r>
            <a:endParaRPr/>
          </a:p>
        </p:txBody>
      </p:sp>
      <p:sp>
        <p:nvSpPr>
          <p:cNvPr id="381" name="Google Shape;381;p41"/>
          <p:cNvSpPr txBox="1"/>
          <p:nvPr>
            <p:ph type="title"/>
          </p:nvPr>
        </p:nvSpPr>
        <p:spPr>
          <a:xfrm>
            <a:off x="457200" y="704088"/>
            <a:ext cx="8229600" cy="1143000"/>
          </a:xfrm>
          <a:prstGeom prst="rect">
            <a:avLst/>
          </a:prstGeom>
          <a:noFill/>
          <a:ln>
            <a:noFill/>
          </a:ln>
        </p:spPr>
        <p:txBody>
          <a:bodyPr anchorCtr="0" anchor="ctr" bIns="0" lIns="0" spcFirstLastPara="1" rIns="0" wrap="square" tIns="45700">
            <a:normAutofit/>
          </a:bodyPr>
          <a:lstStyle/>
          <a:p>
            <a:pPr indent="0" lvl="0" marL="0" marR="0" rtl="0" algn="ctr">
              <a:spcBef>
                <a:spcPts val="0"/>
              </a:spcBef>
              <a:spcAft>
                <a:spcPts val="0"/>
              </a:spcAft>
              <a:buClr>
                <a:srgbClr val="C00000"/>
              </a:buClr>
              <a:buSzPts val="4400"/>
              <a:buFont typeface="Calibri"/>
              <a:buNone/>
            </a:pPr>
            <a:r>
              <a:rPr b="0" i="0" lang="tr-TR" sz="4400" u="none" cap="none" strike="noStrike">
                <a:solidFill>
                  <a:srgbClr val="C00000"/>
                </a:solidFill>
                <a:latin typeface="Calibri"/>
                <a:ea typeface="Calibri"/>
                <a:cs typeface="Calibri"/>
                <a:sym typeface="Calibri"/>
              </a:rPr>
              <a:t>Hedefler</a:t>
            </a:r>
            <a:endParaRPr b="0" i="0" sz="4400" u="none" cap="none" strike="noStrike">
              <a:solidFill>
                <a:srgbClr val="C00000"/>
              </a:solidFill>
              <a:latin typeface="Calibri"/>
              <a:ea typeface="Calibri"/>
              <a:cs typeface="Calibri"/>
              <a:sym typeface="Calibri"/>
            </a:endParaRPr>
          </a:p>
        </p:txBody>
      </p:sp>
      <p:sp>
        <p:nvSpPr>
          <p:cNvPr id="382" name="Google Shape;382;p4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42"/>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2470"/>
              <a:buChar char="⚫"/>
            </a:pPr>
            <a:r>
              <a:rPr lang="tr-TR">
                <a:solidFill>
                  <a:srgbClr val="C00000"/>
                </a:solidFill>
              </a:rPr>
              <a:t>3. Hedefler, mantıksal bir düzeni takip etmelidir: </a:t>
            </a:r>
            <a:r>
              <a:rPr lang="tr-TR"/>
              <a:t>Hedefleri çerçevelemek için, amaçların mantıksal bir çerçevede yerleştirilmesi gerektiğini her zaman hatırlamalısınız; bu, yalnızca, bir projeyi uygularken adım adım bir prosedür olması gerektiğini ifade eder. Bu davranış, aynı zamanda </a:t>
            </a:r>
            <a:r>
              <a:rPr lang="tr-TR">
                <a:solidFill>
                  <a:srgbClr val="FF0000"/>
                </a:solidFill>
              </a:rPr>
              <a:t>tüm faaliyetlerinizi (tüm iş paketlerinizi) </a:t>
            </a:r>
            <a:r>
              <a:rPr lang="tr-TR"/>
              <a:t>buna göre planlamanıza yardımcı olacaktır.</a:t>
            </a:r>
            <a:endParaRPr/>
          </a:p>
          <a:p>
            <a:pPr indent="-117475" lvl="0" marL="274320" rtl="0" algn="l">
              <a:spcBef>
                <a:spcPts val="520"/>
              </a:spcBef>
              <a:spcAft>
                <a:spcPts val="0"/>
              </a:spcAft>
              <a:buSzPts val="2470"/>
              <a:buNone/>
            </a:pPr>
            <a:r>
              <a:t/>
            </a:r>
            <a:endParaRPr/>
          </a:p>
        </p:txBody>
      </p:sp>
      <p:sp>
        <p:nvSpPr>
          <p:cNvPr id="388" name="Google Shape;388;p42"/>
          <p:cNvSpPr txBox="1"/>
          <p:nvPr>
            <p:ph type="title"/>
          </p:nvPr>
        </p:nvSpPr>
        <p:spPr>
          <a:xfrm>
            <a:off x="457200" y="704088"/>
            <a:ext cx="8229600" cy="1143000"/>
          </a:xfrm>
          <a:prstGeom prst="rect">
            <a:avLst/>
          </a:prstGeom>
          <a:noFill/>
          <a:ln>
            <a:noFill/>
          </a:ln>
        </p:spPr>
        <p:txBody>
          <a:bodyPr anchorCtr="0" anchor="ctr" bIns="0" lIns="0" spcFirstLastPara="1" rIns="0" wrap="square" tIns="45700">
            <a:normAutofit/>
          </a:bodyPr>
          <a:lstStyle/>
          <a:p>
            <a:pPr indent="0" lvl="0" marL="0" marR="0" rtl="0" algn="ctr">
              <a:spcBef>
                <a:spcPts val="0"/>
              </a:spcBef>
              <a:spcAft>
                <a:spcPts val="0"/>
              </a:spcAft>
              <a:buClr>
                <a:srgbClr val="C00000"/>
              </a:buClr>
              <a:buSzPts val="4400"/>
              <a:buFont typeface="Calibri"/>
              <a:buNone/>
            </a:pPr>
            <a:r>
              <a:rPr b="0" i="0" lang="tr-TR" sz="4400" u="none" cap="none" strike="noStrike">
                <a:solidFill>
                  <a:srgbClr val="C00000"/>
                </a:solidFill>
                <a:latin typeface="Calibri"/>
                <a:ea typeface="Calibri"/>
                <a:cs typeface="Calibri"/>
                <a:sym typeface="Calibri"/>
              </a:rPr>
              <a:t>Hedefler</a:t>
            </a:r>
            <a:endParaRPr b="0" i="0" sz="4400" u="none" cap="none" strike="noStrike">
              <a:solidFill>
                <a:srgbClr val="C00000"/>
              </a:solidFill>
              <a:latin typeface="Calibri"/>
              <a:ea typeface="Calibri"/>
              <a:cs typeface="Calibri"/>
              <a:sym typeface="Calibri"/>
            </a:endParaRPr>
          </a:p>
        </p:txBody>
      </p:sp>
      <p:sp>
        <p:nvSpPr>
          <p:cNvPr id="389" name="Google Shape;389;p4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4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Clr>
                <a:schemeClr val="dk1"/>
              </a:buClr>
              <a:buSzPts val="1400"/>
              <a:buFont typeface="Times New Roman"/>
              <a:buNone/>
            </a:pPr>
            <a:fld id="{00000000-1234-1234-1234-123412341234}" type="slidenum">
              <a:rPr lang="tr-TR" sz="1400">
                <a:solidFill>
                  <a:schemeClr val="dk1"/>
                </a:solidFill>
                <a:latin typeface="Times New Roman"/>
                <a:ea typeface="Times New Roman"/>
                <a:cs typeface="Times New Roman"/>
                <a:sym typeface="Times New Roman"/>
              </a:rPr>
              <a:t>‹#›</a:t>
            </a:fld>
            <a:endParaRPr sz="1400">
              <a:solidFill>
                <a:schemeClr val="dk1"/>
              </a:solidFill>
              <a:latin typeface="Times New Roman"/>
              <a:ea typeface="Times New Roman"/>
              <a:cs typeface="Times New Roman"/>
              <a:sym typeface="Times New Roman"/>
            </a:endParaRPr>
          </a:p>
        </p:txBody>
      </p:sp>
      <p:sp>
        <p:nvSpPr>
          <p:cNvPr id="396" name="Google Shape;396;p43"/>
          <p:cNvSpPr/>
          <p:nvPr/>
        </p:nvSpPr>
        <p:spPr>
          <a:xfrm>
            <a:off x="1371600" y="0"/>
            <a:ext cx="7772400" cy="114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00000"/>
              </a:buClr>
              <a:buSzPts val="4400"/>
              <a:buFont typeface="Calibri"/>
              <a:buNone/>
            </a:pPr>
            <a:r>
              <a:rPr lang="tr-TR" sz="4400">
                <a:solidFill>
                  <a:srgbClr val="C00000"/>
                </a:solidFill>
                <a:latin typeface="Calibri"/>
                <a:ea typeface="Calibri"/>
                <a:cs typeface="Calibri"/>
                <a:sym typeface="Calibri"/>
              </a:rPr>
              <a:t>Hedefler: SMART</a:t>
            </a:r>
            <a:endParaRPr sz="4400">
              <a:solidFill>
                <a:srgbClr val="C00000"/>
              </a:solidFill>
              <a:latin typeface="Calibri"/>
              <a:ea typeface="Calibri"/>
              <a:cs typeface="Calibri"/>
              <a:sym typeface="Calibri"/>
            </a:endParaRPr>
          </a:p>
        </p:txBody>
      </p:sp>
      <p:sp>
        <p:nvSpPr>
          <p:cNvPr id="397" name="Google Shape;397;p43"/>
          <p:cNvSpPr txBox="1"/>
          <p:nvPr>
            <p:ph idx="1" type="body"/>
          </p:nvPr>
        </p:nvSpPr>
        <p:spPr>
          <a:xfrm>
            <a:off x="609600" y="990600"/>
            <a:ext cx="8001000" cy="5105400"/>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SzPts val="1330"/>
              <a:buChar char="⚫"/>
            </a:pPr>
            <a:r>
              <a:rPr b="1" lang="tr-TR" sz="1400">
                <a:solidFill>
                  <a:srgbClr val="C00000"/>
                </a:solidFill>
              </a:rPr>
              <a:t>4. SMART hedefleri çerçevelemek: </a:t>
            </a:r>
            <a:r>
              <a:rPr lang="tr-TR" sz="1400"/>
              <a:t>Program yöneticilerinin çoğu, kaliteli hedeflerini belirlemek için bu kısaltmayı duymuş olabilirler. SMART hedefler:</a:t>
            </a:r>
            <a:endParaRPr/>
          </a:p>
          <a:p>
            <a:pPr indent="-189865" lvl="0" marL="274320" rtl="0" algn="l">
              <a:spcBef>
                <a:spcPts val="280"/>
              </a:spcBef>
              <a:spcAft>
                <a:spcPts val="0"/>
              </a:spcAft>
              <a:buSzPts val="1330"/>
              <a:buNone/>
            </a:pPr>
            <a:r>
              <a:t/>
            </a:r>
            <a:endParaRPr b="1" sz="1400"/>
          </a:p>
          <a:p>
            <a:pPr indent="-274320" lvl="0" marL="274320" rtl="0" algn="l">
              <a:spcBef>
                <a:spcPts val="280"/>
              </a:spcBef>
              <a:spcAft>
                <a:spcPts val="0"/>
              </a:spcAft>
              <a:buSzPts val="1330"/>
              <a:buChar char="⚫"/>
            </a:pPr>
            <a:r>
              <a:rPr b="1" i="1" lang="tr-TR" sz="1400">
                <a:solidFill>
                  <a:srgbClr val="C00000"/>
                </a:solidFill>
              </a:rPr>
              <a:t>S</a:t>
            </a:r>
            <a:r>
              <a:rPr b="1" lang="tr-TR" sz="1400">
                <a:solidFill>
                  <a:srgbClr val="C00000"/>
                </a:solidFill>
              </a:rPr>
              <a:t>pecific</a:t>
            </a:r>
            <a:r>
              <a:rPr lang="tr-TR" sz="1400">
                <a:solidFill>
                  <a:srgbClr val="C00000"/>
                </a:solidFill>
              </a:rPr>
              <a:t> (</a:t>
            </a:r>
            <a:r>
              <a:rPr b="1" lang="tr-TR" sz="1400">
                <a:solidFill>
                  <a:srgbClr val="C00000"/>
                </a:solidFill>
              </a:rPr>
              <a:t>Spesifik</a:t>
            </a:r>
            <a:r>
              <a:rPr lang="tr-TR" sz="1400">
                <a:solidFill>
                  <a:srgbClr val="C00000"/>
                </a:solidFill>
              </a:rPr>
              <a:t>): </a:t>
            </a:r>
            <a:r>
              <a:rPr lang="tr-TR" sz="1400"/>
              <a:t>Neyi amaçladığınız ve nelere ulaşacağınız konusunda kesin/belirli olmanızı ifade eder. </a:t>
            </a:r>
            <a:endParaRPr sz="1400"/>
          </a:p>
          <a:p>
            <a:pPr indent="-189865" lvl="0" marL="274320" rtl="0" algn="l">
              <a:spcBef>
                <a:spcPts val="280"/>
              </a:spcBef>
              <a:spcAft>
                <a:spcPts val="0"/>
              </a:spcAft>
              <a:buSzPts val="1330"/>
              <a:buNone/>
            </a:pPr>
            <a:r>
              <a:t/>
            </a:r>
            <a:endParaRPr sz="1400"/>
          </a:p>
          <a:p>
            <a:pPr indent="-274320" lvl="0" marL="274320" rtl="0" algn="l">
              <a:spcBef>
                <a:spcPts val="280"/>
              </a:spcBef>
              <a:spcAft>
                <a:spcPts val="0"/>
              </a:spcAft>
              <a:buSzPts val="1330"/>
              <a:buChar char="⚫"/>
            </a:pPr>
            <a:r>
              <a:rPr b="1" i="1" lang="tr-TR" sz="1400">
                <a:solidFill>
                  <a:srgbClr val="C00000"/>
                </a:solidFill>
              </a:rPr>
              <a:t>M</a:t>
            </a:r>
            <a:r>
              <a:rPr b="1" lang="tr-TR" sz="1400">
                <a:solidFill>
                  <a:srgbClr val="C00000"/>
                </a:solidFill>
              </a:rPr>
              <a:t>easurable (Ölçülebilir): </a:t>
            </a:r>
            <a:r>
              <a:rPr lang="tr-TR" sz="1400"/>
              <a:t>Hedefleriniz ölçülebilir olsun. Aynı zamanda bu, hedeflerinizin elde edilip edilmeyeceğini göstermek için niceliksel hale getirilmesi gerektiği anlamına gelmektedir. Bu bağlamda gelecek bu sorulara cevap vererek hedeflerinize sayısal bir değer atayarak yapabilirsiniz: Kaç kişi? Ne kadar? Ne zamana kadar? </a:t>
            </a:r>
            <a:endParaRPr sz="1400"/>
          </a:p>
          <a:p>
            <a:pPr indent="-189865" lvl="0" marL="274320" rtl="0" algn="l">
              <a:spcBef>
                <a:spcPts val="280"/>
              </a:spcBef>
              <a:spcAft>
                <a:spcPts val="0"/>
              </a:spcAft>
              <a:buSzPts val="1330"/>
              <a:buNone/>
            </a:pPr>
            <a:r>
              <a:t/>
            </a:r>
            <a:endParaRPr sz="1400"/>
          </a:p>
          <a:p>
            <a:pPr indent="-274320" lvl="0" marL="274320" rtl="0" algn="l">
              <a:spcBef>
                <a:spcPts val="280"/>
              </a:spcBef>
              <a:spcAft>
                <a:spcPts val="0"/>
              </a:spcAft>
              <a:buSzPts val="1330"/>
              <a:buChar char="⚫"/>
            </a:pPr>
            <a:r>
              <a:rPr b="1" i="1" lang="tr-TR" sz="1400">
                <a:solidFill>
                  <a:srgbClr val="C00000"/>
                </a:solidFill>
              </a:rPr>
              <a:t>A</a:t>
            </a:r>
            <a:r>
              <a:rPr b="1" lang="tr-TR" sz="1400">
                <a:solidFill>
                  <a:srgbClr val="C00000"/>
                </a:solidFill>
              </a:rPr>
              <a:t>chievable</a:t>
            </a:r>
            <a:r>
              <a:rPr lang="tr-TR" sz="1400">
                <a:solidFill>
                  <a:srgbClr val="C00000"/>
                </a:solidFill>
              </a:rPr>
              <a:t> (</a:t>
            </a:r>
            <a:r>
              <a:rPr b="1" lang="tr-TR" sz="1400">
                <a:solidFill>
                  <a:srgbClr val="C00000"/>
                </a:solidFill>
              </a:rPr>
              <a:t>Ulaşılabilir</a:t>
            </a:r>
            <a:r>
              <a:rPr lang="tr-TR" sz="1400">
                <a:solidFill>
                  <a:srgbClr val="C00000"/>
                </a:solidFill>
              </a:rPr>
              <a:t>): </a:t>
            </a:r>
            <a:r>
              <a:rPr lang="tr-TR" sz="1400"/>
              <a:t>Bu hedeflerinizin uygulanabilir olduğunu göstermekte olup, biriminizin kapasitesini, kısıtlarını ve yeteneklerini göz önünde bulundurduğunu ifade eder. Bu bağlamda hedef kitlenin ihtiyacına göre projenizi konumlandırın. </a:t>
            </a:r>
            <a:endParaRPr sz="1400"/>
          </a:p>
          <a:p>
            <a:pPr indent="-189865" lvl="0" marL="274320" rtl="0" algn="l">
              <a:spcBef>
                <a:spcPts val="280"/>
              </a:spcBef>
              <a:spcAft>
                <a:spcPts val="0"/>
              </a:spcAft>
              <a:buSzPts val="1330"/>
              <a:buNone/>
            </a:pPr>
            <a:r>
              <a:t/>
            </a:r>
            <a:endParaRPr sz="1400"/>
          </a:p>
          <a:p>
            <a:pPr indent="-274320" lvl="0" marL="274320" rtl="0" algn="l">
              <a:spcBef>
                <a:spcPts val="280"/>
              </a:spcBef>
              <a:spcAft>
                <a:spcPts val="0"/>
              </a:spcAft>
              <a:buSzPts val="1330"/>
              <a:buChar char="⚫"/>
            </a:pPr>
            <a:r>
              <a:rPr b="1" i="1" lang="tr-TR" sz="1400">
                <a:solidFill>
                  <a:srgbClr val="C00000"/>
                </a:solidFill>
              </a:rPr>
              <a:t>R</a:t>
            </a:r>
            <a:r>
              <a:rPr b="1" lang="tr-TR" sz="1400">
                <a:solidFill>
                  <a:srgbClr val="C00000"/>
                </a:solidFill>
              </a:rPr>
              <a:t>ealistic (Gerçekçi): </a:t>
            </a:r>
            <a:r>
              <a:rPr lang="tr-TR" sz="1400"/>
              <a:t>Hedefleri belirlerken mevcut kaynaklar ve zaman çerçevesi içerisinde ulaşabileceğinden emin olunuz. Bu bağlamda projede belirtiğiniz hedefleri gerçekleştirecek kaynaklara sahip olduğunuzu açık bir şekilde ifade ediniz.</a:t>
            </a:r>
            <a:endParaRPr/>
          </a:p>
          <a:p>
            <a:pPr indent="-189865" lvl="0" marL="274320" rtl="0" algn="l">
              <a:spcBef>
                <a:spcPts val="280"/>
              </a:spcBef>
              <a:spcAft>
                <a:spcPts val="0"/>
              </a:spcAft>
              <a:buSzPts val="1330"/>
              <a:buNone/>
            </a:pPr>
            <a:r>
              <a:t/>
            </a:r>
            <a:endParaRPr sz="1400"/>
          </a:p>
          <a:p>
            <a:pPr indent="-274320" lvl="0" marL="274320" rtl="0" algn="l">
              <a:spcBef>
                <a:spcPts val="280"/>
              </a:spcBef>
              <a:spcAft>
                <a:spcPts val="0"/>
              </a:spcAft>
              <a:buSzPts val="1330"/>
              <a:buChar char="⚫"/>
            </a:pPr>
            <a:r>
              <a:rPr b="1" i="1" lang="tr-TR" sz="1400">
                <a:solidFill>
                  <a:srgbClr val="C00000"/>
                </a:solidFill>
              </a:rPr>
              <a:t>T</a:t>
            </a:r>
            <a:r>
              <a:rPr b="1" lang="tr-TR" sz="1400">
                <a:solidFill>
                  <a:srgbClr val="C00000"/>
                </a:solidFill>
              </a:rPr>
              <a:t>ime-bound (Zamana bağlı): </a:t>
            </a:r>
            <a:r>
              <a:rPr lang="tr-TR" sz="1400"/>
              <a:t>Belirli bir hedefi tamamlamak için bir zaman çizelgesi vermek önemlidir. Bu, çıktıların ve sonuçların gereksiz gecikmeler olmadan zamanında teslim edilmesine yardımcı olur.</a:t>
            </a:r>
            <a:endParaRPr sz="14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44"/>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2470"/>
              <a:buChar char="⚫"/>
            </a:pPr>
            <a:r>
              <a:rPr lang="tr-TR">
                <a:solidFill>
                  <a:srgbClr val="C00000"/>
                </a:solidFill>
              </a:rPr>
              <a:t>5. En fazla 3-4 hedefi belirleyiniz: </a:t>
            </a:r>
            <a:endParaRPr/>
          </a:p>
          <a:p>
            <a:pPr indent="0" lvl="0" marL="236538" rtl="0" algn="just">
              <a:spcBef>
                <a:spcPts val="520"/>
              </a:spcBef>
              <a:spcAft>
                <a:spcPts val="0"/>
              </a:spcAft>
              <a:buSzPts val="2470"/>
              <a:buNone/>
            </a:pPr>
            <a:r>
              <a:rPr lang="tr-TR"/>
              <a:t>Çoğu uzmanlar, bir proje teklifinde </a:t>
            </a:r>
            <a:r>
              <a:rPr lang="tr-TR">
                <a:solidFill>
                  <a:srgbClr val="FF0000"/>
                </a:solidFill>
              </a:rPr>
              <a:t>en fazla üç ila dört hedefi </a:t>
            </a:r>
            <a:r>
              <a:rPr lang="tr-TR"/>
              <a:t>önermektedir. Her bir hedefin ayrıca üstlenilmesi gereken çeşitli etkinlikler ve görevler olduğunu unutmayınız. Bu nedenle birçok hedeflerin olması, projenin uygulanmasını zorlaştıracaktır.</a:t>
            </a:r>
            <a:endParaRPr/>
          </a:p>
        </p:txBody>
      </p:sp>
      <p:sp>
        <p:nvSpPr>
          <p:cNvPr id="403" name="Google Shape;403;p44"/>
          <p:cNvSpPr txBox="1"/>
          <p:nvPr>
            <p:ph type="title"/>
          </p:nvPr>
        </p:nvSpPr>
        <p:spPr>
          <a:xfrm>
            <a:off x="457200" y="704088"/>
            <a:ext cx="8229600" cy="1143000"/>
          </a:xfrm>
          <a:prstGeom prst="rect">
            <a:avLst/>
          </a:prstGeom>
          <a:noFill/>
          <a:ln>
            <a:noFill/>
          </a:ln>
        </p:spPr>
        <p:txBody>
          <a:bodyPr anchorCtr="0" anchor="ctr" bIns="0" lIns="0" spcFirstLastPara="1" rIns="0" wrap="square" tIns="45700">
            <a:normAutofit/>
          </a:bodyPr>
          <a:lstStyle/>
          <a:p>
            <a:pPr indent="0" lvl="0" marL="0" marR="0" rtl="0" algn="ctr">
              <a:spcBef>
                <a:spcPts val="0"/>
              </a:spcBef>
              <a:spcAft>
                <a:spcPts val="0"/>
              </a:spcAft>
              <a:buClr>
                <a:srgbClr val="C00000"/>
              </a:buClr>
              <a:buSzPts val="4400"/>
              <a:buFont typeface="Calibri"/>
              <a:buNone/>
            </a:pPr>
            <a:r>
              <a:rPr b="0" i="0" lang="tr-TR" sz="4400" u="none" cap="none" strike="noStrike">
                <a:solidFill>
                  <a:srgbClr val="C00000"/>
                </a:solidFill>
                <a:latin typeface="Calibri"/>
                <a:ea typeface="Calibri"/>
                <a:cs typeface="Calibri"/>
                <a:sym typeface="Calibri"/>
              </a:rPr>
              <a:t>Hedefler</a:t>
            </a:r>
            <a:endParaRPr b="0" i="0" sz="4400" u="none" cap="none" strike="noStrike">
              <a:solidFill>
                <a:srgbClr val="C00000"/>
              </a:solidFill>
              <a:latin typeface="Calibri"/>
              <a:ea typeface="Calibri"/>
              <a:cs typeface="Calibri"/>
              <a:sym typeface="Calibri"/>
            </a:endParaRPr>
          </a:p>
        </p:txBody>
      </p:sp>
      <p:sp>
        <p:nvSpPr>
          <p:cNvPr id="404" name="Google Shape;404;p4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45"/>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tr-TR"/>
              <a:t>Yine Amaç ve Hedeflerinizi yazmadan önce TÜBİTAK’ın Amaç ve Hedefler için uyulması gereken </a:t>
            </a:r>
            <a:r>
              <a:rPr lang="tr-TR">
                <a:solidFill>
                  <a:srgbClr val="FF0000"/>
                </a:solidFill>
              </a:rPr>
              <a:t>YÖNERGESİNİ</a:t>
            </a:r>
            <a:r>
              <a:rPr lang="tr-TR"/>
              <a:t> mutlaka okuyunuz.</a:t>
            </a:r>
            <a:endParaRPr/>
          </a:p>
          <a:p>
            <a:pPr indent="-274320" lvl="0" marL="274320" rtl="0" algn="l">
              <a:spcBef>
                <a:spcPts val="520"/>
              </a:spcBef>
              <a:spcAft>
                <a:spcPts val="0"/>
              </a:spcAft>
              <a:buSzPts val="2470"/>
              <a:buChar char="⚫"/>
            </a:pPr>
            <a:r>
              <a:rPr lang="tr-TR"/>
              <a:t>Uyarı Cümlesi:</a:t>
            </a:r>
            <a:endParaRPr/>
          </a:p>
          <a:p>
            <a:pPr indent="-274320" lvl="0" marL="274320" rtl="0" algn="l">
              <a:spcBef>
                <a:spcPts val="520"/>
              </a:spcBef>
              <a:spcAft>
                <a:spcPts val="0"/>
              </a:spcAft>
              <a:buSzPts val="2470"/>
              <a:buChar char="⚫"/>
            </a:pPr>
            <a:r>
              <a:rPr lang="tr-TR">
                <a:solidFill>
                  <a:srgbClr val="FF0000"/>
                </a:solidFill>
              </a:rPr>
              <a:t>«Proje önerisinin amacı ve hedefleri açık, ölçülebilir, gerçekçi ve proje süresince ulaşılabilir nitelikte olacak şekilde yazılır.»</a:t>
            </a:r>
            <a:endParaRPr/>
          </a:p>
          <a:p>
            <a:pPr indent="-117475" lvl="0" marL="274320" rtl="0" algn="l">
              <a:spcBef>
                <a:spcPts val="520"/>
              </a:spcBef>
              <a:spcAft>
                <a:spcPts val="0"/>
              </a:spcAft>
              <a:buSzPts val="2470"/>
              <a:buNone/>
            </a:pPr>
            <a:r>
              <a:t/>
            </a:r>
            <a:endParaRPr/>
          </a:p>
        </p:txBody>
      </p:sp>
      <p:sp>
        <p:nvSpPr>
          <p:cNvPr id="410" name="Google Shape;410;p45"/>
          <p:cNvSpPr txBox="1"/>
          <p:nvPr>
            <p:ph type="title"/>
          </p:nvPr>
        </p:nvSpPr>
        <p:spPr>
          <a:xfrm>
            <a:off x="457200" y="704088"/>
            <a:ext cx="8229600" cy="1143000"/>
          </a:xfrm>
          <a:prstGeom prst="rect">
            <a:avLst/>
          </a:prstGeom>
          <a:noFill/>
          <a:ln>
            <a:noFill/>
          </a:ln>
        </p:spPr>
        <p:txBody>
          <a:bodyPr anchorCtr="0" anchor="ctr" bIns="0" lIns="0" spcFirstLastPara="1" rIns="0" wrap="square" tIns="45700">
            <a:normAutofit/>
          </a:bodyPr>
          <a:lstStyle/>
          <a:p>
            <a:pPr indent="0" lvl="0" marL="0" marR="0" rtl="0" algn="ctr">
              <a:spcBef>
                <a:spcPts val="0"/>
              </a:spcBef>
              <a:spcAft>
                <a:spcPts val="0"/>
              </a:spcAft>
              <a:buClr>
                <a:srgbClr val="C00000"/>
              </a:buClr>
              <a:buSzPts val="4400"/>
              <a:buFont typeface="Calibri"/>
              <a:buNone/>
            </a:pPr>
            <a:r>
              <a:rPr b="0" i="0" lang="tr-TR" sz="4400" u="none" cap="none" strike="noStrike">
                <a:solidFill>
                  <a:srgbClr val="C00000"/>
                </a:solidFill>
                <a:latin typeface="Calibri"/>
                <a:ea typeface="Calibri"/>
                <a:cs typeface="Calibri"/>
                <a:sym typeface="Calibri"/>
              </a:rPr>
              <a:t>Amaç ve Hedefler</a:t>
            </a:r>
            <a:endParaRPr b="0" i="0" sz="4400" u="none" cap="none" strike="noStrike">
              <a:solidFill>
                <a:srgbClr val="C00000"/>
              </a:solidFill>
              <a:latin typeface="Calibri"/>
              <a:ea typeface="Calibri"/>
              <a:cs typeface="Calibri"/>
              <a:sym typeface="Calibri"/>
            </a:endParaRPr>
          </a:p>
        </p:txBody>
      </p:sp>
      <p:sp>
        <p:nvSpPr>
          <p:cNvPr id="411" name="Google Shape;411;p4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46"/>
          <p:cNvSpPr txBox="1"/>
          <p:nvPr>
            <p:ph idx="1" type="body"/>
          </p:nvPr>
        </p:nvSpPr>
        <p:spPr>
          <a:xfrm>
            <a:off x="457200" y="1371600"/>
            <a:ext cx="8229600" cy="5257800"/>
          </a:xfrm>
          <a:prstGeom prst="rect">
            <a:avLst/>
          </a:prstGeom>
          <a:noFill/>
          <a:ln>
            <a:noFill/>
          </a:ln>
        </p:spPr>
        <p:txBody>
          <a:bodyPr anchorCtr="0" anchor="t" bIns="45700" lIns="91425" spcFirstLastPara="1" rIns="91425" wrap="square" tIns="45700">
            <a:normAutofit fontScale="55000" lnSpcReduction="20000"/>
          </a:bodyPr>
          <a:lstStyle/>
          <a:p>
            <a:pPr indent="-274320" lvl="0" marL="274320" rtl="0" algn="l">
              <a:spcBef>
                <a:spcPts val="0"/>
              </a:spcBef>
              <a:spcAft>
                <a:spcPts val="0"/>
              </a:spcAft>
              <a:buSzPct val="95000"/>
              <a:buChar char="⚫"/>
            </a:pPr>
            <a:r>
              <a:rPr b="1" lang="tr-TR">
                <a:solidFill>
                  <a:srgbClr val="FF0000"/>
                </a:solidFill>
              </a:rPr>
              <a:t>Örnek-1: </a:t>
            </a:r>
            <a:endParaRPr/>
          </a:p>
          <a:p>
            <a:pPr indent="-342900" lvl="0" marL="342900" rtl="0" algn="just">
              <a:lnSpc>
                <a:spcPct val="150000"/>
              </a:lnSpc>
              <a:spcBef>
                <a:spcPts val="0"/>
              </a:spcBef>
              <a:spcAft>
                <a:spcPts val="0"/>
              </a:spcAft>
              <a:buSzPct val="95000"/>
              <a:buFont typeface="Noto Sans Symbols"/>
              <a:buChar char="⚫"/>
            </a:pPr>
            <a:r>
              <a:rPr b="1" lang="tr-TR" sz="2800">
                <a:latin typeface="Times New Roman"/>
                <a:ea typeface="Times New Roman"/>
                <a:cs typeface="Times New Roman"/>
                <a:sym typeface="Times New Roman"/>
              </a:rPr>
              <a:t>Projenin Amacı: </a:t>
            </a:r>
            <a:endParaRPr sz="2800">
              <a:latin typeface="Calibri"/>
              <a:ea typeface="Calibri"/>
              <a:cs typeface="Calibri"/>
              <a:sym typeface="Calibri"/>
            </a:endParaRPr>
          </a:p>
          <a:p>
            <a:pPr indent="-274320" lvl="0" marL="457200" marR="0" rtl="0" algn="just">
              <a:lnSpc>
                <a:spcPct val="150000"/>
              </a:lnSpc>
              <a:spcBef>
                <a:spcPts val="800"/>
              </a:spcBef>
              <a:spcAft>
                <a:spcPts val="0"/>
              </a:spcAft>
              <a:buSzPct val="95000"/>
              <a:buChar char="⚫"/>
            </a:pPr>
            <a:r>
              <a:rPr lang="tr-TR" sz="2800">
                <a:latin typeface="Times New Roman"/>
                <a:ea typeface="Times New Roman"/>
                <a:cs typeface="Times New Roman"/>
                <a:sym typeface="Times New Roman"/>
              </a:rPr>
              <a:t>ABC kentinin gecekondu bölgelerindeki yoksul çocuklara katılımcı ve duyarlı bir topluluk eylemiyle kaliteli eğitim sağlanması bu projenin ana amacını oluşturmaktadır.</a:t>
            </a:r>
            <a:endParaRPr sz="2800">
              <a:latin typeface="Calibri"/>
              <a:ea typeface="Calibri"/>
              <a:cs typeface="Calibri"/>
              <a:sym typeface="Calibri"/>
            </a:endParaRPr>
          </a:p>
          <a:p>
            <a:pPr indent="-342900" lvl="0" marL="342900" rtl="0" algn="just">
              <a:lnSpc>
                <a:spcPct val="150000"/>
              </a:lnSpc>
              <a:spcBef>
                <a:spcPts val="800"/>
              </a:spcBef>
              <a:spcAft>
                <a:spcPts val="0"/>
              </a:spcAft>
              <a:buSzPct val="95000"/>
              <a:buFont typeface="Noto Sans Symbols"/>
              <a:buChar char="⚫"/>
            </a:pPr>
            <a:r>
              <a:rPr b="1" lang="tr-TR" sz="2800">
                <a:latin typeface="Times New Roman"/>
                <a:ea typeface="Times New Roman"/>
                <a:cs typeface="Times New Roman"/>
                <a:sym typeface="Times New Roman"/>
              </a:rPr>
              <a:t>Projenin Hedefleri:</a:t>
            </a:r>
            <a:endParaRPr sz="2800">
              <a:latin typeface="Calibri"/>
              <a:ea typeface="Calibri"/>
              <a:cs typeface="Calibri"/>
              <a:sym typeface="Calibri"/>
            </a:endParaRPr>
          </a:p>
          <a:p>
            <a:pPr indent="-274320" lvl="0" marL="457200" marR="0" rtl="0" algn="just">
              <a:lnSpc>
                <a:spcPct val="150000"/>
              </a:lnSpc>
              <a:spcBef>
                <a:spcPts val="800"/>
              </a:spcBef>
              <a:spcAft>
                <a:spcPts val="0"/>
              </a:spcAft>
              <a:buSzPct val="95000"/>
              <a:buChar char="⚫"/>
            </a:pPr>
            <a:r>
              <a:rPr b="1" lang="tr-TR" sz="2800">
                <a:latin typeface="Times New Roman"/>
                <a:ea typeface="Times New Roman"/>
                <a:cs typeface="Times New Roman"/>
                <a:sym typeface="Times New Roman"/>
              </a:rPr>
              <a:t>1. Hedef: </a:t>
            </a:r>
            <a:endParaRPr sz="2800">
              <a:latin typeface="Calibri"/>
              <a:ea typeface="Calibri"/>
              <a:cs typeface="Calibri"/>
              <a:sym typeface="Calibri"/>
            </a:endParaRPr>
          </a:p>
          <a:p>
            <a:pPr indent="-274320" lvl="0" marL="457200" marR="0" rtl="0" algn="l">
              <a:lnSpc>
                <a:spcPct val="150000"/>
              </a:lnSpc>
              <a:spcBef>
                <a:spcPts val="800"/>
              </a:spcBef>
              <a:spcAft>
                <a:spcPts val="0"/>
              </a:spcAft>
              <a:buSzPct val="95000"/>
              <a:buChar char="⚫"/>
            </a:pPr>
            <a:r>
              <a:rPr lang="tr-TR" sz="2800">
                <a:latin typeface="Times New Roman"/>
                <a:ea typeface="Times New Roman"/>
                <a:cs typeface="Times New Roman"/>
                <a:sym typeface="Times New Roman"/>
              </a:rPr>
              <a:t>İlk ayda düzenlenecek 5 duyarlılık kampı ile ebeveynlerin “eğitimin önemi” konusundaki farkındalığını arttırmak hedeflenmektedir.</a:t>
            </a:r>
            <a:br>
              <a:rPr lang="tr-TR" sz="2800">
                <a:latin typeface="Times New Roman"/>
                <a:ea typeface="Times New Roman"/>
                <a:cs typeface="Times New Roman"/>
                <a:sym typeface="Times New Roman"/>
              </a:rPr>
            </a:br>
            <a:r>
              <a:rPr b="1" lang="tr-TR" sz="2800">
                <a:latin typeface="Times New Roman"/>
                <a:ea typeface="Times New Roman"/>
                <a:cs typeface="Times New Roman"/>
                <a:sym typeface="Times New Roman"/>
              </a:rPr>
              <a:t>2. Hedef:</a:t>
            </a:r>
            <a:endParaRPr sz="2800">
              <a:latin typeface="Calibri"/>
              <a:ea typeface="Calibri"/>
              <a:cs typeface="Calibri"/>
              <a:sym typeface="Calibri"/>
            </a:endParaRPr>
          </a:p>
          <a:p>
            <a:pPr indent="-274320" lvl="0" marL="457200" marR="0" rtl="0" algn="just">
              <a:lnSpc>
                <a:spcPct val="150000"/>
              </a:lnSpc>
              <a:spcBef>
                <a:spcPts val="800"/>
              </a:spcBef>
              <a:spcAft>
                <a:spcPts val="0"/>
              </a:spcAft>
              <a:buSzPct val="95000"/>
              <a:buChar char="⚫"/>
            </a:pPr>
            <a:r>
              <a:rPr lang="tr-TR" sz="2800">
                <a:latin typeface="Times New Roman"/>
                <a:ea typeface="Times New Roman"/>
                <a:cs typeface="Times New Roman"/>
                <a:sym typeface="Times New Roman"/>
              </a:rPr>
              <a:t>6-14 yaş arasındaki 200 çocuğa kaliteli eğitim vermek ve onları akşam eğitimi yoluyla örgün eğitim sistemine motive etmek için çocuk dostu eğitim sistemini geliştirmeyi hedeflemektedir.</a:t>
            </a:r>
            <a:br>
              <a:rPr lang="tr-TR" sz="2800">
                <a:latin typeface="Times New Roman"/>
                <a:ea typeface="Times New Roman"/>
                <a:cs typeface="Times New Roman"/>
                <a:sym typeface="Times New Roman"/>
              </a:rPr>
            </a:br>
            <a:r>
              <a:rPr b="1" lang="tr-TR" sz="2800">
                <a:latin typeface="Times New Roman"/>
                <a:ea typeface="Times New Roman"/>
                <a:cs typeface="Times New Roman"/>
                <a:sym typeface="Times New Roman"/>
              </a:rPr>
              <a:t>3. Hedef:</a:t>
            </a:r>
            <a:r>
              <a:rPr lang="tr-TR" sz="2800">
                <a:latin typeface="Times New Roman"/>
                <a:ea typeface="Times New Roman"/>
                <a:cs typeface="Times New Roman"/>
                <a:sym typeface="Times New Roman"/>
              </a:rPr>
              <a:t> </a:t>
            </a:r>
            <a:endParaRPr sz="2800">
              <a:latin typeface="Calibri"/>
              <a:ea typeface="Calibri"/>
              <a:cs typeface="Calibri"/>
              <a:sym typeface="Calibri"/>
            </a:endParaRPr>
          </a:p>
          <a:p>
            <a:pPr indent="-274320" lvl="0" marL="457200" marR="0" rtl="0" algn="just">
              <a:lnSpc>
                <a:spcPct val="150000"/>
              </a:lnSpc>
              <a:spcBef>
                <a:spcPts val="800"/>
              </a:spcBef>
              <a:spcAft>
                <a:spcPts val="0"/>
              </a:spcAft>
              <a:buSzPct val="95000"/>
              <a:buChar char="⚫"/>
            </a:pPr>
            <a:r>
              <a:rPr lang="tr-TR" sz="2800">
                <a:latin typeface="Times New Roman"/>
                <a:ea typeface="Times New Roman"/>
                <a:cs typeface="Times New Roman"/>
                <a:sym typeface="Times New Roman"/>
              </a:rPr>
              <a:t>Programa katılanların yüzde ellisi, elektronik ağ yetkilendirmesi ve okul yetkilileri ile irtibat kurarak, programa ilk katılım yıllarının sonuna kadar devlet okullarında kayıtlı olmaları hedeflenmektedir.</a:t>
            </a:r>
            <a:endParaRPr sz="2800">
              <a:latin typeface="Calibri"/>
              <a:ea typeface="Calibri"/>
              <a:cs typeface="Calibri"/>
              <a:sym typeface="Calibri"/>
            </a:endParaRPr>
          </a:p>
        </p:txBody>
      </p:sp>
      <p:sp>
        <p:nvSpPr>
          <p:cNvPr id="417" name="Google Shape;417;p46"/>
          <p:cNvSpPr txBox="1"/>
          <p:nvPr>
            <p:ph type="title"/>
          </p:nvPr>
        </p:nvSpPr>
        <p:spPr>
          <a:xfrm>
            <a:off x="457200" y="704088"/>
            <a:ext cx="8229600" cy="591312"/>
          </a:xfrm>
          <a:prstGeom prst="rect">
            <a:avLst/>
          </a:prstGeom>
          <a:noFill/>
          <a:ln>
            <a:noFill/>
          </a:ln>
        </p:spPr>
        <p:txBody>
          <a:bodyPr anchorCtr="0" anchor="ctr" bIns="0" lIns="0" spcFirstLastPara="1" rIns="0" wrap="square" tIns="45700">
            <a:normAutofit fontScale="90000"/>
          </a:bodyPr>
          <a:lstStyle/>
          <a:p>
            <a:pPr indent="0" lvl="0" marL="0" marR="0" rtl="0" algn="ctr">
              <a:spcBef>
                <a:spcPts val="0"/>
              </a:spcBef>
              <a:spcAft>
                <a:spcPts val="0"/>
              </a:spcAft>
              <a:buClr>
                <a:srgbClr val="C00000"/>
              </a:buClr>
              <a:buSzPct val="100000"/>
              <a:buFont typeface="Calibri"/>
              <a:buNone/>
            </a:pPr>
            <a:r>
              <a:rPr b="0" i="0" lang="tr-TR" sz="4400" u="none" cap="none" strike="noStrike">
                <a:solidFill>
                  <a:srgbClr val="C00000"/>
                </a:solidFill>
                <a:latin typeface="Calibri"/>
                <a:ea typeface="Calibri"/>
                <a:cs typeface="Calibri"/>
                <a:sym typeface="Calibri"/>
              </a:rPr>
              <a:t>Amaç ve Hedefler</a:t>
            </a:r>
            <a:endParaRPr b="0" i="0" sz="4400" u="none" cap="none" strike="noStrike">
              <a:solidFill>
                <a:srgbClr val="C00000"/>
              </a:solidFill>
              <a:latin typeface="Calibri"/>
              <a:ea typeface="Calibri"/>
              <a:cs typeface="Calibri"/>
              <a:sym typeface="Calibri"/>
            </a:endParaRPr>
          </a:p>
        </p:txBody>
      </p:sp>
      <p:sp>
        <p:nvSpPr>
          <p:cNvPr id="418" name="Google Shape;418;p4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47"/>
          <p:cNvSpPr txBox="1"/>
          <p:nvPr>
            <p:ph type="title"/>
          </p:nvPr>
        </p:nvSpPr>
        <p:spPr>
          <a:xfrm>
            <a:off x="457200" y="704088"/>
            <a:ext cx="8229600" cy="591312"/>
          </a:xfrm>
          <a:prstGeom prst="rect">
            <a:avLst/>
          </a:prstGeom>
          <a:noFill/>
          <a:ln>
            <a:noFill/>
          </a:ln>
        </p:spPr>
        <p:txBody>
          <a:bodyPr anchorCtr="0" anchor="ctr" bIns="0" lIns="0" spcFirstLastPara="1" rIns="0" wrap="square" tIns="45700">
            <a:normAutofit fontScale="90000"/>
          </a:bodyPr>
          <a:lstStyle/>
          <a:p>
            <a:pPr indent="0" lvl="0" marL="0" marR="0" rtl="0" algn="l">
              <a:spcBef>
                <a:spcPts val="0"/>
              </a:spcBef>
              <a:spcAft>
                <a:spcPts val="0"/>
              </a:spcAft>
              <a:buClr>
                <a:srgbClr val="C00000"/>
              </a:buClr>
              <a:buSzPct val="100000"/>
              <a:buFont typeface="Calibri"/>
              <a:buNone/>
            </a:pPr>
            <a:r>
              <a:rPr b="0" i="0" lang="tr-TR" sz="4400" u="none" cap="none" strike="noStrike">
                <a:solidFill>
                  <a:srgbClr val="C00000"/>
                </a:solidFill>
                <a:latin typeface="Calibri"/>
                <a:ea typeface="Calibri"/>
                <a:cs typeface="Calibri"/>
                <a:sym typeface="Calibri"/>
              </a:rPr>
              <a:t>1.2. Amaç ve Hedefler</a:t>
            </a:r>
            <a:endParaRPr b="0" i="0" sz="4400" u="none" cap="none" strike="noStrike">
              <a:solidFill>
                <a:srgbClr val="C00000"/>
              </a:solidFill>
              <a:latin typeface="Calibri"/>
              <a:ea typeface="Calibri"/>
              <a:cs typeface="Calibri"/>
              <a:sym typeface="Calibri"/>
            </a:endParaRPr>
          </a:p>
        </p:txBody>
      </p:sp>
      <p:graphicFrame>
        <p:nvGraphicFramePr>
          <p:cNvPr id="424" name="Google Shape;424;p47"/>
          <p:cNvGraphicFramePr/>
          <p:nvPr/>
        </p:nvGraphicFramePr>
        <p:xfrm>
          <a:off x="496389" y="1676400"/>
          <a:ext cx="3000000" cy="3000000"/>
        </p:xfrm>
        <a:graphic>
          <a:graphicData uri="http://schemas.openxmlformats.org/drawingml/2006/table">
            <a:tbl>
              <a:tblPr>
                <a:noFill/>
                <a:tableStyleId>{8C0786C2-FAF9-4CB1-B4D6-09287A97D0E9}</a:tableStyleId>
              </a:tblPr>
              <a:tblGrid>
                <a:gridCol w="8190400"/>
              </a:tblGrid>
              <a:tr h="4572000">
                <a:tc>
                  <a:txBody>
                    <a:bodyPr/>
                    <a:lstStyle/>
                    <a:p>
                      <a:pPr indent="0" lvl="0" marL="0" marR="0" rtl="0" algn="just">
                        <a:spcBef>
                          <a:spcPts val="0"/>
                        </a:spcBef>
                        <a:spcAft>
                          <a:spcPts val="0"/>
                        </a:spcAft>
                        <a:buNone/>
                      </a:pPr>
                      <a:r>
                        <a:rPr lang="tr-TR" sz="900" u="none" cap="none" strike="noStrike">
                          <a:solidFill>
                            <a:srgbClr val="000000"/>
                          </a:solidFill>
                          <a:latin typeface="Arial"/>
                          <a:ea typeface="Arial"/>
                          <a:cs typeface="Arial"/>
                          <a:sym typeface="Arial"/>
                        </a:rPr>
                        <a:t> </a:t>
                      </a:r>
                      <a:endParaRPr sz="1200" u="none" cap="none" strike="noStrike">
                        <a:latin typeface="Times New Roman"/>
                        <a:ea typeface="Times New Roman"/>
                        <a:cs typeface="Times New Roman"/>
                        <a:sym typeface="Times New Roman"/>
                      </a:endParaRPr>
                    </a:p>
                    <a:p>
                      <a:pPr indent="0" lvl="0" marL="0" marR="0" rtl="0" algn="just">
                        <a:spcBef>
                          <a:spcPts val="0"/>
                        </a:spcBef>
                        <a:spcAft>
                          <a:spcPts val="0"/>
                        </a:spcAft>
                        <a:buNone/>
                      </a:pPr>
                      <a:r>
                        <a:rPr b="1" lang="tr-TR" sz="1600" u="none" cap="none" strike="noStrike">
                          <a:solidFill>
                            <a:srgbClr val="FF0000"/>
                          </a:solidFill>
                          <a:latin typeface="Arial"/>
                          <a:ea typeface="Arial"/>
                          <a:cs typeface="Arial"/>
                          <a:sym typeface="Arial"/>
                        </a:rPr>
                        <a:t>Örnek-2:</a:t>
                      </a:r>
                      <a:endParaRPr/>
                    </a:p>
                    <a:p>
                      <a:pPr indent="0" lvl="0" marL="0" marR="0" rtl="0" algn="just">
                        <a:spcBef>
                          <a:spcPts val="0"/>
                        </a:spcBef>
                        <a:spcAft>
                          <a:spcPts val="0"/>
                        </a:spcAft>
                        <a:buNone/>
                      </a:pPr>
                      <a:r>
                        <a:rPr lang="tr-TR" sz="1600" u="none" cap="none" strike="noStrike">
                          <a:solidFill>
                            <a:srgbClr val="000000"/>
                          </a:solidFill>
                          <a:latin typeface="Times New Roman"/>
                          <a:ea typeface="Times New Roman"/>
                          <a:cs typeface="Times New Roman"/>
                          <a:sym typeface="Times New Roman"/>
                        </a:rPr>
                        <a:t>Bilindindiği gibi bir piyasa veya piyasalardaki belirsizlikler başta tüketicileri, üreticileri veya yatırımcıları etkilemektedir. Az gelişmiş veya gelişmekte olan ülkelerdeki hanehalkının gelirinin yarısından fazlası tüketim harcamalarına gidildiği düşünülürse, piyasalardaki belirsizler dolaysız bir şekilde tüketicileri etkileyeceği ve ülkede gıda güvencesini bir sorun haline getirmesi kaçınılmazdır. Ayrıca yatırımcılar; piyasa belirsizlikleri karşısında, gelecekteki yatırım kararlarını ötelemekte ve devam eden yatırımlar olumsuz etkilenmektedi. </a:t>
                      </a:r>
                      <a:r>
                        <a:rPr lang="tr-TR" sz="1600" u="none" cap="none" strike="noStrike">
                          <a:solidFill>
                            <a:srgbClr val="FF0000"/>
                          </a:solidFill>
                          <a:latin typeface="Times New Roman"/>
                          <a:ea typeface="Times New Roman"/>
                          <a:cs typeface="Times New Roman"/>
                          <a:sym typeface="Times New Roman"/>
                        </a:rPr>
                        <a:t>Bu bağlamda bu çalışmamızda, ülkemizde tarım ürünleri piyasaları ile enerji ve döviz kuru piyasaları arasındaki belirsizlik geçişkenliklerini, yön ve büyüklükleri ile birlikte ampirik olarak ortaya koymayı AMAÇLAMAKTAYIZ</a:t>
                      </a:r>
                      <a:r>
                        <a:rPr lang="tr-TR" sz="1600" u="none" cap="none" strike="noStrike">
                          <a:solidFill>
                            <a:srgbClr val="000000"/>
                          </a:solidFill>
                          <a:latin typeface="Times New Roman"/>
                          <a:ea typeface="Times New Roman"/>
                          <a:cs typeface="Times New Roman"/>
                          <a:sym typeface="Times New Roman"/>
                        </a:rPr>
                        <a:t>. Parametrik olarak belirlenen bu ölçütler, piyasalara daha etkin ve dinamik mekanizmaların oluşturulmasında ve piyasalardaki istikrarın sağlanmasında rehberlik edecektir. Bu kapsamda bu </a:t>
                      </a:r>
                      <a:r>
                        <a:rPr lang="tr-TR" sz="1600" u="none" cap="none" strike="noStrike">
                          <a:solidFill>
                            <a:srgbClr val="FF0000"/>
                          </a:solidFill>
                          <a:latin typeface="Times New Roman"/>
                          <a:ea typeface="Times New Roman"/>
                          <a:cs typeface="Times New Roman"/>
                          <a:sym typeface="Times New Roman"/>
                        </a:rPr>
                        <a:t>projedeki  hedeflerimiz </a:t>
                      </a:r>
                      <a:r>
                        <a:rPr lang="tr-TR" sz="1600" u="none" cap="none" strike="noStrike">
                          <a:solidFill>
                            <a:srgbClr val="000000"/>
                          </a:solidFill>
                          <a:latin typeface="Times New Roman"/>
                          <a:ea typeface="Times New Roman"/>
                          <a:cs typeface="Times New Roman"/>
                          <a:sym typeface="Times New Roman"/>
                        </a:rPr>
                        <a:t>şu şekilde özetlenebilir.</a:t>
                      </a:r>
                      <a:endParaRPr/>
                    </a:p>
                    <a:p>
                      <a:pPr indent="0" lvl="0" marL="0" marR="0" rtl="0" algn="just">
                        <a:spcBef>
                          <a:spcPts val="0"/>
                        </a:spcBef>
                        <a:spcAft>
                          <a:spcPts val="0"/>
                        </a:spcAft>
                        <a:buNone/>
                      </a:pPr>
                      <a:r>
                        <a:rPr lang="tr-TR" sz="1600" u="none" cap="none" strike="noStrike">
                          <a:solidFill>
                            <a:srgbClr val="000000"/>
                          </a:solidFill>
                          <a:latin typeface="Times New Roman"/>
                          <a:ea typeface="Times New Roman"/>
                          <a:cs typeface="Times New Roman"/>
                          <a:sym typeface="Times New Roman"/>
                        </a:rPr>
                        <a:t>1-VARMA-GARCH modeli yardımı ile piyasa getirilerinin hangi faktörlerden hangi yönde ve ne büyüklükte etkilendiklerini ortaya koymayı hedeflemekteyiz.</a:t>
                      </a:r>
                      <a:endParaRPr/>
                    </a:p>
                    <a:p>
                      <a:pPr indent="0" lvl="0" marL="0" marR="0" rtl="0" algn="just">
                        <a:lnSpc>
                          <a:spcPct val="100000"/>
                        </a:lnSpc>
                        <a:spcBef>
                          <a:spcPts val="0"/>
                        </a:spcBef>
                        <a:spcAft>
                          <a:spcPts val="0"/>
                        </a:spcAft>
                        <a:buClr>
                          <a:srgbClr val="000000"/>
                        </a:buClr>
                        <a:buSzPts val="1600"/>
                        <a:buFont typeface="Times New Roman"/>
                        <a:buNone/>
                      </a:pPr>
                      <a:r>
                        <a:rPr lang="tr-TR" sz="1600" u="none" cap="none" strike="noStrike">
                          <a:solidFill>
                            <a:srgbClr val="000000"/>
                          </a:solidFill>
                          <a:latin typeface="Times New Roman"/>
                          <a:ea typeface="Times New Roman"/>
                          <a:cs typeface="Times New Roman"/>
                          <a:sym typeface="Times New Roman"/>
                        </a:rPr>
                        <a:t>2-VARMA-GARCH modelindeki piyasa varyansları (volatilite) üzerindeki, varyanslar arasındaki geçişkenlikler dahil olmak üzere, etkileyen kısa dönem şokların ve uzun dönem belirsizliklerin yön ve büyüklükleri ile birlikte birim etkilerini ortaya koymayı hedeflemekteyiz.</a:t>
                      </a:r>
                      <a:endParaRPr/>
                    </a:p>
                    <a:p>
                      <a:pPr indent="0" lvl="0" marL="0" marR="0" rtl="0" algn="just">
                        <a:lnSpc>
                          <a:spcPct val="100000"/>
                        </a:lnSpc>
                        <a:spcBef>
                          <a:spcPts val="0"/>
                        </a:spcBef>
                        <a:spcAft>
                          <a:spcPts val="0"/>
                        </a:spcAft>
                        <a:buClr>
                          <a:srgbClr val="000000"/>
                        </a:buClr>
                        <a:buSzPts val="1600"/>
                        <a:buFont typeface="Times New Roman"/>
                        <a:buNone/>
                      </a:pPr>
                      <a:r>
                        <a:rPr lang="tr-TR" sz="1600" u="none" cap="none" strike="noStrike">
                          <a:solidFill>
                            <a:srgbClr val="000000"/>
                          </a:solidFill>
                          <a:latin typeface="Times New Roman"/>
                          <a:ea typeface="Times New Roman"/>
                          <a:cs typeface="Times New Roman"/>
                          <a:sym typeface="Times New Roman"/>
                        </a:rPr>
                        <a:t>3-Modelin öngörmüş olduğu çeşitli hipotez testlerini ampirik olarak ortaya koymakla, daha etkin politikaların oluşturmasına yardımda bulunmayı hedeflemekteyiz.</a:t>
                      </a:r>
                      <a:endParaRPr sz="16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425" name="Google Shape;425;p4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graphicFrame>
        <p:nvGraphicFramePr>
          <p:cNvPr id="430" name="Google Shape;430;p48"/>
          <p:cNvGraphicFramePr/>
          <p:nvPr/>
        </p:nvGraphicFramePr>
        <p:xfrm>
          <a:off x="496389" y="1676400"/>
          <a:ext cx="3000000" cy="3000000"/>
        </p:xfrm>
        <a:graphic>
          <a:graphicData uri="http://schemas.openxmlformats.org/drawingml/2006/table">
            <a:tbl>
              <a:tblPr>
                <a:noFill/>
                <a:tableStyleId>{8C0786C2-FAF9-4CB1-B4D6-09287A97D0E9}</a:tableStyleId>
              </a:tblPr>
              <a:tblGrid>
                <a:gridCol w="8190400"/>
              </a:tblGrid>
              <a:tr h="4572000">
                <a:tc>
                  <a:txBody>
                    <a:bodyPr/>
                    <a:lstStyle/>
                    <a:p>
                      <a:pPr indent="0" lvl="0" marL="0" marR="0" rtl="0" algn="just">
                        <a:spcBef>
                          <a:spcPts val="0"/>
                        </a:spcBef>
                        <a:spcAft>
                          <a:spcPts val="0"/>
                        </a:spcAft>
                        <a:buNone/>
                      </a:pPr>
                      <a:r>
                        <a:rPr lang="tr-TR" sz="900" u="none" cap="none" strike="noStrike">
                          <a:solidFill>
                            <a:srgbClr val="000000"/>
                          </a:solidFill>
                          <a:latin typeface="Arial"/>
                          <a:ea typeface="Arial"/>
                          <a:cs typeface="Arial"/>
                          <a:sym typeface="Arial"/>
                        </a:rPr>
                        <a:t> </a:t>
                      </a:r>
                      <a:endParaRPr sz="1200" u="none" cap="none" strike="noStrike">
                        <a:latin typeface="Times New Roman"/>
                        <a:ea typeface="Times New Roman"/>
                        <a:cs typeface="Times New Roman"/>
                        <a:sym typeface="Times New Roman"/>
                      </a:endParaRPr>
                    </a:p>
                    <a:p>
                      <a:pPr indent="0" lvl="0" marL="0" marR="0" rtl="0" algn="l">
                        <a:spcBef>
                          <a:spcPts val="0"/>
                        </a:spcBef>
                        <a:spcAft>
                          <a:spcPts val="0"/>
                        </a:spcAft>
                        <a:buNone/>
                      </a:pPr>
                      <a:r>
                        <a:rPr b="1" lang="tr-TR" sz="1400" u="none" cap="none" strike="noStrike">
                          <a:solidFill>
                            <a:srgbClr val="FF0000"/>
                          </a:solidFill>
                          <a:latin typeface="Arial"/>
                          <a:ea typeface="Arial"/>
                          <a:cs typeface="Arial"/>
                          <a:sym typeface="Arial"/>
                        </a:rPr>
                        <a:t>Örnek-3:</a:t>
                      </a:r>
                      <a:endParaRPr/>
                    </a:p>
                    <a:p>
                      <a:pPr indent="0" lvl="0" marL="0" marR="0" rtl="0" algn="l">
                        <a:spcBef>
                          <a:spcPts val="0"/>
                        </a:spcBef>
                        <a:spcAft>
                          <a:spcPts val="0"/>
                        </a:spcAft>
                        <a:buNone/>
                      </a:pPr>
                      <a:r>
                        <a:rPr lang="tr-TR" sz="1400">
                          <a:solidFill>
                            <a:schemeClr val="dk1"/>
                          </a:solidFill>
                          <a:latin typeface="Constantia"/>
                          <a:ea typeface="Constantia"/>
                          <a:cs typeface="Constantia"/>
                          <a:sym typeface="Constantia"/>
                        </a:rPr>
                        <a:t>Bu proje; Türkiye’de temel bazı bitkisel ve hayvansal ürün piyasaları ile makroekonomi piyasaları (benzin ve döviz kuru) arasındaki piyasa getiri düzeylerinin ve getiri belirsizliklerinin yayılım süreçlerini (yön ve büyüklüklerini) </a:t>
                      </a:r>
                      <a:r>
                        <a:rPr b="1" lang="tr-TR" sz="1400">
                          <a:solidFill>
                            <a:srgbClr val="FF0000"/>
                          </a:solidFill>
                          <a:latin typeface="Constantia"/>
                          <a:ea typeface="Constantia"/>
                          <a:cs typeface="Constantia"/>
                          <a:sym typeface="Constantia"/>
                        </a:rPr>
                        <a:t>ilk kez ampirik olarak ortaya koymayı amaçlamaktadır</a:t>
                      </a:r>
                      <a:r>
                        <a:rPr b="1" lang="tr-TR" sz="1400">
                          <a:solidFill>
                            <a:schemeClr val="dk1"/>
                          </a:solidFill>
                          <a:latin typeface="Constantia"/>
                          <a:ea typeface="Constantia"/>
                          <a:cs typeface="Constantia"/>
                          <a:sym typeface="Constantia"/>
                        </a:rPr>
                        <a:t>. </a:t>
                      </a:r>
                      <a:r>
                        <a:rPr lang="tr-TR" sz="1400">
                          <a:solidFill>
                            <a:schemeClr val="dk1"/>
                          </a:solidFill>
                          <a:latin typeface="Constantia"/>
                          <a:ea typeface="Constantia"/>
                          <a:cs typeface="Constantia"/>
                          <a:sym typeface="Constantia"/>
                        </a:rPr>
                        <a:t>Ayrıca bu proje; çalışmaya konu olan her bir bitkisel ve hayvansal ürün piyasasının benzin ve döviz kuru piyasasına karşı optimal portföy ağırlıklarını ve riskten korunma oranlarını da </a:t>
                      </a:r>
                      <a:r>
                        <a:rPr b="1" lang="tr-TR" sz="1400">
                          <a:solidFill>
                            <a:srgbClr val="FF0000"/>
                          </a:solidFill>
                          <a:latin typeface="Constantia"/>
                          <a:ea typeface="Constantia"/>
                          <a:cs typeface="Constantia"/>
                          <a:sym typeface="Constantia"/>
                        </a:rPr>
                        <a:t>nicel olarak ortaya koymayı amaçlamaktadır</a:t>
                      </a:r>
                      <a:r>
                        <a:rPr lang="tr-TR" sz="1400">
                          <a:solidFill>
                            <a:schemeClr val="dk1"/>
                          </a:solidFill>
                          <a:latin typeface="Constantia"/>
                          <a:ea typeface="Constantia"/>
                          <a:cs typeface="Constantia"/>
                          <a:sym typeface="Constantia"/>
                        </a:rPr>
                        <a:t>. </a:t>
                      </a:r>
                      <a:endParaRPr sz="1400"/>
                    </a:p>
                    <a:p>
                      <a:pPr indent="0" lvl="0" marL="0" marR="0" rtl="0" algn="l">
                        <a:spcBef>
                          <a:spcPts val="0"/>
                        </a:spcBef>
                        <a:spcAft>
                          <a:spcPts val="0"/>
                        </a:spcAft>
                        <a:buClr>
                          <a:srgbClr val="FF0000"/>
                        </a:buClr>
                        <a:buSzPts val="1400"/>
                        <a:buFont typeface="Calibri"/>
                        <a:buNone/>
                      </a:pPr>
                      <a:r>
                        <a:rPr b="1" lang="tr-TR" sz="1400">
                          <a:solidFill>
                            <a:srgbClr val="FF0000"/>
                          </a:solidFill>
                          <a:latin typeface="Constantia"/>
                          <a:ea typeface="Constantia"/>
                          <a:cs typeface="Constantia"/>
                          <a:sym typeface="Constantia"/>
                        </a:rPr>
                        <a:t>Bu genel amaca ulaşmada aşağıdaki hedeflerle ulaşılacaktır:</a:t>
                      </a:r>
                      <a:endParaRPr b="1" sz="1400">
                        <a:solidFill>
                          <a:srgbClr val="FF0000"/>
                        </a:solidFill>
                      </a:endParaRPr>
                    </a:p>
                    <a:p>
                      <a:pPr indent="-342900" lvl="0" marL="342900" marR="0" rtl="0" algn="l">
                        <a:spcBef>
                          <a:spcPts val="0"/>
                        </a:spcBef>
                        <a:spcAft>
                          <a:spcPts val="0"/>
                        </a:spcAft>
                        <a:buClr>
                          <a:schemeClr val="dk1"/>
                        </a:buClr>
                        <a:buSzPts val="1400"/>
                        <a:buFont typeface="Calibri"/>
                        <a:buAutoNum type="arabicPeriod"/>
                      </a:pPr>
                      <a:r>
                        <a:rPr lang="tr-TR" sz="1400">
                          <a:solidFill>
                            <a:schemeClr val="dk1"/>
                          </a:solidFill>
                          <a:latin typeface="Constantia"/>
                          <a:ea typeface="Constantia"/>
                          <a:cs typeface="Constantia"/>
                          <a:sym typeface="Constantia"/>
                        </a:rPr>
                        <a:t>VARMA-Asimetrik BEKK GARCH-ortalama Denklem ile çalışmaya konu olan tüm piyasaların getiri düzeyleri arasındaki iletim süreçlerini </a:t>
                      </a:r>
                      <a:r>
                        <a:rPr b="1" lang="tr-TR" sz="1400">
                          <a:solidFill>
                            <a:srgbClr val="FF0000"/>
                          </a:solidFill>
                          <a:latin typeface="Constantia"/>
                          <a:ea typeface="Constantia"/>
                          <a:cs typeface="Constantia"/>
                          <a:sym typeface="Constantia"/>
                        </a:rPr>
                        <a:t>ampirik olarak ortaya koymayı hedeflemektedir</a:t>
                      </a:r>
                      <a:r>
                        <a:rPr lang="tr-TR" sz="1400">
                          <a:solidFill>
                            <a:schemeClr val="dk1"/>
                          </a:solidFill>
                          <a:latin typeface="Constantia"/>
                          <a:ea typeface="Constantia"/>
                          <a:cs typeface="Constantia"/>
                          <a:sym typeface="Constantia"/>
                        </a:rPr>
                        <a:t>. Ayrıca bu model yardımıyla kısa dönem şokların ve uzun dönem oynaklıkların piyasa getirileri üzerindeki etkilerinin de </a:t>
                      </a:r>
                      <a:r>
                        <a:rPr b="1" lang="tr-TR" sz="1400">
                          <a:solidFill>
                            <a:srgbClr val="FF0000"/>
                          </a:solidFill>
                          <a:latin typeface="Constantia"/>
                          <a:ea typeface="Constantia"/>
                          <a:cs typeface="Constantia"/>
                          <a:sym typeface="Constantia"/>
                        </a:rPr>
                        <a:t>nicel olarak ortaya konulması hedeflenmektedir</a:t>
                      </a:r>
                      <a:r>
                        <a:rPr lang="tr-TR" sz="1400">
                          <a:solidFill>
                            <a:schemeClr val="dk1"/>
                          </a:solidFill>
                          <a:latin typeface="Constantia"/>
                          <a:ea typeface="Constantia"/>
                          <a:cs typeface="Constantia"/>
                          <a:sym typeface="Constantia"/>
                        </a:rPr>
                        <a:t>.</a:t>
                      </a:r>
                      <a:endParaRPr/>
                    </a:p>
                    <a:p>
                      <a:pPr indent="-342900" lvl="0" marL="342900" marR="0" rtl="0" algn="l">
                        <a:spcBef>
                          <a:spcPts val="0"/>
                        </a:spcBef>
                        <a:spcAft>
                          <a:spcPts val="0"/>
                        </a:spcAft>
                        <a:buClr>
                          <a:schemeClr val="dk1"/>
                        </a:buClr>
                        <a:buSzPts val="1400"/>
                        <a:buFont typeface="Calibri"/>
                        <a:buAutoNum type="arabicPeriod"/>
                      </a:pPr>
                      <a:r>
                        <a:rPr lang="tr-TR" sz="1400">
                          <a:solidFill>
                            <a:schemeClr val="dk1"/>
                          </a:solidFill>
                          <a:latin typeface="Constantia"/>
                          <a:ea typeface="Constantia"/>
                          <a:cs typeface="Constantia"/>
                          <a:sym typeface="Constantia"/>
                        </a:rPr>
                        <a:t>VARMA-Asimetrik BEKK GARCH-ortalama Denklem ile çalışmaya konu olan tüm piyasaların getiri oynaklıkları arasındaki kısa ve uzun dönem yayılım süreçlerini </a:t>
                      </a:r>
                      <a:r>
                        <a:rPr b="1" lang="tr-TR" sz="1400">
                          <a:solidFill>
                            <a:srgbClr val="FF0000"/>
                          </a:solidFill>
                          <a:latin typeface="Constantia"/>
                          <a:ea typeface="Constantia"/>
                          <a:cs typeface="Constantia"/>
                          <a:sym typeface="Constantia"/>
                        </a:rPr>
                        <a:t>nicel olarak ortaya koymayı hedeflemektedir</a:t>
                      </a:r>
                      <a:r>
                        <a:rPr lang="tr-TR" sz="1400">
                          <a:solidFill>
                            <a:schemeClr val="dk1"/>
                          </a:solidFill>
                          <a:latin typeface="Constantia"/>
                          <a:ea typeface="Constantia"/>
                          <a:cs typeface="Constantia"/>
                          <a:sym typeface="Constantia"/>
                        </a:rPr>
                        <a:t>. İlaveten, bu model yardımı ile piyasa getirilerinin uzun dönem oynaklıkları üzerinde kısa dönem negatif şokların pozitif şoklardan ayrı bir etkiye sahip olup olmadığı </a:t>
                      </a:r>
                      <a:r>
                        <a:rPr b="1" lang="tr-TR" sz="1400">
                          <a:solidFill>
                            <a:srgbClr val="FF0000"/>
                          </a:solidFill>
                          <a:latin typeface="Constantia"/>
                          <a:ea typeface="Constantia"/>
                          <a:cs typeface="Constantia"/>
                          <a:sym typeface="Constantia"/>
                        </a:rPr>
                        <a:t>ampirik olarak ortaya konulacağı hedeflenmektedir.</a:t>
                      </a:r>
                      <a:endParaRPr/>
                    </a:p>
                    <a:p>
                      <a:pPr indent="-342900" lvl="0" marL="342900" marR="0" rtl="0" algn="l">
                        <a:spcBef>
                          <a:spcPts val="0"/>
                        </a:spcBef>
                        <a:spcAft>
                          <a:spcPts val="0"/>
                        </a:spcAft>
                        <a:buClr>
                          <a:schemeClr val="dk1"/>
                        </a:buClr>
                        <a:buSzPts val="1400"/>
                        <a:buFont typeface="Calibri"/>
                        <a:buAutoNum type="arabicPeriod"/>
                      </a:pPr>
                      <a:r>
                        <a:rPr lang="tr-TR" sz="1400">
                          <a:solidFill>
                            <a:schemeClr val="dk1"/>
                          </a:solidFill>
                          <a:latin typeface="Constantia"/>
                          <a:ea typeface="Constantia"/>
                          <a:cs typeface="Constantia"/>
                          <a:sym typeface="Constantia"/>
                        </a:rPr>
                        <a:t>Optimal portföy ağırlıkları ve koruma (hedge) oranları bu çalışmalarda hesaplanarak sektördeki yatırımcıların </a:t>
                      </a:r>
                      <a:r>
                        <a:rPr b="1" lang="tr-TR" sz="1400">
                          <a:solidFill>
                            <a:srgbClr val="FF0000"/>
                          </a:solidFill>
                          <a:latin typeface="Constantia"/>
                          <a:ea typeface="Constantia"/>
                          <a:cs typeface="Constantia"/>
                          <a:sym typeface="Constantia"/>
                        </a:rPr>
                        <a:t>beklenen getirilerindeki riski en aza indirmeyi hedeflemektedir.   </a:t>
                      </a:r>
                      <a:endParaRPr/>
                    </a:p>
                    <a:p>
                      <a:pPr indent="-342900" lvl="0" marL="342900" marR="0" rtl="0" algn="l">
                        <a:spcBef>
                          <a:spcPts val="0"/>
                        </a:spcBef>
                        <a:spcAft>
                          <a:spcPts val="0"/>
                        </a:spcAft>
                        <a:buClr>
                          <a:schemeClr val="dk1"/>
                        </a:buClr>
                        <a:buSzPts val="1400"/>
                        <a:buFont typeface="Calibri"/>
                        <a:buAutoNum type="arabicPeriod"/>
                      </a:pPr>
                      <a:r>
                        <a:rPr lang="tr-TR" sz="1400">
                          <a:solidFill>
                            <a:schemeClr val="dk1"/>
                          </a:solidFill>
                          <a:latin typeface="Constantia"/>
                          <a:ea typeface="Constantia"/>
                          <a:cs typeface="Constantia"/>
                          <a:sym typeface="Constantia"/>
                        </a:rPr>
                        <a:t>Biyoyakıt enerjisi olmaksızın hayvansal ürünler piyasası dâhil tarım ürünleri piyasaları ile makroekonomi piyasaları arasındaki ilişkileri çeşitli hipotez testleri yardımıyla </a:t>
                      </a:r>
                      <a:r>
                        <a:rPr b="1" lang="tr-TR" sz="1400">
                          <a:solidFill>
                            <a:srgbClr val="FF0000"/>
                          </a:solidFill>
                          <a:latin typeface="Constantia"/>
                          <a:ea typeface="Constantia"/>
                          <a:cs typeface="Constantia"/>
                          <a:sym typeface="Constantia"/>
                        </a:rPr>
                        <a:t>uluslararası bulgularla ayrışan ve örtüşen yönlerini ortaya çıkarmayı hedeflemektedir.</a:t>
                      </a:r>
                      <a:endParaRPr b="1" sz="1400">
                        <a:solidFill>
                          <a:srgbClr val="FF0000"/>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431" name="Google Shape;431;p48"/>
          <p:cNvSpPr txBox="1"/>
          <p:nvPr>
            <p:ph type="title"/>
          </p:nvPr>
        </p:nvSpPr>
        <p:spPr>
          <a:xfrm>
            <a:off x="457200" y="704088"/>
            <a:ext cx="8229600" cy="591312"/>
          </a:xfrm>
          <a:prstGeom prst="rect">
            <a:avLst/>
          </a:prstGeom>
          <a:noFill/>
          <a:ln>
            <a:noFill/>
          </a:ln>
        </p:spPr>
        <p:txBody>
          <a:bodyPr anchorCtr="0" anchor="ctr" bIns="0" lIns="0" spcFirstLastPara="1" rIns="0" wrap="square" tIns="45700">
            <a:normAutofit fontScale="90000"/>
          </a:bodyPr>
          <a:lstStyle/>
          <a:p>
            <a:pPr indent="0" lvl="0" marL="0" marR="0" rtl="0" algn="l">
              <a:spcBef>
                <a:spcPts val="0"/>
              </a:spcBef>
              <a:spcAft>
                <a:spcPts val="0"/>
              </a:spcAft>
              <a:buClr>
                <a:srgbClr val="C00000"/>
              </a:buClr>
              <a:buSzPct val="100000"/>
              <a:buFont typeface="Calibri"/>
              <a:buNone/>
            </a:pPr>
            <a:r>
              <a:rPr b="0" i="0" lang="tr-TR" sz="4400" u="none" cap="none" strike="noStrike">
                <a:solidFill>
                  <a:srgbClr val="C00000"/>
                </a:solidFill>
                <a:latin typeface="Calibri"/>
                <a:ea typeface="Calibri"/>
                <a:cs typeface="Calibri"/>
                <a:sym typeface="Calibri"/>
              </a:rPr>
              <a:t>1.2. Amaç ve Hedefler</a:t>
            </a:r>
            <a:endParaRPr b="0" i="0" sz="4400" u="none" cap="none" strike="noStrike">
              <a:solidFill>
                <a:srgbClr val="C00000"/>
              </a:solidFill>
              <a:latin typeface="Calibri"/>
              <a:ea typeface="Calibri"/>
              <a:cs typeface="Calibri"/>
              <a:sym typeface="Calibri"/>
            </a:endParaRPr>
          </a:p>
        </p:txBody>
      </p:sp>
      <p:sp>
        <p:nvSpPr>
          <p:cNvPr id="432" name="Google Shape;432;p4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49"/>
          <p:cNvSpPr txBox="1"/>
          <p:nvPr>
            <p:ph idx="1" type="body"/>
          </p:nvPr>
        </p:nvSpPr>
        <p:spPr>
          <a:xfrm>
            <a:off x="457200" y="1447799"/>
            <a:ext cx="8534400" cy="5273675"/>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1900"/>
              <a:buChar char="⚫"/>
            </a:pPr>
            <a:r>
              <a:rPr lang="tr-TR" sz="2000"/>
              <a:t>Proje başarıyla gerçekleştirildiği takdirde proje çıktılarıyla nitelikli </a:t>
            </a:r>
            <a:r>
              <a:rPr b="1" lang="tr-TR" sz="2000"/>
              <a:t>akademik yayın, patent/tescil, yeni model ve algoritmalar, lisans, yeni şirket ihdas etme, nitelikli araştırıcıların yetiştirilmesi, yeni projelerin hayata geçirilmesi, proje çıktılarının farklı bilim/teknoloji alanlarında uygulanmaya başlaması </a:t>
            </a:r>
            <a:r>
              <a:rPr lang="tr-TR" sz="2000"/>
              <a:t>gibi çıktıların elde edilmesi projenin yaygın etkisini ifade etmektedir.</a:t>
            </a:r>
            <a:endParaRPr/>
          </a:p>
          <a:p>
            <a:pPr indent="-153670" lvl="0" marL="274320" rtl="0" algn="just">
              <a:spcBef>
                <a:spcPts val="400"/>
              </a:spcBef>
              <a:spcAft>
                <a:spcPts val="0"/>
              </a:spcAft>
              <a:buSzPts val="1900"/>
              <a:buNone/>
            </a:pPr>
            <a:r>
              <a:t/>
            </a:r>
            <a:endParaRPr sz="2000"/>
          </a:p>
          <a:p>
            <a:pPr indent="-153670" lvl="0" marL="274320" rtl="0" algn="just">
              <a:spcBef>
                <a:spcPts val="400"/>
              </a:spcBef>
              <a:spcAft>
                <a:spcPts val="0"/>
              </a:spcAft>
              <a:buSzPts val="1900"/>
              <a:buNone/>
            </a:pPr>
            <a:r>
              <a:t/>
            </a:r>
            <a:endParaRPr sz="2000"/>
          </a:p>
          <a:p>
            <a:pPr indent="-274320" lvl="0" marL="274320" rtl="0" algn="just">
              <a:spcBef>
                <a:spcPts val="400"/>
              </a:spcBef>
              <a:spcAft>
                <a:spcPts val="0"/>
              </a:spcAft>
              <a:buSzPts val="1900"/>
              <a:buChar char="⚫"/>
            </a:pPr>
            <a:r>
              <a:rPr lang="tr-TR" sz="2000"/>
              <a:t>Yaygın etki parasal ve parasal olmayan ölçütlerle belirlenebilmelidir. Bir proje çıktısı</a:t>
            </a:r>
            <a:r>
              <a:rPr b="1" lang="tr-TR" sz="2000"/>
              <a:t>; toplumsal sorunları çözmede, ticarileşmede, ilgili alanda ülkenin dışa bağımlılığını azaltarak rekabet ile itibarı artırıyor ve parasal olarak ölçülebiliyorsa «</a:t>
            </a:r>
            <a:r>
              <a:rPr b="1" lang="tr-TR" sz="2000">
                <a:solidFill>
                  <a:srgbClr val="C00000"/>
                </a:solidFill>
              </a:rPr>
              <a:t>ekonomik bir katkı</a:t>
            </a:r>
            <a:r>
              <a:rPr b="1" lang="tr-TR" sz="2000"/>
              <a:t>», yada toplumda sosyal refahı yükselterek parasal olarak ölçülemeyen «</a:t>
            </a:r>
            <a:r>
              <a:rPr b="1" lang="tr-TR" sz="2000">
                <a:solidFill>
                  <a:srgbClr val="C00000"/>
                </a:solidFill>
              </a:rPr>
              <a:t>sosyal bir katkı</a:t>
            </a:r>
            <a:r>
              <a:rPr lang="tr-TR" sz="2000"/>
              <a:t>» meydana getirebilir.</a:t>
            </a:r>
            <a:endParaRPr/>
          </a:p>
          <a:p>
            <a:pPr indent="-153670" lvl="0" marL="274320" rtl="0" algn="just">
              <a:spcBef>
                <a:spcPts val="400"/>
              </a:spcBef>
              <a:spcAft>
                <a:spcPts val="0"/>
              </a:spcAft>
              <a:buSzPts val="1900"/>
              <a:buNone/>
            </a:pPr>
            <a:r>
              <a:t/>
            </a:r>
            <a:endParaRPr sz="2000"/>
          </a:p>
        </p:txBody>
      </p:sp>
      <p:sp>
        <p:nvSpPr>
          <p:cNvPr id="438" name="Google Shape;438;p49"/>
          <p:cNvSpPr txBox="1"/>
          <p:nvPr>
            <p:ph type="title"/>
          </p:nvPr>
        </p:nvSpPr>
        <p:spPr>
          <a:xfrm>
            <a:off x="762000" y="704088"/>
            <a:ext cx="7924800" cy="667512"/>
          </a:xfrm>
          <a:prstGeom prst="rect">
            <a:avLst/>
          </a:prstGeom>
          <a:noFill/>
          <a:ln>
            <a:noFill/>
          </a:ln>
        </p:spPr>
        <p:txBody>
          <a:bodyPr anchorCtr="0" anchor="ctr" bIns="0" lIns="0" spcFirstLastPara="1" rIns="0" wrap="square" tIns="45700">
            <a:normAutofit fontScale="90000"/>
          </a:bodyPr>
          <a:lstStyle/>
          <a:p>
            <a:pPr indent="0" lvl="0" marL="0" marR="0" rtl="0" algn="l">
              <a:spcBef>
                <a:spcPts val="0"/>
              </a:spcBef>
              <a:spcAft>
                <a:spcPts val="0"/>
              </a:spcAft>
              <a:buClr>
                <a:srgbClr val="C00000"/>
              </a:buClr>
              <a:buSzPct val="100000"/>
              <a:buFont typeface="Calibri"/>
              <a:buNone/>
            </a:pPr>
            <a:r>
              <a:rPr b="0" i="0" lang="tr-TR" sz="4400" u="none" cap="none" strike="noStrike">
                <a:solidFill>
                  <a:srgbClr val="C00000"/>
                </a:solidFill>
                <a:latin typeface="Calibri"/>
                <a:ea typeface="Calibri"/>
                <a:cs typeface="Calibri"/>
                <a:sym typeface="Calibri"/>
              </a:rPr>
              <a:t>Yaygın Etki/Katma Değer</a:t>
            </a:r>
            <a:endParaRPr b="0" i="0" sz="4400" u="none" cap="none" strike="noStrike">
              <a:solidFill>
                <a:srgbClr val="C00000"/>
              </a:solidFill>
              <a:latin typeface="Calibri"/>
              <a:ea typeface="Calibri"/>
              <a:cs typeface="Calibri"/>
              <a:sym typeface="Calibri"/>
            </a:endParaRPr>
          </a:p>
        </p:txBody>
      </p:sp>
      <p:sp>
        <p:nvSpPr>
          <p:cNvPr id="439" name="Google Shape;439;p4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50"/>
          <p:cNvSpPr txBox="1"/>
          <p:nvPr>
            <p:ph idx="1" type="body"/>
          </p:nvPr>
        </p:nvSpPr>
        <p:spPr>
          <a:xfrm>
            <a:off x="838200" y="1935480"/>
            <a:ext cx="7848600" cy="4389120"/>
          </a:xfrm>
          <a:prstGeom prst="rect">
            <a:avLst/>
          </a:prstGeom>
          <a:noFill/>
          <a:ln>
            <a:noFill/>
          </a:ln>
        </p:spPr>
        <p:txBody>
          <a:bodyPr anchorCtr="0" anchor="t" bIns="45700" lIns="91425" spcFirstLastPara="1" rIns="91425" wrap="square" tIns="45700">
            <a:normAutofit fontScale="62500" lnSpcReduction="20000"/>
          </a:bodyPr>
          <a:lstStyle/>
          <a:p>
            <a:pPr indent="-274320" lvl="0" marL="274320" rtl="0" algn="just">
              <a:spcBef>
                <a:spcPts val="0"/>
              </a:spcBef>
              <a:spcAft>
                <a:spcPts val="0"/>
              </a:spcAft>
              <a:buSzPct val="95000"/>
              <a:buChar char="⚫"/>
            </a:pPr>
            <a:r>
              <a:rPr lang="tr-TR"/>
              <a:t>Bir araştırma projesi hiçbir zaman kendi başına bir amaç olmamalı, ancak toplum için her zaman ilgi çekici bir şey yapmaya çalışmalıdır. Toplumumuz üzerinde ekonomik veya sosyal veya her iki boyutta bir etki  meydana getirmelidir. Bunu, birkaç alakalı örnek vererek açıklığa kavuşturabiliriz:</a:t>
            </a:r>
            <a:endParaRPr/>
          </a:p>
          <a:p>
            <a:pPr indent="0" lvl="0" marL="0" rtl="0" algn="just">
              <a:spcBef>
                <a:spcPts val="325"/>
              </a:spcBef>
              <a:spcAft>
                <a:spcPts val="0"/>
              </a:spcAft>
              <a:buSzPct val="95000"/>
              <a:buNone/>
            </a:pPr>
            <a:r>
              <a:t/>
            </a:r>
            <a:endParaRPr/>
          </a:p>
          <a:p>
            <a:pPr indent="-457200" lvl="0" marL="693738" rtl="0" algn="l">
              <a:spcBef>
                <a:spcPts val="325"/>
              </a:spcBef>
              <a:spcAft>
                <a:spcPts val="0"/>
              </a:spcAft>
              <a:buSzPct val="95000"/>
              <a:buFont typeface="Noto Sans Symbols"/>
              <a:buChar char="✔"/>
            </a:pPr>
            <a:r>
              <a:rPr lang="tr-TR"/>
              <a:t>Tarımdaki bir proje, mahsul üretimine farklı bir yaklaşım getirebilir, bu da daha yüksek verim veya daha iyi kalitede sonuç doğurabilir. (Bu örnekte, yaygın etki, teknolojik geliştirme ile ilgilidir.)</a:t>
            </a:r>
            <a:endParaRPr/>
          </a:p>
          <a:p>
            <a:pPr indent="0" lvl="0" marL="236538" rtl="0" algn="l">
              <a:spcBef>
                <a:spcPts val="325"/>
              </a:spcBef>
              <a:spcAft>
                <a:spcPts val="0"/>
              </a:spcAft>
              <a:buSzPct val="95000"/>
              <a:buNone/>
            </a:pPr>
            <a:r>
              <a:t/>
            </a:r>
            <a:endParaRPr/>
          </a:p>
          <a:p>
            <a:pPr indent="-457200" lvl="0" marL="693738" rtl="0" algn="l">
              <a:spcBef>
                <a:spcPts val="325"/>
              </a:spcBef>
              <a:spcAft>
                <a:spcPts val="0"/>
              </a:spcAft>
              <a:buSzPct val="95000"/>
              <a:buFont typeface="Noto Sans Symbols"/>
              <a:buChar char="✔"/>
            </a:pPr>
            <a:r>
              <a:rPr lang="tr-TR"/>
              <a:t>Matematikte veya kimyada, teorik bir proje doğanın temel kanunlarını yeni bir şekilde kavrayabilir ve sonuçta aynı araştırıcı ya da farklı araştırma grupları tarafından yeni araştırma projelerinin başlangıç noktası haline gelebilir (Buradaki yaygın etki, bilimde çarpan etkisini göstermektedir.)</a:t>
            </a:r>
            <a:endParaRPr/>
          </a:p>
          <a:p>
            <a:pPr indent="0" lvl="0" marL="236538" rtl="0" algn="l">
              <a:spcBef>
                <a:spcPts val="325"/>
              </a:spcBef>
              <a:spcAft>
                <a:spcPts val="0"/>
              </a:spcAft>
              <a:buSzPct val="95000"/>
              <a:buNone/>
            </a:pPr>
            <a:r>
              <a:t/>
            </a:r>
            <a:endParaRPr/>
          </a:p>
          <a:p>
            <a:pPr indent="0" lvl="0" marL="236538" rtl="0" algn="l">
              <a:spcBef>
                <a:spcPts val="325"/>
              </a:spcBef>
              <a:spcAft>
                <a:spcPts val="0"/>
              </a:spcAft>
              <a:buSzPct val="95000"/>
              <a:buNone/>
            </a:pPr>
            <a:r>
              <a:rPr lang="tr-TR"/>
              <a:t>Projenizde yaygın etkiyi açık bir dil ile ölçülebilir bir nitelikte ifade ediniz. Bu yaygın etkinin kısa ve uzun dönemde veya ekonomik/sosyal boyutta meydana getireceği iyileştirmeleri ifade etmekten kesinlikle kaçınmayınız.</a:t>
            </a:r>
            <a:endParaRPr/>
          </a:p>
          <a:p>
            <a:pPr indent="0" lvl="0" marL="236538" rtl="0" algn="l">
              <a:spcBef>
                <a:spcPts val="325"/>
              </a:spcBef>
              <a:spcAft>
                <a:spcPts val="0"/>
              </a:spcAft>
              <a:buSzPct val="95000"/>
              <a:buNone/>
            </a:pPr>
            <a:r>
              <a:t/>
            </a:r>
            <a:endParaRPr/>
          </a:p>
          <a:p>
            <a:pPr indent="0" lvl="0" marL="236538" rtl="0" algn="l">
              <a:spcBef>
                <a:spcPts val="325"/>
              </a:spcBef>
              <a:spcAft>
                <a:spcPts val="0"/>
              </a:spcAft>
              <a:buSzPct val="95000"/>
              <a:buNone/>
            </a:pPr>
            <a:br>
              <a:rPr lang="tr-TR"/>
            </a:br>
            <a:endParaRPr/>
          </a:p>
        </p:txBody>
      </p:sp>
      <p:sp>
        <p:nvSpPr>
          <p:cNvPr id="445" name="Google Shape;445;p50"/>
          <p:cNvSpPr txBox="1"/>
          <p:nvPr>
            <p:ph type="title"/>
          </p:nvPr>
        </p:nvSpPr>
        <p:spPr>
          <a:xfrm>
            <a:off x="838200" y="704088"/>
            <a:ext cx="7848600" cy="1143000"/>
          </a:xfrm>
          <a:prstGeom prst="rect">
            <a:avLst/>
          </a:prstGeom>
          <a:noFill/>
          <a:ln>
            <a:noFill/>
          </a:ln>
        </p:spPr>
        <p:txBody>
          <a:bodyPr anchorCtr="0" anchor="ctr" bIns="0" lIns="0" spcFirstLastPara="1" rIns="0" wrap="square" tIns="45700">
            <a:normAutofit/>
          </a:bodyPr>
          <a:lstStyle/>
          <a:p>
            <a:pPr indent="0" lvl="0" marL="0" marR="0" rtl="0" algn="l">
              <a:spcBef>
                <a:spcPts val="0"/>
              </a:spcBef>
              <a:spcAft>
                <a:spcPts val="0"/>
              </a:spcAft>
              <a:buClr>
                <a:srgbClr val="C00000"/>
              </a:buClr>
              <a:buSzPts val="4400"/>
              <a:buFont typeface="Calibri"/>
              <a:buNone/>
            </a:pPr>
            <a:r>
              <a:rPr b="0" i="0" lang="tr-TR" sz="4400" u="none" cap="none" strike="noStrike">
                <a:solidFill>
                  <a:srgbClr val="C00000"/>
                </a:solidFill>
                <a:latin typeface="Calibri"/>
                <a:ea typeface="Calibri"/>
                <a:cs typeface="Calibri"/>
                <a:sym typeface="Calibri"/>
              </a:rPr>
              <a:t>Yaygın Etki/Katma Değer</a:t>
            </a:r>
            <a:endParaRPr b="0" i="0" sz="4400" u="none" cap="none" strike="noStrike">
              <a:solidFill>
                <a:srgbClr val="C00000"/>
              </a:solidFill>
              <a:latin typeface="Calibri"/>
              <a:ea typeface="Calibri"/>
              <a:cs typeface="Calibri"/>
              <a:sym typeface="Calibri"/>
            </a:endParaRPr>
          </a:p>
        </p:txBody>
      </p:sp>
      <p:sp>
        <p:nvSpPr>
          <p:cNvPr id="446" name="Google Shape;446;p5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51"/>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rgbClr val="C00000"/>
              </a:buClr>
              <a:buSzPts val="5000"/>
              <a:buFont typeface="Calibri"/>
              <a:buNone/>
            </a:pPr>
            <a:r>
              <a:rPr lang="tr-TR">
                <a:solidFill>
                  <a:srgbClr val="C00000"/>
                </a:solidFill>
              </a:rPr>
              <a:t>Sonuç:</a:t>
            </a:r>
            <a:endParaRPr/>
          </a:p>
        </p:txBody>
      </p:sp>
      <p:sp>
        <p:nvSpPr>
          <p:cNvPr id="452" name="Google Shape;452;p51"/>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tr-TR">
                <a:solidFill>
                  <a:srgbClr val="FF0000"/>
                </a:solidFill>
              </a:rPr>
              <a:t>Unutmayalım!</a:t>
            </a:r>
            <a:endParaRPr/>
          </a:p>
          <a:p>
            <a:pPr indent="-274320" lvl="0" marL="274320" rtl="0" algn="l">
              <a:spcBef>
                <a:spcPts val="520"/>
              </a:spcBef>
              <a:spcAft>
                <a:spcPts val="0"/>
              </a:spcAft>
              <a:buSzPts val="2470"/>
              <a:buChar char="⚫"/>
            </a:pPr>
            <a:r>
              <a:rPr lang="tr-TR">
                <a:solidFill>
                  <a:srgbClr val="002060"/>
                </a:solidFill>
              </a:rPr>
              <a:t>Empati yapınız ve kendinizi projeniz için «panelist» olarak belirleyiniz. Projenizin «iyi ve eksik yönlerini» çok iyi tahlil ediniz, bunların üstesinden gelmeye çalışınız.</a:t>
            </a:r>
            <a:endParaRPr/>
          </a:p>
          <a:p>
            <a:pPr indent="-274320" lvl="0" marL="274320" rtl="0" algn="l">
              <a:spcBef>
                <a:spcPts val="520"/>
              </a:spcBef>
              <a:spcAft>
                <a:spcPts val="0"/>
              </a:spcAft>
              <a:buSzPts val="2470"/>
              <a:buChar char="⚫"/>
            </a:pPr>
            <a:r>
              <a:rPr lang="tr-TR">
                <a:solidFill>
                  <a:srgbClr val="002060"/>
                </a:solidFill>
              </a:rPr>
              <a:t>Projemiz; Ankara, Hacettepe, ODTÜ, TOBB, Boğaziçi, İTÜ, İstanbul, Yıldız Teknik, Koç, Sabancı, Ege, Karadeniz Teknik,  vb üniversitelerden gelen projelerle yarışabilir  ve buralardan çağrılan panelistler tarafından değerlendirilebilir.</a:t>
            </a:r>
            <a:endParaRPr>
              <a:solidFill>
                <a:srgbClr val="002060"/>
              </a:solidFill>
            </a:endParaRPr>
          </a:p>
        </p:txBody>
      </p:sp>
      <p:sp>
        <p:nvSpPr>
          <p:cNvPr id="453" name="Google Shape;453;p5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52"/>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3040"/>
              <a:buChar char="⚫"/>
            </a:pPr>
            <a:r>
              <a:rPr lang="tr-TR" sz="3200">
                <a:solidFill>
                  <a:srgbClr val="FF0000"/>
                </a:solidFill>
              </a:rPr>
              <a:t>Unutmayınız!</a:t>
            </a:r>
            <a:endParaRPr/>
          </a:p>
          <a:p>
            <a:pPr indent="-274320" lvl="0" marL="274320" rtl="0" algn="l">
              <a:spcBef>
                <a:spcPts val="640"/>
              </a:spcBef>
              <a:spcAft>
                <a:spcPts val="0"/>
              </a:spcAft>
              <a:buSzPts val="3040"/>
              <a:buChar char="⚫"/>
            </a:pPr>
            <a:r>
              <a:rPr lang="tr-TR" sz="3200">
                <a:solidFill>
                  <a:srgbClr val="002060"/>
                </a:solidFill>
              </a:rPr>
              <a:t>Success is due: </a:t>
            </a:r>
            <a:endParaRPr/>
          </a:p>
          <a:p>
            <a:pPr indent="-274320" lvl="0" marL="274320" rtl="0" algn="l">
              <a:spcBef>
                <a:spcPts val="640"/>
              </a:spcBef>
              <a:spcAft>
                <a:spcPts val="0"/>
              </a:spcAft>
              <a:buSzPts val="3040"/>
              <a:buChar char="⚫"/>
            </a:pPr>
            <a:r>
              <a:rPr lang="tr-TR" sz="3200">
                <a:solidFill>
                  <a:srgbClr val="002060"/>
                </a:solidFill>
              </a:rPr>
              <a:t>99% Perspiration and 1% Inspiration </a:t>
            </a:r>
            <a:endParaRPr/>
          </a:p>
          <a:p>
            <a:pPr indent="-274320" lvl="0" marL="274320" rtl="0" algn="l">
              <a:spcBef>
                <a:spcPts val="640"/>
              </a:spcBef>
              <a:spcAft>
                <a:spcPts val="0"/>
              </a:spcAft>
              <a:buSzPts val="3040"/>
              <a:buChar char="⚫"/>
            </a:pPr>
            <a:r>
              <a:rPr lang="tr-TR" sz="3200">
                <a:solidFill>
                  <a:srgbClr val="002060"/>
                </a:solidFill>
              </a:rPr>
              <a:t>(</a:t>
            </a:r>
            <a:r>
              <a:rPr lang="tr-TR" sz="3200">
                <a:solidFill>
                  <a:srgbClr val="FF0000"/>
                </a:solidFill>
              </a:rPr>
              <a:t>Başarının sırrı, %99’u TERLEME’ye, %1’i İLHAM’a bağlıdır</a:t>
            </a:r>
            <a:r>
              <a:rPr lang="tr-TR" sz="3200">
                <a:solidFill>
                  <a:srgbClr val="002060"/>
                </a:solidFill>
              </a:rPr>
              <a:t>).</a:t>
            </a:r>
            <a:endParaRPr/>
          </a:p>
          <a:p>
            <a:pPr indent="0" lvl="0" marL="0" rtl="0" algn="l">
              <a:spcBef>
                <a:spcPts val="640"/>
              </a:spcBef>
              <a:spcAft>
                <a:spcPts val="0"/>
              </a:spcAft>
              <a:buSzPts val="3040"/>
              <a:buNone/>
            </a:pPr>
            <a:r>
              <a:t/>
            </a:r>
            <a:endParaRPr sz="3200">
              <a:solidFill>
                <a:srgbClr val="002060"/>
              </a:solidFill>
            </a:endParaRPr>
          </a:p>
        </p:txBody>
      </p:sp>
      <p:sp>
        <p:nvSpPr>
          <p:cNvPr id="459" name="Google Shape;459;p52"/>
          <p:cNvSpPr txBox="1"/>
          <p:nvPr/>
        </p:nvSpPr>
        <p:spPr>
          <a:xfrm>
            <a:off x="609600" y="856488"/>
            <a:ext cx="8229600" cy="1143000"/>
          </a:xfrm>
          <a:prstGeom prst="rect">
            <a:avLst/>
          </a:prstGeom>
          <a:noFill/>
          <a:ln>
            <a:noFill/>
          </a:ln>
        </p:spPr>
        <p:txBody>
          <a:bodyPr anchorCtr="0" anchor="b" bIns="0" lIns="0" spcFirstLastPara="1" rIns="0" wrap="square" tIns="45700">
            <a:normAutofit/>
          </a:bodyPr>
          <a:lstStyle/>
          <a:p>
            <a:pPr indent="0" lvl="0" marL="0" marR="0" rtl="0" algn="ctr">
              <a:spcBef>
                <a:spcPts val="0"/>
              </a:spcBef>
              <a:spcAft>
                <a:spcPts val="0"/>
              </a:spcAft>
              <a:buClr>
                <a:srgbClr val="C00000"/>
              </a:buClr>
              <a:buSzPts val="5000"/>
              <a:buFont typeface="Calibri"/>
              <a:buNone/>
            </a:pPr>
            <a:r>
              <a:rPr b="0" lang="tr-TR" sz="5000">
                <a:solidFill>
                  <a:srgbClr val="C00000"/>
                </a:solidFill>
                <a:latin typeface="Calibri"/>
                <a:ea typeface="Calibri"/>
                <a:cs typeface="Calibri"/>
                <a:sym typeface="Calibri"/>
              </a:rPr>
              <a:t>Sonuç:</a:t>
            </a:r>
            <a:endParaRPr b="0" sz="5000">
              <a:solidFill>
                <a:schemeClr val="dk2"/>
              </a:solidFill>
              <a:latin typeface="Calibri"/>
              <a:ea typeface="Calibri"/>
              <a:cs typeface="Calibri"/>
              <a:sym typeface="Calibri"/>
            </a:endParaRPr>
          </a:p>
        </p:txBody>
      </p:sp>
      <p:sp>
        <p:nvSpPr>
          <p:cNvPr id="460" name="Google Shape;460;p5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kış">
  <a:themeElements>
    <a:clrScheme name="Akış">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