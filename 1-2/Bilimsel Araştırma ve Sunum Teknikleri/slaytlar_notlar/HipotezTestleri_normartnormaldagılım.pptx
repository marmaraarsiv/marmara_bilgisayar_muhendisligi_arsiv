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84" roundtripDataSignature="AMtx7mjEc3C/jMqxquRoxSoWKcAAdsis7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FF227F4-5CAF-4CBE-B359-CBECAED00A1A}">
  <a:tblStyle styleId="{9FF227F4-5CAF-4CBE-B359-CBECAED00A1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customschemas.google.com/relationships/presentationmetadata" Target="metadata"/><Relationship Id="rId83" Type="http://schemas.openxmlformats.org/officeDocument/2006/relationships/slide" Target="slides/slide77.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tr-TR"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p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p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4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4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4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4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1" name="Google Shape;481;p4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7" name="Google Shape;487;p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p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p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p5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3" name="Google Shape;583;p5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p5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5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 name="Google Shape;607;p5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5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p5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5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p5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6" name="Google Shape;636;p5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2" name="Google Shape;642;p6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8" name="Google Shape;648;p6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4" name="Google Shape;654;p6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0" name="Google Shape;660;p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p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6" name="Google Shape;676;p6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4" name="Google Shape;684;p6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3" name="Google Shape;693;p6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3" name="Google Shape;703;p6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5" name="Google Shape;715;p6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4" name="Google Shape;734;p7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9" name="Google Shape;759;p7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5" name="Google Shape;765;p7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3" name="Google Shape;793;p7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74: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tr-TR"/>
              <a:t>Tek Örneklem Testleri</a:t>
            </a:r>
            <a:endParaRPr/>
          </a:p>
        </p:txBody>
      </p:sp>
      <p:sp>
        <p:nvSpPr>
          <p:cNvPr id="800" name="Google Shape;800;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tr-T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801" name="Google Shape;801;p74:notes"/>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02" name="Google Shape;802;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75: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tr-TR"/>
              <a:t>Tek Örneklem Testleri</a:t>
            </a:r>
            <a:endParaRPr/>
          </a:p>
        </p:txBody>
      </p:sp>
      <p:sp>
        <p:nvSpPr>
          <p:cNvPr id="810" name="Google Shape;810;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tr-T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811" name="Google Shape;811;p75:notes"/>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12" name="Google Shape;812;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9" name="Google Shape;889;p7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5" name="Google Shape;895;p7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ve İçerik" type="obj">
  <p:cSld name="OBJECT">
    <p:spTree>
      <p:nvGrpSpPr>
        <p:cNvPr id="16" name="Shape 16"/>
        <p:cNvGrpSpPr/>
        <p:nvPr/>
      </p:nvGrpSpPr>
      <p:grpSpPr>
        <a:xfrm>
          <a:off x="0" y="0"/>
          <a:ext cx="0" cy="0"/>
          <a:chOff x="0" y="0"/>
          <a:chExt cx="0" cy="0"/>
        </a:xfrm>
      </p:grpSpPr>
      <p:sp>
        <p:nvSpPr>
          <p:cNvPr id="17" name="Google Shape;17;p79"/>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79"/>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9" name="Google Shape;19;p79"/>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79"/>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79"/>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ş" showMasterSp="0" type="blank">
  <p:cSld name="BLANK">
    <p:spTree>
      <p:nvGrpSpPr>
        <p:cNvPr id="22" name="Shape 22"/>
        <p:cNvGrpSpPr/>
        <p:nvPr/>
      </p:nvGrpSpPr>
      <p:grpSpPr>
        <a:xfrm>
          <a:off x="0" y="0"/>
          <a:ext cx="0" cy="0"/>
          <a:chOff x="0" y="0"/>
          <a:chExt cx="0" cy="0"/>
        </a:xfrm>
      </p:grpSpPr>
      <p:sp>
        <p:nvSpPr>
          <p:cNvPr id="23" name="Google Shape;23;p80"/>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80"/>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80"/>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ki İçerik" type="twoObj">
  <p:cSld name="TWO_OBJECTS">
    <p:spTree>
      <p:nvGrpSpPr>
        <p:cNvPr id="26" name="Shape 26"/>
        <p:cNvGrpSpPr/>
        <p:nvPr/>
      </p:nvGrpSpPr>
      <p:grpSpPr>
        <a:xfrm>
          <a:off x="0" y="0"/>
          <a:ext cx="0" cy="0"/>
          <a:chOff x="0" y="0"/>
          <a:chExt cx="0" cy="0"/>
        </a:xfrm>
      </p:grpSpPr>
      <p:sp>
        <p:nvSpPr>
          <p:cNvPr id="27" name="Google Shape;27;p81"/>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81"/>
          <p:cNvSpPr txBox="1"/>
          <p:nvPr>
            <p:ph idx="1" type="body"/>
          </p:nvPr>
        </p:nvSpPr>
        <p:spPr>
          <a:xfrm>
            <a:off x="768096" y="2286000"/>
            <a:ext cx="356616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9" name="Google Shape;29;p81"/>
          <p:cNvSpPr txBox="1"/>
          <p:nvPr>
            <p:ph idx="2" type="body"/>
          </p:nvPr>
        </p:nvSpPr>
        <p:spPr>
          <a:xfrm>
            <a:off x="4491990" y="2286000"/>
            <a:ext cx="356616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0" name="Google Shape;30;p81"/>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81"/>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81"/>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alnızca Başlık" type="titleOnly">
  <p:cSld name="TITLE_ONLY">
    <p:spTree>
      <p:nvGrpSpPr>
        <p:cNvPr id="33" name="Shape 33"/>
        <p:cNvGrpSpPr/>
        <p:nvPr/>
      </p:nvGrpSpPr>
      <p:grpSpPr>
        <a:xfrm>
          <a:off x="0" y="0"/>
          <a:ext cx="0" cy="0"/>
          <a:chOff x="0" y="0"/>
          <a:chExt cx="0" cy="0"/>
        </a:xfrm>
      </p:grpSpPr>
      <p:sp>
        <p:nvSpPr>
          <p:cNvPr id="34" name="Google Shape;34;p82"/>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82"/>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82"/>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82"/>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Slaydı" showMasterSp="0" type="title">
  <p:cSld name="TITLE">
    <p:spTree>
      <p:nvGrpSpPr>
        <p:cNvPr id="38" name="Shape 38"/>
        <p:cNvGrpSpPr/>
        <p:nvPr/>
      </p:nvGrpSpPr>
      <p:grpSpPr>
        <a:xfrm>
          <a:off x="0" y="0"/>
          <a:ext cx="0" cy="0"/>
          <a:chOff x="0" y="0"/>
          <a:chExt cx="0" cy="0"/>
        </a:xfrm>
      </p:grpSpPr>
      <p:sp>
        <p:nvSpPr>
          <p:cNvPr id="39" name="Google Shape;39;p83"/>
          <p:cNvSpPr/>
          <p:nvPr/>
        </p:nvSpPr>
        <p:spPr>
          <a:xfrm>
            <a:off x="0" y="0"/>
            <a:ext cx="9144000" cy="4572001"/>
          </a:xfrm>
          <a:prstGeom prst="rect">
            <a:avLst/>
          </a:prstGeom>
          <a:solidFill>
            <a:srgbClr val="1482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83"/>
          <p:cNvSpPr/>
          <p:nvPr/>
        </p:nvSpPr>
        <p:spPr>
          <a:xfrm>
            <a:off x="4762" y="0"/>
            <a:ext cx="9139239" cy="4572001"/>
          </a:xfrm>
          <a:custGeom>
            <a:rect b="b" l="l" r="r" t="t"/>
            <a:pathLst>
              <a:path extrusionOk="0" h="4572001" w="9139239">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83"/>
          <p:cNvSpPr txBox="1"/>
          <p:nvPr>
            <p:ph type="ctrTitle"/>
          </p:nvPr>
        </p:nvSpPr>
        <p:spPr>
          <a:xfrm>
            <a:off x="342900" y="4960137"/>
            <a:ext cx="58293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4400"/>
              <a:buFont typeface="Twentieth Century"/>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83"/>
          <p:cNvSpPr txBox="1"/>
          <p:nvPr>
            <p:ph idx="1" type="subTitle"/>
          </p:nvPr>
        </p:nvSpPr>
        <p:spPr>
          <a:xfrm>
            <a:off x="6457950" y="4960137"/>
            <a:ext cx="2400300" cy="146304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600"/>
              <a:buNone/>
              <a:defRPr sz="1600">
                <a:solidFill>
                  <a:srgbClr val="0C0C0C"/>
                </a:solidFill>
              </a:defRPr>
            </a:lvl1pPr>
            <a:lvl2pPr lvl="1" algn="ctr">
              <a:lnSpc>
                <a:spcPct val="90000"/>
              </a:lnSpc>
              <a:spcBef>
                <a:spcPts val="200"/>
              </a:spcBef>
              <a:spcAft>
                <a:spcPts val="0"/>
              </a:spcAft>
              <a:buSzPts val="1600"/>
              <a:buNone/>
              <a:defRPr sz="1600"/>
            </a:lvl2pPr>
            <a:lvl3pPr lvl="2" algn="ctr">
              <a:lnSpc>
                <a:spcPct val="90000"/>
              </a:lnSpc>
              <a:spcBef>
                <a:spcPts val="400"/>
              </a:spcBef>
              <a:spcAft>
                <a:spcPts val="0"/>
              </a:spcAft>
              <a:buSzPts val="1600"/>
              <a:buNone/>
              <a:defRPr sz="1600"/>
            </a:lvl3pPr>
            <a:lvl4pPr lvl="3" algn="ctr">
              <a:lnSpc>
                <a:spcPct val="90000"/>
              </a:lnSpc>
              <a:spcBef>
                <a:spcPts val="400"/>
              </a:spcBef>
              <a:spcAft>
                <a:spcPts val="0"/>
              </a:spcAft>
              <a:buSzPts val="1600"/>
              <a:buNone/>
              <a:defRPr sz="1600"/>
            </a:lvl4pPr>
            <a:lvl5pPr lvl="4" algn="ctr">
              <a:lnSpc>
                <a:spcPct val="90000"/>
              </a:lnSpc>
              <a:spcBef>
                <a:spcPts val="400"/>
              </a:spcBef>
              <a:spcAft>
                <a:spcPts val="0"/>
              </a:spcAft>
              <a:buSzPts val="1600"/>
              <a:buNone/>
              <a:defRPr sz="1600"/>
            </a:lvl5pPr>
            <a:lvl6pPr lvl="5" algn="ctr">
              <a:lnSpc>
                <a:spcPct val="90000"/>
              </a:lnSpc>
              <a:spcBef>
                <a:spcPts val="400"/>
              </a:spcBef>
              <a:spcAft>
                <a:spcPts val="0"/>
              </a:spcAft>
              <a:buSzPts val="1600"/>
              <a:buNone/>
              <a:defRPr sz="1600"/>
            </a:lvl6pPr>
            <a:lvl7pPr lvl="6" algn="ctr">
              <a:lnSpc>
                <a:spcPct val="90000"/>
              </a:lnSpc>
              <a:spcBef>
                <a:spcPts val="400"/>
              </a:spcBef>
              <a:spcAft>
                <a:spcPts val="0"/>
              </a:spcAft>
              <a:buSzPts val="1600"/>
              <a:buNone/>
              <a:defRPr sz="1600"/>
            </a:lvl7pPr>
            <a:lvl8pPr lvl="7" algn="ctr">
              <a:lnSpc>
                <a:spcPct val="90000"/>
              </a:lnSpc>
              <a:spcBef>
                <a:spcPts val="400"/>
              </a:spcBef>
              <a:spcAft>
                <a:spcPts val="0"/>
              </a:spcAft>
              <a:buSzPts val="1600"/>
              <a:buNone/>
              <a:defRPr sz="1600"/>
            </a:lvl8pPr>
            <a:lvl9pPr lvl="8" algn="ctr">
              <a:lnSpc>
                <a:spcPct val="90000"/>
              </a:lnSpc>
              <a:spcBef>
                <a:spcPts val="400"/>
              </a:spcBef>
              <a:spcAft>
                <a:spcPts val="400"/>
              </a:spcAft>
              <a:buSzPts val="1600"/>
              <a:buNone/>
              <a:defRPr sz="1600"/>
            </a:lvl9pPr>
          </a:lstStyle>
          <a:p/>
        </p:txBody>
      </p:sp>
      <p:sp>
        <p:nvSpPr>
          <p:cNvPr id="43" name="Google Shape;43;p83"/>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83"/>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83"/>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tr-TR"/>
              <a:t>‹#›</a:t>
            </a:fld>
            <a:endParaRPr/>
          </a:p>
        </p:txBody>
      </p:sp>
      <p:cxnSp>
        <p:nvCxnSpPr>
          <p:cNvPr id="46" name="Google Shape;46;p83"/>
          <p:cNvCxnSpPr/>
          <p:nvPr/>
        </p:nvCxnSpPr>
        <p:spPr>
          <a:xfrm rot="10800000">
            <a:off x="6290132"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ölüm Üstbilgisi" showMasterSp="0" type="secHead">
  <p:cSld name="SECTION_HEADER">
    <p:spTree>
      <p:nvGrpSpPr>
        <p:cNvPr id="47" name="Shape 47"/>
        <p:cNvGrpSpPr/>
        <p:nvPr/>
      </p:nvGrpSpPr>
      <p:grpSpPr>
        <a:xfrm>
          <a:off x="0" y="0"/>
          <a:ext cx="0" cy="0"/>
          <a:chOff x="0" y="0"/>
          <a:chExt cx="0" cy="0"/>
        </a:xfrm>
      </p:grpSpPr>
      <p:sp>
        <p:nvSpPr>
          <p:cNvPr id="48" name="Google Shape;48;p84"/>
          <p:cNvSpPr/>
          <p:nvPr/>
        </p:nvSpPr>
        <p:spPr>
          <a:xfrm>
            <a:off x="0" y="0"/>
            <a:ext cx="9144000" cy="4572001"/>
          </a:xfrm>
          <a:prstGeom prst="rect">
            <a:avLst/>
          </a:prstGeom>
          <a:solidFill>
            <a:srgbClr val="1D9A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84"/>
          <p:cNvSpPr/>
          <p:nvPr/>
        </p:nvSpPr>
        <p:spPr>
          <a:xfrm>
            <a:off x="4762" y="0"/>
            <a:ext cx="9139239" cy="4572001"/>
          </a:xfrm>
          <a:custGeom>
            <a:rect b="b" l="l" r="r" t="t"/>
            <a:pathLst>
              <a:path extrusionOk="0" h="4572001" w="9139239">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4"/>
          <p:cNvSpPr txBox="1"/>
          <p:nvPr>
            <p:ph type="title"/>
          </p:nvPr>
        </p:nvSpPr>
        <p:spPr>
          <a:xfrm>
            <a:off x="342900" y="4960137"/>
            <a:ext cx="58293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4400"/>
              <a:buFont typeface="Twentieth Century"/>
              <a:buNone/>
              <a:defRPr b="0"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4"/>
          <p:cNvSpPr txBox="1"/>
          <p:nvPr>
            <p:ph idx="1" type="body"/>
          </p:nvPr>
        </p:nvSpPr>
        <p:spPr>
          <a:xfrm>
            <a:off x="6457950" y="4960137"/>
            <a:ext cx="24003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600"/>
              <a:buNone/>
              <a:defRPr sz="1600">
                <a:solidFill>
                  <a:srgbClr val="0C0C0C"/>
                </a:solidFill>
              </a:defRPr>
            </a:lvl1pPr>
            <a:lvl2pPr indent="-228600" lvl="1" marL="914400" algn="l">
              <a:lnSpc>
                <a:spcPct val="90000"/>
              </a:lnSpc>
              <a:spcBef>
                <a:spcPts val="200"/>
              </a:spcBef>
              <a:spcAft>
                <a:spcPts val="0"/>
              </a:spcAft>
              <a:buSzPts val="1600"/>
              <a:buNone/>
              <a:defRPr sz="16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52" name="Google Shape;52;p84"/>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4"/>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84"/>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tr-TR"/>
              <a:t>‹#›</a:t>
            </a:fld>
            <a:endParaRPr/>
          </a:p>
        </p:txBody>
      </p:sp>
      <p:cxnSp>
        <p:nvCxnSpPr>
          <p:cNvPr id="55" name="Google Shape;55;p84"/>
          <p:cNvCxnSpPr/>
          <p:nvPr/>
        </p:nvCxnSpPr>
        <p:spPr>
          <a:xfrm rot="10800000">
            <a:off x="6290132"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rşılaştırma" type="twoTxTwoObj">
  <p:cSld name="TWO_OBJECTS_WITH_TEXT">
    <p:spTree>
      <p:nvGrpSpPr>
        <p:cNvPr id="56" name="Shape 56"/>
        <p:cNvGrpSpPr/>
        <p:nvPr/>
      </p:nvGrpSpPr>
      <p:grpSpPr>
        <a:xfrm>
          <a:off x="0" y="0"/>
          <a:ext cx="0" cy="0"/>
          <a:chOff x="0" y="0"/>
          <a:chExt cx="0" cy="0"/>
        </a:xfrm>
      </p:grpSpPr>
      <p:sp>
        <p:nvSpPr>
          <p:cNvPr id="57" name="Google Shape;57;p85"/>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85"/>
          <p:cNvSpPr txBox="1"/>
          <p:nvPr>
            <p:ph idx="1" type="body"/>
          </p:nvPr>
        </p:nvSpPr>
        <p:spPr>
          <a:xfrm>
            <a:off x="768096" y="2179636"/>
            <a:ext cx="356616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200"/>
              <a:buNone/>
              <a:defRPr b="0" sz="22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9" name="Google Shape;59;p85"/>
          <p:cNvSpPr txBox="1"/>
          <p:nvPr>
            <p:ph idx="2" type="body"/>
          </p:nvPr>
        </p:nvSpPr>
        <p:spPr>
          <a:xfrm>
            <a:off x="768096" y="2967788"/>
            <a:ext cx="356616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0" name="Google Shape;60;p85"/>
          <p:cNvSpPr txBox="1"/>
          <p:nvPr>
            <p:ph idx="3" type="body"/>
          </p:nvPr>
        </p:nvSpPr>
        <p:spPr>
          <a:xfrm>
            <a:off x="4491990" y="2179636"/>
            <a:ext cx="356616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200"/>
              <a:buNone/>
              <a:defRPr b="0" sz="22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1" name="Google Shape;61;p85"/>
          <p:cNvSpPr txBox="1"/>
          <p:nvPr>
            <p:ph idx="4" type="body"/>
          </p:nvPr>
        </p:nvSpPr>
        <p:spPr>
          <a:xfrm>
            <a:off x="4491990" y="2967788"/>
            <a:ext cx="356616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2" name="Google Shape;62;p85"/>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5"/>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5"/>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İçerik" type="objTx">
  <p:cSld name="OBJECT_WITH_CAPTION_TEXT">
    <p:spTree>
      <p:nvGrpSpPr>
        <p:cNvPr id="65" name="Shape 65"/>
        <p:cNvGrpSpPr/>
        <p:nvPr/>
      </p:nvGrpSpPr>
      <p:grpSpPr>
        <a:xfrm>
          <a:off x="0" y="0"/>
          <a:ext cx="0" cy="0"/>
          <a:chOff x="0" y="0"/>
          <a:chExt cx="0" cy="0"/>
        </a:xfrm>
      </p:grpSpPr>
      <p:sp>
        <p:nvSpPr>
          <p:cNvPr id="66" name="Google Shape;66;p86"/>
          <p:cNvSpPr txBox="1"/>
          <p:nvPr>
            <p:ph type="title"/>
          </p:nvPr>
        </p:nvSpPr>
        <p:spPr>
          <a:xfrm>
            <a:off x="768096" y="471509"/>
            <a:ext cx="3291840" cy="173736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86"/>
          <p:cNvSpPr txBox="1"/>
          <p:nvPr>
            <p:ph idx="1" type="body"/>
          </p:nvPr>
        </p:nvSpPr>
        <p:spPr>
          <a:xfrm>
            <a:off x="4286250" y="822960"/>
            <a:ext cx="4258818" cy="5184648"/>
          </a:xfrm>
          <a:prstGeom prst="rect">
            <a:avLst/>
          </a:prstGeom>
          <a:noFill/>
          <a:ln>
            <a:noFill/>
          </a:ln>
        </p:spPr>
        <p:txBody>
          <a:bodyPr anchorCtr="0" anchor="t" bIns="45700" lIns="45700" spcFirstLastPara="1" rIns="45700" wrap="square" tIns="45700">
            <a:normAutofit/>
          </a:bodyPr>
          <a:lstStyle>
            <a:lvl1pPr indent="-355600" lvl="0" marL="457200" algn="l">
              <a:lnSpc>
                <a:spcPct val="90000"/>
              </a:lnSpc>
              <a:spcBef>
                <a:spcPts val="1200"/>
              </a:spcBef>
              <a:spcAft>
                <a:spcPts val="0"/>
              </a:spcAft>
              <a:buSzPts val="2000"/>
              <a:buChar char=" "/>
              <a:defRPr sz="2000"/>
            </a:lvl1pPr>
            <a:lvl2pPr indent="-330200" lvl="1" marL="914400" algn="l">
              <a:lnSpc>
                <a:spcPct val="90000"/>
              </a:lnSpc>
              <a:spcBef>
                <a:spcPts val="200"/>
              </a:spcBef>
              <a:spcAft>
                <a:spcPts val="0"/>
              </a:spcAft>
              <a:buSzPts val="1600"/>
              <a:buChar char="🢝"/>
              <a:defRPr sz="1600"/>
            </a:lvl2pPr>
            <a:lvl3pPr indent="-304800" lvl="2" marL="1371600" algn="l">
              <a:lnSpc>
                <a:spcPct val="90000"/>
              </a:lnSpc>
              <a:spcBef>
                <a:spcPts val="400"/>
              </a:spcBef>
              <a:spcAft>
                <a:spcPts val="0"/>
              </a:spcAft>
              <a:buSzPts val="1200"/>
              <a:buChar char="🢝"/>
              <a:defRPr sz="1200"/>
            </a:lvl3pPr>
            <a:lvl4pPr indent="-304800" lvl="3" marL="1828800" algn="l">
              <a:lnSpc>
                <a:spcPct val="90000"/>
              </a:lnSpc>
              <a:spcBef>
                <a:spcPts val="400"/>
              </a:spcBef>
              <a:spcAft>
                <a:spcPts val="0"/>
              </a:spcAft>
              <a:buSzPts val="1200"/>
              <a:buChar char="🢝"/>
              <a:defRPr sz="1200"/>
            </a:lvl4pPr>
            <a:lvl5pPr indent="-304800" lvl="4" marL="2286000" algn="l">
              <a:lnSpc>
                <a:spcPct val="90000"/>
              </a:lnSpc>
              <a:spcBef>
                <a:spcPts val="400"/>
              </a:spcBef>
              <a:spcAft>
                <a:spcPts val="0"/>
              </a:spcAft>
              <a:buSzPts val="1200"/>
              <a:buChar char="🢝"/>
              <a:defRPr sz="1200"/>
            </a:lvl5pPr>
            <a:lvl6pPr indent="-304800" lvl="5" marL="2743200" algn="l">
              <a:lnSpc>
                <a:spcPct val="90000"/>
              </a:lnSpc>
              <a:spcBef>
                <a:spcPts val="400"/>
              </a:spcBef>
              <a:spcAft>
                <a:spcPts val="0"/>
              </a:spcAft>
              <a:buSzPts val="1200"/>
              <a:buChar char="🢝"/>
              <a:defRPr sz="1200"/>
            </a:lvl6pPr>
            <a:lvl7pPr indent="-304800" lvl="6" marL="3200400" algn="l">
              <a:lnSpc>
                <a:spcPct val="90000"/>
              </a:lnSpc>
              <a:spcBef>
                <a:spcPts val="400"/>
              </a:spcBef>
              <a:spcAft>
                <a:spcPts val="0"/>
              </a:spcAft>
              <a:buSzPts val="1200"/>
              <a:buChar char="🢝"/>
              <a:defRPr sz="1200"/>
            </a:lvl7pPr>
            <a:lvl8pPr indent="-304800" lvl="7" marL="3657600" algn="l">
              <a:lnSpc>
                <a:spcPct val="90000"/>
              </a:lnSpc>
              <a:spcBef>
                <a:spcPts val="400"/>
              </a:spcBef>
              <a:spcAft>
                <a:spcPts val="0"/>
              </a:spcAft>
              <a:buSzPts val="1200"/>
              <a:buChar char="🢝"/>
              <a:defRPr sz="1200"/>
            </a:lvl8pPr>
            <a:lvl9pPr indent="-304800" lvl="8" marL="4114800" algn="l">
              <a:lnSpc>
                <a:spcPct val="90000"/>
              </a:lnSpc>
              <a:spcBef>
                <a:spcPts val="400"/>
              </a:spcBef>
              <a:spcAft>
                <a:spcPts val="400"/>
              </a:spcAft>
              <a:buSzPts val="1200"/>
              <a:buChar char="🢝"/>
              <a:defRPr sz="1200"/>
            </a:lvl9pPr>
          </a:lstStyle>
          <a:p/>
        </p:txBody>
      </p:sp>
      <p:sp>
        <p:nvSpPr>
          <p:cNvPr id="68" name="Google Shape;68;p86"/>
          <p:cNvSpPr txBox="1"/>
          <p:nvPr>
            <p:ph idx="2" type="body"/>
          </p:nvPr>
        </p:nvSpPr>
        <p:spPr>
          <a:xfrm>
            <a:off x="768096" y="2257506"/>
            <a:ext cx="3291840" cy="3762294"/>
          </a:xfrm>
          <a:prstGeom prst="rect">
            <a:avLst/>
          </a:prstGeom>
          <a:noFill/>
          <a:ln>
            <a:noFill/>
          </a:ln>
        </p:spPr>
        <p:txBody>
          <a:bodyPr anchorCtr="0" anchor="t" bIns="45700" lIns="91425" spcFirstLastPara="1" rIns="91425" wrap="square" tIns="45700">
            <a:norm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69" name="Google Shape;69;p86"/>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6"/>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6"/>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Resim" showMasterSp="0" type="picTx">
  <p:cSld name="PICTURE_WITH_CAPTION_TEXT">
    <p:spTree>
      <p:nvGrpSpPr>
        <p:cNvPr id="72" name="Shape 72"/>
        <p:cNvGrpSpPr/>
        <p:nvPr/>
      </p:nvGrpSpPr>
      <p:grpSpPr>
        <a:xfrm>
          <a:off x="0" y="0"/>
          <a:ext cx="0" cy="0"/>
          <a:chOff x="0" y="0"/>
          <a:chExt cx="0" cy="0"/>
        </a:xfrm>
      </p:grpSpPr>
      <p:sp>
        <p:nvSpPr>
          <p:cNvPr id="73" name="Google Shape;73;p87"/>
          <p:cNvSpPr txBox="1"/>
          <p:nvPr>
            <p:ph type="title"/>
          </p:nvPr>
        </p:nvSpPr>
        <p:spPr>
          <a:xfrm>
            <a:off x="342900" y="4960138"/>
            <a:ext cx="58293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4400"/>
              <a:buFont typeface="Twentieth Century"/>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87"/>
          <p:cNvSpPr/>
          <p:nvPr>
            <p:ph idx="2" type="pic"/>
          </p:nvPr>
        </p:nvSpPr>
        <p:spPr>
          <a:xfrm>
            <a:off x="0" y="-1"/>
            <a:ext cx="9141714" cy="4572000"/>
          </a:xfrm>
          <a:prstGeom prst="rect">
            <a:avLst/>
          </a:prstGeom>
          <a:solidFill>
            <a:srgbClr val="76CEEF"/>
          </a:solidFill>
          <a:ln>
            <a:noFill/>
          </a:ln>
        </p:spPr>
      </p:sp>
      <p:sp>
        <p:nvSpPr>
          <p:cNvPr id="75" name="Google Shape;75;p87"/>
          <p:cNvSpPr txBox="1"/>
          <p:nvPr>
            <p:ph idx="1" type="body"/>
          </p:nvPr>
        </p:nvSpPr>
        <p:spPr>
          <a:xfrm>
            <a:off x="6457950" y="4960138"/>
            <a:ext cx="24003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600"/>
              <a:buNone/>
              <a:defRPr sz="1600">
                <a:solidFill>
                  <a:srgbClr val="0C0C0C"/>
                </a:solidFill>
              </a:defRPr>
            </a:lvl1pPr>
            <a:lvl2pPr indent="-228600" lvl="1" marL="914400" algn="l">
              <a:lnSpc>
                <a:spcPct val="90000"/>
              </a:lnSpc>
              <a:spcBef>
                <a:spcPts val="200"/>
              </a:spcBef>
              <a:spcAft>
                <a:spcPts val="0"/>
              </a:spcAft>
              <a:buSzPts val="1050"/>
              <a:buNone/>
              <a:defRPr sz="1050"/>
            </a:lvl2pPr>
            <a:lvl3pPr indent="-228600" lvl="2" marL="1371600" algn="l">
              <a:lnSpc>
                <a:spcPct val="90000"/>
              </a:lnSpc>
              <a:spcBef>
                <a:spcPts val="400"/>
              </a:spcBef>
              <a:spcAft>
                <a:spcPts val="0"/>
              </a:spcAft>
              <a:buSzPts val="900"/>
              <a:buNone/>
              <a:defRPr sz="900"/>
            </a:lvl3pPr>
            <a:lvl4pPr indent="-228600" lvl="3" marL="1828800" algn="l">
              <a:lnSpc>
                <a:spcPct val="90000"/>
              </a:lnSpc>
              <a:spcBef>
                <a:spcPts val="400"/>
              </a:spcBef>
              <a:spcAft>
                <a:spcPts val="0"/>
              </a:spcAft>
              <a:buSzPts val="750"/>
              <a:buNone/>
              <a:defRPr sz="750"/>
            </a:lvl4pPr>
            <a:lvl5pPr indent="-228600" lvl="4" marL="2286000" algn="l">
              <a:lnSpc>
                <a:spcPct val="90000"/>
              </a:lnSpc>
              <a:spcBef>
                <a:spcPts val="400"/>
              </a:spcBef>
              <a:spcAft>
                <a:spcPts val="0"/>
              </a:spcAft>
              <a:buSzPts val="750"/>
              <a:buNone/>
              <a:defRPr sz="750"/>
            </a:lvl5pPr>
            <a:lvl6pPr indent="-228600" lvl="5" marL="2743200" algn="l">
              <a:lnSpc>
                <a:spcPct val="90000"/>
              </a:lnSpc>
              <a:spcBef>
                <a:spcPts val="400"/>
              </a:spcBef>
              <a:spcAft>
                <a:spcPts val="0"/>
              </a:spcAft>
              <a:buSzPts val="750"/>
              <a:buNone/>
              <a:defRPr sz="750"/>
            </a:lvl6pPr>
            <a:lvl7pPr indent="-228600" lvl="6" marL="3200400" algn="l">
              <a:lnSpc>
                <a:spcPct val="90000"/>
              </a:lnSpc>
              <a:spcBef>
                <a:spcPts val="400"/>
              </a:spcBef>
              <a:spcAft>
                <a:spcPts val="0"/>
              </a:spcAft>
              <a:buSzPts val="750"/>
              <a:buNone/>
              <a:defRPr sz="750"/>
            </a:lvl7pPr>
            <a:lvl8pPr indent="-228600" lvl="7" marL="3657600" algn="l">
              <a:lnSpc>
                <a:spcPct val="90000"/>
              </a:lnSpc>
              <a:spcBef>
                <a:spcPts val="400"/>
              </a:spcBef>
              <a:spcAft>
                <a:spcPts val="0"/>
              </a:spcAft>
              <a:buSzPts val="750"/>
              <a:buNone/>
              <a:defRPr sz="750"/>
            </a:lvl8pPr>
            <a:lvl9pPr indent="-228600" lvl="8" marL="4114800" algn="l">
              <a:lnSpc>
                <a:spcPct val="90000"/>
              </a:lnSpc>
              <a:spcBef>
                <a:spcPts val="400"/>
              </a:spcBef>
              <a:spcAft>
                <a:spcPts val="400"/>
              </a:spcAft>
              <a:buSzPts val="750"/>
              <a:buNone/>
              <a:defRPr sz="750"/>
            </a:lvl9pPr>
          </a:lstStyle>
          <a:p/>
        </p:txBody>
      </p:sp>
      <p:sp>
        <p:nvSpPr>
          <p:cNvPr id="76" name="Google Shape;76;p87"/>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87"/>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87"/>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tr-TR"/>
              <a:t>‹#›</a:t>
            </a:fld>
            <a:endParaRPr/>
          </a:p>
        </p:txBody>
      </p:sp>
      <p:cxnSp>
        <p:nvCxnSpPr>
          <p:cNvPr id="79" name="Google Shape;79;p87"/>
          <p:cNvCxnSpPr/>
          <p:nvPr/>
        </p:nvCxnSpPr>
        <p:spPr>
          <a:xfrm rot="10800000">
            <a:off x="6290132" y="5264106"/>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ve Dikey Metin" type="vertTx">
  <p:cSld name="VERTICAL_TEXT">
    <p:spTree>
      <p:nvGrpSpPr>
        <p:cNvPr id="80" name="Shape 80"/>
        <p:cNvGrpSpPr/>
        <p:nvPr/>
      </p:nvGrpSpPr>
      <p:grpSpPr>
        <a:xfrm>
          <a:off x="0" y="0"/>
          <a:ext cx="0" cy="0"/>
          <a:chOff x="0" y="0"/>
          <a:chExt cx="0" cy="0"/>
        </a:xfrm>
      </p:grpSpPr>
      <p:sp>
        <p:nvSpPr>
          <p:cNvPr id="81" name="Google Shape;81;p88"/>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88"/>
          <p:cNvSpPr txBox="1"/>
          <p:nvPr>
            <p:ph idx="1" type="body"/>
          </p:nvPr>
        </p:nvSpPr>
        <p:spPr>
          <a:xfrm rot="5400000">
            <a:off x="2401444" y="652653"/>
            <a:ext cx="4023360" cy="7290055"/>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3" name="Google Shape;83;p88"/>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88"/>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88"/>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key Başlık ve Metin" showMasterSp="0" type="vertTitleAndTx">
  <p:cSld name="VERTICAL_TITLE_AND_VERTICAL_TEXT">
    <p:spTree>
      <p:nvGrpSpPr>
        <p:cNvPr id="86" name="Shape 86"/>
        <p:cNvGrpSpPr/>
        <p:nvPr/>
      </p:nvGrpSpPr>
      <p:grpSpPr>
        <a:xfrm>
          <a:off x="0" y="0"/>
          <a:ext cx="0" cy="0"/>
          <a:chOff x="0" y="0"/>
          <a:chExt cx="0" cy="0"/>
        </a:xfrm>
      </p:grpSpPr>
      <p:sp>
        <p:nvSpPr>
          <p:cNvPr id="87" name="Google Shape;87;p89"/>
          <p:cNvSpPr txBox="1"/>
          <p:nvPr>
            <p:ph type="title"/>
          </p:nvPr>
        </p:nvSpPr>
        <p:spPr>
          <a:xfrm rot="5400000">
            <a:off x="4824414" y="2481263"/>
            <a:ext cx="5410200" cy="1971675"/>
          </a:xfrm>
          <a:prstGeom prst="rect">
            <a:avLst/>
          </a:prstGeom>
          <a:noFill/>
          <a:ln>
            <a:noFill/>
          </a:ln>
        </p:spPr>
        <p:txBody>
          <a:bodyPr anchorCtr="0" anchor="ctr" bIns="91425" lIns="45700" spcFirstLastPara="1" rIns="45700" wrap="square" tIns="91425">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89"/>
          <p:cNvSpPr txBox="1"/>
          <p:nvPr>
            <p:ph idx="1" type="body"/>
          </p:nvPr>
        </p:nvSpPr>
        <p:spPr>
          <a:xfrm rot="5400000">
            <a:off x="881064" y="623888"/>
            <a:ext cx="5410200" cy="5686425"/>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9" name="Google Shape;89;p89"/>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89"/>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89"/>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tr-TR"/>
              <a:t>‹#›</a:t>
            </a:fld>
            <a:endParaRPr/>
          </a:p>
        </p:txBody>
      </p:sp>
      <p:cxnSp>
        <p:nvCxnSpPr>
          <p:cNvPr id="92" name="Google Shape;92;p89"/>
          <p:cNvCxnSpPr/>
          <p:nvPr/>
        </p:nvCxnSpPr>
        <p:spPr>
          <a:xfrm rot="10800000">
            <a:off x="7543800" y="173563"/>
            <a:ext cx="0" cy="6858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8"/>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rgbClr val="0C0C0C"/>
              </a:buClr>
              <a:buSzPts val="4400"/>
              <a:buFont typeface="Twentieth Century"/>
              <a:buNone/>
              <a:defRPr b="0" i="0" sz="4400" u="none" cap="none" strike="noStrike">
                <a:solidFill>
                  <a:srgbClr val="0C0C0C"/>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78"/>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lvl1pPr indent="-355600" lvl="0" marL="457200" marR="0" rtl="0" algn="l">
              <a:lnSpc>
                <a:spcPct val="90000"/>
              </a:lnSpc>
              <a:spcBef>
                <a:spcPts val="1200"/>
              </a:spcBef>
              <a:spcAft>
                <a:spcPts val="0"/>
              </a:spcAft>
              <a:buClr>
                <a:schemeClr val="accent1"/>
              </a:buClr>
              <a:buSzPts val="2000"/>
              <a:buFont typeface="Twentieth Century"/>
              <a:buChar char=" "/>
              <a:defRPr b="0" i="0" sz="2000" u="none" cap="none" strike="noStrike">
                <a:solidFill>
                  <a:schemeClr val="dk1"/>
                </a:solidFill>
                <a:latin typeface="Twentieth Century"/>
                <a:ea typeface="Twentieth Century"/>
                <a:cs typeface="Twentieth Century"/>
                <a:sym typeface="Twentieth Century"/>
              </a:defRPr>
            </a:lvl1pPr>
            <a:lvl2pPr indent="-330200" lvl="1" marL="914400" marR="0" rtl="0" algn="l">
              <a:lnSpc>
                <a:spcPct val="90000"/>
              </a:lnSpc>
              <a:spcBef>
                <a:spcPts val="200"/>
              </a:spcBef>
              <a:spcAft>
                <a:spcPts val="0"/>
              </a:spcAft>
              <a:buClr>
                <a:schemeClr val="accent1"/>
              </a:buClr>
              <a:buSzPts val="1600"/>
              <a:buFont typeface="Noto Sans Symbols"/>
              <a:buChar char="🢝"/>
              <a:defRPr b="0" i="0" sz="1600" u="none" cap="none" strike="noStrike">
                <a:solidFill>
                  <a:schemeClr val="dk1"/>
                </a:solidFill>
                <a:latin typeface="Twentieth Century"/>
                <a:ea typeface="Twentieth Century"/>
                <a:cs typeface="Twentieth Century"/>
                <a:sym typeface="Twentieth Century"/>
              </a:defRPr>
            </a:lvl2pPr>
            <a:lvl3pPr indent="-304800" lvl="2" marL="1371600" marR="0" rtl="0" algn="l">
              <a:lnSpc>
                <a:spcPct val="90000"/>
              </a:lnSpc>
              <a:spcBef>
                <a:spcPts val="400"/>
              </a:spcBef>
              <a:spcAft>
                <a:spcPts val="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3pPr>
            <a:lvl4pPr indent="-304800" lvl="3" marL="1828800" marR="0" rtl="0" algn="l">
              <a:lnSpc>
                <a:spcPct val="90000"/>
              </a:lnSpc>
              <a:spcBef>
                <a:spcPts val="400"/>
              </a:spcBef>
              <a:spcAft>
                <a:spcPts val="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4pPr>
            <a:lvl5pPr indent="-304800" lvl="4" marL="2286000" marR="0" rtl="0" algn="l">
              <a:lnSpc>
                <a:spcPct val="90000"/>
              </a:lnSpc>
              <a:spcBef>
                <a:spcPts val="400"/>
              </a:spcBef>
              <a:spcAft>
                <a:spcPts val="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5pPr>
            <a:lvl6pPr indent="-304800" lvl="5" marL="2743200" marR="0" rtl="0" algn="l">
              <a:lnSpc>
                <a:spcPct val="90000"/>
              </a:lnSpc>
              <a:spcBef>
                <a:spcPts val="400"/>
              </a:spcBef>
              <a:spcAft>
                <a:spcPts val="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6pPr>
            <a:lvl7pPr indent="-304800" lvl="6" marL="3200400" marR="0" rtl="0" algn="l">
              <a:lnSpc>
                <a:spcPct val="90000"/>
              </a:lnSpc>
              <a:spcBef>
                <a:spcPts val="400"/>
              </a:spcBef>
              <a:spcAft>
                <a:spcPts val="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7pPr>
            <a:lvl8pPr indent="-304800" lvl="7" marL="3657600" marR="0" rtl="0" algn="l">
              <a:lnSpc>
                <a:spcPct val="90000"/>
              </a:lnSpc>
              <a:spcBef>
                <a:spcPts val="400"/>
              </a:spcBef>
              <a:spcAft>
                <a:spcPts val="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8pPr>
            <a:lvl9pPr indent="-304800" lvl="8" marL="4114800" marR="0" rtl="0" algn="l">
              <a:lnSpc>
                <a:spcPct val="90000"/>
              </a:lnSpc>
              <a:spcBef>
                <a:spcPts val="400"/>
              </a:spcBef>
              <a:spcAft>
                <a:spcPts val="40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9pPr>
          </a:lstStyle>
          <a:p/>
        </p:txBody>
      </p:sp>
      <p:sp>
        <p:nvSpPr>
          <p:cNvPr id="12" name="Google Shape;12;p78"/>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0C0C0C"/>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78"/>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0C0C0C"/>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78"/>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spcAft>
                <a:spcPts val="0"/>
              </a:spcAft>
              <a:buNone/>
              <a:defRPr b="0" i="0" sz="1000" u="none" cap="none" strike="noStrike">
                <a:solidFill>
                  <a:srgbClr val="0C0C0C"/>
                </a:solidFill>
                <a:latin typeface="Twentieth Century"/>
                <a:ea typeface="Twentieth Century"/>
                <a:cs typeface="Twentieth Century"/>
                <a:sym typeface="Twentieth Century"/>
              </a:defRPr>
            </a:lvl1pPr>
            <a:lvl2pPr indent="0" lvl="1" marL="0" marR="0" rtl="0" algn="l">
              <a:spcBef>
                <a:spcPts val="0"/>
              </a:spcBef>
              <a:spcAft>
                <a:spcPts val="0"/>
              </a:spcAft>
              <a:buNone/>
              <a:defRPr b="0" i="0" sz="1000" u="none" cap="none" strike="noStrike">
                <a:solidFill>
                  <a:srgbClr val="0C0C0C"/>
                </a:solidFill>
                <a:latin typeface="Twentieth Century"/>
                <a:ea typeface="Twentieth Century"/>
                <a:cs typeface="Twentieth Century"/>
                <a:sym typeface="Twentieth Century"/>
              </a:defRPr>
            </a:lvl2pPr>
            <a:lvl3pPr indent="0" lvl="2" marL="0" marR="0" rtl="0" algn="l">
              <a:spcBef>
                <a:spcPts val="0"/>
              </a:spcBef>
              <a:spcAft>
                <a:spcPts val="0"/>
              </a:spcAft>
              <a:buNone/>
              <a:defRPr b="0" i="0" sz="1000" u="none" cap="none" strike="noStrike">
                <a:solidFill>
                  <a:srgbClr val="0C0C0C"/>
                </a:solidFill>
                <a:latin typeface="Twentieth Century"/>
                <a:ea typeface="Twentieth Century"/>
                <a:cs typeface="Twentieth Century"/>
                <a:sym typeface="Twentieth Century"/>
              </a:defRPr>
            </a:lvl3pPr>
            <a:lvl4pPr indent="0" lvl="3" marL="0" marR="0" rtl="0" algn="l">
              <a:spcBef>
                <a:spcPts val="0"/>
              </a:spcBef>
              <a:spcAft>
                <a:spcPts val="0"/>
              </a:spcAft>
              <a:buNone/>
              <a:defRPr b="0" i="0" sz="1000" u="none" cap="none" strike="noStrike">
                <a:solidFill>
                  <a:srgbClr val="0C0C0C"/>
                </a:solidFill>
                <a:latin typeface="Twentieth Century"/>
                <a:ea typeface="Twentieth Century"/>
                <a:cs typeface="Twentieth Century"/>
                <a:sym typeface="Twentieth Century"/>
              </a:defRPr>
            </a:lvl4pPr>
            <a:lvl5pPr indent="0" lvl="4" marL="0" marR="0" rtl="0" algn="l">
              <a:spcBef>
                <a:spcPts val="0"/>
              </a:spcBef>
              <a:spcAft>
                <a:spcPts val="0"/>
              </a:spcAft>
              <a:buNone/>
              <a:defRPr b="0" i="0" sz="1000" u="none" cap="none" strike="noStrike">
                <a:solidFill>
                  <a:srgbClr val="0C0C0C"/>
                </a:solidFill>
                <a:latin typeface="Twentieth Century"/>
                <a:ea typeface="Twentieth Century"/>
                <a:cs typeface="Twentieth Century"/>
                <a:sym typeface="Twentieth Century"/>
              </a:defRPr>
            </a:lvl5pPr>
            <a:lvl6pPr indent="0" lvl="5" marL="0" marR="0" rtl="0" algn="l">
              <a:spcBef>
                <a:spcPts val="0"/>
              </a:spcBef>
              <a:spcAft>
                <a:spcPts val="0"/>
              </a:spcAft>
              <a:buNone/>
              <a:defRPr b="0" i="0" sz="1000" u="none" cap="none" strike="noStrike">
                <a:solidFill>
                  <a:srgbClr val="0C0C0C"/>
                </a:solidFill>
                <a:latin typeface="Twentieth Century"/>
                <a:ea typeface="Twentieth Century"/>
                <a:cs typeface="Twentieth Century"/>
                <a:sym typeface="Twentieth Century"/>
              </a:defRPr>
            </a:lvl6pPr>
            <a:lvl7pPr indent="0" lvl="6" marL="0" marR="0" rtl="0" algn="l">
              <a:spcBef>
                <a:spcPts val="0"/>
              </a:spcBef>
              <a:spcAft>
                <a:spcPts val="0"/>
              </a:spcAft>
              <a:buNone/>
              <a:defRPr b="0" i="0" sz="1000" u="none" cap="none" strike="noStrike">
                <a:solidFill>
                  <a:srgbClr val="0C0C0C"/>
                </a:solidFill>
                <a:latin typeface="Twentieth Century"/>
                <a:ea typeface="Twentieth Century"/>
                <a:cs typeface="Twentieth Century"/>
                <a:sym typeface="Twentieth Century"/>
              </a:defRPr>
            </a:lvl7pPr>
            <a:lvl8pPr indent="0" lvl="7" marL="0" marR="0" rtl="0" algn="l">
              <a:spcBef>
                <a:spcPts val="0"/>
              </a:spcBef>
              <a:spcAft>
                <a:spcPts val="0"/>
              </a:spcAft>
              <a:buNone/>
              <a:defRPr b="0" i="0" sz="1000" u="none" cap="none" strike="noStrike">
                <a:solidFill>
                  <a:srgbClr val="0C0C0C"/>
                </a:solidFill>
                <a:latin typeface="Twentieth Century"/>
                <a:ea typeface="Twentieth Century"/>
                <a:cs typeface="Twentieth Century"/>
                <a:sym typeface="Twentieth Century"/>
              </a:defRPr>
            </a:lvl8pPr>
            <a:lvl9pPr indent="0" lvl="8" marL="0" marR="0" rtl="0" algn="l">
              <a:spcBef>
                <a:spcPts val="0"/>
              </a:spcBef>
              <a:spcAft>
                <a:spcPts val="0"/>
              </a:spcAft>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tr-TR"/>
              <a:t>‹#›</a:t>
            </a:fld>
            <a:endParaRPr/>
          </a:p>
        </p:txBody>
      </p:sp>
      <p:cxnSp>
        <p:nvCxnSpPr>
          <p:cNvPr id="15" name="Google Shape;15;p78"/>
          <p:cNvCxnSpPr/>
          <p:nvPr/>
        </p:nvCxnSpPr>
        <p:spPr>
          <a:xfrm rot="10800000">
            <a:off x="571500" y="826324"/>
            <a:ext cx="0" cy="914400"/>
          </a:xfrm>
          <a:prstGeom prst="straightConnector1">
            <a:avLst/>
          </a:prstGeom>
          <a:noFill/>
          <a:ln cap="flat" cmpd="sng" w="19050">
            <a:solidFill>
              <a:schemeClr val="accen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7.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1.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1.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2.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2.png"/><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5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38.png"/><Relationship Id="rId4" Type="http://schemas.openxmlformats.org/officeDocument/2006/relationships/image" Target="../media/image3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40.png"/><Relationship Id="rId4" Type="http://schemas.openxmlformats.org/officeDocument/2006/relationships/image" Target="../media/image4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hyperlink" Target="http://dosya.marmara.edu.tr/ikf/fakulte_genel/bds_duyuru.pdf"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46.gi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45.png"/><Relationship Id="rId4" Type="http://schemas.openxmlformats.org/officeDocument/2006/relationships/image" Target="../media/image4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51.png"/><Relationship Id="rId4" Type="http://schemas.openxmlformats.org/officeDocument/2006/relationships/image" Target="../media/image4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POPÜLASYON (KITLE, ANA KITLE, ANA KÜTLE, YIĞIN) </a:t>
            </a:r>
            <a:endParaRPr/>
          </a:p>
        </p:txBody>
      </p:sp>
      <p:sp>
        <p:nvSpPr>
          <p:cNvPr id="98" name="Google Shape;98;p1"/>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152400" lvl="0" marL="91440" rtl="0" algn="l">
              <a:lnSpc>
                <a:spcPct val="90000"/>
              </a:lnSpc>
              <a:spcBef>
                <a:spcPts val="0"/>
              </a:spcBef>
              <a:spcAft>
                <a:spcPts val="0"/>
              </a:spcAft>
              <a:buSzPts val="2400"/>
              <a:buChar char=" "/>
            </a:pPr>
            <a:r>
              <a:rPr lang="tr-TR" sz="2400"/>
              <a:t>Araştırma kapsamına giren, aynı özellikleri taşıyan birimlerin ya da bireylerin oluşturduğu topluluğa Popülasyon denir.</a:t>
            </a:r>
            <a:endParaRPr/>
          </a:p>
          <a:p>
            <a:pPr indent="-152400" lvl="0" marL="91440" rtl="0" algn="l">
              <a:lnSpc>
                <a:spcPct val="90000"/>
              </a:lnSpc>
              <a:spcBef>
                <a:spcPts val="1400"/>
              </a:spcBef>
              <a:spcAft>
                <a:spcPts val="0"/>
              </a:spcAft>
              <a:buSzPts val="2400"/>
              <a:buChar char=" "/>
            </a:pPr>
            <a:r>
              <a:rPr lang="tr-TR" sz="2400"/>
              <a:t>Kitlenin büyüklüğü araştırmanın özelliğine göre değişir. </a:t>
            </a:r>
            <a:endParaRPr/>
          </a:p>
          <a:p>
            <a:pPr indent="-152400" lvl="0" marL="91440" rtl="0" algn="l">
              <a:lnSpc>
                <a:spcPct val="90000"/>
              </a:lnSpc>
              <a:spcBef>
                <a:spcPts val="1400"/>
              </a:spcBef>
              <a:spcAft>
                <a:spcPts val="0"/>
              </a:spcAft>
              <a:buSzPts val="2400"/>
              <a:buChar char=" "/>
            </a:pPr>
            <a:r>
              <a:rPr lang="tr-TR" sz="2400"/>
              <a:t>Nüfus sayımı için kitle Türkiye’dir.</a:t>
            </a:r>
            <a:endParaRPr/>
          </a:p>
          <a:p>
            <a:pPr indent="-152400" lvl="0" marL="91440" rtl="0" algn="l">
              <a:lnSpc>
                <a:spcPct val="90000"/>
              </a:lnSpc>
              <a:spcBef>
                <a:spcPts val="1400"/>
              </a:spcBef>
              <a:spcAft>
                <a:spcPts val="0"/>
              </a:spcAft>
              <a:buSzPts val="2400"/>
              <a:buChar char=" "/>
            </a:pPr>
            <a:r>
              <a:rPr lang="tr-TR" sz="2400"/>
              <a:t>İstanbul’daki üniversite öğrencilerinin giderleri için Popülasyon bu şehirdeki tüm üniversite öğrencileridir(Balce ve Demir, 2007, s.3)</a:t>
            </a:r>
            <a:endParaRPr/>
          </a:p>
          <a:p>
            <a:pPr indent="0" lvl="0" marL="91440" rtl="0" algn="l">
              <a:lnSpc>
                <a:spcPct val="90000"/>
              </a:lnSpc>
              <a:spcBef>
                <a:spcPts val="1400"/>
              </a:spcBef>
              <a:spcAft>
                <a:spcPts val="0"/>
              </a:spcAft>
              <a:buSzPts val="2000"/>
              <a:buNone/>
            </a:pPr>
            <a:r>
              <a:t/>
            </a:r>
            <a:endParaRPr/>
          </a:p>
        </p:txBody>
      </p:sp>
      <p:pic>
        <p:nvPicPr>
          <p:cNvPr id="99" name="Google Shape;99;p1"/>
          <p:cNvPicPr preferRelativeResize="0"/>
          <p:nvPr/>
        </p:nvPicPr>
        <p:blipFill rotWithShape="1">
          <a:blip r:embed="rId3">
            <a:alphaModFix/>
          </a:blip>
          <a:srcRect b="0" l="0" r="0" t="0"/>
          <a:stretch/>
        </p:blipFill>
        <p:spPr>
          <a:xfrm>
            <a:off x="6804248" y="4509120"/>
            <a:ext cx="1781175" cy="1952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467544" y="429566"/>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ÖRNEKLEM VE ÖRNEKLEME</a:t>
            </a:r>
            <a:endParaRPr/>
          </a:p>
        </p:txBody>
      </p:sp>
      <p:sp>
        <p:nvSpPr>
          <p:cNvPr id="105" name="Google Shape;105;p2"/>
          <p:cNvSpPr txBox="1"/>
          <p:nvPr>
            <p:ph idx="1" type="body"/>
          </p:nvPr>
        </p:nvSpPr>
        <p:spPr>
          <a:xfrm>
            <a:off x="539552" y="2204864"/>
            <a:ext cx="8229600" cy="4569371"/>
          </a:xfrm>
          <a:prstGeom prst="rect">
            <a:avLst/>
          </a:prstGeom>
          <a:noFill/>
          <a:ln>
            <a:noFill/>
          </a:ln>
        </p:spPr>
        <p:txBody>
          <a:bodyPr anchorCtr="0" anchor="t" bIns="45700" lIns="45700" spcFirstLastPara="1" rIns="45700" wrap="square" tIns="45700">
            <a:normAutofit/>
          </a:bodyPr>
          <a:lstStyle/>
          <a:p>
            <a:pPr indent="-152400" lvl="0" marL="91440" rtl="0" algn="l">
              <a:lnSpc>
                <a:spcPct val="90000"/>
              </a:lnSpc>
              <a:spcBef>
                <a:spcPts val="0"/>
              </a:spcBef>
              <a:spcAft>
                <a:spcPts val="0"/>
              </a:spcAft>
              <a:buSzPts val="2400"/>
              <a:buChar char=" "/>
            </a:pPr>
            <a:r>
              <a:rPr lang="tr-TR" sz="2400"/>
              <a:t>Kitle büyüklüğüne bağlı olarak her zaman tüm birimler (bireyler) hakkında bilgi sahibi olmak mümkün değildir.</a:t>
            </a:r>
            <a:endParaRPr/>
          </a:p>
          <a:p>
            <a:pPr indent="-152400" lvl="0" marL="91440" rtl="0" algn="l">
              <a:lnSpc>
                <a:spcPct val="90000"/>
              </a:lnSpc>
              <a:spcBef>
                <a:spcPts val="1400"/>
              </a:spcBef>
              <a:spcAft>
                <a:spcPts val="0"/>
              </a:spcAft>
              <a:buSzPts val="2400"/>
              <a:buChar char=" "/>
            </a:pPr>
            <a:r>
              <a:rPr lang="tr-TR" sz="2400"/>
              <a:t> Bundan dolayı geniş kitlelerde araştırmalar; zaman, maliyet, personel, ulaşım, vb. nedenlerden dolayı tüm birimler yerine daha az sayıdaki birimler seçilerek yürütülür.</a:t>
            </a:r>
            <a:endParaRPr/>
          </a:p>
          <a:p>
            <a:pPr indent="-152400" lvl="0" marL="91440" rtl="0" algn="l">
              <a:lnSpc>
                <a:spcPct val="90000"/>
              </a:lnSpc>
              <a:spcBef>
                <a:spcPts val="1400"/>
              </a:spcBef>
              <a:spcAft>
                <a:spcPts val="0"/>
              </a:spcAft>
              <a:buSzPts val="2400"/>
              <a:buChar char=" "/>
            </a:pPr>
            <a:r>
              <a:rPr lang="tr-TR" sz="2400"/>
              <a:t>Bir kitleden, belirli yöntemler kullanılarak seçilen aynı özellikleri taşıyan bir kısım bireyinoluşturduğu topluluğa ÖRNEKLEM denir</a:t>
            </a:r>
            <a:endParaRPr/>
          </a:p>
        </p:txBody>
      </p:sp>
      <p:pic>
        <p:nvPicPr>
          <p:cNvPr id="106" name="Google Shape;106;p2"/>
          <p:cNvPicPr preferRelativeResize="0"/>
          <p:nvPr/>
        </p:nvPicPr>
        <p:blipFill rotWithShape="1">
          <a:blip r:embed="rId3">
            <a:alphaModFix/>
          </a:blip>
          <a:srcRect b="0" l="0" r="0" t="0"/>
          <a:stretch/>
        </p:blipFill>
        <p:spPr>
          <a:xfrm>
            <a:off x="6624374" y="404664"/>
            <a:ext cx="2505075" cy="1609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ÖRNEKLEME</a:t>
            </a:r>
            <a:endParaRPr/>
          </a:p>
        </p:txBody>
      </p:sp>
      <p:sp>
        <p:nvSpPr>
          <p:cNvPr id="112" name="Google Shape;112;p3"/>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b="1" i="1" lang="tr-TR"/>
              <a:t>Basit Tesadüfi Örnekleme. </a:t>
            </a:r>
            <a:r>
              <a:rPr lang="tr-TR"/>
              <a:t>Basit rastgele örnekleme de denilen tesadüfi örneklemede, evrendeki öğelerin her olası birleşiminin, örneklem içinde yer alması için eşit bir ihtimali vardır (Kerlinger &amp; Lee, 1999). Bu yöntemin kullanılabilmesi için ele alınan problemlerle ilgili bilgilerin evrene göre benzeşik (homojen) olması gerekir. Basit tesadüfi örneklemede öncelikle evrenin tüm öğelerini içeren bir örneklem çerçevesi yapılmalıdır </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b="1" i="1" lang="tr-TR"/>
              <a:t>Sistematik Örnekleme.</a:t>
            </a:r>
            <a:r>
              <a:rPr lang="tr-TR"/>
              <a:t>Sistematik örneklemede, örneklem için ihtiyaç duyulan öğelerin tamamı sistematik olarak örnekleme çerçevesinden seçilmektedir (Creswell &amp; Clark, 2016). Burada ilk rakam/öge rastgele seçilir, diğerleri belirlenen sistem çerçevesinde belirlenir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4"/>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ÖRNEKLEME</a:t>
            </a:r>
            <a:endParaRPr/>
          </a:p>
        </p:txBody>
      </p:sp>
      <p:sp>
        <p:nvSpPr>
          <p:cNvPr id="118" name="Google Shape;118;p4"/>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b="1" lang="tr-TR"/>
              <a:t>Tabakalı Örnekleme: </a:t>
            </a:r>
            <a:r>
              <a:rPr lang="tr-TR"/>
              <a:t>Tabakalı örnekleme, örnekleme hatasını azaltarak evrenin daha fazla temsil edilmesini sağlamaktadır. Bu örnekleme yönteminde, örnekleme hatasını azaltabilmek için, büyük bir evren gereklidir. Dolayısıyla evrenden çekilecek örneklem de çok sayıda olmaktadır. Çok sayıda örneklem ile çalışılmak istenmediği durumlarda ise homojen evrenler kullanılmalıdır (</a:t>
            </a:r>
            <a:endParaRPr/>
          </a:p>
        </p:txBody>
      </p:sp>
      <p:pic>
        <p:nvPicPr>
          <p:cNvPr id="119" name="Google Shape;119;p4"/>
          <p:cNvPicPr preferRelativeResize="0"/>
          <p:nvPr/>
        </p:nvPicPr>
        <p:blipFill rotWithShape="1">
          <a:blip r:embed="rId3">
            <a:alphaModFix/>
          </a:blip>
          <a:srcRect b="0" l="0" r="0" t="0"/>
          <a:stretch/>
        </p:blipFill>
        <p:spPr>
          <a:xfrm>
            <a:off x="5293275" y="4247831"/>
            <a:ext cx="2764875" cy="203415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t/>
            </a:r>
            <a:endParaRPr/>
          </a:p>
        </p:txBody>
      </p:sp>
      <p:sp>
        <p:nvSpPr>
          <p:cNvPr id="125" name="Google Shape;125;p5"/>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b="1" lang="tr-TR"/>
              <a:t>Amaçlı örnekleme: </a:t>
            </a:r>
            <a:r>
              <a:rPr lang="tr-TR"/>
              <a:t>Derinlemesine araştırma yapabilmek amacıyla çalışmanın amacı bağlamında bilgi açısından zengin durumların seçilmesidir.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AMAÇLI ÖRNEKLEME</a:t>
            </a:r>
            <a:endParaRPr/>
          </a:p>
        </p:txBody>
      </p:sp>
      <p:sp>
        <p:nvSpPr>
          <p:cNvPr id="131" name="Google Shape;131;p6"/>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•Aykırı durum örnekleme. Örneklemin problemle ilgili olarak birbirine aykırı (uç) durumlardan, örneklerden oluşturulmasıdır. </a:t>
            </a:r>
            <a:endParaRPr/>
          </a:p>
          <a:p>
            <a:pPr indent="-127000" lvl="0" marL="91440" rtl="0" algn="l">
              <a:lnSpc>
                <a:spcPct val="90000"/>
              </a:lnSpc>
              <a:spcBef>
                <a:spcPts val="1400"/>
              </a:spcBef>
              <a:spcAft>
                <a:spcPts val="0"/>
              </a:spcAft>
              <a:buSzPts val="2000"/>
              <a:buChar char=" "/>
            </a:pPr>
            <a:r>
              <a:rPr lang="tr-TR"/>
              <a:t>•Maksimum çeşitlilik örnekleme. Örneklemin problemle ilgili olarak kendi içinde benzeşik farklı durumlardan oluşturulmasıdır. </a:t>
            </a:r>
            <a:endParaRPr/>
          </a:p>
          <a:p>
            <a:pPr indent="-127000" lvl="0" marL="91440" rtl="0" algn="l">
              <a:lnSpc>
                <a:spcPct val="90000"/>
              </a:lnSpc>
              <a:spcBef>
                <a:spcPts val="1400"/>
              </a:spcBef>
              <a:spcAft>
                <a:spcPts val="0"/>
              </a:spcAft>
              <a:buSzPts val="2000"/>
              <a:buChar char=" "/>
            </a:pPr>
            <a:r>
              <a:rPr lang="tr-TR"/>
              <a:t>•Benzeşik örnekleme. Örneklemin araştırmanın problemi ilgili olarak evrende yer alan benzeşik bir alt grubundan ya da durumundan oluşturulmasıdır</a:t>
            </a:r>
            <a:endParaRPr/>
          </a:p>
        </p:txBody>
      </p:sp>
      <p:pic>
        <p:nvPicPr>
          <p:cNvPr id="132" name="Google Shape;132;p6"/>
          <p:cNvPicPr preferRelativeResize="0"/>
          <p:nvPr/>
        </p:nvPicPr>
        <p:blipFill rotWithShape="1">
          <a:blip r:embed="rId3">
            <a:alphaModFix/>
          </a:blip>
          <a:srcRect b="0" l="0" r="0" t="0"/>
          <a:stretch/>
        </p:blipFill>
        <p:spPr>
          <a:xfrm>
            <a:off x="6070701" y="4797152"/>
            <a:ext cx="1971675" cy="1428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7"/>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DENEK SAYISI</a:t>
            </a:r>
            <a:endParaRPr/>
          </a:p>
        </p:txBody>
      </p:sp>
      <p:sp>
        <p:nvSpPr>
          <p:cNvPr id="138" name="Google Shape;138;p7"/>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Kitle ya da örneklemde yer alan her birime gözlem ya da denek denir. Gözlem (ya da denek) sayısı aşağıdaki biçimde simgeleştirilmektedir. </a:t>
            </a:r>
            <a:endParaRPr/>
          </a:p>
          <a:p>
            <a:pPr indent="-127000" lvl="0" marL="91440" rtl="0" algn="l">
              <a:lnSpc>
                <a:spcPct val="90000"/>
              </a:lnSpc>
              <a:spcBef>
                <a:spcPts val="1400"/>
              </a:spcBef>
              <a:spcAft>
                <a:spcPts val="0"/>
              </a:spcAft>
              <a:buSzPts val="2000"/>
              <a:buChar char=" "/>
            </a:pPr>
            <a:r>
              <a:rPr lang="tr-TR"/>
              <a:t>Kitledeki Gözlem Sayısı : N</a:t>
            </a:r>
            <a:endParaRPr/>
          </a:p>
          <a:p>
            <a:pPr indent="-127000" lvl="0" marL="91440" rtl="0" algn="l">
              <a:lnSpc>
                <a:spcPct val="90000"/>
              </a:lnSpc>
              <a:spcBef>
                <a:spcPts val="1400"/>
              </a:spcBef>
              <a:spcAft>
                <a:spcPts val="0"/>
              </a:spcAft>
              <a:buSzPts val="2000"/>
              <a:buChar char=" "/>
            </a:pPr>
            <a:r>
              <a:rPr lang="tr-TR"/>
              <a:t>Örneklemdeki Gözlem Sayısı: 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8"/>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t/>
            </a:r>
            <a:endParaRPr/>
          </a:p>
        </p:txBody>
      </p:sp>
      <p:sp>
        <p:nvSpPr>
          <p:cNvPr id="144" name="Google Shape;144;p8"/>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0" lvl="0" marL="91440" rtl="0" algn="l">
              <a:lnSpc>
                <a:spcPct val="90000"/>
              </a:lnSpc>
              <a:spcBef>
                <a:spcPts val="0"/>
              </a:spcBef>
              <a:spcAft>
                <a:spcPts val="0"/>
              </a:spcAft>
              <a:buSzPts val="2000"/>
              <a:buNone/>
            </a:pPr>
            <a:r>
              <a:t/>
            </a:r>
            <a:endParaRPr/>
          </a:p>
        </p:txBody>
      </p:sp>
      <p:pic>
        <p:nvPicPr>
          <p:cNvPr id="145" name="Google Shape;145;p8"/>
          <p:cNvPicPr preferRelativeResize="0"/>
          <p:nvPr/>
        </p:nvPicPr>
        <p:blipFill rotWithShape="1">
          <a:blip r:embed="rId3">
            <a:alphaModFix/>
          </a:blip>
          <a:srcRect b="0" l="0" r="0" t="0"/>
          <a:stretch/>
        </p:blipFill>
        <p:spPr>
          <a:xfrm>
            <a:off x="607885" y="908720"/>
            <a:ext cx="7610475" cy="4895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9"/>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ORTALAMA</a:t>
            </a:r>
            <a:endParaRPr/>
          </a:p>
        </p:txBody>
      </p:sp>
      <p:sp>
        <p:nvSpPr>
          <p:cNvPr id="151" name="Google Shape;151;p9"/>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0" lvl="0" marL="91440" rtl="0" algn="l">
              <a:lnSpc>
                <a:spcPct val="90000"/>
              </a:lnSpc>
              <a:spcBef>
                <a:spcPts val="0"/>
              </a:spcBef>
              <a:spcAft>
                <a:spcPts val="0"/>
              </a:spcAft>
              <a:buSzPts val="2000"/>
              <a:buNone/>
            </a:pPr>
            <a:r>
              <a:t/>
            </a:r>
            <a:endParaRPr/>
          </a:p>
        </p:txBody>
      </p:sp>
      <p:pic>
        <p:nvPicPr>
          <p:cNvPr id="152" name="Google Shape;152;p9"/>
          <p:cNvPicPr preferRelativeResize="0"/>
          <p:nvPr/>
        </p:nvPicPr>
        <p:blipFill rotWithShape="1">
          <a:blip r:embed="rId3">
            <a:alphaModFix/>
          </a:blip>
          <a:srcRect b="0" l="0" r="0" t="0"/>
          <a:stretch/>
        </p:blipFill>
        <p:spPr>
          <a:xfrm>
            <a:off x="1400563" y="3354332"/>
            <a:ext cx="3461865" cy="824254"/>
          </a:xfrm>
          <a:prstGeom prst="rect">
            <a:avLst/>
          </a:prstGeom>
          <a:noFill/>
          <a:ln>
            <a:noFill/>
          </a:ln>
        </p:spPr>
      </p:pic>
      <p:pic>
        <p:nvPicPr>
          <p:cNvPr id="153" name="Google Shape;153;p9"/>
          <p:cNvPicPr preferRelativeResize="0"/>
          <p:nvPr/>
        </p:nvPicPr>
        <p:blipFill rotWithShape="1">
          <a:blip r:embed="rId4">
            <a:alphaModFix/>
          </a:blip>
          <a:srcRect b="47916" l="21435" r="54788" t="45417"/>
          <a:stretch/>
        </p:blipFill>
        <p:spPr>
          <a:xfrm>
            <a:off x="768096" y="2204864"/>
            <a:ext cx="4094332" cy="64541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0"/>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ORTANCA DEĞER (MEDİAN)</a:t>
            </a:r>
            <a:endParaRPr/>
          </a:p>
        </p:txBody>
      </p:sp>
      <p:sp>
        <p:nvSpPr>
          <p:cNvPr id="159" name="Google Shape;159;p10"/>
          <p:cNvSpPr txBox="1"/>
          <p:nvPr>
            <p:ph idx="1" type="body"/>
          </p:nvPr>
        </p:nvSpPr>
        <p:spPr>
          <a:xfrm>
            <a:off x="914400" y="1593304"/>
            <a:ext cx="7772400" cy="4572000"/>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Verilerimizi büyükten küçüğe doğru sıraladığımızda ortadaki değere </a:t>
            </a:r>
            <a:r>
              <a:rPr b="1" lang="tr-TR"/>
              <a:t>ortanca </a:t>
            </a:r>
            <a:r>
              <a:rPr lang="tr-TR"/>
              <a:t>denir. </a:t>
            </a:r>
            <a:endParaRPr/>
          </a:p>
          <a:p>
            <a:pPr indent="-127000" lvl="0" marL="91440" rtl="0" algn="l">
              <a:lnSpc>
                <a:spcPct val="90000"/>
              </a:lnSpc>
              <a:spcBef>
                <a:spcPts val="1400"/>
              </a:spcBef>
              <a:spcAft>
                <a:spcPts val="0"/>
              </a:spcAft>
              <a:buSzPts val="2000"/>
              <a:buChar char=" "/>
            </a:pPr>
            <a:r>
              <a:rPr lang="tr-TR"/>
              <a:t>Birim sayısının tek veya çift olmasına göre medyanın bulunması değişir.</a:t>
            </a:r>
            <a:endParaRPr/>
          </a:p>
          <a:p>
            <a:pPr indent="-127000" lvl="0" marL="91440" rtl="0" algn="l">
              <a:lnSpc>
                <a:spcPct val="90000"/>
              </a:lnSpc>
              <a:spcBef>
                <a:spcPts val="1400"/>
              </a:spcBef>
              <a:spcAft>
                <a:spcPts val="0"/>
              </a:spcAft>
              <a:buSzPts val="2000"/>
              <a:buChar char=" "/>
            </a:pPr>
            <a:r>
              <a:rPr lang="tr-TR"/>
              <a:t>Eğer veri adedimiz çift sayı ise ortadaki iki değerin ortalaması alınır. </a:t>
            </a:r>
            <a:endParaRPr/>
          </a:p>
          <a:p>
            <a:pPr indent="-127000" lvl="0" marL="91440" rtl="0" algn="l">
              <a:lnSpc>
                <a:spcPct val="90000"/>
              </a:lnSpc>
              <a:spcBef>
                <a:spcPts val="1400"/>
              </a:spcBef>
              <a:spcAft>
                <a:spcPts val="0"/>
              </a:spcAft>
              <a:buSzPts val="2000"/>
              <a:buChar char=" "/>
            </a:pPr>
            <a:r>
              <a:rPr lang="tr-TR"/>
              <a:t>Aşırı uç değerlerden etkilenmez.</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1"/>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ORTANCA DEĞER (MEDİAN)</a:t>
            </a:r>
            <a:endParaRPr/>
          </a:p>
        </p:txBody>
      </p:sp>
      <p:sp>
        <p:nvSpPr>
          <p:cNvPr id="165" name="Google Shape;165;p11"/>
          <p:cNvSpPr txBox="1"/>
          <p:nvPr>
            <p:ph idx="1" type="body"/>
          </p:nvPr>
        </p:nvSpPr>
        <p:spPr>
          <a:xfrm>
            <a:off x="914400" y="1593304"/>
            <a:ext cx="7772400" cy="4572000"/>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Örnek:</a:t>
            </a:r>
            <a:endParaRPr/>
          </a:p>
        </p:txBody>
      </p:sp>
      <p:pic>
        <p:nvPicPr>
          <p:cNvPr id="166" name="Google Shape;166;p11"/>
          <p:cNvPicPr preferRelativeResize="0"/>
          <p:nvPr/>
        </p:nvPicPr>
        <p:blipFill rotWithShape="1">
          <a:blip r:embed="rId3">
            <a:alphaModFix/>
          </a:blip>
          <a:srcRect b="50331" l="27057" r="21640" t="36875"/>
          <a:stretch/>
        </p:blipFill>
        <p:spPr>
          <a:xfrm>
            <a:off x="755576" y="2300729"/>
            <a:ext cx="8208912" cy="1200279"/>
          </a:xfrm>
          <a:prstGeom prst="rect">
            <a:avLst/>
          </a:prstGeom>
          <a:noFill/>
          <a:ln>
            <a:noFill/>
          </a:ln>
        </p:spPr>
      </p:pic>
      <p:pic>
        <p:nvPicPr>
          <p:cNvPr id="167" name="Google Shape;167;p11"/>
          <p:cNvPicPr preferRelativeResize="0"/>
          <p:nvPr/>
        </p:nvPicPr>
        <p:blipFill rotWithShape="1">
          <a:blip r:embed="rId3">
            <a:alphaModFix/>
          </a:blip>
          <a:srcRect b="33958" l="27057" r="21640" t="49562"/>
          <a:stretch/>
        </p:blipFill>
        <p:spPr>
          <a:xfrm>
            <a:off x="827584" y="4221088"/>
            <a:ext cx="8208912" cy="154605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2"/>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TEPE NOKTASI (MOD)</a:t>
            </a:r>
            <a:endParaRPr/>
          </a:p>
        </p:txBody>
      </p:sp>
      <p:sp>
        <p:nvSpPr>
          <p:cNvPr id="173" name="Google Shape;173;p12"/>
          <p:cNvSpPr txBox="1"/>
          <p:nvPr>
            <p:ph idx="1" type="body"/>
          </p:nvPr>
        </p:nvSpPr>
        <p:spPr>
          <a:xfrm>
            <a:off x="914400" y="1447800"/>
            <a:ext cx="7772400" cy="5005536"/>
          </a:xfrm>
          <a:prstGeom prst="rect">
            <a:avLst/>
          </a:prstGeom>
          <a:noFill/>
          <a:ln>
            <a:noFill/>
          </a:ln>
        </p:spPr>
        <p:txBody>
          <a:bodyPr anchorCtr="0" anchor="t" bIns="45700" lIns="45700" spcFirstLastPara="1" rIns="45700" wrap="square" tIns="45700">
            <a:normAutofit/>
          </a:bodyPr>
          <a:lstStyle/>
          <a:p>
            <a:pPr indent="-127000" lvl="0" marL="91440" rtl="0" algn="l">
              <a:lnSpc>
                <a:spcPct val="170000"/>
              </a:lnSpc>
              <a:spcBef>
                <a:spcPts val="0"/>
              </a:spcBef>
              <a:spcAft>
                <a:spcPts val="0"/>
              </a:spcAft>
              <a:buSzPts val="2000"/>
              <a:buChar char=" "/>
            </a:pPr>
            <a:r>
              <a:rPr lang="tr-TR"/>
              <a:t>Sık kullanılmayan bir merkezi dağılım ölçütüdür. </a:t>
            </a:r>
            <a:endParaRPr/>
          </a:p>
          <a:p>
            <a:pPr indent="-127000" lvl="0" marL="91440" rtl="0" algn="l">
              <a:lnSpc>
                <a:spcPct val="170000"/>
              </a:lnSpc>
              <a:spcBef>
                <a:spcPts val="1400"/>
              </a:spcBef>
              <a:spcAft>
                <a:spcPts val="0"/>
              </a:spcAft>
              <a:buSzPts val="2000"/>
              <a:buChar char=" "/>
            </a:pPr>
            <a:r>
              <a:rPr lang="tr-TR"/>
              <a:t>Bir veri setinde </a:t>
            </a:r>
            <a:r>
              <a:rPr b="1" lang="tr-TR"/>
              <a:t>en çok tekrarlanan değere </a:t>
            </a:r>
            <a:r>
              <a:rPr lang="tr-TR"/>
              <a:t>tepe değer (mod) denir</a:t>
            </a:r>
            <a:endParaRPr/>
          </a:p>
          <a:p>
            <a:pPr indent="-127000" lvl="0" marL="91440" rtl="0" algn="l">
              <a:lnSpc>
                <a:spcPct val="170000"/>
              </a:lnSpc>
              <a:spcBef>
                <a:spcPts val="1400"/>
              </a:spcBef>
              <a:spcAft>
                <a:spcPts val="0"/>
              </a:spcAft>
              <a:buSzPts val="2000"/>
              <a:buChar char=" "/>
            </a:pPr>
            <a:r>
              <a:rPr lang="tr-TR"/>
              <a:t>Birimlerin büyüklük sırasına konulması tepe değerin bulunmasında kolaylık sağlar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3"/>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TEPE NOKTASI (MOD)</a:t>
            </a:r>
            <a:endParaRPr/>
          </a:p>
        </p:txBody>
      </p:sp>
      <p:sp>
        <p:nvSpPr>
          <p:cNvPr id="179" name="Google Shape;179;p13"/>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127000" lvl="0" marL="91440" rtl="0" algn="l">
              <a:lnSpc>
                <a:spcPct val="200000"/>
              </a:lnSpc>
              <a:spcBef>
                <a:spcPts val="0"/>
              </a:spcBef>
              <a:spcAft>
                <a:spcPts val="0"/>
              </a:spcAft>
              <a:buSzPts val="2000"/>
              <a:buChar char=" "/>
            </a:pPr>
            <a:r>
              <a:rPr lang="tr-TR"/>
              <a:t>Örnek:</a:t>
            </a:r>
            <a:endParaRPr/>
          </a:p>
        </p:txBody>
      </p:sp>
      <p:pic>
        <p:nvPicPr>
          <p:cNvPr id="180" name="Google Shape;180;p13"/>
          <p:cNvPicPr preferRelativeResize="0"/>
          <p:nvPr/>
        </p:nvPicPr>
        <p:blipFill rotWithShape="1">
          <a:blip r:embed="rId3">
            <a:alphaModFix/>
          </a:blip>
          <a:srcRect b="54636" l="26978" r="24334" t="32292"/>
          <a:stretch/>
        </p:blipFill>
        <p:spPr>
          <a:xfrm>
            <a:off x="1187624" y="2840293"/>
            <a:ext cx="7488832" cy="18848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4"/>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b="1" lang="tr-TR"/>
              <a:t>ARALIK (RANGE)</a:t>
            </a:r>
            <a:endParaRPr/>
          </a:p>
        </p:txBody>
      </p:sp>
      <p:sp>
        <p:nvSpPr>
          <p:cNvPr id="186" name="Google Shape;186;p14"/>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Verilerimizin en büyük ve en küçük değeri arasındaki farka </a:t>
            </a:r>
            <a:r>
              <a:rPr b="1" lang="tr-TR"/>
              <a:t>range </a:t>
            </a:r>
            <a:r>
              <a:rPr lang="tr-TR"/>
              <a:t>denir. </a:t>
            </a:r>
            <a:endParaRPr/>
          </a:p>
          <a:p>
            <a:pPr indent="-127000" lvl="0" marL="91440" rtl="0" algn="l">
              <a:lnSpc>
                <a:spcPct val="90000"/>
              </a:lnSpc>
              <a:spcBef>
                <a:spcPts val="2400"/>
              </a:spcBef>
              <a:spcAft>
                <a:spcPts val="0"/>
              </a:spcAft>
              <a:buSzPts val="2000"/>
              <a:buChar char=" "/>
            </a:pPr>
            <a:r>
              <a:rPr lang="tr-TR"/>
              <a:t>Aralık yerine genelde en küçük (minimum) ve en büyük (maximum) değerler verilir. </a:t>
            </a:r>
            <a:endParaRPr/>
          </a:p>
          <a:p>
            <a:pPr indent="-127000" lvl="0" marL="91440" rtl="0" algn="l">
              <a:lnSpc>
                <a:spcPct val="90000"/>
              </a:lnSpc>
              <a:spcBef>
                <a:spcPts val="2400"/>
              </a:spcBef>
              <a:spcAft>
                <a:spcPts val="0"/>
              </a:spcAft>
              <a:buSzPts val="2000"/>
              <a:buChar char=" "/>
            </a:pPr>
            <a:r>
              <a:rPr lang="tr-TR"/>
              <a:t>Uç değerlerimizin fazla olması halinde aralık ölçütünün yeterince güvenilir olmayacağına dikkat edilmelidir.</a:t>
            </a:r>
            <a:endParaRPr/>
          </a:p>
          <a:p>
            <a:pPr indent="0" lvl="0" marL="0" rtl="0" algn="l">
              <a:lnSpc>
                <a:spcPct val="90000"/>
              </a:lnSpc>
              <a:spcBef>
                <a:spcPts val="2400"/>
              </a:spcBef>
              <a:spcAft>
                <a:spcPts val="0"/>
              </a:spcAft>
              <a:buSzPts val="2000"/>
              <a:buNone/>
            </a:pPr>
            <a:r>
              <a:rPr lang="tr-TR"/>
              <a:t>    </a:t>
            </a:r>
            <a:r>
              <a:rPr i="1" lang="tr-TR"/>
              <a:t>R = En büyük değer – En küçük değer</a:t>
            </a:r>
            <a:endParaRPr/>
          </a:p>
          <a:p>
            <a:pPr indent="0" lvl="0" marL="0" rtl="0" algn="l">
              <a:lnSpc>
                <a:spcPct val="90000"/>
              </a:lnSpc>
              <a:spcBef>
                <a:spcPts val="2400"/>
              </a:spcBef>
              <a:spcAft>
                <a:spcPts val="0"/>
              </a:spcAft>
              <a:buSzPts val="2000"/>
              <a:buNone/>
            </a:pPr>
            <a:r>
              <a:rPr lang="tr-TR"/>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5"/>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PERSANTIL (YÜZDELIK VE ÇEYREKLIK)</a:t>
            </a:r>
            <a:endParaRPr/>
          </a:p>
        </p:txBody>
      </p:sp>
      <p:sp>
        <p:nvSpPr>
          <p:cNvPr id="192" name="Google Shape;192;p15"/>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127000" lvl="0" marL="91440" rtl="0" algn="l">
              <a:lnSpc>
                <a:spcPct val="150000"/>
              </a:lnSpc>
              <a:spcBef>
                <a:spcPts val="0"/>
              </a:spcBef>
              <a:spcAft>
                <a:spcPts val="0"/>
              </a:spcAft>
              <a:buSzPts val="2000"/>
              <a:buChar char=" "/>
            </a:pPr>
            <a:r>
              <a:rPr lang="tr-TR"/>
              <a:t>Yüzdelik: Veri 100 eşit parçaya ayrılır. (Y1, Y2…Y99)</a:t>
            </a:r>
            <a:endParaRPr/>
          </a:p>
          <a:p>
            <a:pPr indent="-127000" lvl="0" marL="91440" rtl="0" algn="l">
              <a:lnSpc>
                <a:spcPct val="150000"/>
              </a:lnSpc>
              <a:spcBef>
                <a:spcPts val="1400"/>
              </a:spcBef>
              <a:spcAft>
                <a:spcPts val="0"/>
              </a:spcAft>
              <a:buSzPts val="2000"/>
              <a:buChar char=" "/>
            </a:pPr>
            <a:r>
              <a:rPr lang="tr-TR"/>
              <a:t>Verilerimizi küçükten büyüğe doğru sıraladığımızda veri adedinin %1’inin bulunduğu kısma 1. persantil, yüzde 50’sinin bulunduğu sınıra 50. persantil denir. </a:t>
            </a:r>
            <a:endParaRPr/>
          </a:p>
          <a:p>
            <a:pPr indent="-274320" lvl="2" marL="548640" rtl="0" algn="l">
              <a:lnSpc>
                <a:spcPct val="150000"/>
              </a:lnSpc>
              <a:spcBef>
                <a:spcPts val="780"/>
              </a:spcBef>
              <a:spcAft>
                <a:spcPts val="0"/>
              </a:spcAft>
              <a:buClr>
                <a:schemeClr val="accent1"/>
              </a:buClr>
              <a:buSzPts val="1200"/>
              <a:buChar char="🢝"/>
            </a:pPr>
            <a:r>
              <a:rPr lang="tr-TR"/>
              <a:t>Bir sınavdan 81 almak %81’lik dilime girildiği anlamına gelmez ama alınan not sizi Y70’lik dilime koymuşsa öğrencilerin %30’u sizden daha yüksek not almış anlamına gelir.</a:t>
            </a:r>
            <a:endParaRPr/>
          </a:p>
          <a:p>
            <a:pPr indent="0" lvl="0" marL="91440" rtl="0" algn="l">
              <a:lnSpc>
                <a:spcPct val="150000"/>
              </a:lnSpc>
              <a:spcBef>
                <a:spcPts val="1600"/>
              </a:spcBef>
              <a:spcAft>
                <a:spcPts val="0"/>
              </a:spcAft>
              <a:buSzPts val="2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6"/>
          <p:cNvSpPr txBox="1"/>
          <p:nvPr>
            <p:ph type="title"/>
          </p:nvPr>
        </p:nvSpPr>
        <p:spPr>
          <a:xfrm>
            <a:off x="467544" y="188640"/>
            <a:ext cx="7772400" cy="95436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ÇEYREKLIKLER</a:t>
            </a:r>
            <a:endParaRPr/>
          </a:p>
        </p:txBody>
      </p:sp>
      <p:sp>
        <p:nvSpPr>
          <p:cNvPr id="198" name="Google Shape;198;p16"/>
          <p:cNvSpPr txBox="1"/>
          <p:nvPr>
            <p:ph idx="1" type="body"/>
          </p:nvPr>
        </p:nvSpPr>
        <p:spPr>
          <a:xfrm>
            <a:off x="467544" y="1340768"/>
            <a:ext cx="8352928" cy="4572000"/>
          </a:xfrm>
          <a:prstGeom prst="rect">
            <a:avLst/>
          </a:prstGeom>
          <a:noFill/>
          <a:ln>
            <a:noFill/>
          </a:ln>
        </p:spPr>
        <p:txBody>
          <a:bodyPr anchorCtr="0" anchor="t" bIns="45700" lIns="45700" spcFirstLastPara="1" rIns="45700" wrap="square" tIns="45700">
            <a:normAutofit/>
          </a:bodyPr>
          <a:lstStyle/>
          <a:p>
            <a:pPr indent="-152400" lvl="0" marL="91440" rtl="0" algn="l">
              <a:lnSpc>
                <a:spcPct val="150000"/>
              </a:lnSpc>
              <a:spcBef>
                <a:spcPts val="0"/>
              </a:spcBef>
              <a:spcAft>
                <a:spcPts val="0"/>
              </a:spcAft>
              <a:buSzPts val="2400"/>
              <a:buChar char=" "/>
            </a:pPr>
            <a:r>
              <a:rPr lang="tr-TR" sz="2400"/>
              <a:t>Örnek: </a:t>
            </a:r>
            <a:endParaRPr/>
          </a:p>
          <a:p>
            <a:pPr indent="-152400" lvl="0" marL="91440" rtl="0" algn="l">
              <a:lnSpc>
                <a:spcPct val="150000"/>
              </a:lnSpc>
              <a:spcBef>
                <a:spcPts val="1400"/>
              </a:spcBef>
              <a:spcAft>
                <a:spcPts val="0"/>
              </a:spcAft>
              <a:buSzPts val="2400"/>
              <a:buChar char=" "/>
            </a:pPr>
            <a:r>
              <a:rPr lang="tr-TR" sz="2400"/>
              <a:t>İlaçla tedavi edilen 8 hastanın iyileşme süreleri gün olarak aşağıda verilmiştir.  Çeyrek değerleri hesaplayınız.</a:t>
            </a:r>
            <a:endParaRPr/>
          </a:p>
          <a:p>
            <a:pPr indent="0" lvl="0" marL="0" rtl="0" algn="l">
              <a:lnSpc>
                <a:spcPct val="150000"/>
              </a:lnSpc>
              <a:spcBef>
                <a:spcPts val="1400"/>
              </a:spcBef>
              <a:spcAft>
                <a:spcPts val="0"/>
              </a:spcAft>
              <a:buSzPts val="2400"/>
              <a:buNone/>
            </a:pPr>
            <a:r>
              <a:rPr lang="tr-TR" sz="2400"/>
              <a:t>    30, 20, 24, 40, 65, 70, 10, 62</a:t>
            </a:r>
            <a:endParaRPr/>
          </a:p>
          <a:p>
            <a:pPr indent="0" lvl="1" marL="274320" rtl="0" algn="l">
              <a:lnSpc>
                <a:spcPct val="150000"/>
              </a:lnSpc>
              <a:spcBef>
                <a:spcPts val="400"/>
              </a:spcBef>
              <a:spcAft>
                <a:spcPts val="0"/>
              </a:spcAft>
              <a:buSzPts val="1600"/>
              <a:buNone/>
            </a:pPr>
            <a:r>
              <a:rPr lang="tr-TR"/>
              <a:t>Öncelikle olarak veriler sıralanmalı</a:t>
            </a:r>
            <a:endParaRPr/>
          </a:p>
          <a:p>
            <a:pPr indent="0" lvl="1" marL="274320" rtl="0" algn="l">
              <a:lnSpc>
                <a:spcPct val="150000"/>
              </a:lnSpc>
              <a:spcBef>
                <a:spcPts val="600"/>
              </a:spcBef>
              <a:spcAft>
                <a:spcPts val="0"/>
              </a:spcAft>
              <a:buSzPts val="1600"/>
              <a:buNone/>
            </a:pPr>
            <a:r>
              <a:rPr lang="tr-TR"/>
              <a:t>X</a:t>
            </a:r>
            <a:r>
              <a:rPr baseline="-25000" lang="tr-TR"/>
              <a:t>1 </a:t>
            </a:r>
            <a:r>
              <a:rPr lang="tr-TR"/>
              <a:t>  X</a:t>
            </a:r>
            <a:r>
              <a:rPr baseline="-25000" lang="tr-TR"/>
              <a:t>2 </a:t>
            </a:r>
            <a:r>
              <a:rPr lang="tr-TR"/>
              <a:t>  X</a:t>
            </a:r>
            <a:r>
              <a:rPr baseline="-25000" lang="tr-TR"/>
              <a:t>3</a:t>
            </a:r>
            <a:r>
              <a:rPr lang="tr-TR"/>
              <a:t>  X</a:t>
            </a:r>
            <a:r>
              <a:rPr baseline="-25000" lang="tr-TR"/>
              <a:t>4</a:t>
            </a:r>
            <a:r>
              <a:rPr lang="tr-TR"/>
              <a:t>  X</a:t>
            </a:r>
            <a:r>
              <a:rPr baseline="-25000" lang="tr-TR"/>
              <a:t>5</a:t>
            </a:r>
            <a:r>
              <a:rPr lang="tr-TR"/>
              <a:t>  X</a:t>
            </a:r>
            <a:r>
              <a:rPr baseline="-25000" lang="tr-TR"/>
              <a:t>6</a:t>
            </a:r>
            <a:r>
              <a:rPr lang="tr-TR"/>
              <a:t>  X</a:t>
            </a:r>
            <a:r>
              <a:rPr baseline="-25000" lang="tr-TR"/>
              <a:t>7</a:t>
            </a:r>
            <a:r>
              <a:rPr lang="tr-TR"/>
              <a:t>  X</a:t>
            </a:r>
            <a:r>
              <a:rPr baseline="-25000" lang="tr-TR"/>
              <a:t>8</a:t>
            </a:r>
            <a:r>
              <a:rPr lang="tr-TR"/>
              <a:t> </a:t>
            </a:r>
            <a:endParaRPr/>
          </a:p>
          <a:p>
            <a:pPr indent="0" lvl="1" marL="274320" rtl="0" algn="l">
              <a:lnSpc>
                <a:spcPct val="150000"/>
              </a:lnSpc>
              <a:spcBef>
                <a:spcPts val="600"/>
              </a:spcBef>
              <a:spcAft>
                <a:spcPts val="0"/>
              </a:spcAft>
              <a:buSzPts val="1600"/>
              <a:buNone/>
            </a:pPr>
            <a:r>
              <a:rPr lang="tr-TR"/>
              <a:t>10  20  24  30  40  62  65  70</a:t>
            </a:r>
            <a:endParaRPr/>
          </a:p>
          <a:p>
            <a:pPr indent="0" lvl="0" marL="91440" rtl="0" algn="l">
              <a:lnSpc>
                <a:spcPct val="150000"/>
              </a:lnSpc>
              <a:spcBef>
                <a:spcPts val="1600"/>
              </a:spcBef>
              <a:spcAft>
                <a:spcPts val="0"/>
              </a:spcAft>
              <a:buSzPts val="2400"/>
              <a:buNone/>
            </a:pPr>
            <a:r>
              <a:t/>
            </a:r>
            <a:endParaRPr sz="2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7"/>
          <p:cNvSpPr txBox="1"/>
          <p:nvPr>
            <p:ph type="title"/>
          </p:nvPr>
        </p:nvSpPr>
        <p:spPr>
          <a:xfrm>
            <a:off x="467544" y="116632"/>
            <a:ext cx="7772400" cy="792088"/>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ÇEYREKLIKLER</a:t>
            </a:r>
            <a:endParaRPr/>
          </a:p>
        </p:txBody>
      </p:sp>
      <p:sp>
        <p:nvSpPr>
          <p:cNvPr id="204" name="Google Shape;204;p17"/>
          <p:cNvSpPr txBox="1"/>
          <p:nvPr>
            <p:ph idx="1" type="body"/>
          </p:nvPr>
        </p:nvSpPr>
        <p:spPr>
          <a:xfrm>
            <a:off x="467544" y="980728"/>
            <a:ext cx="8352928" cy="4572000"/>
          </a:xfrm>
          <a:prstGeom prst="rect">
            <a:avLst/>
          </a:prstGeom>
          <a:noFill/>
          <a:ln>
            <a:noFill/>
          </a:ln>
        </p:spPr>
        <p:txBody>
          <a:bodyPr anchorCtr="0" anchor="t" bIns="45700" lIns="45700" spcFirstLastPara="1" rIns="45700" wrap="square" tIns="45700">
            <a:normAutofit/>
          </a:bodyPr>
          <a:lstStyle/>
          <a:p>
            <a:pPr indent="0" lvl="1" marL="274320" rtl="0" algn="l">
              <a:lnSpc>
                <a:spcPct val="150000"/>
              </a:lnSpc>
              <a:spcBef>
                <a:spcPts val="0"/>
              </a:spcBef>
              <a:spcAft>
                <a:spcPts val="0"/>
              </a:spcAft>
              <a:buSzPts val="1600"/>
              <a:buNone/>
            </a:pPr>
            <a:r>
              <a:rPr lang="tr-TR"/>
              <a:t>X</a:t>
            </a:r>
            <a:r>
              <a:rPr baseline="-25000" lang="tr-TR"/>
              <a:t>1 </a:t>
            </a:r>
            <a:r>
              <a:rPr lang="tr-TR"/>
              <a:t> X</a:t>
            </a:r>
            <a:r>
              <a:rPr baseline="-25000" lang="tr-TR"/>
              <a:t>2</a:t>
            </a:r>
            <a:r>
              <a:rPr lang="tr-TR"/>
              <a:t>  X</a:t>
            </a:r>
            <a:r>
              <a:rPr baseline="-25000" lang="tr-TR"/>
              <a:t>3</a:t>
            </a:r>
            <a:r>
              <a:rPr lang="tr-TR"/>
              <a:t> X</a:t>
            </a:r>
            <a:r>
              <a:rPr baseline="-25000" lang="tr-TR"/>
              <a:t>4</a:t>
            </a:r>
            <a:r>
              <a:rPr lang="tr-TR"/>
              <a:t> X</a:t>
            </a:r>
            <a:r>
              <a:rPr baseline="-25000" lang="tr-TR"/>
              <a:t>5</a:t>
            </a:r>
            <a:r>
              <a:rPr lang="tr-TR"/>
              <a:t> X</a:t>
            </a:r>
            <a:r>
              <a:rPr baseline="-25000" lang="tr-TR"/>
              <a:t>6</a:t>
            </a:r>
            <a:r>
              <a:rPr lang="tr-TR"/>
              <a:t> X</a:t>
            </a:r>
            <a:r>
              <a:rPr baseline="-25000" lang="tr-TR"/>
              <a:t>7</a:t>
            </a:r>
            <a:r>
              <a:rPr lang="tr-TR"/>
              <a:t> X</a:t>
            </a:r>
            <a:r>
              <a:rPr baseline="-25000" lang="tr-TR"/>
              <a:t>8</a:t>
            </a:r>
            <a:r>
              <a:rPr lang="tr-TR"/>
              <a:t> </a:t>
            </a:r>
            <a:endParaRPr/>
          </a:p>
          <a:p>
            <a:pPr indent="0" lvl="1" marL="274320" rtl="0" algn="l">
              <a:lnSpc>
                <a:spcPct val="150000"/>
              </a:lnSpc>
              <a:spcBef>
                <a:spcPts val="600"/>
              </a:spcBef>
              <a:spcAft>
                <a:spcPts val="0"/>
              </a:spcAft>
              <a:buSzPts val="1600"/>
              <a:buNone/>
            </a:pPr>
            <a:r>
              <a:rPr lang="tr-TR"/>
              <a:t>10 20 24 30 40 62 65 70</a:t>
            </a:r>
            <a:endParaRPr/>
          </a:p>
          <a:p>
            <a:pPr indent="0" lvl="0" marL="0" rtl="0" algn="l">
              <a:lnSpc>
                <a:spcPct val="150000"/>
              </a:lnSpc>
              <a:spcBef>
                <a:spcPts val="1600"/>
              </a:spcBef>
              <a:spcAft>
                <a:spcPts val="0"/>
              </a:spcAft>
              <a:buSzPts val="2400"/>
              <a:buNone/>
            </a:pPr>
            <a:r>
              <a:t/>
            </a:r>
            <a:endParaRPr sz="2400"/>
          </a:p>
          <a:p>
            <a:pPr indent="0" lvl="0" marL="91440" rtl="0" algn="l">
              <a:lnSpc>
                <a:spcPct val="150000"/>
              </a:lnSpc>
              <a:spcBef>
                <a:spcPts val="1400"/>
              </a:spcBef>
              <a:spcAft>
                <a:spcPts val="0"/>
              </a:spcAft>
              <a:buSzPts val="2400"/>
              <a:buNone/>
            </a:pPr>
            <a:r>
              <a:t/>
            </a:r>
            <a:endParaRPr sz="2400"/>
          </a:p>
          <a:p>
            <a:pPr indent="-152400" lvl="0" marL="91440" rtl="0" algn="l">
              <a:lnSpc>
                <a:spcPct val="150000"/>
              </a:lnSpc>
              <a:spcBef>
                <a:spcPts val="1400"/>
              </a:spcBef>
              <a:spcAft>
                <a:spcPts val="0"/>
              </a:spcAft>
              <a:buSzPts val="2400"/>
              <a:buChar char=" "/>
            </a:pPr>
            <a:r>
              <a:rPr lang="tr-TR" sz="2400"/>
              <a:t>Ortancadan küçük olan değerlerin ortancası birinci çeyrek değere, ortancadan büyük değerlerin ortancası üçüncü çeyrek değerdir. </a:t>
            </a:r>
            <a:endParaRPr/>
          </a:p>
          <a:p>
            <a:pPr indent="0" lvl="0" marL="91440" rtl="0" algn="l">
              <a:lnSpc>
                <a:spcPct val="150000"/>
              </a:lnSpc>
              <a:spcBef>
                <a:spcPts val="1400"/>
              </a:spcBef>
              <a:spcAft>
                <a:spcPts val="0"/>
              </a:spcAft>
              <a:buSzPts val="2400"/>
              <a:buNone/>
            </a:pPr>
            <a:r>
              <a:t/>
            </a:r>
            <a:endParaRPr sz="2400"/>
          </a:p>
        </p:txBody>
      </p:sp>
      <p:pic>
        <p:nvPicPr>
          <p:cNvPr id="205" name="Google Shape;205;p17"/>
          <p:cNvPicPr preferRelativeResize="0"/>
          <p:nvPr/>
        </p:nvPicPr>
        <p:blipFill rotWithShape="1">
          <a:blip r:embed="rId3">
            <a:alphaModFix/>
          </a:blip>
          <a:srcRect b="44355" l="21197" r="43777" t="50000"/>
          <a:stretch/>
        </p:blipFill>
        <p:spPr>
          <a:xfrm>
            <a:off x="827585" y="2564904"/>
            <a:ext cx="6912768" cy="648072"/>
          </a:xfrm>
          <a:prstGeom prst="rect">
            <a:avLst/>
          </a:prstGeom>
          <a:noFill/>
          <a:ln>
            <a:noFill/>
          </a:ln>
        </p:spPr>
      </p:pic>
      <p:pic>
        <p:nvPicPr>
          <p:cNvPr id="206" name="Google Shape;206;p17"/>
          <p:cNvPicPr preferRelativeResize="0"/>
          <p:nvPr/>
        </p:nvPicPr>
        <p:blipFill rotWithShape="1">
          <a:blip r:embed="rId4">
            <a:alphaModFix/>
          </a:blip>
          <a:srcRect b="38710" l="21310" r="44597" t="43333"/>
          <a:stretch/>
        </p:blipFill>
        <p:spPr>
          <a:xfrm>
            <a:off x="1355546" y="4869160"/>
            <a:ext cx="5592718" cy="165618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8"/>
          <p:cNvSpPr txBox="1"/>
          <p:nvPr>
            <p:ph type="title"/>
          </p:nvPr>
        </p:nvSpPr>
        <p:spPr>
          <a:xfrm>
            <a:off x="467544" y="116632"/>
            <a:ext cx="7772400" cy="792088"/>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ÇEYREKLIKLER</a:t>
            </a:r>
            <a:endParaRPr/>
          </a:p>
        </p:txBody>
      </p:sp>
      <p:sp>
        <p:nvSpPr>
          <p:cNvPr id="212" name="Google Shape;212;p18"/>
          <p:cNvSpPr txBox="1"/>
          <p:nvPr>
            <p:ph idx="1" type="body"/>
          </p:nvPr>
        </p:nvSpPr>
        <p:spPr>
          <a:xfrm>
            <a:off x="467544" y="980728"/>
            <a:ext cx="8352928" cy="4572000"/>
          </a:xfrm>
          <a:prstGeom prst="rect">
            <a:avLst/>
          </a:prstGeom>
          <a:noFill/>
          <a:ln>
            <a:noFill/>
          </a:ln>
        </p:spPr>
        <p:txBody>
          <a:bodyPr anchorCtr="0" anchor="t" bIns="45700" lIns="45700" spcFirstLastPara="1" rIns="45700" wrap="square" tIns="45700">
            <a:normAutofit/>
          </a:bodyPr>
          <a:lstStyle/>
          <a:p>
            <a:pPr indent="-152400" lvl="0" marL="91440" rtl="0" algn="l">
              <a:lnSpc>
                <a:spcPct val="150000"/>
              </a:lnSpc>
              <a:spcBef>
                <a:spcPts val="0"/>
              </a:spcBef>
              <a:spcAft>
                <a:spcPts val="0"/>
              </a:spcAft>
              <a:buSzPts val="2400"/>
              <a:buChar char=" "/>
            </a:pPr>
            <a:r>
              <a:rPr lang="tr-TR" sz="2400"/>
              <a:t>Örnek;</a:t>
            </a:r>
            <a:endParaRPr/>
          </a:p>
          <a:p>
            <a:pPr indent="-152400" lvl="0" marL="91440" rtl="0" algn="l">
              <a:lnSpc>
                <a:spcPct val="150000"/>
              </a:lnSpc>
              <a:spcBef>
                <a:spcPts val="1400"/>
              </a:spcBef>
              <a:spcAft>
                <a:spcPts val="0"/>
              </a:spcAft>
              <a:buSzPts val="2400"/>
              <a:buChar char=" "/>
            </a:pPr>
            <a:r>
              <a:rPr lang="tr-TR" sz="2400"/>
              <a:t>İleri yaşlı 9 kadına ait sistolik kan basınçları aşağıda verilmiştir. Çeyreklikleri hesaplayınız.</a:t>
            </a:r>
            <a:endParaRPr/>
          </a:p>
          <a:p>
            <a:pPr indent="-152400" lvl="0" marL="91440" rtl="0" algn="l">
              <a:lnSpc>
                <a:spcPct val="150000"/>
              </a:lnSpc>
              <a:spcBef>
                <a:spcPts val="1400"/>
              </a:spcBef>
              <a:spcAft>
                <a:spcPts val="0"/>
              </a:spcAft>
              <a:buSzPts val="2400"/>
              <a:buChar char=" "/>
            </a:pPr>
            <a:r>
              <a:rPr lang="tr-TR" sz="2400"/>
              <a:t>151, 124, 132, 170, 146, 124, 113, 111, 134</a:t>
            </a:r>
            <a:endParaRPr/>
          </a:p>
          <a:p>
            <a:pPr indent="-152400" lvl="0" marL="91440" rtl="0" algn="l">
              <a:lnSpc>
                <a:spcPct val="150000"/>
              </a:lnSpc>
              <a:spcBef>
                <a:spcPts val="1400"/>
              </a:spcBef>
              <a:spcAft>
                <a:spcPts val="0"/>
              </a:spcAft>
              <a:buSzPts val="2400"/>
              <a:buChar char=" "/>
            </a:pPr>
            <a:r>
              <a:rPr lang="tr-TR" sz="2400"/>
              <a:t>Öncelikle veriler sıralanmalı</a:t>
            </a:r>
            <a:endParaRPr/>
          </a:p>
          <a:p>
            <a:pPr indent="0" lvl="0" marL="91440" rtl="0" algn="l">
              <a:lnSpc>
                <a:spcPct val="150000"/>
              </a:lnSpc>
              <a:spcBef>
                <a:spcPts val="1400"/>
              </a:spcBef>
              <a:spcAft>
                <a:spcPts val="0"/>
              </a:spcAft>
              <a:buSzPts val="2400"/>
              <a:buNone/>
            </a:pPr>
            <a:r>
              <a:t/>
            </a:r>
            <a:endParaRPr sz="2400"/>
          </a:p>
        </p:txBody>
      </p:sp>
      <p:pic>
        <p:nvPicPr>
          <p:cNvPr id="213" name="Google Shape;213;p18"/>
          <p:cNvPicPr preferRelativeResize="0"/>
          <p:nvPr/>
        </p:nvPicPr>
        <p:blipFill rotWithShape="1">
          <a:blip r:embed="rId3">
            <a:alphaModFix/>
          </a:blip>
          <a:srcRect b="24583" l="21201" r="43426" t="47500"/>
          <a:stretch/>
        </p:blipFill>
        <p:spPr>
          <a:xfrm>
            <a:off x="1835696" y="4221088"/>
            <a:ext cx="5517747" cy="244827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9"/>
          <p:cNvSpPr txBox="1"/>
          <p:nvPr>
            <p:ph type="title"/>
          </p:nvPr>
        </p:nvSpPr>
        <p:spPr>
          <a:xfrm>
            <a:off x="467544" y="188640"/>
            <a:ext cx="7772400" cy="95436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ÇEYREKLIKLER</a:t>
            </a:r>
            <a:endParaRPr/>
          </a:p>
        </p:txBody>
      </p:sp>
      <p:sp>
        <p:nvSpPr>
          <p:cNvPr id="219" name="Google Shape;219;p19"/>
          <p:cNvSpPr txBox="1"/>
          <p:nvPr>
            <p:ph idx="1" type="body"/>
          </p:nvPr>
        </p:nvSpPr>
        <p:spPr>
          <a:xfrm>
            <a:off x="467544" y="1340768"/>
            <a:ext cx="6338658" cy="4572000"/>
          </a:xfrm>
          <a:prstGeom prst="rect">
            <a:avLst/>
          </a:prstGeom>
          <a:noFill/>
          <a:ln>
            <a:noFill/>
          </a:ln>
        </p:spPr>
        <p:txBody>
          <a:bodyPr anchorCtr="0" anchor="t" bIns="45700" lIns="45700" spcFirstLastPara="1" rIns="45700" wrap="square" tIns="45700">
            <a:normAutofit/>
          </a:bodyPr>
          <a:lstStyle/>
          <a:p>
            <a:pPr indent="-152400" lvl="0" marL="91440" rtl="0" algn="l">
              <a:lnSpc>
                <a:spcPct val="150000"/>
              </a:lnSpc>
              <a:spcBef>
                <a:spcPts val="0"/>
              </a:spcBef>
              <a:spcAft>
                <a:spcPts val="0"/>
              </a:spcAft>
              <a:buSzPts val="2400"/>
              <a:buChar char=" "/>
            </a:pPr>
            <a:r>
              <a:rPr lang="tr-TR" sz="2400"/>
              <a:t>Örnek: </a:t>
            </a:r>
            <a:r>
              <a:rPr i="1" lang="tr-TR" sz="2400"/>
              <a:t>8 bireyin boy ölçümleri tabloda verilmiştir. </a:t>
            </a:r>
            <a:endParaRPr/>
          </a:p>
          <a:p>
            <a:pPr indent="-152400" lvl="0" marL="91440" rtl="0" algn="l">
              <a:lnSpc>
                <a:spcPct val="150000"/>
              </a:lnSpc>
              <a:spcBef>
                <a:spcPts val="1400"/>
              </a:spcBef>
              <a:spcAft>
                <a:spcPts val="0"/>
              </a:spcAft>
              <a:buSzPts val="2400"/>
              <a:buChar char=" "/>
            </a:pPr>
            <a:r>
              <a:rPr i="1" lang="tr-TR" sz="2400"/>
              <a:t>Bu veri setinde </a:t>
            </a:r>
            <a:endParaRPr/>
          </a:p>
          <a:p>
            <a:pPr indent="-152400" lvl="0" marL="91440" rtl="0" algn="l">
              <a:lnSpc>
                <a:spcPct val="150000"/>
              </a:lnSpc>
              <a:spcBef>
                <a:spcPts val="1400"/>
              </a:spcBef>
              <a:spcAft>
                <a:spcPts val="0"/>
              </a:spcAft>
              <a:buSzPts val="2400"/>
              <a:buChar char=" "/>
            </a:pPr>
            <a:r>
              <a:rPr i="1" lang="tr-TR" sz="2400"/>
              <a:t>Ortanca (Q2) = (160+166)/2=163 değeridir. </a:t>
            </a:r>
            <a:endParaRPr sz="2400"/>
          </a:p>
          <a:p>
            <a:pPr indent="-152400" lvl="0" marL="91440" rtl="0" algn="l">
              <a:lnSpc>
                <a:spcPct val="150000"/>
              </a:lnSpc>
              <a:spcBef>
                <a:spcPts val="1400"/>
              </a:spcBef>
              <a:spcAft>
                <a:spcPts val="0"/>
              </a:spcAft>
              <a:buSzPts val="2400"/>
              <a:buChar char=" "/>
            </a:pPr>
            <a:r>
              <a:rPr i="1" lang="tr-TR" sz="2400"/>
              <a:t>Q1 = (148+154)/2=151</a:t>
            </a:r>
            <a:endParaRPr/>
          </a:p>
          <a:p>
            <a:pPr indent="-152400" lvl="0" marL="91440" rtl="0" algn="l">
              <a:lnSpc>
                <a:spcPct val="150000"/>
              </a:lnSpc>
              <a:spcBef>
                <a:spcPts val="1400"/>
              </a:spcBef>
              <a:spcAft>
                <a:spcPts val="0"/>
              </a:spcAft>
              <a:buSzPts val="2400"/>
              <a:buChar char=" "/>
            </a:pPr>
            <a:r>
              <a:rPr i="1" lang="tr-TR" sz="2400"/>
              <a:t>Q3 = (170+176)/2=173</a:t>
            </a:r>
            <a:endParaRPr sz="2400"/>
          </a:p>
          <a:p>
            <a:pPr indent="0" lvl="0" marL="91440" rtl="0" algn="l">
              <a:lnSpc>
                <a:spcPct val="150000"/>
              </a:lnSpc>
              <a:spcBef>
                <a:spcPts val="1400"/>
              </a:spcBef>
              <a:spcAft>
                <a:spcPts val="0"/>
              </a:spcAft>
              <a:buSzPts val="2400"/>
              <a:buNone/>
            </a:pPr>
            <a:r>
              <a:t/>
            </a:r>
            <a:endParaRPr sz="2400"/>
          </a:p>
        </p:txBody>
      </p:sp>
      <p:grpSp>
        <p:nvGrpSpPr>
          <p:cNvPr id="220" name="Google Shape;220;p19"/>
          <p:cNvGrpSpPr/>
          <p:nvPr/>
        </p:nvGrpSpPr>
        <p:grpSpPr>
          <a:xfrm>
            <a:off x="6372200" y="1412776"/>
            <a:ext cx="2690544" cy="3888432"/>
            <a:chOff x="2294112" y="2420888"/>
            <a:chExt cx="2402512" cy="3063360"/>
          </a:xfrm>
        </p:grpSpPr>
        <p:pic>
          <p:nvPicPr>
            <p:cNvPr id="221" name="Google Shape;221;p19"/>
            <p:cNvPicPr preferRelativeResize="0"/>
            <p:nvPr/>
          </p:nvPicPr>
          <p:blipFill rotWithShape="1">
            <a:blip r:embed="rId3">
              <a:alphaModFix/>
            </a:blip>
            <a:srcRect b="24798" l="26864" r="54671" t="46459"/>
            <a:stretch/>
          </p:blipFill>
          <p:spPr>
            <a:xfrm>
              <a:off x="2294112" y="2420888"/>
              <a:ext cx="2402512" cy="2102628"/>
            </a:xfrm>
            <a:prstGeom prst="rect">
              <a:avLst/>
            </a:prstGeom>
            <a:noFill/>
            <a:ln>
              <a:noFill/>
            </a:ln>
          </p:spPr>
        </p:pic>
        <p:pic>
          <p:nvPicPr>
            <p:cNvPr id="222" name="Google Shape;222;p19"/>
            <p:cNvPicPr preferRelativeResize="0"/>
            <p:nvPr/>
          </p:nvPicPr>
          <p:blipFill rotWithShape="1">
            <a:blip r:embed="rId4">
              <a:alphaModFix/>
            </a:blip>
            <a:srcRect b="59375" l="27330" r="54987" t="26109"/>
            <a:stretch/>
          </p:blipFill>
          <p:spPr>
            <a:xfrm>
              <a:off x="2344994" y="4422364"/>
              <a:ext cx="2300748" cy="1061884"/>
            </a:xfrm>
            <a:prstGeom prst="rect">
              <a:avLst/>
            </a:prstGeom>
            <a:noFill/>
            <a:ln>
              <a:noFill/>
            </a:ln>
          </p:spPr>
        </p:pic>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0"/>
          <p:cNvSpPr txBox="1"/>
          <p:nvPr>
            <p:ph type="title"/>
          </p:nvPr>
        </p:nvSpPr>
        <p:spPr>
          <a:xfrm>
            <a:off x="914400" y="260648"/>
            <a:ext cx="7772400" cy="78296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VARYANS</a:t>
            </a:r>
            <a:endParaRPr/>
          </a:p>
        </p:txBody>
      </p:sp>
      <p:sp>
        <p:nvSpPr>
          <p:cNvPr id="228" name="Google Shape;228;p20"/>
          <p:cNvSpPr txBox="1"/>
          <p:nvPr>
            <p:ph idx="1" type="body"/>
          </p:nvPr>
        </p:nvSpPr>
        <p:spPr>
          <a:xfrm>
            <a:off x="914400" y="1073770"/>
            <a:ext cx="7772400" cy="4572000"/>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Verilerin dağılımını ölçmenin bir yolu, her bir gözlemin aritmetik ortalamadan ne kadar sapma gösterdiğine bakmaktır. </a:t>
            </a:r>
            <a:endParaRPr/>
          </a:p>
          <a:p>
            <a:pPr indent="-127000" lvl="0" marL="91440" rtl="0" algn="l">
              <a:lnSpc>
                <a:spcPct val="90000"/>
              </a:lnSpc>
              <a:spcBef>
                <a:spcPts val="1400"/>
              </a:spcBef>
              <a:spcAft>
                <a:spcPts val="0"/>
              </a:spcAft>
              <a:buSzPts val="2000"/>
              <a:buChar char=" "/>
            </a:pPr>
            <a:r>
              <a:rPr lang="tr-TR"/>
              <a:t>Varyans gözlem sonuçlarının aritmetik ortalamadan ne ölçüde farklı olabileceğini ortaya koyan bir dağılım ölçüsüdür.</a:t>
            </a:r>
            <a:endParaRPr/>
          </a:p>
          <a:p>
            <a:pPr indent="-127000" lvl="0" marL="91440" rtl="0" algn="l">
              <a:lnSpc>
                <a:spcPct val="90000"/>
              </a:lnSpc>
              <a:spcBef>
                <a:spcPts val="1400"/>
              </a:spcBef>
              <a:spcAft>
                <a:spcPts val="0"/>
              </a:spcAft>
              <a:buSzPts val="2000"/>
              <a:buChar char=" "/>
            </a:pPr>
            <a:r>
              <a:rPr lang="tr-TR"/>
              <a:t>Her bir değerin aritmetik ortalamadan olan uzaklığının karesini alarak bir hesap yaparız.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1"/>
          <p:cNvSpPr txBox="1"/>
          <p:nvPr>
            <p:ph type="title"/>
          </p:nvPr>
        </p:nvSpPr>
        <p:spPr>
          <a:xfrm>
            <a:off x="914400" y="485800"/>
            <a:ext cx="7772400" cy="78296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VARYANS</a:t>
            </a:r>
            <a:endParaRPr/>
          </a:p>
        </p:txBody>
      </p:sp>
      <p:sp>
        <p:nvSpPr>
          <p:cNvPr id="234" name="Google Shape;234;p21"/>
          <p:cNvSpPr txBox="1"/>
          <p:nvPr>
            <p:ph idx="1" type="body"/>
          </p:nvPr>
        </p:nvSpPr>
        <p:spPr>
          <a:xfrm>
            <a:off x="914400" y="1953344"/>
            <a:ext cx="7772400" cy="4572000"/>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Kitle varyansı s</a:t>
            </a:r>
            <a:r>
              <a:rPr baseline="30000" lang="tr-TR"/>
              <a:t>2</a:t>
            </a:r>
            <a:r>
              <a:rPr lang="tr-TR"/>
              <a:t>, örneklem varyansı        ile gösterilir.</a:t>
            </a:r>
            <a:endParaRPr baseline="30000"/>
          </a:p>
        </p:txBody>
      </p:sp>
      <p:pic>
        <p:nvPicPr>
          <p:cNvPr descr="Ekran Kırpma" id="235" name="Google Shape;235;p21"/>
          <p:cNvPicPr preferRelativeResize="0"/>
          <p:nvPr/>
        </p:nvPicPr>
        <p:blipFill rotWithShape="1">
          <a:blip r:embed="rId3">
            <a:alphaModFix/>
          </a:blip>
          <a:srcRect b="0" l="0" r="0" t="0"/>
          <a:stretch/>
        </p:blipFill>
        <p:spPr>
          <a:xfrm>
            <a:off x="4765420" y="3732510"/>
            <a:ext cx="2362530" cy="962159"/>
          </a:xfrm>
          <a:prstGeom prst="rect">
            <a:avLst/>
          </a:prstGeom>
          <a:noFill/>
          <a:ln>
            <a:noFill/>
          </a:ln>
        </p:spPr>
      </p:pic>
      <p:pic>
        <p:nvPicPr>
          <p:cNvPr descr="Ekran Kırpma" id="236" name="Google Shape;236;p21"/>
          <p:cNvPicPr preferRelativeResize="0"/>
          <p:nvPr/>
        </p:nvPicPr>
        <p:blipFill rotWithShape="1">
          <a:blip r:embed="rId4">
            <a:alphaModFix/>
          </a:blip>
          <a:srcRect b="80247" l="36300" r="31850" t="0"/>
          <a:stretch/>
        </p:blipFill>
        <p:spPr>
          <a:xfrm>
            <a:off x="827584" y="3929450"/>
            <a:ext cx="1947204" cy="751183"/>
          </a:xfrm>
          <a:prstGeom prst="rect">
            <a:avLst/>
          </a:prstGeom>
          <a:noFill/>
          <a:ln>
            <a:noFill/>
          </a:ln>
        </p:spPr>
      </p:pic>
      <p:sp>
        <p:nvSpPr>
          <p:cNvPr id="237" name="Google Shape;237;p21"/>
          <p:cNvSpPr/>
          <p:nvPr/>
        </p:nvSpPr>
        <p:spPr>
          <a:xfrm>
            <a:off x="7357708" y="3031514"/>
            <a:ext cx="1201532" cy="845012"/>
          </a:xfrm>
          <a:custGeom>
            <a:rect b="b" l="l" r="r" t="t"/>
            <a:pathLst>
              <a:path extrusionOk="0" h="120000" w="120000">
                <a:moveTo>
                  <a:pt x="0" y="0"/>
                </a:moveTo>
                <a:lnTo>
                  <a:pt x="120000" y="0"/>
                </a:lnTo>
                <a:lnTo>
                  <a:pt x="120000" y="120000"/>
                </a:lnTo>
                <a:lnTo>
                  <a:pt x="0" y="120000"/>
                </a:lnTo>
                <a:close/>
              </a:path>
              <a:path extrusionOk="0" fill="none" h="120000" w="120000">
                <a:moveTo>
                  <a:pt x="-7259" y="58105"/>
                </a:moveTo>
                <a:lnTo>
                  <a:pt x="-32798" y="176888"/>
                </a:lnTo>
              </a:path>
            </a:pathLst>
          </a:custGeom>
          <a:solidFill>
            <a:schemeClr val="accent1"/>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tr-TR" sz="1800" u="none" cap="none" strike="noStrike">
                <a:solidFill>
                  <a:schemeClr val="lt1"/>
                </a:solidFill>
                <a:latin typeface="Arial"/>
                <a:ea typeface="Arial"/>
                <a:cs typeface="Arial"/>
                <a:sym typeface="Arial"/>
              </a:rPr>
              <a:t>Popülasyon Varyansı</a:t>
            </a:r>
            <a:endParaRPr b="0" i="0" sz="1800" u="none" cap="none" strike="noStrike">
              <a:solidFill>
                <a:schemeClr val="lt1"/>
              </a:solidFill>
              <a:latin typeface="Arial"/>
              <a:ea typeface="Arial"/>
              <a:cs typeface="Arial"/>
              <a:sym typeface="Arial"/>
            </a:endParaRPr>
          </a:p>
        </p:txBody>
      </p:sp>
      <p:sp>
        <p:nvSpPr>
          <p:cNvPr id="238" name="Google Shape;238;p21"/>
          <p:cNvSpPr/>
          <p:nvPr/>
        </p:nvSpPr>
        <p:spPr>
          <a:xfrm>
            <a:off x="3253252" y="3012430"/>
            <a:ext cx="1201532" cy="845012"/>
          </a:xfrm>
          <a:custGeom>
            <a:rect b="b" l="l" r="r" t="t"/>
            <a:pathLst>
              <a:path extrusionOk="0" h="120000" w="120000">
                <a:moveTo>
                  <a:pt x="0" y="0"/>
                </a:moveTo>
                <a:lnTo>
                  <a:pt x="120000" y="0"/>
                </a:lnTo>
                <a:lnTo>
                  <a:pt x="120000" y="120000"/>
                </a:lnTo>
                <a:lnTo>
                  <a:pt x="0" y="120000"/>
                </a:lnTo>
                <a:close/>
              </a:path>
              <a:path extrusionOk="0" fill="none" h="120000" w="120000">
                <a:moveTo>
                  <a:pt x="-7259" y="58105"/>
                </a:moveTo>
                <a:lnTo>
                  <a:pt x="-46056" y="176888"/>
                </a:lnTo>
              </a:path>
            </a:pathLst>
          </a:custGeom>
          <a:solidFill>
            <a:schemeClr val="accent1"/>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tr-TR" sz="1800" u="none" cap="none" strike="noStrike">
                <a:solidFill>
                  <a:schemeClr val="lt1"/>
                </a:solidFill>
                <a:latin typeface="Arial"/>
                <a:ea typeface="Arial"/>
                <a:cs typeface="Arial"/>
                <a:sym typeface="Arial"/>
              </a:rPr>
              <a:t>Örneklem Varyansı</a:t>
            </a:r>
            <a:endParaRPr b="0" i="0" sz="1800" u="none" cap="none" strike="noStrike">
              <a:solidFill>
                <a:schemeClr val="lt1"/>
              </a:solidFill>
              <a:latin typeface="Arial"/>
              <a:ea typeface="Arial"/>
              <a:cs typeface="Arial"/>
              <a:sym typeface="Arial"/>
            </a:endParaRPr>
          </a:p>
        </p:txBody>
      </p:sp>
      <p:pic>
        <p:nvPicPr>
          <p:cNvPr descr="Ekran Kırpma" id="239" name="Google Shape;239;p21"/>
          <p:cNvPicPr preferRelativeResize="0"/>
          <p:nvPr/>
        </p:nvPicPr>
        <p:blipFill rotWithShape="1">
          <a:blip r:embed="rId3">
            <a:alphaModFix/>
          </a:blip>
          <a:srcRect b="16996" l="4700" r="75948" t="41502"/>
          <a:stretch/>
        </p:blipFill>
        <p:spPr>
          <a:xfrm>
            <a:off x="5619135" y="2036323"/>
            <a:ext cx="457200" cy="39931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descr="Ekran Kırpma" id="244" name="Google Shape;244;p22"/>
          <p:cNvPicPr preferRelativeResize="0"/>
          <p:nvPr/>
        </p:nvPicPr>
        <p:blipFill rotWithShape="1">
          <a:blip r:embed="rId3">
            <a:alphaModFix/>
          </a:blip>
          <a:srcRect b="0" l="0" r="0" t="0"/>
          <a:stretch/>
        </p:blipFill>
        <p:spPr>
          <a:xfrm>
            <a:off x="292519" y="860422"/>
            <a:ext cx="8528423" cy="530488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3"/>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STANDART SAPMA</a:t>
            </a:r>
            <a:endParaRPr/>
          </a:p>
        </p:txBody>
      </p:sp>
      <p:sp>
        <p:nvSpPr>
          <p:cNvPr id="250" name="Google Shape;250;p23"/>
          <p:cNvSpPr txBox="1"/>
          <p:nvPr>
            <p:ph idx="1" type="body"/>
          </p:nvPr>
        </p:nvSpPr>
        <p:spPr>
          <a:xfrm>
            <a:off x="914400" y="1447800"/>
            <a:ext cx="7772400" cy="4789512"/>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Standart sapma varyansın kareköküdür.</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tr-TR"/>
              <a:t>Standart sapmayı verilerin ortalamadan sapma dereceleri olarak düşünebiliriz.  </a:t>
            </a:r>
            <a:endParaRPr/>
          </a:p>
          <a:p>
            <a:pPr indent="0" lvl="0" marL="91440" rtl="0" algn="l">
              <a:lnSpc>
                <a:spcPct val="90000"/>
              </a:lnSpc>
              <a:spcBef>
                <a:spcPts val="1400"/>
              </a:spcBef>
              <a:spcAft>
                <a:spcPts val="0"/>
              </a:spcAft>
              <a:buSzPts val="2000"/>
              <a:buNone/>
            </a:pPr>
            <a:r>
              <a:t/>
            </a:r>
            <a:endParaRPr/>
          </a:p>
        </p:txBody>
      </p:sp>
      <p:pic>
        <p:nvPicPr>
          <p:cNvPr id="251" name="Google Shape;251;p23"/>
          <p:cNvPicPr preferRelativeResize="0"/>
          <p:nvPr/>
        </p:nvPicPr>
        <p:blipFill rotWithShape="1">
          <a:blip r:embed="rId3">
            <a:alphaModFix/>
          </a:blip>
          <a:srcRect b="0" l="0" r="0" t="0"/>
          <a:stretch/>
        </p:blipFill>
        <p:spPr>
          <a:xfrm>
            <a:off x="2123728" y="2204864"/>
            <a:ext cx="2552700" cy="1066800"/>
          </a:xfrm>
          <a:prstGeom prst="rect">
            <a:avLst/>
          </a:prstGeom>
          <a:noFill/>
          <a:ln>
            <a:noFill/>
          </a:ln>
        </p:spPr>
      </p:pic>
      <p:pic>
        <p:nvPicPr>
          <p:cNvPr descr="Ekran Kırpma" id="252" name="Google Shape;252;p23"/>
          <p:cNvPicPr preferRelativeResize="0"/>
          <p:nvPr/>
        </p:nvPicPr>
        <p:blipFill rotWithShape="1">
          <a:blip r:embed="rId4">
            <a:alphaModFix/>
          </a:blip>
          <a:srcRect b="0" l="0" r="0" t="0"/>
          <a:stretch/>
        </p:blipFill>
        <p:spPr>
          <a:xfrm>
            <a:off x="2123728" y="3861048"/>
            <a:ext cx="2314898" cy="1028844"/>
          </a:xfrm>
          <a:prstGeom prst="rect">
            <a:avLst/>
          </a:prstGeom>
          <a:noFill/>
          <a:ln>
            <a:noFill/>
          </a:ln>
        </p:spPr>
      </p:pic>
      <p:sp>
        <p:nvSpPr>
          <p:cNvPr id="253" name="Google Shape;253;p23"/>
          <p:cNvSpPr/>
          <p:nvPr/>
        </p:nvSpPr>
        <p:spPr>
          <a:xfrm>
            <a:off x="5868144" y="2092441"/>
            <a:ext cx="1937198" cy="845012"/>
          </a:xfrm>
          <a:custGeom>
            <a:rect b="b" l="l" r="r" t="t"/>
            <a:pathLst>
              <a:path extrusionOk="0" h="120000" w="120000">
                <a:moveTo>
                  <a:pt x="0" y="0"/>
                </a:moveTo>
                <a:lnTo>
                  <a:pt x="120000" y="0"/>
                </a:lnTo>
                <a:lnTo>
                  <a:pt x="120000" y="120000"/>
                </a:lnTo>
                <a:lnTo>
                  <a:pt x="0" y="120000"/>
                </a:lnTo>
                <a:close/>
              </a:path>
              <a:path extrusionOk="0" fill="none" h="120000" w="120000">
                <a:moveTo>
                  <a:pt x="-7259" y="58105"/>
                </a:moveTo>
                <a:lnTo>
                  <a:pt x="-67012" y="101490"/>
                </a:lnTo>
              </a:path>
            </a:pathLst>
          </a:custGeom>
          <a:solidFill>
            <a:schemeClr val="accent1"/>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tr-TR" sz="1800" u="none" cap="none" strike="noStrike">
                <a:solidFill>
                  <a:schemeClr val="lt1"/>
                </a:solidFill>
                <a:latin typeface="Arial"/>
                <a:ea typeface="Arial"/>
                <a:cs typeface="Arial"/>
                <a:sym typeface="Arial"/>
              </a:rPr>
              <a:t>Örneklem </a:t>
            </a:r>
            <a:endParaRPr/>
          </a:p>
          <a:p>
            <a:pPr indent="0" lvl="0" marL="0" marR="0" rtl="0" algn="ctr">
              <a:spcBef>
                <a:spcPts val="0"/>
              </a:spcBef>
              <a:spcAft>
                <a:spcPts val="0"/>
              </a:spcAft>
              <a:buNone/>
            </a:pPr>
            <a:r>
              <a:rPr b="0" i="0" lang="tr-TR" sz="1800" u="none" cap="none" strike="noStrike">
                <a:solidFill>
                  <a:schemeClr val="lt1"/>
                </a:solidFill>
                <a:latin typeface="Arial"/>
                <a:ea typeface="Arial"/>
                <a:cs typeface="Arial"/>
                <a:sym typeface="Arial"/>
              </a:rPr>
              <a:t>Standart Sapması</a:t>
            </a:r>
            <a:endParaRPr/>
          </a:p>
        </p:txBody>
      </p:sp>
      <p:sp>
        <p:nvSpPr>
          <p:cNvPr id="254" name="Google Shape;254;p23"/>
          <p:cNvSpPr/>
          <p:nvPr/>
        </p:nvSpPr>
        <p:spPr>
          <a:xfrm>
            <a:off x="5867505" y="4240172"/>
            <a:ext cx="1937198" cy="845012"/>
          </a:xfrm>
          <a:custGeom>
            <a:rect b="b" l="l" r="r" t="t"/>
            <a:pathLst>
              <a:path extrusionOk="0" h="120000" w="120000">
                <a:moveTo>
                  <a:pt x="0" y="0"/>
                </a:moveTo>
                <a:lnTo>
                  <a:pt x="120000" y="0"/>
                </a:lnTo>
                <a:lnTo>
                  <a:pt x="120000" y="120000"/>
                </a:lnTo>
                <a:lnTo>
                  <a:pt x="0" y="120000"/>
                </a:lnTo>
                <a:close/>
              </a:path>
              <a:path extrusionOk="0" fill="none" h="120000" w="120000">
                <a:moveTo>
                  <a:pt x="-7259" y="58105"/>
                </a:moveTo>
                <a:lnTo>
                  <a:pt x="-65184" y="32374"/>
                </a:lnTo>
              </a:path>
            </a:pathLst>
          </a:custGeom>
          <a:solidFill>
            <a:schemeClr val="accent1"/>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tr-TR" sz="1800" u="none" cap="none" strike="noStrike">
                <a:solidFill>
                  <a:schemeClr val="lt1"/>
                </a:solidFill>
                <a:latin typeface="Arial"/>
                <a:ea typeface="Arial"/>
                <a:cs typeface="Arial"/>
                <a:sym typeface="Arial"/>
              </a:rPr>
              <a:t>Popülasyon Standart Sapması</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4"/>
          <p:cNvSpPr txBox="1"/>
          <p:nvPr>
            <p:ph idx="1" type="body"/>
          </p:nvPr>
        </p:nvSpPr>
        <p:spPr>
          <a:xfrm>
            <a:off x="914400" y="2097360"/>
            <a:ext cx="7772400" cy="4572000"/>
          </a:xfrm>
          <a:prstGeom prst="rect">
            <a:avLst/>
          </a:prstGeom>
          <a:noFill/>
          <a:ln>
            <a:noFill/>
          </a:ln>
        </p:spPr>
        <p:txBody>
          <a:bodyPr anchorCtr="0" anchor="t" bIns="45700" lIns="45700" spcFirstLastPara="1" rIns="45700" wrap="square" tIns="45700">
            <a:normAutofit fontScale="92500" lnSpcReduction="10000"/>
          </a:bodyPr>
          <a:lstStyle/>
          <a:p>
            <a:pPr indent="0" lvl="0" marL="91440" rtl="0" algn="l">
              <a:lnSpc>
                <a:spcPct val="90000"/>
              </a:lnSpc>
              <a:spcBef>
                <a:spcPts val="0"/>
              </a:spcBef>
              <a:spcAft>
                <a:spcPts val="0"/>
              </a:spcAft>
              <a:buSzPct val="100000"/>
              <a:buNone/>
            </a:pPr>
            <a:r>
              <a:t/>
            </a:r>
            <a:endParaRPr/>
          </a:p>
          <a:p>
            <a:pPr indent="0" lvl="0" marL="91440" rtl="0" algn="l">
              <a:lnSpc>
                <a:spcPct val="90000"/>
              </a:lnSpc>
              <a:spcBef>
                <a:spcPts val="1400"/>
              </a:spcBef>
              <a:spcAft>
                <a:spcPts val="0"/>
              </a:spcAft>
              <a:buSzPct val="100000"/>
              <a:buNone/>
            </a:pPr>
            <a:r>
              <a:t/>
            </a:r>
            <a:endParaRPr/>
          </a:p>
          <a:p>
            <a:pPr indent="0" lvl="0" marL="91440" rtl="0" algn="l">
              <a:lnSpc>
                <a:spcPct val="90000"/>
              </a:lnSpc>
              <a:spcBef>
                <a:spcPts val="1400"/>
              </a:spcBef>
              <a:spcAft>
                <a:spcPts val="0"/>
              </a:spcAft>
              <a:buSzPct val="100000"/>
              <a:buNone/>
            </a:pPr>
            <a:r>
              <a:t/>
            </a:r>
            <a:endParaRPr/>
          </a:p>
          <a:p>
            <a:pPr indent="0" lvl="0" marL="91440" rtl="0" algn="l">
              <a:lnSpc>
                <a:spcPct val="90000"/>
              </a:lnSpc>
              <a:spcBef>
                <a:spcPts val="1400"/>
              </a:spcBef>
              <a:spcAft>
                <a:spcPts val="0"/>
              </a:spcAft>
              <a:buSzPct val="100000"/>
              <a:buNone/>
            </a:pPr>
            <a:r>
              <a:t/>
            </a:r>
            <a:endParaRPr/>
          </a:p>
          <a:p>
            <a:pPr indent="0" lvl="0" marL="91440" rtl="0" algn="l">
              <a:lnSpc>
                <a:spcPct val="90000"/>
              </a:lnSpc>
              <a:spcBef>
                <a:spcPts val="1400"/>
              </a:spcBef>
              <a:spcAft>
                <a:spcPts val="0"/>
              </a:spcAft>
              <a:buSzPct val="100000"/>
              <a:buNone/>
            </a:pPr>
            <a:r>
              <a:t/>
            </a:r>
            <a:endParaRPr/>
          </a:p>
          <a:p>
            <a:pPr indent="0" lvl="0" marL="91440" rtl="0" algn="l">
              <a:lnSpc>
                <a:spcPct val="90000"/>
              </a:lnSpc>
              <a:spcBef>
                <a:spcPts val="1400"/>
              </a:spcBef>
              <a:spcAft>
                <a:spcPts val="0"/>
              </a:spcAft>
              <a:buSzPct val="100000"/>
              <a:buNone/>
            </a:pPr>
            <a:r>
              <a:t/>
            </a:r>
            <a:endParaRPr/>
          </a:p>
          <a:p>
            <a:pPr indent="0" lvl="0" marL="91440" rtl="0" algn="l">
              <a:lnSpc>
                <a:spcPct val="90000"/>
              </a:lnSpc>
              <a:spcBef>
                <a:spcPts val="1400"/>
              </a:spcBef>
              <a:spcAft>
                <a:spcPts val="0"/>
              </a:spcAft>
              <a:buSzPct val="100000"/>
              <a:buNone/>
            </a:pPr>
            <a:r>
              <a:t/>
            </a:r>
            <a:endParaRPr/>
          </a:p>
          <a:p>
            <a:pPr indent="0" lvl="0" marL="91440" rtl="0" algn="l">
              <a:lnSpc>
                <a:spcPct val="90000"/>
              </a:lnSpc>
              <a:spcBef>
                <a:spcPts val="1400"/>
              </a:spcBef>
              <a:spcAft>
                <a:spcPts val="0"/>
              </a:spcAft>
              <a:buSzPct val="100000"/>
              <a:buNone/>
            </a:pPr>
            <a:r>
              <a:t/>
            </a:r>
            <a:endParaRPr/>
          </a:p>
          <a:p>
            <a:pPr indent="0" lvl="0" marL="91440" rtl="0" algn="l">
              <a:lnSpc>
                <a:spcPct val="90000"/>
              </a:lnSpc>
              <a:spcBef>
                <a:spcPts val="1400"/>
              </a:spcBef>
              <a:spcAft>
                <a:spcPts val="0"/>
              </a:spcAft>
              <a:buSzPct val="100000"/>
              <a:buNone/>
            </a:pPr>
            <a:r>
              <a:t/>
            </a:r>
            <a:endParaRPr/>
          </a:p>
          <a:p>
            <a:pPr indent="-117475" lvl="0" marL="91440" rtl="0" algn="l">
              <a:lnSpc>
                <a:spcPct val="90000"/>
              </a:lnSpc>
              <a:spcBef>
                <a:spcPts val="1400"/>
              </a:spcBef>
              <a:spcAft>
                <a:spcPts val="0"/>
              </a:spcAft>
              <a:buSzPct val="100000"/>
              <a:buChar char=" "/>
            </a:pPr>
            <a:r>
              <a:rPr i="1" lang="tr-TR"/>
              <a:t>Varyans (s</a:t>
            </a:r>
            <a:r>
              <a:rPr baseline="30000" i="1" lang="tr-TR"/>
              <a:t>2</a:t>
            </a:r>
            <a:r>
              <a:rPr i="1" lang="tr-TR"/>
              <a:t>) = 726 / 9 = 80,67 </a:t>
            </a:r>
            <a:endParaRPr/>
          </a:p>
          <a:p>
            <a:pPr indent="-117475" lvl="0" marL="91440" rtl="0" algn="l">
              <a:lnSpc>
                <a:spcPct val="90000"/>
              </a:lnSpc>
              <a:spcBef>
                <a:spcPts val="1400"/>
              </a:spcBef>
              <a:spcAft>
                <a:spcPts val="0"/>
              </a:spcAft>
              <a:buSzPct val="100000"/>
              <a:buChar char=" "/>
            </a:pPr>
            <a:r>
              <a:rPr i="1" lang="tr-TR"/>
              <a:t>Standart sapma (s) = √80,67 = 8,98 </a:t>
            </a:r>
            <a:endParaRPr/>
          </a:p>
        </p:txBody>
      </p:sp>
      <p:pic>
        <p:nvPicPr>
          <p:cNvPr id="260" name="Google Shape;260;p24"/>
          <p:cNvPicPr preferRelativeResize="0"/>
          <p:nvPr/>
        </p:nvPicPr>
        <p:blipFill rotWithShape="1">
          <a:blip r:embed="rId3">
            <a:alphaModFix/>
          </a:blip>
          <a:srcRect b="23387" l="27545" r="39326" t="20484"/>
          <a:stretch/>
        </p:blipFill>
        <p:spPr>
          <a:xfrm>
            <a:off x="1043608" y="1411241"/>
            <a:ext cx="4310462" cy="4105991"/>
          </a:xfrm>
          <a:prstGeom prst="rect">
            <a:avLst/>
          </a:prstGeom>
          <a:noFill/>
          <a:ln>
            <a:noFill/>
          </a:ln>
        </p:spPr>
      </p:pic>
      <p:pic>
        <p:nvPicPr>
          <p:cNvPr descr="Ekran Kırpma" id="261" name="Google Shape;261;p24"/>
          <p:cNvPicPr preferRelativeResize="0"/>
          <p:nvPr/>
        </p:nvPicPr>
        <p:blipFill rotWithShape="1">
          <a:blip r:embed="rId4">
            <a:alphaModFix/>
          </a:blip>
          <a:srcRect b="80247" l="36300" r="31850" t="0"/>
          <a:stretch/>
        </p:blipFill>
        <p:spPr>
          <a:xfrm>
            <a:off x="5845781" y="1511424"/>
            <a:ext cx="2239895" cy="864096"/>
          </a:xfrm>
          <a:prstGeom prst="rect">
            <a:avLst/>
          </a:prstGeom>
          <a:noFill/>
          <a:ln>
            <a:noFill/>
          </a:ln>
        </p:spPr>
      </p:pic>
      <p:pic>
        <p:nvPicPr>
          <p:cNvPr id="262" name="Google Shape;262;p24"/>
          <p:cNvPicPr preferRelativeResize="0"/>
          <p:nvPr/>
        </p:nvPicPr>
        <p:blipFill rotWithShape="1">
          <a:blip r:embed="rId5">
            <a:alphaModFix/>
          </a:blip>
          <a:srcRect b="0" l="0" r="0" t="0"/>
          <a:stretch/>
        </p:blipFill>
        <p:spPr>
          <a:xfrm>
            <a:off x="5835724" y="3586336"/>
            <a:ext cx="2552700" cy="1066800"/>
          </a:xfrm>
          <a:prstGeom prst="rect">
            <a:avLst/>
          </a:prstGeom>
          <a:noFill/>
          <a:ln>
            <a:noFill/>
          </a:ln>
        </p:spPr>
      </p:pic>
      <p:sp>
        <p:nvSpPr>
          <p:cNvPr id="263" name="Google Shape;263;p24"/>
          <p:cNvSpPr txBox="1"/>
          <p:nvPr/>
        </p:nvSpPr>
        <p:spPr>
          <a:xfrm>
            <a:off x="971600" y="385500"/>
            <a:ext cx="126457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tr-TR" sz="2800" u="none" cap="none" strike="noStrike">
                <a:solidFill>
                  <a:schemeClr val="dk1"/>
                </a:solidFill>
                <a:latin typeface="Arial"/>
                <a:ea typeface="Arial"/>
                <a:cs typeface="Arial"/>
                <a:sym typeface="Arial"/>
              </a:rPr>
              <a:t>Örnek;</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5"/>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ORTALAMA</a:t>
            </a:r>
            <a:endParaRPr/>
          </a:p>
        </p:txBody>
      </p:sp>
      <p:pic>
        <p:nvPicPr>
          <p:cNvPr id="269" name="Google Shape;269;p25"/>
          <p:cNvPicPr preferRelativeResize="0"/>
          <p:nvPr/>
        </p:nvPicPr>
        <p:blipFill rotWithShape="1">
          <a:blip r:embed="rId3">
            <a:alphaModFix/>
          </a:blip>
          <a:srcRect b="0" l="0" r="0" t="0"/>
          <a:stretch/>
        </p:blipFill>
        <p:spPr>
          <a:xfrm>
            <a:off x="537585" y="3651771"/>
            <a:ext cx="3645406" cy="1758068"/>
          </a:xfrm>
          <a:prstGeom prst="rect">
            <a:avLst/>
          </a:prstGeom>
          <a:noFill/>
          <a:ln>
            <a:noFill/>
          </a:ln>
        </p:spPr>
      </p:pic>
      <p:pic>
        <p:nvPicPr>
          <p:cNvPr id="270" name="Google Shape;270;p25"/>
          <p:cNvPicPr preferRelativeResize="0"/>
          <p:nvPr/>
        </p:nvPicPr>
        <p:blipFill rotWithShape="1">
          <a:blip r:embed="rId4">
            <a:alphaModFix/>
          </a:blip>
          <a:srcRect b="0" l="0" r="0" t="0"/>
          <a:stretch/>
        </p:blipFill>
        <p:spPr>
          <a:xfrm>
            <a:off x="5477269" y="3508048"/>
            <a:ext cx="3133211" cy="1259210"/>
          </a:xfrm>
          <a:prstGeom prst="rect">
            <a:avLst/>
          </a:prstGeom>
          <a:noFill/>
          <a:ln>
            <a:noFill/>
          </a:ln>
        </p:spPr>
      </p:pic>
      <p:sp>
        <p:nvSpPr>
          <p:cNvPr id="271" name="Google Shape;271;p25"/>
          <p:cNvSpPr txBox="1"/>
          <p:nvPr/>
        </p:nvSpPr>
        <p:spPr>
          <a:xfrm>
            <a:off x="3365000" y="2908175"/>
            <a:ext cx="50405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400">
                <a:solidFill>
                  <a:schemeClr val="dk1"/>
                </a:solidFill>
                <a:latin typeface="Arial"/>
                <a:ea typeface="Arial"/>
                <a:cs typeface="Arial"/>
                <a:sym typeface="Arial"/>
              </a:rPr>
              <a:t>2</a:t>
            </a:r>
            <a:endParaRPr/>
          </a:p>
        </p:txBody>
      </p:sp>
      <p:sp>
        <p:nvSpPr>
          <p:cNvPr id="272" name="Google Shape;272;p25"/>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0"/>
              </a:spcBef>
              <a:spcAft>
                <a:spcPts val="0"/>
              </a:spcAft>
              <a:buSzPts val="20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6"/>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t/>
            </a:r>
            <a:endParaRPr/>
          </a:p>
        </p:txBody>
      </p:sp>
      <p:sp>
        <p:nvSpPr>
          <p:cNvPr id="278" name="Google Shape;278;p26"/>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0" lvl="0" marL="91440" rtl="0" algn="l">
              <a:lnSpc>
                <a:spcPct val="90000"/>
              </a:lnSpc>
              <a:spcBef>
                <a:spcPts val="0"/>
              </a:spcBef>
              <a:spcAft>
                <a:spcPts val="0"/>
              </a:spcAft>
              <a:buSzPts val="2000"/>
              <a:buNone/>
            </a:pPr>
            <a:r>
              <a:t/>
            </a:r>
            <a:endParaRPr/>
          </a:p>
        </p:txBody>
      </p:sp>
      <p:pic>
        <p:nvPicPr>
          <p:cNvPr id="279" name="Google Shape;279;p26"/>
          <p:cNvPicPr preferRelativeResize="0"/>
          <p:nvPr/>
        </p:nvPicPr>
        <p:blipFill rotWithShape="1">
          <a:blip r:embed="rId3">
            <a:alphaModFix/>
          </a:blip>
          <a:srcRect b="0" l="0" r="0" t="0"/>
          <a:stretch/>
        </p:blipFill>
        <p:spPr>
          <a:xfrm>
            <a:off x="107504" y="652451"/>
            <a:ext cx="9243008" cy="586546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7"/>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t/>
            </a:r>
            <a:endParaRPr/>
          </a:p>
        </p:txBody>
      </p:sp>
      <p:sp>
        <p:nvSpPr>
          <p:cNvPr id="285" name="Google Shape;285;p27"/>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0" lvl="0" marL="91440" rtl="0" algn="l">
              <a:lnSpc>
                <a:spcPct val="90000"/>
              </a:lnSpc>
              <a:spcBef>
                <a:spcPts val="0"/>
              </a:spcBef>
              <a:spcAft>
                <a:spcPts val="0"/>
              </a:spcAft>
              <a:buSzPts val="2000"/>
              <a:buNone/>
            </a:pPr>
            <a:r>
              <a:t/>
            </a:r>
            <a:endParaRPr/>
          </a:p>
        </p:txBody>
      </p:sp>
      <p:pic>
        <p:nvPicPr>
          <p:cNvPr id="286" name="Google Shape;286;p27"/>
          <p:cNvPicPr preferRelativeResize="0"/>
          <p:nvPr/>
        </p:nvPicPr>
        <p:blipFill rotWithShape="1">
          <a:blip r:embed="rId3">
            <a:alphaModFix/>
          </a:blip>
          <a:srcRect b="0" l="0" r="0" t="0"/>
          <a:stretch/>
        </p:blipFill>
        <p:spPr>
          <a:xfrm>
            <a:off x="744006" y="908720"/>
            <a:ext cx="7314144" cy="518217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8"/>
          <p:cNvSpPr txBox="1"/>
          <p:nvPr>
            <p:ph type="title"/>
          </p:nvPr>
        </p:nvSpPr>
        <p:spPr>
          <a:xfrm>
            <a:off x="468313" y="188913"/>
            <a:ext cx="8229600" cy="534987"/>
          </a:xfrm>
          <a:prstGeom prst="rect">
            <a:avLst/>
          </a:prstGeom>
          <a:solidFill>
            <a:srgbClr val="FFFFC9"/>
          </a:solid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rgbClr val="0C0C0C"/>
              </a:buClr>
              <a:buSzPts val="4400"/>
              <a:buFont typeface="Twentieth Century"/>
              <a:buNone/>
            </a:pPr>
            <a:r>
              <a:rPr lang="tr-TR"/>
              <a:t>NORMAL DAĞILIM</a:t>
            </a:r>
            <a:endParaRPr/>
          </a:p>
        </p:txBody>
      </p:sp>
      <p:sp>
        <p:nvSpPr>
          <p:cNvPr id="292" name="Google Shape;292;p28"/>
          <p:cNvSpPr txBox="1"/>
          <p:nvPr>
            <p:ph idx="1" type="body"/>
          </p:nvPr>
        </p:nvSpPr>
        <p:spPr>
          <a:xfrm>
            <a:off x="179388" y="881063"/>
            <a:ext cx="8785225" cy="5716587"/>
          </a:xfrm>
          <a:prstGeom prst="rect">
            <a:avLst/>
          </a:prstGeom>
          <a:solidFill>
            <a:srgbClr val="E1FFFF"/>
          </a:solidFill>
          <a:ln>
            <a:noFill/>
          </a:ln>
        </p:spPr>
        <p:txBody>
          <a:bodyPr anchorCtr="0" anchor="t" bIns="45700" lIns="45700" spcFirstLastPara="1" rIns="45700" wrap="square" tIns="45700">
            <a:normAutofit/>
          </a:bodyPr>
          <a:lstStyle/>
          <a:p>
            <a:pPr indent="-91440" lvl="0" marL="91440" rtl="0" algn="just">
              <a:lnSpc>
                <a:spcPct val="90000"/>
              </a:lnSpc>
              <a:spcBef>
                <a:spcPts val="0"/>
              </a:spcBef>
              <a:spcAft>
                <a:spcPts val="0"/>
              </a:spcAft>
              <a:buSzPts val="2400"/>
              <a:buFont typeface="Twentieth Century"/>
              <a:buNone/>
            </a:pPr>
            <a:r>
              <a:rPr lang="tr-TR" sz="2400">
                <a:solidFill>
                  <a:srgbClr val="000099"/>
                </a:solidFill>
              </a:rPr>
              <a:t>İstatistikte en yaygın kullanılan dağılım normal dağılımdır. Bazı eserlerde Gauss dağılımı, çan eğrisi, normal eğri vs. gibi isimlerle de adlandırılmaktadır. </a:t>
            </a:r>
            <a:endParaRPr/>
          </a:p>
          <a:p>
            <a:pPr indent="-152400" lvl="0" marL="91440" rtl="0" algn="just">
              <a:lnSpc>
                <a:spcPct val="90000"/>
              </a:lnSpc>
              <a:spcBef>
                <a:spcPts val="1400"/>
              </a:spcBef>
              <a:spcAft>
                <a:spcPts val="0"/>
              </a:spcAft>
              <a:buSzPts val="2400"/>
              <a:buChar char=" "/>
            </a:pPr>
            <a:r>
              <a:rPr lang="tr-TR" sz="2400">
                <a:solidFill>
                  <a:srgbClr val="000099"/>
                </a:solidFill>
              </a:rPr>
              <a:t>Normal dağılımın olasılık yoğunluk fonksiyonu şöyledir:</a:t>
            </a:r>
            <a:endParaRPr/>
          </a:p>
          <a:p>
            <a:pPr indent="0" lvl="0" marL="91440" rtl="0" algn="just">
              <a:lnSpc>
                <a:spcPct val="90000"/>
              </a:lnSpc>
              <a:spcBef>
                <a:spcPts val="1400"/>
              </a:spcBef>
              <a:spcAft>
                <a:spcPts val="0"/>
              </a:spcAft>
              <a:buSzPts val="2400"/>
              <a:buNone/>
            </a:pPr>
            <a:r>
              <a:t/>
            </a:r>
            <a:endParaRPr sz="2400">
              <a:solidFill>
                <a:srgbClr val="000099"/>
              </a:solidFill>
            </a:endParaRPr>
          </a:p>
          <a:p>
            <a:pPr indent="0" lvl="0" marL="91440" rtl="0" algn="just">
              <a:lnSpc>
                <a:spcPct val="90000"/>
              </a:lnSpc>
              <a:spcBef>
                <a:spcPts val="1400"/>
              </a:spcBef>
              <a:spcAft>
                <a:spcPts val="0"/>
              </a:spcAft>
              <a:buSzPts val="2400"/>
              <a:buNone/>
            </a:pPr>
            <a:r>
              <a:t/>
            </a:r>
            <a:endParaRPr sz="2400">
              <a:solidFill>
                <a:srgbClr val="000099"/>
              </a:solidFill>
            </a:endParaRPr>
          </a:p>
          <a:p>
            <a:pPr indent="-152400" lvl="0" marL="91440" rtl="0" algn="just">
              <a:lnSpc>
                <a:spcPct val="90000"/>
              </a:lnSpc>
              <a:spcBef>
                <a:spcPts val="1400"/>
              </a:spcBef>
              <a:spcAft>
                <a:spcPts val="0"/>
              </a:spcAft>
              <a:buSzPts val="2400"/>
              <a:buChar char=" "/>
            </a:pPr>
            <a:r>
              <a:rPr lang="tr-TR" sz="2400">
                <a:solidFill>
                  <a:srgbClr val="000099"/>
                </a:solidFill>
              </a:rPr>
              <a:t>Bu dağılım µ   (ortalama) ve σ (standart sapma) parametrelerine dayanmaktadır. Dolayısıyla normal bir dağılım  N(µ, σ</a:t>
            </a:r>
            <a:r>
              <a:rPr baseline="30000" lang="tr-TR" sz="2400">
                <a:solidFill>
                  <a:srgbClr val="000099"/>
                </a:solidFill>
              </a:rPr>
              <a:t>2</a:t>
            </a:r>
            <a:r>
              <a:rPr lang="tr-TR" sz="2400">
                <a:solidFill>
                  <a:srgbClr val="000099"/>
                </a:solidFill>
              </a:rPr>
              <a:t>) sembolü ile gösterilir.</a:t>
            </a:r>
            <a:endParaRPr/>
          </a:p>
          <a:p>
            <a:pPr indent="-152400" lvl="0" marL="91440" rtl="0" algn="just">
              <a:lnSpc>
                <a:spcPct val="90000"/>
              </a:lnSpc>
              <a:spcBef>
                <a:spcPts val="1400"/>
              </a:spcBef>
              <a:spcAft>
                <a:spcPts val="0"/>
              </a:spcAft>
              <a:buSzPts val="2400"/>
              <a:buChar char=" "/>
            </a:pPr>
            <a:r>
              <a:rPr lang="tr-TR" sz="2400">
                <a:solidFill>
                  <a:srgbClr val="000099"/>
                </a:solidFill>
              </a:rPr>
              <a:t>Yukarıdaki fonksiyona olasılık yoğunluk fonksiyonu diyebilmek için; </a:t>
            </a:r>
            <a:endParaRPr/>
          </a:p>
          <a:p>
            <a:pPr indent="-152400" lvl="0" marL="91440" rtl="0" algn="just">
              <a:lnSpc>
                <a:spcPct val="90000"/>
              </a:lnSpc>
              <a:spcBef>
                <a:spcPts val="1400"/>
              </a:spcBef>
              <a:spcAft>
                <a:spcPts val="0"/>
              </a:spcAft>
              <a:buSzPts val="2400"/>
              <a:buChar char=" "/>
            </a:pPr>
            <a:r>
              <a:rPr lang="tr-TR" sz="2400">
                <a:solidFill>
                  <a:srgbClr val="000099"/>
                </a:solidFill>
              </a:rPr>
              <a:t>                                         olması gerekir. </a:t>
            </a:r>
            <a:endParaRPr/>
          </a:p>
          <a:p>
            <a:pPr indent="0" lvl="0" marL="91440" rtl="0" algn="just">
              <a:lnSpc>
                <a:spcPct val="90000"/>
              </a:lnSpc>
              <a:spcBef>
                <a:spcPts val="1400"/>
              </a:spcBef>
              <a:spcAft>
                <a:spcPts val="0"/>
              </a:spcAft>
              <a:buSzPts val="2400"/>
              <a:buNone/>
            </a:pPr>
            <a:r>
              <a:t/>
            </a:r>
            <a:endParaRPr sz="2400">
              <a:solidFill>
                <a:srgbClr val="000099"/>
              </a:solidFill>
            </a:endParaRPr>
          </a:p>
        </p:txBody>
      </p:sp>
      <p:sp>
        <p:nvSpPr>
          <p:cNvPr id="293" name="Google Shape;293;p28"/>
          <p:cNvSpPr/>
          <p:nvPr/>
        </p:nvSpPr>
        <p:spPr>
          <a:xfrm>
            <a:off x="0" y="3214688"/>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294" name="Google Shape;294;p28"/>
          <p:cNvPicPr preferRelativeResize="0"/>
          <p:nvPr/>
        </p:nvPicPr>
        <p:blipFill rotWithShape="1">
          <a:blip r:embed="rId3">
            <a:alphaModFix/>
          </a:blip>
          <a:srcRect b="0" l="0" r="0" t="0"/>
          <a:stretch/>
        </p:blipFill>
        <p:spPr>
          <a:xfrm>
            <a:off x="900113" y="2420938"/>
            <a:ext cx="5472112" cy="769937"/>
          </a:xfrm>
          <a:prstGeom prst="rect">
            <a:avLst/>
          </a:prstGeom>
          <a:noFill/>
          <a:ln>
            <a:noFill/>
          </a:ln>
        </p:spPr>
      </p:pic>
      <p:sp>
        <p:nvSpPr>
          <p:cNvPr id="295" name="Google Shape;295;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296" name="Google Shape;296;p28"/>
          <p:cNvPicPr preferRelativeResize="0"/>
          <p:nvPr/>
        </p:nvPicPr>
        <p:blipFill rotWithShape="1">
          <a:blip r:embed="rId4">
            <a:alphaModFix/>
          </a:blip>
          <a:srcRect b="0" l="0" r="0" t="0"/>
          <a:stretch/>
        </p:blipFill>
        <p:spPr>
          <a:xfrm>
            <a:off x="684213" y="4941888"/>
            <a:ext cx="2530475" cy="846137"/>
          </a:xfrm>
          <a:prstGeom prst="rect">
            <a:avLst/>
          </a:prstGeom>
          <a:noFill/>
          <a:ln>
            <a:noFill/>
          </a:ln>
        </p:spPr>
      </p:pic>
      <p:sp>
        <p:nvSpPr>
          <p:cNvPr id="297" name="Google Shape;297;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9"/>
          <p:cNvSpPr txBox="1"/>
          <p:nvPr>
            <p:ph type="title"/>
          </p:nvPr>
        </p:nvSpPr>
        <p:spPr>
          <a:xfrm>
            <a:off x="457200" y="209551"/>
            <a:ext cx="8229600" cy="706437"/>
          </a:xfrm>
          <a:prstGeom prst="rect">
            <a:avLst/>
          </a:prstGeom>
          <a:solidFill>
            <a:srgbClr val="FFFFC9"/>
          </a:solid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NORMAL</a:t>
            </a:r>
            <a:r>
              <a:rPr b="1" lang="tr-TR" sz="4000">
                <a:solidFill>
                  <a:srgbClr val="FF0000"/>
                </a:solidFill>
              </a:rPr>
              <a:t> </a:t>
            </a:r>
            <a:r>
              <a:rPr lang="tr-TR"/>
              <a:t>DAĞILIM</a:t>
            </a:r>
            <a:endParaRPr/>
          </a:p>
        </p:txBody>
      </p:sp>
      <p:sp>
        <p:nvSpPr>
          <p:cNvPr id="303" name="Google Shape;303;p29"/>
          <p:cNvSpPr txBox="1"/>
          <p:nvPr>
            <p:ph idx="1" type="body"/>
          </p:nvPr>
        </p:nvSpPr>
        <p:spPr>
          <a:xfrm>
            <a:off x="323850" y="1125538"/>
            <a:ext cx="8569325" cy="5327650"/>
          </a:xfrm>
          <a:prstGeom prst="rect">
            <a:avLst/>
          </a:prstGeom>
          <a:solidFill>
            <a:srgbClr val="E1FFFF"/>
          </a:solidFill>
          <a:ln>
            <a:noFill/>
          </a:ln>
        </p:spPr>
        <p:txBody>
          <a:bodyPr anchorCtr="0" anchor="t" bIns="45700" lIns="45700" spcFirstLastPara="1" rIns="45700" wrap="square" tIns="45700">
            <a:normAutofit/>
          </a:bodyPr>
          <a:lstStyle/>
          <a:p>
            <a:pPr indent="-152400" lvl="0" marL="91440" rtl="0" algn="just">
              <a:lnSpc>
                <a:spcPct val="90000"/>
              </a:lnSpc>
              <a:spcBef>
                <a:spcPts val="0"/>
              </a:spcBef>
              <a:spcAft>
                <a:spcPts val="0"/>
              </a:spcAft>
              <a:buSzPts val="2400"/>
              <a:buChar char=" "/>
            </a:pPr>
            <a:r>
              <a:rPr lang="tr-TR" sz="2400">
                <a:solidFill>
                  <a:srgbClr val="000099"/>
                </a:solidFill>
              </a:rPr>
              <a:t>Normal dağılım şekilde görüldüğü gibi çan şeklinde bir dağılımdır. Dağılım aritmetik ortalama ve standart sapma parametreleriyle ifade edilmektedir. Dağılımın tanım aralığı -∞ ve +∞ aralığındadır.</a:t>
            </a:r>
            <a:endParaRPr sz="2400"/>
          </a:p>
          <a:p>
            <a:pPr indent="0" lvl="0" marL="91440" rtl="0" algn="l">
              <a:lnSpc>
                <a:spcPct val="90000"/>
              </a:lnSpc>
              <a:spcBef>
                <a:spcPts val="1400"/>
              </a:spcBef>
              <a:spcAft>
                <a:spcPts val="0"/>
              </a:spcAft>
              <a:buSzPts val="2400"/>
              <a:buNone/>
            </a:pPr>
            <a:r>
              <a:t/>
            </a:r>
            <a:endParaRPr sz="2400"/>
          </a:p>
          <a:p>
            <a:pPr indent="0" lvl="0" marL="91440" rtl="0" algn="l">
              <a:lnSpc>
                <a:spcPct val="90000"/>
              </a:lnSpc>
              <a:spcBef>
                <a:spcPts val="1400"/>
              </a:spcBef>
              <a:spcAft>
                <a:spcPts val="0"/>
              </a:spcAft>
              <a:buSzPts val="2400"/>
              <a:buNone/>
            </a:pPr>
            <a:r>
              <a:t/>
            </a:r>
            <a:endParaRPr sz="2400"/>
          </a:p>
          <a:p>
            <a:pPr indent="0" lvl="0" marL="91440" rtl="0" algn="l">
              <a:lnSpc>
                <a:spcPct val="90000"/>
              </a:lnSpc>
              <a:spcBef>
                <a:spcPts val="1400"/>
              </a:spcBef>
              <a:spcAft>
                <a:spcPts val="0"/>
              </a:spcAft>
              <a:buSzPts val="2400"/>
              <a:buNone/>
            </a:pPr>
            <a:r>
              <a:t/>
            </a:r>
            <a:endParaRPr sz="2400"/>
          </a:p>
          <a:p>
            <a:pPr indent="0" lvl="0" marL="91440" rtl="0" algn="l">
              <a:lnSpc>
                <a:spcPct val="90000"/>
              </a:lnSpc>
              <a:spcBef>
                <a:spcPts val="1400"/>
              </a:spcBef>
              <a:spcAft>
                <a:spcPts val="0"/>
              </a:spcAft>
              <a:buSzPts val="2400"/>
              <a:buNone/>
            </a:pPr>
            <a:r>
              <a:t/>
            </a:r>
            <a:endParaRPr sz="2400"/>
          </a:p>
          <a:p>
            <a:pPr indent="0" lvl="0" marL="91440" rtl="0" algn="l">
              <a:lnSpc>
                <a:spcPct val="90000"/>
              </a:lnSpc>
              <a:spcBef>
                <a:spcPts val="1400"/>
              </a:spcBef>
              <a:spcAft>
                <a:spcPts val="0"/>
              </a:spcAft>
              <a:buSzPts val="2400"/>
              <a:buNone/>
            </a:pPr>
            <a:r>
              <a:t/>
            </a:r>
            <a:endParaRPr sz="2400"/>
          </a:p>
          <a:p>
            <a:pPr indent="-91440" lvl="0" marL="91440" rtl="0" algn="l">
              <a:lnSpc>
                <a:spcPct val="90000"/>
              </a:lnSpc>
              <a:spcBef>
                <a:spcPts val="1400"/>
              </a:spcBef>
              <a:spcAft>
                <a:spcPts val="0"/>
              </a:spcAft>
              <a:buSzPts val="2000"/>
              <a:buFont typeface="Twentieth Century"/>
              <a:buNone/>
            </a:pPr>
            <a:r>
              <a:rPr lang="tr-TR"/>
              <a:t>                                 </a:t>
            </a:r>
            <a:endParaRPr/>
          </a:p>
          <a:p>
            <a:pPr indent="-91440" lvl="0" marL="91440" rtl="0" algn="l">
              <a:lnSpc>
                <a:spcPct val="90000"/>
              </a:lnSpc>
              <a:spcBef>
                <a:spcPts val="1400"/>
              </a:spcBef>
              <a:spcAft>
                <a:spcPts val="0"/>
              </a:spcAft>
              <a:buSzPts val="2000"/>
              <a:buFont typeface="Twentieth Century"/>
              <a:buNone/>
            </a:pPr>
            <a:r>
              <a:t/>
            </a:r>
            <a:endParaRPr/>
          </a:p>
        </p:txBody>
      </p:sp>
      <p:sp>
        <p:nvSpPr>
          <p:cNvPr id="304" name="Google Shape;304;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305" name="Google Shape;305;p29"/>
          <p:cNvPicPr preferRelativeResize="0"/>
          <p:nvPr/>
        </p:nvPicPr>
        <p:blipFill rotWithShape="1">
          <a:blip r:embed="rId3">
            <a:alphaModFix/>
          </a:blip>
          <a:srcRect b="0" l="0" r="0" t="0"/>
          <a:stretch/>
        </p:blipFill>
        <p:spPr>
          <a:xfrm>
            <a:off x="1116013" y="2997200"/>
            <a:ext cx="5834062" cy="330676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0"/>
          <p:cNvSpPr txBox="1"/>
          <p:nvPr>
            <p:ph idx="4294967295" type="title"/>
          </p:nvPr>
        </p:nvSpPr>
        <p:spPr>
          <a:xfrm>
            <a:off x="792163" y="188913"/>
            <a:ext cx="8351837" cy="719137"/>
          </a:xfrm>
          <a:prstGeom prst="rect">
            <a:avLst/>
          </a:prstGeom>
          <a:solidFill>
            <a:srgbClr val="FFFFC9"/>
          </a:solid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NORMAL DAĞILIMIN ÖZELLIKLERI</a:t>
            </a:r>
            <a:endParaRPr/>
          </a:p>
        </p:txBody>
      </p:sp>
      <p:sp>
        <p:nvSpPr>
          <p:cNvPr id="311" name="Google Shape;311;p30"/>
          <p:cNvSpPr txBox="1"/>
          <p:nvPr>
            <p:ph idx="4294967295" type="body"/>
          </p:nvPr>
        </p:nvSpPr>
        <p:spPr>
          <a:xfrm>
            <a:off x="0" y="1125538"/>
            <a:ext cx="8785225" cy="5399087"/>
          </a:xfrm>
          <a:prstGeom prst="rect">
            <a:avLst/>
          </a:prstGeom>
          <a:solidFill>
            <a:srgbClr val="E1FFFF"/>
          </a:solidFill>
          <a:ln>
            <a:noFill/>
          </a:ln>
        </p:spPr>
        <p:txBody>
          <a:bodyPr anchorCtr="0" anchor="t" bIns="45700" lIns="45700" spcFirstLastPara="1" rIns="45700" wrap="square" tIns="45700">
            <a:normAutofit lnSpcReduction="10000"/>
          </a:bodyPr>
          <a:lstStyle/>
          <a:p>
            <a:pPr indent="-609600" lvl="0" marL="609600" rtl="0" algn="just">
              <a:lnSpc>
                <a:spcPct val="90000"/>
              </a:lnSpc>
              <a:spcBef>
                <a:spcPts val="0"/>
              </a:spcBef>
              <a:spcAft>
                <a:spcPts val="0"/>
              </a:spcAft>
              <a:buSzPts val="2400"/>
              <a:buChar char=" "/>
            </a:pPr>
            <a:r>
              <a:rPr lang="tr-TR" sz="2400">
                <a:solidFill>
                  <a:srgbClr val="000099"/>
                </a:solidFill>
              </a:rPr>
              <a:t>Dağılımın aritmetik ortalama (µ) etrafında simetriktir. Yukarıdaki şekilde de görüldüğü gibi ortalamanın solunda kalan alanla, ortalamanın sağında kalan alanlar birbirine eşittir.</a:t>
            </a:r>
            <a:endParaRPr/>
          </a:p>
          <a:p>
            <a:pPr indent="-609600" lvl="0" marL="609600" rtl="0" algn="just">
              <a:lnSpc>
                <a:spcPct val="90000"/>
              </a:lnSpc>
              <a:spcBef>
                <a:spcPts val="1400"/>
              </a:spcBef>
              <a:spcAft>
                <a:spcPts val="0"/>
              </a:spcAft>
              <a:buSzPts val="2400"/>
              <a:buChar char=" "/>
            </a:pPr>
            <a:r>
              <a:rPr lang="tr-TR" sz="2400">
                <a:solidFill>
                  <a:srgbClr val="000099"/>
                </a:solidFill>
              </a:rPr>
              <a:t>Aritmetik ortalama, mod ve medyan birbirine eşittir. </a:t>
            </a:r>
            <a:endParaRPr/>
          </a:p>
          <a:p>
            <a:pPr indent="-609600" lvl="0" marL="609600" rtl="0" algn="just">
              <a:lnSpc>
                <a:spcPct val="90000"/>
              </a:lnSpc>
              <a:spcBef>
                <a:spcPts val="1400"/>
              </a:spcBef>
              <a:spcAft>
                <a:spcPts val="0"/>
              </a:spcAft>
              <a:buSzPts val="2400"/>
              <a:buChar char=" "/>
            </a:pPr>
            <a:r>
              <a:rPr lang="tr-TR" sz="2400">
                <a:solidFill>
                  <a:srgbClr val="000099"/>
                </a:solidFill>
              </a:rPr>
              <a:t>Sürekli rassal bir değişkenin yoğunluk fonksiyonu olduğu için eğrinin altında kalan alanın tamamı 1’e eşittir.   </a:t>
            </a:r>
            <a:endParaRPr/>
          </a:p>
          <a:p>
            <a:pPr indent="-609600" lvl="0" marL="609600" rtl="0" algn="just">
              <a:lnSpc>
                <a:spcPct val="90000"/>
              </a:lnSpc>
              <a:spcBef>
                <a:spcPts val="1400"/>
              </a:spcBef>
              <a:spcAft>
                <a:spcPts val="0"/>
              </a:spcAft>
              <a:buSzPts val="2400"/>
              <a:buChar char=" "/>
            </a:pPr>
            <a:r>
              <a:rPr lang="tr-TR" sz="2400">
                <a:solidFill>
                  <a:srgbClr val="000099"/>
                </a:solidFill>
              </a:rPr>
              <a:t>Aritmetik ortalamanın 1σ sağında ve solunda kalan alan toplam alanın %68’ine eşittir.</a:t>
            </a:r>
            <a:endParaRPr/>
          </a:p>
          <a:p>
            <a:pPr indent="-609600" lvl="0" marL="609600" rtl="0" algn="just">
              <a:lnSpc>
                <a:spcPct val="90000"/>
              </a:lnSpc>
              <a:spcBef>
                <a:spcPts val="1400"/>
              </a:spcBef>
              <a:spcAft>
                <a:spcPts val="0"/>
              </a:spcAft>
              <a:buSzPts val="2400"/>
              <a:buChar char=" "/>
            </a:pPr>
            <a:r>
              <a:rPr lang="tr-TR" sz="2400">
                <a:solidFill>
                  <a:srgbClr val="000099"/>
                </a:solidFill>
              </a:rPr>
              <a:t>Aritmetik ortalamanın 2σ sağında ve solunda kalan alan toplam alanın %95’ine eşittir</a:t>
            </a:r>
            <a:endParaRPr/>
          </a:p>
          <a:p>
            <a:pPr indent="-609600" lvl="0" marL="609600" rtl="0" algn="just">
              <a:lnSpc>
                <a:spcPct val="90000"/>
              </a:lnSpc>
              <a:spcBef>
                <a:spcPts val="1400"/>
              </a:spcBef>
              <a:spcAft>
                <a:spcPts val="0"/>
              </a:spcAft>
              <a:buSzPts val="2400"/>
              <a:buChar char=" "/>
            </a:pPr>
            <a:r>
              <a:rPr lang="tr-TR" sz="2400">
                <a:solidFill>
                  <a:srgbClr val="000099"/>
                </a:solidFill>
              </a:rPr>
              <a:t>Aritmetik ortalamanın 3σ sağında ve solunda kalan alan toplam alanın %99,7’ine eşittir</a:t>
            </a:r>
            <a:endParaRPr/>
          </a:p>
          <a:p>
            <a:pPr indent="-609600" lvl="0" marL="609600" rtl="0" algn="just">
              <a:lnSpc>
                <a:spcPct val="90000"/>
              </a:lnSpc>
              <a:spcBef>
                <a:spcPts val="1400"/>
              </a:spcBef>
              <a:spcAft>
                <a:spcPts val="0"/>
              </a:spcAft>
              <a:buSzPts val="2400"/>
              <a:buFont typeface="Twentieth Century"/>
              <a:buNone/>
            </a:pPr>
            <a:r>
              <a:rPr lang="tr-TR" sz="2400">
                <a:solidFill>
                  <a:srgbClr val="000099"/>
                </a:solidFill>
              </a:rPr>
              <a:t>	Bu durum aşağıda ki şekilde görülmektedir.</a:t>
            </a:r>
            <a:endParaRPr/>
          </a:p>
        </p:txBody>
      </p:sp>
      <p:pic>
        <p:nvPicPr>
          <p:cNvPr id="312" name="Google Shape;312;p30"/>
          <p:cNvPicPr preferRelativeResize="0"/>
          <p:nvPr/>
        </p:nvPicPr>
        <p:blipFill rotWithShape="1">
          <a:blip r:embed="rId3">
            <a:alphaModFix/>
          </a:blip>
          <a:srcRect b="0" l="0" r="0" t="0"/>
          <a:stretch/>
        </p:blipFill>
        <p:spPr>
          <a:xfrm>
            <a:off x="1524000" y="1397000"/>
            <a:ext cx="6096000" cy="4064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1"/>
          <p:cNvSpPr txBox="1"/>
          <p:nvPr>
            <p:ph type="title"/>
          </p:nvPr>
        </p:nvSpPr>
        <p:spPr>
          <a:xfrm>
            <a:off x="250825" y="188913"/>
            <a:ext cx="8642350" cy="647700"/>
          </a:xfrm>
          <a:prstGeom prst="rect">
            <a:avLst/>
          </a:prstGeom>
          <a:solidFill>
            <a:srgbClr val="FFFFC9"/>
          </a:solidFill>
          <a:ln>
            <a:noFill/>
          </a:ln>
        </p:spPr>
        <p:txBody>
          <a:bodyPr anchorCtr="0" anchor="ctr" bIns="45700" lIns="91425" spcFirstLastPara="1" rIns="91425" wrap="square" tIns="45700">
            <a:normAutofit fontScale="90000"/>
          </a:bodyPr>
          <a:lstStyle/>
          <a:p>
            <a:pPr indent="0" lvl="0" marL="0" rtl="0" algn="just">
              <a:lnSpc>
                <a:spcPct val="80000"/>
              </a:lnSpc>
              <a:spcBef>
                <a:spcPts val="0"/>
              </a:spcBef>
              <a:spcAft>
                <a:spcPts val="0"/>
              </a:spcAft>
              <a:buClr>
                <a:srgbClr val="0C0C0C"/>
              </a:buClr>
              <a:buSzPct val="100000"/>
              <a:buFont typeface="Twentieth Century"/>
              <a:buNone/>
            </a:pPr>
            <a:r>
              <a:rPr lang="tr-TR" sz="2400"/>
              <a:t>     </a:t>
            </a:r>
            <a:r>
              <a:rPr lang="tr-TR"/>
              <a:t>NORMAL EĞRI ALTINDA KALAN ALANLARIN GÖSTERIMI</a:t>
            </a:r>
            <a:endParaRPr/>
          </a:p>
        </p:txBody>
      </p:sp>
      <p:sp>
        <p:nvSpPr>
          <p:cNvPr id="318" name="Google Shape;318;p31"/>
          <p:cNvSpPr txBox="1"/>
          <p:nvPr>
            <p:ph idx="1" type="body"/>
          </p:nvPr>
        </p:nvSpPr>
        <p:spPr>
          <a:xfrm>
            <a:off x="250825" y="908050"/>
            <a:ext cx="8569325" cy="5616575"/>
          </a:xfrm>
          <a:prstGeom prst="rect">
            <a:avLst/>
          </a:prstGeom>
          <a:solidFill>
            <a:srgbClr val="E1FFFF"/>
          </a:solid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000"/>
              <a:buFont typeface="Twentieth Century"/>
              <a:buNone/>
            </a:pPr>
            <a:r>
              <a:rPr lang="tr-TR"/>
              <a:t> </a:t>
            </a:r>
            <a:endParaRPr/>
          </a:p>
        </p:txBody>
      </p:sp>
      <p:sp>
        <p:nvSpPr>
          <p:cNvPr id="319" name="Google Shape;319;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320" name="Google Shape;320;p31"/>
          <p:cNvPicPr preferRelativeResize="0"/>
          <p:nvPr/>
        </p:nvPicPr>
        <p:blipFill rotWithShape="1">
          <a:blip r:embed="rId3">
            <a:alphaModFix/>
          </a:blip>
          <a:srcRect b="0" l="0" r="0" t="0"/>
          <a:stretch/>
        </p:blipFill>
        <p:spPr>
          <a:xfrm>
            <a:off x="1691680" y="1484784"/>
            <a:ext cx="6473599" cy="3377530"/>
          </a:xfrm>
          <a:prstGeom prst="rect">
            <a:avLst/>
          </a:prstGeom>
          <a:noFill/>
          <a:ln>
            <a:noFill/>
          </a:ln>
        </p:spPr>
      </p:pic>
      <p:sp>
        <p:nvSpPr>
          <p:cNvPr id="321" name="Google Shape;321;p31"/>
          <p:cNvSpPr txBox="1"/>
          <p:nvPr/>
        </p:nvSpPr>
        <p:spPr>
          <a:xfrm>
            <a:off x="5076056" y="4437112"/>
            <a:ext cx="504056" cy="369332"/>
          </a:xfrm>
          <a:prstGeom prst="rect">
            <a:avLst/>
          </a:prstGeom>
          <a:solidFill>
            <a:schemeClr val="lt1"/>
          </a:solidFill>
          <a:ln cap="flat" cmpd="sng" w="1587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Arial"/>
                <a:ea typeface="Arial"/>
                <a:cs typeface="Arial"/>
                <a:sym typeface="Arial"/>
              </a:rPr>
              <a:t>µ</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2"/>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EXCEL ÖRNEĞI</a:t>
            </a:r>
            <a:endParaRPr/>
          </a:p>
        </p:txBody>
      </p:sp>
      <p:sp>
        <p:nvSpPr>
          <p:cNvPr id="327" name="Google Shape;327;p32"/>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0" lvl="0" marL="91440" rtl="0" algn="l">
              <a:lnSpc>
                <a:spcPct val="90000"/>
              </a:lnSpc>
              <a:spcBef>
                <a:spcPts val="0"/>
              </a:spcBef>
              <a:spcAft>
                <a:spcPts val="0"/>
              </a:spcAft>
              <a:buSzPts val="2000"/>
              <a:buNone/>
            </a:pPr>
            <a:r>
              <a:t/>
            </a:r>
            <a:endParaRPr/>
          </a:p>
        </p:txBody>
      </p:sp>
      <p:pic>
        <p:nvPicPr>
          <p:cNvPr id="328" name="Google Shape;328;p32"/>
          <p:cNvPicPr preferRelativeResize="0"/>
          <p:nvPr/>
        </p:nvPicPr>
        <p:blipFill rotWithShape="1">
          <a:blip r:embed="rId3">
            <a:alphaModFix/>
          </a:blip>
          <a:srcRect b="0" l="0" r="0" t="0"/>
          <a:stretch/>
        </p:blipFill>
        <p:spPr>
          <a:xfrm>
            <a:off x="661987" y="452437"/>
            <a:ext cx="7820025" cy="59531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3"/>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İŞLEM ADIMLARI</a:t>
            </a:r>
            <a:endParaRPr/>
          </a:p>
        </p:txBody>
      </p:sp>
      <p:sp>
        <p:nvSpPr>
          <p:cNvPr id="334" name="Google Shape;334;p33"/>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Öncelikle veri sıralanır,</a:t>
            </a:r>
            <a:endParaRPr/>
          </a:p>
          <a:p>
            <a:pPr indent="-127000" lvl="0" marL="91440" rtl="0" algn="l">
              <a:lnSpc>
                <a:spcPct val="90000"/>
              </a:lnSpc>
              <a:spcBef>
                <a:spcPts val="1400"/>
              </a:spcBef>
              <a:spcAft>
                <a:spcPts val="0"/>
              </a:spcAft>
              <a:buSzPts val="2000"/>
              <a:buChar char=" "/>
            </a:pPr>
            <a:r>
              <a:rPr lang="tr-TR"/>
              <a:t>Ortalama ve standart sapma =STDSAPMA.S(A2:A30) hesaplanır.</a:t>
            </a:r>
            <a:endParaRPr/>
          </a:p>
          <a:p>
            <a:pPr indent="-127000" lvl="0" marL="91440" rtl="0" algn="l">
              <a:lnSpc>
                <a:spcPct val="90000"/>
              </a:lnSpc>
              <a:spcBef>
                <a:spcPts val="1400"/>
              </a:spcBef>
              <a:spcAft>
                <a:spcPts val="0"/>
              </a:spcAft>
              <a:buSzPts val="2000"/>
              <a:buChar char=" "/>
            </a:pPr>
            <a:r>
              <a:rPr lang="tr-TR"/>
              <a:t>=NORM.DAĞ fonksiyonu ile her bir değerin normal dağılım fonksiyonundaki değeri hesaplanır.</a:t>
            </a:r>
            <a:endParaRPr/>
          </a:p>
          <a:p>
            <a:pPr indent="-127000" lvl="0" marL="91440" rtl="0" algn="l">
              <a:lnSpc>
                <a:spcPct val="90000"/>
              </a:lnSpc>
              <a:spcBef>
                <a:spcPts val="1400"/>
              </a:spcBef>
              <a:spcAft>
                <a:spcPts val="0"/>
              </a:spcAft>
              <a:buSzPts val="2000"/>
              <a:buChar char=" "/>
            </a:pPr>
            <a:r>
              <a:rPr lang="tr-TR"/>
              <a:t>Ardından, değerler seçilerek dağılım grafiği çizilir.</a:t>
            </a:r>
            <a:endParaRPr/>
          </a:p>
          <a:p>
            <a:pPr indent="-127000" lvl="0" marL="91440" rtl="0" algn="l">
              <a:lnSpc>
                <a:spcPct val="90000"/>
              </a:lnSpc>
              <a:spcBef>
                <a:spcPts val="1400"/>
              </a:spcBef>
              <a:spcAft>
                <a:spcPts val="0"/>
              </a:spcAft>
              <a:buSzPts val="2000"/>
              <a:buChar char=" "/>
            </a:pPr>
            <a:r>
              <a:rPr lang="tr-TR"/>
              <a:t>Lütfen Excel dosyasını inceleyiniz.</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4"/>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t/>
            </a:r>
            <a:endParaRPr/>
          </a:p>
        </p:txBody>
      </p:sp>
      <p:sp>
        <p:nvSpPr>
          <p:cNvPr id="340" name="Google Shape;340;p34"/>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=DÖRTTEBİRLİK(A2:A30;3)</a:t>
            </a:r>
            <a:endParaRPr/>
          </a:p>
        </p:txBody>
      </p:sp>
      <p:pic>
        <p:nvPicPr>
          <p:cNvPr id="341" name="Google Shape;341;p34"/>
          <p:cNvPicPr preferRelativeResize="0"/>
          <p:nvPr/>
        </p:nvPicPr>
        <p:blipFill rotWithShape="1">
          <a:blip r:embed="rId3">
            <a:alphaModFix/>
          </a:blip>
          <a:srcRect b="0" l="0" r="0" t="0"/>
          <a:stretch/>
        </p:blipFill>
        <p:spPr>
          <a:xfrm>
            <a:off x="4788024" y="2111711"/>
            <a:ext cx="3448050" cy="35147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5"/>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STANDART NORMAL DAĞILIM</a:t>
            </a:r>
            <a:endParaRPr/>
          </a:p>
        </p:txBody>
      </p:sp>
      <p:sp>
        <p:nvSpPr>
          <p:cNvPr id="347" name="Google Shape;347;p35"/>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0" lvl="0" marL="91440" rtl="0" algn="l">
              <a:lnSpc>
                <a:spcPct val="90000"/>
              </a:lnSpc>
              <a:spcBef>
                <a:spcPts val="0"/>
              </a:spcBef>
              <a:spcAft>
                <a:spcPts val="0"/>
              </a:spcAft>
              <a:buSzPts val="2000"/>
              <a:buNone/>
            </a:pPr>
            <a:r>
              <a:t/>
            </a:r>
            <a:endParaRPr/>
          </a:p>
        </p:txBody>
      </p:sp>
      <p:pic>
        <p:nvPicPr>
          <p:cNvPr id="348" name="Google Shape;348;p35"/>
          <p:cNvPicPr preferRelativeResize="0"/>
          <p:nvPr/>
        </p:nvPicPr>
        <p:blipFill rotWithShape="1">
          <a:blip r:embed="rId3">
            <a:alphaModFix/>
          </a:blip>
          <a:srcRect b="0" l="0" r="0" t="0"/>
          <a:stretch/>
        </p:blipFill>
        <p:spPr>
          <a:xfrm>
            <a:off x="395536" y="1772816"/>
            <a:ext cx="8279854" cy="311561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6"/>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t/>
            </a:r>
            <a:endParaRPr/>
          </a:p>
        </p:txBody>
      </p:sp>
      <p:sp>
        <p:nvSpPr>
          <p:cNvPr id="354" name="Google Shape;354;p36"/>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0" lvl="0" marL="91440" rtl="0" algn="l">
              <a:lnSpc>
                <a:spcPct val="90000"/>
              </a:lnSpc>
              <a:spcBef>
                <a:spcPts val="0"/>
              </a:spcBef>
              <a:spcAft>
                <a:spcPts val="0"/>
              </a:spcAft>
              <a:buSzPts val="2000"/>
              <a:buNone/>
            </a:pPr>
            <a:r>
              <a:t/>
            </a:r>
            <a:endParaRPr/>
          </a:p>
        </p:txBody>
      </p:sp>
      <p:pic>
        <p:nvPicPr>
          <p:cNvPr id="355" name="Google Shape;355;p36"/>
          <p:cNvPicPr preferRelativeResize="0"/>
          <p:nvPr/>
        </p:nvPicPr>
        <p:blipFill rotWithShape="1">
          <a:blip r:embed="rId3">
            <a:alphaModFix/>
          </a:blip>
          <a:srcRect b="0" l="0" r="0" t="0"/>
          <a:stretch/>
        </p:blipFill>
        <p:spPr>
          <a:xfrm>
            <a:off x="-166688" y="585787"/>
            <a:ext cx="9477375" cy="56864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7"/>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NORMAL DAĞILIM….</a:t>
            </a:r>
            <a:endParaRPr/>
          </a:p>
        </p:txBody>
      </p:sp>
      <p:sp>
        <p:nvSpPr>
          <p:cNvPr id="361" name="Google Shape;361;p37"/>
          <p:cNvSpPr txBox="1"/>
          <p:nvPr>
            <p:ph idx="1" type="body"/>
          </p:nvPr>
        </p:nvSpPr>
        <p:spPr>
          <a:xfrm>
            <a:off x="457200" y="1600200"/>
            <a:ext cx="7467600" cy="1396752"/>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Ortalamaları farklı standart sapmaları aynı normal dağılımlar</a:t>
            </a:r>
            <a:endParaRPr/>
          </a:p>
        </p:txBody>
      </p:sp>
      <p:cxnSp>
        <p:nvCxnSpPr>
          <p:cNvPr id="362" name="Google Shape;362;p37"/>
          <p:cNvCxnSpPr/>
          <p:nvPr/>
        </p:nvCxnSpPr>
        <p:spPr>
          <a:xfrm>
            <a:off x="2077269" y="4940746"/>
            <a:ext cx="4840287" cy="3175"/>
          </a:xfrm>
          <a:prstGeom prst="straightConnector1">
            <a:avLst/>
          </a:prstGeom>
          <a:noFill/>
          <a:ln cap="flat" cmpd="sng" w="25400">
            <a:solidFill>
              <a:srgbClr val="FFFFFF"/>
            </a:solidFill>
            <a:prstDash val="solid"/>
            <a:round/>
            <a:headEnd len="med" w="med" type="none"/>
            <a:tailEnd len="med" w="med" type="none"/>
          </a:ln>
        </p:spPr>
      </p:cxnSp>
      <p:cxnSp>
        <p:nvCxnSpPr>
          <p:cNvPr id="363" name="Google Shape;363;p37"/>
          <p:cNvCxnSpPr/>
          <p:nvPr/>
        </p:nvCxnSpPr>
        <p:spPr>
          <a:xfrm>
            <a:off x="2074094" y="4940746"/>
            <a:ext cx="1587" cy="61913"/>
          </a:xfrm>
          <a:prstGeom prst="straightConnector1">
            <a:avLst/>
          </a:prstGeom>
          <a:noFill/>
          <a:ln cap="flat" cmpd="sng" w="25400">
            <a:solidFill>
              <a:srgbClr val="FFFFFF"/>
            </a:solidFill>
            <a:prstDash val="solid"/>
            <a:round/>
            <a:headEnd len="med" w="med" type="none"/>
            <a:tailEnd len="med" w="med" type="none"/>
          </a:ln>
        </p:spPr>
      </p:cxnSp>
      <p:cxnSp>
        <p:nvCxnSpPr>
          <p:cNvPr id="364" name="Google Shape;364;p37"/>
          <p:cNvCxnSpPr/>
          <p:nvPr/>
        </p:nvCxnSpPr>
        <p:spPr>
          <a:xfrm>
            <a:off x="2882131" y="4940746"/>
            <a:ext cx="0" cy="61913"/>
          </a:xfrm>
          <a:prstGeom prst="straightConnector1">
            <a:avLst/>
          </a:prstGeom>
          <a:noFill/>
          <a:ln cap="flat" cmpd="sng" w="25400">
            <a:solidFill>
              <a:srgbClr val="FFFFFF"/>
            </a:solidFill>
            <a:prstDash val="solid"/>
            <a:round/>
            <a:headEnd len="med" w="med" type="none"/>
            <a:tailEnd len="med" w="med" type="none"/>
          </a:ln>
        </p:spPr>
      </p:cxnSp>
      <p:cxnSp>
        <p:nvCxnSpPr>
          <p:cNvPr id="365" name="Google Shape;365;p37"/>
          <p:cNvCxnSpPr/>
          <p:nvPr/>
        </p:nvCxnSpPr>
        <p:spPr>
          <a:xfrm>
            <a:off x="3690169" y="4940746"/>
            <a:ext cx="0" cy="61913"/>
          </a:xfrm>
          <a:prstGeom prst="straightConnector1">
            <a:avLst/>
          </a:prstGeom>
          <a:noFill/>
          <a:ln cap="flat" cmpd="sng" w="25400">
            <a:solidFill>
              <a:srgbClr val="FFFFFF"/>
            </a:solidFill>
            <a:prstDash val="solid"/>
            <a:round/>
            <a:headEnd len="med" w="med" type="none"/>
            <a:tailEnd len="med" w="med" type="none"/>
          </a:ln>
        </p:spPr>
      </p:cxnSp>
      <p:cxnSp>
        <p:nvCxnSpPr>
          <p:cNvPr id="366" name="Google Shape;366;p37"/>
          <p:cNvCxnSpPr/>
          <p:nvPr/>
        </p:nvCxnSpPr>
        <p:spPr>
          <a:xfrm>
            <a:off x="4498206" y="4940746"/>
            <a:ext cx="0" cy="61913"/>
          </a:xfrm>
          <a:prstGeom prst="straightConnector1">
            <a:avLst/>
          </a:prstGeom>
          <a:noFill/>
          <a:ln cap="flat" cmpd="sng" w="25400">
            <a:solidFill>
              <a:srgbClr val="FFFFFF"/>
            </a:solidFill>
            <a:prstDash val="solid"/>
            <a:round/>
            <a:headEnd len="med" w="med" type="none"/>
            <a:tailEnd len="med" w="med" type="none"/>
          </a:ln>
        </p:spPr>
      </p:cxnSp>
      <p:cxnSp>
        <p:nvCxnSpPr>
          <p:cNvPr id="367" name="Google Shape;367;p37"/>
          <p:cNvCxnSpPr/>
          <p:nvPr/>
        </p:nvCxnSpPr>
        <p:spPr>
          <a:xfrm>
            <a:off x="5304656" y="4940746"/>
            <a:ext cx="0" cy="61913"/>
          </a:xfrm>
          <a:prstGeom prst="straightConnector1">
            <a:avLst/>
          </a:prstGeom>
          <a:noFill/>
          <a:ln cap="flat" cmpd="sng" w="25400">
            <a:solidFill>
              <a:srgbClr val="FFFFFF"/>
            </a:solidFill>
            <a:prstDash val="solid"/>
            <a:round/>
            <a:headEnd len="med" w="med" type="none"/>
            <a:tailEnd len="med" w="med" type="none"/>
          </a:ln>
        </p:spPr>
      </p:cxnSp>
      <p:cxnSp>
        <p:nvCxnSpPr>
          <p:cNvPr id="368" name="Google Shape;368;p37"/>
          <p:cNvCxnSpPr/>
          <p:nvPr/>
        </p:nvCxnSpPr>
        <p:spPr>
          <a:xfrm>
            <a:off x="6112694" y="4940746"/>
            <a:ext cx="0" cy="61913"/>
          </a:xfrm>
          <a:prstGeom prst="straightConnector1">
            <a:avLst/>
          </a:prstGeom>
          <a:noFill/>
          <a:ln cap="flat" cmpd="sng" w="25400">
            <a:solidFill>
              <a:srgbClr val="FFFFFF"/>
            </a:solidFill>
            <a:prstDash val="solid"/>
            <a:round/>
            <a:headEnd len="med" w="med" type="none"/>
            <a:tailEnd len="med" w="med" type="none"/>
          </a:ln>
        </p:spPr>
      </p:cxnSp>
      <p:cxnSp>
        <p:nvCxnSpPr>
          <p:cNvPr id="369" name="Google Shape;369;p37"/>
          <p:cNvCxnSpPr/>
          <p:nvPr/>
        </p:nvCxnSpPr>
        <p:spPr>
          <a:xfrm>
            <a:off x="6920731" y="4940746"/>
            <a:ext cx="0" cy="61913"/>
          </a:xfrm>
          <a:prstGeom prst="straightConnector1">
            <a:avLst/>
          </a:prstGeom>
          <a:noFill/>
          <a:ln cap="flat" cmpd="sng" w="25400">
            <a:solidFill>
              <a:srgbClr val="FFFFFF"/>
            </a:solidFill>
            <a:prstDash val="solid"/>
            <a:round/>
            <a:headEnd len="med" w="med" type="none"/>
            <a:tailEnd len="med" w="med" type="none"/>
          </a:ln>
        </p:spPr>
      </p:cxnSp>
      <p:cxnSp>
        <p:nvCxnSpPr>
          <p:cNvPr id="370" name="Google Shape;370;p37"/>
          <p:cNvCxnSpPr/>
          <p:nvPr/>
        </p:nvCxnSpPr>
        <p:spPr>
          <a:xfrm>
            <a:off x="469131" y="4958209"/>
            <a:ext cx="4840288" cy="3175"/>
          </a:xfrm>
          <a:prstGeom prst="straightConnector1">
            <a:avLst/>
          </a:prstGeom>
          <a:noFill/>
          <a:ln cap="flat" cmpd="sng" w="25400">
            <a:solidFill>
              <a:srgbClr val="FFFFFF"/>
            </a:solidFill>
            <a:prstDash val="solid"/>
            <a:round/>
            <a:headEnd len="med" w="med" type="none"/>
            <a:tailEnd len="med" w="med" type="none"/>
          </a:ln>
        </p:spPr>
      </p:cxnSp>
      <p:cxnSp>
        <p:nvCxnSpPr>
          <p:cNvPr id="371" name="Google Shape;371;p37"/>
          <p:cNvCxnSpPr/>
          <p:nvPr/>
        </p:nvCxnSpPr>
        <p:spPr>
          <a:xfrm>
            <a:off x="1275581" y="4958209"/>
            <a:ext cx="0" cy="63500"/>
          </a:xfrm>
          <a:prstGeom prst="straightConnector1">
            <a:avLst/>
          </a:prstGeom>
          <a:noFill/>
          <a:ln cap="flat" cmpd="sng" w="25400">
            <a:solidFill>
              <a:srgbClr val="FFFFFF"/>
            </a:solidFill>
            <a:prstDash val="solid"/>
            <a:round/>
            <a:headEnd len="med" w="med" type="none"/>
            <a:tailEnd len="med" w="med" type="none"/>
          </a:ln>
        </p:spPr>
      </p:cxnSp>
      <p:cxnSp>
        <p:nvCxnSpPr>
          <p:cNvPr id="372" name="Google Shape;372;p37"/>
          <p:cNvCxnSpPr/>
          <p:nvPr/>
        </p:nvCxnSpPr>
        <p:spPr>
          <a:xfrm>
            <a:off x="4504556" y="4958209"/>
            <a:ext cx="0" cy="63500"/>
          </a:xfrm>
          <a:prstGeom prst="straightConnector1">
            <a:avLst/>
          </a:prstGeom>
          <a:noFill/>
          <a:ln cap="flat" cmpd="sng" w="25400">
            <a:solidFill>
              <a:srgbClr val="FFFFFF"/>
            </a:solidFill>
            <a:prstDash val="solid"/>
            <a:round/>
            <a:headEnd len="med" w="med" type="none"/>
            <a:tailEnd len="med" w="med" type="none"/>
          </a:ln>
        </p:spPr>
      </p:cxnSp>
      <p:cxnSp>
        <p:nvCxnSpPr>
          <p:cNvPr id="373" name="Google Shape;373;p37"/>
          <p:cNvCxnSpPr/>
          <p:nvPr/>
        </p:nvCxnSpPr>
        <p:spPr>
          <a:xfrm>
            <a:off x="3691756" y="4940746"/>
            <a:ext cx="4840288" cy="1588"/>
          </a:xfrm>
          <a:prstGeom prst="straightConnector1">
            <a:avLst/>
          </a:prstGeom>
          <a:noFill/>
          <a:ln cap="flat" cmpd="sng" w="25400">
            <a:solidFill>
              <a:srgbClr val="FFFFFF"/>
            </a:solidFill>
            <a:prstDash val="solid"/>
            <a:round/>
            <a:headEnd len="med" w="med" type="none"/>
            <a:tailEnd len="med" w="med" type="none"/>
          </a:ln>
        </p:spPr>
      </p:cxnSp>
      <p:cxnSp>
        <p:nvCxnSpPr>
          <p:cNvPr id="374" name="Google Shape;374;p37"/>
          <p:cNvCxnSpPr/>
          <p:nvPr/>
        </p:nvCxnSpPr>
        <p:spPr>
          <a:xfrm>
            <a:off x="7727181" y="4940746"/>
            <a:ext cx="0" cy="61913"/>
          </a:xfrm>
          <a:prstGeom prst="straightConnector1">
            <a:avLst/>
          </a:prstGeom>
          <a:noFill/>
          <a:ln cap="flat" cmpd="sng" w="25400">
            <a:solidFill>
              <a:srgbClr val="FFFFFF"/>
            </a:solidFill>
            <a:prstDash val="solid"/>
            <a:round/>
            <a:headEnd len="med" w="med" type="none"/>
            <a:tailEnd len="med" w="med" type="none"/>
          </a:ln>
        </p:spPr>
      </p:cxnSp>
      <p:grpSp>
        <p:nvGrpSpPr>
          <p:cNvPr id="375" name="Google Shape;375;p37"/>
          <p:cNvGrpSpPr/>
          <p:nvPr/>
        </p:nvGrpSpPr>
        <p:grpSpPr>
          <a:xfrm>
            <a:off x="467544" y="3284984"/>
            <a:ext cx="8059737" cy="2398712"/>
            <a:chOff x="467544" y="3284984"/>
            <a:chExt cx="8059737" cy="2398712"/>
          </a:xfrm>
        </p:grpSpPr>
        <p:sp>
          <p:nvSpPr>
            <p:cNvPr id="376" name="Google Shape;376;p37"/>
            <p:cNvSpPr/>
            <p:nvPr/>
          </p:nvSpPr>
          <p:spPr>
            <a:xfrm>
              <a:off x="2074094" y="3284984"/>
              <a:ext cx="4821237" cy="1638300"/>
            </a:xfrm>
            <a:custGeom>
              <a:rect b="b" l="l" r="r" t="t"/>
              <a:pathLst>
                <a:path extrusionOk="0" h="3005" w="20450">
                  <a:moveTo>
                    <a:pt x="0" y="3005"/>
                  </a:moveTo>
                  <a:lnTo>
                    <a:pt x="102" y="3002"/>
                  </a:lnTo>
                  <a:lnTo>
                    <a:pt x="205" y="2998"/>
                  </a:lnTo>
                  <a:lnTo>
                    <a:pt x="307" y="2995"/>
                  </a:lnTo>
                  <a:lnTo>
                    <a:pt x="410" y="2991"/>
                  </a:lnTo>
                  <a:lnTo>
                    <a:pt x="513" y="2987"/>
                  </a:lnTo>
                  <a:lnTo>
                    <a:pt x="616" y="2982"/>
                  </a:lnTo>
                  <a:lnTo>
                    <a:pt x="718" y="2977"/>
                  </a:lnTo>
                  <a:lnTo>
                    <a:pt x="822" y="2972"/>
                  </a:lnTo>
                  <a:lnTo>
                    <a:pt x="924" y="2966"/>
                  </a:lnTo>
                  <a:lnTo>
                    <a:pt x="1027" y="2959"/>
                  </a:lnTo>
                  <a:lnTo>
                    <a:pt x="1129" y="2953"/>
                  </a:lnTo>
                  <a:lnTo>
                    <a:pt x="1232" y="2946"/>
                  </a:lnTo>
                  <a:lnTo>
                    <a:pt x="1336" y="2939"/>
                  </a:lnTo>
                  <a:lnTo>
                    <a:pt x="1438" y="2930"/>
                  </a:lnTo>
                  <a:lnTo>
                    <a:pt x="1540" y="2922"/>
                  </a:lnTo>
                  <a:lnTo>
                    <a:pt x="1644" y="2912"/>
                  </a:lnTo>
                  <a:lnTo>
                    <a:pt x="1747" y="2902"/>
                  </a:lnTo>
                  <a:lnTo>
                    <a:pt x="1849" y="2892"/>
                  </a:lnTo>
                  <a:lnTo>
                    <a:pt x="1951" y="2880"/>
                  </a:lnTo>
                  <a:lnTo>
                    <a:pt x="2055" y="2868"/>
                  </a:lnTo>
                  <a:lnTo>
                    <a:pt x="2158" y="2855"/>
                  </a:lnTo>
                  <a:lnTo>
                    <a:pt x="2260" y="2843"/>
                  </a:lnTo>
                  <a:lnTo>
                    <a:pt x="2363" y="2828"/>
                  </a:lnTo>
                  <a:lnTo>
                    <a:pt x="2465" y="2814"/>
                  </a:lnTo>
                  <a:lnTo>
                    <a:pt x="2569" y="2798"/>
                  </a:lnTo>
                  <a:lnTo>
                    <a:pt x="2671" y="2781"/>
                  </a:lnTo>
                  <a:lnTo>
                    <a:pt x="2774" y="2763"/>
                  </a:lnTo>
                  <a:lnTo>
                    <a:pt x="2877" y="2745"/>
                  </a:lnTo>
                  <a:lnTo>
                    <a:pt x="2980" y="2724"/>
                  </a:lnTo>
                  <a:lnTo>
                    <a:pt x="3082" y="2704"/>
                  </a:lnTo>
                  <a:lnTo>
                    <a:pt x="3185" y="2683"/>
                  </a:lnTo>
                  <a:lnTo>
                    <a:pt x="3287" y="2660"/>
                  </a:lnTo>
                  <a:lnTo>
                    <a:pt x="3391" y="2637"/>
                  </a:lnTo>
                  <a:lnTo>
                    <a:pt x="3493" y="2611"/>
                  </a:lnTo>
                  <a:lnTo>
                    <a:pt x="3596" y="2585"/>
                  </a:lnTo>
                  <a:lnTo>
                    <a:pt x="3700" y="2559"/>
                  </a:lnTo>
                  <a:lnTo>
                    <a:pt x="3802" y="2530"/>
                  </a:lnTo>
                  <a:lnTo>
                    <a:pt x="3904" y="2500"/>
                  </a:lnTo>
                  <a:lnTo>
                    <a:pt x="4007" y="2469"/>
                  </a:lnTo>
                  <a:lnTo>
                    <a:pt x="4111" y="2438"/>
                  </a:lnTo>
                  <a:lnTo>
                    <a:pt x="4213" y="2405"/>
                  </a:lnTo>
                  <a:lnTo>
                    <a:pt x="4316" y="2370"/>
                  </a:lnTo>
                  <a:lnTo>
                    <a:pt x="4418" y="2335"/>
                  </a:lnTo>
                  <a:lnTo>
                    <a:pt x="4520" y="2298"/>
                  </a:lnTo>
                  <a:lnTo>
                    <a:pt x="4624" y="2260"/>
                  </a:lnTo>
                  <a:lnTo>
                    <a:pt x="4727" y="2222"/>
                  </a:lnTo>
                  <a:lnTo>
                    <a:pt x="4829" y="2181"/>
                  </a:lnTo>
                  <a:lnTo>
                    <a:pt x="4933" y="2139"/>
                  </a:lnTo>
                  <a:lnTo>
                    <a:pt x="5035" y="2096"/>
                  </a:lnTo>
                  <a:lnTo>
                    <a:pt x="5138" y="2053"/>
                  </a:lnTo>
                  <a:lnTo>
                    <a:pt x="5240" y="2007"/>
                  </a:lnTo>
                  <a:lnTo>
                    <a:pt x="5343" y="1962"/>
                  </a:lnTo>
                  <a:lnTo>
                    <a:pt x="5446" y="1915"/>
                  </a:lnTo>
                  <a:lnTo>
                    <a:pt x="5549" y="1866"/>
                  </a:lnTo>
                  <a:lnTo>
                    <a:pt x="5651" y="1817"/>
                  </a:lnTo>
                  <a:lnTo>
                    <a:pt x="5755" y="1768"/>
                  </a:lnTo>
                  <a:lnTo>
                    <a:pt x="5857" y="1717"/>
                  </a:lnTo>
                  <a:lnTo>
                    <a:pt x="5960" y="1665"/>
                  </a:lnTo>
                  <a:lnTo>
                    <a:pt x="6062" y="1612"/>
                  </a:lnTo>
                  <a:lnTo>
                    <a:pt x="6166" y="1560"/>
                  </a:lnTo>
                  <a:lnTo>
                    <a:pt x="6269" y="1507"/>
                  </a:lnTo>
                  <a:lnTo>
                    <a:pt x="6371" y="1452"/>
                  </a:lnTo>
                  <a:lnTo>
                    <a:pt x="6473" y="1398"/>
                  </a:lnTo>
                  <a:lnTo>
                    <a:pt x="6576" y="1343"/>
                  </a:lnTo>
                  <a:lnTo>
                    <a:pt x="6680" y="1288"/>
                  </a:lnTo>
                  <a:lnTo>
                    <a:pt x="6782" y="1233"/>
                  </a:lnTo>
                  <a:lnTo>
                    <a:pt x="6884" y="1177"/>
                  </a:lnTo>
                  <a:lnTo>
                    <a:pt x="6988" y="1122"/>
                  </a:lnTo>
                  <a:lnTo>
                    <a:pt x="7091" y="1068"/>
                  </a:lnTo>
                  <a:lnTo>
                    <a:pt x="7193" y="1013"/>
                  </a:lnTo>
                  <a:lnTo>
                    <a:pt x="7296" y="958"/>
                  </a:lnTo>
                  <a:lnTo>
                    <a:pt x="7398" y="903"/>
                  </a:lnTo>
                  <a:lnTo>
                    <a:pt x="7502" y="850"/>
                  </a:lnTo>
                  <a:lnTo>
                    <a:pt x="7604" y="797"/>
                  </a:lnTo>
                  <a:lnTo>
                    <a:pt x="7707" y="745"/>
                  </a:lnTo>
                  <a:lnTo>
                    <a:pt x="7810" y="694"/>
                  </a:lnTo>
                  <a:lnTo>
                    <a:pt x="7913" y="644"/>
                  </a:lnTo>
                  <a:lnTo>
                    <a:pt x="8015" y="595"/>
                  </a:lnTo>
                  <a:lnTo>
                    <a:pt x="8118" y="548"/>
                  </a:lnTo>
                  <a:lnTo>
                    <a:pt x="8222" y="501"/>
                  </a:lnTo>
                  <a:lnTo>
                    <a:pt x="8324" y="455"/>
                  </a:lnTo>
                  <a:lnTo>
                    <a:pt x="8426" y="412"/>
                  </a:lnTo>
                  <a:lnTo>
                    <a:pt x="8529" y="370"/>
                  </a:lnTo>
                  <a:lnTo>
                    <a:pt x="8633" y="331"/>
                  </a:lnTo>
                  <a:lnTo>
                    <a:pt x="8735" y="293"/>
                  </a:lnTo>
                  <a:lnTo>
                    <a:pt x="8837" y="256"/>
                  </a:lnTo>
                  <a:lnTo>
                    <a:pt x="8940" y="223"/>
                  </a:lnTo>
                  <a:lnTo>
                    <a:pt x="9044" y="190"/>
                  </a:lnTo>
                  <a:lnTo>
                    <a:pt x="9146" y="161"/>
                  </a:lnTo>
                  <a:lnTo>
                    <a:pt x="9249" y="134"/>
                  </a:lnTo>
                  <a:lnTo>
                    <a:pt x="9351" y="110"/>
                  </a:lnTo>
                  <a:lnTo>
                    <a:pt x="9453" y="86"/>
                  </a:lnTo>
                  <a:lnTo>
                    <a:pt x="9557" y="66"/>
                  </a:lnTo>
                  <a:lnTo>
                    <a:pt x="9660" y="49"/>
                  </a:lnTo>
                  <a:lnTo>
                    <a:pt x="9762" y="35"/>
                  </a:lnTo>
                  <a:lnTo>
                    <a:pt x="9866" y="22"/>
                  </a:lnTo>
                  <a:lnTo>
                    <a:pt x="9968" y="13"/>
                  </a:lnTo>
                  <a:lnTo>
                    <a:pt x="10071" y="6"/>
                  </a:lnTo>
                  <a:lnTo>
                    <a:pt x="10173" y="1"/>
                  </a:lnTo>
                  <a:lnTo>
                    <a:pt x="10277" y="0"/>
                  </a:lnTo>
                  <a:lnTo>
                    <a:pt x="10379" y="1"/>
                  </a:lnTo>
                  <a:lnTo>
                    <a:pt x="10482" y="6"/>
                  </a:lnTo>
                  <a:lnTo>
                    <a:pt x="10584" y="13"/>
                  </a:lnTo>
                  <a:lnTo>
                    <a:pt x="10688" y="22"/>
                  </a:lnTo>
                  <a:lnTo>
                    <a:pt x="10790" y="35"/>
                  </a:lnTo>
                  <a:lnTo>
                    <a:pt x="10893" y="49"/>
                  </a:lnTo>
                  <a:lnTo>
                    <a:pt x="10995" y="66"/>
                  </a:lnTo>
                  <a:lnTo>
                    <a:pt x="11099" y="86"/>
                  </a:lnTo>
                  <a:lnTo>
                    <a:pt x="11202" y="110"/>
                  </a:lnTo>
                  <a:lnTo>
                    <a:pt x="11304" y="134"/>
                  </a:lnTo>
                  <a:lnTo>
                    <a:pt x="11406" y="161"/>
                  </a:lnTo>
                  <a:lnTo>
                    <a:pt x="11510" y="190"/>
                  </a:lnTo>
                  <a:lnTo>
                    <a:pt x="11613" y="223"/>
                  </a:lnTo>
                  <a:lnTo>
                    <a:pt x="11715" y="256"/>
                  </a:lnTo>
                  <a:lnTo>
                    <a:pt x="11817" y="293"/>
                  </a:lnTo>
                  <a:lnTo>
                    <a:pt x="11921" y="331"/>
                  </a:lnTo>
                  <a:lnTo>
                    <a:pt x="12024" y="370"/>
                  </a:lnTo>
                  <a:lnTo>
                    <a:pt x="12126" y="412"/>
                  </a:lnTo>
                  <a:lnTo>
                    <a:pt x="12229" y="455"/>
                  </a:lnTo>
                  <a:lnTo>
                    <a:pt x="12332" y="501"/>
                  </a:lnTo>
                  <a:lnTo>
                    <a:pt x="12435" y="548"/>
                  </a:lnTo>
                  <a:lnTo>
                    <a:pt x="12537" y="595"/>
                  </a:lnTo>
                  <a:lnTo>
                    <a:pt x="12640" y="644"/>
                  </a:lnTo>
                  <a:lnTo>
                    <a:pt x="12744" y="694"/>
                  </a:lnTo>
                  <a:lnTo>
                    <a:pt x="12846" y="745"/>
                  </a:lnTo>
                  <a:lnTo>
                    <a:pt x="12948" y="797"/>
                  </a:lnTo>
                  <a:lnTo>
                    <a:pt x="13051" y="850"/>
                  </a:lnTo>
                  <a:lnTo>
                    <a:pt x="13155" y="903"/>
                  </a:lnTo>
                  <a:lnTo>
                    <a:pt x="13257" y="958"/>
                  </a:lnTo>
                  <a:lnTo>
                    <a:pt x="13359" y="1013"/>
                  </a:lnTo>
                  <a:lnTo>
                    <a:pt x="13462" y="1068"/>
                  </a:lnTo>
                  <a:lnTo>
                    <a:pt x="13564" y="1122"/>
                  </a:lnTo>
                  <a:lnTo>
                    <a:pt x="13668" y="1177"/>
                  </a:lnTo>
                  <a:lnTo>
                    <a:pt x="13770" y="1233"/>
                  </a:lnTo>
                  <a:lnTo>
                    <a:pt x="13873" y="1288"/>
                  </a:lnTo>
                  <a:lnTo>
                    <a:pt x="13977" y="1343"/>
                  </a:lnTo>
                  <a:lnTo>
                    <a:pt x="14079" y="1398"/>
                  </a:lnTo>
                  <a:lnTo>
                    <a:pt x="14182" y="1452"/>
                  </a:lnTo>
                  <a:lnTo>
                    <a:pt x="14284" y="1507"/>
                  </a:lnTo>
                  <a:lnTo>
                    <a:pt x="14386" y="1560"/>
                  </a:lnTo>
                  <a:lnTo>
                    <a:pt x="14490" y="1612"/>
                  </a:lnTo>
                  <a:lnTo>
                    <a:pt x="14593" y="1665"/>
                  </a:lnTo>
                  <a:lnTo>
                    <a:pt x="14695" y="1717"/>
                  </a:lnTo>
                  <a:lnTo>
                    <a:pt x="14799" y="1768"/>
                  </a:lnTo>
                  <a:lnTo>
                    <a:pt x="14901" y="1817"/>
                  </a:lnTo>
                  <a:lnTo>
                    <a:pt x="15004" y="1866"/>
                  </a:lnTo>
                  <a:lnTo>
                    <a:pt x="15106" y="1915"/>
                  </a:lnTo>
                  <a:lnTo>
                    <a:pt x="15210" y="1962"/>
                  </a:lnTo>
                  <a:lnTo>
                    <a:pt x="15312" y="2007"/>
                  </a:lnTo>
                  <a:lnTo>
                    <a:pt x="15415" y="2053"/>
                  </a:lnTo>
                  <a:lnTo>
                    <a:pt x="15517" y="2096"/>
                  </a:lnTo>
                  <a:lnTo>
                    <a:pt x="15620" y="2139"/>
                  </a:lnTo>
                  <a:lnTo>
                    <a:pt x="15723" y="2181"/>
                  </a:lnTo>
                  <a:lnTo>
                    <a:pt x="15826" y="2222"/>
                  </a:lnTo>
                  <a:lnTo>
                    <a:pt x="15928" y="2260"/>
                  </a:lnTo>
                  <a:lnTo>
                    <a:pt x="16032" y="2298"/>
                  </a:lnTo>
                  <a:lnTo>
                    <a:pt x="16135" y="2335"/>
                  </a:lnTo>
                  <a:lnTo>
                    <a:pt x="16237" y="2370"/>
                  </a:lnTo>
                  <a:lnTo>
                    <a:pt x="16339" y="2405"/>
                  </a:lnTo>
                  <a:lnTo>
                    <a:pt x="16443" y="2438"/>
                  </a:lnTo>
                  <a:lnTo>
                    <a:pt x="16546" y="2469"/>
                  </a:lnTo>
                  <a:lnTo>
                    <a:pt x="16648" y="2500"/>
                  </a:lnTo>
                  <a:lnTo>
                    <a:pt x="16750" y="2530"/>
                  </a:lnTo>
                  <a:lnTo>
                    <a:pt x="16854" y="2559"/>
                  </a:lnTo>
                  <a:lnTo>
                    <a:pt x="16957" y="2585"/>
                  </a:lnTo>
                  <a:lnTo>
                    <a:pt x="17059" y="2611"/>
                  </a:lnTo>
                  <a:lnTo>
                    <a:pt x="17162" y="2637"/>
                  </a:lnTo>
                  <a:lnTo>
                    <a:pt x="17265" y="2660"/>
                  </a:lnTo>
                  <a:lnTo>
                    <a:pt x="17368" y="2683"/>
                  </a:lnTo>
                  <a:lnTo>
                    <a:pt x="17470" y="2704"/>
                  </a:lnTo>
                  <a:lnTo>
                    <a:pt x="17573" y="2724"/>
                  </a:lnTo>
                  <a:lnTo>
                    <a:pt x="17675" y="2745"/>
                  </a:lnTo>
                  <a:lnTo>
                    <a:pt x="17779" y="2763"/>
                  </a:lnTo>
                  <a:lnTo>
                    <a:pt x="17881" y="2781"/>
                  </a:lnTo>
                  <a:lnTo>
                    <a:pt x="17984" y="2798"/>
                  </a:lnTo>
                  <a:lnTo>
                    <a:pt x="18088" y="2814"/>
                  </a:lnTo>
                  <a:lnTo>
                    <a:pt x="18190" y="2828"/>
                  </a:lnTo>
                  <a:lnTo>
                    <a:pt x="18292" y="2843"/>
                  </a:lnTo>
                  <a:lnTo>
                    <a:pt x="18395" y="2855"/>
                  </a:lnTo>
                  <a:lnTo>
                    <a:pt x="18497" y="2868"/>
                  </a:lnTo>
                  <a:lnTo>
                    <a:pt x="18601" y="2880"/>
                  </a:lnTo>
                  <a:lnTo>
                    <a:pt x="18703" y="2892"/>
                  </a:lnTo>
                  <a:lnTo>
                    <a:pt x="18806" y="2902"/>
                  </a:lnTo>
                  <a:lnTo>
                    <a:pt x="18910" y="2912"/>
                  </a:lnTo>
                  <a:lnTo>
                    <a:pt x="19012" y="2922"/>
                  </a:lnTo>
                  <a:lnTo>
                    <a:pt x="19115" y="2930"/>
                  </a:lnTo>
                  <a:lnTo>
                    <a:pt x="19217" y="2939"/>
                  </a:lnTo>
                  <a:lnTo>
                    <a:pt x="19319" y="2946"/>
                  </a:lnTo>
                  <a:lnTo>
                    <a:pt x="19423" y="2953"/>
                  </a:lnTo>
                  <a:lnTo>
                    <a:pt x="19526" y="2959"/>
                  </a:lnTo>
                  <a:lnTo>
                    <a:pt x="19628" y="2966"/>
                  </a:lnTo>
                  <a:lnTo>
                    <a:pt x="19732" y="2972"/>
                  </a:lnTo>
                  <a:lnTo>
                    <a:pt x="19834" y="2977"/>
                  </a:lnTo>
                  <a:lnTo>
                    <a:pt x="19937" y="2982"/>
                  </a:lnTo>
                  <a:lnTo>
                    <a:pt x="20039" y="2987"/>
                  </a:lnTo>
                  <a:lnTo>
                    <a:pt x="20143" y="2991"/>
                  </a:lnTo>
                  <a:lnTo>
                    <a:pt x="20245" y="2995"/>
                  </a:lnTo>
                  <a:lnTo>
                    <a:pt x="20348" y="2998"/>
                  </a:lnTo>
                  <a:lnTo>
                    <a:pt x="20450" y="3002"/>
                  </a:lnTo>
                </a:path>
              </a:pathLst>
            </a:custGeom>
            <a:noFill/>
            <a:ln cap="flat" cmpd="sng" w="76200">
              <a:solidFill>
                <a:srgbClr val="00CC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7" name="Google Shape;377;p37"/>
            <p:cNvSpPr/>
            <p:nvPr/>
          </p:nvSpPr>
          <p:spPr>
            <a:xfrm>
              <a:off x="467544" y="3302446"/>
              <a:ext cx="4819650" cy="1638300"/>
            </a:xfrm>
            <a:custGeom>
              <a:rect b="b" l="l" r="r" t="t"/>
              <a:pathLst>
                <a:path extrusionOk="0" h="3005" w="20450">
                  <a:moveTo>
                    <a:pt x="0" y="3005"/>
                  </a:moveTo>
                  <a:lnTo>
                    <a:pt x="102" y="3002"/>
                  </a:lnTo>
                  <a:lnTo>
                    <a:pt x="205" y="2998"/>
                  </a:lnTo>
                  <a:lnTo>
                    <a:pt x="307" y="2995"/>
                  </a:lnTo>
                  <a:lnTo>
                    <a:pt x="410" y="2991"/>
                  </a:lnTo>
                  <a:lnTo>
                    <a:pt x="513" y="2987"/>
                  </a:lnTo>
                  <a:lnTo>
                    <a:pt x="616" y="2982"/>
                  </a:lnTo>
                  <a:lnTo>
                    <a:pt x="718" y="2977"/>
                  </a:lnTo>
                  <a:lnTo>
                    <a:pt x="822" y="2972"/>
                  </a:lnTo>
                  <a:lnTo>
                    <a:pt x="924" y="2966"/>
                  </a:lnTo>
                  <a:lnTo>
                    <a:pt x="1027" y="2959"/>
                  </a:lnTo>
                  <a:lnTo>
                    <a:pt x="1129" y="2953"/>
                  </a:lnTo>
                  <a:lnTo>
                    <a:pt x="1232" y="2946"/>
                  </a:lnTo>
                  <a:lnTo>
                    <a:pt x="1336" y="2939"/>
                  </a:lnTo>
                  <a:lnTo>
                    <a:pt x="1438" y="2930"/>
                  </a:lnTo>
                  <a:lnTo>
                    <a:pt x="1540" y="2922"/>
                  </a:lnTo>
                  <a:lnTo>
                    <a:pt x="1644" y="2912"/>
                  </a:lnTo>
                  <a:lnTo>
                    <a:pt x="1747" y="2902"/>
                  </a:lnTo>
                  <a:lnTo>
                    <a:pt x="1849" y="2892"/>
                  </a:lnTo>
                  <a:lnTo>
                    <a:pt x="1951" y="2880"/>
                  </a:lnTo>
                  <a:lnTo>
                    <a:pt x="2055" y="2868"/>
                  </a:lnTo>
                  <a:lnTo>
                    <a:pt x="2158" y="2855"/>
                  </a:lnTo>
                  <a:lnTo>
                    <a:pt x="2260" y="2843"/>
                  </a:lnTo>
                  <a:lnTo>
                    <a:pt x="2363" y="2828"/>
                  </a:lnTo>
                  <a:lnTo>
                    <a:pt x="2465" y="2814"/>
                  </a:lnTo>
                  <a:lnTo>
                    <a:pt x="2569" y="2798"/>
                  </a:lnTo>
                  <a:lnTo>
                    <a:pt x="2671" y="2781"/>
                  </a:lnTo>
                  <a:lnTo>
                    <a:pt x="2774" y="2763"/>
                  </a:lnTo>
                  <a:lnTo>
                    <a:pt x="2877" y="2745"/>
                  </a:lnTo>
                  <a:lnTo>
                    <a:pt x="2980" y="2724"/>
                  </a:lnTo>
                  <a:lnTo>
                    <a:pt x="3082" y="2704"/>
                  </a:lnTo>
                  <a:lnTo>
                    <a:pt x="3185" y="2683"/>
                  </a:lnTo>
                  <a:lnTo>
                    <a:pt x="3287" y="2660"/>
                  </a:lnTo>
                  <a:lnTo>
                    <a:pt x="3391" y="2637"/>
                  </a:lnTo>
                  <a:lnTo>
                    <a:pt x="3493" y="2611"/>
                  </a:lnTo>
                  <a:lnTo>
                    <a:pt x="3596" y="2585"/>
                  </a:lnTo>
                  <a:lnTo>
                    <a:pt x="3700" y="2559"/>
                  </a:lnTo>
                  <a:lnTo>
                    <a:pt x="3802" y="2530"/>
                  </a:lnTo>
                  <a:lnTo>
                    <a:pt x="3904" y="2500"/>
                  </a:lnTo>
                  <a:lnTo>
                    <a:pt x="4007" y="2469"/>
                  </a:lnTo>
                  <a:lnTo>
                    <a:pt x="4111" y="2438"/>
                  </a:lnTo>
                  <a:lnTo>
                    <a:pt x="4213" y="2405"/>
                  </a:lnTo>
                  <a:lnTo>
                    <a:pt x="4316" y="2370"/>
                  </a:lnTo>
                  <a:lnTo>
                    <a:pt x="4418" y="2335"/>
                  </a:lnTo>
                  <a:lnTo>
                    <a:pt x="4520" y="2298"/>
                  </a:lnTo>
                  <a:lnTo>
                    <a:pt x="4624" y="2260"/>
                  </a:lnTo>
                  <a:lnTo>
                    <a:pt x="4727" y="2222"/>
                  </a:lnTo>
                  <a:lnTo>
                    <a:pt x="4829" y="2181"/>
                  </a:lnTo>
                  <a:lnTo>
                    <a:pt x="4933" y="2139"/>
                  </a:lnTo>
                  <a:lnTo>
                    <a:pt x="5035" y="2096"/>
                  </a:lnTo>
                  <a:lnTo>
                    <a:pt x="5138" y="2053"/>
                  </a:lnTo>
                  <a:lnTo>
                    <a:pt x="5240" y="2007"/>
                  </a:lnTo>
                  <a:lnTo>
                    <a:pt x="5343" y="1962"/>
                  </a:lnTo>
                  <a:lnTo>
                    <a:pt x="5446" y="1915"/>
                  </a:lnTo>
                  <a:lnTo>
                    <a:pt x="5549" y="1866"/>
                  </a:lnTo>
                  <a:lnTo>
                    <a:pt x="5651" y="1817"/>
                  </a:lnTo>
                  <a:lnTo>
                    <a:pt x="5755" y="1768"/>
                  </a:lnTo>
                  <a:lnTo>
                    <a:pt x="5857" y="1717"/>
                  </a:lnTo>
                  <a:lnTo>
                    <a:pt x="5960" y="1665"/>
                  </a:lnTo>
                  <a:lnTo>
                    <a:pt x="6062" y="1612"/>
                  </a:lnTo>
                  <a:lnTo>
                    <a:pt x="6166" y="1560"/>
                  </a:lnTo>
                  <a:lnTo>
                    <a:pt x="6269" y="1507"/>
                  </a:lnTo>
                  <a:lnTo>
                    <a:pt x="6371" y="1452"/>
                  </a:lnTo>
                  <a:lnTo>
                    <a:pt x="6473" y="1398"/>
                  </a:lnTo>
                  <a:lnTo>
                    <a:pt x="6576" y="1343"/>
                  </a:lnTo>
                  <a:lnTo>
                    <a:pt x="6680" y="1288"/>
                  </a:lnTo>
                  <a:lnTo>
                    <a:pt x="6782" y="1233"/>
                  </a:lnTo>
                  <a:lnTo>
                    <a:pt x="6884" y="1177"/>
                  </a:lnTo>
                  <a:lnTo>
                    <a:pt x="6988" y="1122"/>
                  </a:lnTo>
                  <a:lnTo>
                    <a:pt x="7091" y="1068"/>
                  </a:lnTo>
                  <a:lnTo>
                    <a:pt x="7193" y="1013"/>
                  </a:lnTo>
                  <a:lnTo>
                    <a:pt x="7296" y="958"/>
                  </a:lnTo>
                  <a:lnTo>
                    <a:pt x="7398" y="903"/>
                  </a:lnTo>
                  <a:lnTo>
                    <a:pt x="7502" y="850"/>
                  </a:lnTo>
                  <a:lnTo>
                    <a:pt x="7604" y="797"/>
                  </a:lnTo>
                  <a:lnTo>
                    <a:pt x="7707" y="745"/>
                  </a:lnTo>
                  <a:lnTo>
                    <a:pt x="7810" y="694"/>
                  </a:lnTo>
                  <a:lnTo>
                    <a:pt x="7913" y="644"/>
                  </a:lnTo>
                  <a:lnTo>
                    <a:pt x="8015" y="595"/>
                  </a:lnTo>
                  <a:lnTo>
                    <a:pt x="8118" y="548"/>
                  </a:lnTo>
                  <a:lnTo>
                    <a:pt x="8222" y="501"/>
                  </a:lnTo>
                  <a:lnTo>
                    <a:pt x="8324" y="455"/>
                  </a:lnTo>
                  <a:lnTo>
                    <a:pt x="8426" y="412"/>
                  </a:lnTo>
                  <a:lnTo>
                    <a:pt x="8529" y="370"/>
                  </a:lnTo>
                  <a:lnTo>
                    <a:pt x="8633" y="331"/>
                  </a:lnTo>
                  <a:lnTo>
                    <a:pt x="8735" y="293"/>
                  </a:lnTo>
                  <a:lnTo>
                    <a:pt x="8837" y="256"/>
                  </a:lnTo>
                  <a:lnTo>
                    <a:pt x="8940" y="223"/>
                  </a:lnTo>
                  <a:lnTo>
                    <a:pt x="9044" y="190"/>
                  </a:lnTo>
                  <a:lnTo>
                    <a:pt x="9146" y="161"/>
                  </a:lnTo>
                  <a:lnTo>
                    <a:pt x="9249" y="134"/>
                  </a:lnTo>
                  <a:lnTo>
                    <a:pt x="9351" y="110"/>
                  </a:lnTo>
                  <a:lnTo>
                    <a:pt x="9453" y="86"/>
                  </a:lnTo>
                  <a:lnTo>
                    <a:pt x="9557" y="66"/>
                  </a:lnTo>
                  <a:lnTo>
                    <a:pt x="9660" y="49"/>
                  </a:lnTo>
                  <a:lnTo>
                    <a:pt x="9762" y="35"/>
                  </a:lnTo>
                  <a:lnTo>
                    <a:pt x="9866" y="22"/>
                  </a:lnTo>
                  <a:lnTo>
                    <a:pt x="9968" y="13"/>
                  </a:lnTo>
                  <a:lnTo>
                    <a:pt x="10071" y="6"/>
                  </a:lnTo>
                  <a:lnTo>
                    <a:pt x="10173" y="1"/>
                  </a:lnTo>
                  <a:lnTo>
                    <a:pt x="10277" y="0"/>
                  </a:lnTo>
                  <a:lnTo>
                    <a:pt x="10379" y="1"/>
                  </a:lnTo>
                  <a:lnTo>
                    <a:pt x="10482" y="6"/>
                  </a:lnTo>
                  <a:lnTo>
                    <a:pt x="10584" y="13"/>
                  </a:lnTo>
                  <a:lnTo>
                    <a:pt x="10688" y="22"/>
                  </a:lnTo>
                  <a:lnTo>
                    <a:pt x="10790" y="35"/>
                  </a:lnTo>
                  <a:lnTo>
                    <a:pt x="10893" y="49"/>
                  </a:lnTo>
                  <a:lnTo>
                    <a:pt x="10995" y="66"/>
                  </a:lnTo>
                  <a:lnTo>
                    <a:pt x="11099" y="86"/>
                  </a:lnTo>
                  <a:lnTo>
                    <a:pt x="11202" y="110"/>
                  </a:lnTo>
                  <a:lnTo>
                    <a:pt x="11304" y="134"/>
                  </a:lnTo>
                  <a:lnTo>
                    <a:pt x="11406" y="161"/>
                  </a:lnTo>
                  <a:lnTo>
                    <a:pt x="11510" y="190"/>
                  </a:lnTo>
                  <a:lnTo>
                    <a:pt x="11613" y="223"/>
                  </a:lnTo>
                  <a:lnTo>
                    <a:pt x="11715" y="256"/>
                  </a:lnTo>
                  <a:lnTo>
                    <a:pt x="11817" y="293"/>
                  </a:lnTo>
                  <a:lnTo>
                    <a:pt x="11921" y="331"/>
                  </a:lnTo>
                  <a:lnTo>
                    <a:pt x="12024" y="370"/>
                  </a:lnTo>
                  <a:lnTo>
                    <a:pt x="12126" y="412"/>
                  </a:lnTo>
                  <a:lnTo>
                    <a:pt x="12229" y="455"/>
                  </a:lnTo>
                  <a:lnTo>
                    <a:pt x="12332" y="501"/>
                  </a:lnTo>
                  <a:lnTo>
                    <a:pt x="12435" y="548"/>
                  </a:lnTo>
                  <a:lnTo>
                    <a:pt x="12537" y="595"/>
                  </a:lnTo>
                  <a:lnTo>
                    <a:pt x="12640" y="644"/>
                  </a:lnTo>
                  <a:lnTo>
                    <a:pt x="12744" y="694"/>
                  </a:lnTo>
                  <a:lnTo>
                    <a:pt x="12846" y="745"/>
                  </a:lnTo>
                  <a:lnTo>
                    <a:pt x="12948" y="797"/>
                  </a:lnTo>
                  <a:lnTo>
                    <a:pt x="13051" y="850"/>
                  </a:lnTo>
                  <a:lnTo>
                    <a:pt x="13155" y="903"/>
                  </a:lnTo>
                  <a:lnTo>
                    <a:pt x="13257" y="958"/>
                  </a:lnTo>
                  <a:lnTo>
                    <a:pt x="13359" y="1013"/>
                  </a:lnTo>
                  <a:lnTo>
                    <a:pt x="13462" y="1068"/>
                  </a:lnTo>
                  <a:lnTo>
                    <a:pt x="13564" y="1122"/>
                  </a:lnTo>
                  <a:lnTo>
                    <a:pt x="13668" y="1177"/>
                  </a:lnTo>
                  <a:lnTo>
                    <a:pt x="13770" y="1233"/>
                  </a:lnTo>
                  <a:lnTo>
                    <a:pt x="13873" y="1288"/>
                  </a:lnTo>
                  <a:lnTo>
                    <a:pt x="13977" y="1343"/>
                  </a:lnTo>
                  <a:lnTo>
                    <a:pt x="14079" y="1398"/>
                  </a:lnTo>
                  <a:lnTo>
                    <a:pt x="14182" y="1452"/>
                  </a:lnTo>
                  <a:lnTo>
                    <a:pt x="14284" y="1507"/>
                  </a:lnTo>
                  <a:lnTo>
                    <a:pt x="14386" y="1560"/>
                  </a:lnTo>
                  <a:lnTo>
                    <a:pt x="14490" y="1612"/>
                  </a:lnTo>
                  <a:lnTo>
                    <a:pt x="14593" y="1665"/>
                  </a:lnTo>
                  <a:lnTo>
                    <a:pt x="14695" y="1717"/>
                  </a:lnTo>
                  <a:lnTo>
                    <a:pt x="14799" y="1768"/>
                  </a:lnTo>
                  <a:lnTo>
                    <a:pt x="14901" y="1817"/>
                  </a:lnTo>
                  <a:lnTo>
                    <a:pt x="15004" y="1866"/>
                  </a:lnTo>
                  <a:lnTo>
                    <a:pt x="15106" y="1915"/>
                  </a:lnTo>
                  <a:lnTo>
                    <a:pt x="15210" y="1962"/>
                  </a:lnTo>
                  <a:lnTo>
                    <a:pt x="15312" y="2007"/>
                  </a:lnTo>
                  <a:lnTo>
                    <a:pt x="15415" y="2053"/>
                  </a:lnTo>
                  <a:lnTo>
                    <a:pt x="15517" y="2096"/>
                  </a:lnTo>
                  <a:lnTo>
                    <a:pt x="15620" y="2139"/>
                  </a:lnTo>
                  <a:lnTo>
                    <a:pt x="15723" y="2181"/>
                  </a:lnTo>
                  <a:lnTo>
                    <a:pt x="15826" y="2222"/>
                  </a:lnTo>
                  <a:lnTo>
                    <a:pt x="15928" y="2260"/>
                  </a:lnTo>
                  <a:lnTo>
                    <a:pt x="16032" y="2298"/>
                  </a:lnTo>
                  <a:lnTo>
                    <a:pt x="16135" y="2335"/>
                  </a:lnTo>
                  <a:lnTo>
                    <a:pt x="16237" y="2370"/>
                  </a:lnTo>
                  <a:lnTo>
                    <a:pt x="16339" y="2405"/>
                  </a:lnTo>
                  <a:lnTo>
                    <a:pt x="16443" y="2438"/>
                  </a:lnTo>
                  <a:lnTo>
                    <a:pt x="16546" y="2469"/>
                  </a:lnTo>
                  <a:lnTo>
                    <a:pt x="16648" y="2500"/>
                  </a:lnTo>
                  <a:lnTo>
                    <a:pt x="16750" y="2530"/>
                  </a:lnTo>
                  <a:lnTo>
                    <a:pt x="16854" y="2559"/>
                  </a:lnTo>
                  <a:lnTo>
                    <a:pt x="16957" y="2585"/>
                  </a:lnTo>
                  <a:lnTo>
                    <a:pt x="17059" y="2611"/>
                  </a:lnTo>
                  <a:lnTo>
                    <a:pt x="17162" y="2637"/>
                  </a:lnTo>
                  <a:lnTo>
                    <a:pt x="17265" y="2660"/>
                  </a:lnTo>
                  <a:lnTo>
                    <a:pt x="17368" y="2683"/>
                  </a:lnTo>
                  <a:lnTo>
                    <a:pt x="17470" y="2704"/>
                  </a:lnTo>
                  <a:lnTo>
                    <a:pt x="17573" y="2724"/>
                  </a:lnTo>
                  <a:lnTo>
                    <a:pt x="17675" y="2745"/>
                  </a:lnTo>
                  <a:lnTo>
                    <a:pt x="17779" y="2763"/>
                  </a:lnTo>
                  <a:lnTo>
                    <a:pt x="17881" y="2781"/>
                  </a:lnTo>
                  <a:lnTo>
                    <a:pt x="17984" y="2798"/>
                  </a:lnTo>
                  <a:lnTo>
                    <a:pt x="18088" y="2814"/>
                  </a:lnTo>
                  <a:lnTo>
                    <a:pt x="18190" y="2828"/>
                  </a:lnTo>
                  <a:lnTo>
                    <a:pt x="18292" y="2843"/>
                  </a:lnTo>
                  <a:lnTo>
                    <a:pt x="18395" y="2855"/>
                  </a:lnTo>
                  <a:lnTo>
                    <a:pt x="18497" y="2868"/>
                  </a:lnTo>
                  <a:lnTo>
                    <a:pt x="18601" y="2880"/>
                  </a:lnTo>
                  <a:lnTo>
                    <a:pt x="18703" y="2892"/>
                  </a:lnTo>
                  <a:lnTo>
                    <a:pt x="18806" y="2902"/>
                  </a:lnTo>
                  <a:lnTo>
                    <a:pt x="18910" y="2912"/>
                  </a:lnTo>
                  <a:lnTo>
                    <a:pt x="19012" y="2922"/>
                  </a:lnTo>
                  <a:lnTo>
                    <a:pt x="19115" y="2930"/>
                  </a:lnTo>
                  <a:lnTo>
                    <a:pt x="19217" y="2939"/>
                  </a:lnTo>
                  <a:lnTo>
                    <a:pt x="19319" y="2946"/>
                  </a:lnTo>
                  <a:lnTo>
                    <a:pt x="19423" y="2953"/>
                  </a:lnTo>
                  <a:lnTo>
                    <a:pt x="19526" y="2959"/>
                  </a:lnTo>
                  <a:lnTo>
                    <a:pt x="19628" y="2966"/>
                  </a:lnTo>
                  <a:lnTo>
                    <a:pt x="19732" y="2972"/>
                  </a:lnTo>
                  <a:lnTo>
                    <a:pt x="19834" y="2977"/>
                  </a:lnTo>
                  <a:lnTo>
                    <a:pt x="19937" y="2982"/>
                  </a:lnTo>
                  <a:lnTo>
                    <a:pt x="20039" y="2987"/>
                  </a:lnTo>
                  <a:lnTo>
                    <a:pt x="20143" y="2991"/>
                  </a:lnTo>
                  <a:lnTo>
                    <a:pt x="20245" y="2995"/>
                  </a:lnTo>
                  <a:lnTo>
                    <a:pt x="20348" y="2998"/>
                  </a:lnTo>
                  <a:lnTo>
                    <a:pt x="20450" y="3002"/>
                  </a:lnTo>
                </a:path>
              </a:pathLst>
            </a:custGeom>
            <a:noFill/>
            <a:ln cap="flat" cmpd="sng" w="76200">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8" name="Google Shape;378;p37"/>
            <p:cNvSpPr/>
            <p:nvPr/>
          </p:nvSpPr>
          <p:spPr>
            <a:xfrm>
              <a:off x="3707631" y="3305621"/>
              <a:ext cx="4819650" cy="1638300"/>
            </a:xfrm>
            <a:custGeom>
              <a:rect b="b" l="l" r="r" t="t"/>
              <a:pathLst>
                <a:path extrusionOk="0" h="3005" w="20450">
                  <a:moveTo>
                    <a:pt x="0" y="3005"/>
                  </a:moveTo>
                  <a:lnTo>
                    <a:pt x="102" y="3002"/>
                  </a:lnTo>
                  <a:lnTo>
                    <a:pt x="205" y="2998"/>
                  </a:lnTo>
                  <a:lnTo>
                    <a:pt x="307" y="2995"/>
                  </a:lnTo>
                  <a:lnTo>
                    <a:pt x="410" y="2991"/>
                  </a:lnTo>
                  <a:lnTo>
                    <a:pt x="513" y="2987"/>
                  </a:lnTo>
                  <a:lnTo>
                    <a:pt x="616" y="2982"/>
                  </a:lnTo>
                  <a:lnTo>
                    <a:pt x="718" y="2977"/>
                  </a:lnTo>
                  <a:lnTo>
                    <a:pt x="822" y="2972"/>
                  </a:lnTo>
                  <a:lnTo>
                    <a:pt x="924" y="2966"/>
                  </a:lnTo>
                  <a:lnTo>
                    <a:pt x="1027" y="2959"/>
                  </a:lnTo>
                  <a:lnTo>
                    <a:pt x="1129" y="2953"/>
                  </a:lnTo>
                  <a:lnTo>
                    <a:pt x="1232" y="2946"/>
                  </a:lnTo>
                  <a:lnTo>
                    <a:pt x="1336" y="2939"/>
                  </a:lnTo>
                  <a:lnTo>
                    <a:pt x="1438" y="2930"/>
                  </a:lnTo>
                  <a:lnTo>
                    <a:pt x="1540" y="2922"/>
                  </a:lnTo>
                  <a:lnTo>
                    <a:pt x="1644" y="2912"/>
                  </a:lnTo>
                  <a:lnTo>
                    <a:pt x="1747" y="2902"/>
                  </a:lnTo>
                  <a:lnTo>
                    <a:pt x="1849" y="2892"/>
                  </a:lnTo>
                  <a:lnTo>
                    <a:pt x="1951" y="2880"/>
                  </a:lnTo>
                  <a:lnTo>
                    <a:pt x="2055" y="2868"/>
                  </a:lnTo>
                  <a:lnTo>
                    <a:pt x="2158" y="2855"/>
                  </a:lnTo>
                  <a:lnTo>
                    <a:pt x="2260" y="2843"/>
                  </a:lnTo>
                  <a:lnTo>
                    <a:pt x="2363" y="2828"/>
                  </a:lnTo>
                  <a:lnTo>
                    <a:pt x="2465" y="2814"/>
                  </a:lnTo>
                  <a:lnTo>
                    <a:pt x="2569" y="2798"/>
                  </a:lnTo>
                  <a:lnTo>
                    <a:pt x="2671" y="2781"/>
                  </a:lnTo>
                  <a:lnTo>
                    <a:pt x="2774" y="2763"/>
                  </a:lnTo>
                  <a:lnTo>
                    <a:pt x="2877" y="2745"/>
                  </a:lnTo>
                  <a:lnTo>
                    <a:pt x="2980" y="2724"/>
                  </a:lnTo>
                  <a:lnTo>
                    <a:pt x="3082" y="2704"/>
                  </a:lnTo>
                  <a:lnTo>
                    <a:pt x="3185" y="2683"/>
                  </a:lnTo>
                  <a:lnTo>
                    <a:pt x="3287" y="2660"/>
                  </a:lnTo>
                  <a:lnTo>
                    <a:pt x="3391" y="2637"/>
                  </a:lnTo>
                  <a:lnTo>
                    <a:pt x="3493" y="2611"/>
                  </a:lnTo>
                  <a:lnTo>
                    <a:pt x="3596" y="2585"/>
                  </a:lnTo>
                  <a:lnTo>
                    <a:pt x="3700" y="2559"/>
                  </a:lnTo>
                  <a:lnTo>
                    <a:pt x="3802" y="2530"/>
                  </a:lnTo>
                  <a:lnTo>
                    <a:pt x="3904" y="2500"/>
                  </a:lnTo>
                  <a:lnTo>
                    <a:pt x="4007" y="2469"/>
                  </a:lnTo>
                  <a:lnTo>
                    <a:pt x="4111" y="2438"/>
                  </a:lnTo>
                  <a:lnTo>
                    <a:pt x="4213" y="2405"/>
                  </a:lnTo>
                  <a:lnTo>
                    <a:pt x="4316" y="2370"/>
                  </a:lnTo>
                  <a:lnTo>
                    <a:pt x="4418" y="2335"/>
                  </a:lnTo>
                  <a:lnTo>
                    <a:pt x="4520" y="2298"/>
                  </a:lnTo>
                  <a:lnTo>
                    <a:pt x="4624" y="2260"/>
                  </a:lnTo>
                  <a:lnTo>
                    <a:pt x="4727" y="2222"/>
                  </a:lnTo>
                  <a:lnTo>
                    <a:pt x="4829" y="2181"/>
                  </a:lnTo>
                  <a:lnTo>
                    <a:pt x="4933" y="2139"/>
                  </a:lnTo>
                  <a:lnTo>
                    <a:pt x="5035" y="2096"/>
                  </a:lnTo>
                  <a:lnTo>
                    <a:pt x="5138" y="2053"/>
                  </a:lnTo>
                  <a:lnTo>
                    <a:pt x="5240" y="2007"/>
                  </a:lnTo>
                  <a:lnTo>
                    <a:pt x="5343" y="1962"/>
                  </a:lnTo>
                  <a:lnTo>
                    <a:pt x="5446" y="1915"/>
                  </a:lnTo>
                  <a:lnTo>
                    <a:pt x="5549" y="1866"/>
                  </a:lnTo>
                  <a:lnTo>
                    <a:pt x="5651" y="1817"/>
                  </a:lnTo>
                  <a:lnTo>
                    <a:pt x="5755" y="1768"/>
                  </a:lnTo>
                  <a:lnTo>
                    <a:pt x="5857" y="1717"/>
                  </a:lnTo>
                  <a:lnTo>
                    <a:pt x="5960" y="1665"/>
                  </a:lnTo>
                  <a:lnTo>
                    <a:pt x="6062" y="1612"/>
                  </a:lnTo>
                  <a:lnTo>
                    <a:pt x="6166" y="1560"/>
                  </a:lnTo>
                  <a:lnTo>
                    <a:pt x="6269" y="1507"/>
                  </a:lnTo>
                  <a:lnTo>
                    <a:pt x="6371" y="1452"/>
                  </a:lnTo>
                  <a:lnTo>
                    <a:pt x="6473" y="1398"/>
                  </a:lnTo>
                  <a:lnTo>
                    <a:pt x="6576" y="1343"/>
                  </a:lnTo>
                  <a:lnTo>
                    <a:pt x="6680" y="1288"/>
                  </a:lnTo>
                  <a:lnTo>
                    <a:pt x="6782" y="1233"/>
                  </a:lnTo>
                  <a:lnTo>
                    <a:pt x="6884" y="1177"/>
                  </a:lnTo>
                  <a:lnTo>
                    <a:pt x="6988" y="1122"/>
                  </a:lnTo>
                  <a:lnTo>
                    <a:pt x="7091" y="1068"/>
                  </a:lnTo>
                  <a:lnTo>
                    <a:pt x="7193" y="1013"/>
                  </a:lnTo>
                  <a:lnTo>
                    <a:pt x="7296" y="958"/>
                  </a:lnTo>
                  <a:lnTo>
                    <a:pt x="7398" y="903"/>
                  </a:lnTo>
                  <a:lnTo>
                    <a:pt x="7502" y="850"/>
                  </a:lnTo>
                  <a:lnTo>
                    <a:pt x="7604" y="797"/>
                  </a:lnTo>
                  <a:lnTo>
                    <a:pt x="7707" y="745"/>
                  </a:lnTo>
                  <a:lnTo>
                    <a:pt x="7810" y="694"/>
                  </a:lnTo>
                  <a:lnTo>
                    <a:pt x="7913" y="644"/>
                  </a:lnTo>
                  <a:lnTo>
                    <a:pt x="8015" y="595"/>
                  </a:lnTo>
                  <a:lnTo>
                    <a:pt x="8118" y="548"/>
                  </a:lnTo>
                  <a:lnTo>
                    <a:pt x="8222" y="501"/>
                  </a:lnTo>
                  <a:lnTo>
                    <a:pt x="8324" y="455"/>
                  </a:lnTo>
                  <a:lnTo>
                    <a:pt x="8426" y="412"/>
                  </a:lnTo>
                  <a:lnTo>
                    <a:pt x="8529" y="370"/>
                  </a:lnTo>
                  <a:lnTo>
                    <a:pt x="8633" y="331"/>
                  </a:lnTo>
                  <a:lnTo>
                    <a:pt x="8735" y="293"/>
                  </a:lnTo>
                  <a:lnTo>
                    <a:pt x="8837" y="256"/>
                  </a:lnTo>
                  <a:lnTo>
                    <a:pt x="8940" y="223"/>
                  </a:lnTo>
                  <a:lnTo>
                    <a:pt x="9044" y="190"/>
                  </a:lnTo>
                  <a:lnTo>
                    <a:pt x="9146" y="161"/>
                  </a:lnTo>
                  <a:lnTo>
                    <a:pt x="9249" y="134"/>
                  </a:lnTo>
                  <a:lnTo>
                    <a:pt x="9351" y="110"/>
                  </a:lnTo>
                  <a:lnTo>
                    <a:pt x="9453" y="86"/>
                  </a:lnTo>
                  <a:lnTo>
                    <a:pt x="9557" y="66"/>
                  </a:lnTo>
                  <a:lnTo>
                    <a:pt x="9660" y="49"/>
                  </a:lnTo>
                  <a:lnTo>
                    <a:pt x="9762" y="35"/>
                  </a:lnTo>
                  <a:lnTo>
                    <a:pt x="9866" y="22"/>
                  </a:lnTo>
                  <a:lnTo>
                    <a:pt x="9968" y="13"/>
                  </a:lnTo>
                  <a:lnTo>
                    <a:pt x="10071" y="6"/>
                  </a:lnTo>
                  <a:lnTo>
                    <a:pt x="10173" y="1"/>
                  </a:lnTo>
                  <a:lnTo>
                    <a:pt x="10277" y="0"/>
                  </a:lnTo>
                  <a:lnTo>
                    <a:pt x="10379" y="1"/>
                  </a:lnTo>
                  <a:lnTo>
                    <a:pt x="10482" y="6"/>
                  </a:lnTo>
                  <a:lnTo>
                    <a:pt x="10584" y="13"/>
                  </a:lnTo>
                  <a:lnTo>
                    <a:pt x="10688" y="22"/>
                  </a:lnTo>
                  <a:lnTo>
                    <a:pt x="10790" y="35"/>
                  </a:lnTo>
                  <a:lnTo>
                    <a:pt x="10893" y="49"/>
                  </a:lnTo>
                  <a:lnTo>
                    <a:pt x="10995" y="66"/>
                  </a:lnTo>
                  <a:lnTo>
                    <a:pt x="11099" y="86"/>
                  </a:lnTo>
                  <a:lnTo>
                    <a:pt x="11202" y="110"/>
                  </a:lnTo>
                  <a:lnTo>
                    <a:pt x="11304" y="134"/>
                  </a:lnTo>
                  <a:lnTo>
                    <a:pt x="11406" y="161"/>
                  </a:lnTo>
                  <a:lnTo>
                    <a:pt x="11510" y="190"/>
                  </a:lnTo>
                  <a:lnTo>
                    <a:pt x="11613" y="223"/>
                  </a:lnTo>
                  <a:lnTo>
                    <a:pt x="11715" y="256"/>
                  </a:lnTo>
                  <a:lnTo>
                    <a:pt x="11817" y="293"/>
                  </a:lnTo>
                  <a:lnTo>
                    <a:pt x="11921" y="331"/>
                  </a:lnTo>
                  <a:lnTo>
                    <a:pt x="12024" y="370"/>
                  </a:lnTo>
                  <a:lnTo>
                    <a:pt x="12126" y="412"/>
                  </a:lnTo>
                  <a:lnTo>
                    <a:pt x="12229" y="455"/>
                  </a:lnTo>
                  <a:lnTo>
                    <a:pt x="12332" y="501"/>
                  </a:lnTo>
                  <a:lnTo>
                    <a:pt x="12435" y="548"/>
                  </a:lnTo>
                  <a:lnTo>
                    <a:pt x="12537" y="595"/>
                  </a:lnTo>
                  <a:lnTo>
                    <a:pt x="12640" y="644"/>
                  </a:lnTo>
                  <a:lnTo>
                    <a:pt x="12744" y="694"/>
                  </a:lnTo>
                  <a:lnTo>
                    <a:pt x="12846" y="745"/>
                  </a:lnTo>
                  <a:lnTo>
                    <a:pt x="12948" y="797"/>
                  </a:lnTo>
                  <a:lnTo>
                    <a:pt x="13051" y="850"/>
                  </a:lnTo>
                  <a:lnTo>
                    <a:pt x="13155" y="903"/>
                  </a:lnTo>
                  <a:lnTo>
                    <a:pt x="13257" y="958"/>
                  </a:lnTo>
                  <a:lnTo>
                    <a:pt x="13359" y="1013"/>
                  </a:lnTo>
                  <a:lnTo>
                    <a:pt x="13462" y="1068"/>
                  </a:lnTo>
                  <a:lnTo>
                    <a:pt x="13564" y="1122"/>
                  </a:lnTo>
                  <a:lnTo>
                    <a:pt x="13668" y="1177"/>
                  </a:lnTo>
                  <a:lnTo>
                    <a:pt x="13770" y="1233"/>
                  </a:lnTo>
                  <a:lnTo>
                    <a:pt x="13873" y="1288"/>
                  </a:lnTo>
                  <a:lnTo>
                    <a:pt x="13977" y="1343"/>
                  </a:lnTo>
                  <a:lnTo>
                    <a:pt x="14079" y="1398"/>
                  </a:lnTo>
                  <a:lnTo>
                    <a:pt x="14182" y="1452"/>
                  </a:lnTo>
                  <a:lnTo>
                    <a:pt x="14284" y="1507"/>
                  </a:lnTo>
                  <a:lnTo>
                    <a:pt x="14386" y="1560"/>
                  </a:lnTo>
                  <a:lnTo>
                    <a:pt x="14490" y="1612"/>
                  </a:lnTo>
                  <a:lnTo>
                    <a:pt x="14593" y="1665"/>
                  </a:lnTo>
                  <a:lnTo>
                    <a:pt x="14695" y="1717"/>
                  </a:lnTo>
                  <a:lnTo>
                    <a:pt x="14799" y="1768"/>
                  </a:lnTo>
                  <a:lnTo>
                    <a:pt x="14901" y="1817"/>
                  </a:lnTo>
                  <a:lnTo>
                    <a:pt x="15004" y="1866"/>
                  </a:lnTo>
                  <a:lnTo>
                    <a:pt x="15106" y="1915"/>
                  </a:lnTo>
                  <a:lnTo>
                    <a:pt x="15210" y="1962"/>
                  </a:lnTo>
                  <a:lnTo>
                    <a:pt x="15312" y="2007"/>
                  </a:lnTo>
                  <a:lnTo>
                    <a:pt x="15415" y="2053"/>
                  </a:lnTo>
                  <a:lnTo>
                    <a:pt x="15517" y="2096"/>
                  </a:lnTo>
                  <a:lnTo>
                    <a:pt x="15620" y="2139"/>
                  </a:lnTo>
                  <a:lnTo>
                    <a:pt x="15723" y="2181"/>
                  </a:lnTo>
                  <a:lnTo>
                    <a:pt x="15826" y="2222"/>
                  </a:lnTo>
                  <a:lnTo>
                    <a:pt x="15928" y="2260"/>
                  </a:lnTo>
                  <a:lnTo>
                    <a:pt x="16032" y="2298"/>
                  </a:lnTo>
                  <a:lnTo>
                    <a:pt x="16135" y="2335"/>
                  </a:lnTo>
                  <a:lnTo>
                    <a:pt x="16237" y="2370"/>
                  </a:lnTo>
                  <a:lnTo>
                    <a:pt x="16339" y="2405"/>
                  </a:lnTo>
                  <a:lnTo>
                    <a:pt x="16443" y="2438"/>
                  </a:lnTo>
                  <a:lnTo>
                    <a:pt x="16546" y="2469"/>
                  </a:lnTo>
                  <a:lnTo>
                    <a:pt x="16648" y="2500"/>
                  </a:lnTo>
                  <a:lnTo>
                    <a:pt x="16750" y="2530"/>
                  </a:lnTo>
                  <a:lnTo>
                    <a:pt x="16854" y="2559"/>
                  </a:lnTo>
                  <a:lnTo>
                    <a:pt x="16957" y="2585"/>
                  </a:lnTo>
                  <a:lnTo>
                    <a:pt x="17059" y="2611"/>
                  </a:lnTo>
                  <a:lnTo>
                    <a:pt x="17162" y="2637"/>
                  </a:lnTo>
                  <a:lnTo>
                    <a:pt x="17265" y="2660"/>
                  </a:lnTo>
                  <a:lnTo>
                    <a:pt x="17368" y="2683"/>
                  </a:lnTo>
                  <a:lnTo>
                    <a:pt x="17470" y="2704"/>
                  </a:lnTo>
                  <a:lnTo>
                    <a:pt x="17573" y="2724"/>
                  </a:lnTo>
                  <a:lnTo>
                    <a:pt x="17675" y="2745"/>
                  </a:lnTo>
                  <a:lnTo>
                    <a:pt x="17779" y="2763"/>
                  </a:lnTo>
                  <a:lnTo>
                    <a:pt x="17881" y="2781"/>
                  </a:lnTo>
                  <a:lnTo>
                    <a:pt x="17984" y="2798"/>
                  </a:lnTo>
                  <a:lnTo>
                    <a:pt x="18088" y="2814"/>
                  </a:lnTo>
                  <a:lnTo>
                    <a:pt x="18190" y="2828"/>
                  </a:lnTo>
                  <a:lnTo>
                    <a:pt x="18292" y="2843"/>
                  </a:lnTo>
                  <a:lnTo>
                    <a:pt x="18395" y="2855"/>
                  </a:lnTo>
                  <a:lnTo>
                    <a:pt x="18497" y="2868"/>
                  </a:lnTo>
                  <a:lnTo>
                    <a:pt x="18601" y="2880"/>
                  </a:lnTo>
                  <a:lnTo>
                    <a:pt x="18703" y="2892"/>
                  </a:lnTo>
                  <a:lnTo>
                    <a:pt x="18806" y="2902"/>
                  </a:lnTo>
                  <a:lnTo>
                    <a:pt x="18910" y="2912"/>
                  </a:lnTo>
                  <a:lnTo>
                    <a:pt x="19012" y="2922"/>
                  </a:lnTo>
                  <a:lnTo>
                    <a:pt x="19115" y="2930"/>
                  </a:lnTo>
                  <a:lnTo>
                    <a:pt x="19217" y="2939"/>
                  </a:lnTo>
                  <a:lnTo>
                    <a:pt x="19319" y="2946"/>
                  </a:lnTo>
                  <a:lnTo>
                    <a:pt x="19423" y="2953"/>
                  </a:lnTo>
                  <a:lnTo>
                    <a:pt x="19526" y="2959"/>
                  </a:lnTo>
                  <a:lnTo>
                    <a:pt x="19628" y="2966"/>
                  </a:lnTo>
                  <a:lnTo>
                    <a:pt x="19732" y="2972"/>
                  </a:lnTo>
                  <a:lnTo>
                    <a:pt x="19834" y="2977"/>
                  </a:lnTo>
                  <a:lnTo>
                    <a:pt x="19937" y="2982"/>
                  </a:lnTo>
                  <a:lnTo>
                    <a:pt x="20039" y="2987"/>
                  </a:lnTo>
                  <a:lnTo>
                    <a:pt x="20143" y="2991"/>
                  </a:lnTo>
                  <a:lnTo>
                    <a:pt x="20245" y="2995"/>
                  </a:lnTo>
                  <a:lnTo>
                    <a:pt x="20348" y="2998"/>
                  </a:lnTo>
                  <a:lnTo>
                    <a:pt x="20450" y="3002"/>
                  </a:lnTo>
                </a:path>
              </a:pathLst>
            </a:custGeom>
            <a:noFill/>
            <a:ln cap="flat" cmpd="sng" w="76200">
              <a:solidFill>
                <a:srgbClr val="CC66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9" name="Google Shape;379;p37"/>
            <p:cNvSpPr txBox="1"/>
            <p:nvPr/>
          </p:nvSpPr>
          <p:spPr>
            <a:xfrm>
              <a:off x="2609081" y="5210621"/>
              <a:ext cx="4154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rgbClr val="FF0000"/>
                  </a:solidFill>
                  <a:latin typeface="Arial"/>
                  <a:ea typeface="Arial"/>
                  <a:cs typeface="Arial"/>
                  <a:sym typeface="Arial"/>
                </a:rPr>
                <a:t>40</a:t>
              </a:r>
              <a:endParaRPr/>
            </a:p>
          </p:txBody>
        </p:sp>
        <p:sp>
          <p:nvSpPr>
            <p:cNvPr id="380" name="Google Shape;380;p37"/>
            <p:cNvSpPr txBox="1"/>
            <p:nvPr/>
          </p:nvSpPr>
          <p:spPr>
            <a:xfrm>
              <a:off x="4283894" y="5210621"/>
              <a:ext cx="501650" cy="4730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rgbClr val="00CC00"/>
                  </a:solidFill>
                  <a:latin typeface="Arial"/>
                  <a:ea typeface="Arial"/>
                  <a:cs typeface="Arial"/>
                  <a:sym typeface="Arial"/>
                </a:rPr>
                <a:t>50</a:t>
              </a:r>
              <a:endParaRPr/>
            </a:p>
          </p:txBody>
        </p:sp>
        <p:sp>
          <p:nvSpPr>
            <p:cNvPr id="381" name="Google Shape;381;p37"/>
            <p:cNvSpPr txBox="1"/>
            <p:nvPr/>
          </p:nvSpPr>
          <p:spPr>
            <a:xfrm>
              <a:off x="5920606" y="5189984"/>
              <a:ext cx="501650" cy="4730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rgbClr val="CC6600"/>
                  </a:solidFill>
                  <a:latin typeface="Arial"/>
                  <a:ea typeface="Arial"/>
                  <a:cs typeface="Arial"/>
                  <a:sym typeface="Arial"/>
                </a:rPr>
                <a:t>60</a:t>
              </a:r>
              <a:endParaRPr/>
            </a:p>
          </p:txBody>
        </p:sp>
        <p:cxnSp>
          <p:nvCxnSpPr>
            <p:cNvPr id="382" name="Google Shape;382;p37"/>
            <p:cNvCxnSpPr/>
            <p:nvPr/>
          </p:nvCxnSpPr>
          <p:spPr>
            <a:xfrm>
              <a:off x="2877369" y="5032821"/>
              <a:ext cx="0" cy="215900"/>
            </a:xfrm>
            <a:prstGeom prst="straightConnector1">
              <a:avLst/>
            </a:prstGeom>
            <a:noFill/>
            <a:ln cap="flat" cmpd="sng" w="57150">
              <a:solidFill>
                <a:srgbClr val="FF0000"/>
              </a:solidFill>
              <a:prstDash val="solid"/>
              <a:round/>
              <a:headEnd len="med" w="med" type="none"/>
              <a:tailEnd len="med" w="med" type="triangle"/>
            </a:ln>
          </p:spPr>
        </p:cxnSp>
        <p:cxnSp>
          <p:nvCxnSpPr>
            <p:cNvPr id="383" name="Google Shape;383;p37"/>
            <p:cNvCxnSpPr/>
            <p:nvPr/>
          </p:nvCxnSpPr>
          <p:spPr>
            <a:xfrm>
              <a:off x="4499794" y="5032821"/>
              <a:ext cx="0" cy="215900"/>
            </a:xfrm>
            <a:prstGeom prst="straightConnector1">
              <a:avLst/>
            </a:prstGeom>
            <a:noFill/>
            <a:ln cap="flat" cmpd="sng" w="57150">
              <a:solidFill>
                <a:srgbClr val="00CC00"/>
              </a:solidFill>
              <a:prstDash val="solid"/>
              <a:round/>
              <a:headEnd len="med" w="med" type="none"/>
              <a:tailEnd len="med" w="med" type="triangle"/>
            </a:ln>
          </p:spPr>
        </p:cxnSp>
        <p:cxnSp>
          <p:nvCxnSpPr>
            <p:cNvPr id="384" name="Google Shape;384;p37"/>
            <p:cNvCxnSpPr/>
            <p:nvPr/>
          </p:nvCxnSpPr>
          <p:spPr>
            <a:xfrm>
              <a:off x="6120631" y="5032821"/>
              <a:ext cx="0" cy="215900"/>
            </a:xfrm>
            <a:prstGeom prst="straightConnector1">
              <a:avLst/>
            </a:prstGeom>
            <a:noFill/>
            <a:ln cap="flat" cmpd="sng" w="57150">
              <a:solidFill>
                <a:srgbClr val="CC6600"/>
              </a:solidFill>
              <a:prstDash val="solid"/>
              <a:round/>
              <a:headEnd len="med" w="med" type="none"/>
              <a:tailEnd len="med" w="med" type="triangle"/>
            </a:ln>
          </p:spPr>
        </p:cxn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8"/>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NORMAL DAĞILIM…..</a:t>
            </a:r>
            <a:endParaRPr/>
          </a:p>
        </p:txBody>
      </p:sp>
      <p:sp>
        <p:nvSpPr>
          <p:cNvPr id="390" name="Google Shape;390;p38"/>
          <p:cNvSpPr txBox="1"/>
          <p:nvPr>
            <p:ph idx="1" type="body"/>
          </p:nvPr>
        </p:nvSpPr>
        <p:spPr>
          <a:xfrm>
            <a:off x="457200" y="1600200"/>
            <a:ext cx="7467600" cy="1324744"/>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Ortalamaları aynı standart sapmaları farklı normal dağılımlar.</a:t>
            </a:r>
            <a:endParaRPr/>
          </a:p>
        </p:txBody>
      </p:sp>
      <p:sp>
        <p:nvSpPr>
          <p:cNvPr id="391" name="Google Shape;391;p38"/>
          <p:cNvSpPr/>
          <p:nvPr/>
        </p:nvSpPr>
        <p:spPr>
          <a:xfrm>
            <a:off x="1144588" y="3500438"/>
            <a:ext cx="6608762" cy="2359025"/>
          </a:xfrm>
          <a:custGeom>
            <a:rect b="b" l="l" r="r" t="t"/>
            <a:pathLst>
              <a:path extrusionOk="0" h="7610" w="20450">
                <a:moveTo>
                  <a:pt x="0" y="7610"/>
                </a:moveTo>
                <a:lnTo>
                  <a:pt x="102" y="7610"/>
                </a:lnTo>
                <a:lnTo>
                  <a:pt x="205" y="7610"/>
                </a:lnTo>
                <a:lnTo>
                  <a:pt x="307" y="7610"/>
                </a:lnTo>
                <a:lnTo>
                  <a:pt x="410" y="7610"/>
                </a:lnTo>
                <a:lnTo>
                  <a:pt x="513" y="7610"/>
                </a:lnTo>
                <a:lnTo>
                  <a:pt x="616" y="7610"/>
                </a:lnTo>
                <a:lnTo>
                  <a:pt x="718" y="7610"/>
                </a:lnTo>
                <a:lnTo>
                  <a:pt x="821" y="7610"/>
                </a:lnTo>
                <a:lnTo>
                  <a:pt x="924" y="7610"/>
                </a:lnTo>
                <a:lnTo>
                  <a:pt x="1027" y="7610"/>
                </a:lnTo>
                <a:lnTo>
                  <a:pt x="1129" y="7610"/>
                </a:lnTo>
                <a:lnTo>
                  <a:pt x="1233" y="7610"/>
                </a:lnTo>
                <a:lnTo>
                  <a:pt x="1336" y="7610"/>
                </a:lnTo>
                <a:lnTo>
                  <a:pt x="1438" y="7610"/>
                </a:lnTo>
                <a:lnTo>
                  <a:pt x="1540" y="7610"/>
                </a:lnTo>
                <a:lnTo>
                  <a:pt x="1644" y="7610"/>
                </a:lnTo>
                <a:lnTo>
                  <a:pt x="1747" y="7610"/>
                </a:lnTo>
                <a:lnTo>
                  <a:pt x="1849" y="7609"/>
                </a:lnTo>
                <a:lnTo>
                  <a:pt x="1951" y="7609"/>
                </a:lnTo>
                <a:lnTo>
                  <a:pt x="2055" y="7609"/>
                </a:lnTo>
                <a:lnTo>
                  <a:pt x="2158" y="7607"/>
                </a:lnTo>
                <a:lnTo>
                  <a:pt x="2260" y="7607"/>
                </a:lnTo>
                <a:lnTo>
                  <a:pt x="2363" y="7606"/>
                </a:lnTo>
                <a:lnTo>
                  <a:pt x="2465" y="7606"/>
                </a:lnTo>
                <a:lnTo>
                  <a:pt x="2569" y="7604"/>
                </a:lnTo>
                <a:lnTo>
                  <a:pt x="2671" y="7603"/>
                </a:lnTo>
                <a:lnTo>
                  <a:pt x="2774" y="7601"/>
                </a:lnTo>
                <a:lnTo>
                  <a:pt x="2876" y="7599"/>
                </a:lnTo>
                <a:lnTo>
                  <a:pt x="2980" y="7597"/>
                </a:lnTo>
                <a:lnTo>
                  <a:pt x="3082" y="7594"/>
                </a:lnTo>
                <a:lnTo>
                  <a:pt x="3185" y="7591"/>
                </a:lnTo>
                <a:lnTo>
                  <a:pt x="3289" y="7587"/>
                </a:lnTo>
                <a:lnTo>
                  <a:pt x="3391" y="7583"/>
                </a:lnTo>
                <a:lnTo>
                  <a:pt x="3493" y="7578"/>
                </a:lnTo>
                <a:lnTo>
                  <a:pt x="3596" y="7573"/>
                </a:lnTo>
                <a:lnTo>
                  <a:pt x="3700" y="7565"/>
                </a:lnTo>
                <a:lnTo>
                  <a:pt x="3802" y="7557"/>
                </a:lnTo>
                <a:lnTo>
                  <a:pt x="3904" y="7548"/>
                </a:lnTo>
                <a:lnTo>
                  <a:pt x="4007" y="7538"/>
                </a:lnTo>
                <a:lnTo>
                  <a:pt x="4111" y="7527"/>
                </a:lnTo>
                <a:lnTo>
                  <a:pt x="4213" y="7512"/>
                </a:lnTo>
                <a:lnTo>
                  <a:pt x="4316" y="7498"/>
                </a:lnTo>
                <a:lnTo>
                  <a:pt x="4418" y="7479"/>
                </a:lnTo>
                <a:lnTo>
                  <a:pt x="4520" y="7460"/>
                </a:lnTo>
                <a:lnTo>
                  <a:pt x="4624" y="7437"/>
                </a:lnTo>
                <a:lnTo>
                  <a:pt x="4727" y="7413"/>
                </a:lnTo>
                <a:lnTo>
                  <a:pt x="4829" y="7384"/>
                </a:lnTo>
                <a:lnTo>
                  <a:pt x="4931" y="7352"/>
                </a:lnTo>
                <a:lnTo>
                  <a:pt x="5035" y="7316"/>
                </a:lnTo>
                <a:lnTo>
                  <a:pt x="5138" y="7276"/>
                </a:lnTo>
                <a:lnTo>
                  <a:pt x="5240" y="7233"/>
                </a:lnTo>
                <a:lnTo>
                  <a:pt x="5344" y="7184"/>
                </a:lnTo>
                <a:lnTo>
                  <a:pt x="5446" y="7130"/>
                </a:lnTo>
                <a:lnTo>
                  <a:pt x="5549" y="7070"/>
                </a:lnTo>
                <a:lnTo>
                  <a:pt x="5651" y="7005"/>
                </a:lnTo>
                <a:lnTo>
                  <a:pt x="5755" y="6934"/>
                </a:lnTo>
                <a:lnTo>
                  <a:pt x="5857" y="6857"/>
                </a:lnTo>
                <a:lnTo>
                  <a:pt x="5960" y="6772"/>
                </a:lnTo>
                <a:lnTo>
                  <a:pt x="6062" y="6679"/>
                </a:lnTo>
                <a:lnTo>
                  <a:pt x="6166" y="6581"/>
                </a:lnTo>
                <a:lnTo>
                  <a:pt x="6269" y="6473"/>
                </a:lnTo>
                <a:lnTo>
                  <a:pt x="6371" y="6360"/>
                </a:lnTo>
                <a:lnTo>
                  <a:pt x="6473" y="6236"/>
                </a:lnTo>
                <a:lnTo>
                  <a:pt x="6576" y="6105"/>
                </a:lnTo>
                <a:lnTo>
                  <a:pt x="6680" y="5965"/>
                </a:lnTo>
                <a:lnTo>
                  <a:pt x="6782" y="5816"/>
                </a:lnTo>
                <a:lnTo>
                  <a:pt x="6884" y="5659"/>
                </a:lnTo>
                <a:lnTo>
                  <a:pt x="6987" y="5495"/>
                </a:lnTo>
                <a:lnTo>
                  <a:pt x="7091" y="5321"/>
                </a:lnTo>
                <a:lnTo>
                  <a:pt x="7193" y="5139"/>
                </a:lnTo>
                <a:lnTo>
                  <a:pt x="7296" y="4951"/>
                </a:lnTo>
                <a:lnTo>
                  <a:pt x="7399" y="4755"/>
                </a:lnTo>
                <a:lnTo>
                  <a:pt x="7502" y="4551"/>
                </a:lnTo>
                <a:lnTo>
                  <a:pt x="7604" y="4341"/>
                </a:lnTo>
                <a:lnTo>
                  <a:pt x="7707" y="4126"/>
                </a:lnTo>
                <a:lnTo>
                  <a:pt x="7810" y="3906"/>
                </a:lnTo>
                <a:lnTo>
                  <a:pt x="7913" y="3681"/>
                </a:lnTo>
                <a:lnTo>
                  <a:pt x="8015" y="3455"/>
                </a:lnTo>
                <a:lnTo>
                  <a:pt x="8118" y="3225"/>
                </a:lnTo>
                <a:lnTo>
                  <a:pt x="8222" y="2994"/>
                </a:lnTo>
                <a:lnTo>
                  <a:pt x="8324" y="2764"/>
                </a:lnTo>
                <a:lnTo>
                  <a:pt x="8426" y="2535"/>
                </a:lnTo>
                <a:lnTo>
                  <a:pt x="8529" y="2307"/>
                </a:lnTo>
                <a:lnTo>
                  <a:pt x="8631" y="2084"/>
                </a:lnTo>
                <a:lnTo>
                  <a:pt x="8735" y="1866"/>
                </a:lnTo>
                <a:lnTo>
                  <a:pt x="8837" y="1654"/>
                </a:lnTo>
                <a:lnTo>
                  <a:pt x="8940" y="1450"/>
                </a:lnTo>
                <a:lnTo>
                  <a:pt x="9042" y="1254"/>
                </a:lnTo>
                <a:lnTo>
                  <a:pt x="9146" y="1068"/>
                </a:lnTo>
                <a:lnTo>
                  <a:pt x="9249" y="894"/>
                </a:lnTo>
                <a:lnTo>
                  <a:pt x="9351" y="732"/>
                </a:lnTo>
                <a:lnTo>
                  <a:pt x="9455" y="585"/>
                </a:lnTo>
                <a:lnTo>
                  <a:pt x="9557" y="451"/>
                </a:lnTo>
                <a:lnTo>
                  <a:pt x="9660" y="335"/>
                </a:lnTo>
                <a:lnTo>
                  <a:pt x="9762" y="234"/>
                </a:lnTo>
                <a:lnTo>
                  <a:pt x="9866" y="150"/>
                </a:lnTo>
                <a:lnTo>
                  <a:pt x="9968" y="85"/>
                </a:lnTo>
                <a:lnTo>
                  <a:pt x="10071" y="38"/>
                </a:lnTo>
                <a:lnTo>
                  <a:pt x="10173" y="9"/>
                </a:lnTo>
                <a:lnTo>
                  <a:pt x="10277" y="0"/>
                </a:lnTo>
                <a:lnTo>
                  <a:pt x="10379" y="9"/>
                </a:lnTo>
                <a:lnTo>
                  <a:pt x="10482" y="38"/>
                </a:lnTo>
                <a:lnTo>
                  <a:pt x="10584" y="85"/>
                </a:lnTo>
                <a:lnTo>
                  <a:pt x="10687" y="150"/>
                </a:lnTo>
                <a:lnTo>
                  <a:pt x="10790" y="234"/>
                </a:lnTo>
                <a:lnTo>
                  <a:pt x="10893" y="335"/>
                </a:lnTo>
                <a:lnTo>
                  <a:pt x="10995" y="451"/>
                </a:lnTo>
                <a:lnTo>
                  <a:pt x="11098" y="585"/>
                </a:lnTo>
                <a:lnTo>
                  <a:pt x="11202" y="732"/>
                </a:lnTo>
                <a:lnTo>
                  <a:pt x="11304" y="894"/>
                </a:lnTo>
                <a:lnTo>
                  <a:pt x="11406" y="1068"/>
                </a:lnTo>
                <a:lnTo>
                  <a:pt x="11510" y="1254"/>
                </a:lnTo>
                <a:lnTo>
                  <a:pt x="11613" y="1450"/>
                </a:lnTo>
                <a:lnTo>
                  <a:pt x="11715" y="1654"/>
                </a:lnTo>
                <a:lnTo>
                  <a:pt x="11817" y="1866"/>
                </a:lnTo>
                <a:lnTo>
                  <a:pt x="11921" y="2084"/>
                </a:lnTo>
                <a:lnTo>
                  <a:pt x="12024" y="2307"/>
                </a:lnTo>
                <a:lnTo>
                  <a:pt x="12126" y="2535"/>
                </a:lnTo>
                <a:lnTo>
                  <a:pt x="12229" y="2764"/>
                </a:lnTo>
                <a:lnTo>
                  <a:pt x="12332" y="2994"/>
                </a:lnTo>
                <a:lnTo>
                  <a:pt x="12435" y="3225"/>
                </a:lnTo>
                <a:lnTo>
                  <a:pt x="12537" y="3455"/>
                </a:lnTo>
                <a:lnTo>
                  <a:pt x="12640" y="3681"/>
                </a:lnTo>
                <a:lnTo>
                  <a:pt x="12744" y="3906"/>
                </a:lnTo>
                <a:lnTo>
                  <a:pt x="12846" y="4126"/>
                </a:lnTo>
                <a:lnTo>
                  <a:pt x="12948" y="4341"/>
                </a:lnTo>
                <a:lnTo>
                  <a:pt x="13051" y="4551"/>
                </a:lnTo>
                <a:lnTo>
                  <a:pt x="13153" y="4755"/>
                </a:lnTo>
                <a:lnTo>
                  <a:pt x="13257" y="4951"/>
                </a:lnTo>
                <a:lnTo>
                  <a:pt x="13359" y="5139"/>
                </a:lnTo>
                <a:lnTo>
                  <a:pt x="13462" y="5321"/>
                </a:lnTo>
                <a:lnTo>
                  <a:pt x="13566" y="5495"/>
                </a:lnTo>
                <a:lnTo>
                  <a:pt x="13668" y="5659"/>
                </a:lnTo>
                <a:lnTo>
                  <a:pt x="13770" y="5816"/>
                </a:lnTo>
                <a:lnTo>
                  <a:pt x="13873" y="5965"/>
                </a:lnTo>
                <a:lnTo>
                  <a:pt x="13977" y="6105"/>
                </a:lnTo>
                <a:lnTo>
                  <a:pt x="14079" y="6236"/>
                </a:lnTo>
                <a:lnTo>
                  <a:pt x="14182" y="6360"/>
                </a:lnTo>
                <a:lnTo>
                  <a:pt x="14284" y="6473"/>
                </a:lnTo>
                <a:lnTo>
                  <a:pt x="14386" y="6581"/>
                </a:lnTo>
                <a:lnTo>
                  <a:pt x="14490" y="6679"/>
                </a:lnTo>
                <a:lnTo>
                  <a:pt x="14593" y="6772"/>
                </a:lnTo>
                <a:lnTo>
                  <a:pt x="14695" y="6857"/>
                </a:lnTo>
                <a:lnTo>
                  <a:pt x="14797" y="6934"/>
                </a:lnTo>
                <a:lnTo>
                  <a:pt x="14901" y="7005"/>
                </a:lnTo>
                <a:lnTo>
                  <a:pt x="15004" y="7070"/>
                </a:lnTo>
                <a:lnTo>
                  <a:pt x="15106" y="7130"/>
                </a:lnTo>
                <a:lnTo>
                  <a:pt x="15209" y="7184"/>
                </a:lnTo>
                <a:lnTo>
                  <a:pt x="15312" y="7233"/>
                </a:lnTo>
                <a:lnTo>
                  <a:pt x="15415" y="7276"/>
                </a:lnTo>
                <a:lnTo>
                  <a:pt x="15517" y="7316"/>
                </a:lnTo>
                <a:lnTo>
                  <a:pt x="15621" y="7352"/>
                </a:lnTo>
                <a:lnTo>
                  <a:pt x="15723" y="7384"/>
                </a:lnTo>
                <a:lnTo>
                  <a:pt x="15826" y="7413"/>
                </a:lnTo>
                <a:lnTo>
                  <a:pt x="15928" y="7437"/>
                </a:lnTo>
                <a:lnTo>
                  <a:pt x="16031" y="7460"/>
                </a:lnTo>
                <a:lnTo>
                  <a:pt x="16135" y="7479"/>
                </a:lnTo>
                <a:lnTo>
                  <a:pt x="16237" y="7498"/>
                </a:lnTo>
                <a:lnTo>
                  <a:pt x="16339" y="7512"/>
                </a:lnTo>
                <a:lnTo>
                  <a:pt x="16443" y="7527"/>
                </a:lnTo>
                <a:lnTo>
                  <a:pt x="16546" y="7538"/>
                </a:lnTo>
                <a:lnTo>
                  <a:pt x="16648" y="7548"/>
                </a:lnTo>
                <a:lnTo>
                  <a:pt x="16750" y="7557"/>
                </a:lnTo>
                <a:lnTo>
                  <a:pt x="16854" y="7565"/>
                </a:lnTo>
                <a:lnTo>
                  <a:pt x="16957" y="7573"/>
                </a:lnTo>
                <a:lnTo>
                  <a:pt x="17059" y="7578"/>
                </a:lnTo>
                <a:lnTo>
                  <a:pt x="17162" y="7583"/>
                </a:lnTo>
                <a:lnTo>
                  <a:pt x="17264" y="7587"/>
                </a:lnTo>
                <a:lnTo>
                  <a:pt x="17368" y="7591"/>
                </a:lnTo>
                <a:lnTo>
                  <a:pt x="17470" y="7594"/>
                </a:lnTo>
                <a:lnTo>
                  <a:pt x="17573" y="7597"/>
                </a:lnTo>
                <a:lnTo>
                  <a:pt x="17677" y="7599"/>
                </a:lnTo>
                <a:lnTo>
                  <a:pt x="17779" y="7601"/>
                </a:lnTo>
                <a:lnTo>
                  <a:pt x="17881" y="7603"/>
                </a:lnTo>
                <a:lnTo>
                  <a:pt x="17984" y="7604"/>
                </a:lnTo>
                <a:lnTo>
                  <a:pt x="18086" y="7606"/>
                </a:lnTo>
                <a:lnTo>
                  <a:pt x="18190" y="7606"/>
                </a:lnTo>
                <a:lnTo>
                  <a:pt x="18292" y="7607"/>
                </a:lnTo>
                <a:lnTo>
                  <a:pt x="18395" y="7607"/>
                </a:lnTo>
                <a:lnTo>
                  <a:pt x="18497" y="7609"/>
                </a:lnTo>
                <a:lnTo>
                  <a:pt x="18601" y="7609"/>
                </a:lnTo>
                <a:lnTo>
                  <a:pt x="18703" y="7609"/>
                </a:lnTo>
                <a:lnTo>
                  <a:pt x="18806" y="7610"/>
                </a:lnTo>
                <a:lnTo>
                  <a:pt x="18910" y="7610"/>
                </a:lnTo>
                <a:lnTo>
                  <a:pt x="19012" y="7610"/>
                </a:lnTo>
                <a:lnTo>
                  <a:pt x="19115" y="7610"/>
                </a:lnTo>
                <a:lnTo>
                  <a:pt x="19217" y="7610"/>
                </a:lnTo>
                <a:lnTo>
                  <a:pt x="19319" y="7610"/>
                </a:lnTo>
                <a:lnTo>
                  <a:pt x="19423" y="7610"/>
                </a:lnTo>
                <a:lnTo>
                  <a:pt x="19526" y="7610"/>
                </a:lnTo>
                <a:lnTo>
                  <a:pt x="19628" y="7610"/>
                </a:lnTo>
                <a:lnTo>
                  <a:pt x="19732" y="7610"/>
                </a:lnTo>
                <a:lnTo>
                  <a:pt x="19834" y="7610"/>
                </a:lnTo>
                <a:lnTo>
                  <a:pt x="19937" y="7610"/>
                </a:lnTo>
                <a:lnTo>
                  <a:pt x="20039" y="7610"/>
                </a:lnTo>
                <a:lnTo>
                  <a:pt x="20142" y="7610"/>
                </a:lnTo>
                <a:lnTo>
                  <a:pt x="20245" y="7610"/>
                </a:lnTo>
                <a:lnTo>
                  <a:pt x="20348" y="7610"/>
                </a:lnTo>
                <a:lnTo>
                  <a:pt x="20450" y="7610"/>
                </a:lnTo>
              </a:path>
            </a:pathLst>
          </a:custGeom>
          <a:noFill/>
          <a:ln cap="flat" cmpd="sng" w="76200">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2" name="Google Shape;392;p38"/>
          <p:cNvSpPr/>
          <p:nvPr/>
        </p:nvSpPr>
        <p:spPr>
          <a:xfrm>
            <a:off x="1576388" y="4076700"/>
            <a:ext cx="5803900" cy="1800225"/>
          </a:xfrm>
          <a:custGeom>
            <a:rect b="b" l="l" r="r" t="t"/>
            <a:pathLst>
              <a:path extrusionOk="0" h="3638" w="20450">
                <a:moveTo>
                  <a:pt x="0" y="3638"/>
                </a:moveTo>
                <a:lnTo>
                  <a:pt x="102" y="3628"/>
                </a:lnTo>
                <a:lnTo>
                  <a:pt x="205" y="3616"/>
                </a:lnTo>
                <a:lnTo>
                  <a:pt x="307" y="3605"/>
                </a:lnTo>
                <a:lnTo>
                  <a:pt x="410" y="3592"/>
                </a:lnTo>
                <a:lnTo>
                  <a:pt x="513" y="3579"/>
                </a:lnTo>
                <a:lnTo>
                  <a:pt x="616" y="3566"/>
                </a:lnTo>
                <a:lnTo>
                  <a:pt x="718" y="3550"/>
                </a:lnTo>
                <a:lnTo>
                  <a:pt x="821" y="3536"/>
                </a:lnTo>
                <a:lnTo>
                  <a:pt x="924" y="3520"/>
                </a:lnTo>
                <a:lnTo>
                  <a:pt x="1027" y="3503"/>
                </a:lnTo>
                <a:lnTo>
                  <a:pt x="1129" y="3485"/>
                </a:lnTo>
                <a:lnTo>
                  <a:pt x="1233" y="3468"/>
                </a:lnTo>
                <a:lnTo>
                  <a:pt x="1336" y="3448"/>
                </a:lnTo>
                <a:lnTo>
                  <a:pt x="1438" y="3429"/>
                </a:lnTo>
                <a:lnTo>
                  <a:pt x="1540" y="3407"/>
                </a:lnTo>
                <a:lnTo>
                  <a:pt x="1644" y="3386"/>
                </a:lnTo>
                <a:lnTo>
                  <a:pt x="1747" y="3364"/>
                </a:lnTo>
                <a:lnTo>
                  <a:pt x="1849" y="3340"/>
                </a:lnTo>
                <a:lnTo>
                  <a:pt x="1951" y="3317"/>
                </a:lnTo>
                <a:lnTo>
                  <a:pt x="2055" y="3291"/>
                </a:lnTo>
                <a:lnTo>
                  <a:pt x="2158" y="3265"/>
                </a:lnTo>
                <a:lnTo>
                  <a:pt x="2260" y="3237"/>
                </a:lnTo>
                <a:lnTo>
                  <a:pt x="2363" y="3209"/>
                </a:lnTo>
                <a:lnTo>
                  <a:pt x="2465" y="3180"/>
                </a:lnTo>
                <a:lnTo>
                  <a:pt x="2569" y="3150"/>
                </a:lnTo>
                <a:lnTo>
                  <a:pt x="2671" y="3118"/>
                </a:lnTo>
                <a:lnTo>
                  <a:pt x="2774" y="3086"/>
                </a:lnTo>
                <a:lnTo>
                  <a:pt x="2876" y="3053"/>
                </a:lnTo>
                <a:lnTo>
                  <a:pt x="2980" y="3018"/>
                </a:lnTo>
                <a:lnTo>
                  <a:pt x="3082" y="2982"/>
                </a:lnTo>
                <a:lnTo>
                  <a:pt x="3185" y="2946"/>
                </a:lnTo>
                <a:lnTo>
                  <a:pt x="3289" y="2909"/>
                </a:lnTo>
                <a:lnTo>
                  <a:pt x="3391" y="2870"/>
                </a:lnTo>
                <a:lnTo>
                  <a:pt x="3493" y="2830"/>
                </a:lnTo>
                <a:lnTo>
                  <a:pt x="3596" y="2789"/>
                </a:lnTo>
                <a:lnTo>
                  <a:pt x="3700" y="2748"/>
                </a:lnTo>
                <a:lnTo>
                  <a:pt x="3802" y="2704"/>
                </a:lnTo>
                <a:lnTo>
                  <a:pt x="3904" y="2661"/>
                </a:lnTo>
                <a:lnTo>
                  <a:pt x="4007" y="2616"/>
                </a:lnTo>
                <a:lnTo>
                  <a:pt x="4111" y="2570"/>
                </a:lnTo>
                <a:lnTo>
                  <a:pt x="4213" y="2523"/>
                </a:lnTo>
                <a:lnTo>
                  <a:pt x="4316" y="2475"/>
                </a:lnTo>
                <a:lnTo>
                  <a:pt x="4418" y="2428"/>
                </a:lnTo>
                <a:lnTo>
                  <a:pt x="4520" y="2377"/>
                </a:lnTo>
                <a:lnTo>
                  <a:pt x="4624" y="2327"/>
                </a:lnTo>
                <a:lnTo>
                  <a:pt x="4727" y="2276"/>
                </a:lnTo>
                <a:lnTo>
                  <a:pt x="4829" y="2223"/>
                </a:lnTo>
                <a:lnTo>
                  <a:pt x="4931" y="2171"/>
                </a:lnTo>
                <a:lnTo>
                  <a:pt x="5035" y="2118"/>
                </a:lnTo>
                <a:lnTo>
                  <a:pt x="5138" y="2063"/>
                </a:lnTo>
                <a:lnTo>
                  <a:pt x="5240" y="2009"/>
                </a:lnTo>
                <a:lnTo>
                  <a:pt x="5344" y="1954"/>
                </a:lnTo>
                <a:lnTo>
                  <a:pt x="5446" y="1898"/>
                </a:lnTo>
                <a:lnTo>
                  <a:pt x="5549" y="1841"/>
                </a:lnTo>
                <a:lnTo>
                  <a:pt x="5651" y="1785"/>
                </a:lnTo>
                <a:lnTo>
                  <a:pt x="5755" y="1728"/>
                </a:lnTo>
                <a:lnTo>
                  <a:pt x="5857" y="1670"/>
                </a:lnTo>
                <a:lnTo>
                  <a:pt x="5960" y="1612"/>
                </a:lnTo>
                <a:lnTo>
                  <a:pt x="6062" y="1555"/>
                </a:lnTo>
                <a:lnTo>
                  <a:pt x="6166" y="1497"/>
                </a:lnTo>
                <a:lnTo>
                  <a:pt x="6269" y="1439"/>
                </a:lnTo>
                <a:lnTo>
                  <a:pt x="6371" y="1382"/>
                </a:lnTo>
                <a:lnTo>
                  <a:pt x="6473" y="1324"/>
                </a:lnTo>
                <a:lnTo>
                  <a:pt x="6576" y="1268"/>
                </a:lnTo>
                <a:lnTo>
                  <a:pt x="6680" y="1210"/>
                </a:lnTo>
                <a:lnTo>
                  <a:pt x="6782" y="1154"/>
                </a:lnTo>
                <a:lnTo>
                  <a:pt x="6884" y="1098"/>
                </a:lnTo>
                <a:lnTo>
                  <a:pt x="6987" y="1042"/>
                </a:lnTo>
                <a:lnTo>
                  <a:pt x="7091" y="987"/>
                </a:lnTo>
                <a:lnTo>
                  <a:pt x="7193" y="934"/>
                </a:lnTo>
                <a:lnTo>
                  <a:pt x="7296" y="880"/>
                </a:lnTo>
                <a:lnTo>
                  <a:pt x="7399" y="827"/>
                </a:lnTo>
                <a:lnTo>
                  <a:pt x="7502" y="775"/>
                </a:lnTo>
                <a:lnTo>
                  <a:pt x="7604" y="725"/>
                </a:lnTo>
                <a:lnTo>
                  <a:pt x="7707" y="676"/>
                </a:lnTo>
                <a:lnTo>
                  <a:pt x="7810" y="627"/>
                </a:lnTo>
                <a:lnTo>
                  <a:pt x="7913" y="581"/>
                </a:lnTo>
                <a:lnTo>
                  <a:pt x="8015" y="535"/>
                </a:lnTo>
                <a:lnTo>
                  <a:pt x="8118" y="490"/>
                </a:lnTo>
                <a:lnTo>
                  <a:pt x="8222" y="447"/>
                </a:lnTo>
                <a:lnTo>
                  <a:pt x="8324" y="406"/>
                </a:lnTo>
                <a:lnTo>
                  <a:pt x="8426" y="366"/>
                </a:lnTo>
                <a:lnTo>
                  <a:pt x="8529" y="329"/>
                </a:lnTo>
                <a:lnTo>
                  <a:pt x="8631" y="293"/>
                </a:lnTo>
                <a:lnTo>
                  <a:pt x="8735" y="258"/>
                </a:lnTo>
                <a:lnTo>
                  <a:pt x="8837" y="226"/>
                </a:lnTo>
                <a:lnTo>
                  <a:pt x="8940" y="196"/>
                </a:lnTo>
                <a:lnTo>
                  <a:pt x="9042" y="167"/>
                </a:lnTo>
                <a:lnTo>
                  <a:pt x="9146" y="141"/>
                </a:lnTo>
                <a:lnTo>
                  <a:pt x="9249" y="117"/>
                </a:lnTo>
                <a:lnTo>
                  <a:pt x="9351" y="95"/>
                </a:lnTo>
                <a:lnTo>
                  <a:pt x="9455" y="75"/>
                </a:lnTo>
                <a:lnTo>
                  <a:pt x="9557" y="58"/>
                </a:lnTo>
                <a:lnTo>
                  <a:pt x="9660" y="43"/>
                </a:lnTo>
                <a:lnTo>
                  <a:pt x="9762" y="30"/>
                </a:lnTo>
                <a:lnTo>
                  <a:pt x="9866" y="19"/>
                </a:lnTo>
                <a:lnTo>
                  <a:pt x="9968" y="10"/>
                </a:lnTo>
                <a:lnTo>
                  <a:pt x="10071" y="5"/>
                </a:lnTo>
                <a:lnTo>
                  <a:pt x="10173" y="2"/>
                </a:lnTo>
                <a:lnTo>
                  <a:pt x="10277" y="0"/>
                </a:lnTo>
                <a:lnTo>
                  <a:pt x="10379" y="2"/>
                </a:lnTo>
                <a:lnTo>
                  <a:pt x="10482" y="5"/>
                </a:lnTo>
                <a:lnTo>
                  <a:pt x="10584" y="10"/>
                </a:lnTo>
                <a:lnTo>
                  <a:pt x="10687" y="19"/>
                </a:lnTo>
                <a:lnTo>
                  <a:pt x="10790" y="30"/>
                </a:lnTo>
                <a:lnTo>
                  <a:pt x="10893" y="43"/>
                </a:lnTo>
                <a:lnTo>
                  <a:pt x="10995" y="58"/>
                </a:lnTo>
                <a:lnTo>
                  <a:pt x="11098" y="75"/>
                </a:lnTo>
                <a:lnTo>
                  <a:pt x="11202" y="95"/>
                </a:lnTo>
                <a:lnTo>
                  <a:pt x="11304" y="117"/>
                </a:lnTo>
                <a:lnTo>
                  <a:pt x="11406" y="141"/>
                </a:lnTo>
                <a:lnTo>
                  <a:pt x="11510" y="167"/>
                </a:lnTo>
                <a:lnTo>
                  <a:pt x="11613" y="196"/>
                </a:lnTo>
                <a:lnTo>
                  <a:pt x="11715" y="226"/>
                </a:lnTo>
                <a:lnTo>
                  <a:pt x="11817" y="258"/>
                </a:lnTo>
                <a:lnTo>
                  <a:pt x="11921" y="293"/>
                </a:lnTo>
                <a:lnTo>
                  <a:pt x="12024" y="329"/>
                </a:lnTo>
                <a:lnTo>
                  <a:pt x="12126" y="366"/>
                </a:lnTo>
                <a:lnTo>
                  <a:pt x="12229" y="406"/>
                </a:lnTo>
                <a:lnTo>
                  <a:pt x="12332" y="447"/>
                </a:lnTo>
                <a:lnTo>
                  <a:pt x="12435" y="490"/>
                </a:lnTo>
                <a:lnTo>
                  <a:pt x="12537" y="535"/>
                </a:lnTo>
                <a:lnTo>
                  <a:pt x="12640" y="581"/>
                </a:lnTo>
                <a:lnTo>
                  <a:pt x="12744" y="627"/>
                </a:lnTo>
                <a:lnTo>
                  <a:pt x="12846" y="676"/>
                </a:lnTo>
                <a:lnTo>
                  <a:pt x="12948" y="725"/>
                </a:lnTo>
                <a:lnTo>
                  <a:pt x="13051" y="775"/>
                </a:lnTo>
                <a:lnTo>
                  <a:pt x="13153" y="827"/>
                </a:lnTo>
                <a:lnTo>
                  <a:pt x="13257" y="880"/>
                </a:lnTo>
                <a:lnTo>
                  <a:pt x="13359" y="934"/>
                </a:lnTo>
                <a:lnTo>
                  <a:pt x="13462" y="987"/>
                </a:lnTo>
                <a:lnTo>
                  <a:pt x="13566" y="1042"/>
                </a:lnTo>
                <a:lnTo>
                  <a:pt x="13668" y="1098"/>
                </a:lnTo>
                <a:lnTo>
                  <a:pt x="13770" y="1154"/>
                </a:lnTo>
                <a:lnTo>
                  <a:pt x="13873" y="1210"/>
                </a:lnTo>
                <a:lnTo>
                  <a:pt x="13977" y="1268"/>
                </a:lnTo>
                <a:lnTo>
                  <a:pt x="14079" y="1324"/>
                </a:lnTo>
                <a:lnTo>
                  <a:pt x="14182" y="1382"/>
                </a:lnTo>
                <a:lnTo>
                  <a:pt x="14284" y="1439"/>
                </a:lnTo>
                <a:lnTo>
                  <a:pt x="14386" y="1497"/>
                </a:lnTo>
                <a:lnTo>
                  <a:pt x="14490" y="1555"/>
                </a:lnTo>
                <a:lnTo>
                  <a:pt x="14593" y="1612"/>
                </a:lnTo>
                <a:lnTo>
                  <a:pt x="14695" y="1670"/>
                </a:lnTo>
                <a:lnTo>
                  <a:pt x="14797" y="1728"/>
                </a:lnTo>
                <a:lnTo>
                  <a:pt x="14901" y="1785"/>
                </a:lnTo>
                <a:lnTo>
                  <a:pt x="15004" y="1841"/>
                </a:lnTo>
                <a:lnTo>
                  <a:pt x="15106" y="1898"/>
                </a:lnTo>
                <a:lnTo>
                  <a:pt x="15209" y="1954"/>
                </a:lnTo>
                <a:lnTo>
                  <a:pt x="15312" y="2009"/>
                </a:lnTo>
                <a:lnTo>
                  <a:pt x="15415" y="2063"/>
                </a:lnTo>
                <a:lnTo>
                  <a:pt x="15517" y="2118"/>
                </a:lnTo>
                <a:lnTo>
                  <a:pt x="15621" y="2171"/>
                </a:lnTo>
                <a:lnTo>
                  <a:pt x="15723" y="2223"/>
                </a:lnTo>
                <a:lnTo>
                  <a:pt x="15826" y="2276"/>
                </a:lnTo>
                <a:lnTo>
                  <a:pt x="15928" y="2327"/>
                </a:lnTo>
                <a:lnTo>
                  <a:pt x="16031" y="2377"/>
                </a:lnTo>
                <a:lnTo>
                  <a:pt x="16135" y="2428"/>
                </a:lnTo>
                <a:lnTo>
                  <a:pt x="16237" y="2475"/>
                </a:lnTo>
                <a:lnTo>
                  <a:pt x="16339" y="2523"/>
                </a:lnTo>
                <a:lnTo>
                  <a:pt x="16443" y="2570"/>
                </a:lnTo>
                <a:lnTo>
                  <a:pt x="16546" y="2616"/>
                </a:lnTo>
                <a:lnTo>
                  <a:pt x="16648" y="2661"/>
                </a:lnTo>
                <a:lnTo>
                  <a:pt x="16750" y="2704"/>
                </a:lnTo>
                <a:lnTo>
                  <a:pt x="16854" y="2748"/>
                </a:lnTo>
                <a:lnTo>
                  <a:pt x="16957" y="2789"/>
                </a:lnTo>
                <a:lnTo>
                  <a:pt x="17059" y="2830"/>
                </a:lnTo>
                <a:lnTo>
                  <a:pt x="17162" y="2870"/>
                </a:lnTo>
                <a:lnTo>
                  <a:pt x="17264" y="2909"/>
                </a:lnTo>
                <a:lnTo>
                  <a:pt x="17368" y="2946"/>
                </a:lnTo>
                <a:lnTo>
                  <a:pt x="17470" y="2982"/>
                </a:lnTo>
                <a:lnTo>
                  <a:pt x="17573" y="3018"/>
                </a:lnTo>
                <a:lnTo>
                  <a:pt x="17677" y="3053"/>
                </a:lnTo>
                <a:lnTo>
                  <a:pt x="17779" y="3086"/>
                </a:lnTo>
                <a:lnTo>
                  <a:pt x="17881" y="3118"/>
                </a:lnTo>
                <a:lnTo>
                  <a:pt x="17984" y="3150"/>
                </a:lnTo>
                <a:lnTo>
                  <a:pt x="18086" y="3180"/>
                </a:lnTo>
                <a:lnTo>
                  <a:pt x="18190" y="3209"/>
                </a:lnTo>
                <a:lnTo>
                  <a:pt x="18292" y="3237"/>
                </a:lnTo>
                <a:lnTo>
                  <a:pt x="18395" y="3265"/>
                </a:lnTo>
                <a:lnTo>
                  <a:pt x="18497" y="3291"/>
                </a:lnTo>
                <a:lnTo>
                  <a:pt x="18601" y="3317"/>
                </a:lnTo>
                <a:lnTo>
                  <a:pt x="18703" y="3340"/>
                </a:lnTo>
                <a:lnTo>
                  <a:pt x="18806" y="3364"/>
                </a:lnTo>
                <a:lnTo>
                  <a:pt x="18910" y="3386"/>
                </a:lnTo>
                <a:lnTo>
                  <a:pt x="19012" y="3407"/>
                </a:lnTo>
                <a:lnTo>
                  <a:pt x="19115" y="3429"/>
                </a:lnTo>
                <a:lnTo>
                  <a:pt x="19217" y="3448"/>
                </a:lnTo>
                <a:lnTo>
                  <a:pt x="19319" y="3468"/>
                </a:lnTo>
                <a:lnTo>
                  <a:pt x="19423" y="3485"/>
                </a:lnTo>
                <a:lnTo>
                  <a:pt x="19526" y="3503"/>
                </a:lnTo>
                <a:lnTo>
                  <a:pt x="19628" y="3520"/>
                </a:lnTo>
                <a:lnTo>
                  <a:pt x="19732" y="3536"/>
                </a:lnTo>
                <a:lnTo>
                  <a:pt x="19834" y="3550"/>
                </a:lnTo>
                <a:lnTo>
                  <a:pt x="19937" y="3566"/>
                </a:lnTo>
                <a:lnTo>
                  <a:pt x="20039" y="3579"/>
                </a:lnTo>
                <a:lnTo>
                  <a:pt x="20142" y="3592"/>
                </a:lnTo>
                <a:lnTo>
                  <a:pt x="20245" y="3605"/>
                </a:lnTo>
                <a:lnTo>
                  <a:pt x="20348" y="3616"/>
                </a:lnTo>
                <a:lnTo>
                  <a:pt x="20450" y="3628"/>
                </a:lnTo>
              </a:path>
            </a:pathLst>
          </a:custGeom>
          <a:noFill/>
          <a:ln cap="flat" cmpd="sng" w="76200">
            <a:solidFill>
              <a:srgbClr val="00CC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3" name="Google Shape;393;p38"/>
          <p:cNvSpPr/>
          <p:nvPr/>
        </p:nvSpPr>
        <p:spPr>
          <a:xfrm>
            <a:off x="1331913" y="4724400"/>
            <a:ext cx="6264275" cy="1081088"/>
          </a:xfrm>
          <a:custGeom>
            <a:rect b="b" l="l" r="r" t="t"/>
            <a:pathLst>
              <a:path extrusionOk="0" h="1904" w="20450">
                <a:moveTo>
                  <a:pt x="0" y="1904"/>
                </a:moveTo>
                <a:lnTo>
                  <a:pt x="102" y="1886"/>
                </a:lnTo>
                <a:lnTo>
                  <a:pt x="205" y="1869"/>
                </a:lnTo>
                <a:lnTo>
                  <a:pt x="307" y="1850"/>
                </a:lnTo>
                <a:lnTo>
                  <a:pt x="410" y="1832"/>
                </a:lnTo>
                <a:lnTo>
                  <a:pt x="513" y="1813"/>
                </a:lnTo>
                <a:lnTo>
                  <a:pt x="616" y="1793"/>
                </a:lnTo>
                <a:lnTo>
                  <a:pt x="718" y="1774"/>
                </a:lnTo>
                <a:lnTo>
                  <a:pt x="821" y="1754"/>
                </a:lnTo>
                <a:lnTo>
                  <a:pt x="924" y="1734"/>
                </a:lnTo>
                <a:lnTo>
                  <a:pt x="1027" y="1713"/>
                </a:lnTo>
                <a:lnTo>
                  <a:pt x="1129" y="1692"/>
                </a:lnTo>
                <a:lnTo>
                  <a:pt x="1233" y="1672"/>
                </a:lnTo>
                <a:lnTo>
                  <a:pt x="1336" y="1650"/>
                </a:lnTo>
                <a:lnTo>
                  <a:pt x="1438" y="1628"/>
                </a:lnTo>
                <a:lnTo>
                  <a:pt x="1540" y="1607"/>
                </a:lnTo>
                <a:lnTo>
                  <a:pt x="1644" y="1585"/>
                </a:lnTo>
                <a:lnTo>
                  <a:pt x="1747" y="1562"/>
                </a:lnTo>
                <a:lnTo>
                  <a:pt x="1849" y="1539"/>
                </a:lnTo>
                <a:lnTo>
                  <a:pt x="1951" y="1517"/>
                </a:lnTo>
                <a:lnTo>
                  <a:pt x="2055" y="1494"/>
                </a:lnTo>
                <a:lnTo>
                  <a:pt x="2158" y="1470"/>
                </a:lnTo>
                <a:lnTo>
                  <a:pt x="2260" y="1447"/>
                </a:lnTo>
                <a:lnTo>
                  <a:pt x="2363" y="1424"/>
                </a:lnTo>
                <a:lnTo>
                  <a:pt x="2465" y="1399"/>
                </a:lnTo>
                <a:lnTo>
                  <a:pt x="2569" y="1375"/>
                </a:lnTo>
                <a:lnTo>
                  <a:pt x="2671" y="1350"/>
                </a:lnTo>
                <a:lnTo>
                  <a:pt x="2774" y="1326"/>
                </a:lnTo>
                <a:lnTo>
                  <a:pt x="2876" y="1301"/>
                </a:lnTo>
                <a:lnTo>
                  <a:pt x="2980" y="1277"/>
                </a:lnTo>
                <a:lnTo>
                  <a:pt x="3082" y="1252"/>
                </a:lnTo>
                <a:lnTo>
                  <a:pt x="3185" y="1226"/>
                </a:lnTo>
                <a:lnTo>
                  <a:pt x="3289" y="1202"/>
                </a:lnTo>
                <a:lnTo>
                  <a:pt x="3391" y="1176"/>
                </a:lnTo>
                <a:lnTo>
                  <a:pt x="3493" y="1152"/>
                </a:lnTo>
                <a:lnTo>
                  <a:pt x="3596" y="1126"/>
                </a:lnTo>
                <a:lnTo>
                  <a:pt x="3700" y="1101"/>
                </a:lnTo>
                <a:lnTo>
                  <a:pt x="3802" y="1075"/>
                </a:lnTo>
                <a:lnTo>
                  <a:pt x="3904" y="1049"/>
                </a:lnTo>
                <a:lnTo>
                  <a:pt x="4007" y="1023"/>
                </a:lnTo>
                <a:lnTo>
                  <a:pt x="4111" y="997"/>
                </a:lnTo>
                <a:lnTo>
                  <a:pt x="4213" y="973"/>
                </a:lnTo>
                <a:lnTo>
                  <a:pt x="4316" y="947"/>
                </a:lnTo>
                <a:lnTo>
                  <a:pt x="4418" y="921"/>
                </a:lnTo>
                <a:lnTo>
                  <a:pt x="4520" y="895"/>
                </a:lnTo>
                <a:lnTo>
                  <a:pt x="4624" y="871"/>
                </a:lnTo>
                <a:lnTo>
                  <a:pt x="4727" y="845"/>
                </a:lnTo>
                <a:lnTo>
                  <a:pt x="4829" y="819"/>
                </a:lnTo>
                <a:lnTo>
                  <a:pt x="4931" y="794"/>
                </a:lnTo>
                <a:lnTo>
                  <a:pt x="5035" y="768"/>
                </a:lnTo>
                <a:lnTo>
                  <a:pt x="5138" y="744"/>
                </a:lnTo>
                <a:lnTo>
                  <a:pt x="5240" y="719"/>
                </a:lnTo>
                <a:lnTo>
                  <a:pt x="5344" y="695"/>
                </a:lnTo>
                <a:lnTo>
                  <a:pt x="5446" y="670"/>
                </a:lnTo>
                <a:lnTo>
                  <a:pt x="5549" y="646"/>
                </a:lnTo>
                <a:lnTo>
                  <a:pt x="5651" y="621"/>
                </a:lnTo>
                <a:lnTo>
                  <a:pt x="5755" y="598"/>
                </a:lnTo>
                <a:lnTo>
                  <a:pt x="5857" y="574"/>
                </a:lnTo>
                <a:lnTo>
                  <a:pt x="5960" y="551"/>
                </a:lnTo>
                <a:lnTo>
                  <a:pt x="6062" y="528"/>
                </a:lnTo>
                <a:lnTo>
                  <a:pt x="6166" y="505"/>
                </a:lnTo>
                <a:lnTo>
                  <a:pt x="6269" y="483"/>
                </a:lnTo>
                <a:lnTo>
                  <a:pt x="6371" y="461"/>
                </a:lnTo>
                <a:lnTo>
                  <a:pt x="6473" y="438"/>
                </a:lnTo>
                <a:lnTo>
                  <a:pt x="6576" y="418"/>
                </a:lnTo>
                <a:lnTo>
                  <a:pt x="6680" y="397"/>
                </a:lnTo>
                <a:lnTo>
                  <a:pt x="6782" y="376"/>
                </a:lnTo>
                <a:lnTo>
                  <a:pt x="6884" y="356"/>
                </a:lnTo>
                <a:lnTo>
                  <a:pt x="6987" y="336"/>
                </a:lnTo>
                <a:lnTo>
                  <a:pt x="7091" y="317"/>
                </a:lnTo>
                <a:lnTo>
                  <a:pt x="7193" y="297"/>
                </a:lnTo>
                <a:lnTo>
                  <a:pt x="7296" y="280"/>
                </a:lnTo>
                <a:lnTo>
                  <a:pt x="7399" y="261"/>
                </a:lnTo>
                <a:lnTo>
                  <a:pt x="7502" y="244"/>
                </a:lnTo>
                <a:lnTo>
                  <a:pt x="7604" y="227"/>
                </a:lnTo>
                <a:lnTo>
                  <a:pt x="7707" y="211"/>
                </a:lnTo>
                <a:lnTo>
                  <a:pt x="7810" y="195"/>
                </a:lnTo>
                <a:lnTo>
                  <a:pt x="7913" y="179"/>
                </a:lnTo>
                <a:lnTo>
                  <a:pt x="8015" y="165"/>
                </a:lnTo>
                <a:lnTo>
                  <a:pt x="8118" y="150"/>
                </a:lnTo>
                <a:lnTo>
                  <a:pt x="8222" y="137"/>
                </a:lnTo>
                <a:lnTo>
                  <a:pt x="8324" y="124"/>
                </a:lnTo>
                <a:lnTo>
                  <a:pt x="8426" y="111"/>
                </a:lnTo>
                <a:lnTo>
                  <a:pt x="8529" y="100"/>
                </a:lnTo>
                <a:lnTo>
                  <a:pt x="8631" y="88"/>
                </a:lnTo>
                <a:lnTo>
                  <a:pt x="8735" y="78"/>
                </a:lnTo>
                <a:lnTo>
                  <a:pt x="8837" y="68"/>
                </a:lnTo>
                <a:lnTo>
                  <a:pt x="8940" y="58"/>
                </a:lnTo>
                <a:lnTo>
                  <a:pt x="9042" y="49"/>
                </a:lnTo>
                <a:lnTo>
                  <a:pt x="9146" y="42"/>
                </a:lnTo>
                <a:lnTo>
                  <a:pt x="9249" y="35"/>
                </a:lnTo>
                <a:lnTo>
                  <a:pt x="9351" y="28"/>
                </a:lnTo>
                <a:lnTo>
                  <a:pt x="9455" y="22"/>
                </a:lnTo>
                <a:lnTo>
                  <a:pt x="9557" y="16"/>
                </a:lnTo>
                <a:lnTo>
                  <a:pt x="9660" y="12"/>
                </a:lnTo>
                <a:lnTo>
                  <a:pt x="9762" y="9"/>
                </a:lnTo>
                <a:lnTo>
                  <a:pt x="9866" y="5"/>
                </a:lnTo>
                <a:lnTo>
                  <a:pt x="9968" y="3"/>
                </a:lnTo>
                <a:lnTo>
                  <a:pt x="10071" y="2"/>
                </a:lnTo>
                <a:lnTo>
                  <a:pt x="10173" y="0"/>
                </a:lnTo>
                <a:lnTo>
                  <a:pt x="10277" y="0"/>
                </a:lnTo>
                <a:lnTo>
                  <a:pt x="10379" y="0"/>
                </a:lnTo>
                <a:lnTo>
                  <a:pt x="10482" y="2"/>
                </a:lnTo>
                <a:lnTo>
                  <a:pt x="10584" y="3"/>
                </a:lnTo>
                <a:lnTo>
                  <a:pt x="10687" y="5"/>
                </a:lnTo>
                <a:lnTo>
                  <a:pt x="10790" y="9"/>
                </a:lnTo>
                <a:lnTo>
                  <a:pt x="10893" y="12"/>
                </a:lnTo>
                <a:lnTo>
                  <a:pt x="10995" y="16"/>
                </a:lnTo>
                <a:lnTo>
                  <a:pt x="11098" y="22"/>
                </a:lnTo>
                <a:lnTo>
                  <a:pt x="11202" y="28"/>
                </a:lnTo>
                <a:lnTo>
                  <a:pt x="11304" y="35"/>
                </a:lnTo>
                <a:lnTo>
                  <a:pt x="11406" y="42"/>
                </a:lnTo>
                <a:lnTo>
                  <a:pt x="11510" y="49"/>
                </a:lnTo>
                <a:lnTo>
                  <a:pt x="11613" y="58"/>
                </a:lnTo>
                <a:lnTo>
                  <a:pt x="11715" y="68"/>
                </a:lnTo>
                <a:lnTo>
                  <a:pt x="11817" y="78"/>
                </a:lnTo>
                <a:lnTo>
                  <a:pt x="11921" y="88"/>
                </a:lnTo>
                <a:lnTo>
                  <a:pt x="12024" y="100"/>
                </a:lnTo>
                <a:lnTo>
                  <a:pt x="12126" y="111"/>
                </a:lnTo>
                <a:lnTo>
                  <a:pt x="12229" y="124"/>
                </a:lnTo>
                <a:lnTo>
                  <a:pt x="12332" y="137"/>
                </a:lnTo>
                <a:lnTo>
                  <a:pt x="12435" y="150"/>
                </a:lnTo>
                <a:lnTo>
                  <a:pt x="12537" y="165"/>
                </a:lnTo>
                <a:lnTo>
                  <a:pt x="12640" y="179"/>
                </a:lnTo>
                <a:lnTo>
                  <a:pt x="12744" y="195"/>
                </a:lnTo>
                <a:lnTo>
                  <a:pt x="12846" y="211"/>
                </a:lnTo>
                <a:lnTo>
                  <a:pt x="12948" y="227"/>
                </a:lnTo>
                <a:lnTo>
                  <a:pt x="13051" y="244"/>
                </a:lnTo>
                <a:lnTo>
                  <a:pt x="13153" y="261"/>
                </a:lnTo>
                <a:lnTo>
                  <a:pt x="13257" y="280"/>
                </a:lnTo>
                <a:lnTo>
                  <a:pt x="13359" y="297"/>
                </a:lnTo>
                <a:lnTo>
                  <a:pt x="13462" y="317"/>
                </a:lnTo>
                <a:lnTo>
                  <a:pt x="13566" y="336"/>
                </a:lnTo>
                <a:lnTo>
                  <a:pt x="13668" y="356"/>
                </a:lnTo>
                <a:lnTo>
                  <a:pt x="13770" y="376"/>
                </a:lnTo>
                <a:lnTo>
                  <a:pt x="13873" y="397"/>
                </a:lnTo>
                <a:lnTo>
                  <a:pt x="13977" y="418"/>
                </a:lnTo>
                <a:lnTo>
                  <a:pt x="14079" y="438"/>
                </a:lnTo>
                <a:lnTo>
                  <a:pt x="14182" y="461"/>
                </a:lnTo>
                <a:lnTo>
                  <a:pt x="14284" y="483"/>
                </a:lnTo>
                <a:lnTo>
                  <a:pt x="14386" y="505"/>
                </a:lnTo>
                <a:lnTo>
                  <a:pt x="14490" y="528"/>
                </a:lnTo>
                <a:lnTo>
                  <a:pt x="14593" y="551"/>
                </a:lnTo>
                <a:lnTo>
                  <a:pt x="14695" y="574"/>
                </a:lnTo>
                <a:lnTo>
                  <a:pt x="14797" y="598"/>
                </a:lnTo>
                <a:lnTo>
                  <a:pt x="14901" y="621"/>
                </a:lnTo>
                <a:lnTo>
                  <a:pt x="15004" y="646"/>
                </a:lnTo>
                <a:lnTo>
                  <a:pt x="15106" y="670"/>
                </a:lnTo>
                <a:lnTo>
                  <a:pt x="15209" y="695"/>
                </a:lnTo>
                <a:lnTo>
                  <a:pt x="15312" y="719"/>
                </a:lnTo>
                <a:lnTo>
                  <a:pt x="15415" y="744"/>
                </a:lnTo>
                <a:lnTo>
                  <a:pt x="15517" y="768"/>
                </a:lnTo>
                <a:lnTo>
                  <a:pt x="15621" y="794"/>
                </a:lnTo>
                <a:lnTo>
                  <a:pt x="15723" y="819"/>
                </a:lnTo>
                <a:lnTo>
                  <a:pt x="15826" y="845"/>
                </a:lnTo>
                <a:lnTo>
                  <a:pt x="15928" y="871"/>
                </a:lnTo>
                <a:lnTo>
                  <a:pt x="16031" y="895"/>
                </a:lnTo>
                <a:lnTo>
                  <a:pt x="16135" y="921"/>
                </a:lnTo>
                <a:lnTo>
                  <a:pt x="16237" y="947"/>
                </a:lnTo>
                <a:lnTo>
                  <a:pt x="16339" y="973"/>
                </a:lnTo>
                <a:lnTo>
                  <a:pt x="16443" y="997"/>
                </a:lnTo>
                <a:lnTo>
                  <a:pt x="16546" y="1023"/>
                </a:lnTo>
                <a:lnTo>
                  <a:pt x="16648" y="1049"/>
                </a:lnTo>
                <a:lnTo>
                  <a:pt x="16750" y="1075"/>
                </a:lnTo>
                <a:lnTo>
                  <a:pt x="16854" y="1101"/>
                </a:lnTo>
                <a:lnTo>
                  <a:pt x="16957" y="1126"/>
                </a:lnTo>
                <a:lnTo>
                  <a:pt x="17059" y="1152"/>
                </a:lnTo>
                <a:lnTo>
                  <a:pt x="17162" y="1176"/>
                </a:lnTo>
                <a:lnTo>
                  <a:pt x="17264" y="1202"/>
                </a:lnTo>
                <a:lnTo>
                  <a:pt x="17368" y="1226"/>
                </a:lnTo>
                <a:lnTo>
                  <a:pt x="17470" y="1252"/>
                </a:lnTo>
                <a:lnTo>
                  <a:pt x="17573" y="1277"/>
                </a:lnTo>
                <a:lnTo>
                  <a:pt x="17677" y="1301"/>
                </a:lnTo>
                <a:lnTo>
                  <a:pt x="17779" y="1326"/>
                </a:lnTo>
                <a:lnTo>
                  <a:pt x="17881" y="1350"/>
                </a:lnTo>
                <a:lnTo>
                  <a:pt x="17984" y="1375"/>
                </a:lnTo>
                <a:lnTo>
                  <a:pt x="18086" y="1399"/>
                </a:lnTo>
                <a:lnTo>
                  <a:pt x="18190" y="1424"/>
                </a:lnTo>
                <a:lnTo>
                  <a:pt x="18292" y="1447"/>
                </a:lnTo>
                <a:lnTo>
                  <a:pt x="18395" y="1470"/>
                </a:lnTo>
                <a:lnTo>
                  <a:pt x="18497" y="1494"/>
                </a:lnTo>
                <a:lnTo>
                  <a:pt x="18601" y="1517"/>
                </a:lnTo>
                <a:lnTo>
                  <a:pt x="18703" y="1539"/>
                </a:lnTo>
                <a:lnTo>
                  <a:pt x="18806" y="1562"/>
                </a:lnTo>
                <a:lnTo>
                  <a:pt x="18910" y="1585"/>
                </a:lnTo>
                <a:lnTo>
                  <a:pt x="19012" y="1607"/>
                </a:lnTo>
                <a:lnTo>
                  <a:pt x="19115" y="1628"/>
                </a:lnTo>
                <a:lnTo>
                  <a:pt x="19217" y="1650"/>
                </a:lnTo>
                <a:lnTo>
                  <a:pt x="19319" y="1672"/>
                </a:lnTo>
                <a:lnTo>
                  <a:pt x="19423" y="1692"/>
                </a:lnTo>
                <a:lnTo>
                  <a:pt x="19526" y="1713"/>
                </a:lnTo>
                <a:lnTo>
                  <a:pt x="19628" y="1734"/>
                </a:lnTo>
                <a:lnTo>
                  <a:pt x="19732" y="1754"/>
                </a:lnTo>
                <a:lnTo>
                  <a:pt x="19834" y="1774"/>
                </a:lnTo>
                <a:lnTo>
                  <a:pt x="19937" y="1793"/>
                </a:lnTo>
                <a:lnTo>
                  <a:pt x="20039" y="1813"/>
                </a:lnTo>
                <a:lnTo>
                  <a:pt x="20142" y="1832"/>
                </a:lnTo>
                <a:lnTo>
                  <a:pt x="20245" y="1850"/>
                </a:lnTo>
                <a:lnTo>
                  <a:pt x="20348" y="1869"/>
                </a:lnTo>
                <a:lnTo>
                  <a:pt x="20450" y="1886"/>
                </a:lnTo>
              </a:path>
            </a:pathLst>
          </a:custGeom>
          <a:noFill/>
          <a:ln cap="flat" cmpd="sng" w="76200">
            <a:solidFill>
              <a:srgbClr val="CC66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94" name="Google Shape;394;p38"/>
          <p:cNvGrpSpPr/>
          <p:nvPr/>
        </p:nvGrpSpPr>
        <p:grpSpPr>
          <a:xfrm>
            <a:off x="900113" y="5859463"/>
            <a:ext cx="7056437" cy="652462"/>
            <a:chOff x="567" y="3691"/>
            <a:chExt cx="4445" cy="411"/>
          </a:xfrm>
        </p:grpSpPr>
        <p:cxnSp>
          <p:nvCxnSpPr>
            <p:cNvPr id="395" name="Google Shape;395;p38"/>
            <p:cNvCxnSpPr/>
            <p:nvPr/>
          </p:nvCxnSpPr>
          <p:spPr>
            <a:xfrm>
              <a:off x="724" y="3691"/>
              <a:ext cx="4179" cy="1"/>
            </a:xfrm>
            <a:prstGeom prst="straightConnector1">
              <a:avLst/>
            </a:prstGeom>
            <a:noFill/>
            <a:ln cap="flat" cmpd="sng" w="38100">
              <a:solidFill>
                <a:schemeClr val="lt1"/>
              </a:solidFill>
              <a:prstDash val="solid"/>
              <a:round/>
              <a:headEnd len="med" w="med" type="none"/>
              <a:tailEnd len="med" w="med" type="none"/>
            </a:ln>
          </p:spPr>
        </p:cxnSp>
        <p:cxnSp>
          <p:nvCxnSpPr>
            <p:cNvPr id="396" name="Google Shape;396;p38"/>
            <p:cNvCxnSpPr/>
            <p:nvPr/>
          </p:nvCxnSpPr>
          <p:spPr>
            <a:xfrm>
              <a:off x="721" y="3691"/>
              <a:ext cx="1" cy="20"/>
            </a:xfrm>
            <a:prstGeom prst="straightConnector1">
              <a:avLst/>
            </a:prstGeom>
            <a:noFill/>
            <a:ln cap="flat" cmpd="sng" w="38100">
              <a:solidFill>
                <a:schemeClr val="lt1"/>
              </a:solidFill>
              <a:prstDash val="solid"/>
              <a:round/>
              <a:headEnd len="med" w="med" type="none"/>
              <a:tailEnd len="med" w="med" type="none"/>
            </a:ln>
          </p:spPr>
        </p:cxnSp>
        <p:cxnSp>
          <p:nvCxnSpPr>
            <p:cNvPr id="397" name="Google Shape;397;p38"/>
            <p:cNvCxnSpPr/>
            <p:nvPr/>
          </p:nvCxnSpPr>
          <p:spPr>
            <a:xfrm>
              <a:off x="1244" y="3691"/>
              <a:ext cx="1" cy="20"/>
            </a:xfrm>
            <a:prstGeom prst="straightConnector1">
              <a:avLst/>
            </a:prstGeom>
            <a:noFill/>
            <a:ln cap="flat" cmpd="sng" w="38100">
              <a:solidFill>
                <a:schemeClr val="lt1"/>
              </a:solidFill>
              <a:prstDash val="solid"/>
              <a:round/>
              <a:headEnd len="med" w="med" type="none"/>
              <a:tailEnd len="med" w="med" type="none"/>
            </a:ln>
          </p:spPr>
        </p:cxnSp>
        <p:cxnSp>
          <p:nvCxnSpPr>
            <p:cNvPr id="398" name="Google Shape;398;p38"/>
            <p:cNvCxnSpPr/>
            <p:nvPr/>
          </p:nvCxnSpPr>
          <p:spPr>
            <a:xfrm>
              <a:off x="1768" y="3691"/>
              <a:ext cx="0" cy="20"/>
            </a:xfrm>
            <a:prstGeom prst="straightConnector1">
              <a:avLst/>
            </a:prstGeom>
            <a:noFill/>
            <a:ln cap="flat" cmpd="sng" w="38100">
              <a:solidFill>
                <a:schemeClr val="lt1"/>
              </a:solidFill>
              <a:prstDash val="solid"/>
              <a:round/>
              <a:headEnd len="med" w="med" type="none"/>
              <a:tailEnd len="med" w="med" type="none"/>
            </a:ln>
          </p:spPr>
        </p:cxnSp>
        <p:cxnSp>
          <p:nvCxnSpPr>
            <p:cNvPr id="399" name="Google Shape;399;p38"/>
            <p:cNvCxnSpPr/>
            <p:nvPr/>
          </p:nvCxnSpPr>
          <p:spPr>
            <a:xfrm>
              <a:off x="2290" y="3691"/>
              <a:ext cx="1" cy="20"/>
            </a:xfrm>
            <a:prstGeom prst="straightConnector1">
              <a:avLst/>
            </a:prstGeom>
            <a:noFill/>
            <a:ln cap="flat" cmpd="sng" w="38100">
              <a:solidFill>
                <a:schemeClr val="lt1"/>
              </a:solidFill>
              <a:prstDash val="solid"/>
              <a:round/>
              <a:headEnd len="med" w="med" type="none"/>
              <a:tailEnd len="med" w="med" type="none"/>
            </a:ln>
          </p:spPr>
        </p:cxnSp>
        <p:cxnSp>
          <p:nvCxnSpPr>
            <p:cNvPr id="400" name="Google Shape;400;p38"/>
            <p:cNvCxnSpPr/>
            <p:nvPr/>
          </p:nvCxnSpPr>
          <p:spPr>
            <a:xfrm>
              <a:off x="2814" y="3691"/>
              <a:ext cx="0" cy="20"/>
            </a:xfrm>
            <a:prstGeom prst="straightConnector1">
              <a:avLst/>
            </a:prstGeom>
            <a:noFill/>
            <a:ln cap="flat" cmpd="sng" w="38100">
              <a:solidFill>
                <a:schemeClr val="lt1"/>
              </a:solidFill>
              <a:prstDash val="solid"/>
              <a:round/>
              <a:headEnd len="med" w="med" type="none"/>
              <a:tailEnd len="med" w="med" type="none"/>
            </a:ln>
          </p:spPr>
        </p:cxnSp>
        <p:cxnSp>
          <p:nvCxnSpPr>
            <p:cNvPr id="401" name="Google Shape;401;p38"/>
            <p:cNvCxnSpPr/>
            <p:nvPr/>
          </p:nvCxnSpPr>
          <p:spPr>
            <a:xfrm>
              <a:off x="3336" y="3691"/>
              <a:ext cx="1" cy="20"/>
            </a:xfrm>
            <a:prstGeom prst="straightConnector1">
              <a:avLst/>
            </a:prstGeom>
            <a:noFill/>
            <a:ln cap="flat" cmpd="sng" w="38100">
              <a:solidFill>
                <a:schemeClr val="lt1"/>
              </a:solidFill>
              <a:prstDash val="solid"/>
              <a:round/>
              <a:headEnd len="med" w="med" type="none"/>
              <a:tailEnd len="med" w="med" type="none"/>
            </a:ln>
          </p:spPr>
        </p:cxnSp>
        <p:cxnSp>
          <p:nvCxnSpPr>
            <p:cNvPr id="402" name="Google Shape;402;p38"/>
            <p:cNvCxnSpPr/>
            <p:nvPr/>
          </p:nvCxnSpPr>
          <p:spPr>
            <a:xfrm>
              <a:off x="3859" y="3691"/>
              <a:ext cx="1" cy="20"/>
            </a:xfrm>
            <a:prstGeom prst="straightConnector1">
              <a:avLst/>
            </a:prstGeom>
            <a:noFill/>
            <a:ln cap="flat" cmpd="sng" w="38100">
              <a:solidFill>
                <a:schemeClr val="lt1"/>
              </a:solidFill>
              <a:prstDash val="solid"/>
              <a:round/>
              <a:headEnd len="med" w="med" type="none"/>
              <a:tailEnd len="med" w="med" type="none"/>
            </a:ln>
          </p:spPr>
        </p:cxnSp>
        <p:cxnSp>
          <p:nvCxnSpPr>
            <p:cNvPr id="403" name="Google Shape;403;p38"/>
            <p:cNvCxnSpPr/>
            <p:nvPr/>
          </p:nvCxnSpPr>
          <p:spPr>
            <a:xfrm>
              <a:off x="4382" y="3691"/>
              <a:ext cx="1" cy="20"/>
            </a:xfrm>
            <a:prstGeom prst="straightConnector1">
              <a:avLst/>
            </a:prstGeom>
            <a:noFill/>
            <a:ln cap="flat" cmpd="sng" w="38100">
              <a:solidFill>
                <a:schemeClr val="lt1"/>
              </a:solidFill>
              <a:prstDash val="solid"/>
              <a:round/>
              <a:headEnd len="med" w="med" type="none"/>
              <a:tailEnd len="med" w="med" type="none"/>
            </a:ln>
          </p:spPr>
        </p:cxnSp>
        <p:cxnSp>
          <p:nvCxnSpPr>
            <p:cNvPr id="404" name="Google Shape;404;p38"/>
            <p:cNvCxnSpPr/>
            <p:nvPr/>
          </p:nvCxnSpPr>
          <p:spPr>
            <a:xfrm>
              <a:off x="4905" y="3691"/>
              <a:ext cx="1" cy="20"/>
            </a:xfrm>
            <a:prstGeom prst="straightConnector1">
              <a:avLst/>
            </a:prstGeom>
            <a:noFill/>
            <a:ln cap="flat" cmpd="sng" w="38100">
              <a:solidFill>
                <a:schemeClr val="lt1"/>
              </a:solidFill>
              <a:prstDash val="solid"/>
              <a:round/>
              <a:headEnd len="med" w="med" type="none"/>
              <a:tailEnd len="med" w="med" type="none"/>
            </a:ln>
          </p:spPr>
        </p:cxnSp>
        <p:sp>
          <p:nvSpPr>
            <p:cNvPr id="405" name="Google Shape;405;p38"/>
            <p:cNvSpPr/>
            <p:nvPr/>
          </p:nvSpPr>
          <p:spPr>
            <a:xfrm>
              <a:off x="2810" y="3691"/>
              <a:ext cx="0" cy="1"/>
            </a:xfrm>
            <a:prstGeom prst="rect">
              <a:avLst/>
            </a:prstGeom>
            <a:noFill/>
            <a:ln cap="flat" cmpd="sng" w="38100">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6" name="Google Shape;406;p38"/>
            <p:cNvSpPr/>
            <p:nvPr/>
          </p:nvSpPr>
          <p:spPr>
            <a:xfrm>
              <a:off x="2810" y="3691"/>
              <a:ext cx="0" cy="1"/>
            </a:xfrm>
            <a:prstGeom prst="rect">
              <a:avLst/>
            </a:prstGeom>
            <a:noFill/>
            <a:ln cap="flat" cmpd="sng" w="38100">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7" name="Google Shape;407;p38"/>
            <p:cNvSpPr txBox="1"/>
            <p:nvPr/>
          </p:nvSpPr>
          <p:spPr>
            <a:xfrm>
              <a:off x="567" y="3836"/>
              <a:ext cx="284" cy="2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2100">
                  <a:solidFill>
                    <a:schemeClr val="accent1"/>
                  </a:solidFill>
                  <a:latin typeface="Arial"/>
                  <a:ea typeface="Arial"/>
                  <a:cs typeface="Arial"/>
                  <a:sym typeface="Arial"/>
                </a:rPr>
                <a:t>35</a:t>
              </a:r>
              <a:endParaRPr/>
            </a:p>
          </p:txBody>
        </p:sp>
        <p:sp>
          <p:nvSpPr>
            <p:cNvPr id="408" name="Google Shape;408;p38"/>
            <p:cNvSpPr txBox="1"/>
            <p:nvPr/>
          </p:nvSpPr>
          <p:spPr>
            <a:xfrm>
              <a:off x="1099" y="3836"/>
              <a:ext cx="284" cy="2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2100">
                  <a:solidFill>
                    <a:schemeClr val="accent1"/>
                  </a:solidFill>
                  <a:latin typeface="Arial"/>
                  <a:ea typeface="Arial"/>
                  <a:cs typeface="Arial"/>
                  <a:sym typeface="Arial"/>
                </a:rPr>
                <a:t>40</a:t>
              </a:r>
              <a:endParaRPr/>
            </a:p>
          </p:txBody>
        </p:sp>
        <p:sp>
          <p:nvSpPr>
            <p:cNvPr id="409" name="Google Shape;409;p38"/>
            <p:cNvSpPr txBox="1"/>
            <p:nvPr/>
          </p:nvSpPr>
          <p:spPr>
            <a:xfrm>
              <a:off x="1598" y="3836"/>
              <a:ext cx="284" cy="2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2100">
                  <a:solidFill>
                    <a:schemeClr val="accent1"/>
                  </a:solidFill>
                  <a:latin typeface="Arial"/>
                  <a:ea typeface="Arial"/>
                  <a:cs typeface="Arial"/>
                  <a:sym typeface="Arial"/>
                </a:rPr>
                <a:t>45</a:t>
              </a:r>
              <a:endParaRPr/>
            </a:p>
          </p:txBody>
        </p:sp>
        <p:sp>
          <p:nvSpPr>
            <p:cNvPr id="410" name="Google Shape;410;p38"/>
            <p:cNvSpPr txBox="1"/>
            <p:nvPr/>
          </p:nvSpPr>
          <p:spPr>
            <a:xfrm>
              <a:off x="2142" y="3836"/>
              <a:ext cx="284" cy="2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2100">
                  <a:solidFill>
                    <a:schemeClr val="accent1"/>
                  </a:solidFill>
                  <a:latin typeface="Arial"/>
                  <a:ea typeface="Arial"/>
                  <a:cs typeface="Arial"/>
                  <a:sym typeface="Arial"/>
                </a:rPr>
                <a:t>50</a:t>
              </a:r>
              <a:endParaRPr/>
            </a:p>
          </p:txBody>
        </p:sp>
        <p:sp>
          <p:nvSpPr>
            <p:cNvPr id="411" name="Google Shape;411;p38"/>
            <p:cNvSpPr txBox="1"/>
            <p:nvPr/>
          </p:nvSpPr>
          <p:spPr>
            <a:xfrm>
              <a:off x="2687" y="3836"/>
              <a:ext cx="290" cy="266"/>
            </a:xfrm>
            <a:prstGeom prst="rect">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tr-TR" sz="2100">
                  <a:solidFill>
                    <a:schemeClr val="accent1"/>
                  </a:solidFill>
                  <a:latin typeface="Arial"/>
                  <a:ea typeface="Arial"/>
                  <a:cs typeface="Arial"/>
                  <a:sym typeface="Arial"/>
                </a:rPr>
                <a:t>55</a:t>
              </a:r>
              <a:endParaRPr/>
            </a:p>
          </p:txBody>
        </p:sp>
        <p:sp>
          <p:nvSpPr>
            <p:cNvPr id="412" name="Google Shape;412;p38"/>
            <p:cNvSpPr txBox="1"/>
            <p:nvPr/>
          </p:nvSpPr>
          <p:spPr>
            <a:xfrm>
              <a:off x="3186" y="3824"/>
              <a:ext cx="284" cy="2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2100">
                  <a:solidFill>
                    <a:schemeClr val="accent1"/>
                  </a:solidFill>
                  <a:latin typeface="Arial"/>
                  <a:ea typeface="Arial"/>
                  <a:cs typeface="Arial"/>
                  <a:sym typeface="Arial"/>
                </a:rPr>
                <a:t>60</a:t>
              </a:r>
              <a:endParaRPr/>
            </a:p>
          </p:txBody>
        </p:sp>
        <p:sp>
          <p:nvSpPr>
            <p:cNvPr id="413" name="Google Shape;413;p38"/>
            <p:cNvSpPr txBox="1"/>
            <p:nvPr/>
          </p:nvSpPr>
          <p:spPr>
            <a:xfrm>
              <a:off x="3685" y="3824"/>
              <a:ext cx="284" cy="2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2100">
                  <a:solidFill>
                    <a:schemeClr val="accent1"/>
                  </a:solidFill>
                  <a:latin typeface="Arial"/>
                  <a:ea typeface="Arial"/>
                  <a:cs typeface="Arial"/>
                  <a:sym typeface="Arial"/>
                </a:rPr>
                <a:t>65</a:t>
              </a:r>
              <a:endParaRPr/>
            </a:p>
          </p:txBody>
        </p:sp>
        <p:sp>
          <p:nvSpPr>
            <p:cNvPr id="414" name="Google Shape;414;p38"/>
            <p:cNvSpPr txBox="1"/>
            <p:nvPr/>
          </p:nvSpPr>
          <p:spPr>
            <a:xfrm>
              <a:off x="4229" y="3824"/>
              <a:ext cx="284" cy="2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2100">
                  <a:solidFill>
                    <a:schemeClr val="accent1"/>
                  </a:solidFill>
                  <a:latin typeface="Arial"/>
                  <a:ea typeface="Arial"/>
                  <a:cs typeface="Arial"/>
                  <a:sym typeface="Arial"/>
                </a:rPr>
                <a:t>70</a:t>
              </a:r>
              <a:endParaRPr/>
            </a:p>
          </p:txBody>
        </p:sp>
        <p:sp>
          <p:nvSpPr>
            <p:cNvPr id="415" name="Google Shape;415;p38"/>
            <p:cNvSpPr txBox="1"/>
            <p:nvPr/>
          </p:nvSpPr>
          <p:spPr>
            <a:xfrm>
              <a:off x="4728" y="3824"/>
              <a:ext cx="284" cy="2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2100">
                  <a:solidFill>
                    <a:schemeClr val="accent1"/>
                  </a:solidFill>
                  <a:latin typeface="Arial"/>
                  <a:ea typeface="Arial"/>
                  <a:cs typeface="Arial"/>
                  <a:sym typeface="Arial"/>
                </a:rPr>
                <a:t>75</a:t>
              </a:r>
              <a:endParaRPr/>
            </a:p>
          </p:txBody>
        </p:sp>
        <p:cxnSp>
          <p:nvCxnSpPr>
            <p:cNvPr id="416" name="Google Shape;416;p38"/>
            <p:cNvCxnSpPr/>
            <p:nvPr/>
          </p:nvCxnSpPr>
          <p:spPr>
            <a:xfrm>
              <a:off x="2835" y="3702"/>
              <a:ext cx="0" cy="136"/>
            </a:xfrm>
            <a:prstGeom prst="straightConnector1">
              <a:avLst/>
            </a:prstGeom>
            <a:noFill/>
            <a:ln cap="flat" cmpd="sng" w="57150">
              <a:solidFill>
                <a:schemeClr val="lt1"/>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500"/>
                                        <p:tgtEl>
                                          <p:spTgt spid="3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500"/>
                                        <p:tgtEl>
                                          <p:spTgt spid="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500"/>
                                        <p:tgtEl>
                                          <p:spTgt spid="3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500"/>
                                        <p:tgtEl>
                                          <p:spTgt spid="3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39"/>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STANDART NORMAL DAĞILIM</a:t>
            </a:r>
            <a:endParaRPr/>
          </a:p>
        </p:txBody>
      </p:sp>
      <p:sp>
        <p:nvSpPr>
          <p:cNvPr id="422" name="Google Shape;422;p39"/>
          <p:cNvSpPr txBox="1"/>
          <p:nvPr>
            <p:ph idx="1" type="body"/>
          </p:nvPr>
        </p:nvSpPr>
        <p:spPr>
          <a:xfrm>
            <a:off x="768096" y="2286000"/>
            <a:ext cx="3566160" cy="4023360"/>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Eğer bir x değişkeninin normal dağıldığı biliniyorsa</a:t>
            </a:r>
            <a:endParaRPr/>
          </a:p>
          <a:p>
            <a:pPr indent="-127000" lvl="0" marL="91440" rtl="0" algn="l">
              <a:lnSpc>
                <a:spcPct val="90000"/>
              </a:lnSpc>
              <a:spcBef>
                <a:spcPts val="1400"/>
              </a:spcBef>
              <a:spcAft>
                <a:spcPts val="0"/>
              </a:spcAft>
              <a:buSzPts val="2000"/>
              <a:buChar char=" "/>
            </a:pPr>
            <a:r>
              <a:rPr lang="tr-TR"/>
              <a:t>Yandaki eşitlik ile elde edilen z değerleri ortalaması 0 ve varyansı 1 olan standart normal dağılıma uyar</a:t>
            </a:r>
            <a:endParaRPr/>
          </a:p>
          <a:p>
            <a:pPr indent="-127000" lvl="0" marL="91440" rtl="0" algn="l">
              <a:lnSpc>
                <a:spcPct val="90000"/>
              </a:lnSpc>
              <a:spcBef>
                <a:spcPts val="1400"/>
              </a:spcBef>
              <a:spcAft>
                <a:spcPts val="0"/>
              </a:spcAft>
              <a:buSzPts val="2000"/>
              <a:buChar char=" "/>
            </a:pPr>
            <a:r>
              <a:rPr lang="tr-TR"/>
              <a:t>Dağılımın grafiği yandaki gibidir.</a:t>
            </a:r>
            <a:endParaRPr/>
          </a:p>
          <a:p>
            <a:pPr indent="0" lvl="0" marL="91440" rtl="0" algn="l">
              <a:lnSpc>
                <a:spcPct val="90000"/>
              </a:lnSpc>
              <a:spcBef>
                <a:spcPts val="1400"/>
              </a:spcBef>
              <a:spcAft>
                <a:spcPts val="0"/>
              </a:spcAft>
              <a:buSzPts val="2000"/>
              <a:buNone/>
            </a:pPr>
            <a:r>
              <a:t/>
            </a:r>
            <a:endParaRPr/>
          </a:p>
        </p:txBody>
      </p:sp>
      <p:pic>
        <p:nvPicPr>
          <p:cNvPr id="423" name="Google Shape;423;p39"/>
          <p:cNvPicPr preferRelativeResize="0"/>
          <p:nvPr/>
        </p:nvPicPr>
        <p:blipFill rotWithShape="1">
          <a:blip r:embed="rId3">
            <a:alphaModFix/>
          </a:blip>
          <a:srcRect b="0" l="0" r="0" t="0"/>
          <a:stretch/>
        </p:blipFill>
        <p:spPr>
          <a:xfrm>
            <a:off x="5148064" y="1700808"/>
            <a:ext cx="2513012" cy="1435100"/>
          </a:xfrm>
          <a:prstGeom prst="rect">
            <a:avLst/>
          </a:prstGeom>
          <a:noFill/>
          <a:ln>
            <a:noFill/>
          </a:ln>
        </p:spPr>
      </p:pic>
      <p:sp>
        <p:nvSpPr>
          <p:cNvPr id="424" name="Google Shape;424;p39"/>
          <p:cNvSpPr txBox="1"/>
          <p:nvPr/>
        </p:nvSpPr>
        <p:spPr>
          <a:xfrm>
            <a:off x="5925140" y="5518998"/>
            <a:ext cx="1471988" cy="461665"/>
          </a:xfrm>
          <a:prstGeom prst="rect">
            <a:avLst/>
          </a:prstGeom>
          <a:blipFill rotWithShape="1">
            <a:blip r:embed="rId4">
              <a:alphaModFix/>
            </a:blip>
            <a:stretch>
              <a:fillRect b="-9211"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tr-TR" sz="1800">
                <a:latin typeface="Arial"/>
                <a:ea typeface="Arial"/>
                <a:cs typeface="Arial"/>
                <a:sym typeface="Arial"/>
              </a:rPr>
              <a:t> </a:t>
            </a:r>
            <a:endParaRPr/>
          </a:p>
        </p:txBody>
      </p:sp>
      <p:grpSp>
        <p:nvGrpSpPr>
          <p:cNvPr id="425" name="Google Shape;425;p39"/>
          <p:cNvGrpSpPr/>
          <p:nvPr/>
        </p:nvGrpSpPr>
        <p:grpSpPr>
          <a:xfrm>
            <a:off x="4731666" y="4010273"/>
            <a:ext cx="3852664" cy="1508725"/>
            <a:chOff x="1156" y="2033"/>
            <a:chExt cx="3221" cy="1760"/>
          </a:xfrm>
        </p:grpSpPr>
        <p:sp>
          <p:nvSpPr>
            <p:cNvPr id="426" name="Google Shape;426;p39"/>
            <p:cNvSpPr/>
            <p:nvPr/>
          </p:nvSpPr>
          <p:spPr>
            <a:xfrm>
              <a:off x="1157" y="2033"/>
              <a:ext cx="3212" cy="1699"/>
            </a:xfrm>
            <a:custGeom>
              <a:rect b="b" l="l" r="r" t="t"/>
              <a:pathLst>
                <a:path extrusionOk="0" h="9062" w="17885">
                  <a:moveTo>
                    <a:pt x="0" y="9062"/>
                  </a:moveTo>
                  <a:lnTo>
                    <a:pt x="89" y="9059"/>
                  </a:lnTo>
                  <a:lnTo>
                    <a:pt x="179" y="9057"/>
                  </a:lnTo>
                  <a:lnTo>
                    <a:pt x="269" y="9053"/>
                  </a:lnTo>
                  <a:lnTo>
                    <a:pt x="359" y="9050"/>
                  </a:lnTo>
                  <a:lnTo>
                    <a:pt x="448" y="9046"/>
                  </a:lnTo>
                  <a:lnTo>
                    <a:pt x="539" y="9041"/>
                  </a:lnTo>
                  <a:lnTo>
                    <a:pt x="628" y="9036"/>
                  </a:lnTo>
                  <a:lnTo>
                    <a:pt x="718" y="9031"/>
                  </a:lnTo>
                  <a:lnTo>
                    <a:pt x="809" y="9024"/>
                  </a:lnTo>
                  <a:lnTo>
                    <a:pt x="898" y="9018"/>
                  </a:lnTo>
                  <a:lnTo>
                    <a:pt x="987" y="9011"/>
                  </a:lnTo>
                  <a:lnTo>
                    <a:pt x="1078" y="9002"/>
                  </a:lnTo>
                  <a:lnTo>
                    <a:pt x="1167" y="8993"/>
                  </a:lnTo>
                  <a:lnTo>
                    <a:pt x="1257" y="8984"/>
                  </a:lnTo>
                  <a:lnTo>
                    <a:pt x="1348" y="8972"/>
                  </a:lnTo>
                  <a:lnTo>
                    <a:pt x="1437" y="8961"/>
                  </a:lnTo>
                  <a:lnTo>
                    <a:pt x="1528" y="8948"/>
                  </a:lnTo>
                  <a:lnTo>
                    <a:pt x="1617" y="8934"/>
                  </a:lnTo>
                  <a:lnTo>
                    <a:pt x="1707" y="8918"/>
                  </a:lnTo>
                  <a:lnTo>
                    <a:pt x="1797" y="8901"/>
                  </a:lnTo>
                  <a:lnTo>
                    <a:pt x="1887" y="8883"/>
                  </a:lnTo>
                  <a:lnTo>
                    <a:pt x="1976" y="8862"/>
                  </a:lnTo>
                  <a:lnTo>
                    <a:pt x="2067" y="8842"/>
                  </a:lnTo>
                  <a:lnTo>
                    <a:pt x="2156" y="8817"/>
                  </a:lnTo>
                  <a:lnTo>
                    <a:pt x="2246" y="8793"/>
                  </a:lnTo>
                  <a:lnTo>
                    <a:pt x="2336" y="8764"/>
                  </a:lnTo>
                  <a:lnTo>
                    <a:pt x="2426" y="8734"/>
                  </a:lnTo>
                  <a:lnTo>
                    <a:pt x="2515" y="8702"/>
                  </a:lnTo>
                  <a:lnTo>
                    <a:pt x="2606" y="8667"/>
                  </a:lnTo>
                  <a:lnTo>
                    <a:pt x="2695" y="8630"/>
                  </a:lnTo>
                  <a:lnTo>
                    <a:pt x="2786" y="8589"/>
                  </a:lnTo>
                  <a:lnTo>
                    <a:pt x="2875" y="8547"/>
                  </a:lnTo>
                  <a:lnTo>
                    <a:pt x="2965" y="8501"/>
                  </a:lnTo>
                  <a:lnTo>
                    <a:pt x="3056" y="8451"/>
                  </a:lnTo>
                  <a:lnTo>
                    <a:pt x="3145" y="8399"/>
                  </a:lnTo>
                  <a:lnTo>
                    <a:pt x="3234" y="8342"/>
                  </a:lnTo>
                  <a:lnTo>
                    <a:pt x="3325" y="8283"/>
                  </a:lnTo>
                  <a:lnTo>
                    <a:pt x="3415" y="8219"/>
                  </a:lnTo>
                  <a:lnTo>
                    <a:pt x="3504" y="8152"/>
                  </a:lnTo>
                  <a:lnTo>
                    <a:pt x="3595" y="8081"/>
                  </a:lnTo>
                  <a:lnTo>
                    <a:pt x="3684" y="8005"/>
                  </a:lnTo>
                  <a:lnTo>
                    <a:pt x="3774" y="7924"/>
                  </a:lnTo>
                  <a:lnTo>
                    <a:pt x="3864" y="7840"/>
                  </a:lnTo>
                  <a:lnTo>
                    <a:pt x="3954" y="7751"/>
                  </a:lnTo>
                  <a:lnTo>
                    <a:pt x="4043" y="7658"/>
                  </a:lnTo>
                  <a:lnTo>
                    <a:pt x="4134" y="7559"/>
                  </a:lnTo>
                  <a:lnTo>
                    <a:pt x="4223" y="7456"/>
                  </a:lnTo>
                  <a:lnTo>
                    <a:pt x="4314" y="7348"/>
                  </a:lnTo>
                  <a:lnTo>
                    <a:pt x="4403" y="7236"/>
                  </a:lnTo>
                  <a:lnTo>
                    <a:pt x="4493" y="7118"/>
                  </a:lnTo>
                  <a:lnTo>
                    <a:pt x="4583" y="6995"/>
                  </a:lnTo>
                  <a:lnTo>
                    <a:pt x="4673" y="6867"/>
                  </a:lnTo>
                  <a:lnTo>
                    <a:pt x="4762" y="6734"/>
                  </a:lnTo>
                  <a:lnTo>
                    <a:pt x="4853" y="6597"/>
                  </a:lnTo>
                  <a:lnTo>
                    <a:pt x="4942" y="6454"/>
                  </a:lnTo>
                  <a:lnTo>
                    <a:pt x="5032" y="6307"/>
                  </a:lnTo>
                  <a:lnTo>
                    <a:pt x="5123" y="6155"/>
                  </a:lnTo>
                  <a:lnTo>
                    <a:pt x="5212" y="5999"/>
                  </a:lnTo>
                  <a:lnTo>
                    <a:pt x="5301" y="5838"/>
                  </a:lnTo>
                  <a:lnTo>
                    <a:pt x="5392" y="5673"/>
                  </a:lnTo>
                  <a:lnTo>
                    <a:pt x="5482" y="5504"/>
                  </a:lnTo>
                  <a:lnTo>
                    <a:pt x="5572" y="5331"/>
                  </a:lnTo>
                  <a:lnTo>
                    <a:pt x="5662" y="5155"/>
                  </a:lnTo>
                  <a:lnTo>
                    <a:pt x="5751" y="4975"/>
                  </a:lnTo>
                  <a:lnTo>
                    <a:pt x="5842" y="4793"/>
                  </a:lnTo>
                  <a:lnTo>
                    <a:pt x="5931" y="4608"/>
                  </a:lnTo>
                  <a:lnTo>
                    <a:pt x="6021" y="4420"/>
                  </a:lnTo>
                  <a:lnTo>
                    <a:pt x="6111" y="4231"/>
                  </a:lnTo>
                  <a:lnTo>
                    <a:pt x="6201" y="4040"/>
                  </a:lnTo>
                  <a:lnTo>
                    <a:pt x="6290" y="3848"/>
                  </a:lnTo>
                  <a:lnTo>
                    <a:pt x="6381" y="3655"/>
                  </a:lnTo>
                  <a:lnTo>
                    <a:pt x="6470" y="3462"/>
                  </a:lnTo>
                  <a:lnTo>
                    <a:pt x="6560" y="3270"/>
                  </a:lnTo>
                  <a:lnTo>
                    <a:pt x="6650" y="3078"/>
                  </a:lnTo>
                  <a:lnTo>
                    <a:pt x="6740" y="2888"/>
                  </a:lnTo>
                  <a:lnTo>
                    <a:pt x="6829" y="2699"/>
                  </a:lnTo>
                  <a:lnTo>
                    <a:pt x="6920" y="2513"/>
                  </a:lnTo>
                  <a:lnTo>
                    <a:pt x="7009" y="2329"/>
                  </a:lnTo>
                  <a:lnTo>
                    <a:pt x="7100" y="2149"/>
                  </a:lnTo>
                  <a:lnTo>
                    <a:pt x="7190" y="1973"/>
                  </a:lnTo>
                  <a:lnTo>
                    <a:pt x="7279" y="1801"/>
                  </a:lnTo>
                  <a:lnTo>
                    <a:pt x="7370" y="1634"/>
                  </a:lnTo>
                  <a:lnTo>
                    <a:pt x="7459" y="1472"/>
                  </a:lnTo>
                  <a:lnTo>
                    <a:pt x="7548" y="1317"/>
                  </a:lnTo>
                  <a:lnTo>
                    <a:pt x="7639" y="1168"/>
                  </a:lnTo>
                  <a:lnTo>
                    <a:pt x="7729" y="1027"/>
                  </a:lnTo>
                  <a:lnTo>
                    <a:pt x="7818" y="893"/>
                  </a:lnTo>
                  <a:lnTo>
                    <a:pt x="7909" y="766"/>
                  </a:lnTo>
                  <a:lnTo>
                    <a:pt x="7998" y="648"/>
                  </a:lnTo>
                  <a:lnTo>
                    <a:pt x="8088" y="539"/>
                  </a:lnTo>
                  <a:lnTo>
                    <a:pt x="8178" y="438"/>
                  </a:lnTo>
                  <a:lnTo>
                    <a:pt x="8268" y="348"/>
                  </a:lnTo>
                  <a:lnTo>
                    <a:pt x="8358" y="268"/>
                  </a:lnTo>
                  <a:lnTo>
                    <a:pt x="8448" y="198"/>
                  </a:lnTo>
                  <a:lnTo>
                    <a:pt x="8537" y="137"/>
                  </a:lnTo>
                  <a:lnTo>
                    <a:pt x="8628" y="88"/>
                  </a:lnTo>
                  <a:lnTo>
                    <a:pt x="8717" y="49"/>
                  </a:lnTo>
                  <a:lnTo>
                    <a:pt x="8807" y="22"/>
                  </a:lnTo>
                  <a:lnTo>
                    <a:pt x="8898" y="5"/>
                  </a:lnTo>
                  <a:lnTo>
                    <a:pt x="8987" y="0"/>
                  </a:lnTo>
                  <a:lnTo>
                    <a:pt x="9076" y="5"/>
                  </a:lnTo>
                  <a:lnTo>
                    <a:pt x="9167" y="22"/>
                  </a:lnTo>
                  <a:lnTo>
                    <a:pt x="9256" y="49"/>
                  </a:lnTo>
                  <a:lnTo>
                    <a:pt x="9346" y="88"/>
                  </a:lnTo>
                  <a:lnTo>
                    <a:pt x="9437" y="137"/>
                  </a:lnTo>
                  <a:lnTo>
                    <a:pt x="9526" y="198"/>
                  </a:lnTo>
                  <a:lnTo>
                    <a:pt x="9615" y="268"/>
                  </a:lnTo>
                  <a:lnTo>
                    <a:pt x="9706" y="348"/>
                  </a:lnTo>
                  <a:lnTo>
                    <a:pt x="9796" y="438"/>
                  </a:lnTo>
                  <a:lnTo>
                    <a:pt x="9886" y="539"/>
                  </a:lnTo>
                  <a:lnTo>
                    <a:pt x="9976" y="648"/>
                  </a:lnTo>
                  <a:lnTo>
                    <a:pt x="10065" y="766"/>
                  </a:lnTo>
                  <a:lnTo>
                    <a:pt x="10156" y="893"/>
                  </a:lnTo>
                  <a:lnTo>
                    <a:pt x="10245" y="1027"/>
                  </a:lnTo>
                  <a:lnTo>
                    <a:pt x="10335" y="1168"/>
                  </a:lnTo>
                  <a:lnTo>
                    <a:pt x="10425" y="1317"/>
                  </a:lnTo>
                  <a:lnTo>
                    <a:pt x="10515" y="1472"/>
                  </a:lnTo>
                  <a:lnTo>
                    <a:pt x="10604" y="1634"/>
                  </a:lnTo>
                  <a:lnTo>
                    <a:pt x="10695" y="1801"/>
                  </a:lnTo>
                  <a:lnTo>
                    <a:pt x="10784" y="1973"/>
                  </a:lnTo>
                  <a:lnTo>
                    <a:pt x="10874" y="2149"/>
                  </a:lnTo>
                  <a:lnTo>
                    <a:pt x="10964" y="2329"/>
                  </a:lnTo>
                  <a:lnTo>
                    <a:pt x="11054" y="2513"/>
                  </a:lnTo>
                  <a:lnTo>
                    <a:pt x="11145" y="2699"/>
                  </a:lnTo>
                  <a:lnTo>
                    <a:pt x="11234" y="2888"/>
                  </a:lnTo>
                  <a:lnTo>
                    <a:pt x="11323" y="3078"/>
                  </a:lnTo>
                  <a:lnTo>
                    <a:pt x="11414" y="3270"/>
                  </a:lnTo>
                  <a:lnTo>
                    <a:pt x="11504" y="3462"/>
                  </a:lnTo>
                  <a:lnTo>
                    <a:pt x="11593" y="3655"/>
                  </a:lnTo>
                  <a:lnTo>
                    <a:pt x="11684" y="3848"/>
                  </a:lnTo>
                  <a:lnTo>
                    <a:pt x="11773" y="4040"/>
                  </a:lnTo>
                  <a:lnTo>
                    <a:pt x="11863" y="4231"/>
                  </a:lnTo>
                  <a:lnTo>
                    <a:pt x="11953" y="4420"/>
                  </a:lnTo>
                  <a:lnTo>
                    <a:pt x="12043" y="4608"/>
                  </a:lnTo>
                  <a:lnTo>
                    <a:pt x="12132" y="4793"/>
                  </a:lnTo>
                  <a:lnTo>
                    <a:pt x="12223" y="4975"/>
                  </a:lnTo>
                  <a:lnTo>
                    <a:pt x="12312" y="5155"/>
                  </a:lnTo>
                  <a:lnTo>
                    <a:pt x="12402" y="5331"/>
                  </a:lnTo>
                  <a:lnTo>
                    <a:pt x="12492" y="5504"/>
                  </a:lnTo>
                  <a:lnTo>
                    <a:pt x="12582" y="5673"/>
                  </a:lnTo>
                  <a:lnTo>
                    <a:pt x="12672" y="5838"/>
                  </a:lnTo>
                  <a:lnTo>
                    <a:pt x="12762" y="5999"/>
                  </a:lnTo>
                  <a:lnTo>
                    <a:pt x="12851" y="6155"/>
                  </a:lnTo>
                  <a:lnTo>
                    <a:pt x="12942" y="6307"/>
                  </a:lnTo>
                  <a:lnTo>
                    <a:pt x="13031" y="6454"/>
                  </a:lnTo>
                  <a:lnTo>
                    <a:pt x="13121" y="6597"/>
                  </a:lnTo>
                  <a:lnTo>
                    <a:pt x="13212" y="6734"/>
                  </a:lnTo>
                  <a:lnTo>
                    <a:pt x="13301" y="6867"/>
                  </a:lnTo>
                  <a:lnTo>
                    <a:pt x="13390" y="6995"/>
                  </a:lnTo>
                  <a:lnTo>
                    <a:pt x="13481" y="7118"/>
                  </a:lnTo>
                  <a:lnTo>
                    <a:pt x="13571" y="7236"/>
                  </a:lnTo>
                  <a:lnTo>
                    <a:pt x="13660" y="7348"/>
                  </a:lnTo>
                  <a:lnTo>
                    <a:pt x="13751" y="7456"/>
                  </a:lnTo>
                  <a:lnTo>
                    <a:pt x="13840" y="7559"/>
                  </a:lnTo>
                  <a:lnTo>
                    <a:pt x="13931" y="7658"/>
                  </a:lnTo>
                  <a:lnTo>
                    <a:pt x="14020" y="7751"/>
                  </a:lnTo>
                  <a:lnTo>
                    <a:pt x="14110" y="7840"/>
                  </a:lnTo>
                  <a:lnTo>
                    <a:pt x="14200" y="7924"/>
                  </a:lnTo>
                  <a:lnTo>
                    <a:pt x="14290" y="8005"/>
                  </a:lnTo>
                  <a:lnTo>
                    <a:pt x="14379" y="8081"/>
                  </a:lnTo>
                  <a:lnTo>
                    <a:pt x="14470" y="8152"/>
                  </a:lnTo>
                  <a:lnTo>
                    <a:pt x="14559" y="8219"/>
                  </a:lnTo>
                  <a:lnTo>
                    <a:pt x="14649" y="8283"/>
                  </a:lnTo>
                  <a:lnTo>
                    <a:pt x="14739" y="8342"/>
                  </a:lnTo>
                  <a:lnTo>
                    <a:pt x="14829" y="8399"/>
                  </a:lnTo>
                  <a:lnTo>
                    <a:pt x="14918" y="8451"/>
                  </a:lnTo>
                  <a:lnTo>
                    <a:pt x="15009" y="8501"/>
                  </a:lnTo>
                  <a:lnTo>
                    <a:pt x="15098" y="8547"/>
                  </a:lnTo>
                  <a:lnTo>
                    <a:pt x="15188" y="8589"/>
                  </a:lnTo>
                  <a:lnTo>
                    <a:pt x="15279" y="8630"/>
                  </a:lnTo>
                  <a:lnTo>
                    <a:pt x="15368" y="8667"/>
                  </a:lnTo>
                  <a:lnTo>
                    <a:pt x="15459" y="8702"/>
                  </a:lnTo>
                  <a:lnTo>
                    <a:pt x="15548" y="8734"/>
                  </a:lnTo>
                  <a:lnTo>
                    <a:pt x="15637" y="8764"/>
                  </a:lnTo>
                  <a:lnTo>
                    <a:pt x="15728" y="8793"/>
                  </a:lnTo>
                  <a:lnTo>
                    <a:pt x="15818" y="8817"/>
                  </a:lnTo>
                  <a:lnTo>
                    <a:pt x="15907" y="8842"/>
                  </a:lnTo>
                  <a:lnTo>
                    <a:pt x="15998" y="8862"/>
                  </a:lnTo>
                  <a:lnTo>
                    <a:pt x="16087" y="8883"/>
                  </a:lnTo>
                  <a:lnTo>
                    <a:pt x="16177" y="8901"/>
                  </a:lnTo>
                  <a:lnTo>
                    <a:pt x="16267" y="8918"/>
                  </a:lnTo>
                  <a:lnTo>
                    <a:pt x="16357" y="8934"/>
                  </a:lnTo>
                  <a:lnTo>
                    <a:pt x="16446" y="8948"/>
                  </a:lnTo>
                  <a:lnTo>
                    <a:pt x="16537" y="8961"/>
                  </a:lnTo>
                  <a:lnTo>
                    <a:pt x="16626" y="8972"/>
                  </a:lnTo>
                  <a:lnTo>
                    <a:pt x="16717" y="8984"/>
                  </a:lnTo>
                  <a:lnTo>
                    <a:pt x="16806" y="8993"/>
                  </a:lnTo>
                  <a:lnTo>
                    <a:pt x="16896" y="9002"/>
                  </a:lnTo>
                  <a:lnTo>
                    <a:pt x="16986" y="9011"/>
                  </a:lnTo>
                  <a:lnTo>
                    <a:pt x="17076" y="9018"/>
                  </a:lnTo>
                  <a:lnTo>
                    <a:pt x="17165" y="9024"/>
                  </a:lnTo>
                  <a:lnTo>
                    <a:pt x="17256" y="9031"/>
                  </a:lnTo>
                  <a:lnTo>
                    <a:pt x="17345" y="9036"/>
                  </a:lnTo>
                  <a:lnTo>
                    <a:pt x="17435" y="9041"/>
                  </a:lnTo>
                  <a:lnTo>
                    <a:pt x="17526" y="9046"/>
                  </a:lnTo>
                  <a:lnTo>
                    <a:pt x="17615" y="9050"/>
                  </a:lnTo>
                  <a:lnTo>
                    <a:pt x="17704" y="9053"/>
                  </a:lnTo>
                  <a:lnTo>
                    <a:pt x="17795" y="9057"/>
                  </a:lnTo>
                  <a:lnTo>
                    <a:pt x="17885" y="9059"/>
                  </a:lnTo>
                </a:path>
              </a:pathLst>
            </a:custGeom>
            <a:solidFill>
              <a:srgbClr val="1482AB"/>
            </a:solidFill>
            <a:ln cap="flat" cmpd="sng" w="38100">
              <a:solidFill>
                <a:schemeClr val="lt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27" name="Google Shape;427;p39"/>
            <p:cNvCxnSpPr/>
            <p:nvPr/>
          </p:nvCxnSpPr>
          <p:spPr>
            <a:xfrm>
              <a:off x="1156" y="3793"/>
              <a:ext cx="3221" cy="0"/>
            </a:xfrm>
            <a:prstGeom prst="straightConnector1">
              <a:avLst/>
            </a:prstGeom>
            <a:solidFill>
              <a:srgbClr val="1482AB"/>
            </a:solidFill>
            <a:ln cap="flat" cmpd="sng" w="38100">
              <a:solidFill>
                <a:srgbClr val="FFE9FF"/>
              </a:solidFill>
              <a:prstDash val="solid"/>
              <a:round/>
              <a:headEnd len="med" w="med" type="none"/>
              <a:tailEnd len="med" w="med" type="none"/>
            </a:ln>
          </p:spPr>
        </p:cxnSp>
      </p:grpSp>
      <p:cxnSp>
        <p:nvCxnSpPr>
          <p:cNvPr id="428" name="Google Shape;428;p39"/>
          <p:cNvCxnSpPr/>
          <p:nvPr/>
        </p:nvCxnSpPr>
        <p:spPr>
          <a:xfrm>
            <a:off x="6661134" y="4010273"/>
            <a:ext cx="0" cy="1494933"/>
          </a:xfrm>
          <a:prstGeom prst="straightConnector1">
            <a:avLst/>
          </a:prstGeom>
          <a:noFill/>
          <a:ln cap="rnd" cmpd="sng" w="38100">
            <a:solidFill>
              <a:schemeClr val="lt1"/>
            </a:solidFill>
            <a:prstDash val="dot"/>
            <a:round/>
            <a:headEnd len="med" w="med" type="none"/>
            <a:tailEnd len="med" w="med" type="non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0"/>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STANDART NORMAL DAĞILIM</a:t>
            </a:r>
            <a:endParaRPr/>
          </a:p>
        </p:txBody>
      </p:sp>
      <p:sp>
        <p:nvSpPr>
          <p:cNvPr id="434" name="Google Shape;434;p40"/>
          <p:cNvSpPr txBox="1"/>
          <p:nvPr>
            <p:ph idx="1" type="body"/>
          </p:nvPr>
        </p:nvSpPr>
        <p:spPr>
          <a:xfrm>
            <a:off x="768096" y="2132856"/>
            <a:ext cx="8196392" cy="4176504"/>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Bu özellik, ortalama ve standart sapmanın değerine bağlı değildir.</a:t>
            </a:r>
            <a:endParaRPr/>
          </a:p>
          <a:p>
            <a:pPr indent="-127000" lvl="0" marL="91440" rtl="0" algn="l">
              <a:lnSpc>
                <a:spcPct val="90000"/>
              </a:lnSpc>
              <a:spcBef>
                <a:spcPts val="1400"/>
              </a:spcBef>
              <a:spcAft>
                <a:spcPts val="0"/>
              </a:spcAft>
              <a:buSzPts val="2000"/>
              <a:buChar char=" "/>
            </a:pPr>
            <a:r>
              <a:rPr lang="tr-TR"/>
              <a:t>Ortalama ve standart sapma ne olursa olsun x değişkeninin normal dağılması bu özelliğin geçerliği için yeterlidir.</a:t>
            </a:r>
            <a:endParaRPr/>
          </a:p>
          <a:p>
            <a:pPr indent="-127000" lvl="0" marL="91440" rtl="0" algn="l">
              <a:lnSpc>
                <a:spcPct val="90000"/>
              </a:lnSpc>
              <a:spcBef>
                <a:spcPts val="1400"/>
              </a:spcBef>
              <a:spcAft>
                <a:spcPts val="0"/>
              </a:spcAft>
              <a:buSzPts val="2000"/>
              <a:buChar char=" "/>
            </a:pPr>
            <a:r>
              <a:rPr lang="tr-TR"/>
              <a:t>Çeşitli z değerleri için  0 ile z arasında kalan alanı gösteren</a:t>
            </a:r>
            <a:r>
              <a:rPr lang="tr-TR" sz="1200"/>
              <a:t> </a:t>
            </a:r>
            <a:r>
              <a:rPr b="1" lang="tr-TR" sz="2800">
                <a:solidFill>
                  <a:schemeClr val="accent1"/>
                </a:solidFill>
              </a:rPr>
              <a:t>z</a:t>
            </a:r>
            <a:r>
              <a:rPr lang="tr-TR" sz="1200"/>
              <a:t> </a:t>
            </a:r>
            <a:r>
              <a:rPr b="1" lang="tr-TR" sz="2800">
                <a:solidFill>
                  <a:schemeClr val="accent1"/>
                </a:solidFill>
              </a:rPr>
              <a:t>tablosu</a:t>
            </a:r>
            <a:r>
              <a:rPr lang="tr-TR"/>
              <a:t> geliştirilmiştir. </a:t>
            </a:r>
            <a:endParaRPr/>
          </a:p>
          <a:p>
            <a:pPr indent="-127000" lvl="0" marL="91440" rtl="0" algn="l">
              <a:lnSpc>
                <a:spcPct val="90000"/>
              </a:lnSpc>
              <a:spcBef>
                <a:spcPts val="1400"/>
              </a:spcBef>
              <a:spcAft>
                <a:spcPts val="0"/>
              </a:spcAft>
              <a:buSzPts val="2000"/>
              <a:buChar char=" "/>
            </a:pPr>
            <a:r>
              <a:rPr lang="tr-TR"/>
              <a:t>Bu tablodan yararlanarak normal dağılıma dayalı hesaplamalar yapılabilir.</a:t>
            </a:r>
            <a:endParaRPr/>
          </a:p>
          <a:p>
            <a:pPr indent="-127000" lvl="0" marL="91440" rtl="0" algn="l">
              <a:lnSpc>
                <a:spcPct val="90000"/>
              </a:lnSpc>
              <a:spcBef>
                <a:spcPts val="1400"/>
              </a:spcBef>
              <a:spcAft>
                <a:spcPts val="0"/>
              </a:spcAft>
              <a:buSzPts val="2000"/>
              <a:buChar char=" "/>
            </a:pPr>
            <a:r>
              <a:rPr lang="tr-TR"/>
              <a:t>Z değeri ile merkez (ortalama) arasında kalan alanı tablo bize verir.</a:t>
            </a:r>
            <a:endParaRPr/>
          </a:p>
          <a:p>
            <a:pPr indent="-127000" lvl="0" marL="91440" rtl="0" algn="l">
              <a:lnSpc>
                <a:spcPct val="90000"/>
              </a:lnSpc>
              <a:spcBef>
                <a:spcPts val="1400"/>
              </a:spcBef>
              <a:spcAft>
                <a:spcPts val="0"/>
              </a:spcAft>
              <a:buSzPts val="2000"/>
              <a:buChar char=" "/>
            </a:pPr>
            <a:r>
              <a:rPr lang="tr-TR"/>
              <a:t>Z değerlerinin her birine </a:t>
            </a:r>
            <a:r>
              <a:rPr b="1" lang="tr-TR"/>
              <a:t>standart skorlar </a:t>
            </a:r>
            <a:r>
              <a:rPr lang="tr-TR"/>
              <a:t>da denir.</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1"/>
          <p:cNvSpPr txBox="1"/>
          <p:nvPr>
            <p:ph type="title"/>
          </p:nvPr>
        </p:nvSpPr>
        <p:spPr>
          <a:xfrm>
            <a:off x="457200" y="116632"/>
            <a:ext cx="7467600" cy="634082"/>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Z TABLOSU</a:t>
            </a:r>
            <a:endParaRPr/>
          </a:p>
        </p:txBody>
      </p:sp>
      <p:graphicFrame>
        <p:nvGraphicFramePr>
          <p:cNvPr id="440" name="Google Shape;440;p41"/>
          <p:cNvGraphicFramePr/>
          <p:nvPr/>
        </p:nvGraphicFramePr>
        <p:xfrm>
          <a:off x="395536" y="1027455"/>
          <a:ext cx="3000000" cy="3000000"/>
        </p:xfrm>
        <a:graphic>
          <a:graphicData uri="http://schemas.openxmlformats.org/drawingml/2006/table">
            <a:tbl>
              <a:tblPr firstCol="1" firstRow="1">
                <a:noFill/>
                <a:tableStyleId>{9FF227F4-5CAF-4CBE-B359-CBECAED00A1A}</a:tableStyleId>
              </a:tblPr>
              <a:tblGrid>
                <a:gridCol w="456275"/>
                <a:gridCol w="775850"/>
                <a:gridCol w="775850"/>
                <a:gridCol w="773925"/>
                <a:gridCol w="775850"/>
                <a:gridCol w="775850"/>
                <a:gridCol w="773925"/>
                <a:gridCol w="775850"/>
                <a:gridCol w="775850"/>
                <a:gridCol w="773925"/>
                <a:gridCol w="775850"/>
              </a:tblGrid>
              <a:tr h="270925">
                <a:tc>
                  <a:txBody>
                    <a:bodyPr/>
                    <a:lstStyle/>
                    <a:p>
                      <a:pPr indent="0" lvl="0" marL="0" marR="0" rtl="0" algn="r">
                        <a:lnSpc>
                          <a:spcPct val="100000"/>
                        </a:lnSpc>
                        <a:spcBef>
                          <a:spcPts val="0"/>
                        </a:spcBef>
                        <a:spcAft>
                          <a:spcPts val="0"/>
                        </a:spcAft>
                        <a:buClr>
                          <a:schemeClr val="dk1"/>
                        </a:buClr>
                        <a:buSzPts val="1600"/>
                        <a:buFont typeface="Twentieth Century"/>
                        <a:buNone/>
                      </a:pPr>
                      <a:r>
                        <a:rPr lang="tr-TR" sz="1600" u="none" cap="none" strike="noStrike"/>
                        <a:t>z</a:t>
                      </a:r>
                      <a:endParaRPr b="0" i="0" sz="16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ctr">
                        <a:lnSpc>
                          <a:spcPct val="100000"/>
                        </a:lnSpc>
                        <a:spcBef>
                          <a:spcPts val="0"/>
                        </a:spcBef>
                        <a:spcAft>
                          <a:spcPts val="0"/>
                        </a:spcAft>
                        <a:buClr>
                          <a:schemeClr val="dk1"/>
                        </a:buClr>
                        <a:buSzPts val="900"/>
                        <a:buFont typeface="Twentieth Century"/>
                        <a:buNone/>
                      </a:pPr>
                      <a:r>
                        <a:rPr lang="tr-TR" sz="900" u="none" cap="none" strike="noStrike"/>
                        <a:t>0.00</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ctr">
                        <a:lnSpc>
                          <a:spcPct val="100000"/>
                        </a:lnSpc>
                        <a:spcBef>
                          <a:spcPts val="0"/>
                        </a:spcBef>
                        <a:spcAft>
                          <a:spcPts val="0"/>
                        </a:spcAft>
                        <a:buClr>
                          <a:schemeClr val="dk1"/>
                        </a:buClr>
                        <a:buSzPts val="900"/>
                        <a:buFont typeface="Twentieth Century"/>
                        <a:buNone/>
                      </a:pPr>
                      <a:r>
                        <a:rPr lang="tr-TR" sz="900" u="none" cap="none" strike="noStrike"/>
                        <a:t>0.01</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ctr">
                        <a:lnSpc>
                          <a:spcPct val="100000"/>
                        </a:lnSpc>
                        <a:spcBef>
                          <a:spcPts val="0"/>
                        </a:spcBef>
                        <a:spcAft>
                          <a:spcPts val="0"/>
                        </a:spcAft>
                        <a:buClr>
                          <a:schemeClr val="dk1"/>
                        </a:buClr>
                        <a:buSzPts val="900"/>
                        <a:buFont typeface="Twentieth Century"/>
                        <a:buNone/>
                      </a:pPr>
                      <a:r>
                        <a:rPr lang="tr-TR" sz="900" u="none" cap="none" strike="noStrike"/>
                        <a:t>0.02</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ctr">
                        <a:lnSpc>
                          <a:spcPct val="100000"/>
                        </a:lnSpc>
                        <a:spcBef>
                          <a:spcPts val="0"/>
                        </a:spcBef>
                        <a:spcAft>
                          <a:spcPts val="0"/>
                        </a:spcAft>
                        <a:buClr>
                          <a:schemeClr val="dk1"/>
                        </a:buClr>
                        <a:buSzPts val="900"/>
                        <a:buFont typeface="Twentieth Century"/>
                        <a:buNone/>
                      </a:pPr>
                      <a:r>
                        <a:rPr lang="tr-TR" sz="900" u="none" cap="none" strike="noStrike"/>
                        <a:t>0.03</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ctr">
                        <a:lnSpc>
                          <a:spcPct val="100000"/>
                        </a:lnSpc>
                        <a:spcBef>
                          <a:spcPts val="0"/>
                        </a:spcBef>
                        <a:spcAft>
                          <a:spcPts val="0"/>
                        </a:spcAft>
                        <a:buClr>
                          <a:schemeClr val="dk1"/>
                        </a:buClr>
                        <a:buSzPts val="900"/>
                        <a:buFont typeface="Twentieth Century"/>
                        <a:buNone/>
                      </a:pPr>
                      <a:r>
                        <a:rPr lang="tr-TR" sz="900" u="none" cap="none" strike="noStrike"/>
                        <a:t>0.04</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ctr">
                        <a:lnSpc>
                          <a:spcPct val="100000"/>
                        </a:lnSpc>
                        <a:spcBef>
                          <a:spcPts val="0"/>
                        </a:spcBef>
                        <a:spcAft>
                          <a:spcPts val="0"/>
                        </a:spcAft>
                        <a:buClr>
                          <a:schemeClr val="dk1"/>
                        </a:buClr>
                        <a:buSzPts val="900"/>
                        <a:buFont typeface="Twentieth Century"/>
                        <a:buNone/>
                      </a:pPr>
                      <a:r>
                        <a:rPr lang="tr-TR" sz="900" u="none" cap="none" strike="noStrike"/>
                        <a:t>0.05</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ctr">
                        <a:lnSpc>
                          <a:spcPct val="100000"/>
                        </a:lnSpc>
                        <a:spcBef>
                          <a:spcPts val="0"/>
                        </a:spcBef>
                        <a:spcAft>
                          <a:spcPts val="0"/>
                        </a:spcAft>
                        <a:buClr>
                          <a:schemeClr val="dk1"/>
                        </a:buClr>
                        <a:buSzPts val="900"/>
                        <a:buFont typeface="Twentieth Century"/>
                        <a:buNone/>
                      </a:pPr>
                      <a:r>
                        <a:rPr lang="tr-TR" sz="900" u="none" cap="none" strike="noStrike"/>
                        <a:t>0.06</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ctr">
                        <a:lnSpc>
                          <a:spcPct val="100000"/>
                        </a:lnSpc>
                        <a:spcBef>
                          <a:spcPts val="0"/>
                        </a:spcBef>
                        <a:spcAft>
                          <a:spcPts val="0"/>
                        </a:spcAft>
                        <a:buClr>
                          <a:schemeClr val="dk1"/>
                        </a:buClr>
                        <a:buSzPts val="900"/>
                        <a:buFont typeface="Twentieth Century"/>
                        <a:buNone/>
                      </a:pPr>
                      <a:r>
                        <a:rPr lang="tr-TR" sz="900" u="none" cap="none" strike="noStrike"/>
                        <a:t>0.07</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ctr">
                        <a:lnSpc>
                          <a:spcPct val="100000"/>
                        </a:lnSpc>
                        <a:spcBef>
                          <a:spcPts val="0"/>
                        </a:spcBef>
                        <a:spcAft>
                          <a:spcPts val="0"/>
                        </a:spcAft>
                        <a:buClr>
                          <a:schemeClr val="dk1"/>
                        </a:buClr>
                        <a:buSzPts val="900"/>
                        <a:buFont typeface="Twentieth Century"/>
                        <a:buNone/>
                      </a:pPr>
                      <a:r>
                        <a:rPr lang="tr-TR" sz="900" u="none" cap="none" strike="noStrike"/>
                        <a:t>0.08</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ctr">
                        <a:lnSpc>
                          <a:spcPct val="100000"/>
                        </a:lnSpc>
                        <a:spcBef>
                          <a:spcPts val="0"/>
                        </a:spcBef>
                        <a:spcAft>
                          <a:spcPts val="0"/>
                        </a:spcAft>
                        <a:buClr>
                          <a:schemeClr val="dk1"/>
                        </a:buClr>
                        <a:buSzPts val="900"/>
                        <a:buFont typeface="Twentieth Century"/>
                        <a:buNone/>
                      </a:pPr>
                      <a:r>
                        <a:rPr lang="tr-TR" sz="900" u="none" cap="none" strike="noStrike"/>
                        <a:t>0.09</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0</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0.000</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0.004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0.008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0.012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0.016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0.020</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0.024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0.028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0.032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0.036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0.1</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0.040</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0.044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0.048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0.052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0.056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0.060</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0.064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0.067</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0.071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0.075</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0.2</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0.079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0.083</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0.087</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0.091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0.095</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0.099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0.103</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0.106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0.110</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0.114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0.3</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0.118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0.122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0.126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0.129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0.133</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0.137</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0.141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0.144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0.148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0.152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0.4</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0.155</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0.159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0.163</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0.166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0.170</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0.174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0.177</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0.181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0.184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0.188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0.5</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0.191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0.195</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0.198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0.202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0.205</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0.209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0.212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0.216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0.219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0.222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0.6</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0.226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0.229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0.232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0.236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0.239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0.242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0.245</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0.249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0.252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0.255</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0.7</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0.258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0.261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0.264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0.267</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0.270</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0.273</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0.276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0.279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0.282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0.285</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0.8</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0.288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0.291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0.294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0.297</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0.300</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0.302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0.305</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0.308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0.311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0.313</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0.9</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0.316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0.319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0.321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0.324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0.326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0.329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0.331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0.334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0.336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0.339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1</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accent1"/>
                        </a:buClr>
                        <a:buSzPts val="1600"/>
                        <a:buFont typeface="Twentieth Century"/>
                        <a:buNone/>
                      </a:pPr>
                      <a:r>
                        <a:rPr b="1" lang="tr-TR" sz="1600" u="none" cap="none" strike="noStrike">
                          <a:solidFill>
                            <a:schemeClr val="accent1"/>
                          </a:solidFill>
                        </a:rPr>
                        <a:t>0.341</a:t>
                      </a:r>
                      <a:endParaRPr b="1" i="0" sz="1600" u="none" cap="none" strike="noStrike">
                        <a:solidFill>
                          <a:schemeClr val="accent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0.344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0.346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0.348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0.351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0.353</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0.355</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0.358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0.360</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0.362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1.1</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0.364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0.367</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0.369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0.371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0.373</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0.375</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0.377</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0.379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0.381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0.383</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1.2</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0.385</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0.387</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0.389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0.391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0.393</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0.394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0.396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0.398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0.400</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0.401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1.3</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0.403</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0.405</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0.407</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0.408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0.410</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0.411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0.413</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0.415</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0.416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0.418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1.4</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0.419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0.421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0.422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0.424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0.425</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0.426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0.428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0.429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0.431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0.432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1.5</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0.433</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0.434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0.436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0.437</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0.438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0.439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0.441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0.442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0.443</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0.444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1.6</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0.445</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0.446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0.447</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0.448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0.449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0.451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0.452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0.453</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0.454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0.454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1.7</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0.455</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0.456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0.457</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0.458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0.459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0.460</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0.461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0.462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0.462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0.463</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1.8</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0.464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0.465</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0.466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0.466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0.467</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0.468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0.469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0.469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0.470</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0.471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1.9</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0.471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0.472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0.473</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0.473</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0.474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0.474</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0.475</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0.476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0.476</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0.477</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r h="254550">
                <a:tc>
                  <a:txBody>
                    <a:bodyPr/>
                    <a:lstStyle/>
                    <a:p>
                      <a:pPr indent="0" lvl="0" marL="0" marR="0" rtl="0" algn="r">
                        <a:lnSpc>
                          <a:spcPct val="100000"/>
                        </a:lnSpc>
                        <a:spcBef>
                          <a:spcPts val="0"/>
                        </a:spcBef>
                        <a:spcAft>
                          <a:spcPts val="0"/>
                        </a:spcAft>
                        <a:buClr>
                          <a:schemeClr val="dk1"/>
                        </a:buClr>
                        <a:buSzPts val="900"/>
                        <a:buFont typeface="Twentieth Century"/>
                        <a:buNone/>
                      </a:pPr>
                      <a:r>
                        <a:rPr lang="tr-TR" sz="900" u="none" cap="none" strike="noStrike"/>
                        <a:t>2</a:t>
                      </a:r>
                      <a:endParaRPr b="0" i="0" sz="900" u="none" cap="none" strike="noStrike">
                        <a:solidFill>
                          <a:schemeClr val="dk2"/>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0.477</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0.478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0.478</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0.479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0.479</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0.480</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0.480</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0.481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0.481</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c>
                  <a:txBody>
                    <a:bodyPr/>
                    <a:lstStyle/>
                    <a:p>
                      <a:pPr indent="0" lvl="0" marL="0" marR="0" rtl="0" algn="l">
                        <a:lnSpc>
                          <a:spcPct val="100000"/>
                        </a:lnSpc>
                        <a:spcBef>
                          <a:spcPts val="0"/>
                        </a:spcBef>
                        <a:spcAft>
                          <a:spcPts val="0"/>
                        </a:spcAft>
                        <a:buClr>
                          <a:schemeClr val="dk1"/>
                        </a:buClr>
                        <a:buSzPts val="900"/>
                        <a:buFont typeface="Twentieth Century"/>
                        <a:buNone/>
                      </a:pPr>
                      <a:r>
                        <a:rPr lang="tr-TR" sz="900" u="none" cap="none" strike="noStrike"/>
                        <a:t>0.482</a:t>
                      </a:r>
                      <a:endParaRPr b="0" i="0" sz="900" u="none" cap="none" strike="noStrike">
                        <a:solidFill>
                          <a:schemeClr val="dk1"/>
                        </a:solidFill>
                        <a:latin typeface="Times New Roman"/>
                        <a:ea typeface="Times New Roman"/>
                        <a:cs typeface="Times New Roman"/>
                        <a:sym typeface="Times New Roman"/>
                      </a:endParaRPr>
                    </a:p>
                  </a:txBody>
                  <a:tcPr marT="0" marB="0" marR="43200" marL="43200" anchor="ctr" anchorCtr="1"/>
                </a:tc>
              </a:tr>
            </a:tbl>
          </a:graphicData>
        </a:graphic>
      </p:graphicFrame>
      <p:pic>
        <p:nvPicPr>
          <p:cNvPr id="441" name="Google Shape;441;p41"/>
          <p:cNvPicPr preferRelativeResize="0"/>
          <p:nvPr/>
        </p:nvPicPr>
        <p:blipFill rotWithShape="1">
          <a:blip r:embed="rId3">
            <a:alphaModFix/>
          </a:blip>
          <a:srcRect b="0" l="0" r="0" t="0"/>
          <a:stretch/>
        </p:blipFill>
        <p:spPr>
          <a:xfrm>
            <a:off x="6083965" y="851376"/>
            <a:ext cx="4845714" cy="1872208"/>
          </a:xfrm>
          <a:prstGeom prst="rect">
            <a:avLst/>
          </a:prstGeom>
          <a:noFill/>
          <a:ln>
            <a:noFill/>
          </a:ln>
        </p:spPr>
      </p:pic>
      <p:sp>
        <p:nvSpPr>
          <p:cNvPr id="442" name="Google Shape;442;p41"/>
          <p:cNvSpPr/>
          <p:nvPr/>
        </p:nvSpPr>
        <p:spPr>
          <a:xfrm>
            <a:off x="899592" y="3703042"/>
            <a:ext cx="720080" cy="432048"/>
          </a:xfrm>
          <a:prstGeom prst="ellipse">
            <a:avLst/>
          </a:prstGeom>
          <a:solidFill>
            <a:schemeClr val="accent1">
              <a:alpha val="2392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3" name="Google Shape;443;p41"/>
          <p:cNvSpPr/>
          <p:nvPr/>
        </p:nvSpPr>
        <p:spPr>
          <a:xfrm>
            <a:off x="6084168" y="2190874"/>
            <a:ext cx="720080" cy="432048"/>
          </a:xfrm>
          <a:prstGeom prst="ellipse">
            <a:avLst/>
          </a:prstGeom>
          <a:solidFill>
            <a:schemeClr val="accent1">
              <a:alpha val="2392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44" name="Google Shape;444;p41"/>
          <p:cNvCxnSpPr>
            <a:stCxn id="443" idx="2"/>
            <a:endCxn id="442" idx="7"/>
          </p:cNvCxnSpPr>
          <p:nvPr/>
        </p:nvCxnSpPr>
        <p:spPr>
          <a:xfrm flipH="1">
            <a:off x="1514268" y="2406898"/>
            <a:ext cx="4569900" cy="1359300"/>
          </a:xfrm>
          <a:prstGeom prst="curvedConnector2">
            <a:avLst/>
          </a:prstGeom>
          <a:noFill/>
          <a:ln cap="flat" cmpd="sng" w="28575">
            <a:solidFill>
              <a:schemeClr val="accent1"/>
            </a:solidFill>
            <a:prstDash val="solid"/>
            <a:round/>
            <a:headEnd len="med" w="med" type="stealth"/>
            <a:tailEnd len="med" w="med" type="stealth"/>
          </a:ln>
        </p:spPr>
      </p:cxnSp>
      <p:sp>
        <p:nvSpPr>
          <p:cNvPr id="445" name="Google Shape;445;p41"/>
          <p:cNvSpPr/>
          <p:nvPr/>
        </p:nvSpPr>
        <p:spPr>
          <a:xfrm>
            <a:off x="6516216" y="2838946"/>
            <a:ext cx="360040" cy="360040"/>
          </a:xfrm>
          <a:prstGeom prst="ellipse">
            <a:avLst/>
          </a:prstGeom>
          <a:solidFill>
            <a:schemeClr val="lt1">
              <a:alpha val="5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6" name="Google Shape;446;p41"/>
          <p:cNvSpPr/>
          <p:nvPr/>
        </p:nvSpPr>
        <p:spPr>
          <a:xfrm>
            <a:off x="7020272" y="3824059"/>
            <a:ext cx="1512168" cy="83246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17617" y="-100986"/>
                </a:lnTo>
              </a:path>
            </a:pathLst>
          </a:custGeom>
          <a:solidFill>
            <a:schemeClr val="accent1"/>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800">
                <a:solidFill>
                  <a:schemeClr val="lt1"/>
                </a:solidFill>
                <a:latin typeface="Arial"/>
                <a:ea typeface="Arial"/>
                <a:cs typeface="Arial"/>
                <a:sym typeface="Arial"/>
              </a:rPr>
              <a:t>Z= 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42"/>
          <p:cNvSpPr txBox="1"/>
          <p:nvPr>
            <p:ph idx="1" type="body"/>
          </p:nvPr>
        </p:nvSpPr>
        <p:spPr>
          <a:xfrm>
            <a:off x="539552" y="1268760"/>
            <a:ext cx="3749040" cy="4572000"/>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Ortalamanın solunda kalan alan değerleri negatiftir, ancak alan kavramı nedeniyle solda kalan alan pozitif değerlendirilmelidir.</a:t>
            </a:r>
            <a:endParaRPr/>
          </a:p>
        </p:txBody>
      </p:sp>
      <p:grpSp>
        <p:nvGrpSpPr>
          <p:cNvPr id="452" name="Google Shape;452;p42"/>
          <p:cNvGrpSpPr/>
          <p:nvPr/>
        </p:nvGrpSpPr>
        <p:grpSpPr>
          <a:xfrm>
            <a:off x="3102292" y="1628800"/>
            <a:ext cx="6264696" cy="1508725"/>
            <a:chOff x="1156" y="2033"/>
            <a:chExt cx="3221" cy="1760"/>
          </a:xfrm>
        </p:grpSpPr>
        <p:sp>
          <p:nvSpPr>
            <p:cNvPr id="453" name="Google Shape;453;p42"/>
            <p:cNvSpPr/>
            <p:nvPr/>
          </p:nvSpPr>
          <p:spPr>
            <a:xfrm>
              <a:off x="1157" y="2033"/>
              <a:ext cx="3212" cy="1699"/>
            </a:xfrm>
            <a:custGeom>
              <a:rect b="b" l="l" r="r" t="t"/>
              <a:pathLst>
                <a:path extrusionOk="0" h="9062" w="17885">
                  <a:moveTo>
                    <a:pt x="0" y="9062"/>
                  </a:moveTo>
                  <a:lnTo>
                    <a:pt x="89" y="9059"/>
                  </a:lnTo>
                  <a:lnTo>
                    <a:pt x="179" y="9057"/>
                  </a:lnTo>
                  <a:lnTo>
                    <a:pt x="269" y="9053"/>
                  </a:lnTo>
                  <a:lnTo>
                    <a:pt x="359" y="9050"/>
                  </a:lnTo>
                  <a:lnTo>
                    <a:pt x="448" y="9046"/>
                  </a:lnTo>
                  <a:lnTo>
                    <a:pt x="539" y="9041"/>
                  </a:lnTo>
                  <a:lnTo>
                    <a:pt x="628" y="9036"/>
                  </a:lnTo>
                  <a:lnTo>
                    <a:pt x="718" y="9031"/>
                  </a:lnTo>
                  <a:lnTo>
                    <a:pt x="809" y="9024"/>
                  </a:lnTo>
                  <a:lnTo>
                    <a:pt x="898" y="9018"/>
                  </a:lnTo>
                  <a:lnTo>
                    <a:pt x="987" y="9011"/>
                  </a:lnTo>
                  <a:lnTo>
                    <a:pt x="1078" y="9002"/>
                  </a:lnTo>
                  <a:lnTo>
                    <a:pt x="1167" y="8993"/>
                  </a:lnTo>
                  <a:lnTo>
                    <a:pt x="1257" y="8984"/>
                  </a:lnTo>
                  <a:lnTo>
                    <a:pt x="1348" y="8972"/>
                  </a:lnTo>
                  <a:lnTo>
                    <a:pt x="1437" y="8961"/>
                  </a:lnTo>
                  <a:lnTo>
                    <a:pt x="1528" y="8948"/>
                  </a:lnTo>
                  <a:lnTo>
                    <a:pt x="1617" y="8934"/>
                  </a:lnTo>
                  <a:lnTo>
                    <a:pt x="1707" y="8918"/>
                  </a:lnTo>
                  <a:lnTo>
                    <a:pt x="1797" y="8901"/>
                  </a:lnTo>
                  <a:lnTo>
                    <a:pt x="1887" y="8883"/>
                  </a:lnTo>
                  <a:lnTo>
                    <a:pt x="1976" y="8862"/>
                  </a:lnTo>
                  <a:lnTo>
                    <a:pt x="2067" y="8842"/>
                  </a:lnTo>
                  <a:lnTo>
                    <a:pt x="2156" y="8817"/>
                  </a:lnTo>
                  <a:lnTo>
                    <a:pt x="2246" y="8793"/>
                  </a:lnTo>
                  <a:lnTo>
                    <a:pt x="2336" y="8764"/>
                  </a:lnTo>
                  <a:lnTo>
                    <a:pt x="2426" y="8734"/>
                  </a:lnTo>
                  <a:lnTo>
                    <a:pt x="2515" y="8702"/>
                  </a:lnTo>
                  <a:lnTo>
                    <a:pt x="2606" y="8667"/>
                  </a:lnTo>
                  <a:lnTo>
                    <a:pt x="2695" y="8630"/>
                  </a:lnTo>
                  <a:lnTo>
                    <a:pt x="2786" y="8589"/>
                  </a:lnTo>
                  <a:lnTo>
                    <a:pt x="2875" y="8547"/>
                  </a:lnTo>
                  <a:lnTo>
                    <a:pt x="2965" y="8501"/>
                  </a:lnTo>
                  <a:lnTo>
                    <a:pt x="3056" y="8451"/>
                  </a:lnTo>
                  <a:lnTo>
                    <a:pt x="3145" y="8399"/>
                  </a:lnTo>
                  <a:lnTo>
                    <a:pt x="3234" y="8342"/>
                  </a:lnTo>
                  <a:lnTo>
                    <a:pt x="3325" y="8283"/>
                  </a:lnTo>
                  <a:lnTo>
                    <a:pt x="3415" y="8219"/>
                  </a:lnTo>
                  <a:lnTo>
                    <a:pt x="3504" y="8152"/>
                  </a:lnTo>
                  <a:lnTo>
                    <a:pt x="3595" y="8081"/>
                  </a:lnTo>
                  <a:lnTo>
                    <a:pt x="3684" y="8005"/>
                  </a:lnTo>
                  <a:lnTo>
                    <a:pt x="3774" y="7924"/>
                  </a:lnTo>
                  <a:lnTo>
                    <a:pt x="3864" y="7840"/>
                  </a:lnTo>
                  <a:lnTo>
                    <a:pt x="3954" y="7751"/>
                  </a:lnTo>
                  <a:lnTo>
                    <a:pt x="4043" y="7658"/>
                  </a:lnTo>
                  <a:lnTo>
                    <a:pt x="4134" y="7559"/>
                  </a:lnTo>
                  <a:lnTo>
                    <a:pt x="4223" y="7456"/>
                  </a:lnTo>
                  <a:lnTo>
                    <a:pt x="4314" y="7348"/>
                  </a:lnTo>
                  <a:lnTo>
                    <a:pt x="4403" y="7236"/>
                  </a:lnTo>
                  <a:lnTo>
                    <a:pt x="4493" y="7118"/>
                  </a:lnTo>
                  <a:lnTo>
                    <a:pt x="4583" y="6995"/>
                  </a:lnTo>
                  <a:lnTo>
                    <a:pt x="4673" y="6867"/>
                  </a:lnTo>
                  <a:lnTo>
                    <a:pt x="4762" y="6734"/>
                  </a:lnTo>
                  <a:lnTo>
                    <a:pt x="4853" y="6597"/>
                  </a:lnTo>
                  <a:lnTo>
                    <a:pt x="4942" y="6454"/>
                  </a:lnTo>
                  <a:lnTo>
                    <a:pt x="5032" y="6307"/>
                  </a:lnTo>
                  <a:lnTo>
                    <a:pt x="5123" y="6155"/>
                  </a:lnTo>
                  <a:lnTo>
                    <a:pt x="5212" y="5999"/>
                  </a:lnTo>
                  <a:lnTo>
                    <a:pt x="5301" y="5838"/>
                  </a:lnTo>
                  <a:lnTo>
                    <a:pt x="5392" y="5673"/>
                  </a:lnTo>
                  <a:lnTo>
                    <a:pt x="5482" y="5504"/>
                  </a:lnTo>
                  <a:lnTo>
                    <a:pt x="5572" y="5331"/>
                  </a:lnTo>
                  <a:lnTo>
                    <a:pt x="5662" y="5155"/>
                  </a:lnTo>
                  <a:lnTo>
                    <a:pt x="5751" y="4975"/>
                  </a:lnTo>
                  <a:lnTo>
                    <a:pt x="5842" y="4793"/>
                  </a:lnTo>
                  <a:lnTo>
                    <a:pt x="5931" y="4608"/>
                  </a:lnTo>
                  <a:lnTo>
                    <a:pt x="6021" y="4420"/>
                  </a:lnTo>
                  <a:lnTo>
                    <a:pt x="6111" y="4231"/>
                  </a:lnTo>
                  <a:lnTo>
                    <a:pt x="6201" y="4040"/>
                  </a:lnTo>
                  <a:lnTo>
                    <a:pt x="6290" y="3848"/>
                  </a:lnTo>
                  <a:lnTo>
                    <a:pt x="6381" y="3655"/>
                  </a:lnTo>
                  <a:lnTo>
                    <a:pt x="6470" y="3462"/>
                  </a:lnTo>
                  <a:lnTo>
                    <a:pt x="6560" y="3270"/>
                  </a:lnTo>
                  <a:lnTo>
                    <a:pt x="6650" y="3078"/>
                  </a:lnTo>
                  <a:lnTo>
                    <a:pt x="6740" y="2888"/>
                  </a:lnTo>
                  <a:lnTo>
                    <a:pt x="6829" y="2699"/>
                  </a:lnTo>
                  <a:lnTo>
                    <a:pt x="6920" y="2513"/>
                  </a:lnTo>
                  <a:lnTo>
                    <a:pt x="7009" y="2329"/>
                  </a:lnTo>
                  <a:lnTo>
                    <a:pt x="7100" y="2149"/>
                  </a:lnTo>
                  <a:lnTo>
                    <a:pt x="7190" y="1973"/>
                  </a:lnTo>
                  <a:lnTo>
                    <a:pt x="7279" y="1801"/>
                  </a:lnTo>
                  <a:lnTo>
                    <a:pt x="7370" y="1634"/>
                  </a:lnTo>
                  <a:lnTo>
                    <a:pt x="7459" y="1472"/>
                  </a:lnTo>
                  <a:lnTo>
                    <a:pt x="7548" y="1317"/>
                  </a:lnTo>
                  <a:lnTo>
                    <a:pt x="7639" y="1168"/>
                  </a:lnTo>
                  <a:lnTo>
                    <a:pt x="7729" y="1027"/>
                  </a:lnTo>
                  <a:lnTo>
                    <a:pt x="7818" y="893"/>
                  </a:lnTo>
                  <a:lnTo>
                    <a:pt x="7909" y="766"/>
                  </a:lnTo>
                  <a:lnTo>
                    <a:pt x="7998" y="648"/>
                  </a:lnTo>
                  <a:lnTo>
                    <a:pt x="8088" y="539"/>
                  </a:lnTo>
                  <a:lnTo>
                    <a:pt x="8178" y="438"/>
                  </a:lnTo>
                  <a:lnTo>
                    <a:pt x="8268" y="348"/>
                  </a:lnTo>
                  <a:lnTo>
                    <a:pt x="8358" y="268"/>
                  </a:lnTo>
                  <a:lnTo>
                    <a:pt x="8448" y="198"/>
                  </a:lnTo>
                  <a:lnTo>
                    <a:pt x="8537" y="137"/>
                  </a:lnTo>
                  <a:lnTo>
                    <a:pt x="8628" y="88"/>
                  </a:lnTo>
                  <a:lnTo>
                    <a:pt x="8717" y="49"/>
                  </a:lnTo>
                  <a:lnTo>
                    <a:pt x="8807" y="22"/>
                  </a:lnTo>
                  <a:lnTo>
                    <a:pt x="8898" y="5"/>
                  </a:lnTo>
                  <a:lnTo>
                    <a:pt x="8987" y="0"/>
                  </a:lnTo>
                  <a:lnTo>
                    <a:pt x="9076" y="5"/>
                  </a:lnTo>
                  <a:lnTo>
                    <a:pt x="9167" y="22"/>
                  </a:lnTo>
                  <a:lnTo>
                    <a:pt x="9256" y="49"/>
                  </a:lnTo>
                  <a:lnTo>
                    <a:pt x="9346" y="88"/>
                  </a:lnTo>
                  <a:lnTo>
                    <a:pt x="9437" y="137"/>
                  </a:lnTo>
                  <a:lnTo>
                    <a:pt x="9526" y="198"/>
                  </a:lnTo>
                  <a:lnTo>
                    <a:pt x="9615" y="268"/>
                  </a:lnTo>
                  <a:lnTo>
                    <a:pt x="9706" y="348"/>
                  </a:lnTo>
                  <a:lnTo>
                    <a:pt x="9796" y="438"/>
                  </a:lnTo>
                  <a:lnTo>
                    <a:pt x="9886" y="539"/>
                  </a:lnTo>
                  <a:lnTo>
                    <a:pt x="9976" y="648"/>
                  </a:lnTo>
                  <a:lnTo>
                    <a:pt x="10065" y="766"/>
                  </a:lnTo>
                  <a:lnTo>
                    <a:pt x="10156" y="893"/>
                  </a:lnTo>
                  <a:lnTo>
                    <a:pt x="10245" y="1027"/>
                  </a:lnTo>
                  <a:lnTo>
                    <a:pt x="10335" y="1168"/>
                  </a:lnTo>
                  <a:lnTo>
                    <a:pt x="10425" y="1317"/>
                  </a:lnTo>
                  <a:lnTo>
                    <a:pt x="10515" y="1472"/>
                  </a:lnTo>
                  <a:lnTo>
                    <a:pt x="10604" y="1634"/>
                  </a:lnTo>
                  <a:lnTo>
                    <a:pt x="10695" y="1801"/>
                  </a:lnTo>
                  <a:lnTo>
                    <a:pt x="10784" y="1973"/>
                  </a:lnTo>
                  <a:lnTo>
                    <a:pt x="10874" y="2149"/>
                  </a:lnTo>
                  <a:lnTo>
                    <a:pt x="10964" y="2329"/>
                  </a:lnTo>
                  <a:lnTo>
                    <a:pt x="11054" y="2513"/>
                  </a:lnTo>
                  <a:lnTo>
                    <a:pt x="11145" y="2699"/>
                  </a:lnTo>
                  <a:lnTo>
                    <a:pt x="11234" y="2888"/>
                  </a:lnTo>
                  <a:lnTo>
                    <a:pt x="11323" y="3078"/>
                  </a:lnTo>
                  <a:lnTo>
                    <a:pt x="11414" y="3270"/>
                  </a:lnTo>
                  <a:lnTo>
                    <a:pt x="11504" y="3462"/>
                  </a:lnTo>
                  <a:lnTo>
                    <a:pt x="11593" y="3655"/>
                  </a:lnTo>
                  <a:lnTo>
                    <a:pt x="11684" y="3848"/>
                  </a:lnTo>
                  <a:lnTo>
                    <a:pt x="11773" y="4040"/>
                  </a:lnTo>
                  <a:lnTo>
                    <a:pt x="11863" y="4231"/>
                  </a:lnTo>
                  <a:lnTo>
                    <a:pt x="11953" y="4420"/>
                  </a:lnTo>
                  <a:lnTo>
                    <a:pt x="12043" y="4608"/>
                  </a:lnTo>
                  <a:lnTo>
                    <a:pt x="12132" y="4793"/>
                  </a:lnTo>
                  <a:lnTo>
                    <a:pt x="12223" y="4975"/>
                  </a:lnTo>
                  <a:lnTo>
                    <a:pt x="12312" y="5155"/>
                  </a:lnTo>
                  <a:lnTo>
                    <a:pt x="12402" y="5331"/>
                  </a:lnTo>
                  <a:lnTo>
                    <a:pt x="12492" y="5504"/>
                  </a:lnTo>
                  <a:lnTo>
                    <a:pt x="12582" y="5673"/>
                  </a:lnTo>
                  <a:lnTo>
                    <a:pt x="12672" y="5838"/>
                  </a:lnTo>
                  <a:lnTo>
                    <a:pt x="12762" y="5999"/>
                  </a:lnTo>
                  <a:lnTo>
                    <a:pt x="12851" y="6155"/>
                  </a:lnTo>
                  <a:lnTo>
                    <a:pt x="12942" y="6307"/>
                  </a:lnTo>
                  <a:lnTo>
                    <a:pt x="13031" y="6454"/>
                  </a:lnTo>
                  <a:lnTo>
                    <a:pt x="13121" y="6597"/>
                  </a:lnTo>
                  <a:lnTo>
                    <a:pt x="13212" y="6734"/>
                  </a:lnTo>
                  <a:lnTo>
                    <a:pt x="13301" y="6867"/>
                  </a:lnTo>
                  <a:lnTo>
                    <a:pt x="13390" y="6995"/>
                  </a:lnTo>
                  <a:lnTo>
                    <a:pt x="13481" y="7118"/>
                  </a:lnTo>
                  <a:lnTo>
                    <a:pt x="13571" y="7236"/>
                  </a:lnTo>
                  <a:lnTo>
                    <a:pt x="13660" y="7348"/>
                  </a:lnTo>
                  <a:lnTo>
                    <a:pt x="13751" y="7456"/>
                  </a:lnTo>
                  <a:lnTo>
                    <a:pt x="13840" y="7559"/>
                  </a:lnTo>
                  <a:lnTo>
                    <a:pt x="13931" y="7658"/>
                  </a:lnTo>
                  <a:lnTo>
                    <a:pt x="14020" y="7751"/>
                  </a:lnTo>
                  <a:lnTo>
                    <a:pt x="14110" y="7840"/>
                  </a:lnTo>
                  <a:lnTo>
                    <a:pt x="14200" y="7924"/>
                  </a:lnTo>
                  <a:lnTo>
                    <a:pt x="14290" y="8005"/>
                  </a:lnTo>
                  <a:lnTo>
                    <a:pt x="14379" y="8081"/>
                  </a:lnTo>
                  <a:lnTo>
                    <a:pt x="14470" y="8152"/>
                  </a:lnTo>
                  <a:lnTo>
                    <a:pt x="14559" y="8219"/>
                  </a:lnTo>
                  <a:lnTo>
                    <a:pt x="14649" y="8283"/>
                  </a:lnTo>
                  <a:lnTo>
                    <a:pt x="14739" y="8342"/>
                  </a:lnTo>
                  <a:lnTo>
                    <a:pt x="14829" y="8399"/>
                  </a:lnTo>
                  <a:lnTo>
                    <a:pt x="14918" y="8451"/>
                  </a:lnTo>
                  <a:lnTo>
                    <a:pt x="15009" y="8501"/>
                  </a:lnTo>
                  <a:lnTo>
                    <a:pt x="15098" y="8547"/>
                  </a:lnTo>
                  <a:lnTo>
                    <a:pt x="15188" y="8589"/>
                  </a:lnTo>
                  <a:lnTo>
                    <a:pt x="15279" y="8630"/>
                  </a:lnTo>
                  <a:lnTo>
                    <a:pt x="15368" y="8667"/>
                  </a:lnTo>
                  <a:lnTo>
                    <a:pt x="15459" y="8702"/>
                  </a:lnTo>
                  <a:lnTo>
                    <a:pt x="15548" y="8734"/>
                  </a:lnTo>
                  <a:lnTo>
                    <a:pt x="15637" y="8764"/>
                  </a:lnTo>
                  <a:lnTo>
                    <a:pt x="15728" y="8793"/>
                  </a:lnTo>
                  <a:lnTo>
                    <a:pt x="15818" y="8817"/>
                  </a:lnTo>
                  <a:lnTo>
                    <a:pt x="15907" y="8842"/>
                  </a:lnTo>
                  <a:lnTo>
                    <a:pt x="15998" y="8862"/>
                  </a:lnTo>
                  <a:lnTo>
                    <a:pt x="16087" y="8883"/>
                  </a:lnTo>
                  <a:lnTo>
                    <a:pt x="16177" y="8901"/>
                  </a:lnTo>
                  <a:lnTo>
                    <a:pt x="16267" y="8918"/>
                  </a:lnTo>
                  <a:lnTo>
                    <a:pt x="16357" y="8934"/>
                  </a:lnTo>
                  <a:lnTo>
                    <a:pt x="16446" y="8948"/>
                  </a:lnTo>
                  <a:lnTo>
                    <a:pt x="16537" y="8961"/>
                  </a:lnTo>
                  <a:lnTo>
                    <a:pt x="16626" y="8972"/>
                  </a:lnTo>
                  <a:lnTo>
                    <a:pt x="16717" y="8984"/>
                  </a:lnTo>
                  <a:lnTo>
                    <a:pt x="16806" y="8993"/>
                  </a:lnTo>
                  <a:lnTo>
                    <a:pt x="16896" y="9002"/>
                  </a:lnTo>
                  <a:lnTo>
                    <a:pt x="16986" y="9011"/>
                  </a:lnTo>
                  <a:lnTo>
                    <a:pt x="17076" y="9018"/>
                  </a:lnTo>
                  <a:lnTo>
                    <a:pt x="17165" y="9024"/>
                  </a:lnTo>
                  <a:lnTo>
                    <a:pt x="17256" y="9031"/>
                  </a:lnTo>
                  <a:lnTo>
                    <a:pt x="17345" y="9036"/>
                  </a:lnTo>
                  <a:lnTo>
                    <a:pt x="17435" y="9041"/>
                  </a:lnTo>
                  <a:lnTo>
                    <a:pt x="17526" y="9046"/>
                  </a:lnTo>
                  <a:lnTo>
                    <a:pt x="17615" y="9050"/>
                  </a:lnTo>
                  <a:lnTo>
                    <a:pt x="17704" y="9053"/>
                  </a:lnTo>
                  <a:lnTo>
                    <a:pt x="17795" y="9057"/>
                  </a:lnTo>
                  <a:lnTo>
                    <a:pt x="17885" y="9059"/>
                  </a:lnTo>
                </a:path>
              </a:pathLst>
            </a:custGeom>
            <a:solidFill>
              <a:srgbClr val="1482AB"/>
            </a:solidFill>
            <a:ln cap="flat" cmpd="sng" w="38100">
              <a:solidFill>
                <a:schemeClr val="lt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54" name="Google Shape;454;p42"/>
            <p:cNvCxnSpPr/>
            <p:nvPr/>
          </p:nvCxnSpPr>
          <p:spPr>
            <a:xfrm>
              <a:off x="1156" y="3793"/>
              <a:ext cx="3221" cy="0"/>
            </a:xfrm>
            <a:prstGeom prst="straightConnector1">
              <a:avLst/>
            </a:prstGeom>
            <a:solidFill>
              <a:srgbClr val="1482AB"/>
            </a:solidFill>
            <a:ln cap="flat" cmpd="sng" w="38100">
              <a:solidFill>
                <a:srgbClr val="FFE9FF"/>
              </a:solidFill>
              <a:prstDash val="solid"/>
              <a:round/>
              <a:headEnd len="med" w="med" type="none"/>
              <a:tailEnd len="med" w="med" type="none"/>
            </a:ln>
          </p:spPr>
        </p:cxnSp>
      </p:grpSp>
      <p:cxnSp>
        <p:nvCxnSpPr>
          <p:cNvPr id="455" name="Google Shape;455;p42"/>
          <p:cNvCxnSpPr/>
          <p:nvPr/>
        </p:nvCxnSpPr>
        <p:spPr>
          <a:xfrm>
            <a:off x="6264188" y="1574027"/>
            <a:ext cx="0" cy="1494933"/>
          </a:xfrm>
          <a:prstGeom prst="straightConnector1">
            <a:avLst/>
          </a:prstGeom>
          <a:noFill/>
          <a:ln cap="rnd" cmpd="sng" w="38100">
            <a:solidFill>
              <a:schemeClr val="lt1"/>
            </a:solidFill>
            <a:prstDash val="dot"/>
            <a:round/>
            <a:headEnd len="med" w="med" type="none"/>
            <a:tailEnd len="med" w="med" type="none"/>
          </a:ln>
        </p:spPr>
      </p:cxnSp>
      <p:sp>
        <p:nvSpPr>
          <p:cNvPr id="456" name="Google Shape;456;p42"/>
          <p:cNvSpPr txBox="1"/>
          <p:nvPr/>
        </p:nvSpPr>
        <p:spPr>
          <a:xfrm>
            <a:off x="3923576" y="3054834"/>
            <a:ext cx="46085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tr-TR" sz="1800">
                <a:solidFill>
                  <a:schemeClr val="dk1"/>
                </a:solidFill>
                <a:latin typeface="Arial"/>
                <a:ea typeface="Arial"/>
                <a:cs typeface="Arial"/>
                <a:sym typeface="Arial"/>
              </a:rPr>
              <a:t>  -3       -2        -1         0         1       2       3</a:t>
            </a:r>
            <a:endParaRPr/>
          </a:p>
        </p:txBody>
      </p:sp>
      <p:cxnSp>
        <p:nvCxnSpPr>
          <p:cNvPr id="457" name="Google Shape;457;p42"/>
          <p:cNvCxnSpPr/>
          <p:nvPr/>
        </p:nvCxnSpPr>
        <p:spPr>
          <a:xfrm>
            <a:off x="7164288" y="2559659"/>
            <a:ext cx="0" cy="747466"/>
          </a:xfrm>
          <a:prstGeom prst="straightConnector1">
            <a:avLst/>
          </a:prstGeom>
          <a:noFill/>
          <a:ln cap="rnd" cmpd="sng" w="38100">
            <a:solidFill>
              <a:schemeClr val="lt1"/>
            </a:solidFill>
            <a:prstDash val="dot"/>
            <a:round/>
            <a:headEnd len="med" w="med" type="none"/>
            <a:tailEnd len="med" w="med" type="none"/>
          </a:ln>
        </p:spPr>
      </p:cxnSp>
      <p:sp>
        <p:nvSpPr>
          <p:cNvPr id="458" name="Google Shape;458;p42"/>
          <p:cNvSpPr/>
          <p:nvPr/>
        </p:nvSpPr>
        <p:spPr>
          <a:xfrm>
            <a:off x="7580029" y="4293096"/>
            <a:ext cx="1096427" cy="612648"/>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43728" y="-208764"/>
                </a:lnTo>
              </a:path>
            </a:pathLst>
          </a:custGeom>
          <a:solidFill>
            <a:schemeClr val="accent1"/>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800">
                <a:solidFill>
                  <a:schemeClr val="lt1"/>
                </a:solidFill>
                <a:latin typeface="Arial"/>
                <a:ea typeface="Arial"/>
                <a:cs typeface="Arial"/>
                <a:sym typeface="Arial"/>
              </a:rPr>
              <a:t>z =1,95</a:t>
            </a:r>
            <a:endParaRPr/>
          </a:p>
        </p:txBody>
      </p:sp>
      <p:sp>
        <p:nvSpPr>
          <p:cNvPr id="459" name="Google Shape;459;p42"/>
          <p:cNvSpPr txBox="1"/>
          <p:nvPr/>
        </p:nvSpPr>
        <p:spPr>
          <a:xfrm>
            <a:off x="4932040" y="4149080"/>
            <a:ext cx="260520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Arial"/>
                <a:ea typeface="Arial"/>
                <a:cs typeface="Arial"/>
                <a:sym typeface="Arial"/>
              </a:rPr>
              <a:t>Şekilde z=0 ile 1,95</a:t>
            </a:r>
            <a:endParaRPr/>
          </a:p>
          <a:p>
            <a:pPr indent="0" lvl="0" marL="0" marR="0" rtl="0" algn="l">
              <a:spcBef>
                <a:spcPts val="0"/>
              </a:spcBef>
              <a:spcAft>
                <a:spcPts val="0"/>
              </a:spcAft>
              <a:buNone/>
            </a:pPr>
            <a:r>
              <a:rPr lang="tr-TR" sz="1800">
                <a:solidFill>
                  <a:schemeClr val="dk1"/>
                </a:solidFill>
                <a:latin typeface="Arial"/>
                <a:ea typeface="Arial"/>
                <a:cs typeface="Arial"/>
                <a:sym typeface="Arial"/>
              </a:rPr>
              <a:t>Arasında kalan alan </a:t>
            </a:r>
            <a:endParaRPr/>
          </a:p>
          <a:p>
            <a:pPr indent="0" lvl="0" marL="0" marR="0" rtl="0" algn="l">
              <a:spcBef>
                <a:spcPts val="0"/>
              </a:spcBef>
              <a:spcAft>
                <a:spcPts val="0"/>
              </a:spcAft>
              <a:buNone/>
            </a:pPr>
            <a:r>
              <a:rPr lang="tr-TR" sz="1800">
                <a:solidFill>
                  <a:schemeClr val="dk1"/>
                </a:solidFill>
                <a:latin typeface="Arial"/>
                <a:ea typeface="Arial"/>
                <a:cs typeface="Arial"/>
                <a:sym typeface="Arial"/>
              </a:rPr>
              <a:t>z tablosundan 0,4744 </a:t>
            </a:r>
            <a:endParaRPr/>
          </a:p>
          <a:p>
            <a:pPr indent="0" lvl="0" marL="0" marR="0" rtl="0" algn="l">
              <a:spcBef>
                <a:spcPts val="0"/>
              </a:spcBef>
              <a:spcAft>
                <a:spcPts val="0"/>
              </a:spcAft>
              <a:buNone/>
            </a:pPr>
            <a:r>
              <a:rPr lang="tr-TR" sz="1800">
                <a:solidFill>
                  <a:schemeClr val="dk1"/>
                </a:solidFill>
                <a:latin typeface="Arial"/>
                <a:ea typeface="Arial"/>
                <a:cs typeface="Arial"/>
                <a:sym typeface="Arial"/>
              </a:rPr>
              <a:t>olarak bulunabilir</a:t>
            </a:r>
            <a:endParaRPr/>
          </a:p>
          <a:p>
            <a:pPr indent="0" lvl="0" marL="0" marR="0" rtl="0" algn="l">
              <a:spcBef>
                <a:spcPts val="0"/>
              </a:spcBef>
              <a:spcAft>
                <a:spcPts val="0"/>
              </a:spcAft>
              <a:buNone/>
            </a:pPr>
            <a:r>
              <a:rPr lang="tr-TR" sz="1800">
                <a:solidFill>
                  <a:schemeClr val="dk1"/>
                </a:solidFill>
                <a:latin typeface="Arial"/>
                <a:ea typeface="Arial"/>
                <a:cs typeface="Arial"/>
                <a:sym typeface="Arial"/>
              </a:rPr>
              <a:t>1,95’in sağında kalan alan ise</a:t>
            </a:r>
            <a:endParaRPr/>
          </a:p>
          <a:p>
            <a:pPr indent="0" lvl="0" marL="0" marR="0" rtl="0" algn="l">
              <a:spcBef>
                <a:spcPts val="0"/>
              </a:spcBef>
              <a:spcAft>
                <a:spcPts val="0"/>
              </a:spcAft>
              <a:buNone/>
            </a:pPr>
            <a:r>
              <a:rPr lang="tr-TR" sz="1800">
                <a:solidFill>
                  <a:schemeClr val="dk1"/>
                </a:solidFill>
                <a:latin typeface="Arial"/>
                <a:ea typeface="Arial"/>
                <a:cs typeface="Arial"/>
                <a:sym typeface="Arial"/>
              </a:rPr>
              <a:t>0,5 - 4744 ile bulunabilir.</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pic>
        <p:nvPicPr>
          <p:cNvPr id="464" name="Google Shape;464;p43"/>
          <p:cNvPicPr preferRelativeResize="0"/>
          <p:nvPr/>
        </p:nvPicPr>
        <p:blipFill rotWithShape="1">
          <a:blip r:embed="rId3">
            <a:alphaModFix/>
          </a:blip>
          <a:srcRect b="40921" l="24363" r="25271" t="22083"/>
          <a:stretch/>
        </p:blipFill>
        <p:spPr>
          <a:xfrm>
            <a:off x="334848" y="980728"/>
            <a:ext cx="8543645" cy="3528392"/>
          </a:xfrm>
          <a:prstGeom prst="rect">
            <a:avLst/>
          </a:prstGeom>
          <a:noFill/>
          <a:ln>
            <a:noFill/>
          </a:ln>
        </p:spPr>
      </p:pic>
      <p:pic>
        <p:nvPicPr>
          <p:cNvPr id="465" name="Google Shape;465;p43"/>
          <p:cNvPicPr preferRelativeResize="0"/>
          <p:nvPr/>
        </p:nvPicPr>
        <p:blipFill rotWithShape="1">
          <a:blip r:embed="rId3">
            <a:alphaModFix/>
          </a:blip>
          <a:srcRect b="33542" l="34799" r="40037" t="59376"/>
          <a:stretch/>
        </p:blipFill>
        <p:spPr>
          <a:xfrm>
            <a:off x="4355976" y="5229200"/>
            <a:ext cx="4095605" cy="64807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500"/>
                                        <p:tgtEl>
                                          <p:spTgt spid="4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4"/>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t/>
            </a:r>
            <a:endParaRPr/>
          </a:p>
        </p:txBody>
      </p:sp>
      <p:sp>
        <p:nvSpPr>
          <p:cNvPr id="471" name="Google Shape;471;p44"/>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p>
            <a:pPr indent="0" lvl="0" marL="91440" rtl="0" algn="l">
              <a:lnSpc>
                <a:spcPct val="90000"/>
              </a:lnSpc>
              <a:spcBef>
                <a:spcPts val="0"/>
              </a:spcBef>
              <a:spcAft>
                <a:spcPts val="0"/>
              </a:spcAft>
              <a:buSzPts val="2000"/>
              <a:buNone/>
            </a:pPr>
            <a:r>
              <a:t/>
            </a:r>
            <a:endParaRPr/>
          </a:p>
        </p:txBody>
      </p:sp>
      <p:pic>
        <p:nvPicPr>
          <p:cNvPr id="472" name="Google Shape;472;p44"/>
          <p:cNvPicPr preferRelativeResize="0"/>
          <p:nvPr/>
        </p:nvPicPr>
        <p:blipFill rotWithShape="1">
          <a:blip r:embed="rId3">
            <a:alphaModFix/>
          </a:blip>
          <a:srcRect b="0" l="0" r="0" t="0"/>
          <a:stretch/>
        </p:blipFill>
        <p:spPr>
          <a:xfrm>
            <a:off x="107504" y="116632"/>
            <a:ext cx="8451710" cy="650336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pic>
        <p:nvPicPr>
          <p:cNvPr id="477" name="Google Shape;477;p45"/>
          <p:cNvPicPr preferRelativeResize="0"/>
          <p:nvPr/>
        </p:nvPicPr>
        <p:blipFill rotWithShape="1">
          <a:blip r:embed="rId3">
            <a:alphaModFix/>
          </a:blip>
          <a:srcRect b="16936" l="27458" r="34055" t="38960"/>
          <a:stretch/>
        </p:blipFill>
        <p:spPr>
          <a:xfrm>
            <a:off x="1106129" y="1844824"/>
            <a:ext cx="6929408" cy="4824536"/>
          </a:xfrm>
          <a:prstGeom prst="rect">
            <a:avLst/>
          </a:prstGeom>
          <a:noFill/>
          <a:ln>
            <a:noFill/>
          </a:ln>
        </p:spPr>
      </p:pic>
      <p:sp>
        <p:nvSpPr>
          <p:cNvPr id="478" name="Google Shape;478;p45"/>
          <p:cNvSpPr txBox="1"/>
          <p:nvPr/>
        </p:nvSpPr>
        <p:spPr>
          <a:xfrm>
            <a:off x="899592" y="620688"/>
            <a:ext cx="770485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2400">
                <a:solidFill>
                  <a:schemeClr val="dk1"/>
                </a:solidFill>
                <a:latin typeface="Arial"/>
                <a:ea typeface="Arial"/>
                <a:cs typeface="Arial"/>
                <a:sym typeface="Arial"/>
              </a:rPr>
              <a:t>Simetrik özelliğinden dolayı 0’da eşit uzaklıktaki Z değerlerinin 0 ile arasında kalan alanların değerleri birbirine eşittir.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pic>
        <p:nvPicPr>
          <p:cNvPr id="483" name="Google Shape;483;p46"/>
          <p:cNvPicPr preferRelativeResize="0"/>
          <p:nvPr/>
        </p:nvPicPr>
        <p:blipFill rotWithShape="1">
          <a:blip r:embed="rId3">
            <a:alphaModFix/>
          </a:blip>
          <a:srcRect b="51783" l="25051" r="26559" t="21042"/>
          <a:stretch/>
        </p:blipFill>
        <p:spPr>
          <a:xfrm>
            <a:off x="363682" y="980728"/>
            <a:ext cx="8384782" cy="3168352"/>
          </a:xfrm>
          <a:prstGeom prst="rect">
            <a:avLst/>
          </a:prstGeom>
          <a:noFill/>
          <a:ln>
            <a:noFill/>
          </a:ln>
        </p:spPr>
      </p:pic>
      <p:pic>
        <p:nvPicPr>
          <p:cNvPr id="484" name="Google Shape;484;p46"/>
          <p:cNvPicPr preferRelativeResize="0"/>
          <p:nvPr/>
        </p:nvPicPr>
        <p:blipFill rotWithShape="1">
          <a:blip r:embed="rId3">
            <a:alphaModFix/>
          </a:blip>
          <a:srcRect b="27218" l="25051" r="26559" t="60577"/>
          <a:stretch/>
        </p:blipFill>
        <p:spPr>
          <a:xfrm>
            <a:off x="435690" y="4941168"/>
            <a:ext cx="8384782" cy="118903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
                                        </p:tgtEl>
                                        <p:attrNameLst>
                                          <p:attrName>style.visibility</p:attrName>
                                        </p:attrNameLst>
                                      </p:cBhvr>
                                      <p:to>
                                        <p:strVal val="visible"/>
                                      </p:to>
                                    </p:set>
                                    <p:animEffect filter="fade" transition="in">
                                      <p:cBhvr>
                                        <p:cTn dur="500"/>
                                        <p:tgtEl>
                                          <p:spTgt spid="4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7"/>
          <p:cNvSpPr txBox="1"/>
          <p:nvPr>
            <p:ph type="title"/>
          </p:nvPr>
        </p:nvSpPr>
        <p:spPr>
          <a:xfrm>
            <a:off x="457200" y="188640"/>
            <a:ext cx="7467600" cy="778098"/>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3600"/>
              <a:buFont typeface="Twentieth Century"/>
              <a:buNone/>
            </a:pPr>
            <a:r>
              <a:rPr lang="tr-TR" sz="3600"/>
              <a:t>ÖRNEK 1</a:t>
            </a:r>
            <a:endParaRPr/>
          </a:p>
        </p:txBody>
      </p:sp>
      <p:sp>
        <p:nvSpPr>
          <p:cNvPr id="490" name="Google Shape;490;p47"/>
          <p:cNvSpPr txBox="1"/>
          <p:nvPr>
            <p:ph idx="1" type="body"/>
          </p:nvPr>
        </p:nvSpPr>
        <p:spPr>
          <a:xfrm>
            <a:off x="457200" y="629442"/>
            <a:ext cx="8363272" cy="2565563"/>
          </a:xfrm>
          <a:prstGeom prst="rect">
            <a:avLst/>
          </a:prstGeom>
          <a:blipFill rotWithShape="1">
            <a:blip r:embed="rId3">
              <a:alphaModFix/>
            </a:blip>
            <a:stretch>
              <a:fillRect b="0" l="-1312" r="-1166" t="-2375"/>
            </a:stretch>
          </a:blip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 </a:t>
            </a:r>
            <a:endParaRPr/>
          </a:p>
        </p:txBody>
      </p:sp>
      <p:grpSp>
        <p:nvGrpSpPr>
          <p:cNvPr id="491" name="Google Shape;491;p47"/>
          <p:cNvGrpSpPr/>
          <p:nvPr/>
        </p:nvGrpSpPr>
        <p:grpSpPr>
          <a:xfrm>
            <a:off x="510056" y="2622922"/>
            <a:ext cx="6912768" cy="2818859"/>
            <a:chOff x="1156" y="2033"/>
            <a:chExt cx="3221" cy="1760"/>
          </a:xfrm>
        </p:grpSpPr>
        <p:sp>
          <p:nvSpPr>
            <p:cNvPr id="492" name="Google Shape;492;p47"/>
            <p:cNvSpPr/>
            <p:nvPr/>
          </p:nvSpPr>
          <p:spPr>
            <a:xfrm>
              <a:off x="1157" y="2033"/>
              <a:ext cx="3212" cy="1699"/>
            </a:xfrm>
            <a:custGeom>
              <a:rect b="b" l="l" r="r" t="t"/>
              <a:pathLst>
                <a:path extrusionOk="0" h="9062" w="17885">
                  <a:moveTo>
                    <a:pt x="0" y="9062"/>
                  </a:moveTo>
                  <a:lnTo>
                    <a:pt x="89" y="9059"/>
                  </a:lnTo>
                  <a:lnTo>
                    <a:pt x="179" y="9057"/>
                  </a:lnTo>
                  <a:lnTo>
                    <a:pt x="269" y="9053"/>
                  </a:lnTo>
                  <a:lnTo>
                    <a:pt x="359" y="9050"/>
                  </a:lnTo>
                  <a:lnTo>
                    <a:pt x="448" y="9046"/>
                  </a:lnTo>
                  <a:lnTo>
                    <a:pt x="539" y="9041"/>
                  </a:lnTo>
                  <a:lnTo>
                    <a:pt x="628" y="9036"/>
                  </a:lnTo>
                  <a:lnTo>
                    <a:pt x="718" y="9031"/>
                  </a:lnTo>
                  <a:lnTo>
                    <a:pt x="809" y="9024"/>
                  </a:lnTo>
                  <a:lnTo>
                    <a:pt x="898" y="9018"/>
                  </a:lnTo>
                  <a:lnTo>
                    <a:pt x="987" y="9011"/>
                  </a:lnTo>
                  <a:lnTo>
                    <a:pt x="1078" y="9002"/>
                  </a:lnTo>
                  <a:lnTo>
                    <a:pt x="1167" y="8993"/>
                  </a:lnTo>
                  <a:lnTo>
                    <a:pt x="1257" y="8984"/>
                  </a:lnTo>
                  <a:lnTo>
                    <a:pt x="1348" y="8972"/>
                  </a:lnTo>
                  <a:lnTo>
                    <a:pt x="1437" y="8961"/>
                  </a:lnTo>
                  <a:lnTo>
                    <a:pt x="1528" y="8948"/>
                  </a:lnTo>
                  <a:lnTo>
                    <a:pt x="1617" y="8934"/>
                  </a:lnTo>
                  <a:lnTo>
                    <a:pt x="1707" y="8918"/>
                  </a:lnTo>
                  <a:lnTo>
                    <a:pt x="1797" y="8901"/>
                  </a:lnTo>
                  <a:lnTo>
                    <a:pt x="1887" y="8883"/>
                  </a:lnTo>
                  <a:lnTo>
                    <a:pt x="1976" y="8862"/>
                  </a:lnTo>
                  <a:lnTo>
                    <a:pt x="2067" y="8842"/>
                  </a:lnTo>
                  <a:lnTo>
                    <a:pt x="2156" y="8817"/>
                  </a:lnTo>
                  <a:lnTo>
                    <a:pt x="2246" y="8793"/>
                  </a:lnTo>
                  <a:lnTo>
                    <a:pt x="2336" y="8764"/>
                  </a:lnTo>
                  <a:lnTo>
                    <a:pt x="2426" y="8734"/>
                  </a:lnTo>
                  <a:lnTo>
                    <a:pt x="2515" y="8702"/>
                  </a:lnTo>
                  <a:lnTo>
                    <a:pt x="2606" y="8667"/>
                  </a:lnTo>
                  <a:lnTo>
                    <a:pt x="2695" y="8630"/>
                  </a:lnTo>
                  <a:lnTo>
                    <a:pt x="2786" y="8589"/>
                  </a:lnTo>
                  <a:lnTo>
                    <a:pt x="2875" y="8547"/>
                  </a:lnTo>
                  <a:lnTo>
                    <a:pt x="2965" y="8501"/>
                  </a:lnTo>
                  <a:lnTo>
                    <a:pt x="3056" y="8451"/>
                  </a:lnTo>
                  <a:lnTo>
                    <a:pt x="3145" y="8399"/>
                  </a:lnTo>
                  <a:lnTo>
                    <a:pt x="3234" y="8342"/>
                  </a:lnTo>
                  <a:lnTo>
                    <a:pt x="3325" y="8283"/>
                  </a:lnTo>
                  <a:lnTo>
                    <a:pt x="3415" y="8219"/>
                  </a:lnTo>
                  <a:lnTo>
                    <a:pt x="3504" y="8152"/>
                  </a:lnTo>
                  <a:lnTo>
                    <a:pt x="3595" y="8081"/>
                  </a:lnTo>
                  <a:lnTo>
                    <a:pt x="3684" y="8005"/>
                  </a:lnTo>
                  <a:lnTo>
                    <a:pt x="3774" y="7924"/>
                  </a:lnTo>
                  <a:lnTo>
                    <a:pt x="3864" y="7840"/>
                  </a:lnTo>
                  <a:lnTo>
                    <a:pt x="3954" y="7751"/>
                  </a:lnTo>
                  <a:lnTo>
                    <a:pt x="4043" y="7658"/>
                  </a:lnTo>
                  <a:lnTo>
                    <a:pt x="4134" y="7559"/>
                  </a:lnTo>
                  <a:lnTo>
                    <a:pt x="4223" y="7456"/>
                  </a:lnTo>
                  <a:lnTo>
                    <a:pt x="4314" y="7348"/>
                  </a:lnTo>
                  <a:lnTo>
                    <a:pt x="4403" y="7236"/>
                  </a:lnTo>
                  <a:lnTo>
                    <a:pt x="4493" y="7118"/>
                  </a:lnTo>
                  <a:lnTo>
                    <a:pt x="4583" y="6995"/>
                  </a:lnTo>
                  <a:lnTo>
                    <a:pt x="4673" y="6867"/>
                  </a:lnTo>
                  <a:lnTo>
                    <a:pt x="4762" y="6734"/>
                  </a:lnTo>
                  <a:lnTo>
                    <a:pt x="4853" y="6597"/>
                  </a:lnTo>
                  <a:lnTo>
                    <a:pt x="4942" y="6454"/>
                  </a:lnTo>
                  <a:lnTo>
                    <a:pt x="5032" y="6307"/>
                  </a:lnTo>
                  <a:lnTo>
                    <a:pt x="5123" y="6155"/>
                  </a:lnTo>
                  <a:lnTo>
                    <a:pt x="5212" y="5999"/>
                  </a:lnTo>
                  <a:lnTo>
                    <a:pt x="5301" y="5838"/>
                  </a:lnTo>
                  <a:lnTo>
                    <a:pt x="5392" y="5673"/>
                  </a:lnTo>
                  <a:lnTo>
                    <a:pt x="5482" y="5504"/>
                  </a:lnTo>
                  <a:lnTo>
                    <a:pt x="5572" y="5331"/>
                  </a:lnTo>
                  <a:lnTo>
                    <a:pt x="5662" y="5155"/>
                  </a:lnTo>
                  <a:lnTo>
                    <a:pt x="5751" y="4975"/>
                  </a:lnTo>
                  <a:lnTo>
                    <a:pt x="5842" y="4793"/>
                  </a:lnTo>
                  <a:lnTo>
                    <a:pt x="5931" y="4608"/>
                  </a:lnTo>
                  <a:lnTo>
                    <a:pt x="6021" y="4420"/>
                  </a:lnTo>
                  <a:lnTo>
                    <a:pt x="6111" y="4231"/>
                  </a:lnTo>
                  <a:lnTo>
                    <a:pt x="6201" y="4040"/>
                  </a:lnTo>
                  <a:lnTo>
                    <a:pt x="6290" y="3848"/>
                  </a:lnTo>
                  <a:lnTo>
                    <a:pt x="6381" y="3655"/>
                  </a:lnTo>
                  <a:lnTo>
                    <a:pt x="6470" y="3462"/>
                  </a:lnTo>
                  <a:lnTo>
                    <a:pt x="6560" y="3270"/>
                  </a:lnTo>
                  <a:lnTo>
                    <a:pt x="6650" y="3078"/>
                  </a:lnTo>
                  <a:lnTo>
                    <a:pt x="6740" y="2888"/>
                  </a:lnTo>
                  <a:lnTo>
                    <a:pt x="6829" y="2699"/>
                  </a:lnTo>
                  <a:lnTo>
                    <a:pt x="6920" y="2513"/>
                  </a:lnTo>
                  <a:lnTo>
                    <a:pt x="7009" y="2329"/>
                  </a:lnTo>
                  <a:lnTo>
                    <a:pt x="7100" y="2149"/>
                  </a:lnTo>
                  <a:lnTo>
                    <a:pt x="7190" y="1973"/>
                  </a:lnTo>
                  <a:lnTo>
                    <a:pt x="7279" y="1801"/>
                  </a:lnTo>
                  <a:lnTo>
                    <a:pt x="7370" y="1634"/>
                  </a:lnTo>
                  <a:lnTo>
                    <a:pt x="7459" y="1472"/>
                  </a:lnTo>
                  <a:lnTo>
                    <a:pt x="7548" y="1317"/>
                  </a:lnTo>
                  <a:lnTo>
                    <a:pt x="7639" y="1168"/>
                  </a:lnTo>
                  <a:lnTo>
                    <a:pt x="7729" y="1027"/>
                  </a:lnTo>
                  <a:lnTo>
                    <a:pt x="7818" y="893"/>
                  </a:lnTo>
                  <a:lnTo>
                    <a:pt x="7909" y="766"/>
                  </a:lnTo>
                  <a:lnTo>
                    <a:pt x="7998" y="648"/>
                  </a:lnTo>
                  <a:lnTo>
                    <a:pt x="8088" y="539"/>
                  </a:lnTo>
                  <a:lnTo>
                    <a:pt x="8178" y="438"/>
                  </a:lnTo>
                  <a:lnTo>
                    <a:pt x="8268" y="348"/>
                  </a:lnTo>
                  <a:lnTo>
                    <a:pt x="8358" y="268"/>
                  </a:lnTo>
                  <a:lnTo>
                    <a:pt x="8448" y="198"/>
                  </a:lnTo>
                  <a:lnTo>
                    <a:pt x="8537" y="137"/>
                  </a:lnTo>
                  <a:lnTo>
                    <a:pt x="8628" y="88"/>
                  </a:lnTo>
                  <a:lnTo>
                    <a:pt x="8717" y="49"/>
                  </a:lnTo>
                  <a:lnTo>
                    <a:pt x="8807" y="22"/>
                  </a:lnTo>
                  <a:lnTo>
                    <a:pt x="8898" y="5"/>
                  </a:lnTo>
                  <a:lnTo>
                    <a:pt x="8987" y="0"/>
                  </a:lnTo>
                  <a:lnTo>
                    <a:pt x="9076" y="5"/>
                  </a:lnTo>
                  <a:lnTo>
                    <a:pt x="9167" y="22"/>
                  </a:lnTo>
                  <a:lnTo>
                    <a:pt x="9256" y="49"/>
                  </a:lnTo>
                  <a:lnTo>
                    <a:pt x="9346" y="88"/>
                  </a:lnTo>
                  <a:lnTo>
                    <a:pt x="9437" y="137"/>
                  </a:lnTo>
                  <a:lnTo>
                    <a:pt x="9526" y="198"/>
                  </a:lnTo>
                  <a:lnTo>
                    <a:pt x="9615" y="268"/>
                  </a:lnTo>
                  <a:lnTo>
                    <a:pt x="9706" y="348"/>
                  </a:lnTo>
                  <a:lnTo>
                    <a:pt x="9796" y="438"/>
                  </a:lnTo>
                  <a:lnTo>
                    <a:pt x="9886" y="539"/>
                  </a:lnTo>
                  <a:lnTo>
                    <a:pt x="9976" y="648"/>
                  </a:lnTo>
                  <a:lnTo>
                    <a:pt x="10065" y="766"/>
                  </a:lnTo>
                  <a:lnTo>
                    <a:pt x="10156" y="893"/>
                  </a:lnTo>
                  <a:lnTo>
                    <a:pt x="10245" y="1027"/>
                  </a:lnTo>
                  <a:lnTo>
                    <a:pt x="10335" y="1168"/>
                  </a:lnTo>
                  <a:lnTo>
                    <a:pt x="10425" y="1317"/>
                  </a:lnTo>
                  <a:lnTo>
                    <a:pt x="10515" y="1472"/>
                  </a:lnTo>
                  <a:lnTo>
                    <a:pt x="10604" y="1634"/>
                  </a:lnTo>
                  <a:lnTo>
                    <a:pt x="10695" y="1801"/>
                  </a:lnTo>
                  <a:lnTo>
                    <a:pt x="10784" y="1973"/>
                  </a:lnTo>
                  <a:lnTo>
                    <a:pt x="10874" y="2149"/>
                  </a:lnTo>
                  <a:lnTo>
                    <a:pt x="10964" y="2329"/>
                  </a:lnTo>
                  <a:lnTo>
                    <a:pt x="11054" y="2513"/>
                  </a:lnTo>
                  <a:lnTo>
                    <a:pt x="11145" y="2699"/>
                  </a:lnTo>
                  <a:lnTo>
                    <a:pt x="11234" y="2888"/>
                  </a:lnTo>
                  <a:lnTo>
                    <a:pt x="11323" y="3078"/>
                  </a:lnTo>
                  <a:lnTo>
                    <a:pt x="11414" y="3270"/>
                  </a:lnTo>
                  <a:lnTo>
                    <a:pt x="11504" y="3462"/>
                  </a:lnTo>
                  <a:lnTo>
                    <a:pt x="11593" y="3655"/>
                  </a:lnTo>
                  <a:lnTo>
                    <a:pt x="11684" y="3848"/>
                  </a:lnTo>
                  <a:lnTo>
                    <a:pt x="11773" y="4040"/>
                  </a:lnTo>
                  <a:lnTo>
                    <a:pt x="11863" y="4231"/>
                  </a:lnTo>
                  <a:lnTo>
                    <a:pt x="11953" y="4420"/>
                  </a:lnTo>
                  <a:lnTo>
                    <a:pt x="12043" y="4608"/>
                  </a:lnTo>
                  <a:lnTo>
                    <a:pt x="12132" y="4793"/>
                  </a:lnTo>
                  <a:lnTo>
                    <a:pt x="12223" y="4975"/>
                  </a:lnTo>
                  <a:lnTo>
                    <a:pt x="12312" y="5155"/>
                  </a:lnTo>
                  <a:lnTo>
                    <a:pt x="12402" y="5331"/>
                  </a:lnTo>
                  <a:lnTo>
                    <a:pt x="12492" y="5504"/>
                  </a:lnTo>
                  <a:lnTo>
                    <a:pt x="12582" y="5673"/>
                  </a:lnTo>
                  <a:lnTo>
                    <a:pt x="12672" y="5838"/>
                  </a:lnTo>
                  <a:lnTo>
                    <a:pt x="12762" y="5999"/>
                  </a:lnTo>
                  <a:lnTo>
                    <a:pt x="12851" y="6155"/>
                  </a:lnTo>
                  <a:lnTo>
                    <a:pt x="12942" y="6307"/>
                  </a:lnTo>
                  <a:lnTo>
                    <a:pt x="13031" y="6454"/>
                  </a:lnTo>
                  <a:lnTo>
                    <a:pt x="13121" y="6597"/>
                  </a:lnTo>
                  <a:lnTo>
                    <a:pt x="13212" y="6734"/>
                  </a:lnTo>
                  <a:lnTo>
                    <a:pt x="13301" y="6867"/>
                  </a:lnTo>
                  <a:lnTo>
                    <a:pt x="13390" y="6995"/>
                  </a:lnTo>
                  <a:lnTo>
                    <a:pt x="13481" y="7118"/>
                  </a:lnTo>
                  <a:lnTo>
                    <a:pt x="13571" y="7236"/>
                  </a:lnTo>
                  <a:lnTo>
                    <a:pt x="13660" y="7348"/>
                  </a:lnTo>
                  <a:lnTo>
                    <a:pt x="13751" y="7456"/>
                  </a:lnTo>
                  <a:lnTo>
                    <a:pt x="13840" y="7559"/>
                  </a:lnTo>
                  <a:lnTo>
                    <a:pt x="13931" y="7658"/>
                  </a:lnTo>
                  <a:lnTo>
                    <a:pt x="14020" y="7751"/>
                  </a:lnTo>
                  <a:lnTo>
                    <a:pt x="14110" y="7840"/>
                  </a:lnTo>
                  <a:lnTo>
                    <a:pt x="14200" y="7924"/>
                  </a:lnTo>
                  <a:lnTo>
                    <a:pt x="14290" y="8005"/>
                  </a:lnTo>
                  <a:lnTo>
                    <a:pt x="14379" y="8081"/>
                  </a:lnTo>
                  <a:lnTo>
                    <a:pt x="14470" y="8152"/>
                  </a:lnTo>
                  <a:lnTo>
                    <a:pt x="14559" y="8219"/>
                  </a:lnTo>
                  <a:lnTo>
                    <a:pt x="14649" y="8283"/>
                  </a:lnTo>
                  <a:lnTo>
                    <a:pt x="14739" y="8342"/>
                  </a:lnTo>
                  <a:lnTo>
                    <a:pt x="14829" y="8399"/>
                  </a:lnTo>
                  <a:lnTo>
                    <a:pt x="14918" y="8451"/>
                  </a:lnTo>
                  <a:lnTo>
                    <a:pt x="15009" y="8501"/>
                  </a:lnTo>
                  <a:lnTo>
                    <a:pt x="15098" y="8547"/>
                  </a:lnTo>
                  <a:lnTo>
                    <a:pt x="15188" y="8589"/>
                  </a:lnTo>
                  <a:lnTo>
                    <a:pt x="15279" y="8630"/>
                  </a:lnTo>
                  <a:lnTo>
                    <a:pt x="15368" y="8667"/>
                  </a:lnTo>
                  <a:lnTo>
                    <a:pt x="15459" y="8702"/>
                  </a:lnTo>
                  <a:lnTo>
                    <a:pt x="15548" y="8734"/>
                  </a:lnTo>
                  <a:lnTo>
                    <a:pt x="15637" y="8764"/>
                  </a:lnTo>
                  <a:lnTo>
                    <a:pt x="15728" y="8793"/>
                  </a:lnTo>
                  <a:lnTo>
                    <a:pt x="15818" y="8817"/>
                  </a:lnTo>
                  <a:lnTo>
                    <a:pt x="15907" y="8842"/>
                  </a:lnTo>
                  <a:lnTo>
                    <a:pt x="15998" y="8862"/>
                  </a:lnTo>
                  <a:lnTo>
                    <a:pt x="16087" y="8883"/>
                  </a:lnTo>
                  <a:lnTo>
                    <a:pt x="16177" y="8901"/>
                  </a:lnTo>
                  <a:lnTo>
                    <a:pt x="16267" y="8918"/>
                  </a:lnTo>
                  <a:lnTo>
                    <a:pt x="16357" y="8934"/>
                  </a:lnTo>
                  <a:lnTo>
                    <a:pt x="16446" y="8948"/>
                  </a:lnTo>
                  <a:lnTo>
                    <a:pt x="16537" y="8961"/>
                  </a:lnTo>
                  <a:lnTo>
                    <a:pt x="16626" y="8972"/>
                  </a:lnTo>
                  <a:lnTo>
                    <a:pt x="16717" y="8984"/>
                  </a:lnTo>
                  <a:lnTo>
                    <a:pt x="16806" y="8993"/>
                  </a:lnTo>
                  <a:lnTo>
                    <a:pt x="16896" y="9002"/>
                  </a:lnTo>
                  <a:lnTo>
                    <a:pt x="16986" y="9011"/>
                  </a:lnTo>
                  <a:lnTo>
                    <a:pt x="17076" y="9018"/>
                  </a:lnTo>
                  <a:lnTo>
                    <a:pt x="17165" y="9024"/>
                  </a:lnTo>
                  <a:lnTo>
                    <a:pt x="17256" y="9031"/>
                  </a:lnTo>
                  <a:lnTo>
                    <a:pt x="17345" y="9036"/>
                  </a:lnTo>
                  <a:lnTo>
                    <a:pt x="17435" y="9041"/>
                  </a:lnTo>
                  <a:lnTo>
                    <a:pt x="17526" y="9046"/>
                  </a:lnTo>
                  <a:lnTo>
                    <a:pt x="17615" y="9050"/>
                  </a:lnTo>
                  <a:lnTo>
                    <a:pt x="17704" y="9053"/>
                  </a:lnTo>
                  <a:lnTo>
                    <a:pt x="17795" y="9057"/>
                  </a:lnTo>
                  <a:lnTo>
                    <a:pt x="17885" y="9059"/>
                  </a:lnTo>
                </a:path>
              </a:pathLst>
            </a:custGeom>
            <a:solidFill>
              <a:srgbClr val="1482AB"/>
            </a:solidFill>
            <a:ln cap="flat" cmpd="sng" w="38100">
              <a:solidFill>
                <a:schemeClr val="lt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93" name="Google Shape;493;p47"/>
            <p:cNvCxnSpPr/>
            <p:nvPr/>
          </p:nvCxnSpPr>
          <p:spPr>
            <a:xfrm>
              <a:off x="1156" y="3793"/>
              <a:ext cx="3221" cy="0"/>
            </a:xfrm>
            <a:prstGeom prst="straightConnector1">
              <a:avLst/>
            </a:prstGeom>
            <a:solidFill>
              <a:srgbClr val="1482AB"/>
            </a:solidFill>
            <a:ln cap="flat" cmpd="sng" w="38100">
              <a:solidFill>
                <a:srgbClr val="FFE9FF"/>
              </a:solidFill>
              <a:prstDash val="solid"/>
              <a:round/>
              <a:headEnd len="med" w="med" type="none"/>
              <a:tailEnd len="med" w="med" type="none"/>
            </a:ln>
          </p:spPr>
        </p:cxnSp>
      </p:grpSp>
      <p:cxnSp>
        <p:nvCxnSpPr>
          <p:cNvPr id="494" name="Google Shape;494;p47"/>
          <p:cNvCxnSpPr/>
          <p:nvPr/>
        </p:nvCxnSpPr>
        <p:spPr>
          <a:xfrm>
            <a:off x="3995936" y="2708920"/>
            <a:ext cx="0" cy="2940570"/>
          </a:xfrm>
          <a:prstGeom prst="straightConnector1">
            <a:avLst/>
          </a:prstGeom>
          <a:noFill/>
          <a:ln cap="rnd" cmpd="sng" w="38100">
            <a:solidFill>
              <a:schemeClr val="lt1"/>
            </a:solidFill>
            <a:prstDash val="dot"/>
            <a:round/>
            <a:headEnd len="med" w="med" type="none"/>
            <a:tailEnd len="med" w="med" type="none"/>
          </a:ln>
        </p:spPr>
      </p:cxnSp>
      <p:cxnSp>
        <p:nvCxnSpPr>
          <p:cNvPr id="495" name="Google Shape;495;p47"/>
          <p:cNvCxnSpPr/>
          <p:nvPr/>
        </p:nvCxnSpPr>
        <p:spPr>
          <a:xfrm>
            <a:off x="4793220" y="4005064"/>
            <a:ext cx="0" cy="1644426"/>
          </a:xfrm>
          <a:prstGeom prst="straightConnector1">
            <a:avLst/>
          </a:prstGeom>
          <a:noFill/>
          <a:ln cap="rnd" cmpd="sng" w="38100">
            <a:solidFill>
              <a:schemeClr val="lt1"/>
            </a:solidFill>
            <a:prstDash val="solid"/>
            <a:round/>
            <a:headEnd len="med" w="med" type="none"/>
            <a:tailEnd len="med" w="med" type="none"/>
          </a:ln>
        </p:spPr>
      </p:cxnSp>
      <p:sp>
        <p:nvSpPr>
          <p:cNvPr id="496" name="Google Shape;496;p47"/>
          <p:cNvSpPr txBox="1"/>
          <p:nvPr/>
        </p:nvSpPr>
        <p:spPr>
          <a:xfrm>
            <a:off x="3779912" y="5373216"/>
            <a:ext cx="26116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Arial"/>
                <a:ea typeface="Arial"/>
                <a:cs typeface="Arial"/>
                <a:sym typeface="Arial"/>
              </a:rPr>
              <a:t>55            60                         x</a:t>
            </a:r>
            <a:endParaRPr/>
          </a:p>
        </p:txBody>
      </p:sp>
      <p:cxnSp>
        <p:nvCxnSpPr>
          <p:cNvPr id="497" name="Google Shape;497;p47"/>
          <p:cNvCxnSpPr/>
          <p:nvPr/>
        </p:nvCxnSpPr>
        <p:spPr>
          <a:xfrm>
            <a:off x="1259632" y="5877272"/>
            <a:ext cx="5256584" cy="0"/>
          </a:xfrm>
          <a:prstGeom prst="straightConnector1">
            <a:avLst/>
          </a:prstGeom>
          <a:noFill/>
          <a:ln cap="flat" cmpd="sng" w="28575">
            <a:solidFill>
              <a:schemeClr val="accent1"/>
            </a:solidFill>
            <a:prstDash val="solid"/>
            <a:round/>
            <a:headEnd len="sm" w="sm" type="none"/>
            <a:tailEnd len="sm" w="sm" type="none"/>
          </a:ln>
        </p:spPr>
      </p:cxnSp>
      <p:sp>
        <p:nvSpPr>
          <p:cNvPr id="498" name="Google Shape;498;p47"/>
          <p:cNvSpPr txBox="1"/>
          <p:nvPr/>
        </p:nvSpPr>
        <p:spPr>
          <a:xfrm>
            <a:off x="590287" y="5601377"/>
            <a:ext cx="52565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Arial"/>
                <a:ea typeface="Arial"/>
                <a:cs typeface="Arial"/>
                <a:sym typeface="Arial"/>
              </a:rPr>
              <a:t>           -3         -2          -1          0         1         2          3        z</a:t>
            </a:r>
            <a:endParaRPr/>
          </a:p>
        </p:txBody>
      </p:sp>
      <p:sp>
        <p:nvSpPr>
          <p:cNvPr id="499" name="Google Shape;499;p47"/>
          <p:cNvSpPr/>
          <p:nvPr/>
        </p:nvSpPr>
        <p:spPr>
          <a:xfrm>
            <a:off x="4750288" y="5834760"/>
            <a:ext cx="108012" cy="92333"/>
          </a:xfrm>
          <a:prstGeom prst="ellipse">
            <a:avLst/>
          </a:prstGeom>
          <a:solidFill>
            <a:schemeClr val="accent1"/>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0" name="Google Shape;500;p47"/>
          <p:cNvSpPr/>
          <p:nvPr/>
        </p:nvSpPr>
        <p:spPr>
          <a:xfrm>
            <a:off x="3131840" y="4827277"/>
            <a:ext cx="648072" cy="288032"/>
          </a:xfrm>
          <a:custGeom>
            <a:rect b="b" l="l" r="r" t="t"/>
            <a:pathLst>
              <a:path extrusionOk="0" h="120000" w="120000">
                <a:moveTo>
                  <a:pt x="0" y="0"/>
                </a:moveTo>
                <a:lnTo>
                  <a:pt x="120000" y="0"/>
                </a:lnTo>
                <a:lnTo>
                  <a:pt x="120000" y="120000"/>
                </a:lnTo>
                <a:lnTo>
                  <a:pt x="0" y="120000"/>
                </a:lnTo>
                <a:close/>
              </a:path>
              <a:path extrusionOk="0" fill="none" h="120000" w="120000">
                <a:moveTo>
                  <a:pt x="119912" y="0"/>
                </a:moveTo>
                <a:close/>
                <a:lnTo>
                  <a:pt x="119912" y="120000"/>
                </a:lnTo>
              </a:path>
              <a:path extrusionOk="0" fill="none" h="120000" w="120000">
                <a:moveTo>
                  <a:pt x="119912" y="37861"/>
                </a:moveTo>
                <a:lnTo>
                  <a:pt x="111299" y="27472"/>
                </a:lnTo>
              </a:path>
            </a:pathLst>
          </a:custGeom>
          <a:gradFill>
            <a:gsLst>
              <a:gs pos="0">
                <a:srgbClr val="76D7DE"/>
              </a:gs>
              <a:gs pos="100000">
                <a:srgbClr val="97F0F7"/>
              </a:gs>
            </a:gsLst>
            <a:path path="circle">
              <a:fillToRect b="50%" l="50%" r="50%" t="50%"/>
            </a:path>
            <a:tileRect/>
          </a:gra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600">
                <a:solidFill>
                  <a:schemeClr val="dk1"/>
                </a:solidFill>
                <a:latin typeface="Arial"/>
                <a:ea typeface="Arial"/>
                <a:cs typeface="Arial"/>
                <a:sym typeface="Arial"/>
              </a:rPr>
              <a:t>%50</a:t>
            </a:r>
            <a:endParaRPr/>
          </a:p>
        </p:txBody>
      </p:sp>
      <p:sp>
        <p:nvSpPr>
          <p:cNvPr id="501" name="Google Shape;501;p47"/>
          <p:cNvSpPr/>
          <p:nvPr/>
        </p:nvSpPr>
        <p:spPr>
          <a:xfrm>
            <a:off x="5148064" y="3789040"/>
            <a:ext cx="2736304" cy="432048"/>
          </a:xfrm>
          <a:custGeom>
            <a:rect b="b" l="l" r="r" t="t"/>
            <a:pathLst>
              <a:path extrusionOk="0" h="120000" w="120000">
                <a:moveTo>
                  <a:pt x="0" y="0"/>
                </a:moveTo>
                <a:lnTo>
                  <a:pt x="120000" y="0"/>
                </a:lnTo>
                <a:lnTo>
                  <a:pt x="120000" y="120000"/>
                </a:lnTo>
                <a:lnTo>
                  <a:pt x="0" y="120000"/>
                </a:lnTo>
                <a:close/>
              </a:path>
              <a:path extrusionOk="0" fill="none" h="120000" w="120000">
                <a:moveTo>
                  <a:pt x="-5435" y="0"/>
                </a:moveTo>
                <a:close/>
                <a:lnTo>
                  <a:pt x="-5435" y="120000"/>
                </a:lnTo>
              </a:path>
              <a:path extrusionOk="0" fill="none" h="120000" w="120000">
                <a:moveTo>
                  <a:pt x="-5435" y="59366"/>
                </a:moveTo>
                <a:lnTo>
                  <a:pt x="-35780" y="243552"/>
                </a:lnTo>
              </a:path>
            </a:pathLst>
          </a:custGeom>
          <a:gradFill>
            <a:gsLst>
              <a:gs pos="0">
                <a:srgbClr val="76D7DE"/>
              </a:gs>
              <a:gs pos="100000">
                <a:srgbClr val="97F0F7"/>
              </a:gs>
            </a:gsLst>
            <a:path path="circle">
              <a:fillToRect b="50%" l="50%" r="50%" t="50%"/>
            </a:path>
            <a:tileRect/>
          </a:gra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600">
                <a:solidFill>
                  <a:schemeClr val="dk1"/>
                </a:solidFill>
                <a:latin typeface="Arial"/>
                <a:ea typeface="Arial"/>
                <a:cs typeface="Arial"/>
                <a:sym typeface="Arial"/>
              </a:rPr>
              <a:t>0,3944 -&gt; 1,25’in z tablosu değeri = alan</a:t>
            </a:r>
            <a:endParaRPr/>
          </a:p>
        </p:txBody>
      </p:sp>
      <p:sp>
        <p:nvSpPr>
          <p:cNvPr id="502" name="Google Shape;502;p47"/>
          <p:cNvSpPr/>
          <p:nvPr/>
        </p:nvSpPr>
        <p:spPr>
          <a:xfrm>
            <a:off x="5347007" y="6198492"/>
            <a:ext cx="999729" cy="369332"/>
          </a:xfrm>
          <a:custGeom>
            <a:rect b="b" l="l" r="r" t="t"/>
            <a:pathLst>
              <a:path extrusionOk="0" h="120000" w="120000">
                <a:moveTo>
                  <a:pt x="0" y="0"/>
                </a:moveTo>
                <a:lnTo>
                  <a:pt x="120000" y="0"/>
                </a:lnTo>
                <a:lnTo>
                  <a:pt x="120000" y="120000"/>
                </a:lnTo>
                <a:lnTo>
                  <a:pt x="0" y="120000"/>
                </a:lnTo>
                <a:close/>
              </a:path>
              <a:path extrusionOk="0" fill="none" h="120000" w="120000">
                <a:moveTo>
                  <a:pt x="-5435" y="0"/>
                </a:moveTo>
                <a:close/>
                <a:lnTo>
                  <a:pt x="-5435" y="120000"/>
                </a:lnTo>
              </a:path>
              <a:path extrusionOk="0" fill="none" h="120000" w="120000">
                <a:moveTo>
                  <a:pt x="-5435" y="59366"/>
                </a:moveTo>
                <a:lnTo>
                  <a:pt x="-68206" y="-95746"/>
                </a:lnTo>
              </a:path>
            </a:pathLst>
          </a:custGeom>
          <a:gradFill>
            <a:gsLst>
              <a:gs pos="0">
                <a:srgbClr val="76D7DE"/>
              </a:gs>
              <a:gs pos="100000">
                <a:srgbClr val="97F0F7"/>
              </a:gs>
            </a:gsLst>
            <a:path path="circle">
              <a:fillToRect b="50%" l="50%" r="50%" t="50%"/>
            </a:path>
            <a:tileRect/>
          </a:gra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600">
                <a:solidFill>
                  <a:schemeClr val="dk1"/>
                </a:solidFill>
                <a:latin typeface="Arial"/>
                <a:ea typeface="Arial"/>
                <a:cs typeface="Arial"/>
                <a:sym typeface="Arial"/>
              </a:rPr>
              <a:t>z=1,25</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48"/>
          <p:cNvSpPr txBox="1"/>
          <p:nvPr>
            <p:ph type="title"/>
          </p:nvPr>
        </p:nvSpPr>
        <p:spPr>
          <a:xfrm>
            <a:off x="457200" y="202630"/>
            <a:ext cx="7467600" cy="490066"/>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rgbClr val="0C0C0C"/>
              </a:buClr>
              <a:buSzPts val="3200"/>
              <a:buFont typeface="Twentieth Century"/>
              <a:buNone/>
            </a:pPr>
            <a:r>
              <a:rPr lang="tr-TR" sz="3200"/>
              <a:t>ÖRNEK 2</a:t>
            </a:r>
            <a:endParaRPr/>
          </a:p>
        </p:txBody>
      </p:sp>
      <p:sp>
        <p:nvSpPr>
          <p:cNvPr id="508" name="Google Shape;508;p48"/>
          <p:cNvSpPr txBox="1"/>
          <p:nvPr>
            <p:ph idx="1" type="body"/>
          </p:nvPr>
        </p:nvSpPr>
        <p:spPr>
          <a:xfrm>
            <a:off x="457200" y="748736"/>
            <a:ext cx="8075240" cy="2176208"/>
          </a:xfrm>
          <a:prstGeom prst="rect">
            <a:avLst/>
          </a:prstGeom>
          <a:blipFill rotWithShape="1">
            <a:blip r:embed="rId3">
              <a:alphaModFix/>
            </a:blip>
            <a:stretch>
              <a:fillRect b="0" l="-226" r="-679" t="-840"/>
            </a:stretch>
          </a:blip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 </a:t>
            </a:r>
            <a:endParaRPr/>
          </a:p>
        </p:txBody>
      </p:sp>
      <p:grpSp>
        <p:nvGrpSpPr>
          <p:cNvPr id="509" name="Google Shape;509;p48"/>
          <p:cNvGrpSpPr/>
          <p:nvPr/>
        </p:nvGrpSpPr>
        <p:grpSpPr>
          <a:xfrm>
            <a:off x="510056" y="3017278"/>
            <a:ext cx="6912768" cy="2424504"/>
            <a:chOff x="1156" y="2033"/>
            <a:chExt cx="3221" cy="1760"/>
          </a:xfrm>
        </p:grpSpPr>
        <p:sp>
          <p:nvSpPr>
            <p:cNvPr id="510" name="Google Shape;510;p48"/>
            <p:cNvSpPr/>
            <p:nvPr/>
          </p:nvSpPr>
          <p:spPr>
            <a:xfrm>
              <a:off x="1157" y="2033"/>
              <a:ext cx="3212" cy="1699"/>
            </a:xfrm>
            <a:custGeom>
              <a:rect b="b" l="l" r="r" t="t"/>
              <a:pathLst>
                <a:path extrusionOk="0" h="9062" w="17885">
                  <a:moveTo>
                    <a:pt x="0" y="9062"/>
                  </a:moveTo>
                  <a:lnTo>
                    <a:pt x="89" y="9059"/>
                  </a:lnTo>
                  <a:lnTo>
                    <a:pt x="179" y="9057"/>
                  </a:lnTo>
                  <a:lnTo>
                    <a:pt x="269" y="9053"/>
                  </a:lnTo>
                  <a:lnTo>
                    <a:pt x="359" y="9050"/>
                  </a:lnTo>
                  <a:lnTo>
                    <a:pt x="448" y="9046"/>
                  </a:lnTo>
                  <a:lnTo>
                    <a:pt x="539" y="9041"/>
                  </a:lnTo>
                  <a:lnTo>
                    <a:pt x="628" y="9036"/>
                  </a:lnTo>
                  <a:lnTo>
                    <a:pt x="718" y="9031"/>
                  </a:lnTo>
                  <a:lnTo>
                    <a:pt x="809" y="9024"/>
                  </a:lnTo>
                  <a:lnTo>
                    <a:pt x="898" y="9018"/>
                  </a:lnTo>
                  <a:lnTo>
                    <a:pt x="987" y="9011"/>
                  </a:lnTo>
                  <a:lnTo>
                    <a:pt x="1078" y="9002"/>
                  </a:lnTo>
                  <a:lnTo>
                    <a:pt x="1167" y="8993"/>
                  </a:lnTo>
                  <a:lnTo>
                    <a:pt x="1257" y="8984"/>
                  </a:lnTo>
                  <a:lnTo>
                    <a:pt x="1348" y="8972"/>
                  </a:lnTo>
                  <a:lnTo>
                    <a:pt x="1437" y="8961"/>
                  </a:lnTo>
                  <a:lnTo>
                    <a:pt x="1528" y="8948"/>
                  </a:lnTo>
                  <a:lnTo>
                    <a:pt x="1617" y="8934"/>
                  </a:lnTo>
                  <a:lnTo>
                    <a:pt x="1707" y="8918"/>
                  </a:lnTo>
                  <a:lnTo>
                    <a:pt x="1797" y="8901"/>
                  </a:lnTo>
                  <a:lnTo>
                    <a:pt x="1887" y="8883"/>
                  </a:lnTo>
                  <a:lnTo>
                    <a:pt x="1976" y="8862"/>
                  </a:lnTo>
                  <a:lnTo>
                    <a:pt x="2067" y="8842"/>
                  </a:lnTo>
                  <a:lnTo>
                    <a:pt x="2156" y="8817"/>
                  </a:lnTo>
                  <a:lnTo>
                    <a:pt x="2246" y="8793"/>
                  </a:lnTo>
                  <a:lnTo>
                    <a:pt x="2336" y="8764"/>
                  </a:lnTo>
                  <a:lnTo>
                    <a:pt x="2426" y="8734"/>
                  </a:lnTo>
                  <a:lnTo>
                    <a:pt x="2515" y="8702"/>
                  </a:lnTo>
                  <a:lnTo>
                    <a:pt x="2606" y="8667"/>
                  </a:lnTo>
                  <a:lnTo>
                    <a:pt x="2695" y="8630"/>
                  </a:lnTo>
                  <a:lnTo>
                    <a:pt x="2786" y="8589"/>
                  </a:lnTo>
                  <a:lnTo>
                    <a:pt x="2875" y="8547"/>
                  </a:lnTo>
                  <a:lnTo>
                    <a:pt x="2965" y="8501"/>
                  </a:lnTo>
                  <a:lnTo>
                    <a:pt x="3056" y="8451"/>
                  </a:lnTo>
                  <a:lnTo>
                    <a:pt x="3145" y="8399"/>
                  </a:lnTo>
                  <a:lnTo>
                    <a:pt x="3234" y="8342"/>
                  </a:lnTo>
                  <a:lnTo>
                    <a:pt x="3325" y="8283"/>
                  </a:lnTo>
                  <a:lnTo>
                    <a:pt x="3415" y="8219"/>
                  </a:lnTo>
                  <a:lnTo>
                    <a:pt x="3504" y="8152"/>
                  </a:lnTo>
                  <a:lnTo>
                    <a:pt x="3595" y="8081"/>
                  </a:lnTo>
                  <a:lnTo>
                    <a:pt x="3684" y="8005"/>
                  </a:lnTo>
                  <a:lnTo>
                    <a:pt x="3774" y="7924"/>
                  </a:lnTo>
                  <a:lnTo>
                    <a:pt x="3864" y="7840"/>
                  </a:lnTo>
                  <a:lnTo>
                    <a:pt x="3954" y="7751"/>
                  </a:lnTo>
                  <a:lnTo>
                    <a:pt x="4043" y="7658"/>
                  </a:lnTo>
                  <a:lnTo>
                    <a:pt x="4134" y="7559"/>
                  </a:lnTo>
                  <a:lnTo>
                    <a:pt x="4223" y="7456"/>
                  </a:lnTo>
                  <a:lnTo>
                    <a:pt x="4314" y="7348"/>
                  </a:lnTo>
                  <a:lnTo>
                    <a:pt x="4403" y="7236"/>
                  </a:lnTo>
                  <a:lnTo>
                    <a:pt x="4493" y="7118"/>
                  </a:lnTo>
                  <a:lnTo>
                    <a:pt x="4583" y="6995"/>
                  </a:lnTo>
                  <a:lnTo>
                    <a:pt x="4673" y="6867"/>
                  </a:lnTo>
                  <a:lnTo>
                    <a:pt x="4762" y="6734"/>
                  </a:lnTo>
                  <a:lnTo>
                    <a:pt x="4853" y="6597"/>
                  </a:lnTo>
                  <a:lnTo>
                    <a:pt x="4942" y="6454"/>
                  </a:lnTo>
                  <a:lnTo>
                    <a:pt x="5032" y="6307"/>
                  </a:lnTo>
                  <a:lnTo>
                    <a:pt x="5123" y="6155"/>
                  </a:lnTo>
                  <a:lnTo>
                    <a:pt x="5212" y="5999"/>
                  </a:lnTo>
                  <a:lnTo>
                    <a:pt x="5301" y="5838"/>
                  </a:lnTo>
                  <a:lnTo>
                    <a:pt x="5392" y="5673"/>
                  </a:lnTo>
                  <a:lnTo>
                    <a:pt x="5482" y="5504"/>
                  </a:lnTo>
                  <a:lnTo>
                    <a:pt x="5572" y="5331"/>
                  </a:lnTo>
                  <a:lnTo>
                    <a:pt x="5662" y="5155"/>
                  </a:lnTo>
                  <a:lnTo>
                    <a:pt x="5751" y="4975"/>
                  </a:lnTo>
                  <a:lnTo>
                    <a:pt x="5842" y="4793"/>
                  </a:lnTo>
                  <a:lnTo>
                    <a:pt x="5931" y="4608"/>
                  </a:lnTo>
                  <a:lnTo>
                    <a:pt x="6021" y="4420"/>
                  </a:lnTo>
                  <a:lnTo>
                    <a:pt x="6111" y="4231"/>
                  </a:lnTo>
                  <a:lnTo>
                    <a:pt x="6201" y="4040"/>
                  </a:lnTo>
                  <a:lnTo>
                    <a:pt x="6290" y="3848"/>
                  </a:lnTo>
                  <a:lnTo>
                    <a:pt x="6381" y="3655"/>
                  </a:lnTo>
                  <a:lnTo>
                    <a:pt x="6470" y="3462"/>
                  </a:lnTo>
                  <a:lnTo>
                    <a:pt x="6560" y="3270"/>
                  </a:lnTo>
                  <a:lnTo>
                    <a:pt x="6650" y="3078"/>
                  </a:lnTo>
                  <a:lnTo>
                    <a:pt x="6740" y="2888"/>
                  </a:lnTo>
                  <a:lnTo>
                    <a:pt x="6829" y="2699"/>
                  </a:lnTo>
                  <a:lnTo>
                    <a:pt x="6920" y="2513"/>
                  </a:lnTo>
                  <a:lnTo>
                    <a:pt x="7009" y="2329"/>
                  </a:lnTo>
                  <a:lnTo>
                    <a:pt x="7100" y="2149"/>
                  </a:lnTo>
                  <a:lnTo>
                    <a:pt x="7190" y="1973"/>
                  </a:lnTo>
                  <a:lnTo>
                    <a:pt x="7279" y="1801"/>
                  </a:lnTo>
                  <a:lnTo>
                    <a:pt x="7370" y="1634"/>
                  </a:lnTo>
                  <a:lnTo>
                    <a:pt x="7459" y="1472"/>
                  </a:lnTo>
                  <a:lnTo>
                    <a:pt x="7548" y="1317"/>
                  </a:lnTo>
                  <a:lnTo>
                    <a:pt x="7639" y="1168"/>
                  </a:lnTo>
                  <a:lnTo>
                    <a:pt x="7729" y="1027"/>
                  </a:lnTo>
                  <a:lnTo>
                    <a:pt x="7818" y="893"/>
                  </a:lnTo>
                  <a:lnTo>
                    <a:pt x="7909" y="766"/>
                  </a:lnTo>
                  <a:lnTo>
                    <a:pt x="7998" y="648"/>
                  </a:lnTo>
                  <a:lnTo>
                    <a:pt x="8088" y="539"/>
                  </a:lnTo>
                  <a:lnTo>
                    <a:pt x="8178" y="438"/>
                  </a:lnTo>
                  <a:lnTo>
                    <a:pt x="8268" y="348"/>
                  </a:lnTo>
                  <a:lnTo>
                    <a:pt x="8358" y="268"/>
                  </a:lnTo>
                  <a:lnTo>
                    <a:pt x="8448" y="198"/>
                  </a:lnTo>
                  <a:lnTo>
                    <a:pt x="8537" y="137"/>
                  </a:lnTo>
                  <a:lnTo>
                    <a:pt x="8628" y="88"/>
                  </a:lnTo>
                  <a:lnTo>
                    <a:pt x="8717" y="49"/>
                  </a:lnTo>
                  <a:lnTo>
                    <a:pt x="8807" y="22"/>
                  </a:lnTo>
                  <a:lnTo>
                    <a:pt x="8898" y="5"/>
                  </a:lnTo>
                  <a:lnTo>
                    <a:pt x="8987" y="0"/>
                  </a:lnTo>
                  <a:lnTo>
                    <a:pt x="9076" y="5"/>
                  </a:lnTo>
                  <a:lnTo>
                    <a:pt x="9167" y="22"/>
                  </a:lnTo>
                  <a:lnTo>
                    <a:pt x="9256" y="49"/>
                  </a:lnTo>
                  <a:lnTo>
                    <a:pt x="9346" y="88"/>
                  </a:lnTo>
                  <a:lnTo>
                    <a:pt x="9437" y="137"/>
                  </a:lnTo>
                  <a:lnTo>
                    <a:pt x="9526" y="198"/>
                  </a:lnTo>
                  <a:lnTo>
                    <a:pt x="9615" y="268"/>
                  </a:lnTo>
                  <a:lnTo>
                    <a:pt x="9706" y="348"/>
                  </a:lnTo>
                  <a:lnTo>
                    <a:pt x="9796" y="438"/>
                  </a:lnTo>
                  <a:lnTo>
                    <a:pt x="9886" y="539"/>
                  </a:lnTo>
                  <a:lnTo>
                    <a:pt x="9976" y="648"/>
                  </a:lnTo>
                  <a:lnTo>
                    <a:pt x="10065" y="766"/>
                  </a:lnTo>
                  <a:lnTo>
                    <a:pt x="10156" y="893"/>
                  </a:lnTo>
                  <a:lnTo>
                    <a:pt x="10245" y="1027"/>
                  </a:lnTo>
                  <a:lnTo>
                    <a:pt x="10335" y="1168"/>
                  </a:lnTo>
                  <a:lnTo>
                    <a:pt x="10425" y="1317"/>
                  </a:lnTo>
                  <a:lnTo>
                    <a:pt x="10515" y="1472"/>
                  </a:lnTo>
                  <a:lnTo>
                    <a:pt x="10604" y="1634"/>
                  </a:lnTo>
                  <a:lnTo>
                    <a:pt x="10695" y="1801"/>
                  </a:lnTo>
                  <a:lnTo>
                    <a:pt x="10784" y="1973"/>
                  </a:lnTo>
                  <a:lnTo>
                    <a:pt x="10874" y="2149"/>
                  </a:lnTo>
                  <a:lnTo>
                    <a:pt x="10964" y="2329"/>
                  </a:lnTo>
                  <a:lnTo>
                    <a:pt x="11054" y="2513"/>
                  </a:lnTo>
                  <a:lnTo>
                    <a:pt x="11145" y="2699"/>
                  </a:lnTo>
                  <a:lnTo>
                    <a:pt x="11234" y="2888"/>
                  </a:lnTo>
                  <a:lnTo>
                    <a:pt x="11323" y="3078"/>
                  </a:lnTo>
                  <a:lnTo>
                    <a:pt x="11414" y="3270"/>
                  </a:lnTo>
                  <a:lnTo>
                    <a:pt x="11504" y="3462"/>
                  </a:lnTo>
                  <a:lnTo>
                    <a:pt x="11593" y="3655"/>
                  </a:lnTo>
                  <a:lnTo>
                    <a:pt x="11684" y="3848"/>
                  </a:lnTo>
                  <a:lnTo>
                    <a:pt x="11773" y="4040"/>
                  </a:lnTo>
                  <a:lnTo>
                    <a:pt x="11863" y="4231"/>
                  </a:lnTo>
                  <a:lnTo>
                    <a:pt x="11953" y="4420"/>
                  </a:lnTo>
                  <a:lnTo>
                    <a:pt x="12043" y="4608"/>
                  </a:lnTo>
                  <a:lnTo>
                    <a:pt x="12132" y="4793"/>
                  </a:lnTo>
                  <a:lnTo>
                    <a:pt x="12223" y="4975"/>
                  </a:lnTo>
                  <a:lnTo>
                    <a:pt x="12312" y="5155"/>
                  </a:lnTo>
                  <a:lnTo>
                    <a:pt x="12402" y="5331"/>
                  </a:lnTo>
                  <a:lnTo>
                    <a:pt x="12492" y="5504"/>
                  </a:lnTo>
                  <a:lnTo>
                    <a:pt x="12582" y="5673"/>
                  </a:lnTo>
                  <a:lnTo>
                    <a:pt x="12672" y="5838"/>
                  </a:lnTo>
                  <a:lnTo>
                    <a:pt x="12762" y="5999"/>
                  </a:lnTo>
                  <a:lnTo>
                    <a:pt x="12851" y="6155"/>
                  </a:lnTo>
                  <a:lnTo>
                    <a:pt x="12942" y="6307"/>
                  </a:lnTo>
                  <a:lnTo>
                    <a:pt x="13031" y="6454"/>
                  </a:lnTo>
                  <a:lnTo>
                    <a:pt x="13121" y="6597"/>
                  </a:lnTo>
                  <a:lnTo>
                    <a:pt x="13212" y="6734"/>
                  </a:lnTo>
                  <a:lnTo>
                    <a:pt x="13301" y="6867"/>
                  </a:lnTo>
                  <a:lnTo>
                    <a:pt x="13390" y="6995"/>
                  </a:lnTo>
                  <a:lnTo>
                    <a:pt x="13481" y="7118"/>
                  </a:lnTo>
                  <a:lnTo>
                    <a:pt x="13571" y="7236"/>
                  </a:lnTo>
                  <a:lnTo>
                    <a:pt x="13660" y="7348"/>
                  </a:lnTo>
                  <a:lnTo>
                    <a:pt x="13751" y="7456"/>
                  </a:lnTo>
                  <a:lnTo>
                    <a:pt x="13840" y="7559"/>
                  </a:lnTo>
                  <a:lnTo>
                    <a:pt x="13931" y="7658"/>
                  </a:lnTo>
                  <a:lnTo>
                    <a:pt x="14020" y="7751"/>
                  </a:lnTo>
                  <a:lnTo>
                    <a:pt x="14110" y="7840"/>
                  </a:lnTo>
                  <a:lnTo>
                    <a:pt x="14200" y="7924"/>
                  </a:lnTo>
                  <a:lnTo>
                    <a:pt x="14290" y="8005"/>
                  </a:lnTo>
                  <a:lnTo>
                    <a:pt x="14379" y="8081"/>
                  </a:lnTo>
                  <a:lnTo>
                    <a:pt x="14470" y="8152"/>
                  </a:lnTo>
                  <a:lnTo>
                    <a:pt x="14559" y="8219"/>
                  </a:lnTo>
                  <a:lnTo>
                    <a:pt x="14649" y="8283"/>
                  </a:lnTo>
                  <a:lnTo>
                    <a:pt x="14739" y="8342"/>
                  </a:lnTo>
                  <a:lnTo>
                    <a:pt x="14829" y="8399"/>
                  </a:lnTo>
                  <a:lnTo>
                    <a:pt x="14918" y="8451"/>
                  </a:lnTo>
                  <a:lnTo>
                    <a:pt x="15009" y="8501"/>
                  </a:lnTo>
                  <a:lnTo>
                    <a:pt x="15098" y="8547"/>
                  </a:lnTo>
                  <a:lnTo>
                    <a:pt x="15188" y="8589"/>
                  </a:lnTo>
                  <a:lnTo>
                    <a:pt x="15279" y="8630"/>
                  </a:lnTo>
                  <a:lnTo>
                    <a:pt x="15368" y="8667"/>
                  </a:lnTo>
                  <a:lnTo>
                    <a:pt x="15459" y="8702"/>
                  </a:lnTo>
                  <a:lnTo>
                    <a:pt x="15548" y="8734"/>
                  </a:lnTo>
                  <a:lnTo>
                    <a:pt x="15637" y="8764"/>
                  </a:lnTo>
                  <a:lnTo>
                    <a:pt x="15728" y="8793"/>
                  </a:lnTo>
                  <a:lnTo>
                    <a:pt x="15818" y="8817"/>
                  </a:lnTo>
                  <a:lnTo>
                    <a:pt x="15907" y="8842"/>
                  </a:lnTo>
                  <a:lnTo>
                    <a:pt x="15998" y="8862"/>
                  </a:lnTo>
                  <a:lnTo>
                    <a:pt x="16087" y="8883"/>
                  </a:lnTo>
                  <a:lnTo>
                    <a:pt x="16177" y="8901"/>
                  </a:lnTo>
                  <a:lnTo>
                    <a:pt x="16267" y="8918"/>
                  </a:lnTo>
                  <a:lnTo>
                    <a:pt x="16357" y="8934"/>
                  </a:lnTo>
                  <a:lnTo>
                    <a:pt x="16446" y="8948"/>
                  </a:lnTo>
                  <a:lnTo>
                    <a:pt x="16537" y="8961"/>
                  </a:lnTo>
                  <a:lnTo>
                    <a:pt x="16626" y="8972"/>
                  </a:lnTo>
                  <a:lnTo>
                    <a:pt x="16717" y="8984"/>
                  </a:lnTo>
                  <a:lnTo>
                    <a:pt x="16806" y="8993"/>
                  </a:lnTo>
                  <a:lnTo>
                    <a:pt x="16896" y="9002"/>
                  </a:lnTo>
                  <a:lnTo>
                    <a:pt x="16986" y="9011"/>
                  </a:lnTo>
                  <a:lnTo>
                    <a:pt x="17076" y="9018"/>
                  </a:lnTo>
                  <a:lnTo>
                    <a:pt x="17165" y="9024"/>
                  </a:lnTo>
                  <a:lnTo>
                    <a:pt x="17256" y="9031"/>
                  </a:lnTo>
                  <a:lnTo>
                    <a:pt x="17345" y="9036"/>
                  </a:lnTo>
                  <a:lnTo>
                    <a:pt x="17435" y="9041"/>
                  </a:lnTo>
                  <a:lnTo>
                    <a:pt x="17526" y="9046"/>
                  </a:lnTo>
                  <a:lnTo>
                    <a:pt x="17615" y="9050"/>
                  </a:lnTo>
                  <a:lnTo>
                    <a:pt x="17704" y="9053"/>
                  </a:lnTo>
                  <a:lnTo>
                    <a:pt x="17795" y="9057"/>
                  </a:lnTo>
                  <a:lnTo>
                    <a:pt x="17885" y="9059"/>
                  </a:lnTo>
                </a:path>
              </a:pathLst>
            </a:custGeom>
            <a:solidFill>
              <a:srgbClr val="1482AB"/>
            </a:solidFill>
            <a:ln cap="flat" cmpd="sng" w="38100">
              <a:solidFill>
                <a:schemeClr val="lt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511" name="Google Shape;511;p48"/>
            <p:cNvCxnSpPr/>
            <p:nvPr/>
          </p:nvCxnSpPr>
          <p:spPr>
            <a:xfrm>
              <a:off x="1156" y="3793"/>
              <a:ext cx="3221" cy="0"/>
            </a:xfrm>
            <a:prstGeom prst="straightConnector1">
              <a:avLst/>
            </a:prstGeom>
            <a:solidFill>
              <a:srgbClr val="1482AB"/>
            </a:solidFill>
            <a:ln cap="flat" cmpd="sng" w="38100">
              <a:solidFill>
                <a:srgbClr val="FFE9FF"/>
              </a:solidFill>
              <a:prstDash val="solid"/>
              <a:round/>
              <a:headEnd len="med" w="med" type="none"/>
              <a:tailEnd len="med" w="med" type="none"/>
            </a:ln>
          </p:spPr>
        </p:cxnSp>
      </p:grpSp>
      <p:cxnSp>
        <p:nvCxnSpPr>
          <p:cNvPr id="512" name="Google Shape;512;p48"/>
          <p:cNvCxnSpPr/>
          <p:nvPr/>
        </p:nvCxnSpPr>
        <p:spPr>
          <a:xfrm flipH="1">
            <a:off x="3995935" y="3040923"/>
            <a:ext cx="36701" cy="2608567"/>
          </a:xfrm>
          <a:prstGeom prst="straightConnector1">
            <a:avLst/>
          </a:prstGeom>
          <a:noFill/>
          <a:ln cap="rnd" cmpd="sng" w="38100">
            <a:solidFill>
              <a:schemeClr val="lt1"/>
            </a:solidFill>
            <a:prstDash val="dot"/>
            <a:round/>
            <a:headEnd len="med" w="med" type="none"/>
            <a:tailEnd len="med" w="med" type="none"/>
          </a:ln>
        </p:spPr>
      </p:cxnSp>
      <p:cxnSp>
        <p:nvCxnSpPr>
          <p:cNvPr id="513" name="Google Shape;513;p48"/>
          <p:cNvCxnSpPr/>
          <p:nvPr/>
        </p:nvCxnSpPr>
        <p:spPr>
          <a:xfrm>
            <a:off x="2249742" y="4971292"/>
            <a:ext cx="0" cy="586589"/>
          </a:xfrm>
          <a:prstGeom prst="straightConnector1">
            <a:avLst/>
          </a:prstGeom>
          <a:noFill/>
          <a:ln cap="rnd" cmpd="sng" w="38100">
            <a:solidFill>
              <a:schemeClr val="lt1"/>
            </a:solidFill>
            <a:prstDash val="solid"/>
            <a:round/>
            <a:headEnd len="med" w="med" type="none"/>
            <a:tailEnd len="med" w="med" type="none"/>
          </a:ln>
        </p:spPr>
      </p:cxnSp>
      <p:sp>
        <p:nvSpPr>
          <p:cNvPr id="514" name="Google Shape;514;p48"/>
          <p:cNvSpPr txBox="1"/>
          <p:nvPr/>
        </p:nvSpPr>
        <p:spPr>
          <a:xfrm>
            <a:off x="1763688" y="5461513"/>
            <a:ext cx="51845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Arial"/>
                <a:ea typeface="Arial"/>
                <a:cs typeface="Arial"/>
                <a:sym typeface="Arial"/>
              </a:rPr>
              <a:t>36                              54                                         x</a:t>
            </a:r>
            <a:endParaRPr/>
          </a:p>
        </p:txBody>
      </p:sp>
      <p:cxnSp>
        <p:nvCxnSpPr>
          <p:cNvPr id="515" name="Google Shape;515;p48"/>
          <p:cNvCxnSpPr/>
          <p:nvPr/>
        </p:nvCxnSpPr>
        <p:spPr>
          <a:xfrm>
            <a:off x="1223627" y="5811113"/>
            <a:ext cx="5256584" cy="0"/>
          </a:xfrm>
          <a:prstGeom prst="straightConnector1">
            <a:avLst/>
          </a:prstGeom>
          <a:noFill/>
          <a:ln cap="flat" cmpd="sng" w="28575">
            <a:solidFill>
              <a:schemeClr val="accent1"/>
            </a:solidFill>
            <a:prstDash val="solid"/>
            <a:round/>
            <a:headEnd len="sm" w="sm" type="none"/>
            <a:tailEnd len="sm" w="sm" type="none"/>
          </a:ln>
        </p:spPr>
      </p:cxnSp>
      <p:sp>
        <p:nvSpPr>
          <p:cNvPr id="516" name="Google Shape;516;p48"/>
          <p:cNvSpPr txBox="1"/>
          <p:nvPr/>
        </p:nvSpPr>
        <p:spPr>
          <a:xfrm>
            <a:off x="683568" y="5927093"/>
            <a:ext cx="61471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Arial"/>
                <a:ea typeface="Arial"/>
                <a:cs typeface="Arial"/>
                <a:sym typeface="Arial"/>
              </a:rPr>
              <a:t>           -3         -2          -1          0         1         2          3        z</a:t>
            </a:r>
            <a:endParaRPr/>
          </a:p>
        </p:txBody>
      </p:sp>
      <p:sp>
        <p:nvSpPr>
          <p:cNvPr id="517" name="Google Shape;517;p48"/>
          <p:cNvSpPr/>
          <p:nvPr/>
        </p:nvSpPr>
        <p:spPr>
          <a:xfrm>
            <a:off x="2195736" y="5834760"/>
            <a:ext cx="108012" cy="92333"/>
          </a:xfrm>
          <a:prstGeom prst="ellipse">
            <a:avLst/>
          </a:prstGeom>
          <a:solidFill>
            <a:schemeClr val="accent1"/>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8" name="Google Shape;518;p48"/>
          <p:cNvSpPr/>
          <p:nvPr/>
        </p:nvSpPr>
        <p:spPr>
          <a:xfrm>
            <a:off x="4160401" y="4695628"/>
            <a:ext cx="648072" cy="288032"/>
          </a:xfrm>
          <a:custGeom>
            <a:rect b="b" l="l" r="r" t="t"/>
            <a:pathLst>
              <a:path extrusionOk="0" h="120000" w="120000">
                <a:moveTo>
                  <a:pt x="0" y="0"/>
                </a:moveTo>
                <a:lnTo>
                  <a:pt x="120000" y="0"/>
                </a:lnTo>
                <a:lnTo>
                  <a:pt x="120000" y="120000"/>
                </a:lnTo>
                <a:lnTo>
                  <a:pt x="0" y="120000"/>
                </a:lnTo>
                <a:close/>
              </a:path>
              <a:path extrusionOk="0" fill="none" h="120000" w="120000">
                <a:moveTo>
                  <a:pt x="119912" y="0"/>
                </a:moveTo>
                <a:close/>
                <a:lnTo>
                  <a:pt x="119912" y="120000"/>
                </a:lnTo>
              </a:path>
              <a:path extrusionOk="0" fill="none" h="120000" w="120000">
                <a:moveTo>
                  <a:pt x="119912" y="37861"/>
                </a:moveTo>
                <a:lnTo>
                  <a:pt x="111299" y="27472"/>
                </a:lnTo>
              </a:path>
            </a:pathLst>
          </a:custGeom>
          <a:gradFill>
            <a:gsLst>
              <a:gs pos="0">
                <a:srgbClr val="76D7DE"/>
              </a:gs>
              <a:gs pos="100000">
                <a:srgbClr val="97F0F7"/>
              </a:gs>
            </a:gsLst>
            <a:path path="circle">
              <a:fillToRect b="50%" l="50%" r="50%" t="50%"/>
            </a:path>
            <a:tileRect/>
          </a:gra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600">
                <a:solidFill>
                  <a:schemeClr val="dk1"/>
                </a:solidFill>
                <a:latin typeface="Arial"/>
                <a:ea typeface="Arial"/>
                <a:cs typeface="Arial"/>
                <a:sym typeface="Arial"/>
              </a:rPr>
              <a:t>%50</a:t>
            </a:r>
            <a:endParaRPr/>
          </a:p>
        </p:txBody>
      </p:sp>
      <p:sp>
        <p:nvSpPr>
          <p:cNvPr id="519" name="Google Shape;519;p48"/>
          <p:cNvSpPr/>
          <p:nvPr/>
        </p:nvSpPr>
        <p:spPr>
          <a:xfrm>
            <a:off x="4217621" y="2724888"/>
            <a:ext cx="2437680" cy="976176"/>
          </a:xfrm>
          <a:custGeom>
            <a:rect b="b" l="l" r="r" t="t"/>
            <a:pathLst>
              <a:path extrusionOk="0" h="120000" w="120000">
                <a:moveTo>
                  <a:pt x="0" y="0"/>
                </a:moveTo>
                <a:lnTo>
                  <a:pt x="120000" y="0"/>
                </a:lnTo>
                <a:lnTo>
                  <a:pt x="120000" y="120000"/>
                </a:lnTo>
                <a:lnTo>
                  <a:pt x="0" y="120000"/>
                </a:lnTo>
                <a:close/>
              </a:path>
              <a:path extrusionOk="0" fill="none" h="120000" w="120000">
                <a:moveTo>
                  <a:pt x="-3698" y="0"/>
                </a:moveTo>
                <a:close/>
                <a:lnTo>
                  <a:pt x="-3698" y="120000"/>
                </a:lnTo>
              </a:path>
              <a:path extrusionOk="0" fill="none" h="120000" w="120000">
                <a:moveTo>
                  <a:pt x="-3698" y="55534"/>
                </a:moveTo>
                <a:lnTo>
                  <a:pt x="-37571" y="243134"/>
                </a:lnTo>
              </a:path>
            </a:pathLst>
          </a:custGeom>
          <a:gradFill>
            <a:gsLst>
              <a:gs pos="0">
                <a:srgbClr val="76D7DE"/>
              </a:gs>
              <a:gs pos="100000">
                <a:srgbClr val="97F0F7"/>
              </a:gs>
            </a:gsLst>
            <a:path path="circle">
              <a:fillToRect b="50%" l="50%" r="50%" t="50%"/>
            </a:path>
            <a:tileRect/>
          </a:gra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600">
                <a:solidFill>
                  <a:schemeClr val="dk1"/>
                </a:solidFill>
                <a:latin typeface="Arial"/>
                <a:ea typeface="Arial"/>
                <a:cs typeface="Arial"/>
                <a:sym typeface="Arial"/>
              </a:rPr>
              <a:t>z(-2,25) tablo değeri 0,4878 z değeri ile ortalama alan arası demektir.</a:t>
            </a:r>
            <a:endParaRPr/>
          </a:p>
        </p:txBody>
      </p:sp>
      <p:sp>
        <p:nvSpPr>
          <p:cNvPr id="520" name="Google Shape;520;p48"/>
          <p:cNvSpPr/>
          <p:nvPr/>
        </p:nvSpPr>
        <p:spPr>
          <a:xfrm>
            <a:off x="2852191" y="6228020"/>
            <a:ext cx="999729" cy="369332"/>
          </a:xfrm>
          <a:custGeom>
            <a:rect b="b" l="l" r="r" t="t"/>
            <a:pathLst>
              <a:path extrusionOk="0" h="120000" w="120000">
                <a:moveTo>
                  <a:pt x="0" y="0"/>
                </a:moveTo>
                <a:lnTo>
                  <a:pt x="120000" y="0"/>
                </a:lnTo>
                <a:lnTo>
                  <a:pt x="120000" y="120000"/>
                </a:lnTo>
                <a:lnTo>
                  <a:pt x="0" y="120000"/>
                </a:lnTo>
                <a:close/>
              </a:path>
              <a:path extrusionOk="0" fill="none" h="120000" w="120000">
                <a:moveTo>
                  <a:pt x="-5435" y="0"/>
                </a:moveTo>
                <a:close/>
                <a:lnTo>
                  <a:pt x="-5435" y="120000"/>
                </a:lnTo>
              </a:path>
              <a:path extrusionOk="0" fill="none" h="120000" w="120000">
                <a:moveTo>
                  <a:pt x="-5435" y="59366"/>
                </a:moveTo>
                <a:lnTo>
                  <a:pt x="-68206" y="-95746"/>
                </a:lnTo>
              </a:path>
            </a:pathLst>
          </a:custGeom>
          <a:gradFill>
            <a:gsLst>
              <a:gs pos="0">
                <a:srgbClr val="76D7DE"/>
              </a:gs>
              <a:gs pos="100000">
                <a:srgbClr val="97F0F7"/>
              </a:gs>
            </a:gsLst>
            <a:path path="circle">
              <a:fillToRect b="50%" l="50%" r="50%" t="50%"/>
            </a:path>
            <a:tileRect/>
          </a:gra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600">
                <a:solidFill>
                  <a:schemeClr val="dk1"/>
                </a:solidFill>
                <a:latin typeface="Arial"/>
                <a:ea typeface="Arial"/>
                <a:cs typeface="Arial"/>
                <a:sym typeface="Arial"/>
              </a:rPr>
              <a:t>z=-2,25</a:t>
            </a:r>
            <a:endParaRPr/>
          </a:p>
        </p:txBody>
      </p:sp>
      <p:sp>
        <p:nvSpPr>
          <p:cNvPr id="521" name="Google Shape;521;p48"/>
          <p:cNvSpPr/>
          <p:nvPr/>
        </p:nvSpPr>
        <p:spPr>
          <a:xfrm>
            <a:off x="605834" y="3021018"/>
            <a:ext cx="2670022" cy="1272078"/>
          </a:xfrm>
          <a:custGeom>
            <a:rect b="b" l="l" r="r" t="t"/>
            <a:pathLst>
              <a:path extrusionOk="0" h="120000" w="120000">
                <a:moveTo>
                  <a:pt x="0" y="0"/>
                </a:moveTo>
                <a:lnTo>
                  <a:pt x="120000" y="0"/>
                </a:lnTo>
                <a:lnTo>
                  <a:pt x="120000" y="120000"/>
                </a:lnTo>
                <a:lnTo>
                  <a:pt x="0" y="120000"/>
                </a:lnTo>
                <a:close/>
              </a:path>
              <a:path extrusionOk="0" fill="none" h="120000" w="120000">
                <a:moveTo>
                  <a:pt x="-3698" y="0"/>
                </a:moveTo>
                <a:close/>
                <a:lnTo>
                  <a:pt x="-3698" y="120000"/>
                </a:lnTo>
              </a:path>
              <a:path extrusionOk="0" fill="none" h="120000" w="120000">
                <a:moveTo>
                  <a:pt x="-3698" y="55534"/>
                </a:moveTo>
                <a:lnTo>
                  <a:pt x="63882" y="217800"/>
                </a:lnTo>
              </a:path>
            </a:pathLst>
          </a:custGeom>
          <a:gradFill>
            <a:gsLst>
              <a:gs pos="0">
                <a:srgbClr val="76D7DE"/>
              </a:gs>
              <a:gs pos="100000">
                <a:srgbClr val="97F0F7"/>
              </a:gs>
            </a:gsLst>
            <a:path path="circle">
              <a:fillToRect b="50%" l="50%" r="50%" t="50%"/>
            </a:path>
            <a:tileRect/>
          </a:gra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600">
                <a:solidFill>
                  <a:schemeClr val="dk1"/>
                </a:solidFill>
                <a:latin typeface="Arial"/>
                <a:ea typeface="Arial"/>
                <a:cs typeface="Arial"/>
                <a:sym typeface="Arial"/>
              </a:rPr>
              <a:t>Problemde sorulan alan :</a:t>
            </a:r>
            <a:endParaRPr/>
          </a:p>
          <a:p>
            <a:pPr indent="0" lvl="0" marL="0" marR="0" rtl="0" algn="ctr">
              <a:spcBef>
                <a:spcPts val="0"/>
              </a:spcBef>
              <a:spcAft>
                <a:spcPts val="0"/>
              </a:spcAft>
              <a:buNone/>
            </a:pPr>
            <a:r>
              <a:rPr lang="tr-TR" sz="1600">
                <a:solidFill>
                  <a:schemeClr val="dk1"/>
                </a:solidFill>
                <a:latin typeface="Arial"/>
                <a:ea typeface="Arial"/>
                <a:cs typeface="Arial"/>
                <a:sym typeface="Arial"/>
              </a:rPr>
              <a:t>36 aydan daha erken bozulma olasılığıdır.</a:t>
            </a:r>
            <a:endParaRPr/>
          </a:p>
          <a:p>
            <a:pPr indent="0" lvl="0" marL="0" marR="0" rtl="0" algn="ctr">
              <a:spcBef>
                <a:spcPts val="0"/>
              </a:spcBef>
              <a:spcAft>
                <a:spcPts val="0"/>
              </a:spcAft>
              <a:buNone/>
            </a:pPr>
            <a:r>
              <a:rPr lang="tr-TR" sz="1600">
                <a:solidFill>
                  <a:schemeClr val="dk1"/>
                </a:solidFill>
                <a:latin typeface="Arial"/>
                <a:ea typeface="Arial"/>
                <a:cs typeface="Arial"/>
                <a:sym typeface="Arial"/>
              </a:rPr>
              <a:t>0,5-0,4878 = 0,0122 bulunur.</a:t>
            </a:r>
            <a:endParaRPr/>
          </a:p>
        </p:txBody>
      </p:sp>
      <p:cxnSp>
        <p:nvCxnSpPr>
          <p:cNvPr id="522" name="Google Shape;522;p48"/>
          <p:cNvCxnSpPr>
            <a:stCxn id="510" idx="8"/>
          </p:cNvCxnSpPr>
          <p:nvPr/>
        </p:nvCxnSpPr>
        <p:spPr>
          <a:xfrm>
            <a:off x="1724386" y="5186516"/>
            <a:ext cx="402000" cy="175800"/>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cxnSp>
        <p:nvCxnSpPr>
          <p:cNvPr id="523" name="Google Shape;523;p48"/>
          <p:cNvCxnSpPr/>
          <p:nvPr/>
        </p:nvCxnSpPr>
        <p:spPr>
          <a:xfrm>
            <a:off x="1893077" y="5227269"/>
            <a:ext cx="402020" cy="79424"/>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cxnSp>
        <p:nvCxnSpPr>
          <p:cNvPr id="524" name="Google Shape;524;p48"/>
          <p:cNvCxnSpPr/>
          <p:nvPr/>
        </p:nvCxnSpPr>
        <p:spPr>
          <a:xfrm>
            <a:off x="1506594" y="5335842"/>
            <a:ext cx="402020" cy="79424"/>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cxnSp>
        <p:nvCxnSpPr>
          <p:cNvPr id="525" name="Google Shape;525;p48"/>
          <p:cNvCxnSpPr>
            <a:stCxn id="510" idx="10"/>
          </p:cNvCxnSpPr>
          <p:nvPr/>
        </p:nvCxnSpPr>
        <p:spPr>
          <a:xfrm>
            <a:off x="2001512" y="5042141"/>
            <a:ext cx="231300" cy="279300"/>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cxnSp>
        <p:nvCxnSpPr>
          <p:cNvPr id="526" name="Google Shape;526;p48"/>
          <p:cNvCxnSpPr/>
          <p:nvPr/>
        </p:nvCxnSpPr>
        <p:spPr>
          <a:xfrm>
            <a:off x="1853430" y="5273692"/>
            <a:ext cx="225747" cy="92085"/>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9"/>
          <p:cNvSpPr txBox="1"/>
          <p:nvPr>
            <p:ph type="title"/>
          </p:nvPr>
        </p:nvSpPr>
        <p:spPr>
          <a:xfrm>
            <a:off x="457200" y="202630"/>
            <a:ext cx="7467600" cy="490066"/>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rgbClr val="0C0C0C"/>
              </a:buClr>
              <a:buSzPts val="3200"/>
              <a:buFont typeface="Twentieth Century"/>
              <a:buNone/>
            </a:pPr>
            <a:r>
              <a:rPr lang="tr-TR" sz="3200"/>
              <a:t>ÖRNEK 3</a:t>
            </a:r>
            <a:endParaRPr/>
          </a:p>
        </p:txBody>
      </p:sp>
      <p:sp>
        <p:nvSpPr>
          <p:cNvPr id="532" name="Google Shape;532;p49"/>
          <p:cNvSpPr txBox="1"/>
          <p:nvPr>
            <p:ph idx="1" type="body"/>
          </p:nvPr>
        </p:nvSpPr>
        <p:spPr>
          <a:xfrm>
            <a:off x="457200" y="692696"/>
            <a:ext cx="8075240" cy="2176208"/>
          </a:xfrm>
          <a:prstGeom prst="rect">
            <a:avLst/>
          </a:prstGeom>
          <a:blipFill rotWithShape="1">
            <a:blip r:embed="rId3">
              <a:alphaModFix/>
            </a:blip>
            <a:stretch>
              <a:fillRect b="0" l="-1358" r="0" t="-3081"/>
            </a:stretch>
          </a:blip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 </a:t>
            </a:r>
            <a:endParaRPr/>
          </a:p>
        </p:txBody>
      </p:sp>
      <p:grpSp>
        <p:nvGrpSpPr>
          <p:cNvPr id="533" name="Google Shape;533;p49"/>
          <p:cNvGrpSpPr/>
          <p:nvPr/>
        </p:nvGrpSpPr>
        <p:grpSpPr>
          <a:xfrm>
            <a:off x="605834" y="3184041"/>
            <a:ext cx="6912768" cy="2360620"/>
            <a:chOff x="1156" y="2033"/>
            <a:chExt cx="3221" cy="1760"/>
          </a:xfrm>
        </p:grpSpPr>
        <p:sp>
          <p:nvSpPr>
            <p:cNvPr id="534" name="Google Shape;534;p49"/>
            <p:cNvSpPr/>
            <p:nvPr/>
          </p:nvSpPr>
          <p:spPr>
            <a:xfrm>
              <a:off x="1157" y="2033"/>
              <a:ext cx="3212" cy="1699"/>
            </a:xfrm>
            <a:custGeom>
              <a:rect b="b" l="l" r="r" t="t"/>
              <a:pathLst>
                <a:path extrusionOk="0" h="9062" w="17885">
                  <a:moveTo>
                    <a:pt x="0" y="9062"/>
                  </a:moveTo>
                  <a:lnTo>
                    <a:pt x="89" y="9059"/>
                  </a:lnTo>
                  <a:lnTo>
                    <a:pt x="179" y="9057"/>
                  </a:lnTo>
                  <a:lnTo>
                    <a:pt x="269" y="9053"/>
                  </a:lnTo>
                  <a:lnTo>
                    <a:pt x="359" y="9050"/>
                  </a:lnTo>
                  <a:lnTo>
                    <a:pt x="448" y="9046"/>
                  </a:lnTo>
                  <a:lnTo>
                    <a:pt x="539" y="9041"/>
                  </a:lnTo>
                  <a:lnTo>
                    <a:pt x="628" y="9036"/>
                  </a:lnTo>
                  <a:lnTo>
                    <a:pt x="718" y="9031"/>
                  </a:lnTo>
                  <a:lnTo>
                    <a:pt x="809" y="9024"/>
                  </a:lnTo>
                  <a:lnTo>
                    <a:pt x="898" y="9018"/>
                  </a:lnTo>
                  <a:lnTo>
                    <a:pt x="987" y="9011"/>
                  </a:lnTo>
                  <a:lnTo>
                    <a:pt x="1078" y="9002"/>
                  </a:lnTo>
                  <a:lnTo>
                    <a:pt x="1167" y="8993"/>
                  </a:lnTo>
                  <a:lnTo>
                    <a:pt x="1257" y="8984"/>
                  </a:lnTo>
                  <a:lnTo>
                    <a:pt x="1348" y="8972"/>
                  </a:lnTo>
                  <a:lnTo>
                    <a:pt x="1437" y="8961"/>
                  </a:lnTo>
                  <a:lnTo>
                    <a:pt x="1528" y="8948"/>
                  </a:lnTo>
                  <a:lnTo>
                    <a:pt x="1617" y="8934"/>
                  </a:lnTo>
                  <a:lnTo>
                    <a:pt x="1707" y="8918"/>
                  </a:lnTo>
                  <a:lnTo>
                    <a:pt x="1797" y="8901"/>
                  </a:lnTo>
                  <a:lnTo>
                    <a:pt x="1887" y="8883"/>
                  </a:lnTo>
                  <a:lnTo>
                    <a:pt x="1976" y="8862"/>
                  </a:lnTo>
                  <a:lnTo>
                    <a:pt x="2067" y="8842"/>
                  </a:lnTo>
                  <a:lnTo>
                    <a:pt x="2156" y="8817"/>
                  </a:lnTo>
                  <a:lnTo>
                    <a:pt x="2246" y="8793"/>
                  </a:lnTo>
                  <a:lnTo>
                    <a:pt x="2336" y="8764"/>
                  </a:lnTo>
                  <a:lnTo>
                    <a:pt x="2426" y="8734"/>
                  </a:lnTo>
                  <a:lnTo>
                    <a:pt x="2515" y="8702"/>
                  </a:lnTo>
                  <a:lnTo>
                    <a:pt x="2606" y="8667"/>
                  </a:lnTo>
                  <a:lnTo>
                    <a:pt x="2695" y="8630"/>
                  </a:lnTo>
                  <a:lnTo>
                    <a:pt x="2786" y="8589"/>
                  </a:lnTo>
                  <a:lnTo>
                    <a:pt x="2875" y="8547"/>
                  </a:lnTo>
                  <a:lnTo>
                    <a:pt x="2965" y="8501"/>
                  </a:lnTo>
                  <a:lnTo>
                    <a:pt x="3056" y="8451"/>
                  </a:lnTo>
                  <a:lnTo>
                    <a:pt x="3145" y="8399"/>
                  </a:lnTo>
                  <a:lnTo>
                    <a:pt x="3234" y="8342"/>
                  </a:lnTo>
                  <a:lnTo>
                    <a:pt x="3325" y="8283"/>
                  </a:lnTo>
                  <a:lnTo>
                    <a:pt x="3415" y="8219"/>
                  </a:lnTo>
                  <a:lnTo>
                    <a:pt x="3504" y="8152"/>
                  </a:lnTo>
                  <a:lnTo>
                    <a:pt x="3595" y="8081"/>
                  </a:lnTo>
                  <a:lnTo>
                    <a:pt x="3684" y="8005"/>
                  </a:lnTo>
                  <a:lnTo>
                    <a:pt x="3774" y="7924"/>
                  </a:lnTo>
                  <a:lnTo>
                    <a:pt x="3864" y="7840"/>
                  </a:lnTo>
                  <a:lnTo>
                    <a:pt x="3954" y="7751"/>
                  </a:lnTo>
                  <a:lnTo>
                    <a:pt x="4043" y="7658"/>
                  </a:lnTo>
                  <a:lnTo>
                    <a:pt x="4134" y="7559"/>
                  </a:lnTo>
                  <a:lnTo>
                    <a:pt x="4223" y="7456"/>
                  </a:lnTo>
                  <a:lnTo>
                    <a:pt x="4314" y="7348"/>
                  </a:lnTo>
                  <a:lnTo>
                    <a:pt x="4403" y="7236"/>
                  </a:lnTo>
                  <a:lnTo>
                    <a:pt x="4493" y="7118"/>
                  </a:lnTo>
                  <a:lnTo>
                    <a:pt x="4583" y="6995"/>
                  </a:lnTo>
                  <a:lnTo>
                    <a:pt x="4673" y="6867"/>
                  </a:lnTo>
                  <a:lnTo>
                    <a:pt x="4762" y="6734"/>
                  </a:lnTo>
                  <a:lnTo>
                    <a:pt x="4853" y="6597"/>
                  </a:lnTo>
                  <a:lnTo>
                    <a:pt x="4942" y="6454"/>
                  </a:lnTo>
                  <a:lnTo>
                    <a:pt x="5032" y="6307"/>
                  </a:lnTo>
                  <a:lnTo>
                    <a:pt x="5123" y="6155"/>
                  </a:lnTo>
                  <a:lnTo>
                    <a:pt x="5212" y="5999"/>
                  </a:lnTo>
                  <a:lnTo>
                    <a:pt x="5301" y="5838"/>
                  </a:lnTo>
                  <a:lnTo>
                    <a:pt x="5392" y="5673"/>
                  </a:lnTo>
                  <a:lnTo>
                    <a:pt x="5482" y="5504"/>
                  </a:lnTo>
                  <a:lnTo>
                    <a:pt x="5572" y="5331"/>
                  </a:lnTo>
                  <a:lnTo>
                    <a:pt x="5662" y="5155"/>
                  </a:lnTo>
                  <a:lnTo>
                    <a:pt x="5751" y="4975"/>
                  </a:lnTo>
                  <a:lnTo>
                    <a:pt x="5842" y="4793"/>
                  </a:lnTo>
                  <a:lnTo>
                    <a:pt x="5931" y="4608"/>
                  </a:lnTo>
                  <a:lnTo>
                    <a:pt x="6021" y="4420"/>
                  </a:lnTo>
                  <a:lnTo>
                    <a:pt x="6111" y="4231"/>
                  </a:lnTo>
                  <a:lnTo>
                    <a:pt x="6201" y="4040"/>
                  </a:lnTo>
                  <a:lnTo>
                    <a:pt x="6290" y="3848"/>
                  </a:lnTo>
                  <a:lnTo>
                    <a:pt x="6381" y="3655"/>
                  </a:lnTo>
                  <a:lnTo>
                    <a:pt x="6470" y="3462"/>
                  </a:lnTo>
                  <a:lnTo>
                    <a:pt x="6560" y="3270"/>
                  </a:lnTo>
                  <a:lnTo>
                    <a:pt x="6650" y="3078"/>
                  </a:lnTo>
                  <a:lnTo>
                    <a:pt x="6740" y="2888"/>
                  </a:lnTo>
                  <a:lnTo>
                    <a:pt x="6829" y="2699"/>
                  </a:lnTo>
                  <a:lnTo>
                    <a:pt x="6920" y="2513"/>
                  </a:lnTo>
                  <a:lnTo>
                    <a:pt x="7009" y="2329"/>
                  </a:lnTo>
                  <a:lnTo>
                    <a:pt x="7100" y="2149"/>
                  </a:lnTo>
                  <a:lnTo>
                    <a:pt x="7190" y="1973"/>
                  </a:lnTo>
                  <a:lnTo>
                    <a:pt x="7279" y="1801"/>
                  </a:lnTo>
                  <a:lnTo>
                    <a:pt x="7370" y="1634"/>
                  </a:lnTo>
                  <a:lnTo>
                    <a:pt x="7459" y="1472"/>
                  </a:lnTo>
                  <a:lnTo>
                    <a:pt x="7548" y="1317"/>
                  </a:lnTo>
                  <a:lnTo>
                    <a:pt x="7639" y="1168"/>
                  </a:lnTo>
                  <a:lnTo>
                    <a:pt x="7729" y="1027"/>
                  </a:lnTo>
                  <a:lnTo>
                    <a:pt x="7818" y="893"/>
                  </a:lnTo>
                  <a:lnTo>
                    <a:pt x="7909" y="766"/>
                  </a:lnTo>
                  <a:lnTo>
                    <a:pt x="7998" y="648"/>
                  </a:lnTo>
                  <a:lnTo>
                    <a:pt x="8088" y="539"/>
                  </a:lnTo>
                  <a:lnTo>
                    <a:pt x="8178" y="438"/>
                  </a:lnTo>
                  <a:lnTo>
                    <a:pt x="8268" y="348"/>
                  </a:lnTo>
                  <a:lnTo>
                    <a:pt x="8358" y="268"/>
                  </a:lnTo>
                  <a:lnTo>
                    <a:pt x="8448" y="198"/>
                  </a:lnTo>
                  <a:lnTo>
                    <a:pt x="8537" y="137"/>
                  </a:lnTo>
                  <a:lnTo>
                    <a:pt x="8628" y="88"/>
                  </a:lnTo>
                  <a:lnTo>
                    <a:pt x="8717" y="49"/>
                  </a:lnTo>
                  <a:lnTo>
                    <a:pt x="8807" y="22"/>
                  </a:lnTo>
                  <a:lnTo>
                    <a:pt x="8898" y="5"/>
                  </a:lnTo>
                  <a:lnTo>
                    <a:pt x="8987" y="0"/>
                  </a:lnTo>
                  <a:lnTo>
                    <a:pt x="9076" y="5"/>
                  </a:lnTo>
                  <a:lnTo>
                    <a:pt x="9167" y="22"/>
                  </a:lnTo>
                  <a:lnTo>
                    <a:pt x="9256" y="49"/>
                  </a:lnTo>
                  <a:lnTo>
                    <a:pt x="9346" y="88"/>
                  </a:lnTo>
                  <a:lnTo>
                    <a:pt x="9437" y="137"/>
                  </a:lnTo>
                  <a:lnTo>
                    <a:pt x="9526" y="198"/>
                  </a:lnTo>
                  <a:lnTo>
                    <a:pt x="9615" y="268"/>
                  </a:lnTo>
                  <a:lnTo>
                    <a:pt x="9706" y="348"/>
                  </a:lnTo>
                  <a:lnTo>
                    <a:pt x="9796" y="438"/>
                  </a:lnTo>
                  <a:lnTo>
                    <a:pt x="9886" y="539"/>
                  </a:lnTo>
                  <a:lnTo>
                    <a:pt x="9976" y="648"/>
                  </a:lnTo>
                  <a:lnTo>
                    <a:pt x="10065" y="766"/>
                  </a:lnTo>
                  <a:lnTo>
                    <a:pt x="10156" y="893"/>
                  </a:lnTo>
                  <a:lnTo>
                    <a:pt x="10245" y="1027"/>
                  </a:lnTo>
                  <a:lnTo>
                    <a:pt x="10335" y="1168"/>
                  </a:lnTo>
                  <a:lnTo>
                    <a:pt x="10425" y="1317"/>
                  </a:lnTo>
                  <a:lnTo>
                    <a:pt x="10515" y="1472"/>
                  </a:lnTo>
                  <a:lnTo>
                    <a:pt x="10604" y="1634"/>
                  </a:lnTo>
                  <a:lnTo>
                    <a:pt x="10695" y="1801"/>
                  </a:lnTo>
                  <a:lnTo>
                    <a:pt x="10784" y="1973"/>
                  </a:lnTo>
                  <a:lnTo>
                    <a:pt x="10874" y="2149"/>
                  </a:lnTo>
                  <a:lnTo>
                    <a:pt x="10964" y="2329"/>
                  </a:lnTo>
                  <a:lnTo>
                    <a:pt x="11054" y="2513"/>
                  </a:lnTo>
                  <a:lnTo>
                    <a:pt x="11145" y="2699"/>
                  </a:lnTo>
                  <a:lnTo>
                    <a:pt x="11234" y="2888"/>
                  </a:lnTo>
                  <a:lnTo>
                    <a:pt x="11323" y="3078"/>
                  </a:lnTo>
                  <a:lnTo>
                    <a:pt x="11414" y="3270"/>
                  </a:lnTo>
                  <a:lnTo>
                    <a:pt x="11504" y="3462"/>
                  </a:lnTo>
                  <a:lnTo>
                    <a:pt x="11593" y="3655"/>
                  </a:lnTo>
                  <a:lnTo>
                    <a:pt x="11684" y="3848"/>
                  </a:lnTo>
                  <a:lnTo>
                    <a:pt x="11773" y="4040"/>
                  </a:lnTo>
                  <a:lnTo>
                    <a:pt x="11863" y="4231"/>
                  </a:lnTo>
                  <a:lnTo>
                    <a:pt x="11953" y="4420"/>
                  </a:lnTo>
                  <a:lnTo>
                    <a:pt x="12043" y="4608"/>
                  </a:lnTo>
                  <a:lnTo>
                    <a:pt x="12132" y="4793"/>
                  </a:lnTo>
                  <a:lnTo>
                    <a:pt x="12223" y="4975"/>
                  </a:lnTo>
                  <a:lnTo>
                    <a:pt x="12312" y="5155"/>
                  </a:lnTo>
                  <a:lnTo>
                    <a:pt x="12402" y="5331"/>
                  </a:lnTo>
                  <a:lnTo>
                    <a:pt x="12492" y="5504"/>
                  </a:lnTo>
                  <a:lnTo>
                    <a:pt x="12582" y="5673"/>
                  </a:lnTo>
                  <a:lnTo>
                    <a:pt x="12672" y="5838"/>
                  </a:lnTo>
                  <a:lnTo>
                    <a:pt x="12762" y="5999"/>
                  </a:lnTo>
                  <a:lnTo>
                    <a:pt x="12851" y="6155"/>
                  </a:lnTo>
                  <a:lnTo>
                    <a:pt x="12942" y="6307"/>
                  </a:lnTo>
                  <a:lnTo>
                    <a:pt x="13031" y="6454"/>
                  </a:lnTo>
                  <a:lnTo>
                    <a:pt x="13121" y="6597"/>
                  </a:lnTo>
                  <a:lnTo>
                    <a:pt x="13212" y="6734"/>
                  </a:lnTo>
                  <a:lnTo>
                    <a:pt x="13301" y="6867"/>
                  </a:lnTo>
                  <a:lnTo>
                    <a:pt x="13390" y="6995"/>
                  </a:lnTo>
                  <a:lnTo>
                    <a:pt x="13481" y="7118"/>
                  </a:lnTo>
                  <a:lnTo>
                    <a:pt x="13571" y="7236"/>
                  </a:lnTo>
                  <a:lnTo>
                    <a:pt x="13660" y="7348"/>
                  </a:lnTo>
                  <a:lnTo>
                    <a:pt x="13751" y="7456"/>
                  </a:lnTo>
                  <a:lnTo>
                    <a:pt x="13840" y="7559"/>
                  </a:lnTo>
                  <a:lnTo>
                    <a:pt x="13931" y="7658"/>
                  </a:lnTo>
                  <a:lnTo>
                    <a:pt x="14020" y="7751"/>
                  </a:lnTo>
                  <a:lnTo>
                    <a:pt x="14110" y="7840"/>
                  </a:lnTo>
                  <a:lnTo>
                    <a:pt x="14200" y="7924"/>
                  </a:lnTo>
                  <a:lnTo>
                    <a:pt x="14290" y="8005"/>
                  </a:lnTo>
                  <a:lnTo>
                    <a:pt x="14379" y="8081"/>
                  </a:lnTo>
                  <a:lnTo>
                    <a:pt x="14470" y="8152"/>
                  </a:lnTo>
                  <a:lnTo>
                    <a:pt x="14559" y="8219"/>
                  </a:lnTo>
                  <a:lnTo>
                    <a:pt x="14649" y="8283"/>
                  </a:lnTo>
                  <a:lnTo>
                    <a:pt x="14739" y="8342"/>
                  </a:lnTo>
                  <a:lnTo>
                    <a:pt x="14829" y="8399"/>
                  </a:lnTo>
                  <a:lnTo>
                    <a:pt x="14918" y="8451"/>
                  </a:lnTo>
                  <a:lnTo>
                    <a:pt x="15009" y="8501"/>
                  </a:lnTo>
                  <a:lnTo>
                    <a:pt x="15098" y="8547"/>
                  </a:lnTo>
                  <a:lnTo>
                    <a:pt x="15188" y="8589"/>
                  </a:lnTo>
                  <a:lnTo>
                    <a:pt x="15279" y="8630"/>
                  </a:lnTo>
                  <a:lnTo>
                    <a:pt x="15368" y="8667"/>
                  </a:lnTo>
                  <a:lnTo>
                    <a:pt x="15459" y="8702"/>
                  </a:lnTo>
                  <a:lnTo>
                    <a:pt x="15548" y="8734"/>
                  </a:lnTo>
                  <a:lnTo>
                    <a:pt x="15637" y="8764"/>
                  </a:lnTo>
                  <a:lnTo>
                    <a:pt x="15728" y="8793"/>
                  </a:lnTo>
                  <a:lnTo>
                    <a:pt x="15818" y="8817"/>
                  </a:lnTo>
                  <a:lnTo>
                    <a:pt x="15907" y="8842"/>
                  </a:lnTo>
                  <a:lnTo>
                    <a:pt x="15998" y="8862"/>
                  </a:lnTo>
                  <a:lnTo>
                    <a:pt x="16087" y="8883"/>
                  </a:lnTo>
                  <a:lnTo>
                    <a:pt x="16177" y="8901"/>
                  </a:lnTo>
                  <a:lnTo>
                    <a:pt x="16267" y="8918"/>
                  </a:lnTo>
                  <a:lnTo>
                    <a:pt x="16357" y="8934"/>
                  </a:lnTo>
                  <a:lnTo>
                    <a:pt x="16446" y="8948"/>
                  </a:lnTo>
                  <a:lnTo>
                    <a:pt x="16537" y="8961"/>
                  </a:lnTo>
                  <a:lnTo>
                    <a:pt x="16626" y="8972"/>
                  </a:lnTo>
                  <a:lnTo>
                    <a:pt x="16717" y="8984"/>
                  </a:lnTo>
                  <a:lnTo>
                    <a:pt x="16806" y="8993"/>
                  </a:lnTo>
                  <a:lnTo>
                    <a:pt x="16896" y="9002"/>
                  </a:lnTo>
                  <a:lnTo>
                    <a:pt x="16986" y="9011"/>
                  </a:lnTo>
                  <a:lnTo>
                    <a:pt x="17076" y="9018"/>
                  </a:lnTo>
                  <a:lnTo>
                    <a:pt x="17165" y="9024"/>
                  </a:lnTo>
                  <a:lnTo>
                    <a:pt x="17256" y="9031"/>
                  </a:lnTo>
                  <a:lnTo>
                    <a:pt x="17345" y="9036"/>
                  </a:lnTo>
                  <a:lnTo>
                    <a:pt x="17435" y="9041"/>
                  </a:lnTo>
                  <a:lnTo>
                    <a:pt x="17526" y="9046"/>
                  </a:lnTo>
                  <a:lnTo>
                    <a:pt x="17615" y="9050"/>
                  </a:lnTo>
                  <a:lnTo>
                    <a:pt x="17704" y="9053"/>
                  </a:lnTo>
                  <a:lnTo>
                    <a:pt x="17795" y="9057"/>
                  </a:lnTo>
                  <a:lnTo>
                    <a:pt x="17885" y="9059"/>
                  </a:lnTo>
                </a:path>
              </a:pathLst>
            </a:custGeom>
            <a:solidFill>
              <a:srgbClr val="1482AB"/>
            </a:solidFill>
            <a:ln cap="flat" cmpd="sng" w="38100">
              <a:solidFill>
                <a:schemeClr val="lt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535" name="Google Shape;535;p49"/>
            <p:cNvCxnSpPr/>
            <p:nvPr/>
          </p:nvCxnSpPr>
          <p:spPr>
            <a:xfrm>
              <a:off x="1156" y="3793"/>
              <a:ext cx="3221" cy="0"/>
            </a:xfrm>
            <a:prstGeom prst="straightConnector1">
              <a:avLst/>
            </a:prstGeom>
            <a:solidFill>
              <a:srgbClr val="1482AB"/>
            </a:solidFill>
            <a:ln cap="flat" cmpd="sng" w="38100">
              <a:solidFill>
                <a:srgbClr val="FFE9FF"/>
              </a:solidFill>
              <a:prstDash val="solid"/>
              <a:round/>
              <a:headEnd len="med" w="med" type="none"/>
              <a:tailEnd len="med" w="med" type="none"/>
            </a:ln>
          </p:spPr>
        </p:cxnSp>
      </p:grpSp>
      <p:cxnSp>
        <p:nvCxnSpPr>
          <p:cNvPr id="536" name="Google Shape;536;p49"/>
          <p:cNvCxnSpPr/>
          <p:nvPr/>
        </p:nvCxnSpPr>
        <p:spPr>
          <a:xfrm flipH="1">
            <a:off x="3995935" y="3169831"/>
            <a:ext cx="7953" cy="2479659"/>
          </a:xfrm>
          <a:prstGeom prst="straightConnector1">
            <a:avLst/>
          </a:prstGeom>
          <a:noFill/>
          <a:ln cap="rnd" cmpd="sng" w="38100">
            <a:solidFill>
              <a:schemeClr val="lt1"/>
            </a:solidFill>
            <a:prstDash val="dot"/>
            <a:round/>
            <a:headEnd len="med" w="med" type="none"/>
            <a:tailEnd len="med" w="med" type="none"/>
          </a:ln>
        </p:spPr>
      </p:cxnSp>
      <p:cxnSp>
        <p:nvCxnSpPr>
          <p:cNvPr id="537" name="Google Shape;537;p49"/>
          <p:cNvCxnSpPr/>
          <p:nvPr/>
        </p:nvCxnSpPr>
        <p:spPr>
          <a:xfrm flipH="1">
            <a:off x="3347864" y="4293096"/>
            <a:ext cx="15570" cy="1264785"/>
          </a:xfrm>
          <a:prstGeom prst="straightConnector1">
            <a:avLst/>
          </a:prstGeom>
          <a:noFill/>
          <a:ln cap="rnd" cmpd="sng" w="38100">
            <a:solidFill>
              <a:schemeClr val="lt1"/>
            </a:solidFill>
            <a:prstDash val="solid"/>
            <a:round/>
            <a:headEnd len="med" w="med" type="none"/>
            <a:tailEnd len="med" w="med" type="none"/>
          </a:ln>
        </p:spPr>
      </p:cxnSp>
      <p:sp>
        <p:nvSpPr>
          <p:cNvPr id="538" name="Google Shape;538;p49"/>
          <p:cNvSpPr txBox="1"/>
          <p:nvPr/>
        </p:nvSpPr>
        <p:spPr>
          <a:xfrm>
            <a:off x="1598712" y="5411389"/>
            <a:ext cx="51845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Arial"/>
                <a:ea typeface="Arial"/>
                <a:cs typeface="Arial"/>
                <a:sym typeface="Arial"/>
              </a:rPr>
              <a:t>                       5          9                                          x</a:t>
            </a:r>
            <a:endParaRPr/>
          </a:p>
        </p:txBody>
      </p:sp>
      <p:cxnSp>
        <p:nvCxnSpPr>
          <p:cNvPr id="539" name="Google Shape;539;p49"/>
          <p:cNvCxnSpPr/>
          <p:nvPr/>
        </p:nvCxnSpPr>
        <p:spPr>
          <a:xfrm>
            <a:off x="1259632" y="5770138"/>
            <a:ext cx="5256584" cy="0"/>
          </a:xfrm>
          <a:prstGeom prst="straightConnector1">
            <a:avLst/>
          </a:prstGeom>
          <a:noFill/>
          <a:ln cap="flat" cmpd="sng" w="28575">
            <a:solidFill>
              <a:schemeClr val="accent1"/>
            </a:solidFill>
            <a:prstDash val="solid"/>
            <a:round/>
            <a:headEnd len="sm" w="sm" type="none"/>
            <a:tailEnd len="sm" w="sm" type="none"/>
          </a:ln>
        </p:spPr>
      </p:cxnSp>
      <p:sp>
        <p:nvSpPr>
          <p:cNvPr id="540" name="Google Shape;540;p49"/>
          <p:cNvSpPr txBox="1"/>
          <p:nvPr/>
        </p:nvSpPr>
        <p:spPr>
          <a:xfrm>
            <a:off x="892850" y="5927093"/>
            <a:ext cx="61471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Arial"/>
                <a:ea typeface="Arial"/>
                <a:cs typeface="Arial"/>
                <a:sym typeface="Arial"/>
              </a:rPr>
              <a:t>           -3         -2          -1          0         1         2          3        z</a:t>
            </a:r>
            <a:endParaRPr/>
          </a:p>
        </p:txBody>
      </p:sp>
      <p:sp>
        <p:nvSpPr>
          <p:cNvPr id="541" name="Google Shape;541;p49"/>
          <p:cNvSpPr/>
          <p:nvPr/>
        </p:nvSpPr>
        <p:spPr>
          <a:xfrm>
            <a:off x="3311860" y="5834760"/>
            <a:ext cx="108012" cy="92333"/>
          </a:xfrm>
          <a:prstGeom prst="ellipse">
            <a:avLst/>
          </a:prstGeom>
          <a:solidFill>
            <a:schemeClr val="accent1"/>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2" name="Google Shape;542;p49"/>
          <p:cNvSpPr/>
          <p:nvPr/>
        </p:nvSpPr>
        <p:spPr>
          <a:xfrm>
            <a:off x="4160401" y="4695628"/>
            <a:ext cx="648072" cy="288032"/>
          </a:xfrm>
          <a:custGeom>
            <a:rect b="b" l="l" r="r" t="t"/>
            <a:pathLst>
              <a:path extrusionOk="0" h="120000" w="120000">
                <a:moveTo>
                  <a:pt x="0" y="0"/>
                </a:moveTo>
                <a:lnTo>
                  <a:pt x="120000" y="0"/>
                </a:lnTo>
                <a:lnTo>
                  <a:pt x="120000" y="120000"/>
                </a:lnTo>
                <a:lnTo>
                  <a:pt x="0" y="120000"/>
                </a:lnTo>
                <a:close/>
              </a:path>
              <a:path extrusionOk="0" fill="none" h="120000" w="120000">
                <a:moveTo>
                  <a:pt x="119912" y="0"/>
                </a:moveTo>
                <a:close/>
                <a:lnTo>
                  <a:pt x="119912" y="120000"/>
                </a:lnTo>
              </a:path>
              <a:path extrusionOk="0" fill="none" h="120000" w="120000">
                <a:moveTo>
                  <a:pt x="119912" y="37861"/>
                </a:moveTo>
                <a:lnTo>
                  <a:pt x="111299" y="27472"/>
                </a:lnTo>
              </a:path>
            </a:pathLst>
          </a:custGeom>
          <a:gradFill>
            <a:gsLst>
              <a:gs pos="0">
                <a:srgbClr val="76D7DE"/>
              </a:gs>
              <a:gs pos="100000">
                <a:srgbClr val="97F0F7"/>
              </a:gs>
            </a:gsLst>
            <a:path path="circle">
              <a:fillToRect b="50%" l="50%" r="50%" t="50%"/>
            </a:path>
            <a:tileRect/>
          </a:gra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600">
                <a:solidFill>
                  <a:schemeClr val="dk1"/>
                </a:solidFill>
                <a:latin typeface="Arial"/>
                <a:ea typeface="Arial"/>
                <a:cs typeface="Arial"/>
                <a:sym typeface="Arial"/>
              </a:rPr>
              <a:t>%50</a:t>
            </a:r>
            <a:endParaRPr/>
          </a:p>
        </p:txBody>
      </p:sp>
      <p:sp>
        <p:nvSpPr>
          <p:cNvPr id="543" name="Google Shape;543;p49"/>
          <p:cNvSpPr/>
          <p:nvPr/>
        </p:nvSpPr>
        <p:spPr>
          <a:xfrm>
            <a:off x="4217621" y="2724888"/>
            <a:ext cx="2437680" cy="976176"/>
          </a:xfrm>
          <a:custGeom>
            <a:rect b="b" l="l" r="r" t="t"/>
            <a:pathLst>
              <a:path extrusionOk="0" h="120000" w="120000">
                <a:moveTo>
                  <a:pt x="0" y="0"/>
                </a:moveTo>
                <a:lnTo>
                  <a:pt x="120000" y="0"/>
                </a:lnTo>
                <a:lnTo>
                  <a:pt x="120000" y="120000"/>
                </a:lnTo>
                <a:lnTo>
                  <a:pt x="0" y="120000"/>
                </a:lnTo>
                <a:close/>
              </a:path>
              <a:path extrusionOk="0" fill="none" h="120000" w="120000">
                <a:moveTo>
                  <a:pt x="-3698" y="0"/>
                </a:moveTo>
                <a:close/>
                <a:lnTo>
                  <a:pt x="-3698" y="120000"/>
                </a:lnTo>
              </a:path>
              <a:path extrusionOk="0" fill="none" h="120000" w="120000">
                <a:moveTo>
                  <a:pt x="-3698" y="55534"/>
                </a:moveTo>
                <a:lnTo>
                  <a:pt x="-25955" y="248574"/>
                </a:lnTo>
              </a:path>
            </a:pathLst>
          </a:custGeom>
          <a:gradFill>
            <a:gsLst>
              <a:gs pos="0">
                <a:srgbClr val="76D7DE"/>
              </a:gs>
              <a:gs pos="100000">
                <a:srgbClr val="97F0F7"/>
              </a:gs>
            </a:gsLst>
            <a:path path="circle">
              <a:fillToRect b="50%" l="50%" r="50%" t="50%"/>
            </a:path>
            <a:tileRect/>
          </a:gra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600">
                <a:solidFill>
                  <a:schemeClr val="dk1"/>
                </a:solidFill>
                <a:latin typeface="Arial"/>
                <a:ea typeface="Arial"/>
                <a:cs typeface="Arial"/>
                <a:sym typeface="Arial"/>
              </a:rPr>
              <a:t>z(-1) tablo değeri 0,3413 z değeri ile ortalama alan arası demektir.</a:t>
            </a:r>
            <a:endParaRPr/>
          </a:p>
        </p:txBody>
      </p:sp>
      <p:sp>
        <p:nvSpPr>
          <p:cNvPr id="544" name="Google Shape;544;p49"/>
          <p:cNvSpPr/>
          <p:nvPr/>
        </p:nvSpPr>
        <p:spPr>
          <a:xfrm>
            <a:off x="3943428" y="6228020"/>
            <a:ext cx="999729" cy="369332"/>
          </a:xfrm>
          <a:custGeom>
            <a:rect b="b" l="l" r="r" t="t"/>
            <a:pathLst>
              <a:path extrusionOk="0" h="120000" w="120000">
                <a:moveTo>
                  <a:pt x="0" y="0"/>
                </a:moveTo>
                <a:lnTo>
                  <a:pt x="120000" y="0"/>
                </a:lnTo>
                <a:lnTo>
                  <a:pt x="120000" y="120000"/>
                </a:lnTo>
                <a:lnTo>
                  <a:pt x="0" y="120000"/>
                </a:lnTo>
                <a:close/>
              </a:path>
              <a:path extrusionOk="0" fill="none" h="120000" w="120000">
                <a:moveTo>
                  <a:pt x="-5435" y="0"/>
                </a:moveTo>
                <a:close/>
                <a:lnTo>
                  <a:pt x="-5435" y="120000"/>
                </a:lnTo>
              </a:path>
              <a:path extrusionOk="0" fill="none" h="120000" w="120000">
                <a:moveTo>
                  <a:pt x="-5435" y="59366"/>
                </a:moveTo>
                <a:lnTo>
                  <a:pt x="-68206" y="-95746"/>
                </a:lnTo>
              </a:path>
            </a:pathLst>
          </a:custGeom>
          <a:gradFill>
            <a:gsLst>
              <a:gs pos="0">
                <a:srgbClr val="76D7DE"/>
              </a:gs>
              <a:gs pos="100000">
                <a:srgbClr val="97F0F7"/>
              </a:gs>
            </a:gsLst>
            <a:path path="circle">
              <a:fillToRect b="50%" l="50%" r="50%" t="50%"/>
            </a:path>
            <a:tileRect/>
          </a:gra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600">
                <a:solidFill>
                  <a:schemeClr val="dk1"/>
                </a:solidFill>
                <a:latin typeface="Arial"/>
                <a:ea typeface="Arial"/>
                <a:cs typeface="Arial"/>
                <a:sym typeface="Arial"/>
              </a:rPr>
              <a:t>z=-1</a:t>
            </a:r>
            <a:endParaRPr/>
          </a:p>
        </p:txBody>
      </p:sp>
      <p:sp>
        <p:nvSpPr>
          <p:cNvPr id="545" name="Google Shape;545;p49"/>
          <p:cNvSpPr/>
          <p:nvPr/>
        </p:nvSpPr>
        <p:spPr>
          <a:xfrm>
            <a:off x="605834" y="3021018"/>
            <a:ext cx="2670022" cy="1272078"/>
          </a:xfrm>
          <a:custGeom>
            <a:rect b="b" l="l" r="r" t="t"/>
            <a:pathLst>
              <a:path extrusionOk="0" h="120000" w="120000">
                <a:moveTo>
                  <a:pt x="0" y="0"/>
                </a:moveTo>
                <a:lnTo>
                  <a:pt x="120000" y="0"/>
                </a:lnTo>
                <a:lnTo>
                  <a:pt x="120000" y="120000"/>
                </a:lnTo>
                <a:lnTo>
                  <a:pt x="0" y="120000"/>
                </a:lnTo>
                <a:close/>
              </a:path>
              <a:path extrusionOk="0" fill="none" h="120000" w="120000">
                <a:moveTo>
                  <a:pt x="-3698" y="0"/>
                </a:moveTo>
                <a:close/>
                <a:lnTo>
                  <a:pt x="-3698" y="120000"/>
                </a:lnTo>
              </a:path>
              <a:path extrusionOk="0" fill="none" h="120000" w="120000">
                <a:moveTo>
                  <a:pt x="-3698" y="55534"/>
                </a:moveTo>
                <a:lnTo>
                  <a:pt x="90396" y="199714"/>
                </a:lnTo>
              </a:path>
            </a:pathLst>
          </a:custGeom>
          <a:gradFill>
            <a:gsLst>
              <a:gs pos="0">
                <a:srgbClr val="76D7DE"/>
              </a:gs>
              <a:gs pos="100000">
                <a:srgbClr val="97F0F7"/>
              </a:gs>
            </a:gsLst>
            <a:path path="circle">
              <a:fillToRect b="50%" l="50%" r="50%" t="50%"/>
            </a:path>
            <a:tileRect/>
          </a:gra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600">
                <a:solidFill>
                  <a:schemeClr val="dk1"/>
                </a:solidFill>
                <a:latin typeface="Arial"/>
                <a:ea typeface="Arial"/>
                <a:cs typeface="Arial"/>
                <a:sym typeface="Arial"/>
              </a:rPr>
              <a:t>Problemde sorulan alan :</a:t>
            </a:r>
            <a:endParaRPr/>
          </a:p>
          <a:p>
            <a:pPr indent="0" lvl="0" marL="0" marR="0" rtl="0" algn="ctr">
              <a:spcBef>
                <a:spcPts val="0"/>
              </a:spcBef>
              <a:spcAft>
                <a:spcPts val="0"/>
              </a:spcAft>
              <a:buNone/>
            </a:pPr>
            <a:r>
              <a:rPr lang="tr-TR" sz="1600">
                <a:solidFill>
                  <a:schemeClr val="dk1"/>
                </a:solidFill>
                <a:latin typeface="Arial"/>
                <a:ea typeface="Arial"/>
                <a:cs typeface="Arial"/>
                <a:sym typeface="Arial"/>
              </a:rPr>
              <a:t>5 gün içinde bitmeolasılığıdır.</a:t>
            </a:r>
            <a:endParaRPr/>
          </a:p>
          <a:p>
            <a:pPr indent="0" lvl="0" marL="0" marR="0" rtl="0" algn="ctr">
              <a:spcBef>
                <a:spcPts val="0"/>
              </a:spcBef>
              <a:spcAft>
                <a:spcPts val="0"/>
              </a:spcAft>
              <a:buNone/>
            </a:pPr>
            <a:r>
              <a:rPr lang="tr-TR" sz="1600">
                <a:solidFill>
                  <a:schemeClr val="dk1"/>
                </a:solidFill>
                <a:latin typeface="Arial"/>
                <a:ea typeface="Arial"/>
                <a:cs typeface="Arial"/>
                <a:sym typeface="Arial"/>
              </a:rPr>
              <a:t>0,5-0,3413 = 0,1587 bulunur.</a:t>
            </a:r>
            <a:endParaRPr/>
          </a:p>
        </p:txBody>
      </p:sp>
      <p:cxnSp>
        <p:nvCxnSpPr>
          <p:cNvPr id="546" name="Google Shape;546;p49"/>
          <p:cNvCxnSpPr/>
          <p:nvPr/>
        </p:nvCxnSpPr>
        <p:spPr>
          <a:xfrm>
            <a:off x="2983998" y="4511041"/>
            <a:ext cx="331670" cy="326527"/>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cxnSp>
        <p:nvCxnSpPr>
          <p:cNvPr id="547" name="Google Shape;547;p49"/>
          <p:cNvCxnSpPr/>
          <p:nvPr/>
        </p:nvCxnSpPr>
        <p:spPr>
          <a:xfrm>
            <a:off x="3087543" y="4472053"/>
            <a:ext cx="178361" cy="186558"/>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cxnSp>
        <p:nvCxnSpPr>
          <p:cNvPr id="548" name="Google Shape;548;p49"/>
          <p:cNvCxnSpPr/>
          <p:nvPr/>
        </p:nvCxnSpPr>
        <p:spPr>
          <a:xfrm>
            <a:off x="2869298" y="4642272"/>
            <a:ext cx="478566" cy="451829"/>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cxnSp>
        <p:nvCxnSpPr>
          <p:cNvPr id="549" name="Google Shape;549;p49"/>
          <p:cNvCxnSpPr/>
          <p:nvPr/>
        </p:nvCxnSpPr>
        <p:spPr>
          <a:xfrm>
            <a:off x="2604562" y="4796065"/>
            <a:ext cx="661342" cy="540120"/>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cxnSp>
        <p:nvCxnSpPr>
          <p:cNvPr id="550" name="Google Shape;550;p49"/>
          <p:cNvCxnSpPr/>
          <p:nvPr/>
        </p:nvCxnSpPr>
        <p:spPr>
          <a:xfrm>
            <a:off x="2736233" y="4721885"/>
            <a:ext cx="512501" cy="444915"/>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cxnSp>
        <p:nvCxnSpPr>
          <p:cNvPr id="551" name="Google Shape;551;p49"/>
          <p:cNvCxnSpPr/>
          <p:nvPr/>
        </p:nvCxnSpPr>
        <p:spPr>
          <a:xfrm>
            <a:off x="2459578" y="4992818"/>
            <a:ext cx="471350" cy="361792"/>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cxnSp>
        <p:nvCxnSpPr>
          <p:cNvPr id="552" name="Google Shape;552;p49"/>
          <p:cNvCxnSpPr/>
          <p:nvPr/>
        </p:nvCxnSpPr>
        <p:spPr>
          <a:xfrm>
            <a:off x="2324588" y="5055732"/>
            <a:ext cx="471350" cy="361792"/>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cxnSp>
        <p:nvCxnSpPr>
          <p:cNvPr id="553" name="Google Shape;553;p49"/>
          <p:cNvCxnSpPr/>
          <p:nvPr/>
        </p:nvCxnSpPr>
        <p:spPr>
          <a:xfrm>
            <a:off x="2196434" y="5096252"/>
            <a:ext cx="390958" cy="327316"/>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cxnSp>
        <p:nvCxnSpPr>
          <p:cNvPr id="554" name="Google Shape;554;p49"/>
          <p:cNvCxnSpPr/>
          <p:nvPr/>
        </p:nvCxnSpPr>
        <p:spPr>
          <a:xfrm>
            <a:off x="2048744" y="5178014"/>
            <a:ext cx="287390" cy="229689"/>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cxnSp>
        <p:nvCxnSpPr>
          <p:cNvPr id="555" name="Google Shape;555;p49"/>
          <p:cNvCxnSpPr/>
          <p:nvPr/>
        </p:nvCxnSpPr>
        <p:spPr>
          <a:xfrm>
            <a:off x="1852523" y="5221340"/>
            <a:ext cx="287390" cy="229689"/>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0"/>
          <p:cNvSpPr txBox="1"/>
          <p:nvPr>
            <p:ph type="title"/>
          </p:nvPr>
        </p:nvSpPr>
        <p:spPr>
          <a:xfrm>
            <a:off x="457200" y="202630"/>
            <a:ext cx="7467600" cy="490066"/>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rgbClr val="0C0C0C"/>
              </a:buClr>
              <a:buSzPts val="3200"/>
              <a:buFont typeface="Twentieth Century"/>
              <a:buNone/>
            </a:pPr>
            <a:r>
              <a:rPr lang="tr-TR" sz="3200"/>
              <a:t>ÖRNEK 4</a:t>
            </a:r>
            <a:endParaRPr/>
          </a:p>
        </p:txBody>
      </p:sp>
      <p:sp>
        <p:nvSpPr>
          <p:cNvPr id="561" name="Google Shape;561;p50"/>
          <p:cNvSpPr txBox="1"/>
          <p:nvPr>
            <p:ph idx="1" type="body"/>
          </p:nvPr>
        </p:nvSpPr>
        <p:spPr>
          <a:xfrm>
            <a:off x="457200" y="820744"/>
            <a:ext cx="8075240" cy="2176208"/>
          </a:xfrm>
          <a:prstGeom prst="rect">
            <a:avLst/>
          </a:prstGeom>
          <a:blipFill rotWithShape="1">
            <a:blip r:embed="rId3">
              <a:alphaModFix/>
            </a:blip>
            <a:stretch>
              <a:fillRect b="0" l="-1358" r="0" t="-3081"/>
            </a:stretch>
          </a:blip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 </a:t>
            </a:r>
            <a:endParaRPr/>
          </a:p>
        </p:txBody>
      </p:sp>
      <p:grpSp>
        <p:nvGrpSpPr>
          <p:cNvPr id="562" name="Google Shape;562;p50"/>
          <p:cNvGrpSpPr/>
          <p:nvPr/>
        </p:nvGrpSpPr>
        <p:grpSpPr>
          <a:xfrm>
            <a:off x="457200" y="2855772"/>
            <a:ext cx="6912768" cy="2717898"/>
            <a:chOff x="1156" y="2033"/>
            <a:chExt cx="3221" cy="1760"/>
          </a:xfrm>
        </p:grpSpPr>
        <p:sp>
          <p:nvSpPr>
            <p:cNvPr id="563" name="Google Shape;563;p50"/>
            <p:cNvSpPr/>
            <p:nvPr/>
          </p:nvSpPr>
          <p:spPr>
            <a:xfrm>
              <a:off x="1157" y="2033"/>
              <a:ext cx="3212" cy="1699"/>
            </a:xfrm>
            <a:custGeom>
              <a:rect b="b" l="l" r="r" t="t"/>
              <a:pathLst>
                <a:path extrusionOk="0" h="9062" w="17885">
                  <a:moveTo>
                    <a:pt x="0" y="9062"/>
                  </a:moveTo>
                  <a:lnTo>
                    <a:pt x="89" y="9059"/>
                  </a:lnTo>
                  <a:lnTo>
                    <a:pt x="179" y="9057"/>
                  </a:lnTo>
                  <a:lnTo>
                    <a:pt x="269" y="9053"/>
                  </a:lnTo>
                  <a:lnTo>
                    <a:pt x="359" y="9050"/>
                  </a:lnTo>
                  <a:lnTo>
                    <a:pt x="448" y="9046"/>
                  </a:lnTo>
                  <a:lnTo>
                    <a:pt x="539" y="9041"/>
                  </a:lnTo>
                  <a:lnTo>
                    <a:pt x="628" y="9036"/>
                  </a:lnTo>
                  <a:lnTo>
                    <a:pt x="718" y="9031"/>
                  </a:lnTo>
                  <a:lnTo>
                    <a:pt x="809" y="9024"/>
                  </a:lnTo>
                  <a:lnTo>
                    <a:pt x="898" y="9018"/>
                  </a:lnTo>
                  <a:lnTo>
                    <a:pt x="987" y="9011"/>
                  </a:lnTo>
                  <a:lnTo>
                    <a:pt x="1078" y="9002"/>
                  </a:lnTo>
                  <a:lnTo>
                    <a:pt x="1167" y="8993"/>
                  </a:lnTo>
                  <a:lnTo>
                    <a:pt x="1257" y="8984"/>
                  </a:lnTo>
                  <a:lnTo>
                    <a:pt x="1348" y="8972"/>
                  </a:lnTo>
                  <a:lnTo>
                    <a:pt x="1437" y="8961"/>
                  </a:lnTo>
                  <a:lnTo>
                    <a:pt x="1528" y="8948"/>
                  </a:lnTo>
                  <a:lnTo>
                    <a:pt x="1617" y="8934"/>
                  </a:lnTo>
                  <a:lnTo>
                    <a:pt x="1707" y="8918"/>
                  </a:lnTo>
                  <a:lnTo>
                    <a:pt x="1797" y="8901"/>
                  </a:lnTo>
                  <a:lnTo>
                    <a:pt x="1887" y="8883"/>
                  </a:lnTo>
                  <a:lnTo>
                    <a:pt x="1976" y="8862"/>
                  </a:lnTo>
                  <a:lnTo>
                    <a:pt x="2067" y="8842"/>
                  </a:lnTo>
                  <a:lnTo>
                    <a:pt x="2156" y="8817"/>
                  </a:lnTo>
                  <a:lnTo>
                    <a:pt x="2246" y="8793"/>
                  </a:lnTo>
                  <a:lnTo>
                    <a:pt x="2336" y="8764"/>
                  </a:lnTo>
                  <a:lnTo>
                    <a:pt x="2426" y="8734"/>
                  </a:lnTo>
                  <a:lnTo>
                    <a:pt x="2515" y="8702"/>
                  </a:lnTo>
                  <a:lnTo>
                    <a:pt x="2606" y="8667"/>
                  </a:lnTo>
                  <a:lnTo>
                    <a:pt x="2695" y="8630"/>
                  </a:lnTo>
                  <a:lnTo>
                    <a:pt x="2786" y="8589"/>
                  </a:lnTo>
                  <a:lnTo>
                    <a:pt x="2875" y="8547"/>
                  </a:lnTo>
                  <a:lnTo>
                    <a:pt x="2965" y="8501"/>
                  </a:lnTo>
                  <a:lnTo>
                    <a:pt x="3056" y="8451"/>
                  </a:lnTo>
                  <a:lnTo>
                    <a:pt x="3145" y="8399"/>
                  </a:lnTo>
                  <a:lnTo>
                    <a:pt x="3234" y="8342"/>
                  </a:lnTo>
                  <a:lnTo>
                    <a:pt x="3325" y="8283"/>
                  </a:lnTo>
                  <a:lnTo>
                    <a:pt x="3415" y="8219"/>
                  </a:lnTo>
                  <a:lnTo>
                    <a:pt x="3504" y="8152"/>
                  </a:lnTo>
                  <a:lnTo>
                    <a:pt x="3595" y="8081"/>
                  </a:lnTo>
                  <a:lnTo>
                    <a:pt x="3684" y="8005"/>
                  </a:lnTo>
                  <a:lnTo>
                    <a:pt x="3774" y="7924"/>
                  </a:lnTo>
                  <a:lnTo>
                    <a:pt x="3864" y="7840"/>
                  </a:lnTo>
                  <a:lnTo>
                    <a:pt x="3954" y="7751"/>
                  </a:lnTo>
                  <a:lnTo>
                    <a:pt x="4043" y="7658"/>
                  </a:lnTo>
                  <a:lnTo>
                    <a:pt x="4134" y="7559"/>
                  </a:lnTo>
                  <a:lnTo>
                    <a:pt x="4223" y="7456"/>
                  </a:lnTo>
                  <a:lnTo>
                    <a:pt x="4314" y="7348"/>
                  </a:lnTo>
                  <a:lnTo>
                    <a:pt x="4403" y="7236"/>
                  </a:lnTo>
                  <a:lnTo>
                    <a:pt x="4493" y="7118"/>
                  </a:lnTo>
                  <a:lnTo>
                    <a:pt x="4583" y="6995"/>
                  </a:lnTo>
                  <a:lnTo>
                    <a:pt x="4673" y="6867"/>
                  </a:lnTo>
                  <a:lnTo>
                    <a:pt x="4762" y="6734"/>
                  </a:lnTo>
                  <a:lnTo>
                    <a:pt x="4853" y="6597"/>
                  </a:lnTo>
                  <a:lnTo>
                    <a:pt x="4942" y="6454"/>
                  </a:lnTo>
                  <a:lnTo>
                    <a:pt x="5032" y="6307"/>
                  </a:lnTo>
                  <a:lnTo>
                    <a:pt x="5123" y="6155"/>
                  </a:lnTo>
                  <a:lnTo>
                    <a:pt x="5212" y="5999"/>
                  </a:lnTo>
                  <a:lnTo>
                    <a:pt x="5301" y="5838"/>
                  </a:lnTo>
                  <a:lnTo>
                    <a:pt x="5392" y="5673"/>
                  </a:lnTo>
                  <a:lnTo>
                    <a:pt x="5482" y="5504"/>
                  </a:lnTo>
                  <a:lnTo>
                    <a:pt x="5572" y="5331"/>
                  </a:lnTo>
                  <a:lnTo>
                    <a:pt x="5662" y="5155"/>
                  </a:lnTo>
                  <a:lnTo>
                    <a:pt x="5751" y="4975"/>
                  </a:lnTo>
                  <a:lnTo>
                    <a:pt x="5842" y="4793"/>
                  </a:lnTo>
                  <a:lnTo>
                    <a:pt x="5931" y="4608"/>
                  </a:lnTo>
                  <a:lnTo>
                    <a:pt x="6021" y="4420"/>
                  </a:lnTo>
                  <a:lnTo>
                    <a:pt x="6111" y="4231"/>
                  </a:lnTo>
                  <a:lnTo>
                    <a:pt x="6201" y="4040"/>
                  </a:lnTo>
                  <a:lnTo>
                    <a:pt x="6290" y="3848"/>
                  </a:lnTo>
                  <a:lnTo>
                    <a:pt x="6381" y="3655"/>
                  </a:lnTo>
                  <a:lnTo>
                    <a:pt x="6470" y="3462"/>
                  </a:lnTo>
                  <a:lnTo>
                    <a:pt x="6560" y="3270"/>
                  </a:lnTo>
                  <a:lnTo>
                    <a:pt x="6650" y="3078"/>
                  </a:lnTo>
                  <a:lnTo>
                    <a:pt x="6740" y="2888"/>
                  </a:lnTo>
                  <a:lnTo>
                    <a:pt x="6829" y="2699"/>
                  </a:lnTo>
                  <a:lnTo>
                    <a:pt x="6920" y="2513"/>
                  </a:lnTo>
                  <a:lnTo>
                    <a:pt x="7009" y="2329"/>
                  </a:lnTo>
                  <a:lnTo>
                    <a:pt x="7100" y="2149"/>
                  </a:lnTo>
                  <a:lnTo>
                    <a:pt x="7190" y="1973"/>
                  </a:lnTo>
                  <a:lnTo>
                    <a:pt x="7279" y="1801"/>
                  </a:lnTo>
                  <a:lnTo>
                    <a:pt x="7370" y="1634"/>
                  </a:lnTo>
                  <a:lnTo>
                    <a:pt x="7459" y="1472"/>
                  </a:lnTo>
                  <a:lnTo>
                    <a:pt x="7548" y="1317"/>
                  </a:lnTo>
                  <a:lnTo>
                    <a:pt x="7639" y="1168"/>
                  </a:lnTo>
                  <a:lnTo>
                    <a:pt x="7729" y="1027"/>
                  </a:lnTo>
                  <a:lnTo>
                    <a:pt x="7818" y="893"/>
                  </a:lnTo>
                  <a:lnTo>
                    <a:pt x="7909" y="766"/>
                  </a:lnTo>
                  <a:lnTo>
                    <a:pt x="7998" y="648"/>
                  </a:lnTo>
                  <a:lnTo>
                    <a:pt x="8088" y="539"/>
                  </a:lnTo>
                  <a:lnTo>
                    <a:pt x="8178" y="438"/>
                  </a:lnTo>
                  <a:lnTo>
                    <a:pt x="8268" y="348"/>
                  </a:lnTo>
                  <a:lnTo>
                    <a:pt x="8358" y="268"/>
                  </a:lnTo>
                  <a:lnTo>
                    <a:pt x="8448" y="198"/>
                  </a:lnTo>
                  <a:lnTo>
                    <a:pt x="8537" y="137"/>
                  </a:lnTo>
                  <a:lnTo>
                    <a:pt x="8628" y="88"/>
                  </a:lnTo>
                  <a:lnTo>
                    <a:pt x="8717" y="49"/>
                  </a:lnTo>
                  <a:lnTo>
                    <a:pt x="8807" y="22"/>
                  </a:lnTo>
                  <a:lnTo>
                    <a:pt x="8898" y="5"/>
                  </a:lnTo>
                  <a:lnTo>
                    <a:pt x="8987" y="0"/>
                  </a:lnTo>
                  <a:lnTo>
                    <a:pt x="9076" y="5"/>
                  </a:lnTo>
                  <a:lnTo>
                    <a:pt x="9167" y="22"/>
                  </a:lnTo>
                  <a:lnTo>
                    <a:pt x="9256" y="49"/>
                  </a:lnTo>
                  <a:lnTo>
                    <a:pt x="9346" y="88"/>
                  </a:lnTo>
                  <a:lnTo>
                    <a:pt x="9437" y="137"/>
                  </a:lnTo>
                  <a:lnTo>
                    <a:pt x="9526" y="198"/>
                  </a:lnTo>
                  <a:lnTo>
                    <a:pt x="9615" y="268"/>
                  </a:lnTo>
                  <a:lnTo>
                    <a:pt x="9706" y="348"/>
                  </a:lnTo>
                  <a:lnTo>
                    <a:pt x="9796" y="438"/>
                  </a:lnTo>
                  <a:lnTo>
                    <a:pt x="9886" y="539"/>
                  </a:lnTo>
                  <a:lnTo>
                    <a:pt x="9976" y="648"/>
                  </a:lnTo>
                  <a:lnTo>
                    <a:pt x="10065" y="766"/>
                  </a:lnTo>
                  <a:lnTo>
                    <a:pt x="10156" y="893"/>
                  </a:lnTo>
                  <a:lnTo>
                    <a:pt x="10245" y="1027"/>
                  </a:lnTo>
                  <a:lnTo>
                    <a:pt x="10335" y="1168"/>
                  </a:lnTo>
                  <a:lnTo>
                    <a:pt x="10425" y="1317"/>
                  </a:lnTo>
                  <a:lnTo>
                    <a:pt x="10515" y="1472"/>
                  </a:lnTo>
                  <a:lnTo>
                    <a:pt x="10604" y="1634"/>
                  </a:lnTo>
                  <a:lnTo>
                    <a:pt x="10695" y="1801"/>
                  </a:lnTo>
                  <a:lnTo>
                    <a:pt x="10784" y="1973"/>
                  </a:lnTo>
                  <a:lnTo>
                    <a:pt x="10874" y="2149"/>
                  </a:lnTo>
                  <a:lnTo>
                    <a:pt x="10964" y="2329"/>
                  </a:lnTo>
                  <a:lnTo>
                    <a:pt x="11054" y="2513"/>
                  </a:lnTo>
                  <a:lnTo>
                    <a:pt x="11145" y="2699"/>
                  </a:lnTo>
                  <a:lnTo>
                    <a:pt x="11234" y="2888"/>
                  </a:lnTo>
                  <a:lnTo>
                    <a:pt x="11323" y="3078"/>
                  </a:lnTo>
                  <a:lnTo>
                    <a:pt x="11414" y="3270"/>
                  </a:lnTo>
                  <a:lnTo>
                    <a:pt x="11504" y="3462"/>
                  </a:lnTo>
                  <a:lnTo>
                    <a:pt x="11593" y="3655"/>
                  </a:lnTo>
                  <a:lnTo>
                    <a:pt x="11684" y="3848"/>
                  </a:lnTo>
                  <a:lnTo>
                    <a:pt x="11773" y="4040"/>
                  </a:lnTo>
                  <a:lnTo>
                    <a:pt x="11863" y="4231"/>
                  </a:lnTo>
                  <a:lnTo>
                    <a:pt x="11953" y="4420"/>
                  </a:lnTo>
                  <a:lnTo>
                    <a:pt x="12043" y="4608"/>
                  </a:lnTo>
                  <a:lnTo>
                    <a:pt x="12132" y="4793"/>
                  </a:lnTo>
                  <a:lnTo>
                    <a:pt x="12223" y="4975"/>
                  </a:lnTo>
                  <a:lnTo>
                    <a:pt x="12312" y="5155"/>
                  </a:lnTo>
                  <a:lnTo>
                    <a:pt x="12402" y="5331"/>
                  </a:lnTo>
                  <a:lnTo>
                    <a:pt x="12492" y="5504"/>
                  </a:lnTo>
                  <a:lnTo>
                    <a:pt x="12582" y="5673"/>
                  </a:lnTo>
                  <a:lnTo>
                    <a:pt x="12672" y="5838"/>
                  </a:lnTo>
                  <a:lnTo>
                    <a:pt x="12762" y="5999"/>
                  </a:lnTo>
                  <a:lnTo>
                    <a:pt x="12851" y="6155"/>
                  </a:lnTo>
                  <a:lnTo>
                    <a:pt x="12942" y="6307"/>
                  </a:lnTo>
                  <a:lnTo>
                    <a:pt x="13031" y="6454"/>
                  </a:lnTo>
                  <a:lnTo>
                    <a:pt x="13121" y="6597"/>
                  </a:lnTo>
                  <a:lnTo>
                    <a:pt x="13212" y="6734"/>
                  </a:lnTo>
                  <a:lnTo>
                    <a:pt x="13301" y="6867"/>
                  </a:lnTo>
                  <a:lnTo>
                    <a:pt x="13390" y="6995"/>
                  </a:lnTo>
                  <a:lnTo>
                    <a:pt x="13481" y="7118"/>
                  </a:lnTo>
                  <a:lnTo>
                    <a:pt x="13571" y="7236"/>
                  </a:lnTo>
                  <a:lnTo>
                    <a:pt x="13660" y="7348"/>
                  </a:lnTo>
                  <a:lnTo>
                    <a:pt x="13751" y="7456"/>
                  </a:lnTo>
                  <a:lnTo>
                    <a:pt x="13840" y="7559"/>
                  </a:lnTo>
                  <a:lnTo>
                    <a:pt x="13931" y="7658"/>
                  </a:lnTo>
                  <a:lnTo>
                    <a:pt x="14020" y="7751"/>
                  </a:lnTo>
                  <a:lnTo>
                    <a:pt x="14110" y="7840"/>
                  </a:lnTo>
                  <a:lnTo>
                    <a:pt x="14200" y="7924"/>
                  </a:lnTo>
                  <a:lnTo>
                    <a:pt x="14290" y="8005"/>
                  </a:lnTo>
                  <a:lnTo>
                    <a:pt x="14379" y="8081"/>
                  </a:lnTo>
                  <a:lnTo>
                    <a:pt x="14470" y="8152"/>
                  </a:lnTo>
                  <a:lnTo>
                    <a:pt x="14559" y="8219"/>
                  </a:lnTo>
                  <a:lnTo>
                    <a:pt x="14649" y="8283"/>
                  </a:lnTo>
                  <a:lnTo>
                    <a:pt x="14739" y="8342"/>
                  </a:lnTo>
                  <a:lnTo>
                    <a:pt x="14829" y="8399"/>
                  </a:lnTo>
                  <a:lnTo>
                    <a:pt x="14918" y="8451"/>
                  </a:lnTo>
                  <a:lnTo>
                    <a:pt x="15009" y="8501"/>
                  </a:lnTo>
                  <a:lnTo>
                    <a:pt x="15098" y="8547"/>
                  </a:lnTo>
                  <a:lnTo>
                    <a:pt x="15188" y="8589"/>
                  </a:lnTo>
                  <a:lnTo>
                    <a:pt x="15279" y="8630"/>
                  </a:lnTo>
                  <a:lnTo>
                    <a:pt x="15368" y="8667"/>
                  </a:lnTo>
                  <a:lnTo>
                    <a:pt x="15459" y="8702"/>
                  </a:lnTo>
                  <a:lnTo>
                    <a:pt x="15548" y="8734"/>
                  </a:lnTo>
                  <a:lnTo>
                    <a:pt x="15637" y="8764"/>
                  </a:lnTo>
                  <a:lnTo>
                    <a:pt x="15728" y="8793"/>
                  </a:lnTo>
                  <a:lnTo>
                    <a:pt x="15818" y="8817"/>
                  </a:lnTo>
                  <a:lnTo>
                    <a:pt x="15907" y="8842"/>
                  </a:lnTo>
                  <a:lnTo>
                    <a:pt x="15998" y="8862"/>
                  </a:lnTo>
                  <a:lnTo>
                    <a:pt x="16087" y="8883"/>
                  </a:lnTo>
                  <a:lnTo>
                    <a:pt x="16177" y="8901"/>
                  </a:lnTo>
                  <a:lnTo>
                    <a:pt x="16267" y="8918"/>
                  </a:lnTo>
                  <a:lnTo>
                    <a:pt x="16357" y="8934"/>
                  </a:lnTo>
                  <a:lnTo>
                    <a:pt x="16446" y="8948"/>
                  </a:lnTo>
                  <a:lnTo>
                    <a:pt x="16537" y="8961"/>
                  </a:lnTo>
                  <a:lnTo>
                    <a:pt x="16626" y="8972"/>
                  </a:lnTo>
                  <a:lnTo>
                    <a:pt x="16717" y="8984"/>
                  </a:lnTo>
                  <a:lnTo>
                    <a:pt x="16806" y="8993"/>
                  </a:lnTo>
                  <a:lnTo>
                    <a:pt x="16896" y="9002"/>
                  </a:lnTo>
                  <a:lnTo>
                    <a:pt x="16986" y="9011"/>
                  </a:lnTo>
                  <a:lnTo>
                    <a:pt x="17076" y="9018"/>
                  </a:lnTo>
                  <a:lnTo>
                    <a:pt x="17165" y="9024"/>
                  </a:lnTo>
                  <a:lnTo>
                    <a:pt x="17256" y="9031"/>
                  </a:lnTo>
                  <a:lnTo>
                    <a:pt x="17345" y="9036"/>
                  </a:lnTo>
                  <a:lnTo>
                    <a:pt x="17435" y="9041"/>
                  </a:lnTo>
                  <a:lnTo>
                    <a:pt x="17526" y="9046"/>
                  </a:lnTo>
                  <a:lnTo>
                    <a:pt x="17615" y="9050"/>
                  </a:lnTo>
                  <a:lnTo>
                    <a:pt x="17704" y="9053"/>
                  </a:lnTo>
                  <a:lnTo>
                    <a:pt x="17795" y="9057"/>
                  </a:lnTo>
                  <a:lnTo>
                    <a:pt x="17885" y="9059"/>
                  </a:lnTo>
                </a:path>
              </a:pathLst>
            </a:custGeom>
            <a:solidFill>
              <a:srgbClr val="1482AB"/>
            </a:solidFill>
            <a:ln cap="flat" cmpd="sng" w="38100">
              <a:solidFill>
                <a:schemeClr val="lt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564" name="Google Shape;564;p50"/>
            <p:cNvCxnSpPr/>
            <p:nvPr/>
          </p:nvCxnSpPr>
          <p:spPr>
            <a:xfrm>
              <a:off x="1156" y="3793"/>
              <a:ext cx="3221" cy="0"/>
            </a:xfrm>
            <a:prstGeom prst="straightConnector1">
              <a:avLst/>
            </a:prstGeom>
            <a:solidFill>
              <a:srgbClr val="1482AB"/>
            </a:solidFill>
            <a:ln cap="flat" cmpd="sng" w="38100">
              <a:solidFill>
                <a:srgbClr val="FFE9FF"/>
              </a:solidFill>
              <a:prstDash val="solid"/>
              <a:round/>
              <a:headEnd len="med" w="med" type="none"/>
              <a:tailEnd len="med" w="med" type="none"/>
            </a:ln>
          </p:spPr>
        </p:cxnSp>
      </p:grpSp>
      <p:cxnSp>
        <p:nvCxnSpPr>
          <p:cNvPr id="565" name="Google Shape;565;p50"/>
          <p:cNvCxnSpPr/>
          <p:nvPr/>
        </p:nvCxnSpPr>
        <p:spPr>
          <a:xfrm flipH="1">
            <a:off x="3995934" y="2723884"/>
            <a:ext cx="37118" cy="2925606"/>
          </a:xfrm>
          <a:prstGeom prst="straightConnector1">
            <a:avLst/>
          </a:prstGeom>
          <a:noFill/>
          <a:ln cap="rnd" cmpd="sng" w="38100">
            <a:solidFill>
              <a:schemeClr val="lt1"/>
            </a:solidFill>
            <a:prstDash val="dot"/>
            <a:round/>
            <a:headEnd len="med" w="med" type="none"/>
            <a:tailEnd len="med" w="med" type="none"/>
          </a:ln>
        </p:spPr>
      </p:cxnSp>
      <p:cxnSp>
        <p:nvCxnSpPr>
          <p:cNvPr id="566" name="Google Shape;566;p50"/>
          <p:cNvCxnSpPr/>
          <p:nvPr/>
        </p:nvCxnSpPr>
        <p:spPr>
          <a:xfrm>
            <a:off x="5076056" y="4661273"/>
            <a:ext cx="0" cy="896608"/>
          </a:xfrm>
          <a:prstGeom prst="straightConnector1">
            <a:avLst/>
          </a:prstGeom>
          <a:noFill/>
          <a:ln cap="rnd" cmpd="sng" w="38100">
            <a:solidFill>
              <a:schemeClr val="lt1"/>
            </a:solidFill>
            <a:prstDash val="solid"/>
            <a:round/>
            <a:headEnd len="med" w="med" type="none"/>
            <a:tailEnd len="med" w="med" type="none"/>
          </a:ln>
        </p:spPr>
      </p:cxnSp>
      <p:sp>
        <p:nvSpPr>
          <p:cNvPr id="567" name="Google Shape;567;p50"/>
          <p:cNvSpPr txBox="1"/>
          <p:nvPr/>
        </p:nvSpPr>
        <p:spPr>
          <a:xfrm>
            <a:off x="1740933" y="5461498"/>
            <a:ext cx="51845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Arial"/>
                <a:ea typeface="Arial"/>
                <a:cs typeface="Arial"/>
                <a:sym typeface="Arial"/>
              </a:rPr>
              <a:t>                                  70                 90                    x</a:t>
            </a:r>
            <a:endParaRPr/>
          </a:p>
        </p:txBody>
      </p:sp>
      <p:cxnSp>
        <p:nvCxnSpPr>
          <p:cNvPr id="568" name="Google Shape;568;p50"/>
          <p:cNvCxnSpPr/>
          <p:nvPr/>
        </p:nvCxnSpPr>
        <p:spPr>
          <a:xfrm>
            <a:off x="1259632" y="5877272"/>
            <a:ext cx="5256584" cy="0"/>
          </a:xfrm>
          <a:prstGeom prst="straightConnector1">
            <a:avLst/>
          </a:prstGeom>
          <a:noFill/>
          <a:ln cap="flat" cmpd="sng" w="28575">
            <a:solidFill>
              <a:schemeClr val="accent1"/>
            </a:solidFill>
            <a:prstDash val="solid"/>
            <a:round/>
            <a:headEnd len="sm" w="sm" type="none"/>
            <a:tailEnd len="sm" w="sm" type="none"/>
          </a:ln>
        </p:spPr>
      </p:cxnSp>
      <p:sp>
        <p:nvSpPr>
          <p:cNvPr id="569" name="Google Shape;569;p50"/>
          <p:cNvSpPr txBox="1"/>
          <p:nvPr/>
        </p:nvSpPr>
        <p:spPr>
          <a:xfrm>
            <a:off x="773259" y="5896988"/>
            <a:ext cx="61471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dk1"/>
                </a:solidFill>
                <a:latin typeface="Arial"/>
                <a:ea typeface="Arial"/>
                <a:cs typeface="Arial"/>
                <a:sym typeface="Arial"/>
              </a:rPr>
              <a:t>           -3         -2          -1          0         1         2          3        z</a:t>
            </a:r>
            <a:endParaRPr/>
          </a:p>
        </p:txBody>
      </p:sp>
      <p:sp>
        <p:nvSpPr>
          <p:cNvPr id="570" name="Google Shape;570;p50"/>
          <p:cNvSpPr/>
          <p:nvPr/>
        </p:nvSpPr>
        <p:spPr>
          <a:xfrm>
            <a:off x="5040052" y="5834760"/>
            <a:ext cx="108012" cy="92333"/>
          </a:xfrm>
          <a:prstGeom prst="ellipse">
            <a:avLst/>
          </a:prstGeom>
          <a:solidFill>
            <a:schemeClr val="accent1"/>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1" name="Google Shape;571;p50"/>
          <p:cNvSpPr/>
          <p:nvPr/>
        </p:nvSpPr>
        <p:spPr>
          <a:xfrm>
            <a:off x="3239852" y="4661273"/>
            <a:ext cx="648072" cy="288032"/>
          </a:xfrm>
          <a:custGeom>
            <a:rect b="b" l="l" r="r" t="t"/>
            <a:pathLst>
              <a:path extrusionOk="0" h="120000" w="120000">
                <a:moveTo>
                  <a:pt x="0" y="0"/>
                </a:moveTo>
                <a:lnTo>
                  <a:pt x="120000" y="0"/>
                </a:lnTo>
                <a:lnTo>
                  <a:pt x="120000" y="120000"/>
                </a:lnTo>
                <a:lnTo>
                  <a:pt x="0" y="120000"/>
                </a:lnTo>
                <a:close/>
              </a:path>
              <a:path extrusionOk="0" fill="none" h="120000" w="120000">
                <a:moveTo>
                  <a:pt x="119912" y="0"/>
                </a:moveTo>
                <a:close/>
                <a:lnTo>
                  <a:pt x="119912" y="120000"/>
                </a:lnTo>
              </a:path>
              <a:path extrusionOk="0" fill="none" h="120000" w="120000">
                <a:moveTo>
                  <a:pt x="119912" y="37861"/>
                </a:moveTo>
                <a:lnTo>
                  <a:pt x="111299" y="27472"/>
                </a:lnTo>
              </a:path>
            </a:pathLst>
          </a:custGeom>
          <a:gradFill>
            <a:gsLst>
              <a:gs pos="0">
                <a:srgbClr val="76D7DE"/>
              </a:gs>
              <a:gs pos="100000">
                <a:srgbClr val="97F0F7"/>
              </a:gs>
            </a:gsLst>
            <a:path path="circle">
              <a:fillToRect b="50%" l="50%" r="50%" t="50%"/>
            </a:path>
            <a:tileRect/>
          </a:gra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600">
                <a:solidFill>
                  <a:schemeClr val="dk1"/>
                </a:solidFill>
                <a:latin typeface="Arial"/>
                <a:ea typeface="Arial"/>
                <a:cs typeface="Arial"/>
                <a:sym typeface="Arial"/>
              </a:rPr>
              <a:t>%50</a:t>
            </a:r>
            <a:endParaRPr/>
          </a:p>
        </p:txBody>
      </p:sp>
      <p:sp>
        <p:nvSpPr>
          <p:cNvPr id="572" name="Google Shape;572;p50"/>
          <p:cNvSpPr/>
          <p:nvPr/>
        </p:nvSpPr>
        <p:spPr>
          <a:xfrm>
            <a:off x="4644885" y="2532930"/>
            <a:ext cx="2437680" cy="976176"/>
          </a:xfrm>
          <a:custGeom>
            <a:rect b="b" l="l" r="r" t="t"/>
            <a:pathLst>
              <a:path extrusionOk="0" h="120000" w="120000">
                <a:moveTo>
                  <a:pt x="0" y="0"/>
                </a:moveTo>
                <a:lnTo>
                  <a:pt x="120000" y="0"/>
                </a:lnTo>
                <a:lnTo>
                  <a:pt x="120000" y="120000"/>
                </a:lnTo>
                <a:lnTo>
                  <a:pt x="0" y="120000"/>
                </a:lnTo>
                <a:close/>
              </a:path>
              <a:path extrusionOk="0" fill="none" h="120000" w="120000">
                <a:moveTo>
                  <a:pt x="-3698" y="0"/>
                </a:moveTo>
                <a:close/>
                <a:lnTo>
                  <a:pt x="-3698" y="120000"/>
                </a:lnTo>
              </a:path>
              <a:path extrusionOk="0" fill="none" h="120000" w="120000">
                <a:moveTo>
                  <a:pt x="-3698" y="55534"/>
                </a:moveTo>
                <a:lnTo>
                  <a:pt x="-15790" y="257639"/>
                </a:lnTo>
              </a:path>
            </a:pathLst>
          </a:custGeom>
          <a:gradFill>
            <a:gsLst>
              <a:gs pos="0">
                <a:srgbClr val="76D7DE"/>
              </a:gs>
              <a:gs pos="100000">
                <a:srgbClr val="97F0F7"/>
              </a:gs>
            </a:gsLst>
            <a:path path="circle">
              <a:fillToRect b="50%" l="50%" r="50%" t="50%"/>
            </a:path>
            <a:tileRect/>
          </a:gra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600">
                <a:solidFill>
                  <a:schemeClr val="dk1"/>
                </a:solidFill>
                <a:latin typeface="Arial"/>
                <a:ea typeface="Arial"/>
                <a:cs typeface="Arial"/>
                <a:sym typeface="Arial"/>
              </a:rPr>
              <a:t>z(2) tablo değeri 0,477 z değeri ile ortalama alan arası demektir.</a:t>
            </a:r>
            <a:endParaRPr/>
          </a:p>
        </p:txBody>
      </p:sp>
      <p:sp>
        <p:nvSpPr>
          <p:cNvPr id="573" name="Google Shape;573;p50"/>
          <p:cNvSpPr/>
          <p:nvPr/>
        </p:nvSpPr>
        <p:spPr>
          <a:xfrm>
            <a:off x="5660503" y="6228020"/>
            <a:ext cx="999729" cy="369332"/>
          </a:xfrm>
          <a:custGeom>
            <a:rect b="b" l="l" r="r" t="t"/>
            <a:pathLst>
              <a:path extrusionOk="0" h="120000" w="120000">
                <a:moveTo>
                  <a:pt x="0" y="0"/>
                </a:moveTo>
                <a:lnTo>
                  <a:pt x="120000" y="0"/>
                </a:lnTo>
                <a:lnTo>
                  <a:pt x="120000" y="120000"/>
                </a:lnTo>
                <a:lnTo>
                  <a:pt x="0" y="120000"/>
                </a:lnTo>
                <a:close/>
              </a:path>
              <a:path extrusionOk="0" fill="none" h="120000" w="120000">
                <a:moveTo>
                  <a:pt x="-5435" y="0"/>
                </a:moveTo>
                <a:close/>
                <a:lnTo>
                  <a:pt x="-5435" y="120000"/>
                </a:lnTo>
              </a:path>
              <a:path extrusionOk="0" fill="none" h="120000" w="120000">
                <a:moveTo>
                  <a:pt x="-5435" y="59366"/>
                </a:moveTo>
                <a:lnTo>
                  <a:pt x="-68206" y="-95746"/>
                </a:lnTo>
              </a:path>
            </a:pathLst>
          </a:custGeom>
          <a:gradFill>
            <a:gsLst>
              <a:gs pos="0">
                <a:srgbClr val="76D7DE"/>
              </a:gs>
              <a:gs pos="100000">
                <a:srgbClr val="97F0F7"/>
              </a:gs>
            </a:gsLst>
            <a:path path="circle">
              <a:fillToRect b="50%" l="50%" r="50%" t="50%"/>
            </a:path>
            <a:tileRect/>
          </a:gra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600">
                <a:solidFill>
                  <a:schemeClr val="dk1"/>
                </a:solidFill>
                <a:latin typeface="Arial"/>
                <a:ea typeface="Arial"/>
                <a:cs typeface="Arial"/>
                <a:sym typeface="Arial"/>
              </a:rPr>
              <a:t>z=2</a:t>
            </a:r>
            <a:endParaRPr/>
          </a:p>
        </p:txBody>
      </p:sp>
      <p:sp>
        <p:nvSpPr>
          <p:cNvPr id="574" name="Google Shape;574;p50"/>
          <p:cNvSpPr/>
          <p:nvPr/>
        </p:nvSpPr>
        <p:spPr>
          <a:xfrm>
            <a:off x="6228184" y="3702618"/>
            <a:ext cx="2670022" cy="1272078"/>
          </a:xfrm>
          <a:custGeom>
            <a:rect b="b" l="l" r="r" t="t"/>
            <a:pathLst>
              <a:path extrusionOk="0" h="120000" w="120000">
                <a:moveTo>
                  <a:pt x="0" y="0"/>
                </a:moveTo>
                <a:lnTo>
                  <a:pt x="120000" y="0"/>
                </a:lnTo>
                <a:lnTo>
                  <a:pt x="120000" y="120000"/>
                </a:lnTo>
                <a:lnTo>
                  <a:pt x="0" y="120000"/>
                </a:lnTo>
                <a:close/>
              </a:path>
              <a:path extrusionOk="0" fill="none" h="120000" w="120000">
                <a:moveTo>
                  <a:pt x="-3698" y="0"/>
                </a:moveTo>
                <a:close/>
                <a:lnTo>
                  <a:pt x="-3698" y="120000"/>
                </a:lnTo>
              </a:path>
              <a:path extrusionOk="0" fill="none" h="120000" w="120000">
                <a:moveTo>
                  <a:pt x="-3698" y="55534"/>
                </a:moveTo>
                <a:lnTo>
                  <a:pt x="-40847" y="130150"/>
                </a:lnTo>
              </a:path>
            </a:pathLst>
          </a:custGeom>
          <a:gradFill>
            <a:gsLst>
              <a:gs pos="0">
                <a:srgbClr val="76D7DE"/>
              </a:gs>
              <a:gs pos="100000">
                <a:srgbClr val="97F0F7"/>
              </a:gs>
            </a:gsLst>
            <a:path path="circle">
              <a:fillToRect b="50%" l="50%" r="50%" t="50%"/>
            </a:path>
            <a:tileRect/>
          </a:gra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600">
                <a:solidFill>
                  <a:schemeClr val="dk1"/>
                </a:solidFill>
                <a:latin typeface="Arial"/>
                <a:ea typeface="Arial"/>
                <a:cs typeface="Arial"/>
                <a:sym typeface="Arial"/>
              </a:rPr>
              <a:t>Problemde sorulan alan:</a:t>
            </a:r>
            <a:endParaRPr/>
          </a:p>
          <a:p>
            <a:pPr indent="0" lvl="0" marL="0" marR="0" rtl="0" algn="ctr">
              <a:spcBef>
                <a:spcPts val="0"/>
              </a:spcBef>
              <a:spcAft>
                <a:spcPts val="0"/>
              </a:spcAft>
              <a:buNone/>
            </a:pPr>
            <a:r>
              <a:rPr lang="tr-TR" sz="1600">
                <a:solidFill>
                  <a:schemeClr val="dk1"/>
                </a:solidFill>
                <a:latin typeface="Arial"/>
                <a:ea typeface="Arial"/>
                <a:cs typeface="Arial"/>
                <a:sym typeface="Arial"/>
              </a:rPr>
              <a:t>90’ın üzerinde not alma olasılığıdır.</a:t>
            </a:r>
            <a:endParaRPr/>
          </a:p>
          <a:p>
            <a:pPr indent="0" lvl="0" marL="0" marR="0" rtl="0" algn="ctr">
              <a:spcBef>
                <a:spcPts val="0"/>
              </a:spcBef>
              <a:spcAft>
                <a:spcPts val="0"/>
              </a:spcAft>
              <a:buNone/>
            </a:pPr>
            <a:r>
              <a:rPr lang="tr-TR" sz="1600">
                <a:solidFill>
                  <a:schemeClr val="dk1"/>
                </a:solidFill>
                <a:latin typeface="Arial"/>
                <a:ea typeface="Arial"/>
                <a:cs typeface="Arial"/>
                <a:sym typeface="Arial"/>
              </a:rPr>
              <a:t>0,5-0,477 = 0,023 bulunur.</a:t>
            </a:r>
            <a:endParaRPr/>
          </a:p>
        </p:txBody>
      </p:sp>
      <p:cxnSp>
        <p:nvCxnSpPr>
          <p:cNvPr id="575" name="Google Shape;575;p50"/>
          <p:cNvCxnSpPr/>
          <p:nvPr/>
        </p:nvCxnSpPr>
        <p:spPr>
          <a:xfrm flipH="1" rot="10800000">
            <a:off x="5172690" y="4920335"/>
            <a:ext cx="335414" cy="276522"/>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cxnSp>
        <p:nvCxnSpPr>
          <p:cNvPr id="576" name="Google Shape;576;p50"/>
          <p:cNvCxnSpPr/>
          <p:nvPr/>
        </p:nvCxnSpPr>
        <p:spPr>
          <a:xfrm flipH="1">
            <a:off x="5387123" y="5138766"/>
            <a:ext cx="338965" cy="260581"/>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cxnSp>
        <p:nvCxnSpPr>
          <p:cNvPr id="577" name="Google Shape;577;p50"/>
          <p:cNvCxnSpPr/>
          <p:nvPr/>
        </p:nvCxnSpPr>
        <p:spPr>
          <a:xfrm flipH="1">
            <a:off x="5076056" y="4805289"/>
            <a:ext cx="144658" cy="144016"/>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cxnSp>
        <p:nvCxnSpPr>
          <p:cNvPr id="578" name="Google Shape;578;p50"/>
          <p:cNvCxnSpPr/>
          <p:nvPr/>
        </p:nvCxnSpPr>
        <p:spPr>
          <a:xfrm flipH="1">
            <a:off x="5235851" y="5061055"/>
            <a:ext cx="338965" cy="260581"/>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cxnSp>
        <p:nvCxnSpPr>
          <p:cNvPr id="579" name="Google Shape;579;p50"/>
          <p:cNvCxnSpPr/>
          <p:nvPr/>
        </p:nvCxnSpPr>
        <p:spPr>
          <a:xfrm flipH="1">
            <a:off x="5719945" y="5213881"/>
            <a:ext cx="243098" cy="173987"/>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cxnSp>
        <p:nvCxnSpPr>
          <p:cNvPr id="580" name="Google Shape;580;p50"/>
          <p:cNvCxnSpPr/>
          <p:nvPr/>
        </p:nvCxnSpPr>
        <p:spPr>
          <a:xfrm flipH="1">
            <a:off x="5105978" y="4868044"/>
            <a:ext cx="267136" cy="181077"/>
          </a:xfrm>
          <a:prstGeom prst="straightConnector1">
            <a:avLst/>
          </a:prstGeom>
          <a:noFill/>
          <a:ln cap="flat" cmpd="sng" w="19050">
            <a:solidFill>
              <a:schemeClr val="dk1"/>
            </a:solidFill>
            <a:prstDash val="solid"/>
            <a:round/>
            <a:headEnd len="sm" w="sm" type="none"/>
            <a:tailEnd len="sm" w="sm" type="none"/>
          </a:ln>
          <a:effectLst>
            <a:outerShdw blurRad="50800" rotWithShape="0" algn="ctr" dir="5400000" dist="12700">
              <a:srgbClr val="000000">
                <a:alpha val="50196"/>
              </a:srgbClr>
            </a:outerShdw>
          </a:effectLst>
        </p:spPr>
      </p:cxn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51"/>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SORU</a:t>
            </a:r>
            <a:endParaRPr/>
          </a:p>
        </p:txBody>
      </p:sp>
      <p:sp>
        <p:nvSpPr>
          <p:cNvPr id="586" name="Google Shape;586;p51"/>
          <p:cNvSpPr txBox="1"/>
          <p:nvPr>
            <p:ph idx="1" type="body"/>
          </p:nvPr>
        </p:nvSpPr>
        <p:spPr>
          <a:xfrm>
            <a:off x="899592" y="1556792"/>
            <a:ext cx="7772400" cy="4572000"/>
          </a:xfrm>
          <a:prstGeom prst="rect">
            <a:avLst/>
          </a:prstGeom>
          <a:noFill/>
          <a:ln>
            <a:noFill/>
          </a:ln>
        </p:spPr>
        <p:txBody>
          <a:bodyPr anchorCtr="0" anchor="t" bIns="45700" lIns="45700" spcFirstLastPara="1" rIns="45700" wrap="square" tIns="45700">
            <a:normAutofit/>
          </a:bodyPr>
          <a:lstStyle/>
          <a:p>
            <a:pPr indent="-127000" lvl="0" marL="91440" rtl="0" algn="l">
              <a:lnSpc>
                <a:spcPct val="150000"/>
              </a:lnSpc>
              <a:spcBef>
                <a:spcPts val="0"/>
              </a:spcBef>
              <a:spcAft>
                <a:spcPts val="0"/>
              </a:spcAft>
              <a:buSzPts val="2000"/>
              <a:buChar char=" "/>
            </a:pPr>
            <a:r>
              <a:rPr lang="tr-TR"/>
              <a:t>Ahmet, Bilgisayar Mühendisliği fakültesi 3. sınıf öğrencisidir. </a:t>
            </a:r>
            <a:endParaRPr/>
          </a:p>
          <a:p>
            <a:pPr indent="-137160" lvl="1" marL="265176" rtl="0" algn="l">
              <a:lnSpc>
                <a:spcPct val="150000"/>
              </a:lnSpc>
              <a:spcBef>
                <a:spcPts val="400"/>
              </a:spcBef>
              <a:spcAft>
                <a:spcPts val="0"/>
              </a:spcAft>
              <a:buSzPts val="2000"/>
              <a:buChar char="🢝"/>
            </a:pPr>
            <a:r>
              <a:rPr lang="tr-TR" sz="2000"/>
              <a:t>Veritabanı sınavından 70 puan</a:t>
            </a:r>
            <a:endParaRPr/>
          </a:p>
          <a:p>
            <a:pPr indent="-137160" lvl="2" marL="448056" rtl="0" algn="l">
              <a:lnSpc>
                <a:spcPct val="150000"/>
              </a:lnSpc>
              <a:spcBef>
                <a:spcPts val="600"/>
              </a:spcBef>
              <a:spcAft>
                <a:spcPts val="0"/>
              </a:spcAft>
              <a:buSzPts val="1600"/>
              <a:buChar char="🢝"/>
            </a:pPr>
            <a:r>
              <a:rPr b="1" lang="tr-TR" sz="1600">
                <a:solidFill>
                  <a:srgbClr val="00B0F0"/>
                </a:solidFill>
              </a:rPr>
              <a:t>Sınıf ortalaması: 60, standart sapma: 5</a:t>
            </a:r>
            <a:endParaRPr/>
          </a:p>
          <a:p>
            <a:pPr indent="-60960" lvl="2" marL="448056" rtl="0" algn="l">
              <a:lnSpc>
                <a:spcPct val="150000"/>
              </a:lnSpc>
              <a:spcBef>
                <a:spcPts val="600"/>
              </a:spcBef>
              <a:spcAft>
                <a:spcPts val="0"/>
              </a:spcAft>
              <a:buSzPts val="1200"/>
              <a:buNone/>
            </a:pPr>
            <a:r>
              <a:t/>
            </a:r>
            <a:endParaRPr/>
          </a:p>
          <a:p>
            <a:pPr indent="-137160" lvl="1" marL="265176" rtl="0" algn="l">
              <a:lnSpc>
                <a:spcPct val="150000"/>
              </a:lnSpc>
              <a:spcBef>
                <a:spcPts val="600"/>
              </a:spcBef>
              <a:spcAft>
                <a:spcPts val="0"/>
              </a:spcAft>
              <a:buSzPts val="2000"/>
              <a:buChar char="🢝"/>
            </a:pPr>
            <a:r>
              <a:rPr lang="tr-TR" sz="2000"/>
              <a:t>Algoritma Analizi dersinden 85 puan almıştır</a:t>
            </a:r>
            <a:r>
              <a:rPr lang="tr-TR"/>
              <a:t>. </a:t>
            </a:r>
            <a:endParaRPr/>
          </a:p>
          <a:p>
            <a:pPr indent="-137160" lvl="2" marL="448056" rtl="0" algn="l">
              <a:lnSpc>
                <a:spcPct val="150000"/>
              </a:lnSpc>
              <a:spcBef>
                <a:spcPts val="600"/>
              </a:spcBef>
              <a:spcAft>
                <a:spcPts val="0"/>
              </a:spcAft>
              <a:buSzPts val="1600"/>
              <a:buChar char="🢝"/>
            </a:pPr>
            <a:r>
              <a:rPr b="1" lang="tr-TR" sz="1600">
                <a:solidFill>
                  <a:srgbClr val="00B0F0"/>
                </a:solidFill>
              </a:rPr>
              <a:t>Sınıf ortalaması: 70, standart sapma: 15</a:t>
            </a:r>
            <a:endParaRPr/>
          </a:p>
          <a:p>
            <a:pPr indent="0" lvl="0" marL="0" rtl="0" algn="l">
              <a:lnSpc>
                <a:spcPct val="150000"/>
              </a:lnSpc>
              <a:spcBef>
                <a:spcPts val="1600"/>
              </a:spcBef>
              <a:spcAft>
                <a:spcPts val="0"/>
              </a:spcAft>
              <a:buSzPts val="2000"/>
              <a:buNone/>
            </a:pPr>
            <a:r>
              <a:rPr lang="tr-TR"/>
              <a:t>       Ahmet bu iki dersten hangisinde </a:t>
            </a:r>
            <a:endParaRPr/>
          </a:p>
          <a:p>
            <a:pPr indent="0" lvl="0" marL="0" rtl="0" algn="l">
              <a:lnSpc>
                <a:spcPct val="150000"/>
              </a:lnSpc>
              <a:spcBef>
                <a:spcPts val="1400"/>
              </a:spcBef>
              <a:spcAft>
                <a:spcPts val="0"/>
              </a:spcAft>
              <a:buSzPts val="2000"/>
              <a:buNone/>
            </a:pPr>
            <a:r>
              <a:rPr lang="tr-TR"/>
              <a:t>daha başarılıdır?</a:t>
            </a:r>
            <a:endParaRPr/>
          </a:p>
        </p:txBody>
      </p:sp>
      <p:sp>
        <p:nvSpPr>
          <p:cNvPr descr="iletişim ile ilgili görsel sonucu" id="587" name="Google Shape;587;p5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8" name="Google Shape;588;p51"/>
          <p:cNvSpPr/>
          <p:nvPr/>
        </p:nvSpPr>
        <p:spPr>
          <a:xfrm>
            <a:off x="5724128" y="2348880"/>
            <a:ext cx="2952328" cy="1152128"/>
          </a:xfrm>
          <a:prstGeom prst="roundRect">
            <a:avLst>
              <a:gd fmla="val 16667" name="adj"/>
            </a:avLst>
          </a:prstGeom>
          <a:blipFill rotWithShape="1">
            <a:blip r:embed="rId3">
              <a:alphaModFix/>
            </a:blip>
            <a:stretch>
              <a:fillRect b="-3665"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tr-TR" sz="1800">
                <a:latin typeface="Arial"/>
                <a:ea typeface="Arial"/>
                <a:cs typeface="Arial"/>
                <a:sym typeface="Arial"/>
              </a:rPr>
              <a:t> </a:t>
            </a:r>
            <a:endParaRPr/>
          </a:p>
        </p:txBody>
      </p:sp>
      <p:sp>
        <p:nvSpPr>
          <p:cNvPr id="589" name="Google Shape;589;p51"/>
          <p:cNvSpPr/>
          <p:nvPr/>
        </p:nvSpPr>
        <p:spPr>
          <a:xfrm>
            <a:off x="5724128" y="4005064"/>
            <a:ext cx="2952328" cy="1152128"/>
          </a:xfrm>
          <a:prstGeom prst="roundRect">
            <a:avLst>
              <a:gd fmla="val 16667" name="adj"/>
            </a:avLst>
          </a:prstGeom>
          <a:blipFill rotWithShape="1">
            <a:blip r:embed="rId4">
              <a:alphaModFix/>
            </a:blip>
            <a:stretch>
              <a:fillRect b="-3141"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tr-TR" sz="1800">
                <a:latin typeface="Arial"/>
                <a:ea typeface="Arial"/>
                <a:cs typeface="Arial"/>
                <a:sym typeface="Arial"/>
              </a:rPr>
              <a:t> </a:t>
            </a:r>
            <a:endParaRPr/>
          </a:p>
        </p:txBody>
      </p:sp>
      <p:sp>
        <p:nvSpPr>
          <p:cNvPr id="590" name="Google Shape;590;p51"/>
          <p:cNvSpPr/>
          <p:nvPr/>
        </p:nvSpPr>
        <p:spPr>
          <a:xfrm>
            <a:off x="2411760" y="5949280"/>
            <a:ext cx="6336704" cy="698376"/>
          </a:xfrm>
          <a:prstGeom prst="roundRect">
            <a:avLst>
              <a:gd fmla="val 16667" name="adj"/>
            </a:avLst>
          </a:prstGeom>
          <a:solidFill>
            <a:schemeClr val="accent1"/>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tr-TR" sz="2000">
                <a:solidFill>
                  <a:schemeClr val="lt1"/>
                </a:solidFill>
                <a:latin typeface="Arial"/>
                <a:ea typeface="Arial"/>
                <a:cs typeface="Arial"/>
                <a:sym typeface="Arial"/>
              </a:rPr>
              <a:t>Sonuç: Ahmet, Veritabanı dersinde daha başarılıdır. </a:t>
            </a:r>
            <a:endParaRPr b="1" sz="20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8"/>
                                        </p:tgtEl>
                                        <p:attrNameLst>
                                          <p:attrName>style.visibility</p:attrName>
                                        </p:attrNameLst>
                                      </p:cBhvr>
                                      <p:to>
                                        <p:strVal val="visible"/>
                                      </p:to>
                                    </p:set>
                                    <p:animEffect filter="fade" transition="in">
                                      <p:cBhvr>
                                        <p:cTn dur="500"/>
                                        <p:tgtEl>
                                          <p:spTgt spid="588"/>
                                        </p:tgtEl>
                                      </p:cBhvr>
                                    </p:animEffect>
                                  </p:childTnLst>
                                </p:cTn>
                              </p:par>
                              <p:par>
                                <p:cTn fill="hold" nodeType="withEffect" presetClass="entr" presetID="10" presetSubtype="0">
                                  <p:stCondLst>
                                    <p:cond delay="0"/>
                                  </p:stCondLst>
                                  <p:childTnLst>
                                    <p:set>
                                      <p:cBhvr>
                                        <p:cTn dur="1" fill="hold">
                                          <p:stCondLst>
                                            <p:cond delay="0"/>
                                          </p:stCondLst>
                                        </p:cTn>
                                        <p:tgtEl>
                                          <p:spTgt spid="589"/>
                                        </p:tgtEl>
                                        <p:attrNameLst>
                                          <p:attrName>style.visibility</p:attrName>
                                        </p:attrNameLst>
                                      </p:cBhvr>
                                      <p:to>
                                        <p:strVal val="visible"/>
                                      </p:to>
                                    </p:set>
                                    <p:animEffect filter="fade" transition="in">
                                      <p:cBhvr>
                                        <p:cTn dur="500"/>
                                        <p:tgtEl>
                                          <p:spTgt spid="589"/>
                                        </p:tgtEl>
                                      </p:cBhvr>
                                    </p:animEffect>
                                  </p:childTnLst>
                                </p:cTn>
                              </p:par>
                              <p:par>
                                <p:cTn fill="hold" nodeType="withEffect" presetClass="entr" presetID="10" presetSubtype="0">
                                  <p:stCondLst>
                                    <p:cond delay="0"/>
                                  </p:stCondLst>
                                  <p:childTnLst>
                                    <p:set>
                                      <p:cBhvr>
                                        <p:cTn dur="1" fill="hold">
                                          <p:stCondLst>
                                            <p:cond delay="0"/>
                                          </p:stCondLst>
                                        </p:cTn>
                                        <p:tgtEl>
                                          <p:spTgt spid="590"/>
                                        </p:tgtEl>
                                        <p:attrNameLst>
                                          <p:attrName>style.visibility</p:attrName>
                                        </p:attrNameLst>
                                      </p:cBhvr>
                                      <p:to>
                                        <p:strVal val="visible"/>
                                      </p:to>
                                    </p:set>
                                    <p:animEffect filter="fade" transition="in">
                                      <p:cBhvr>
                                        <p:cTn dur="500"/>
                                        <p:tgtEl>
                                          <p:spTgt spid="5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52"/>
          <p:cNvSpPr txBox="1"/>
          <p:nvPr>
            <p:ph type="title"/>
          </p:nvPr>
        </p:nvSpPr>
        <p:spPr>
          <a:xfrm>
            <a:off x="323528" y="-243408"/>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T-DAĞILIMI</a:t>
            </a:r>
            <a:endParaRPr/>
          </a:p>
        </p:txBody>
      </p:sp>
      <p:sp>
        <p:nvSpPr>
          <p:cNvPr id="596" name="Google Shape;596;p52"/>
          <p:cNvSpPr txBox="1"/>
          <p:nvPr>
            <p:ph idx="1" type="body"/>
          </p:nvPr>
        </p:nvSpPr>
        <p:spPr>
          <a:xfrm>
            <a:off x="395536" y="692696"/>
            <a:ext cx="8856984" cy="4023360"/>
          </a:xfrm>
          <a:prstGeom prst="rect">
            <a:avLst/>
          </a:prstGeom>
          <a:noFill/>
          <a:ln>
            <a:noFill/>
          </a:ln>
        </p:spPr>
        <p:txBody>
          <a:bodyPr anchorCtr="0" anchor="t" bIns="45700" lIns="45700" spcFirstLastPara="1" rIns="45700" wrap="square" tIns="45700">
            <a:normAutofit/>
          </a:bodyPr>
          <a:lstStyle/>
          <a:p>
            <a:pPr indent="-127000" lvl="0" marL="91440" rtl="0" algn="l">
              <a:lnSpc>
                <a:spcPct val="90000"/>
              </a:lnSpc>
              <a:spcBef>
                <a:spcPts val="0"/>
              </a:spcBef>
              <a:spcAft>
                <a:spcPts val="0"/>
              </a:spcAft>
              <a:buSzPts val="2000"/>
              <a:buChar char=" "/>
            </a:pPr>
            <a:r>
              <a:rPr lang="tr-TR"/>
              <a:t>T-dağılımı William Gossett tarafından küçük örneklem büyüklükleri (</a:t>
            </a:r>
            <a:r>
              <a:rPr b="1" lang="tr-TR" sz="2800"/>
              <a:t>30’dan küçük) </a:t>
            </a:r>
            <a:r>
              <a:rPr lang="tr-TR"/>
              <a:t>dikkate alınarak oluşturulmuştur. Standart Normal'de olduğu gibi, t-dağılımı mükemmel bir şekilde ortalama 0 civarında simetriktir.</a:t>
            </a:r>
            <a:br>
              <a:rPr lang="tr-TR"/>
            </a:br>
            <a:br>
              <a:rPr lang="tr-TR"/>
            </a:br>
            <a:r>
              <a:rPr lang="tr-TR"/>
              <a:t>Numune büyüklüğü (n) sonsuzluğa doğru arttıkça, t-dağılımı standart normal dağılıma yaklaşır.Aşağıdaki grafik bu dağılımları karşılaştırmaktadır:</a:t>
            </a:r>
            <a:endParaRPr/>
          </a:p>
        </p:txBody>
      </p:sp>
      <p:pic>
        <p:nvPicPr>
          <p:cNvPr id="597" name="Google Shape;597;p52"/>
          <p:cNvPicPr preferRelativeResize="0"/>
          <p:nvPr/>
        </p:nvPicPr>
        <p:blipFill rotWithShape="1">
          <a:blip r:embed="rId3">
            <a:alphaModFix/>
          </a:blip>
          <a:srcRect b="0" l="0" r="0" t="0"/>
          <a:stretch/>
        </p:blipFill>
        <p:spPr>
          <a:xfrm>
            <a:off x="995362" y="2719387"/>
            <a:ext cx="7153275" cy="1419225"/>
          </a:xfrm>
          <a:prstGeom prst="rect">
            <a:avLst/>
          </a:prstGeom>
          <a:noFill/>
          <a:ln>
            <a:noFill/>
          </a:ln>
        </p:spPr>
      </p:pic>
      <p:pic>
        <p:nvPicPr>
          <p:cNvPr id="598" name="Google Shape;598;p52"/>
          <p:cNvPicPr preferRelativeResize="0"/>
          <p:nvPr/>
        </p:nvPicPr>
        <p:blipFill rotWithShape="1">
          <a:blip r:embed="rId4">
            <a:alphaModFix/>
          </a:blip>
          <a:srcRect b="0" l="0" r="0" t="0"/>
          <a:stretch/>
        </p:blipFill>
        <p:spPr>
          <a:xfrm>
            <a:off x="1411968" y="4005064"/>
            <a:ext cx="6172200" cy="30670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53"/>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T PUANI</a:t>
            </a:r>
            <a:endParaRPr/>
          </a:p>
        </p:txBody>
      </p:sp>
      <p:sp>
        <p:nvSpPr>
          <p:cNvPr id="604" name="Google Shape;604;p53"/>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fontScale="92500" lnSpcReduction="20000"/>
          </a:bodyPr>
          <a:lstStyle/>
          <a:p>
            <a:pPr indent="-117475" lvl="0" marL="91440" rtl="0" algn="l">
              <a:lnSpc>
                <a:spcPct val="90000"/>
              </a:lnSpc>
              <a:spcBef>
                <a:spcPts val="0"/>
              </a:spcBef>
              <a:spcAft>
                <a:spcPts val="0"/>
              </a:spcAft>
              <a:buSzPct val="100000"/>
              <a:buChar char=" "/>
            </a:pPr>
            <a:r>
              <a:rPr b="1" lang="tr-TR"/>
              <a:t>İşlevi Z puanı ile aynıdır. Yani verileri belli bir standarda getirip karşılaştırmak için kullanılır. Z puanı ile farkı ise şudur:</a:t>
            </a:r>
            <a:br>
              <a:rPr b="1" lang="tr-TR"/>
            </a:br>
            <a:br>
              <a:rPr b="1" lang="tr-TR"/>
            </a:br>
            <a:r>
              <a:rPr b="1" lang="tr-TR"/>
              <a:t>Z puanında 0 olarak kabul edilen aritmetik ortalama T puanında 50 kabul edilir</a:t>
            </a:r>
            <a:br>
              <a:rPr b="1" lang="tr-TR"/>
            </a:br>
            <a:br>
              <a:rPr b="1" lang="tr-TR"/>
            </a:br>
            <a:r>
              <a:rPr b="1" lang="tr-TR"/>
              <a:t>Z puanında 1 kabul edilen standart sapma T puanında 10 kabul edilir</a:t>
            </a:r>
            <a:br>
              <a:rPr b="1" lang="tr-TR"/>
            </a:br>
            <a:br>
              <a:rPr b="1" lang="tr-TR"/>
            </a:br>
            <a:r>
              <a:rPr b="1" lang="tr-TR"/>
              <a:t>Bu düzenleme ile veriler Z puanındaki negatif ve kesirli olabilen ifadelerden kurtularak pozitif ve tam sayı olarak ifade edilebilir.</a:t>
            </a:r>
            <a:endParaRPr/>
          </a:p>
          <a:p>
            <a:pPr indent="0" lvl="0" marL="91440" rtl="0" algn="l">
              <a:lnSpc>
                <a:spcPct val="90000"/>
              </a:lnSpc>
              <a:spcBef>
                <a:spcPts val="1400"/>
              </a:spcBef>
              <a:spcAft>
                <a:spcPts val="0"/>
              </a:spcAft>
              <a:buSzPct val="100000"/>
              <a:buNone/>
            </a:pPr>
            <a:r>
              <a:t/>
            </a:r>
            <a:endParaRPr b="1"/>
          </a:p>
          <a:p>
            <a:pPr indent="-117475" lvl="0" marL="91440" rtl="0" algn="l">
              <a:lnSpc>
                <a:spcPct val="90000"/>
              </a:lnSpc>
              <a:spcBef>
                <a:spcPts val="1400"/>
              </a:spcBef>
              <a:spcAft>
                <a:spcPts val="0"/>
              </a:spcAft>
              <a:buSzPct val="100000"/>
              <a:buChar char=" "/>
            </a:pPr>
            <a:r>
              <a:rPr lang="tr-TR" u="sng">
                <a:solidFill>
                  <a:schemeClr val="hlink"/>
                </a:solidFill>
                <a:hlinkClick r:id="rId3"/>
              </a:rPr>
              <a:t>http://dosya.marmara.edu.tr/ikf/fakulte_genel/bds_duyuru.pdf</a:t>
            </a:r>
            <a:endParaRPr/>
          </a:p>
          <a:p>
            <a:pPr indent="-117475" lvl="0" marL="91440" rtl="0" algn="l">
              <a:lnSpc>
                <a:spcPct val="90000"/>
              </a:lnSpc>
              <a:spcBef>
                <a:spcPts val="1400"/>
              </a:spcBef>
              <a:spcAft>
                <a:spcPts val="0"/>
              </a:spcAft>
              <a:buSzPct val="100000"/>
              <a:buChar char=" "/>
            </a:pPr>
            <a:br>
              <a:rPr lang="tr-TR"/>
            </a:br>
            <a:r>
              <a:rPr lang="tr-TR" sz="4400"/>
              <a:t>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54"/>
          <p:cNvSpPr/>
          <p:nvPr/>
        </p:nvSpPr>
        <p:spPr>
          <a:xfrm>
            <a:off x="0" y="1281113"/>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omic Sans MS"/>
              <a:ea typeface="Comic Sans MS"/>
              <a:cs typeface="Comic Sans MS"/>
              <a:sym typeface="Comic Sans MS"/>
            </a:endParaRPr>
          </a:p>
        </p:txBody>
      </p:sp>
      <p:pic>
        <p:nvPicPr>
          <p:cNvPr descr="http://www.mathnstuff.com/math/spoken/here/2class/90/statpb.gif" id="610" name="Google Shape;610;p54"/>
          <p:cNvPicPr preferRelativeResize="0"/>
          <p:nvPr/>
        </p:nvPicPr>
        <p:blipFill rotWithShape="1">
          <a:blip r:embed="rId3">
            <a:alphaModFix/>
          </a:blip>
          <a:srcRect b="0" l="0" r="0" t="0"/>
          <a:stretch/>
        </p:blipFill>
        <p:spPr>
          <a:xfrm>
            <a:off x="684213" y="115888"/>
            <a:ext cx="5943600" cy="4295775"/>
          </a:xfrm>
          <a:prstGeom prst="rect">
            <a:avLst/>
          </a:prstGeom>
          <a:noFill/>
          <a:ln>
            <a:noFill/>
          </a:ln>
        </p:spPr>
      </p:pic>
      <p:sp>
        <p:nvSpPr>
          <p:cNvPr id="611" name="Google Shape;611;p54"/>
          <p:cNvSpPr/>
          <p:nvPr/>
        </p:nvSpPr>
        <p:spPr>
          <a:xfrm>
            <a:off x="179388" y="4978400"/>
            <a:ext cx="6624637" cy="809625"/>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tr-TR" sz="1400">
                <a:solidFill>
                  <a:schemeClr val="dk1"/>
                </a:solidFill>
                <a:latin typeface="Arial"/>
                <a:ea typeface="Arial"/>
                <a:cs typeface="Arial"/>
                <a:sym typeface="Arial"/>
              </a:rPr>
              <a:t>Z PUANI</a:t>
            </a:r>
            <a:r>
              <a:rPr b="1" lang="tr-TR" sz="1800">
                <a:solidFill>
                  <a:schemeClr val="dk1"/>
                </a:solidFill>
                <a:latin typeface="Arial"/>
                <a:ea typeface="Arial"/>
                <a:cs typeface="Arial"/>
                <a:sym typeface="Arial"/>
              </a:rPr>
              <a:t>       -3        -2        -1         0          1          2         3</a:t>
            </a:r>
            <a:endParaRPr b="1" sz="1800">
              <a:solidFill>
                <a:schemeClr val="dk1"/>
              </a:solidFill>
              <a:latin typeface="Arial"/>
              <a:ea typeface="Arial"/>
              <a:cs typeface="Arial"/>
              <a:sym typeface="Arial"/>
            </a:endParaRPr>
          </a:p>
          <a:p>
            <a:pPr indent="0" lvl="0" marL="0" marR="0" rtl="0" algn="l">
              <a:spcBef>
                <a:spcPts val="0"/>
              </a:spcBef>
              <a:spcAft>
                <a:spcPts val="0"/>
              </a:spcAft>
              <a:buNone/>
            </a:pPr>
            <a:r>
              <a:t/>
            </a:r>
            <a:endParaRPr sz="1100">
              <a:solidFill>
                <a:schemeClr val="dk1"/>
              </a:solidFill>
              <a:latin typeface="Arial"/>
              <a:ea typeface="Arial"/>
              <a:cs typeface="Arial"/>
              <a:sym typeface="Arial"/>
            </a:endParaRPr>
          </a:p>
          <a:p>
            <a:pPr indent="0" lvl="0" marL="0" marR="0" rtl="0" algn="l">
              <a:spcBef>
                <a:spcPts val="0"/>
              </a:spcBef>
              <a:spcAft>
                <a:spcPts val="0"/>
              </a:spcAft>
              <a:buNone/>
            </a:pPr>
            <a:r>
              <a:rPr b="1" lang="tr-TR" sz="1400">
                <a:solidFill>
                  <a:schemeClr val="dk1"/>
                </a:solidFill>
                <a:latin typeface="Arial"/>
                <a:ea typeface="Arial"/>
                <a:cs typeface="Arial"/>
                <a:sym typeface="Arial"/>
              </a:rPr>
              <a:t> T PUANI</a:t>
            </a:r>
            <a:r>
              <a:rPr b="1" lang="tr-TR" sz="1800">
                <a:solidFill>
                  <a:schemeClr val="dk1"/>
                </a:solidFill>
                <a:latin typeface="Arial"/>
                <a:ea typeface="Arial"/>
                <a:cs typeface="Arial"/>
                <a:sym typeface="Arial"/>
              </a:rPr>
              <a:t>      20        30       40       50         60       70        80</a:t>
            </a:r>
            <a:endParaRPr sz="1800">
              <a:solidFill>
                <a:schemeClr val="dk1"/>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55"/>
          <p:cNvSpPr txBox="1"/>
          <p:nvPr>
            <p:ph type="title"/>
          </p:nvPr>
        </p:nvSpPr>
        <p:spPr>
          <a:xfrm>
            <a:off x="900113" y="2565400"/>
            <a:ext cx="6870700" cy="226853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0C0C0C"/>
              </a:buClr>
              <a:buSzPct val="100000"/>
              <a:buFont typeface="Twentieth Century"/>
              <a:buNone/>
            </a:pPr>
            <a:r>
              <a:rPr b="1" lang="tr-TR" sz="4000"/>
              <a:t>T PUANI ŞU ŞEKILDE BULUNUR:</a:t>
            </a:r>
            <a:br>
              <a:rPr b="1" lang="tr-TR" sz="4000"/>
            </a:br>
            <a:br>
              <a:rPr b="1" lang="tr-TR" sz="4000"/>
            </a:br>
            <a:br>
              <a:rPr b="1" lang="tr-TR" sz="4000"/>
            </a:br>
            <a:r>
              <a:rPr b="1" lang="tr-TR" sz="4000"/>
              <a:t>T= 50+ (10X Z PUAN)</a:t>
            </a:r>
            <a:br>
              <a:rPr b="1" lang="tr-TR" sz="4000"/>
            </a:br>
            <a:br>
              <a:rPr b="1" lang="tr-TR" sz="2400"/>
            </a:br>
            <a:br>
              <a:rPr b="1" lang="tr-TR" sz="2400"/>
            </a:br>
            <a:br>
              <a:rPr b="1" lang="tr-TR" sz="2400"/>
            </a:br>
            <a:br>
              <a:rPr lang="tr-TR" sz="2000"/>
            </a:br>
            <a:endParaRPr sz="14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56"/>
          <p:cNvSpPr txBox="1"/>
          <p:nvPr>
            <p:ph type="title"/>
          </p:nvPr>
        </p:nvSpPr>
        <p:spPr>
          <a:xfrm>
            <a:off x="755650" y="3429000"/>
            <a:ext cx="6870700" cy="16002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0C0C0C"/>
              </a:buClr>
              <a:buSzPct val="100000"/>
              <a:buFont typeface="Twentieth Century"/>
              <a:buNone/>
            </a:pPr>
            <a:r>
              <a:rPr lang="tr-TR" sz="4000"/>
              <a:t>ÖRNEĞIN; Z PUANI 1,2 OLAN BIRININ T PUANI</a:t>
            </a:r>
            <a:br>
              <a:rPr lang="tr-TR" sz="4000"/>
            </a:br>
            <a:br>
              <a:rPr lang="tr-TR" sz="4000"/>
            </a:br>
            <a:br>
              <a:rPr lang="tr-TR" sz="4000"/>
            </a:br>
            <a:br>
              <a:rPr lang="tr-TR" sz="4000"/>
            </a:br>
            <a:r>
              <a:rPr lang="tr-TR" sz="4000"/>
              <a:t>T=50+ (10X1,2)=62 OLARAK HESAPLANIR</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57"/>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HIPOTEZ ÖRNEKLERI</a:t>
            </a:r>
            <a:endParaRPr/>
          </a:p>
        </p:txBody>
      </p:sp>
      <p:sp>
        <p:nvSpPr>
          <p:cNvPr id="627" name="Google Shape;627;p57"/>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lnSpcReduction="10000"/>
          </a:bodyPr>
          <a:lstStyle/>
          <a:p>
            <a:pPr indent="-127000" lvl="0" marL="91440" rtl="0" algn="l">
              <a:lnSpc>
                <a:spcPct val="90000"/>
              </a:lnSpc>
              <a:spcBef>
                <a:spcPts val="0"/>
              </a:spcBef>
              <a:spcAft>
                <a:spcPts val="0"/>
              </a:spcAft>
              <a:buSzPts val="2000"/>
              <a:buChar char=" "/>
            </a:pPr>
            <a:r>
              <a:rPr lang="tr-TR"/>
              <a:t>Hipotez testlerinde genel yaklaşım</a:t>
            </a:r>
            <a:endParaRPr/>
          </a:p>
          <a:p>
            <a:pPr indent="-127000" lvl="0" marL="91440" rtl="0" algn="l">
              <a:lnSpc>
                <a:spcPct val="90000"/>
              </a:lnSpc>
              <a:spcBef>
                <a:spcPts val="1400"/>
              </a:spcBef>
              <a:spcAft>
                <a:spcPts val="0"/>
              </a:spcAft>
              <a:buSzPts val="2000"/>
              <a:buChar char=" "/>
            </a:pPr>
            <a:r>
              <a:rPr lang="tr-TR"/>
              <a:t> Hipotez testleri, araştırmamızın başında sorduğumuz sorunun ve kurduğumuz hipotezin kabulü veya reddi için ne kadar kanıt olduğunu anlamamıza yardım eder.</a:t>
            </a:r>
            <a:endParaRPr/>
          </a:p>
          <a:p>
            <a:pPr indent="-127000" lvl="0" marL="91440" rtl="0" algn="l">
              <a:lnSpc>
                <a:spcPct val="90000"/>
              </a:lnSpc>
              <a:spcBef>
                <a:spcPts val="1400"/>
              </a:spcBef>
              <a:spcAft>
                <a:spcPts val="0"/>
              </a:spcAft>
              <a:buSzPts val="2000"/>
              <a:buChar char=" "/>
            </a:pPr>
            <a:r>
              <a:rPr lang="tr-TR"/>
              <a:t> Hipotez testlerinde kural olarak aşağıdaki 5 aşama izlenir:1.Sıfır hipotezi (H0) ve alternatif hipotezin (H1) tanımlanması</a:t>
            </a:r>
            <a:endParaRPr/>
          </a:p>
          <a:p>
            <a:pPr indent="-127000" lvl="0" marL="91440" rtl="0" algn="l">
              <a:lnSpc>
                <a:spcPct val="90000"/>
              </a:lnSpc>
              <a:spcBef>
                <a:spcPts val="1400"/>
              </a:spcBef>
              <a:spcAft>
                <a:spcPts val="0"/>
              </a:spcAft>
              <a:buSzPts val="2000"/>
              <a:buChar char=" "/>
            </a:pPr>
            <a:r>
              <a:rPr lang="tr-TR"/>
              <a:t>2.Verilerin toplanması</a:t>
            </a:r>
            <a:endParaRPr/>
          </a:p>
          <a:p>
            <a:pPr indent="-127000" lvl="0" marL="91440" rtl="0" algn="l">
              <a:lnSpc>
                <a:spcPct val="90000"/>
              </a:lnSpc>
              <a:spcBef>
                <a:spcPts val="1400"/>
              </a:spcBef>
              <a:spcAft>
                <a:spcPts val="0"/>
              </a:spcAft>
              <a:buSzPts val="2000"/>
              <a:buChar char=" "/>
            </a:pPr>
            <a:r>
              <a:rPr lang="tr-TR"/>
              <a:t>3.İlgili sıfır hipotezi için test istatistiğinin hesaplanması</a:t>
            </a:r>
            <a:endParaRPr/>
          </a:p>
          <a:p>
            <a:pPr indent="-127000" lvl="0" marL="91440" rtl="0" algn="l">
              <a:lnSpc>
                <a:spcPct val="90000"/>
              </a:lnSpc>
              <a:spcBef>
                <a:spcPts val="1400"/>
              </a:spcBef>
              <a:spcAft>
                <a:spcPts val="0"/>
              </a:spcAft>
              <a:buSzPts val="2000"/>
              <a:buChar char=" "/>
            </a:pPr>
            <a:r>
              <a:rPr lang="tr-TR"/>
              <a:t>4.Test istatistiğinden elde edilen değerin bilinen bir olasılık dağılımı ile karşlaştırılması</a:t>
            </a:r>
            <a:endParaRPr/>
          </a:p>
          <a:p>
            <a:pPr indent="-127000" lvl="0" marL="91440" rtl="0" algn="l">
              <a:lnSpc>
                <a:spcPct val="90000"/>
              </a:lnSpc>
              <a:spcBef>
                <a:spcPts val="1400"/>
              </a:spcBef>
              <a:spcAft>
                <a:spcPts val="0"/>
              </a:spcAft>
              <a:buSzPts val="2000"/>
              <a:buChar char=" "/>
            </a:pPr>
            <a:r>
              <a:rPr lang="tr-TR"/>
              <a:t>5.P değerinin ve sonuçların yorumlanması</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58"/>
          <p:cNvSpPr txBox="1"/>
          <p:nvPr>
            <p:ph idx="1" type="body"/>
          </p:nvPr>
        </p:nvSpPr>
        <p:spPr>
          <a:xfrm>
            <a:off x="457200" y="908050"/>
            <a:ext cx="8229600" cy="5218113"/>
          </a:xfrm>
          <a:prstGeom prst="rect">
            <a:avLst/>
          </a:prstGeom>
          <a:noFill/>
          <a:ln>
            <a:noFill/>
          </a:ln>
        </p:spPr>
        <p:txBody>
          <a:bodyPr anchorCtr="0" anchor="t" bIns="45700" lIns="45700" spcFirstLastPara="1" rIns="45700" wrap="square" tIns="45700">
            <a:normAutofit/>
          </a:bodyPr>
          <a:lstStyle/>
          <a:p>
            <a:pPr indent="-177800" lvl="0" marL="91440" rtl="0" algn="just">
              <a:lnSpc>
                <a:spcPct val="90000"/>
              </a:lnSpc>
              <a:spcBef>
                <a:spcPts val="0"/>
              </a:spcBef>
              <a:spcAft>
                <a:spcPts val="0"/>
              </a:spcAft>
              <a:buSzPts val="2800"/>
              <a:buChar char=" "/>
            </a:pPr>
            <a:r>
              <a:rPr lang="tr-TR" sz="2800"/>
              <a:t>Verilen örneklerin tümünde incelenmek istenen, kitle ortalaması(ları) ya da kitle oranı(ları) üzerine kurulmuş hipotezlerdir. </a:t>
            </a:r>
            <a:endParaRPr/>
          </a:p>
          <a:p>
            <a:pPr indent="0" lvl="0" marL="91440" rtl="0" algn="just">
              <a:lnSpc>
                <a:spcPct val="90000"/>
              </a:lnSpc>
              <a:spcBef>
                <a:spcPts val="1400"/>
              </a:spcBef>
              <a:spcAft>
                <a:spcPts val="0"/>
              </a:spcAft>
              <a:buSzPts val="2800"/>
              <a:buNone/>
            </a:pPr>
            <a:r>
              <a:t/>
            </a:r>
            <a:endParaRPr sz="2800"/>
          </a:p>
          <a:p>
            <a:pPr indent="-177800" lvl="0" marL="91440" rtl="0" algn="just">
              <a:lnSpc>
                <a:spcPct val="90000"/>
              </a:lnSpc>
              <a:spcBef>
                <a:spcPts val="1400"/>
              </a:spcBef>
              <a:spcAft>
                <a:spcPts val="0"/>
              </a:spcAft>
              <a:buSzPts val="2800"/>
              <a:buChar char=" "/>
            </a:pPr>
            <a:r>
              <a:rPr lang="tr-TR" sz="2800">
                <a:solidFill>
                  <a:srgbClr val="000000"/>
                </a:solidFill>
              </a:rPr>
              <a:t>Hipotez testlerinde iki hipotez vardır. </a:t>
            </a:r>
            <a:r>
              <a:rPr b="1" lang="tr-TR" sz="2800">
                <a:solidFill>
                  <a:srgbClr val="000000"/>
                </a:solidFill>
              </a:rPr>
              <a:t>Birincisi, H</a:t>
            </a:r>
            <a:r>
              <a:rPr b="1" baseline="-25000" lang="tr-TR" sz="2800">
                <a:solidFill>
                  <a:srgbClr val="000000"/>
                </a:solidFill>
              </a:rPr>
              <a:t>0</a:t>
            </a:r>
            <a:r>
              <a:rPr b="1" lang="tr-TR" sz="2800">
                <a:solidFill>
                  <a:srgbClr val="000000"/>
                </a:solidFill>
              </a:rPr>
              <a:t> ile gösterilen </a:t>
            </a:r>
            <a:r>
              <a:rPr b="1" lang="tr-TR" sz="2800" u="sng">
                <a:solidFill>
                  <a:srgbClr val="000000"/>
                </a:solidFill>
              </a:rPr>
              <a:t>yokluk</a:t>
            </a:r>
            <a:r>
              <a:rPr b="1" lang="tr-TR" sz="2800">
                <a:solidFill>
                  <a:srgbClr val="000000"/>
                </a:solidFill>
              </a:rPr>
              <a:t> hipotezi, İkincisi H</a:t>
            </a:r>
            <a:r>
              <a:rPr b="1" baseline="-25000" lang="tr-TR" sz="2800">
                <a:solidFill>
                  <a:srgbClr val="000000"/>
                </a:solidFill>
              </a:rPr>
              <a:t>1</a:t>
            </a:r>
            <a:r>
              <a:rPr b="1" lang="tr-TR" sz="2800">
                <a:solidFill>
                  <a:srgbClr val="000000"/>
                </a:solidFill>
              </a:rPr>
              <a:t> ile gösterilen seçenek hipotezdir. </a:t>
            </a:r>
            <a:endParaRPr b="1" sz="2800">
              <a:solidFill>
                <a:srgbClr val="000000"/>
              </a:solidFill>
            </a:endParaRPr>
          </a:p>
          <a:p>
            <a:pPr indent="0" lvl="0" marL="91440" rtl="0" algn="just">
              <a:lnSpc>
                <a:spcPct val="90000"/>
              </a:lnSpc>
              <a:spcBef>
                <a:spcPts val="1400"/>
              </a:spcBef>
              <a:spcAft>
                <a:spcPts val="0"/>
              </a:spcAft>
              <a:buSzPts val="2800"/>
              <a:buNone/>
            </a:pPr>
            <a:r>
              <a:t/>
            </a:r>
            <a:endParaRPr sz="2800">
              <a:solidFill>
                <a:srgbClr val="000000"/>
              </a:solidFill>
            </a:endParaRPr>
          </a:p>
          <a:p>
            <a:pPr indent="-177800" lvl="0" marL="91440" rtl="0" algn="just">
              <a:lnSpc>
                <a:spcPct val="90000"/>
              </a:lnSpc>
              <a:spcBef>
                <a:spcPts val="1400"/>
              </a:spcBef>
              <a:spcAft>
                <a:spcPts val="0"/>
              </a:spcAft>
              <a:buSzPts val="2800"/>
              <a:buChar char=" "/>
            </a:pPr>
            <a:r>
              <a:rPr lang="tr-TR" sz="2800">
                <a:solidFill>
                  <a:srgbClr val="000000"/>
                </a:solidFill>
              </a:rPr>
              <a:t>İstatistiksel hipotez testlerinin tümü H</a:t>
            </a:r>
            <a:r>
              <a:rPr baseline="-25000" lang="tr-TR" sz="2800">
                <a:solidFill>
                  <a:srgbClr val="000000"/>
                </a:solidFill>
              </a:rPr>
              <a:t>0</a:t>
            </a:r>
            <a:r>
              <a:rPr lang="tr-TR" sz="2800">
                <a:solidFill>
                  <a:srgbClr val="000000"/>
                </a:solidFill>
              </a:rPr>
              <a:t> hipotezinin doğru olduğu varsayımı altında gerçekleştirilir.</a:t>
            </a:r>
            <a:endParaRPr sz="2800">
              <a:solidFill>
                <a:srgbClr val="000000"/>
              </a:solidFill>
            </a:endParaRPr>
          </a:p>
        </p:txBody>
      </p:sp>
      <p:sp>
        <p:nvSpPr>
          <p:cNvPr id="633" name="Google Shape;633;p58"/>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98989"/>
              </a:buClr>
              <a:buSzPts val="1200"/>
              <a:buFont typeface="Arial"/>
              <a:buNone/>
            </a:pPr>
            <a:fld id="{00000000-1234-1234-1234-123412341234}" type="slidenum">
              <a:rPr lang="tr-TR" sz="1200">
                <a:solidFill>
                  <a:srgbClr val="898989"/>
                </a:solidFill>
                <a:latin typeface="Calibri"/>
                <a:ea typeface="Calibri"/>
                <a:cs typeface="Calibri"/>
                <a:sym typeface="Calibri"/>
              </a:rPr>
              <a:t>‹#›</a:t>
            </a:fld>
            <a:endParaRPr sz="1200">
              <a:solidFill>
                <a:srgbClr val="898989"/>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59"/>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tr-TR"/>
              <a:t>HIPOTEZ TESTLERI</a:t>
            </a:r>
            <a:endParaRPr/>
          </a:p>
        </p:txBody>
      </p:sp>
      <p:sp>
        <p:nvSpPr>
          <p:cNvPr id="639" name="Google Shape;639;p59"/>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fontScale="92500" lnSpcReduction="10000"/>
          </a:bodyPr>
          <a:lstStyle/>
          <a:p>
            <a:pPr indent="-117475" lvl="0" marL="91440" rtl="0" algn="l">
              <a:lnSpc>
                <a:spcPct val="90000"/>
              </a:lnSpc>
              <a:spcBef>
                <a:spcPts val="0"/>
              </a:spcBef>
              <a:spcAft>
                <a:spcPts val="0"/>
              </a:spcAft>
              <a:buSzPct val="100000"/>
              <a:buChar char=" "/>
            </a:pPr>
            <a:r>
              <a:rPr b="1" i="1" lang="tr-TR"/>
              <a:t>H0 ve H1 hipotezi </a:t>
            </a:r>
            <a:endParaRPr/>
          </a:p>
          <a:p>
            <a:pPr indent="-117475" lvl="0" marL="91440" rtl="0" algn="l">
              <a:lnSpc>
                <a:spcPct val="90000"/>
              </a:lnSpc>
              <a:spcBef>
                <a:spcPts val="1400"/>
              </a:spcBef>
              <a:spcAft>
                <a:spcPts val="0"/>
              </a:spcAft>
              <a:buSzPct val="100000"/>
              <a:buChar char=" "/>
            </a:pPr>
            <a:r>
              <a:rPr lang="tr-TR"/>
              <a:t>Sıfır hipotezi, “arada fark yoktur” şeklinde kurulur. Örn. </a:t>
            </a:r>
            <a:endParaRPr/>
          </a:p>
          <a:p>
            <a:pPr indent="-117475" lvl="0" marL="91440" rtl="0" algn="l">
              <a:lnSpc>
                <a:spcPct val="90000"/>
              </a:lnSpc>
              <a:spcBef>
                <a:spcPts val="1400"/>
              </a:spcBef>
              <a:spcAft>
                <a:spcPts val="0"/>
              </a:spcAft>
              <a:buSzPct val="100000"/>
              <a:buChar char=" "/>
            </a:pPr>
            <a:r>
              <a:rPr b="1" i="1" lang="tr-TR"/>
              <a:t>Örneğin çevik proje yöntemi ile çağlayan proje yönetimini kullanan projelerin incelenmesi için bir araştırma yapmak isterssek.H0 hipotezi şöyle olur: </a:t>
            </a:r>
            <a:endParaRPr b="1"/>
          </a:p>
          <a:p>
            <a:pPr indent="-117475" lvl="0" marL="91440" rtl="0" algn="l">
              <a:lnSpc>
                <a:spcPct val="90000"/>
              </a:lnSpc>
              <a:spcBef>
                <a:spcPts val="1400"/>
              </a:spcBef>
              <a:spcAft>
                <a:spcPts val="0"/>
              </a:spcAft>
              <a:buSzPct val="100000"/>
              <a:buChar char=" "/>
            </a:pPr>
            <a:r>
              <a:rPr i="1" lang="tr-TR"/>
              <a:t>“Çevik proje geliştirme sürecinin proje tamamlama süresine bir etkisi yoktur.” </a:t>
            </a:r>
            <a:endParaRPr/>
          </a:p>
          <a:p>
            <a:pPr indent="-117475" lvl="0" marL="91440" rtl="0" algn="l">
              <a:lnSpc>
                <a:spcPct val="90000"/>
              </a:lnSpc>
              <a:spcBef>
                <a:spcPts val="1400"/>
              </a:spcBef>
              <a:spcAft>
                <a:spcPts val="0"/>
              </a:spcAft>
              <a:buSzPct val="100000"/>
              <a:buChar char=" "/>
            </a:pPr>
            <a:r>
              <a:rPr lang="tr-TR"/>
              <a:t>Alternatif hipotez ise H0‟ın doğru olmadığını iddia eder. Yukarıdaki örnekte H1 şöyle olur: </a:t>
            </a:r>
            <a:endParaRPr/>
          </a:p>
          <a:p>
            <a:pPr indent="-117475" lvl="0" marL="91440" rtl="0" algn="l">
              <a:lnSpc>
                <a:spcPct val="90000"/>
              </a:lnSpc>
              <a:spcBef>
                <a:spcPts val="1400"/>
              </a:spcBef>
              <a:spcAft>
                <a:spcPts val="0"/>
              </a:spcAft>
              <a:buSzPct val="100000"/>
              <a:buChar char=" "/>
            </a:pPr>
            <a:r>
              <a:rPr i="1" lang="tr-TR"/>
              <a:t>“Proje yönetiminde çevik yönetim proje süresini farklı şekilde etkiler.” </a:t>
            </a:r>
            <a:endParaRPr/>
          </a:p>
          <a:p>
            <a:pPr indent="-117475" lvl="0" marL="91440" rtl="0" algn="l">
              <a:lnSpc>
                <a:spcPct val="90000"/>
              </a:lnSpc>
              <a:spcBef>
                <a:spcPts val="1400"/>
              </a:spcBef>
              <a:spcAft>
                <a:spcPts val="0"/>
              </a:spcAft>
              <a:buSzPct val="100000"/>
              <a:buChar char=" "/>
            </a:pPr>
            <a:r>
              <a:rPr lang="tr-TR"/>
              <a:t>Dikkat edilirse yukarıdaki hipotezlerde aradaki farkın yönü belirtilmemiştir.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60"/>
          <p:cNvSpPr txBox="1"/>
          <p:nvPr>
            <p:ph idx="1" type="body"/>
          </p:nvPr>
        </p:nvSpPr>
        <p:spPr>
          <a:xfrm>
            <a:off x="457200" y="765175"/>
            <a:ext cx="8229600" cy="5360988"/>
          </a:xfrm>
          <a:prstGeom prst="rect">
            <a:avLst/>
          </a:prstGeom>
          <a:noFill/>
          <a:ln>
            <a:noFill/>
          </a:ln>
        </p:spPr>
        <p:txBody>
          <a:bodyPr anchorCtr="0" anchor="t" bIns="45700" lIns="45700" spcFirstLastPara="1" rIns="45700" wrap="square" tIns="45700">
            <a:normAutofit/>
          </a:bodyPr>
          <a:lstStyle/>
          <a:p>
            <a:pPr indent="-127000" lvl="0" marL="91440" rtl="0" algn="just">
              <a:lnSpc>
                <a:spcPct val="90000"/>
              </a:lnSpc>
              <a:spcBef>
                <a:spcPts val="0"/>
              </a:spcBef>
              <a:spcAft>
                <a:spcPts val="0"/>
              </a:spcAft>
              <a:buSzPts val="2000"/>
              <a:buChar char=" "/>
            </a:pPr>
            <a:r>
              <a:rPr lang="tr-TR"/>
              <a:t>İstatistiksel hipotez testlerinin tümü H</a:t>
            </a:r>
            <a:r>
              <a:rPr baseline="-25000" lang="tr-TR"/>
              <a:t>0</a:t>
            </a:r>
            <a:r>
              <a:rPr lang="tr-TR"/>
              <a:t> hipotezinin doğru olduğu varsayımı altında gerçekleştirilir. </a:t>
            </a:r>
            <a:endParaRPr/>
          </a:p>
          <a:p>
            <a:pPr indent="0" lvl="0" marL="91440" rtl="0" algn="just">
              <a:lnSpc>
                <a:spcPct val="90000"/>
              </a:lnSpc>
              <a:spcBef>
                <a:spcPts val="1400"/>
              </a:spcBef>
              <a:spcAft>
                <a:spcPts val="0"/>
              </a:spcAft>
              <a:buSzPts val="2000"/>
              <a:buNone/>
            </a:pPr>
            <a:r>
              <a:t/>
            </a:r>
            <a:endParaRPr/>
          </a:p>
          <a:p>
            <a:pPr indent="-127000" lvl="0" marL="91440" rtl="0" algn="just">
              <a:lnSpc>
                <a:spcPct val="90000"/>
              </a:lnSpc>
              <a:spcBef>
                <a:spcPts val="1400"/>
              </a:spcBef>
              <a:spcAft>
                <a:spcPts val="0"/>
              </a:spcAft>
              <a:buSzPts val="2000"/>
              <a:buChar char=" "/>
            </a:pPr>
            <a:r>
              <a:rPr lang="tr-TR"/>
              <a:t>Araştırmacı, çalışmasına başlamadan önce tip I hata olasılığı için belirli bir değer öngörürür. Bu değer alfa (</a:t>
            </a:r>
            <a:r>
              <a:rPr b="1" lang="tr-TR">
                <a:solidFill>
                  <a:srgbClr val="000000"/>
                </a:solidFill>
              </a:rPr>
              <a:t>α</a:t>
            </a:r>
            <a:r>
              <a:rPr lang="tr-TR"/>
              <a:t>) değeri ile gösterilir ve genellikle 0.05 veya 0.01 gibi küçük değerler olarak alınır.</a:t>
            </a:r>
            <a:endParaRPr/>
          </a:p>
        </p:txBody>
      </p:sp>
      <p:sp>
        <p:nvSpPr>
          <p:cNvPr id="645" name="Google Shape;645;p60"/>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98989"/>
              </a:buClr>
              <a:buSzPts val="1200"/>
              <a:buFont typeface="Arial"/>
              <a:buNone/>
            </a:pPr>
            <a:fld id="{00000000-1234-1234-1234-123412341234}" type="slidenum">
              <a:rPr lang="tr-TR" sz="1200">
                <a:solidFill>
                  <a:srgbClr val="898989"/>
                </a:solidFill>
                <a:latin typeface="Calibri"/>
                <a:ea typeface="Calibri"/>
                <a:cs typeface="Calibri"/>
                <a:sym typeface="Calibri"/>
              </a:rPr>
              <a:t>‹#›</a:t>
            </a:fld>
            <a:endParaRPr sz="1200">
              <a:solidFill>
                <a:srgbClr val="898989"/>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61"/>
          <p:cNvSpPr txBox="1"/>
          <p:nvPr>
            <p:ph idx="1" type="body"/>
          </p:nvPr>
        </p:nvSpPr>
        <p:spPr>
          <a:xfrm>
            <a:off x="539750" y="404813"/>
            <a:ext cx="8229600" cy="5832475"/>
          </a:xfrm>
          <a:prstGeom prst="rect">
            <a:avLst/>
          </a:prstGeom>
          <a:noFill/>
          <a:ln>
            <a:noFill/>
          </a:ln>
        </p:spPr>
        <p:txBody>
          <a:bodyPr anchorCtr="0" anchor="t" bIns="45700" lIns="45700" spcFirstLastPara="1" rIns="45700" wrap="square" tIns="45700">
            <a:normAutofit lnSpcReduction="10000"/>
          </a:bodyPr>
          <a:lstStyle/>
          <a:p>
            <a:pPr indent="-127000" lvl="0" marL="91440" rtl="0" algn="just">
              <a:lnSpc>
                <a:spcPct val="90000"/>
              </a:lnSpc>
              <a:spcBef>
                <a:spcPts val="0"/>
              </a:spcBef>
              <a:spcAft>
                <a:spcPts val="0"/>
              </a:spcAft>
              <a:buSzPts val="2000"/>
              <a:buChar char=" "/>
            </a:pPr>
            <a:r>
              <a:rPr lang="tr-TR"/>
              <a:t>Diyelim ki, çalışmamızın başında tip I hata olasılığını </a:t>
            </a:r>
            <a:r>
              <a:rPr b="1" lang="tr-TR">
                <a:solidFill>
                  <a:srgbClr val="000000"/>
                </a:solidFill>
              </a:rPr>
              <a:t>α</a:t>
            </a:r>
            <a:r>
              <a:rPr lang="tr-TR"/>
              <a:t>=0.05  olarak öngördük. Bunun anlamı H</a:t>
            </a:r>
            <a:r>
              <a:rPr baseline="-25000" lang="tr-TR"/>
              <a:t>0</a:t>
            </a:r>
            <a:r>
              <a:rPr lang="tr-TR"/>
              <a:t> gerçekte doğru iken onu yanlışlıkla red etme olasılığımız maksimum %5 olmalı.</a:t>
            </a:r>
            <a:endParaRPr/>
          </a:p>
          <a:p>
            <a:pPr indent="0" lvl="0" marL="91440" rtl="0" algn="just">
              <a:lnSpc>
                <a:spcPct val="90000"/>
              </a:lnSpc>
              <a:spcBef>
                <a:spcPts val="1400"/>
              </a:spcBef>
              <a:spcAft>
                <a:spcPts val="0"/>
              </a:spcAft>
              <a:buSzPts val="2000"/>
              <a:buNone/>
            </a:pPr>
            <a:r>
              <a:t/>
            </a:r>
            <a:endParaRPr/>
          </a:p>
          <a:p>
            <a:pPr indent="-127000" lvl="0" marL="91440" rtl="0" algn="just">
              <a:lnSpc>
                <a:spcPct val="90000"/>
              </a:lnSpc>
              <a:spcBef>
                <a:spcPts val="1400"/>
              </a:spcBef>
              <a:spcAft>
                <a:spcPts val="0"/>
              </a:spcAft>
              <a:buSzPts val="2000"/>
              <a:buChar char=" "/>
            </a:pPr>
            <a:r>
              <a:rPr b="1" lang="tr-TR"/>
              <a:t>P (Probability; Olasılık) değeri istatistiksel anlamlılığın (statistical significance) varlığının ve varsa da var olan farklılığın kanıtının düzeyinin belirlenmesi amacı ile kullanılan bir değerdir.</a:t>
            </a:r>
            <a:r>
              <a:rPr lang="tr-TR"/>
              <a:t> </a:t>
            </a:r>
            <a:endParaRPr/>
          </a:p>
          <a:p>
            <a:pPr indent="-127000" lvl="0" marL="91440" rtl="0" algn="just">
              <a:lnSpc>
                <a:spcPct val="90000"/>
              </a:lnSpc>
              <a:spcBef>
                <a:spcPts val="1400"/>
              </a:spcBef>
              <a:spcAft>
                <a:spcPts val="0"/>
              </a:spcAft>
              <a:buSzPts val="2000"/>
              <a:buChar char=" "/>
            </a:pPr>
            <a:r>
              <a:rPr b="1" lang="tr-TR"/>
              <a:t>Her istatistiksel testin sonucunda kullanılan test istatistiğine ait bir P değeri hesaplanır.</a:t>
            </a:r>
            <a:endParaRPr b="1"/>
          </a:p>
          <a:p>
            <a:pPr indent="-127000" lvl="0" marL="91440" rtl="0" algn="l">
              <a:lnSpc>
                <a:spcPct val="90000"/>
              </a:lnSpc>
              <a:spcBef>
                <a:spcPts val="1400"/>
              </a:spcBef>
              <a:spcAft>
                <a:spcPts val="0"/>
              </a:spcAft>
              <a:buSzPts val="2000"/>
              <a:buChar char=" "/>
            </a:pPr>
            <a:r>
              <a:rPr lang="tr-TR"/>
              <a:t>Bu P değeri “ilgili hipotez testi sonucunda anlamlı fark vardır denileceği durumda hatalı karar verme olasılığının ne olduğunu gösterir. </a:t>
            </a:r>
            <a:endParaRPr/>
          </a:p>
          <a:p>
            <a:pPr indent="-127000" lvl="0" marL="91440" rtl="0" algn="l">
              <a:lnSpc>
                <a:spcPct val="90000"/>
              </a:lnSpc>
              <a:spcBef>
                <a:spcPts val="1400"/>
              </a:spcBef>
              <a:spcAft>
                <a:spcPts val="0"/>
              </a:spcAft>
              <a:buSzPts val="2000"/>
              <a:buChar char=" "/>
            </a:pPr>
            <a:r>
              <a:rPr lang="tr-TR"/>
              <a:t>P değeri ne kadar küçük olursa H</a:t>
            </a:r>
            <a:r>
              <a:rPr baseline="-25000" lang="tr-TR"/>
              <a:t>0</a:t>
            </a:r>
            <a:r>
              <a:rPr lang="tr-TR"/>
              <a:t> hipotezini reddetmek için elimizdeki kanıt o kadar yüksek olur. P değeri, genellikle paket programlarda “Sig.” kısaltması ile ifade edilir. Burada “Sig.” “significance; anlamlılık” kelimesinin kısaltılmış halidir.</a:t>
            </a:r>
            <a:endParaRPr/>
          </a:p>
          <a:p>
            <a:pPr indent="0" lvl="0" marL="91440" rtl="0" algn="just">
              <a:lnSpc>
                <a:spcPct val="90000"/>
              </a:lnSpc>
              <a:spcBef>
                <a:spcPts val="1400"/>
              </a:spcBef>
              <a:spcAft>
                <a:spcPts val="0"/>
              </a:spcAft>
              <a:buSzPts val="2000"/>
              <a:buNone/>
            </a:pPr>
            <a:r>
              <a:t/>
            </a:r>
            <a:endParaRPr/>
          </a:p>
          <a:p>
            <a:pPr indent="0" lvl="0" marL="91440" rtl="0" algn="just">
              <a:lnSpc>
                <a:spcPct val="90000"/>
              </a:lnSpc>
              <a:spcBef>
                <a:spcPts val="1400"/>
              </a:spcBef>
              <a:spcAft>
                <a:spcPts val="0"/>
              </a:spcAft>
              <a:buSzPts val="2000"/>
              <a:buNone/>
            </a:pPr>
            <a:r>
              <a:t/>
            </a:r>
            <a:endParaRPr/>
          </a:p>
          <a:p>
            <a:pPr indent="-127000" lvl="0" marL="91440" rtl="0" algn="just">
              <a:lnSpc>
                <a:spcPct val="90000"/>
              </a:lnSpc>
              <a:spcBef>
                <a:spcPts val="1400"/>
              </a:spcBef>
              <a:spcAft>
                <a:spcPts val="0"/>
              </a:spcAft>
              <a:buSzPts val="2000"/>
              <a:buChar char=" "/>
            </a:pPr>
            <a:r>
              <a:rPr lang="tr-TR"/>
              <a:t>. P değeri önceden belirlenmiş</a:t>
            </a:r>
            <a:r>
              <a:rPr b="1" lang="tr-TR"/>
              <a:t> α </a:t>
            </a:r>
            <a:r>
              <a:rPr lang="tr-TR"/>
              <a:t>değeri ile karşılaştırılarak karar verilir.</a:t>
            </a:r>
            <a:endParaRPr/>
          </a:p>
        </p:txBody>
      </p:sp>
      <p:sp>
        <p:nvSpPr>
          <p:cNvPr id="651" name="Google Shape;651;p61"/>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98989"/>
              </a:buClr>
              <a:buSzPts val="1200"/>
              <a:buFont typeface="Arial"/>
              <a:buNone/>
            </a:pPr>
            <a:fld id="{00000000-1234-1234-1234-123412341234}" type="slidenum">
              <a:rPr lang="tr-TR" sz="1200">
                <a:solidFill>
                  <a:srgbClr val="898989"/>
                </a:solidFill>
                <a:latin typeface="Calibri"/>
                <a:ea typeface="Calibri"/>
                <a:cs typeface="Calibri"/>
                <a:sym typeface="Calibri"/>
              </a:rPr>
              <a:t>‹#›</a:t>
            </a:fld>
            <a:endParaRPr sz="1200">
              <a:solidFill>
                <a:srgbClr val="898989"/>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62"/>
          <p:cNvSpPr txBox="1"/>
          <p:nvPr>
            <p:ph type="title"/>
          </p:nvPr>
        </p:nvSpPr>
        <p:spPr>
          <a:xfrm>
            <a:off x="768096" y="44624"/>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t/>
            </a:r>
            <a:endParaRPr/>
          </a:p>
        </p:txBody>
      </p:sp>
      <p:sp>
        <p:nvSpPr>
          <p:cNvPr id="657" name="Google Shape;657;p62"/>
          <p:cNvSpPr txBox="1"/>
          <p:nvPr>
            <p:ph idx="1" type="body"/>
          </p:nvPr>
        </p:nvSpPr>
        <p:spPr>
          <a:xfrm>
            <a:off x="323528" y="1772816"/>
            <a:ext cx="7734623" cy="4536544"/>
          </a:xfrm>
          <a:prstGeom prst="rect">
            <a:avLst/>
          </a:prstGeom>
          <a:noFill/>
          <a:ln>
            <a:noFill/>
          </a:ln>
        </p:spPr>
        <p:txBody>
          <a:bodyPr anchorCtr="0" anchor="t" bIns="45700" lIns="45700" spcFirstLastPara="1" rIns="45700" wrap="square" tIns="45700">
            <a:normAutofit fontScale="92500" lnSpcReduction="10000"/>
          </a:bodyPr>
          <a:lstStyle/>
          <a:p>
            <a:pPr indent="-117475" lvl="0" marL="91440" rtl="0" algn="l">
              <a:lnSpc>
                <a:spcPct val="90000"/>
              </a:lnSpc>
              <a:spcBef>
                <a:spcPts val="0"/>
              </a:spcBef>
              <a:spcAft>
                <a:spcPts val="0"/>
              </a:spcAft>
              <a:buSzPct val="100000"/>
              <a:buChar char=" "/>
            </a:pPr>
            <a:r>
              <a:rPr b="1" lang="tr-TR"/>
              <a:t>P değeri ve yanılma düzeyi nedir?</a:t>
            </a:r>
            <a:endParaRPr/>
          </a:p>
          <a:p>
            <a:pPr indent="-117475" lvl="0" marL="91440" rtl="0" algn="l">
              <a:lnSpc>
                <a:spcPct val="90000"/>
              </a:lnSpc>
              <a:spcBef>
                <a:spcPts val="1400"/>
              </a:spcBef>
              <a:spcAft>
                <a:spcPts val="0"/>
              </a:spcAft>
              <a:buSzPct val="100000"/>
              <a:buChar char=" "/>
            </a:pPr>
            <a:r>
              <a:rPr b="1" lang="tr-TR"/>
              <a:t>H</a:t>
            </a:r>
            <a:r>
              <a:rPr b="1" baseline="-25000" lang="tr-TR"/>
              <a:t>0 </a:t>
            </a:r>
            <a:r>
              <a:rPr b="1" lang="tr-TR"/>
              <a:t>hipotezinin reddedilmesi için hesaplanan olasılığın %5 ya da daha az olması genellikle kabul edilen sınırdır; yani H</a:t>
            </a:r>
            <a:r>
              <a:rPr b="1" baseline="-25000" lang="tr-TR"/>
              <a:t>0</a:t>
            </a:r>
            <a:r>
              <a:rPr b="1" lang="tr-TR"/>
              <a:t> hipotezinin doğruluğu için hesaplanan olasılık %5 ya da daha küçükse, bu hipotezin kabul edilemeyeceği yargısına varılır. Bu değere yanılma düzeyi adı verilir.</a:t>
            </a:r>
            <a:endParaRPr b="1"/>
          </a:p>
          <a:p>
            <a:pPr indent="-117475" lvl="0" marL="91440" rtl="0" algn="l">
              <a:lnSpc>
                <a:spcPct val="90000"/>
              </a:lnSpc>
              <a:spcBef>
                <a:spcPts val="1400"/>
              </a:spcBef>
              <a:spcAft>
                <a:spcPts val="0"/>
              </a:spcAft>
              <a:buSzPct val="100000"/>
              <a:buChar char=" "/>
            </a:pPr>
            <a:r>
              <a:rPr lang="tr-TR"/>
              <a:t>Hesaplanan olasılık ise, olasılık (probability) sözcüğünün ilk harfi olan p ile gösterilir. P değeri 0.05 olduğunda H</a:t>
            </a:r>
            <a:r>
              <a:rPr baseline="-25000" lang="tr-TR"/>
              <a:t>1</a:t>
            </a:r>
            <a:r>
              <a:rPr lang="tr-TR"/>
              <a:t> hipotezinin tesadüfen doğru olma şansı %5’ tir. P değeri 0.07 ise H</a:t>
            </a:r>
            <a:r>
              <a:rPr baseline="-25000" lang="tr-TR"/>
              <a:t>0</a:t>
            </a:r>
            <a:r>
              <a:rPr lang="tr-TR"/>
              <a:t> hipotezi %93 olasılıkla yanlıştır, ama doğru olduğu reddedilemez.</a:t>
            </a:r>
            <a:endParaRPr/>
          </a:p>
          <a:p>
            <a:pPr indent="-117475" lvl="0" marL="91440" rtl="0" algn="l">
              <a:lnSpc>
                <a:spcPct val="90000"/>
              </a:lnSpc>
              <a:spcBef>
                <a:spcPts val="1400"/>
              </a:spcBef>
              <a:spcAft>
                <a:spcPts val="0"/>
              </a:spcAft>
              <a:buSzPct val="100000"/>
              <a:buChar char=" "/>
            </a:pPr>
            <a:r>
              <a:rPr lang="tr-TR"/>
              <a:t>Burada olduğu gibi p değeri 0.05’ ten biraz büyük olduğunda H</a:t>
            </a:r>
            <a:r>
              <a:rPr baseline="-25000" lang="tr-TR"/>
              <a:t>0</a:t>
            </a:r>
            <a:r>
              <a:rPr lang="tr-TR"/>
              <a:t> hipotezinin olduğu gibi kabul edildiği anlamı çıkmamaktadır. Başka bir çalışmada farklılık saptanabilir. Ama p değeri 0.90 ise, H0 hipotezinin yanlış olma olasılığı yalnızca %10’ dur. Bu nedenle p değerinin 0.05’ ten büyük olması durumunda varılan sonuç, H</a:t>
            </a:r>
            <a:r>
              <a:rPr baseline="-25000" lang="tr-TR"/>
              <a:t>0</a:t>
            </a:r>
            <a:r>
              <a:rPr lang="tr-TR"/>
              <a:t> hipotezinin doğru olduğu değil, doğru olduğunun reddedilemeyeceğidir.</a:t>
            </a:r>
            <a:endParaRPr/>
          </a:p>
          <a:p>
            <a:pPr indent="0" lvl="0" marL="91440" rtl="0" algn="l">
              <a:lnSpc>
                <a:spcPct val="90000"/>
              </a:lnSpc>
              <a:spcBef>
                <a:spcPts val="1400"/>
              </a:spcBef>
              <a:spcAft>
                <a:spcPts val="0"/>
              </a:spcAft>
              <a:buSzPct val="100000"/>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63"/>
          <p:cNvSpPr txBox="1"/>
          <p:nvPr>
            <p:ph idx="1" type="body"/>
          </p:nvPr>
        </p:nvSpPr>
        <p:spPr>
          <a:xfrm>
            <a:off x="468313" y="1052513"/>
            <a:ext cx="8229600" cy="5040312"/>
          </a:xfrm>
          <a:prstGeom prst="rect">
            <a:avLst/>
          </a:prstGeom>
          <a:noFill/>
          <a:ln>
            <a:noFill/>
          </a:ln>
        </p:spPr>
        <p:txBody>
          <a:bodyPr anchorCtr="0" anchor="t" bIns="45700" lIns="45700" spcFirstLastPara="1" rIns="45700" wrap="square" tIns="45700">
            <a:normAutofit/>
          </a:bodyPr>
          <a:lstStyle/>
          <a:p>
            <a:pPr indent="-91440" lvl="0" marL="91440" rtl="0" algn="just">
              <a:lnSpc>
                <a:spcPct val="90000"/>
              </a:lnSpc>
              <a:spcBef>
                <a:spcPts val="0"/>
              </a:spcBef>
              <a:spcAft>
                <a:spcPts val="0"/>
              </a:spcAft>
              <a:buSzPts val="2000"/>
              <a:buFont typeface="Twentieth Century"/>
              <a:buNone/>
            </a:pPr>
            <a:r>
              <a:rPr lang="tr-TR"/>
              <a:t>Eğer:</a:t>
            </a:r>
            <a:endParaRPr b="1"/>
          </a:p>
          <a:p>
            <a:pPr indent="-127000" lvl="0" marL="91440" rtl="0" algn="just">
              <a:lnSpc>
                <a:spcPct val="90000"/>
              </a:lnSpc>
              <a:spcBef>
                <a:spcPts val="1400"/>
              </a:spcBef>
              <a:spcAft>
                <a:spcPts val="0"/>
              </a:spcAft>
              <a:buSzPts val="2000"/>
              <a:buChar char=" "/>
            </a:pPr>
            <a:r>
              <a:rPr b="1" lang="tr-TR"/>
              <a:t>P ≤ α  </a:t>
            </a:r>
            <a:r>
              <a:rPr lang="tr-TR"/>
              <a:t>ise H</a:t>
            </a:r>
            <a:r>
              <a:rPr baseline="-25000" lang="tr-TR"/>
              <a:t>0</a:t>
            </a:r>
            <a:r>
              <a:rPr lang="tr-TR"/>
              <a:t> red edilir. Bunun anlamı, H</a:t>
            </a:r>
            <a:r>
              <a:rPr baseline="-25000" lang="tr-TR"/>
              <a:t>0</a:t>
            </a:r>
            <a:r>
              <a:rPr lang="tr-TR"/>
              <a:t>’ı red etmekle gerçekleşen yanılgı </a:t>
            </a:r>
            <a:r>
              <a:rPr b="1" lang="tr-TR"/>
              <a:t>öngörülenden küçüktür</a:t>
            </a:r>
            <a:r>
              <a:rPr lang="tr-TR"/>
              <a:t>. Dolayısıyla rahatlıkla H</a:t>
            </a:r>
            <a:r>
              <a:rPr baseline="-25000" lang="tr-TR"/>
              <a:t>0</a:t>
            </a:r>
            <a:r>
              <a:rPr lang="tr-TR"/>
              <a:t> red edilebilir.</a:t>
            </a:r>
            <a:endParaRPr/>
          </a:p>
          <a:p>
            <a:pPr indent="0" lvl="0" marL="91440" rtl="0" algn="just">
              <a:lnSpc>
                <a:spcPct val="90000"/>
              </a:lnSpc>
              <a:spcBef>
                <a:spcPts val="1400"/>
              </a:spcBef>
              <a:spcAft>
                <a:spcPts val="0"/>
              </a:spcAft>
              <a:buSzPts val="2000"/>
              <a:buNone/>
            </a:pPr>
            <a:r>
              <a:t/>
            </a:r>
            <a:endParaRPr b="1"/>
          </a:p>
          <a:p>
            <a:pPr indent="-127000" lvl="0" marL="91440" rtl="0" algn="just">
              <a:lnSpc>
                <a:spcPct val="90000"/>
              </a:lnSpc>
              <a:spcBef>
                <a:spcPts val="1400"/>
              </a:spcBef>
              <a:spcAft>
                <a:spcPts val="0"/>
              </a:spcAft>
              <a:buSzPts val="2000"/>
              <a:buChar char=" "/>
            </a:pPr>
            <a:r>
              <a:rPr b="1" lang="tr-TR"/>
              <a:t>P &gt; α</a:t>
            </a:r>
            <a:r>
              <a:rPr lang="tr-TR"/>
              <a:t>   ise H</a:t>
            </a:r>
            <a:r>
              <a:rPr baseline="-25000" lang="tr-TR"/>
              <a:t>0</a:t>
            </a:r>
            <a:r>
              <a:rPr lang="tr-TR"/>
              <a:t> kabul edilir. Bunun anlamı gerçekleşen yanılgı öngörülenden küçük olmadığı için H</a:t>
            </a:r>
            <a:r>
              <a:rPr baseline="-25000" lang="tr-TR"/>
              <a:t>0</a:t>
            </a:r>
            <a:r>
              <a:rPr lang="tr-TR"/>
              <a:t> red edilemez.</a:t>
            </a:r>
            <a:endParaRPr/>
          </a:p>
        </p:txBody>
      </p:sp>
      <p:sp>
        <p:nvSpPr>
          <p:cNvPr id="663" name="Google Shape;663;p63"/>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98989"/>
              </a:buClr>
              <a:buSzPts val="1200"/>
              <a:buFont typeface="Arial"/>
              <a:buNone/>
            </a:pPr>
            <a:fld id="{00000000-1234-1234-1234-123412341234}" type="slidenum">
              <a:rPr lang="tr-TR" sz="1200">
                <a:solidFill>
                  <a:srgbClr val="898989"/>
                </a:solidFill>
                <a:latin typeface="Calibri"/>
                <a:ea typeface="Calibri"/>
                <a:cs typeface="Calibri"/>
                <a:sym typeface="Calibri"/>
              </a:rPr>
              <a:t>‹#›</a:t>
            </a:fld>
            <a:endParaRPr sz="1200">
              <a:solidFill>
                <a:srgbClr val="898989"/>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64"/>
          <p:cNvSpPr txBox="1"/>
          <p:nvPr>
            <p:ph idx="1" type="body"/>
          </p:nvPr>
        </p:nvSpPr>
        <p:spPr>
          <a:xfrm>
            <a:off x="457200" y="692150"/>
            <a:ext cx="8229600" cy="5976938"/>
          </a:xfrm>
          <a:prstGeom prst="rect">
            <a:avLst/>
          </a:prstGeom>
          <a:noFill/>
          <a:ln>
            <a:noFill/>
          </a:ln>
        </p:spPr>
        <p:txBody>
          <a:bodyPr anchorCtr="0" anchor="t" bIns="45700" lIns="45700" spcFirstLastPara="1" rIns="45700" wrap="square" tIns="45700">
            <a:normAutofit/>
          </a:bodyPr>
          <a:lstStyle/>
          <a:p>
            <a:pPr indent="-127000" lvl="0" marL="91440" rtl="0" algn="just">
              <a:lnSpc>
                <a:spcPct val="90000"/>
              </a:lnSpc>
              <a:spcBef>
                <a:spcPts val="0"/>
              </a:spcBef>
              <a:spcAft>
                <a:spcPts val="0"/>
              </a:spcAft>
              <a:buSzPts val="2000"/>
              <a:buChar char=" "/>
            </a:pPr>
            <a:r>
              <a:rPr lang="tr-TR"/>
              <a:t>Varsayalım ki, Örnek 1 için uygun hipotez testini kullandık ve p değerini 0.26 olarak elde ettik. Bu durumda aşağıdaki şekilde kurulan</a:t>
            </a:r>
            <a:br>
              <a:rPr lang="tr-TR"/>
            </a:br>
            <a:br>
              <a:rPr lang="tr-TR"/>
            </a:br>
            <a:br>
              <a:rPr lang="tr-TR"/>
            </a:br>
            <a:br>
              <a:rPr lang="tr-TR"/>
            </a:br>
            <a:br>
              <a:rPr lang="tr-TR"/>
            </a:br>
            <a:r>
              <a:rPr b="1" lang="tr-TR"/>
              <a:t>P &gt; α</a:t>
            </a:r>
            <a:r>
              <a:rPr lang="tr-TR"/>
              <a:t>   için H</a:t>
            </a:r>
            <a:r>
              <a:rPr baseline="-25000" lang="tr-TR"/>
              <a:t>0</a:t>
            </a:r>
            <a:r>
              <a:rPr lang="tr-TR"/>
              <a:t> kabul edilir. Bunun anlamı A ve B programı arasında fark yoktur.</a:t>
            </a:r>
            <a:endParaRPr/>
          </a:p>
        </p:txBody>
      </p:sp>
      <p:pic>
        <p:nvPicPr>
          <p:cNvPr id="669" name="Google Shape;669;p64"/>
          <p:cNvPicPr preferRelativeResize="0"/>
          <p:nvPr/>
        </p:nvPicPr>
        <p:blipFill rotWithShape="1">
          <a:blip r:embed="rId3">
            <a:alphaModFix/>
          </a:blip>
          <a:srcRect b="0" l="0" r="0" t="0"/>
          <a:stretch/>
        </p:blipFill>
        <p:spPr>
          <a:xfrm>
            <a:off x="1832215" y="2586143"/>
            <a:ext cx="679450" cy="514350"/>
          </a:xfrm>
          <a:prstGeom prst="rect">
            <a:avLst/>
          </a:prstGeom>
          <a:noFill/>
          <a:ln>
            <a:noFill/>
          </a:ln>
        </p:spPr>
      </p:pic>
      <p:sp>
        <p:nvSpPr>
          <p:cNvPr id="670" name="Google Shape;670;p64"/>
          <p:cNvSpPr/>
          <p:nvPr/>
        </p:nvSpPr>
        <p:spPr>
          <a:xfrm>
            <a:off x="3203575" y="2561243"/>
            <a:ext cx="4008533" cy="89255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tr-TR" sz="2000">
                <a:solidFill>
                  <a:schemeClr val="dk1"/>
                </a:solidFill>
                <a:latin typeface="Calibri"/>
                <a:ea typeface="Calibri"/>
                <a:cs typeface="Calibri"/>
                <a:sym typeface="Calibri"/>
              </a:rPr>
              <a:t>A ve B programı arasında fark yoktur.</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pic>
        <p:nvPicPr>
          <p:cNvPr id="671" name="Google Shape;671;p64"/>
          <p:cNvPicPr preferRelativeResize="0"/>
          <p:nvPr/>
        </p:nvPicPr>
        <p:blipFill rotWithShape="1">
          <a:blip r:embed="rId4">
            <a:alphaModFix/>
          </a:blip>
          <a:srcRect b="0" l="0" r="0" t="0"/>
          <a:stretch/>
        </p:blipFill>
        <p:spPr>
          <a:xfrm>
            <a:off x="1834596" y="3176429"/>
            <a:ext cx="674688" cy="554732"/>
          </a:xfrm>
          <a:prstGeom prst="rect">
            <a:avLst/>
          </a:prstGeom>
          <a:noFill/>
          <a:ln>
            <a:noFill/>
          </a:ln>
        </p:spPr>
      </p:pic>
      <p:sp>
        <p:nvSpPr>
          <p:cNvPr id="672" name="Google Shape;672;p64"/>
          <p:cNvSpPr/>
          <p:nvPr/>
        </p:nvSpPr>
        <p:spPr>
          <a:xfrm>
            <a:off x="2519086" y="3326676"/>
            <a:ext cx="6514860" cy="707886"/>
          </a:xfrm>
          <a:prstGeom prst="rect">
            <a:avLst/>
          </a:prstGeom>
          <a:noFill/>
          <a:ln>
            <a:noFill/>
          </a:ln>
        </p:spPr>
        <p:txBody>
          <a:bodyPr anchorCtr="0" anchor="ctr" bIns="45700" lIns="91425" spcFirstLastPara="1" rIns="91425" wrap="square" tIns="45700">
            <a:spAutoFit/>
          </a:bodyPr>
          <a:lstStyle/>
          <a:p>
            <a:pPr indent="0" lvl="0" marL="0" marR="0" rtl="0" algn="just">
              <a:spcBef>
                <a:spcPts val="0"/>
              </a:spcBef>
              <a:spcAft>
                <a:spcPts val="0"/>
              </a:spcAft>
              <a:buClr>
                <a:schemeClr val="dk1"/>
              </a:buClr>
              <a:buSzPts val="2000"/>
              <a:buFont typeface="Arial"/>
              <a:buNone/>
            </a:pPr>
            <a:r>
              <a:rPr lang="tr-TR" sz="2000">
                <a:solidFill>
                  <a:schemeClr val="dk1"/>
                </a:solidFill>
                <a:latin typeface="Calibri"/>
                <a:ea typeface="Calibri"/>
                <a:cs typeface="Calibri"/>
                <a:sym typeface="Calibri"/>
              </a:rPr>
              <a:t>B programı A’ya göre işlem süresi bakımından daha başarılıdır</a:t>
            </a:r>
            <a:endParaRPr/>
          </a:p>
          <a:p>
            <a:pPr indent="0" lvl="0" marL="0" marR="0" rtl="0" algn="just">
              <a:spcBef>
                <a:spcPts val="0"/>
              </a:spcBef>
              <a:spcAft>
                <a:spcPts val="0"/>
              </a:spcAft>
              <a:buClr>
                <a:schemeClr val="dk1"/>
              </a:buClr>
              <a:buSzPts val="2000"/>
              <a:buFont typeface="Arial"/>
              <a:buNone/>
            </a:pPr>
            <a:r>
              <a:rPr lang="tr-TR" sz="2000">
                <a:solidFill>
                  <a:schemeClr val="dk1"/>
                </a:solidFill>
                <a:latin typeface="Calibri"/>
                <a:ea typeface="Calibri"/>
                <a:cs typeface="Calibri"/>
                <a:sym typeface="Calibri"/>
              </a:rPr>
              <a:t>(Daha kısa sürede işlemi tamamlar.)</a:t>
            </a:r>
            <a:endParaRPr/>
          </a:p>
        </p:txBody>
      </p:sp>
      <p:sp>
        <p:nvSpPr>
          <p:cNvPr id="673" name="Google Shape;673;p64"/>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98989"/>
              </a:buClr>
              <a:buSzPts val="1200"/>
              <a:buFont typeface="Arial"/>
              <a:buNone/>
            </a:pPr>
            <a:fld id="{00000000-1234-1234-1234-123412341234}" type="slidenum">
              <a:rPr lang="tr-TR" sz="1200">
                <a:solidFill>
                  <a:srgbClr val="898989"/>
                </a:solidFill>
                <a:latin typeface="Calibri"/>
                <a:ea typeface="Calibri"/>
                <a:cs typeface="Calibri"/>
                <a:sym typeface="Calibri"/>
              </a:rPr>
              <a:t>‹#›</a:t>
            </a:fld>
            <a:endParaRPr sz="1200">
              <a:solidFill>
                <a:srgbClr val="898989"/>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65"/>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b="1" lang="tr-TR"/>
              <a:t>HIPOTEZ TESTI AŞAMALARI:</a:t>
            </a:r>
            <a:r>
              <a:rPr lang="tr-TR"/>
              <a:t> </a:t>
            </a:r>
            <a:endParaRPr/>
          </a:p>
        </p:txBody>
      </p:sp>
      <p:sp>
        <p:nvSpPr>
          <p:cNvPr id="679" name="Google Shape;679;p65"/>
          <p:cNvSpPr txBox="1"/>
          <p:nvPr>
            <p:ph idx="1" type="body"/>
          </p:nvPr>
        </p:nvSpPr>
        <p:spPr>
          <a:xfrm>
            <a:off x="457200" y="1600200"/>
            <a:ext cx="8229600" cy="1397000"/>
          </a:xfrm>
          <a:prstGeom prst="rect">
            <a:avLst/>
          </a:prstGeom>
          <a:noFill/>
          <a:ln>
            <a:noFill/>
          </a:ln>
        </p:spPr>
        <p:txBody>
          <a:bodyPr anchorCtr="0" anchor="t" bIns="45700" lIns="45700" spcFirstLastPara="1" rIns="45700" wrap="square" tIns="45700">
            <a:normAutofit/>
          </a:bodyPr>
          <a:lstStyle/>
          <a:p>
            <a:pPr indent="-91440" lvl="0" marL="91440" rtl="0" algn="just">
              <a:lnSpc>
                <a:spcPct val="90000"/>
              </a:lnSpc>
              <a:spcBef>
                <a:spcPts val="0"/>
              </a:spcBef>
              <a:spcAft>
                <a:spcPts val="0"/>
              </a:spcAft>
              <a:buSzPts val="2000"/>
              <a:buFont typeface="Arial"/>
              <a:buNone/>
            </a:pPr>
            <a:r>
              <a:rPr b="1" lang="tr-TR">
                <a:solidFill>
                  <a:srgbClr val="000000"/>
                </a:solidFill>
              </a:rPr>
              <a:t>	</a:t>
            </a:r>
            <a:r>
              <a:rPr b="1" lang="tr-TR" u="sng">
                <a:solidFill>
                  <a:srgbClr val="000000"/>
                </a:solidFill>
              </a:rPr>
              <a:t>I. Aşama: </a:t>
            </a:r>
            <a:r>
              <a:rPr b="1" lang="tr-TR">
                <a:solidFill>
                  <a:srgbClr val="000000"/>
                </a:solidFill>
              </a:rPr>
              <a:t>H</a:t>
            </a:r>
            <a:r>
              <a:rPr b="1" baseline="-25000" lang="tr-TR">
                <a:solidFill>
                  <a:srgbClr val="000000"/>
                </a:solidFill>
              </a:rPr>
              <a:t>0</a:t>
            </a:r>
            <a:r>
              <a:rPr b="1" lang="tr-TR">
                <a:solidFill>
                  <a:srgbClr val="000000"/>
                </a:solidFill>
              </a:rPr>
              <a:t> Hipotezinin Belirlenmesi ve Formüle edilmesi:</a:t>
            </a:r>
            <a:endParaRPr/>
          </a:p>
        </p:txBody>
      </p:sp>
      <p:sp>
        <p:nvSpPr>
          <p:cNvPr id="680" name="Google Shape;680;p65"/>
          <p:cNvSpPr/>
          <p:nvPr/>
        </p:nvSpPr>
        <p:spPr>
          <a:xfrm>
            <a:off x="395288" y="3213100"/>
            <a:ext cx="8374062" cy="3240088"/>
          </a:xfrm>
          <a:prstGeom prst="rect">
            <a:avLst/>
          </a:prstGeom>
          <a:noFill/>
          <a:ln>
            <a:noFill/>
          </a:ln>
        </p:spPr>
        <p:txBody>
          <a:bodyPr anchorCtr="0" anchor="t" bIns="45700" lIns="91425" spcFirstLastPara="1" rIns="91425" wrap="square" tIns="45700">
            <a:noAutofit/>
          </a:bodyPr>
          <a:lstStyle/>
          <a:p>
            <a:pPr indent="-342900" lvl="0" marL="342900" marR="0" rtl="0" algn="just">
              <a:spcBef>
                <a:spcPts val="0"/>
              </a:spcBef>
              <a:spcAft>
                <a:spcPts val="0"/>
              </a:spcAft>
              <a:buClr>
                <a:srgbClr val="000000"/>
              </a:buClr>
              <a:buSzPts val="3200"/>
              <a:buFont typeface="Arial"/>
              <a:buChar char="•"/>
            </a:pPr>
            <a:r>
              <a:rPr b="1" lang="tr-TR" sz="3200">
                <a:solidFill>
                  <a:srgbClr val="000000"/>
                </a:solidFill>
                <a:latin typeface="Calibri"/>
                <a:ea typeface="Calibri"/>
                <a:cs typeface="Calibri"/>
                <a:sym typeface="Calibri"/>
              </a:rPr>
              <a:t>Örnek 5: </a:t>
            </a:r>
            <a:r>
              <a:rPr lang="tr-TR" sz="3200">
                <a:solidFill>
                  <a:schemeClr val="dk1"/>
                </a:solidFill>
                <a:latin typeface="Calibri"/>
                <a:ea typeface="Calibri"/>
                <a:cs typeface="Calibri"/>
                <a:sym typeface="Calibri"/>
              </a:rPr>
              <a:t>Karmaşık sorgularda ortalama cevap verme süresi 19 msn, standart sapması 4,5 olan 100 sorgudan oluşan bir örneklem,  cevap verme süresi açısından kullanılabilir önceki sistemden farklı mıdır?</a:t>
            </a:r>
            <a:endParaRPr/>
          </a:p>
          <a:p>
            <a:pPr indent="-342900" lvl="0" marL="342900" marR="0" rtl="0" algn="just">
              <a:spcBef>
                <a:spcPts val="640"/>
              </a:spcBef>
              <a:spcAft>
                <a:spcPts val="0"/>
              </a:spcAft>
              <a:buClr>
                <a:schemeClr val="dk1"/>
              </a:buClr>
              <a:buSzPts val="3200"/>
              <a:buFont typeface="Arial"/>
              <a:buChar char="•"/>
            </a:pPr>
            <a:r>
              <a:rPr lang="tr-TR" sz="3200">
                <a:solidFill>
                  <a:schemeClr val="dk1"/>
                </a:solidFill>
                <a:latin typeface="Calibri"/>
                <a:ea typeface="Calibri"/>
                <a:cs typeface="Calibri"/>
                <a:sym typeface="Calibri"/>
              </a:rPr>
              <a:t>H</a:t>
            </a:r>
            <a:r>
              <a:rPr baseline="-25000" lang="tr-TR" sz="3200">
                <a:solidFill>
                  <a:schemeClr val="dk1"/>
                </a:solidFill>
                <a:latin typeface="Calibri"/>
                <a:ea typeface="Calibri"/>
                <a:cs typeface="Calibri"/>
                <a:sym typeface="Calibri"/>
              </a:rPr>
              <a:t>0</a:t>
            </a:r>
            <a:r>
              <a:rPr lang="tr-TR" sz="3200">
                <a:solidFill>
                  <a:schemeClr val="dk1"/>
                </a:solidFill>
                <a:latin typeface="Calibri"/>
                <a:ea typeface="Calibri"/>
                <a:cs typeface="Calibri"/>
                <a:sym typeface="Calibri"/>
              </a:rPr>
              <a:t> hipotezi, kitle parametreleri cinsinden ifade edilir.</a:t>
            </a:r>
            <a:endParaRPr/>
          </a:p>
        </p:txBody>
      </p:sp>
      <p:sp>
        <p:nvSpPr>
          <p:cNvPr id="681" name="Google Shape;681;p65"/>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98989"/>
              </a:buClr>
              <a:buSzPts val="1200"/>
              <a:buFont typeface="Arial"/>
              <a:buNone/>
            </a:pPr>
            <a:fld id="{00000000-1234-1234-1234-123412341234}" type="slidenum">
              <a:rPr lang="tr-TR" sz="1200">
                <a:solidFill>
                  <a:srgbClr val="898989"/>
                </a:solidFill>
                <a:latin typeface="Calibri"/>
                <a:ea typeface="Calibri"/>
                <a:cs typeface="Calibri"/>
                <a:sym typeface="Calibri"/>
              </a:rPr>
              <a:t>‹#›</a:t>
            </a:fld>
            <a:endParaRPr sz="1200">
              <a:solidFill>
                <a:srgbClr val="898989"/>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66"/>
          <p:cNvSpPr txBox="1"/>
          <p:nvPr>
            <p:ph idx="1" type="body"/>
          </p:nvPr>
        </p:nvSpPr>
        <p:spPr>
          <a:xfrm>
            <a:off x="468313" y="549275"/>
            <a:ext cx="8229600" cy="4525963"/>
          </a:xfrm>
          <a:prstGeom prst="rect">
            <a:avLst/>
          </a:prstGeom>
          <a:noFill/>
          <a:ln>
            <a:noFill/>
          </a:ln>
        </p:spPr>
        <p:txBody>
          <a:bodyPr anchorCtr="0" anchor="t" bIns="45700" lIns="45700" spcFirstLastPara="1" rIns="45700" wrap="square" tIns="45700">
            <a:normAutofit/>
          </a:bodyPr>
          <a:lstStyle/>
          <a:p>
            <a:pPr indent="-127000" lvl="0" marL="91440" rtl="0" algn="just">
              <a:lnSpc>
                <a:spcPct val="90000"/>
              </a:lnSpc>
              <a:spcBef>
                <a:spcPts val="0"/>
              </a:spcBef>
              <a:spcAft>
                <a:spcPts val="0"/>
              </a:spcAft>
              <a:buSzPts val="2000"/>
              <a:buChar char=" "/>
            </a:pPr>
            <a:r>
              <a:rPr lang="tr-TR"/>
              <a:t>Bu örnekte öncelikle önceki sistemin cevap verme süresi  parametrelerinin bilinmesi ya da belirlenmesi gerekir.</a:t>
            </a:r>
            <a:endParaRPr/>
          </a:p>
          <a:p>
            <a:pPr indent="-127000" lvl="0" marL="91440" rtl="0" algn="just">
              <a:lnSpc>
                <a:spcPct val="90000"/>
              </a:lnSpc>
              <a:spcBef>
                <a:spcPts val="1400"/>
              </a:spcBef>
              <a:spcAft>
                <a:spcPts val="0"/>
              </a:spcAft>
              <a:buSzPts val="2000"/>
              <a:buChar char=" "/>
            </a:pPr>
            <a:r>
              <a:rPr lang="tr-TR"/>
              <a:t>Önceki sistemin cevap verme süresi ortalaması 18 standart sapması 5,8 ise Örneklemin çekildiği kitlenin ortalamasının 18 olup olmadığını incelemek gerekir. Bu durumda yokluk hipotezimiz;</a:t>
            </a:r>
            <a:endParaRPr/>
          </a:p>
        </p:txBody>
      </p:sp>
      <p:sp>
        <p:nvSpPr>
          <p:cNvPr id="687" name="Google Shape;687;p66"/>
          <p:cNvSpPr/>
          <p:nvPr/>
        </p:nvSpPr>
        <p:spPr>
          <a:xfrm>
            <a:off x="0" y="331470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688" name="Google Shape;688;p66"/>
          <p:cNvSpPr/>
          <p:nvPr/>
        </p:nvSpPr>
        <p:spPr>
          <a:xfrm>
            <a:off x="900113" y="5919788"/>
            <a:ext cx="6335712" cy="579437"/>
          </a:xfrm>
          <a:prstGeom prst="rect">
            <a:avLst/>
          </a:prstGeom>
          <a:noFill/>
          <a:ln>
            <a:noFill/>
          </a:ln>
        </p:spPr>
        <p:txBody>
          <a:bodyPr anchorCtr="0" anchor="ctr" bIns="45700" lIns="91425" spcFirstLastPara="1" rIns="91425" wrap="square" tIns="45700">
            <a:spAutoFit/>
          </a:bodyPr>
          <a:lstStyle/>
          <a:p>
            <a:pPr indent="0" lvl="0" marL="0" marR="0" rtl="0" algn="just">
              <a:spcBef>
                <a:spcPts val="0"/>
              </a:spcBef>
              <a:spcAft>
                <a:spcPts val="0"/>
              </a:spcAft>
              <a:buClr>
                <a:schemeClr val="dk1"/>
              </a:buClr>
              <a:buSzPts val="3200"/>
              <a:buFont typeface="Arial"/>
              <a:buNone/>
            </a:pPr>
            <a:r>
              <a:rPr lang="tr-TR" sz="3200">
                <a:solidFill>
                  <a:schemeClr val="dk1"/>
                </a:solidFill>
                <a:latin typeface="Calibri"/>
                <a:ea typeface="Calibri"/>
                <a:cs typeface="Calibri"/>
                <a:sym typeface="Calibri"/>
              </a:rPr>
              <a:t>biçiminde formüle edilir.</a:t>
            </a:r>
            <a:endParaRPr/>
          </a:p>
        </p:txBody>
      </p:sp>
      <p:sp>
        <p:nvSpPr>
          <p:cNvPr id="689" name="Google Shape;689;p66"/>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98989"/>
              </a:buClr>
              <a:buSzPts val="1200"/>
              <a:buFont typeface="Arial"/>
              <a:buNone/>
            </a:pPr>
            <a:fld id="{00000000-1234-1234-1234-123412341234}" type="slidenum">
              <a:rPr lang="tr-TR" sz="1200">
                <a:solidFill>
                  <a:srgbClr val="898989"/>
                </a:solidFill>
                <a:latin typeface="Calibri"/>
                <a:ea typeface="Calibri"/>
                <a:cs typeface="Calibri"/>
                <a:sym typeface="Calibri"/>
              </a:rPr>
              <a:t>‹#›</a:t>
            </a:fld>
            <a:endParaRPr sz="1200">
              <a:solidFill>
                <a:srgbClr val="898989"/>
              </a:solidFill>
              <a:latin typeface="Calibri"/>
              <a:ea typeface="Calibri"/>
              <a:cs typeface="Calibri"/>
              <a:sym typeface="Calibri"/>
            </a:endParaRPr>
          </a:p>
        </p:txBody>
      </p:sp>
      <p:sp>
        <p:nvSpPr>
          <p:cNvPr id="690" name="Google Shape;690;p66"/>
          <p:cNvSpPr txBox="1"/>
          <p:nvPr/>
        </p:nvSpPr>
        <p:spPr>
          <a:xfrm>
            <a:off x="2555776" y="2812256"/>
            <a:ext cx="331236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3200">
                <a:solidFill>
                  <a:schemeClr val="dk1"/>
                </a:solidFill>
                <a:latin typeface="Arial"/>
                <a:ea typeface="Arial"/>
                <a:cs typeface="Arial"/>
                <a:sym typeface="Arial"/>
              </a:rPr>
              <a:t>Ho=µ=18</a:t>
            </a:r>
            <a:endParaRPr sz="1800">
              <a:solidFill>
                <a:schemeClr val="dk1"/>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67"/>
          <p:cNvSpPr txBox="1"/>
          <p:nvPr>
            <p:ph idx="1" type="body"/>
          </p:nvPr>
        </p:nvSpPr>
        <p:spPr>
          <a:xfrm>
            <a:off x="539750" y="4652963"/>
            <a:ext cx="8229600" cy="1790700"/>
          </a:xfrm>
          <a:prstGeom prst="rect">
            <a:avLst/>
          </a:prstGeom>
          <a:noFill/>
          <a:ln>
            <a:noFill/>
          </a:ln>
        </p:spPr>
        <p:txBody>
          <a:bodyPr anchorCtr="0" anchor="t" bIns="45700" lIns="45700" spcFirstLastPara="1" rIns="45700" wrap="square" tIns="45700">
            <a:normAutofit/>
          </a:bodyPr>
          <a:lstStyle/>
          <a:p>
            <a:pPr indent="0" lvl="0" marL="91440" rtl="0" algn="just">
              <a:lnSpc>
                <a:spcPct val="90000"/>
              </a:lnSpc>
              <a:spcBef>
                <a:spcPts val="0"/>
              </a:spcBef>
              <a:spcAft>
                <a:spcPts val="0"/>
              </a:spcAft>
              <a:buSzPts val="2000"/>
              <a:buNone/>
            </a:pPr>
            <a:r>
              <a:t/>
            </a:r>
            <a:endParaRPr>
              <a:solidFill>
                <a:srgbClr val="000000"/>
              </a:solidFill>
            </a:endParaRPr>
          </a:p>
          <a:p>
            <a:pPr indent="0" lvl="0" marL="91440" rtl="0" algn="l">
              <a:lnSpc>
                <a:spcPct val="90000"/>
              </a:lnSpc>
              <a:spcBef>
                <a:spcPts val="1400"/>
              </a:spcBef>
              <a:spcAft>
                <a:spcPts val="0"/>
              </a:spcAft>
              <a:buSzPts val="2000"/>
              <a:buNone/>
            </a:pPr>
            <a:r>
              <a:t/>
            </a:r>
            <a:endParaRPr/>
          </a:p>
        </p:txBody>
      </p:sp>
      <p:graphicFrame>
        <p:nvGraphicFramePr>
          <p:cNvPr id="696" name="Google Shape;696;p67"/>
          <p:cNvGraphicFramePr/>
          <p:nvPr/>
        </p:nvGraphicFramePr>
        <p:xfrm>
          <a:off x="323850" y="1052513"/>
          <a:ext cx="3000000" cy="3000000"/>
        </p:xfrm>
        <a:graphic>
          <a:graphicData uri="http://schemas.openxmlformats.org/drawingml/2006/table">
            <a:tbl>
              <a:tblPr>
                <a:noFill/>
                <a:tableStyleId>{9FF227F4-5CAF-4CBE-B359-CBECAED00A1A}</a:tableStyleId>
              </a:tblPr>
              <a:tblGrid>
                <a:gridCol w="2879725"/>
                <a:gridCol w="2881325"/>
                <a:gridCol w="2879725"/>
              </a:tblGrid>
              <a:tr h="2310225">
                <a:tc>
                  <a:txBody>
                    <a:bodyPr/>
                    <a:lstStyle/>
                    <a:p>
                      <a:pPr indent="0" lvl="0" marL="0" marR="0" rtl="0" algn="ctr">
                        <a:lnSpc>
                          <a:spcPct val="100000"/>
                        </a:lnSpc>
                        <a:spcBef>
                          <a:spcPts val="0"/>
                        </a:spcBef>
                        <a:spcAft>
                          <a:spcPts val="0"/>
                        </a:spcAft>
                        <a:buClr>
                          <a:srgbClr val="000000"/>
                        </a:buClr>
                        <a:buSzPts val="2800"/>
                        <a:buFont typeface="Arial"/>
                        <a:buNone/>
                      </a:pPr>
                      <a:r>
                        <a:rPr b="0" i="0" lang="tr-TR" sz="2800" u="none" cap="none" strike="noStrike">
                          <a:solidFill>
                            <a:srgbClr val="000000"/>
                          </a:solidFill>
                          <a:latin typeface="Arial"/>
                          <a:ea typeface="Arial"/>
                          <a:cs typeface="Arial"/>
                          <a:sym typeface="Arial"/>
                        </a:rPr>
                        <a:t>Örneklemin çekildiği kitlenin ortalamasının 18’den farklıdır:</a:t>
                      </a:r>
                      <a:endParaRPr b="0" i="0" sz="2800" u="none" cap="none" strike="noStrike">
                        <a:solidFill>
                          <a:srgbClr val="000000"/>
                        </a:solidFill>
                        <a:latin typeface="Arial"/>
                        <a:ea typeface="Arial"/>
                        <a:cs typeface="Arial"/>
                        <a:sym typeface="Arial"/>
                      </a:endParaRPr>
                    </a:p>
                  </a:txBody>
                  <a:tcPr marT="45700" marB="457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tr-TR" sz="2800" u="none" cap="none" strike="noStrike">
                          <a:solidFill>
                            <a:schemeClr val="dk1"/>
                          </a:solidFill>
                          <a:latin typeface="Arial"/>
                          <a:ea typeface="Arial"/>
                          <a:cs typeface="Arial"/>
                          <a:sym typeface="Arial"/>
                        </a:rPr>
                        <a:t>Örneklemin çekildiği kitle ortalaması 18’ den büyüktür:</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Arial"/>
                        <a:buNone/>
                      </a:pPr>
                      <a:r>
                        <a:rPr b="0" i="0" lang="tr-TR" sz="2800" u="none" cap="none" strike="noStrike">
                          <a:solidFill>
                            <a:schemeClr val="dk1"/>
                          </a:solidFill>
                          <a:latin typeface="Arial"/>
                          <a:ea typeface="Arial"/>
                          <a:cs typeface="Arial"/>
                          <a:sym typeface="Arial"/>
                        </a:rPr>
                        <a:t>Örneklemin çekildiği kitle ortalaması 18’ den küçüktür:</a:t>
                      </a:r>
                      <a:endParaRPr/>
                    </a:p>
                    <a:p>
                      <a:pPr indent="0" lvl="0" marL="0" marR="0" rtl="0" algn="ctr">
                        <a:lnSpc>
                          <a:spcPct val="100000"/>
                        </a:lnSpc>
                        <a:spcBef>
                          <a:spcPts val="560"/>
                        </a:spcBef>
                        <a:spcAft>
                          <a:spcPts val="0"/>
                        </a:spcAft>
                        <a:buClr>
                          <a:schemeClr val="dk1"/>
                        </a:buClr>
                        <a:buSzPts val="2800"/>
                        <a:buFont typeface="Twentieth Century"/>
                        <a:buNone/>
                      </a:pPr>
                      <a:r>
                        <a:t/>
                      </a:r>
                      <a:endParaRPr b="0" i="0" sz="2800" u="none" cap="none" strike="noStrike">
                        <a:solidFill>
                          <a:schemeClr val="dk1"/>
                        </a:solidFill>
                        <a:latin typeface="Arial"/>
                        <a:ea typeface="Arial"/>
                        <a:cs typeface="Arial"/>
                        <a:sym typeface="Arial"/>
                      </a:endParaRPr>
                    </a:p>
                  </a:txBody>
                  <a:tcPr marT="45700" marB="457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1600">
                <a:tc>
                  <a:txBody>
                    <a:bodyPr/>
                    <a:lstStyle/>
                    <a:p>
                      <a:pPr indent="0" lvl="0" marL="0" marR="0" rtl="0" algn="ctr">
                        <a:lnSpc>
                          <a:spcPct val="100000"/>
                        </a:lnSpc>
                        <a:spcBef>
                          <a:spcPts val="0"/>
                        </a:spcBef>
                        <a:spcAft>
                          <a:spcPts val="0"/>
                        </a:spcAft>
                        <a:buClr>
                          <a:schemeClr val="dk1"/>
                        </a:buClr>
                        <a:buSzPts val="2800"/>
                        <a:buFont typeface="Twentieth Century"/>
                        <a:buNone/>
                      </a:pPr>
                      <a:r>
                        <a:t/>
                      </a:r>
                      <a:endParaRPr b="0" i="0" sz="2800" u="none" cap="none" strike="noStrike">
                        <a:solidFill>
                          <a:schemeClr val="dk1"/>
                        </a:solidFill>
                        <a:latin typeface="Arial"/>
                        <a:ea typeface="Arial"/>
                        <a:cs typeface="Arial"/>
                        <a:sym typeface="Arial"/>
                      </a:endParaRPr>
                    </a:p>
                  </a:txBody>
                  <a:tcPr marT="45700" marB="457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Twentieth Century"/>
                        <a:buNone/>
                      </a:pPr>
                      <a:r>
                        <a:t/>
                      </a:r>
                      <a:endParaRPr b="0" i="0" sz="2800" u="none" cap="none" strike="noStrike">
                        <a:solidFill>
                          <a:schemeClr val="dk1"/>
                        </a:solidFill>
                        <a:latin typeface="Arial"/>
                        <a:ea typeface="Arial"/>
                        <a:cs typeface="Arial"/>
                        <a:sym typeface="Arial"/>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Twentieth Century"/>
                        <a:buNone/>
                      </a:pPr>
                      <a:r>
                        <a:t/>
                      </a:r>
                      <a:endParaRPr b="0" i="0" sz="2800" u="none" cap="none" strike="noStrike">
                        <a:solidFill>
                          <a:schemeClr val="dk1"/>
                        </a:solidFill>
                        <a:latin typeface="Arial"/>
                        <a:ea typeface="Arial"/>
                        <a:cs typeface="Arial"/>
                        <a:sym typeface="Arial"/>
                      </a:endParaRPr>
                    </a:p>
                  </a:txBody>
                  <a:tcPr marT="45700" marB="457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697" name="Google Shape;697;p67"/>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98989"/>
              </a:buClr>
              <a:buSzPts val="1200"/>
              <a:buFont typeface="Arial"/>
              <a:buNone/>
            </a:pPr>
            <a:fld id="{00000000-1234-1234-1234-123412341234}" type="slidenum">
              <a:rPr lang="tr-TR" sz="1200">
                <a:solidFill>
                  <a:srgbClr val="898989"/>
                </a:solidFill>
                <a:latin typeface="Calibri"/>
                <a:ea typeface="Calibri"/>
                <a:cs typeface="Calibri"/>
                <a:sym typeface="Calibri"/>
              </a:rPr>
              <a:t>‹#›</a:t>
            </a:fld>
            <a:endParaRPr sz="1200">
              <a:solidFill>
                <a:srgbClr val="898989"/>
              </a:solidFill>
              <a:latin typeface="Calibri"/>
              <a:ea typeface="Calibri"/>
              <a:cs typeface="Calibri"/>
              <a:sym typeface="Calibri"/>
            </a:endParaRPr>
          </a:p>
        </p:txBody>
      </p:sp>
      <p:sp>
        <p:nvSpPr>
          <p:cNvPr id="698" name="Google Shape;698;p67"/>
          <p:cNvSpPr txBox="1"/>
          <p:nvPr/>
        </p:nvSpPr>
        <p:spPr>
          <a:xfrm>
            <a:off x="688462" y="3716338"/>
            <a:ext cx="2952750" cy="1058751"/>
          </a:xfrm>
          <a:prstGeom prst="rect">
            <a:avLst/>
          </a:prstGeom>
          <a:noFill/>
          <a:ln>
            <a:noFill/>
          </a:ln>
        </p:spPr>
        <p:txBody>
          <a:bodyPr anchorCtr="0" anchor="t" bIns="36575" lIns="73150" spcFirstLastPara="1" rIns="73150" wrap="square" tIns="36575">
            <a:spAutoFit/>
          </a:bodyPr>
          <a:lstStyle/>
          <a:p>
            <a:pPr indent="0" lvl="0" marL="0" marR="0" rtl="0" algn="l">
              <a:spcBef>
                <a:spcPts val="0"/>
              </a:spcBef>
              <a:spcAft>
                <a:spcPts val="0"/>
              </a:spcAft>
              <a:buClr>
                <a:srgbClr val="000000"/>
              </a:buClr>
              <a:buSzPts val="3200"/>
              <a:buFont typeface="Arial"/>
              <a:buNone/>
            </a:pPr>
            <a:r>
              <a:rPr lang="tr-TR" sz="3200">
                <a:solidFill>
                  <a:srgbClr val="000000"/>
                </a:solidFill>
                <a:latin typeface="Times New Roman"/>
                <a:ea typeface="Times New Roman"/>
                <a:cs typeface="Times New Roman"/>
                <a:sym typeface="Times New Roman"/>
              </a:rPr>
              <a:t>H</a:t>
            </a:r>
            <a:r>
              <a:rPr baseline="-25000" lang="tr-TR" sz="3200">
                <a:solidFill>
                  <a:srgbClr val="000000"/>
                </a:solidFill>
                <a:latin typeface="Times New Roman"/>
                <a:ea typeface="Times New Roman"/>
                <a:cs typeface="Times New Roman"/>
                <a:sym typeface="Times New Roman"/>
              </a:rPr>
              <a:t>0</a:t>
            </a:r>
            <a:r>
              <a:rPr lang="tr-TR" sz="3200">
                <a:solidFill>
                  <a:srgbClr val="000000"/>
                </a:solidFill>
                <a:latin typeface="Times New Roman"/>
                <a:ea typeface="Times New Roman"/>
                <a:cs typeface="Times New Roman"/>
                <a:sym typeface="Times New Roman"/>
              </a:rPr>
              <a:t>: μ= 18</a:t>
            </a:r>
            <a:endParaRPr/>
          </a:p>
          <a:p>
            <a:pPr indent="0" lvl="0" marL="0" marR="0" rtl="0" algn="l">
              <a:spcBef>
                <a:spcPts val="0"/>
              </a:spcBef>
              <a:spcAft>
                <a:spcPts val="0"/>
              </a:spcAft>
              <a:buClr>
                <a:srgbClr val="000000"/>
              </a:buClr>
              <a:buSzPts val="3200"/>
              <a:buFont typeface="Arial"/>
              <a:buNone/>
            </a:pPr>
            <a:r>
              <a:rPr lang="tr-TR" sz="3200">
                <a:solidFill>
                  <a:srgbClr val="000000"/>
                </a:solidFill>
                <a:latin typeface="Times New Roman"/>
                <a:ea typeface="Times New Roman"/>
                <a:cs typeface="Times New Roman"/>
                <a:sym typeface="Times New Roman"/>
              </a:rPr>
              <a:t>H</a:t>
            </a:r>
            <a:r>
              <a:rPr baseline="-25000" lang="tr-TR" sz="3200">
                <a:solidFill>
                  <a:srgbClr val="000000"/>
                </a:solidFill>
                <a:latin typeface="Times New Roman"/>
                <a:ea typeface="Times New Roman"/>
                <a:cs typeface="Times New Roman"/>
                <a:sym typeface="Times New Roman"/>
              </a:rPr>
              <a:t>1</a:t>
            </a:r>
            <a:r>
              <a:rPr lang="tr-TR" sz="3200">
                <a:solidFill>
                  <a:srgbClr val="000000"/>
                </a:solidFill>
                <a:latin typeface="Times New Roman"/>
                <a:ea typeface="Times New Roman"/>
                <a:cs typeface="Times New Roman"/>
                <a:sym typeface="Times New Roman"/>
              </a:rPr>
              <a:t>: μ≠ 18</a:t>
            </a:r>
            <a:endParaRPr sz="4400">
              <a:solidFill>
                <a:schemeClr val="dk1"/>
              </a:solidFill>
              <a:latin typeface="Calibri"/>
              <a:ea typeface="Calibri"/>
              <a:cs typeface="Calibri"/>
              <a:sym typeface="Calibri"/>
            </a:endParaRPr>
          </a:p>
        </p:txBody>
      </p:sp>
      <p:sp>
        <p:nvSpPr>
          <p:cNvPr id="699" name="Google Shape;699;p67"/>
          <p:cNvSpPr/>
          <p:nvPr/>
        </p:nvSpPr>
        <p:spPr>
          <a:xfrm>
            <a:off x="3923928" y="3739388"/>
            <a:ext cx="2088232"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2800">
                <a:solidFill>
                  <a:srgbClr val="000000"/>
                </a:solidFill>
                <a:latin typeface="Times New Roman"/>
                <a:ea typeface="Times New Roman"/>
                <a:cs typeface="Times New Roman"/>
                <a:sym typeface="Times New Roman"/>
              </a:rPr>
              <a:t>H</a:t>
            </a:r>
            <a:r>
              <a:rPr baseline="-25000" lang="tr-TR" sz="2800">
                <a:solidFill>
                  <a:srgbClr val="000000"/>
                </a:solidFill>
                <a:latin typeface="Times New Roman"/>
                <a:ea typeface="Times New Roman"/>
                <a:cs typeface="Times New Roman"/>
                <a:sym typeface="Times New Roman"/>
              </a:rPr>
              <a:t>0</a:t>
            </a:r>
            <a:r>
              <a:rPr lang="tr-TR" sz="2800">
                <a:solidFill>
                  <a:srgbClr val="000000"/>
                </a:solidFill>
                <a:latin typeface="Times New Roman"/>
                <a:ea typeface="Times New Roman"/>
                <a:cs typeface="Times New Roman"/>
                <a:sym typeface="Times New Roman"/>
              </a:rPr>
              <a:t>: μ= 18</a:t>
            </a:r>
            <a:endParaRPr/>
          </a:p>
          <a:p>
            <a:pPr indent="0" lvl="0" marL="0" marR="0" rtl="0" algn="l">
              <a:spcBef>
                <a:spcPts val="0"/>
              </a:spcBef>
              <a:spcAft>
                <a:spcPts val="0"/>
              </a:spcAft>
              <a:buNone/>
            </a:pPr>
            <a:r>
              <a:rPr lang="tr-TR" sz="2800">
                <a:solidFill>
                  <a:srgbClr val="000000"/>
                </a:solidFill>
                <a:latin typeface="Times New Roman"/>
                <a:ea typeface="Times New Roman"/>
                <a:cs typeface="Times New Roman"/>
                <a:sym typeface="Times New Roman"/>
              </a:rPr>
              <a:t>H</a:t>
            </a:r>
            <a:r>
              <a:rPr baseline="-25000" lang="tr-TR" sz="2800">
                <a:solidFill>
                  <a:srgbClr val="000000"/>
                </a:solidFill>
                <a:latin typeface="Times New Roman"/>
                <a:ea typeface="Times New Roman"/>
                <a:cs typeface="Times New Roman"/>
                <a:sym typeface="Times New Roman"/>
              </a:rPr>
              <a:t>1</a:t>
            </a:r>
            <a:r>
              <a:rPr lang="tr-TR" sz="2800">
                <a:solidFill>
                  <a:srgbClr val="000000"/>
                </a:solidFill>
                <a:latin typeface="Times New Roman"/>
                <a:ea typeface="Times New Roman"/>
                <a:cs typeface="Times New Roman"/>
                <a:sym typeface="Times New Roman"/>
              </a:rPr>
              <a:t>: μ&gt; 18</a:t>
            </a:r>
            <a:endParaRPr/>
          </a:p>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
        <p:nvSpPr>
          <p:cNvPr id="700" name="Google Shape;700;p67"/>
          <p:cNvSpPr/>
          <p:nvPr/>
        </p:nvSpPr>
        <p:spPr>
          <a:xfrm>
            <a:off x="6677559" y="3832914"/>
            <a:ext cx="2088232"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2800">
                <a:solidFill>
                  <a:srgbClr val="000000"/>
                </a:solidFill>
                <a:latin typeface="Times New Roman"/>
                <a:ea typeface="Times New Roman"/>
                <a:cs typeface="Times New Roman"/>
                <a:sym typeface="Times New Roman"/>
              </a:rPr>
              <a:t>H</a:t>
            </a:r>
            <a:r>
              <a:rPr baseline="-25000" lang="tr-TR" sz="2800">
                <a:solidFill>
                  <a:srgbClr val="000000"/>
                </a:solidFill>
                <a:latin typeface="Times New Roman"/>
                <a:ea typeface="Times New Roman"/>
                <a:cs typeface="Times New Roman"/>
                <a:sym typeface="Times New Roman"/>
              </a:rPr>
              <a:t>0</a:t>
            </a:r>
            <a:r>
              <a:rPr lang="tr-TR" sz="2800">
                <a:solidFill>
                  <a:srgbClr val="000000"/>
                </a:solidFill>
                <a:latin typeface="Times New Roman"/>
                <a:ea typeface="Times New Roman"/>
                <a:cs typeface="Times New Roman"/>
                <a:sym typeface="Times New Roman"/>
              </a:rPr>
              <a:t>: μ= 18</a:t>
            </a:r>
            <a:endParaRPr/>
          </a:p>
          <a:p>
            <a:pPr indent="0" lvl="0" marL="0" marR="0" rtl="0" algn="l">
              <a:spcBef>
                <a:spcPts val="0"/>
              </a:spcBef>
              <a:spcAft>
                <a:spcPts val="0"/>
              </a:spcAft>
              <a:buNone/>
            </a:pPr>
            <a:r>
              <a:rPr lang="tr-TR" sz="2800">
                <a:solidFill>
                  <a:srgbClr val="000000"/>
                </a:solidFill>
                <a:latin typeface="Times New Roman"/>
                <a:ea typeface="Times New Roman"/>
                <a:cs typeface="Times New Roman"/>
                <a:sym typeface="Times New Roman"/>
              </a:rPr>
              <a:t>H</a:t>
            </a:r>
            <a:r>
              <a:rPr baseline="-25000" lang="tr-TR" sz="2800">
                <a:solidFill>
                  <a:srgbClr val="000000"/>
                </a:solidFill>
                <a:latin typeface="Times New Roman"/>
                <a:ea typeface="Times New Roman"/>
                <a:cs typeface="Times New Roman"/>
                <a:sym typeface="Times New Roman"/>
              </a:rPr>
              <a:t>1:</a:t>
            </a:r>
            <a:r>
              <a:rPr lang="tr-TR" sz="2800">
                <a:solidFill>
                  <a:srgbClr val="000000"/>
                </a:solidFill>
                <a:latin typeface="Times New Roman"/>
                <a:ea typeface="Times New Roman"/>
                <a:cs typeface="Times New Roman"/>
                <a:sym typeface="Times New Roman"/>
              </a:rPr>
              <a:t>μ&lt;18</a:t>
            </a:r>
            <a:endParaRPr/>
          </a:p>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68"/>
          <p:cNvSpPr txBox="1"/>
          <p:nvPr>
            <p:ph idx="1" type="body"/>
          </p:nvPr>
        </p:nvSpPr>
        <p:spPr>
          <a:xfrm>
            <a:off x="468313" y="476250"/>
            <a:ext cx="8229600" cy="4525963"/>
          </a:xfrm>
          <a:prstGeom prst="rect">
            <a:avLst/>
          </a:prstGeom>
          <a:noFill/>
          <a:ln>
            <a:noFill/>
          </a:ln>
        </p:spPr>
        <p:txBody>
          <a:bodyPr anchorCtr="0" anchor="t" bIns="45700" lIns="45700" spcFirstLastPara="1" rIns="45700" wrap="square" tIns="45700">
            <a:normAutofit/>
          </a:bodyPr>
          <a:lstStyle/>
          <a:p>
            <a:pPr indent="-127000" lvl="0" marL="91440" rtl="0" algn="just">
              <a:lnSpc>
                <a:spcPct val="90000"/>
              </a:lnSpc>
              <a:spcBef>
                <a:spcPts val="0"/>
              </a:spcBef>
              <a:spcAft>
                <a:spcPts val="0"/>
              </a:spcAft>
              <a:buSzPts val="2000"/>
              <a:buChar char=" "/>
            </a:pPr>
            <a:r>
              <a:rPr lang="tr-TR"/>
              <a:t>Araştırıcı amacına ya da tanımlamalarına uygun olarak yokluk hipotezine karşıt olarak üç farklı seçenek hipotez kullanabilir.</a:t>
            </a:r>
            <a:endParaRPr/>
          </a:p>
        </p:txBody>
      </p:sp>
      <p:sp>
        <p:nvSpPr>
          <p:cNvPr id="706" name="Google Shape;706;p68"/>
          <p:cNvSpPr/>
          <p:nvPr/>
        </p:nvSpPr>
        <p:spPr>
          <a:xfrm>
            <a:off x="1619672" y="2236825"/>
            <a:ext cx="5257800" cy="125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4400"/>
              <a:buFont typeface="Arial"/>
              <a:buNone/>
            </a:pPr>
            <a:r>
              <a:t/>
            </a:r>
            <a:endParaRPr sz="4400">
              <a:solidFill>
                <a:schemeClr val="dk1"/>
              </a:solidFill>
              <a:latin typeface="Calibri"/>
              <a:ea typeface="Calibri"/>
              <a:cs typeface="Calibri"/>
              <a:sym typeface="Calibri"/>
            </a:endParaRPr>
          </a:p>
        </p:txBody>
      </p:sp>
      <p:sp>
        <p:nvSpPr>
          <p:cNvPr id="707" name="Google Shape;707;p68"/>
          <p:cNvSpPr txBox="1"/>
          <p:nvPr/>
        </p:nvSpPr>
        <p:spPr>
          <a:xfrm>
            <a:off x="1331913" y="3251200"/>
            <a:ext cx="2519362" cy="560388"/>
          </a:xfrm>
          <a:prstGeom prst="rect">
            <a:avLst/>
          </a:prstGeom>
          <a:noFill/>
          <a:ln>
            <a:noFill/>
          </a:ln>
        </p:spPr>
        <p:txBody>
          <a:bodyPr anchorCtr="0" anchor="t" bIns="36575" lIns="73150" spcFirstLastPara="1" rIns="73150" wrap="square" tIns="36575">
            <a:spAutoFit/>
          </a:bodyPr>
          <a:lstStyle/>
          <a:p>
            <a:pPr indent="0" lvl="0" marL="0" marR="0" rtl="0" algn="l">
              <a:spcBef>
                <a:spcPts val="0"/>
              </a:spcBef>
              <a:spcAft>
                <a:spcPts val="0"/>
              </a:spcAft>
              <a:buClr>
                <a:srgbClr val="000000"/>
              </a:buClr>
              <a:buSzPts val="3200"/>
              <a:buFont typeface="Arial"/>
              <a:buNone/>
            </a:pPr>
            <a:r>
              <a:rPr lang="tr-TR" sz="3200" u="sng">
                <a:solidFill>
                  <a:srgbClr val="000000"/>
                </a:solidFill>
                <a:latin typeface="Times New Roman"/>
                <a:ea typeface="Times New Roman"/>
                <a:cs typeface="Times New Roman"/>
                <a:sym typeface="Times New Roman"/>
              </a:rPr>
              <a:t>Çift Yönlü</a:t>
            </a:r>
            <a:endParaRPr sz="4400">
              <a:solidFill>
                <a:schemeClr val="dk1"/>
              </a:solidFill>
              <a:latin typeface="Calibri"/>
              <a:ea typeface="Calibri"/>
              <a:cs typeface="Calibri"/>
              <a:sym typeface="Calibri"/>
            </a:endParaRPr>
          </a:p>
        </p:txBody>
      </p:sp>
      <p:sp>
        <p:nvSpPr>
          <p:cNvPr id="708" name="Google Shape;708;p68"/>
          <p:cNvSpPr txBox="1"/>
          <p:nvPr/>
        </p:nvSpPr>
        <p:spPr>
          <a:xfrm>
            <a:off x="5076825" y="3267075"/>
            <a:ext cx="2592388" cy="560388"/>
          </a:xfrm>
          <a:prstGeom prst="rect">
            <a:avLst/>
          </a:prstGeom>
          <a:noFill/>
          <a:ln>
            <a:noFill/>
          </a:ln>
        </p:spPr>
        <p:txBody>
          <a:bodyPr anchorCtr="0" anchor="t" bIns="36575" lIns="73150" spcFirstLastPara="1" rIns="73150" wrap="square" tIns="36575">
            <a:spAutoFit/>
          </a:bodyPr>
          <a:lstStyle/>
          <a:p>
            <a:pPr indent="0" lvl="0" marL="0" marR="0" rtl="0" algn="ctr">
              <a:spcBef>
                <a:spcPts val="0"/>
              </a:spcBef>
              <a:spcAft>
                <a:spcPts val="0"/>
              </a:spcAft>
              <a:buClr>
                <a:srgbClr val="000000"/>
              </a:buClr>
              <a:buSzPts val="3200"/>
              <a:buFont typeface="Arial"/>
              <a:buNone/>
            </a:pPr>
            <a:r>
              <a:rPr lang="tr-TR" sz="3200" u="sng">
                <a:solidFill>
                  <a:srgbClr val="000000"/>
                </a:solidFill>
                <a:latin typeface="Times New Roman"/>
                <a:ea typeface="Times New Roman"/>
                <a:cs typeface="Times New Roman"/>
                <a:sym typeface="Times New Roman"/>
              </a:rPr>
              <a:t>Tek Yönlü</a:t>
            </a:r>
            <a:endParaRPr sz="4400">
              <a:solidFill>
                <a:schemeClr val="dk1"/>
              </a:solidFill>
              <a:latin typeface="Calibri"/>
              <a:ea typeface="Calibri"/>
              <a:cs typeface="Calibri"/>
              <a:sym typeface="Calibri"/>
            </a:endParaRPr>
          </a:p>
        </p:txBody>
      </p:sp>
      <p:sp>
        <p:nvSpPr>
          <p:cNvPr id="709" name="Google Shape;709;p68"/>
          <p:cNvSpPr txBox="1"/>
          <p:nvPr/>
        </p:nvSpPr>
        <p:spPr>
          <a:xfrm>
            <a:off x="6516688" y="4037013"/>
            <a:ext cx="2484437" cy="439737"/>
          </a:xfrm>
          <a:prstGeom prst="rect">
            <a:avLst/>
          </a:prstGeom>
          <a:noFill/>
          <a:ln>
            <a:noFill/>
          </a:ln>
        </p:spPr>
        <p:txBody>
          <a:bodyPr anchorCtr="0" anchor="t" bIns="36575" lIns="73150" spcFirstLastPara="1" rIns="73150" wrap="square" tIns="36575">
            <a:noAutofit/>
          </a:bodyPr>
          <a:lstStyle/>
          <a:p>
            <a:pPr indent="0" lvl="0" marL="0" marR="0" rtl="0" algn="l">
              <a:spcBef>
                <a:spcPts val="0"/>
              </a:spcBef>
              <a:spcAft>
                <a:spcPts val="0"/>
              </a:spcAft>
              <a:buClr>
                <a:srgbClr val="000000"/>
              </a:buClr>
              <a:buSzPts val="3200"/>
              <a:buFont typeface="Arial"/>
              <a:buNone/>
            </a:pPr>
            <a:r>
              <a:rPr lang="tr-TR" sz="3200">
                <a:solidFill>
                  <a:srgbClr val="000000"/>
                </a:solidFill>
                <a:latin typeface="Times New Roman"/>
                <a:ea typeface="Times New Roman"/>
                <a:cs typeface="Times New Roman"/>
                <a:sym typeface="Times New Roman"/>
              </a:rPr>
              <a:t>H</a:t>
            </a:r>
            <a:r>
              <a:rPr baseline="-25000" lang="tr-TR" sz="3200">
                <a:solidFill>
                  <a:srgbClr val="000000"/>
                </a:solidFill>
                <a:latin typeface="Times New Roman"/>
                <a:ea typeface="Times New Roman"/>
                <a:cs typeface="Times New Roman"/>
                <a:sym typeface="Times New Roman"/>
              </a:rPr>
              <a:t>0</a:t>
            </a:r>
            <a:r>
              <a:rPr lang="tr-TR" sz="3200">
                <a:solidFill>
                  <a:srgbClr val="000000"/>
                </a:solidFill>
                <a:latin typeface="Times New Roman"/>
                <a:ea typeface="Times New Roman"/>
                <a:cs typeface="Times New Roman"/>
                <a:sym typeface="Times New Roman"/>
              </a:rPr>
              <a:t>: μ= 18</a:t>
            </a:r>
            <a:endParaRPr/>
          </a:p>
          <a:p>
            <a:pPr indent="0" lvl="0" marL="0" marR="0" rtl="0" algn="l">
              <a:spcBef>
                <a:spcPts val="0"/>
              </a:spcBef>
              <a:spcAft>
                <a:spcPts val="0"/>
              </a:spcAft>
              <a:buClr>
                <a:srgbClr val="000000"/>
              </a:buClr>
              <a:buSzPts val="3200"/>
              <a:buFont typeface="Arial"/>
              <a:buNone/>
            </a:pPr>
            <a:r>
              <a:rPr lang="tr-TR" sz="3200">
                <a:solidFill>
                  <a:srgbClr val="000000"/>
                </a:solidFill>
                <a:latin typeface="Times New Roman"/>
                <a:ea typeface="Times New Roman"/>
                <a:cs typeface="Times New Roman"/>
                <a:sym typeface="Times New Roman"/>
              </a:rPr>
              <a:t>H</a:t>
            </a:r>
            <a:r>
              <a:rPr baseline="-25000" lang="tr-TR" sz="3200">
                <a:solidFill>
                  <a:srgbClr val="000000"/>
                </a:solidFill>
                <a:latin typeface="Times New Roman"/>
                <a:ea typeface="Times New Roman"/>
                <a:cs typeface="Times New Roman"/>
                <a:sym typeface="Times New Roman"/>
              </a:rPr>
              <a:t>1</a:t>
            </a:r>
            <a:r>
              <a:rPr lang="tr-TR" sz="3200">
                <a:solidFill>
                  <a:srgbClr val="000000"/>
                </a:solidFill>
                <a:latin typeface="Times New Roman"/>
                <a:ea typeface="Times New Roman"/>
                <a:cs typeface="Times New Roman"/>
                <a:sym typeface="Times New Roman"/>
              </a:rPr>
              <a:t>: μ &lt; 18</a:t>
            </a:r>
            <a:endParaRPr sz="4400">
              <a:solidFill>
                <a:schemeClr val="dk1"/>
              </a:solidFill>
              <a:latin typeface="Calibri"/>
              <a:ea typeface="Calibri"/>
              <a:cs typeface="Calibri"/>
              <a:sym typeface="Calibri"/>
            </a:endParaRPr>
          </a:p>
        </p:txBody>
      </p:sp>
      <p:sp>
        <p:nvSpPr>
          <p:cNvPr id="710" name="Google Shape;710;p68"/>
          <p:cNvSpPr txBox="1"/>
          <p:nvPr/>
        </p:nvSpPr>
        <p:spPr>
          <a:xfrm>
            <a:off x="1116013" y="4043363"/>
            <a:ext cx="2952750" cy="1058751"/>
          </a:xfrm>
          <a:prstGeom prst="rect">
            <a:avLst/>
          </a:prstGeom>
          <a:noFill/>
          <a:ln>
            <a:noFill/>
          </a:ln>
        </p:spPr>
        <p:txBody>
          <a:bodyPr anchorCtr="0" anchor="t" bIns="36575" lIns="73150" spcFirstLastPara="1" rIns="73150" wrap="square" tIns="36575">
            <a:spAutoFit/>
          </a:bodyPr>
          <a:lstStyle/>
          <a:p>
            <a:pPr indent="0" lvl="0" marL="0" marR="0" rtl="0" algn="l">
              <a:spcBef>
                <a:spcPts val="0"/>
              </a:spcBef>
              <a:spcAft>
                <a:spcPts val="0"/>
              </a:spcAft>
              <a:buClr>
                <a:srgbClr val="000000"/>
              </a:buClr>
              <a:buSzPts val="3200"/>
              <a:buFont typeface="Arial"/>
              <a:buNone/>
            </a:pPr>
            <a:r>
              <a:rPr lang="tr-TR" sz="3200">
                <a:solidFill>
                  <a:srgbClr val="000000"/>
                </a:solidFill>
                <a:latin typeface="Times New Roman"/>
                <a:ea typeface="Times New Roman"/>
                <a:cs typeface="Times New Roman"/>
                <a:sym typeface="Times New Roman"/>
              </a:rPr>
              <a:t>H</a:t>
            </a:r>
            <a:r>
              <a:rPr baseline="-25000" lang="tr-TR" sz="3200">
                <a:solidFill>
                  <a:srgbClr val="000000"/>
                </a:solidFill>
                <a:latin typeface="Times New Roman"/>
                <a:ea typeface="Times New Roman"/>
                <a:cs typeface="Times New Roman"/>
                <a:sym typeface="Times New Roman"/>
              </a:rPr>
              <a:t>0</a:t>
            </a:r>
            <a:r>
              <a:rPr lang="tr-TR" sz="3200">
                <a:solidFill>
                  <a:srgbClr val="000000"/>
                </a:solidFill>
                <a:latin typeface="Times New Roman"/>
                <a:ea typeface="Times New Roman"/>
                <a:cs typeface="Times New Roman"/>
                <a:sym typeface="Times New Roman"/>
              </a:rPr>
              <a:t>: μ= 18</a:t>
            </a:r>
            <a:endParaRPr/>
          </a:p>
          <a:p>
            <a:pPr indent="0" lvl="0" marL="0" marR="0" rtl="0" algn="l">
              <a:spcBef>
                <a:spcPts val="0"/>
              </a:spcBef>
              <a:spcAft>
                <a:spcPts val="0"/>
              </a:spcAft>
              <a:buClr>
                <a:srgbClr val="000000"/>
              </a:buClr>
              <a:buSzPts val="3200"/>
              <a:buFont typeface="Arial"/>
              <a:buNone/>
            </a:pPr>
            <a:r>
              <a:rPr lang="tr-TR" sz="3200">
                <a:solidFill>
                  <a:srgbClr val="000000"/>
                </a:solidFill>
                <a:latin typeface="Times New Roman"/>
                <a:ea typeface="Times New Roman"/>
                <a:cs typeface="Times New Roman"/>
                <a:sym typeface="Times New Roman"/>
              </a:rPr>
              <a:t>H</a:t>
            </a:r>
            <a:r>
              <a:rPr baseline="-25000" lang="tr-TR" sz="3200">
                <a:solidFill>
                  <a:srgbClr val="000000"/>
                </a:solidFill>
                <a:latin typeface="Times New Roman"/>
                <a:ea typeface="Times New Roman"/>
                <a:cs typeface="Times New Roman"/>
                <a:sym typeface="Times New Roman"/>
              </a:rPr>
              <a:t>1</a:t>
            </a:r>
            <a:r>
              <a:rPr lang="tr-TR" sz="3200">
                <a:solidFill>
                  <a:srgbClr val="000000"/>
                </a:solidFill>
                <a:latin typeface="Times New Roman"/>
                <a:ea typeface="Times New Roman"/>
                <a:cs typeface="Times New Roman"/>
                <a:sym typeface="Times New Roman"/>
              </a:rPr>
              <a:t>: μ≠ 18</a:t>
            </a:r>
            <a:endParaRPr sz="4400">
              <a:solidFill>
                <a:schemeClr val="dk1"/>
              </a:solidFill>
              <a:latin typeface="Calibri"/>
              <a:ea typeface="Calibri"/>
              <a:cs typeface="Calibri"/>
              <a:sym typeface="Calibri"/>
            </a:endParaRPr>
          </a:p>
        </p:txBody>
      </p:sp>
      <p:sp>
        <p:nvSpPr>
          <p:cNvPr id="711" name="Google Shape;711;p68"/>
          <p:cNvSpPr txBox="1"/>
          <p:nvPr/>
        </p:nvSpPr>
        <p:spPr>
          <a:xfrm>
            <a:off x="4140200" y="4043363"/>
            <a:ext cx="2303463" cy="457200"/>
          </a:xfrm>
          <a:prstGeom prst="rect">
            <a:avLst/>
          </a:prstGeom>
          <a:noFill/>
          <a:ln>
            <a:noFill/>
          </a:ln>
        </p:spPr>
        <p:txBody>
          <a:bodyPr anchorCtr="0" anchor="t" bIns="36575" lIns="73150" spcFirstLastPara="1" rIns="73150" wrap="square" tIns="36575">
            <a:noAutofit/>
          </a:bodyPr>
          <a:lstStyle/>
          <a:p>
            <a:pPr indent="0" lvl="0" marL="0" marR="0" rtl="0" algn="l">
              <a:spcBef>
                <a:spcPts val="0"/>
              </a:spcBef>
              <a:spcAft>
                <a:spcPts val="0"/>
              </a:spcAft>
              <a:buClr>
                <a:srgbClr val="000000"/>
              </a:buClr>
              <a:buSzPts val="3200"/>
              <a:buFont typeface="Arial"/>
              <a:buNone/>
            </a:pPr>
            <a:r>
              <a:rPr lang="tr-TR" sz="3200">
                <a:solidFill>
                  <a:srgbClr val="000000"/>
                </a:solidFill>
                <a:latin typeface="Times New Roman"/>
                <a:ea typeface="Times New Roman"/>
                <a:cs typeface="Times New Roman"/>
                <a:sym typeface="Times New Roman"/>
              </a:rPr>
              <a:t>H</a:t>
            </a:r>
            <a:r>
              <a:rPr baseline="-25000" lang="tr-TR" sz="3200">
                <a:solidFill>
                  <a:srgbClr val="000000"/>
                </a:solidFill>
                <a:latin typeface="Times New Roman"/>
                <a:ea typeface="Times New Roman"/>
                <a:cs typeface="Times New Roman"/>
                <a:sym typeface="Times New Roman"/>
              </a:rPr>
              <a:t>0</a:t>
            </a:r>
            <a:r>
              <a:rPr lang="tr-TR" sz="3200">
                <a:solidFill>
                  <a:srgbClr val="000000"/>
                </a:solidFill>
                <a:latin typeface="Times New Roman"/>
                <a:ea typeface="Times New Roman"/>
                <a:cs typeface="Times New Roman"/>
                <a:sym typeface="Times New Roman"/>
              </a:rPr>
              <a:t>: μ= 18</a:t>
            </a:r>
            <a:endParaRPr/>
          </a:p>
          <a:p>
            <a:pPr indent="0" lvl="0" marL="0" marR="0" rtl="0" algn="l">
              <a:spcBef>
                <a:spcPts val="0"/>
              </a:spcBef>
              <a:spcAft>
                <a:spcPts val="0"/>
              </a:spcAft>
              <a:buClr>
                <a:srgbClr val="000000"/>
              </a:buClr>
              <a:buSzPts val="3200"/>
              <a:buFont typeface="Arial"/>
              <a:buNone/>
            </a:pPr>
            <a:r>
              <a:rPr lang="tr-TR" sz="3200">
                <a:solidFill>
                  <a:srgbClr val="000000"/>
                </a:solidFill>
                <a:latin typeface="Times New Roman"/>
                <a:ea typeface="Times New Roman"/>
                <a:cs typeface="Times New Roman"/>
                <a:sym typeface="Times New Roman"/>
              </a:rPr>
              <a:t>H</a:t>
            </a:r>
            <a:r>
              <a:rPr baseline="-25000" lang="tr-TR" sz="3200">
                <a:solidFill>
                  <a:srgbClr val="000000"/>
                </a:solidFill>
                <a:latin typeface="Times New Roman"/>
                <a:ea typeface="Times New Roman"/>
                <a:cs typeface="Times New Roman"/>
                <a:sym typeface="Times New Roman"/>
              </a:rPr>
              <a:t>1</a:t>
            </a:r>
            <a:r>
              <a:rPr lang="tr-TR" sz="3200">
                <a:solidFill>
                  <a:srgbClr val="000000"/>
                </a:solidFill>
                <a:latin typeface="Times New Roman"/>
                <a:ea typeface="Times New Roman"/>
                <a:cs typeface="Times New Roman"/>
                <a:sym typeface="Times New Roman"/>
              </a:rPr>
              <a:t>: μ&gt; 18</a:t>
            </a:r>
            <a:endParaRPr sz="4400">
              <a:solidFill>
                <a:schemeClr val="dk1"/>
              </a:solidFill>
              <a:latin typeface="Calibri"/>
              <a:ea typeface="Calibri"/>
              <a:cs typeface="Calibri"/>
              <a:sym typeface="Calibri"/>
            </a:endParaRPr>
          </a:p>
        </p:txBody>
      </p:sp>
      <p:sp>
        <p:nvSpPr>
          <p:cNvPr id="712" name="Google Shape;712;p68"/>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98989"/>
              </a:buClr>
              <a:buSzPts val="1200"/>
              <a:buFont typeface="Arial"/>
              <a:buNone/>
            </a:pPr>
            <a:fld id="{00000000-1234-1234-1234-123412341234}" type="slidenum">
              <a:rPr lang="tr-TR" sz="1200">
                <a:solidFill>
                  <a:srgbClr val="898989"/>
                </a:solidFill>
                <a:latin typeface="Calibri"/>
                <a:ea typeface="Calibri"/>
                <a:cs typeface="Calibri"/>
                <a:sym typeface="Calibri"/>
              </a:rPr>
              <a:t>‹#›</a:t>
            </a:fld>
            <a:endParaRPr sz="1200">
              <a:solidFill>
                <a:srgbClr val="898989"/>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69"/>
          <p:cNvSpPr txBox="1"/>
          <p:nvPr>
            <p:ph idx="1" type="body"/>
          </p:nvPr>
        </p:nvSpPr>
        <p:spPr>
          <a:xfrm>
            <a:off x="457200" y="549275"/>
            <a:ext cx="8229600" cy="6048375"/>
          </a:xfrm>
          <a:prstGeom prst="rect">
            <a:avLst/>
          </a:prstGeom>
          <a:noFill/>
          <a:ln>
            <a:noFill/>
          </a:ln>
        </p:spPr>
        <p:txBody>
          <a:bodyPr anchorCtr="0" anchor="t" bIns="45700" lIns="45700" spcFirstLastPara="1" rIns="45700" wrap="square" tIns="45700">
            <a:normAutofit/>
          </a:bodyPr>
          <a:lstStyle/>
          <a:p>
            <a:pPr indent="-177800" lvl="0" marL="91440" rtl="0" algn="just">
              <a:lnSpc>
                <a:spcPct val="90000"/>
              </a:lnSpc>
              <a:spcBef>
                <a:spcPts val="0"/>
              </a:spcBef>
              <a:spcAft>
                <a:spcPts val="0"/>
              </a:spcAft>
              <a:buSzPts val="2800"/>
              <a:buChar char=" "/>
            </a:pPr>
            <a:r>
              <a:rPr lang="tr-TR" sz="2800">
                <a:solidFill>
                  <a:srgbClr val="000000"/>
                </a:solidFill>
              </a:rPr>
              <a:t>H</a:t>
            </a:r>
            <a:r>
              <a:rPr baseline="-25000" lang="tr-TR" sz="2800">
                <a:solidFill>
                  <a:srgbClr val="000000"/>
                </a:solidFill>
              </a:rPr>
              <a:t>1</a:t>
            </a:r>
            <a:r>
              <a:rPr lang="tr-TR" sz="2800">
                <a:solidFill>
                  <a:srgbClr val="000000"/>
                </a:solidFill>
              </a:rPr>
              <a:t> seçenek hipotezinin iki ya da çok yönlü olması test sonucu karar verilme koşullarında farklılık yaratır öyle ki; H</a:t>
            </a:r>
            <a:r>
              <a:rPr baseline="-25000" lang="tr-TR" sz="2800">
                <a:solidFill>
                  <a:srgbClr val="000000"/>
                </a:solidFill>
              </a:rPr>
              <a:t>1</a:t>
            </a:r>
            <a:r>
              <a:rPr lang="tr-TR" sz="2800">
                <a:solidFill>
                  <a:srgbClr val="000000"/>
                </a:solidFill>
              </a:rPr>
              <a:t> seçenek hipotezinin iki yönlü olması 1. Tip hata </a:t>
            </a:r>
            <a:r>
              <a:rPr lang="tr-TR" sz="2800">
                <a:solidFill>
                  <a:srgbClr val="000000"/>
                </a:solidFill>
                <a:latin typeface="Times New Roman"/>
                <a:ea typeface="Times New Roman"/>
                <a:cs typeface="Times New Roman"/>
                <a:sym typeface="Times New Roman"/>
              </a:rPr>
              <a:t>α</a:t>
            </a:r>
            <a:r>
              <a:rPr lang="tr-TR" sz="2800">
                <a:solidFill>
                  <a:srgbClr val="000000"/>
                </a:solidFill>
              </a:rPr>
              <a:t> ‘nın ikiye bölünmesini gerektirir. Bunun nedeni H</a:t>
            </a:r>
            <a:r>
              <a:rPr baseline="-25000" lang="tr-TR" sz="2800">
                <a:solidFill>
                  <a:srgbClr val="000000"/>
                </a:solidFill>
              </a:rPr>
              <a:t>1</a:t>
            </a:r>
            <a:r>
              <a:rPr lang="tr-TR" sz="2800">
                <a:solidFill>
                  <a:srgbClr val="000000"/>
                </a:solidFill>
              </a:rPr>
              <a:t> hipotezinin iki yönlü seçilmesi yanılgının her iki yönde öngörülmesi demek olacağından toplam 1. Tip hata olasılığı olarak tanımlanan </a:t>
            </a:r>
            <a:r>
              <a:rPr lang="tr-TR" sz="2800">
                <a:solidFill>
                  <a:srgbClr val="000000"/>
                </a:solidFill>
                <a:latin typeface="Times New Roman"/>
                <a:ea typeface="Times New Roman"/>
                <a:cs typeface="Times New Roman"/>
                <a:sym typeface="Times New Roman"/>
              </a:rPr>
              <a:t>α’</a:t>
            </a:r>
            <a:r>
              <a:rPr lang="tr-TR" sz="2800">
                <a:solidFill>
                  <a:srgbClr val="000000"/>
                </a:solidFill>
              </a:rPr>
              <a:t>nın her iki yönde </a:t>
            </a:r>
            <a:r>
              <a:rPr lang="tr-TR" sz="2800">
                <a:solidFill>
                  <a:srgbClr val="000000"/>
                </a:solidFill>
                <a:latin typeface="Times New Roman"/>
                <a:ea typeface="Times New Roman"/>
                <a:cs typeface="Times New Roman"/>
                <a:sym typeface="Times New Roman"/>
              </a:rPr>
              <a:t>α</a:t>
            </a:r>
            <a:r>
              <a:rPr lang="tr-TR" sz="2800">
                <a:solidFill>
                  <a:srgbClr val="000000"/>
                </a:solidFill>
              </a:rPr>
              <a:t>/2 olarak tanımlanmasını gerektirir.</a:t>
            </a:r>
            <a:endParaRPr sz="2800"/>
          </a:p>
        </p:txBody>
      </p:sp>
      <p:grpSp>
        <p:nvGrpSpPr>
          <p:cNvPr id="718" name="Google Shape;718;p69"/>
          <p:cNvGrpSpPr/>
          <p:nvPr/>
        </p:nvGrpSpPr>
        <p:grpSpPr>
          <a:xfrm>
            <a:off x="4138613" y="4652963"/>
            <a:ext cx="3168650" cy="1936750"/>
            <a:chOff x="1417" y="5015"/>
            <a:chExt cx="2700" cy="1650"/>
          </a:xfrm>
        </p:grpSpPr>
        <p:sp>
          <p:nvSpPr>
            <p:cNvPr id="719" name="Google Shape;719;p69"/>
            <p:cNvSpPr/>
            <p:nvPr/>
          </p:nvSpPr>
          <p:spPr>
            <a:xfrm>
              <a:off x="1417" y="5015"/>
              <a:ext cx="2700" cy="1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720" name="Google Shape;720;p69"/>
            <p:cNvSpPr/>
            <p:nvPr/>
          </p:nvSpPr>
          <p:spPr>
            <a:xfrm>
              <a:off x="1597" y="5195"/>
              <a:ext cx="2520" cy="1290"/>
            </a:xfrm>
            <a:custGeom>
              <a:rect b="b" l="l" r="r" t="t"/>
              <a:pathLst>
                <a:path extrusionOk="0" h="1110" w="2160">
                  <a:moveTo>
                    <a:pt x="0" y="1110"/>
                  </a:moveTo>
                  <a:cubicBezTo>
                    <a:pt x="270" y="585"/>
                    <a:pt x="540" y="60"/>
                    <a:pt x="900" y="30"/>
                  </a:cubicBezTo>
                  <a:cubicBezTo>
                    <a:pt x="1260" y="0"/>
                    <a:pt x="1710" y="465"/>
                    <a:pt x="2160" y="93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721" name="Google Shape;721;p69"/>
            <p:cNvCxnSpPr/>
            <p:nvPr/>
          </p:nvCxnSpPr>
          <p:spPr>
            <a:xfrm>
              <a:off x="1597" y="6457"/>
              <a:ext cx="2520" cy="0"/>
            </a:xfrm>
            <a:prstGeom prst="straightConnector1">
              <a:avLst/>
            </a:prstGeom>
            <a:noFill/>
            <a:ln>
              <a:noFill/>
            </a:ln>
          </p:spPr>
        </p:cxnSp>
        <p:cxnSp>
          <p:nvCxnSpPr>
            <p:cNvPr id="722" name="Google Shape;722;p69"/>
            <p:cNvCxnSpPr/>
            <p:nvPr/>
          </p:nvCxnSpPr>
          <p:spPr>
            <a:xfrm>
              <a:off x="1597" y="6455"/>
              <a:ext cx="2520" cy="0"/>
            </a:xfrm>
            <a:prstGeom prst="straightConnector1">
              <a:avLst/>
            </a:prstGeom>
            <a:noFill/>
            <a:ln cap="flat" cmpd="sng" w="9525">
              <a:solidFill>
                <a:srgbClr val="000000"/>
              </a:solidFill>
              <a:prstDash val="solid"/>
              <a:round/>
              <a:headEnd len="med" w="med" type="none"/>
              <a:tailEnd len="med" w="med" type="none"/>
            </a:ln>
          </p:spPr>
        </p:cxnSp>
        <p:cxnSp>
          <p:nvCxnSpPr>
            <p:cNvPr id="723" name="Google Shape;723;p69"/>
            <p:cNvCxnSpPr/>
            <p:nvPr/>
          </p:nvCxnSpPr>
          <p:spPr>
            <a:xfrm>
              <a:off x="1929" y="5901"/>
              <a:ext cx="1" cy="542"/>
            </a:xfrm>
            <a:prstGeom prst="straightConnector1">
              <a:avLst/>
            </a:prstGeom>
            <a:noFill/>
            <a:ln cap="flat" cmpd="sng" w="9525">
              <a:solidFill>
                <a:srgbClr val="000000"/>
              </a:solidFill>
              <a:prstDash val="solid"/>
              <a:round/>
              <a:headEnd len="med" w="med" type="none"/>
              <a:tailEnd len="med" w="med" type="none"/>
            </a:ln>
          </p:spPr>
        </p:cxnSp>
        <p:cxnSp>
          <p:nvCxnSpPr>
            <p:cNvPr id="724" name="Google Shape;724;p69"/>
            <p:cNvCxnSpPr/>
            <p:nvPr/>
          </p:nvCxnSpPr>
          <p:spPr>
            <a:xfrm>
              <a:off x="3757" y="5917"/>
              <a:ext cx="1" cy="542"/>
            </a:xfrm>
            <a:prstGeom prst="straightConnector1">
              <a:avLst/>
            </a:prstGeom>
            <a:noFill/>
            <a:ln cap="flat" cmpd="sng" w="9525">
              <a:solidFill>
                <a:srgbClr val="000000"/>
              </a:solidFill>
              <a:prstDash val="solid"/>
              <a:round/>
              <a:headEnd len="med" w="med" type="none"/>
              <a:tailEnd len="med" w="med" type="none"/>
            </a:ln>
          </p:spPr>
        </p:cxnSp>
        <p:cxnSp>
          <p:nvCxnSpPr>
            <p:cNvPr id="725" name="Google Shape;725;p69"/>
            <p:cNvCxnSpPr/>
            <p:nvPr/>
          </p:nvCxnSpPr>
          <p:spPr>
            <a:xfrm rot="10800000">
              <a:off x="1417" y="5917"/>
              <a:ext cx="360" cy="360"/>
            </a:xfrm>
            <a:prstGeom prst="straightConnector1">
              <a:avLst/>
            </a:prstGeom>
            <a:noFill/>
            <a:ln cap="flat" cmpd="sng" w="9525">
              <a:solidFill>
                <a:srgbClr val="000000"/>
              </a:solidFill>
              <a:prstDash val="solid"/>
              <a:round/>
              <a:headEnd len="med" w="med" type="none"/>
              <a:tailEnd len="med" w="med" type="triangle"/>
            </a:ln>
          </p:spPr>
        </p:cxnSp>
        <p:cxnSp>
          <p:nvCxnSpPr>
            <p:cNvPr id="726" name="Google Shape;726;p69"/>
            <p:cNvCxnSpPr/>
            <p:nvPr/>
          </p:nvCxnSpPr>
          <p:spPr>
            <a:xfrm rot="10800000">
              <a:off x="3884" y="5557"/>
              <a:ext cx="0" cy="540"/>
            </a:xfrm>
            <a:prstGeom prst="straightConnector1">
              <a:avLst/>
            </a:prstGeom>
            <a:noFill/>
            <a:ln cap="flat" cmpd="sng" w="9525">
              <a:solidFill>
                <a:srgbClr val="000000"/>
              </a:solidFill>
              <a:prstDash val="solid"/>
              <a:round/>
              <a:headEnd len="med" w="med" type="none"/>
              <a:tailEnd len="med" w="med" type="triangle"/>
            </a:ln>
          </p:spPr>
        </p:cxnSp>
        <p:cxnSp>
          <p:nvCxnSpPr>
            <p:cNvPr id="727" name="Google Shape;727;p69"/>
            <p:cNvCxnSpPr/>
            <p:nvPr/>
          </p:nvCxnSpPr>
          <p:spPr>
            <a:xfrm flipH="1">
              <a:off x="1723" y="6097"/>
              <a:ext cx="180" cy="360"/>
            </a:xfrm>
            <a:prstGeom prst="straightConnector1">
              <a:avLst/>
            </a:prstGeom>
            <a:noFill/>
            <a:ln>
              <a:noFill/>
            </a:ln>
          </p:spPr>
        </p:cxnSp>
      </p:grpSp>
      <p:sp>
        <p:nvSpPr>
          <p:cNvPr id="728" name="Google Shape;728;p69"/>
          <p:cNvSpPr txBox="1"/>
          <p:nvPr/>
        </p:nvSpPr>
        <p:spPr>
          <a:xfrm>
            <a:off x="3563938" y="5013325"/>
            <a:ext cx="935037" cy="57626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800"/>
              <a:buFont typeface="Arial"/>
              <a:buNone/>
            </a:pPr>
            <a:r>
              <a:rPr lang="tr-TR" sz="2800">
                <a:solidFill>
                  <a:schemeClr val="dk1"/>
                </a:solidFill>
                <a:latin typeface="Times New Roman"/>
                <a:ea typeface="Times New Roman"/>
                <a:cs typeface="Times New Roman"/>
                <a:sym typeface="Times New Roman"/>
              </a:rPr>
              <a:t>α/2</a:t>
            </a:r>
            <a:endParaRPr sz="4000">
              <a:solidFill>
                <a:schemeClr val="dk1"/>
              </a:solidFill>
              <a:latin typeface="Calibri"/>
              <a:ea typeface="Calibri"/>
              <a:cs typeface="Calibri"/>
              <a:sym typeface="Calibri"/>
            </a:endParaRPr>
          </a:p>
        </p:txBody>
      </p:sp>
      <p:sp>
        <p:nvSpPr>
          <p:cNvPr id="729" name="Google Shape;729;p69"/>
          <p:cNvSpPr txBox="1"/>
          <p:nvPr/>
        </p:nvSpPr>
        <p:spPr>
          <a:xfrm>
            <a:off x="6804025" y="4652963"/>
            <a:ext cx="935038" cy="57626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800"/>
              <a:buFont typeface="Arial"/>
              <a:buNone/>
            </a:pPr>
            <a:r>
              <a:rPr lang="tr-TR" sz="2800">
                <a:solidFill>
                  <a:schemeClr val="dk1"/>
                </a:solidFill>
                <a:latin typeface="Times New Roman"/>
                <a:ea typeface="Times New Roman"/>
                <a:cs typeface="Times New Roman"/>
                <a:sym typeface="Times New Roman"/>
              </a:rPr>
              <a:t>α/2</a:t>
            </a:r>
            <a:endParaRPr sz="4000">
              <a:solidFill>
                <a:schemeClr val="dk1"/>
              </a:solidFill>
              <a:latin typeface="Calibri"/>
              <a:ea typeface="Calibri"/>
              <a:cs typeface="Calibri"/>
              <a:sym typeface="Calibri"/>
            </a:endParaRPr>
          </a:p>
        </p:txBody>
      </p:sp>
      <p:sp>
        <p:nvSpPr>
          <p:cNvPr id="730" name="Google Shape;730;p69"/>
          <p:cNvSpPr txBox="1"/>
          <p:nvPr/>
        </p:nvSpPr>
        <p:spPr>
          <a:xfrm>
            <a:off x="1139826" y="4793805"/>
            <a:ext cx="2051050" cy="927100"/>
          </a:xfrm>
          <a:prstGeom prst="rect">
            <a:avLst/>
          </a:prstGeom>
          <a:noFill/>
          <a:ln>
            <a:noFill/>
          </a:ln>
        </p:spPr>
        <p:txBody>
          <a:bodyPr anchorCtr="0" anchor="t" bIns="36575" lIns="73150" spcFirstLastPara="1" rIns="73150" wrap="square" tIns="36575">
            <a:spAutoFit/>
          </a:bodyPr>
          <a:lstStyle/>
          <a:p>
            <a:pPr indent="0" lvl="0" marL="0" marR="0" rtl="0" algn="l">
              <a:spcBef>
                <a:spcPts val="0"/>
              </a:spcBef>
              <a:spcAft>
                <a:spcPts val="0"/>
              </a:spcAft>
              <a:buClr>
                <a:srgbClr val="000000"/>
              </a:buClr>
              <a:buSzPts val="2800"/>
              <a:buFont typeface="Arial"/>
              <a:buNone/>
            </a:pPr>
            <a:r>
              <a:rPr lang="tr-TR" sz="2800">
                <a:solidFill>
                  <a:srgbClr val="000000"/>
                </a:solidFill>
                <a:latin typeface="Times New Roman"/>
                <a:ea typeface="Times New Roman"/>
                <a:cs typeface="Times New Roman"/>
                <a:sym typeface="Times New Roman"/>
              </a:rPr>
              <a:t>H</a:t>
            </a:r>
            <a:r>
              <a:rPr baseline="-25000" lang="tr-TR" sz="2800">
                <a:solidFill>
                  <a:srgbClr val="000000"/>
                </a:solidFill>
                <a:latin typeface="Times New Roman"/>
                <a:ea typeface="Times New Roman"/>
                <a:cs typeface="Times New Roman"/>
                <a:sym typeface="Times New Roman"/>
              </a:rPr>
              <a:t>0</a:t>
            </a:r>
            <a:r>
              <a:rPr lang="tr-TR" sz="2800">
                <a:solidFill>
                  <a:srgbClr val="000000"/>
                </a:solidFill>
                <a:latin typeface="Times New Roman"/>
                <a:ea typeface="Times New Roman"/>
                <a:cs typeface="Times New Roman"/>
                <a:sym typeface="Times New Roman"/>
              </a:rPr>
              <a:t>: μ= 18</a:t>
            </a:r>
            <a:endParaRPr/>
          </a:p>
          <a:p>
            <a:pPr indent="0" lvl="0" marL="0" marR="0" rtl="0" algn="l">
              <a:spcBef>
                <a:spcPts val="0"/>
              </a:spcBef>
              <a:spcAft>
                <a:spcPts val="0"/>
              </a:spcAft>
              <a:buClr>
                <a:srgbClr val="000000"/>
              </a:buClr>
              <a:buSzPts val="2800"/>
              <a:buFont typeface="Arial"/>
              <a:buNone/>
            </a:pPr>
            <a:r>
              <a:rPr lang="tr-TR" sz="2800">
                <a:solidFill>
                  <a:srgbClr val="000000"/>
                </a:solidFill>
                <a:latin typeface="Times New Roman"/>
                <a:ea typeface="Times New Roman"/>
                <a:cs typeface="Times New Roman"/>
                <a:sym typeface="Times New Roman"/>
              </a:rPr>
              <a:t>H</a:t>
            </a:r>
            <a:r>
              <a:rPr baseline="-25000" lang="tr-TR" sz="2800">
                <a:solidFill>
                  <a:srgbClr val="000000"/>
                </a:solidFill>
                <a:latin typeface="Times New Roman"/>
                <a:ea typeface="Times New Roman"/>
                <a:cs typeface="Times New Roman"/>
                <a:sym typeface="Times New Roman"/>
              </a:rPr>
              <a:t>1</a:t>
            </a:r>
            <a:r>
              <a:rPr lang="tr-TR" sz="2800">
                <a:solidFill>
                  <a:srgbClr val="000000"/>
                </a:solidFill>
                <a:latin typeface="Times New Roman"/>
                <a:ea typeface="Times New Roman"/>
                <a:cs typeface="Times New Roman"/>
                <a:sym typeface="Times New Roman"/>
              </a:rPr>
              <a:t>: μ≠ 18</a:t>
            </a:r>
            <a:endParaRPr sz="4000">
              <a:solidFill>
                <a:schemeClr val="dk1"/>
              </a:solidFill>
              <a:latin typeface="Calibri"/>
              <a:ea typeface="Calibri"/>
              <a:cs typeface="Calibri"/>
              <a:sym typeface="Calibri"/>
            </a:endParaRPr>
          </a:p>
        </p:txBody>
      </p:sp>
      <p:sp>
        <p:nvSpPr>
          <p:cNvPr id="731" name="Google Shape;731;p69"/>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98989"/>
              </a:buClr>
              <a:buSzPts val="1200"/>
              <a:buFont typeface="Arial"/>
              <a:buNone/>
            </a:pPr>
            <a:fld id="{00000000-1234-1234-1234-123412341234}" type="slidenum">
              <a:rPr lang="tr-TR" sz="1200">
                <a:solidFill>
                  <a:srgbClr val="898989"/>
                </a:solidFill>
                <a:latin typeface="Calibri"/>
                <a:ea typeface="Calibri"/>
                <a:cs typeface="Calibri"/>
                <a:sym typeface="Calibri"/>
              </a:rPr>
              <a:t>‹#›</a:t>
            </a:fld>
            <a:endParaRPr sz="1200">
              <a:solidFill>
                <a:srgbClr val="898989"/>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70"/>
          <p:cNvSpPr txBox="1"/>
          <p:nvPr>
            <p:ph idx="1" type="body"/>
          </p:nvPr>
        </p:nvSpPr>
        <p:spPr>
          <a:xfrm>
            <a:off x="468313" y="549275"/>
            <a:ext cx="8229600" cy="4525963"/>
          </a:xfrm>
          <a:prstGeom prst="rect">
            <a:avLst/>
          </a:prstGeom>
          <a:noFill/>
          <a:ln>
            <a:noFill/>
          </a:ln>
        </p:spPr>
        <p:txBody>
          <a:bodyPr anchorCtr="0" anchor="t" bIns="45700" lIns="45700" spcFirstLastPara="1" rIns="45700" wrap="square" tIns="45700">
            <a:normAutofit/>
          </a:bodyPr>
          <a:lstStyle/>
          <a:p>
            <a:pPr indent="-127000" lvl="0" marL="91440" rtl="0" algn="just">
              <a:lnSpc>
                <a:spcPct val="90000"/>
              </a:lnSpc>
              <a:spcBef>
                <a:spcPts val="0"/>
              </a:spcBef>
              <a:spcAft>
                <a:spcPts val="0"/>
              </a:spcAft>
              <a:buSzPts val="2000"/>
              <a:buChar char=" "/>
            </a:pPr>
            <a:r>
              <a:rPr lang="tr-TR">
                <a:solidFill>
                  <a:srgbClr val="000000"/>
                </a:solidFill>
              </a:rPr>
              <a:t>H</a:t>
            </a:r>
            <a:r>
              <a:rPr baseline="-25000" lang="tr-TR">
                <a:solidFill>
                  <a:srgbClr val="000000"/>
                </a:solidFill>
              </a:rPr>
              <a:t>1</a:t>
            </a:r>
            <a:r>
              <a:rPr lang="tr-TR">
                <a:solidFill>
                  <a:srgbClr val="000000"/>
                </a:solidFill>
              </a:rPr>
              <a:t> hipotezi tek yönlü iken gerçekleşen P,  </a:t>
            </a:r>
            <a:r>
              <a:rPr b="1" lang="tr-TR">
                <a:solidFill>
                  <a:srgbClr val="000000"/>
                </a:solidFill>
                <a:latin typeface="Times New Roman"/>
                <a:ea typeface="Times New Roman"/>
                <a:cs typeface="Times New Roman"/>
                <a:sym typeface="Times New Roman"/>
              </a:rPr>
              <a:t>α</a:t>
            </a:r>
            <a:r>
              <a:rPr lang="tr-TR">
                <a:solidFill>
                  <a:srgbClr val="000000"/>
                </a:solidFill>
              </a:rPr>
              <a:t> ile karşılaştırılırken H</a:t>
            </a:r>
            <a:r>
              <a:rPr baseline="-25000" lang="tr-TR">
                <a:solidFill>
                  <a:srgbClr val="000000"/>
                </a:solidFill>
              </a:rPr>
              <a:t>1</a:t>
            </a:r>
            <a:r>
              <a:rPr lang="tr-TR">
                <a:solidFill>
                  <a:srgbClr val="000000"/>
                </a:solidFill>
              </a:rPr>
              <a:t> hipotezi iki yönlü iken gerçekleşen </a:t>
            </a:r>
            <a:r>
              <a:rPr b="1" lang="tr-TR">
                <a:solidFill>
                  <a:srgbClr val="000000"/>
                </a:solidFill>
              </a:rPr>
              <a:t>P;  </a:t>
            </a:r>
            <a:r>
              <a:rPr b="1" lang="tr-TR">
                <a:solidFill>
                  <a:srgbClr val="000000"/>
                </a:solidFill>
                <a:latin typeface="Times New Roman"/>
                <a:ea typeface="Times New Roman"/>
                <a:cs typeface="Times New Roman"/>
                <a:sym typeface="Times New Roman"/>
              </a:rPr>
              <a:t>α</a:t>
            </a:r>
            <a:r>
              <a:rPr b="1" lang="tr-TR">
                <a:solidFill>
                  <a:srgbClr val="000000"/>
                </a:solidFill>
              </a:rPr>
              <a:t>/2 </a:t>
            </a:r>
            <a:r>
              <a:rPr lang="tr-TR">
                <a:solidFill>
                  <a:srgbClr val="000000"/>
                </a:solidFill>
              </a:rPr>
              <a:t>ile karşılaştırılır.</a:t>
            </a:r>
            <a:endParaRPr/>
          </a:p>
        </p:txBody>
      </p:sp>
      <p:grpSp>
        <p:nvGrpSpPr>
          <p:cNvPr id="737" name="Google Shape;737;p70"/>
          <p:cNvGrpSpPr/>
          <p:nvPr/>
        </p:nvGrpSpPr>
        <p:grpSpPr>
          <a:xfrm>
            <a:off x="611188" y="2636912"/>
            <a:ext cx="2881312" cy="2192263"/>
            <a:chOff x="2200" y="5637"/>
            <a:chExt cx="7200" cy="4400"/>
          </a:xfrm>
        </p:grpSpPr>
        <p:sp>
          <p:nvSpPr>
            <p:cNvPr id="738" name="Google Shape;738;p70"/>
            <p:cNvSpPr/>
            <p:nvPr/>
          </p:nvSpPr>
          <p:spPr>
            <a:xfrm>
              <a:off x="2200" y="5637"/>
              <a:ext cx="7200" cy="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739" name="Google Shape;739;p70"/>
            <p:cNvSpPr/>
            <p:nvPr/>
          </p:nvSpPr>
          <p:spPr>
            <a:xfrm>
              <a:off x="2680" y="6117"/>
              <a:ext cx="6720" cy="3440"/>
            </a:xfrm>
            <a:custGeom>
              <a:rect b="b" l="l" r="r" t="t"/>
              <a:pathLst>
                <a:path extrusionOk="0" h="1110" w="2160">
                  <a:moveTo>
                    <a:pt x="0" y="1110"/>
                  </a:moveTo>
                  <a:cubicBezTo>
                    <a:pt x="270" y="585"/>
                    <a:pt x="540" y="60"/>
                    <a:pt x="900" y="30"/>
                  </a:cubicBezTo>
                  <a:cubicBezTo>
                    <a:pt x="1260" y="0"/>
                    <a:pt x="1710" y="465"/>
                    <a:pt x="2160" y="93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740" name="Google Shape;740;p70"/>
            <p:cNvCxnSpPr/>
            <p:nvPr/>
          </p:nvCxnSpPr>
          <p:spPr>
            <a:xfrm>
              <a:off x="2680" y="9482"/>
              <a:ext cx="6720" cy="0"/>
            </a:xfrm>
            <a:prstGeom prst="straightConnector1">
              <a:avLst/>
            </a:prstGeom>
            <a:noFill/>
            <a:ln>
              <a:noFill/>
            </a:ln>
          </p:spPr>
        </p:cxnSp>
        <p:cxnSp>
          <p:nvCxnSpPr>
            <p:cNvPr id="741" name="Google Shape;741;p70"/>
            <p:cNvCxnSpPr/>
            <p:nvPr/>
          </p:nvCxnSpPr>
          <p:spPr>
            <a:xfrm>
              <a:off x="2680" y="9477"/>
              <a:ext cx="6720" cy="1"/>
            </a:xfrm>
            <a:prstGeom prst="straightConnector1">
              <a:avLst/>
            </a:prstGeom>
            <a:noFill/>
            <a:ln cap="flat" cmpd="sng" w="9525">
              <a:solidFill>
                <a:srgbClr val="000000"/>
              </a:solidFill>
              <a:prstDash val="solid"/>
              <a:round/>
              <a:headEnd len="med" w="med" type="none"/>
              <a:tailEnd len="med" w="med" type="none"/>
            </a:ln>
          </p:spPr>
        </p:cxnSp>
        <p:cxnSp>
          <p:nvCxnSpPr>
            <p:cNvPr id="742" name="Google Shape;742;p70"/>
            <p:cNvCxnSpPr/>
            <p:nvPr/>
          </p:nvCxnSpPr>
          <p:spPr>
            <a:xfrm>
              <a:off x="4120" y="7077"/>
              <a:ext cx="3" cy="2405"/>
            </a:xfrm>
            <a:prstGeom prst="straightConnector1">
              <a:avLst/>
            </a:prstGeom>
            <a:noFill/>
            <a:ln cap="flat" cmpd="sng" w="9525">
              <a:solidFill>
                <a:srgbClr val="000000"/>
              </a:solidFill>
              <a:prstDash val="solid"/>
              <a:round/>
              <a:headEnd len="med" w="med" type="none"/>
              <a:tailEnd len="med" w="med" type="none"/>
            </a:ln>
          </p:spPr>
        </p:cxnSp>
        <p:cxnSp>
          <p:nvCxnSpPr>
            <p:cNvPr id="743" name="Google Shape;743;p70"/>
            <p:cNvCxnSpPr/>
            <p:nvPr/>
          </p:nvCxnSpPr>
          <p:spPr>
            <a:xfrm rot="10800000">
              <a:off x="3277" y="7077"/>
              <a:ext cx="480" cy="1440"/>
            </a:xfrm>
            <a:prstGeom prst="straightConnector1">
              <a:avLst/>
            </a:prstGeom>
            <a:noFill/>
            <a:ln cap="flat" cmpd="sng" w="9525">
              <a:solidFill>
                <a:srgbClr val="000000"/>
              </a:solidFill>
              <a:prstDash val="solid"/>
              <a:round/>
              <a:headEnd len="med" w="med" type="none"/>
              <a:tailEnd len="med" w="med" type="triangle"/>
            </a:ln>
          </p:spPr>
        </p:cxnSp>
        <p:sp>
          <p:nvSpPr>
            <p:cNvPr id="744" name="Google Shape;744;p70"/>
            <p:cNvSpPr txBox="1"/>
            <p:nvPr/>
          </p:nvSpPr>
          <p:spPr>
            <a:xfrm>
              <a:off x="2680" y="6117"/>
              <a:ext cx="1920" cy="1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tr-TR" sz="2400">
                  <a:solidFill>
                    <a:schemeClr val="dk1"/>
                  </a:solidFill>
                  <a:latin typeface="Times New Roman"/>
                  <a:ea typeface="Times New Roman"/>
                  <a:cs typeface="Times New Roman"/>
                  <a:sym typeface="Times New Roman"/>
                </a:rPr>
                <a:t>α</a:t>
              </a:r>
              <a:endParaRPr sz="3600">
                <a:solidFill>
                  <a:schemeClr val="dk1"/>
                </a:solidFill>
                <a:latin typeface="Calibri"/>
                <a:ea typeface="Calibri"/>
                <a:cs typeface="Calibri"/>
                <a:sym typeface="Calibri"/>
              </a:endParaRPr>
            </a:p>
          </p:txBody>
        </p:sp>
      </p:grpSp>
      <p:grpSp>
        <p:nvGrpSpPr>
          <p:cNvPr id="745" name="Google Shape;745;p70"/>
          <p:cNvGrpSpPr/>
          <p:nvPr/>
        </p:nvGrpSpPr>
        <p:grpSpPr>
          <a:xfrm>
            <a:off x="4799013" y="2492896"/>
            <a:ext cx="3013075" cy="2358504"/>
            <a:chOff x="2200" y="5637"/>
            <a:chExt cx="7200" cy="4400"/>
          </a:xfrm>
        </p:grpSpPr>
        <p:sp>
          <p:nvSpPr>
            <p:cNvPr id="746" name="Google Shape;746;p70"/>
            <p:cNvSpPr/>
            <p:nvPr/>
          </p:nvSpPr>
          <p:spPr>
            <a:xfrm>
              <a:off x="2200" y="5637"/>
              <a:ext cx="7200" cy="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747" name="Google Shape;747;p70"/>
            <p:cNvSpPr/>
            <p:nvPr/>
          </p:nvSpPr>
          <p:spPr>
            <a:xfrm>
              <a:off x="2680" y="6117"/>
              <a:ext cx="6720" cy="3440"/>
            </a:xfrm>
            <a:custGeom>
              <a:rect b="b" l="l" r="r" t="t"/>
              <a:pathLst>
                <a:path extrusionOk="0" h="1110" w="2160">
                  <a:moveTo>
                    <a:pt x="0" y="1110"/>
                  </a:moveTo>
                  <a:cubicBezTo>
                    <a:pt x="270" y="585"/>
                    <a:pt x="540" y="60"/>
                    <a:pt x="900" y="30"/>
                  </a:cubicBezTo>
                  <a:cubicBezTo>
                    <a:pt x="1260" y="0"/>
                    <a:pt x="1710" y="465"/>
                    <a:pt x="2160" y="93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748" name="Google Shape;748;p70"/>
            <p:cNvCxnSpPr/>
            <p:nvPr/>
          </p:nvCxnSpPr>
          <p:spPr>
            <a:xfrm>
              <a:off x="2680" y="9482"/>
              <a:ext cx="6720" cy="0"/>
            </a:xfrm>
            <a:prstGeom prst="straightConnector1">
              <a:avLst/>
            </a:prstGeom>
            <a:noFill/>
            <a:ln>
              <a:noFill/>
            </a:ln>
          </p:spPr>
        </p:cxnSp>
        <p:cxnSp>
          <p:nvCxnSpPr>
            <p:cNvPr id="749" name="Google Shape;749;p70"/>
            <p:cNvCxnSpPr/>
            <p:nvPr/>
          </p:nvCxnSpPr>
          <p:spPr>
            <a:xfrm>
              <a:off x="2680" y="9477"/>
              <a:ext cx="6720" cy="1"/>
            </a:xfrm>
            <a:prstGeom prst="straightConnector1">
              <a:avLst/>
            </a:prstGeom>
            <a:noFill/>
            <a:ln cap="flat" cmpd="sng" w="9525">
              <a:solidFill>
                <a:srgbClr val="000000"/>
              </a:solidFill>
              <a:prstDash val="solid"/>
              <a:round/>
              <a:headEnd len="med" w="med" type="none"/>
              <a:tailEnd len="med" w="med" type="none"/>
            </a:ln>
          </p:spPr>
        </p:cxnSp>
        <p:cxnSp>
          <p:nvCxnSpPr>
            <p:cNvPr id="750" name="Google Shape;750;p70"/>
            <p:cNvCxnSpPr/>
            <p:nvPr/>
          </p:nvCxnSpPr>
          <p:spPr>
            <a:xfrm>
              <a:off x="7960" y="7557"/>
              <a:ext cx="1" cy="1920"/>
            </a:xfrm>
            <a:prstGeom prst="straightConnector1">
              <a:avLst/>
            </a:prstGeom>
            <a:noFill/>
            <a:ln cap="flat" cmpd="sng" w="9525">
              <a:solidFill>
                <a:srgbClr val="000000"/>
              </a:solidFill>
              <a:prstDash val="solid"/>
              <a:round/>
              <a:headEnd len="med" w="med" type="none"/>
              <a:tailEnd len="med" w="med" type="none"/>
            </a:ln>
          </p:spPr>
        </p:cxnSp>
        <p:cxnSp>
          <p:nvCxnSpPr>
            <p:cNvPr id="751" name="Google Shape;751;p70"/>
            <p:cNvCxnSpPr/>
            <p:nvPr/>
          </p:nvCxnSpPr>
          <p:spPr>
            <a:xfrm flipH="1" rot="10800000">
              <a:off x="8384" y="7082"/>
              <a:ext cx="480" cy="1440"/>
            </a:xfrm>
            <a:prstGeom prst="straightConnector1">
              <a:avLst/>
            </a:prstGeom>
            <a:noFill/>
            <a:ln>
              <a:noFill/>
            </a:ln>
          </p:spPr>
        </p:cxnSp>
        <p:cxnSp>
          <p:nvCxnSpPr>
            <p:cNvPr id="752" name="Google Shape;752;p70"/>
            <p:cNvCxnSpPr/>
            <p:nvPr/>
          </p:nvCxnSpPr>
          <p:spPr>
            <a:xfrm flipH="1" rot="10800000">
              <a:off x="8384" y="7562"/>
              <a:ext cx="960" cy="1440"/>
            </a:xfrm>
            <a:prstGeom prst="straightConnector1">
              <a:avLst/>
            </a:prstGeom>
            <a:noFill/>
            <a:ln cap="flat" cmpd="sng" w="9525">
              <a:solidFill>
                <a:srgbClr val="000000"/>
              </a:solidFill>
              <a:prstDash val="solid"/>
              <a:round/>
              <a:headEnd len="med" w="med" type="none"/>
              <a:tailEnd len="med" w="med" type="triangle"/>
            </a:ln>
          </p:spPr>
        </p:cxnSp>
      </p:grpSp>
      <p:sp>
        <p:nvSpPr>
          <p:cNvPr id="753" name="Google Shape;753;p70"/>
          <p:cNvSpPr txBox="1"/>
          <p:nvPr/>
        </p:nvSpPr>
        <p:spPr>
          <a:xfrm>
            <a:off x="7812088" y="3213100"/>
            <a:ext cx="457200" cy="317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800"/>
              <a:buFont typeface="Arial"/>
              <a:buNone/>
            </a:pPr>
            <a:r>
              <a:rPr lang="tr-TR" sz="2800">
                <a:solidFill>
                  <a:schemeClr val="dk1"/>
                </a:solidFill>
                <a:latin typeface="Times New Roman"/>
                <a:ea typeface="Times New Roman"/>
                <a:cs typeface="Times New Roman"/>
                <a:sym typeface="Times New Roman"/>
              </a:rPr>
              <a:t>α</a:t>
            </a:r>
            <a:endParaRPr sz="4000">
              <a:solidFill>
                <a:schemeClr val="dk1"/>
              </a:solidFill>
              <a:latin typeface="Calibri"/>
              <a:ea typeface="Calibri"/>
              <a:cs typeface="Calibri"/>
              <a:sym typeface="Calibri"/>
            </a:endParaRPr>
          </a:p>
        </p:txBody>
      </p:sp>
      <p:sp>
        <p:nvSpPr>
          <p:cNvPr id="754" name="Google Shape;754;p70"/>
          <p:cNvSpPr txBox="1"/>
          <p:nvPr/>
        </p:nvSpPr>
        <p:spPr>
          <a:xfrm>
            <a:off x="5292725" y="5084763"/>
            <a:ext cx="2303463" cy="457200"/>
          </a:xfrm>
          <a:prstGeom prst="rect">
            <a:avLst/>
          </a:prstGeom>
          <a:noFill/>
          <a:ln>
            <a:noFill/>
          </a:ln>
        </p:spPr>
        <p:txBody>
          <a:bodyPr anchorCtr="0" anchor="t" bIns="36575" lIns="73150" spcFirstLastPara="1" rIns="73150" wrap="square" tIns="36575">
            <a:noAutofit/>
          </a:bodyPr>
          <a:lstStyle/>
          <a:p>
            <a:pPr indent="0" lvl="0" marL="0" marR="0" rtl="0" algn="l">
              <a:spcBef>
                <a:spcPts val="0"/>
              </a:spcBef>
              <a:spcAft>
                <a:spcPts val="0"/>
              </a:spcAft>
              <a:buClr>
                <a:srgbClr val="000000"/>
              </a:buClr>
              <a:buSzPts val="3200"/>
              <a:buFont typeface="Arial"/>
              <a:buNone/>
            </a:pPr>
            <a:r>
              <a:rPr lang="tr-TR" sz="3200">
                <a:solidFill>
                  <a:srgbClr val="000000"/>
                </a:solidFill>
                <a:latin typeface="Times New Roman"/>
                <a:ea typeface="Times New Roman"/>
                <a:cs typeface="Times New Roman"/>
                <a:sym typeface="Times New Roman"/>
              </a:rPr>
              <a:t>H</a:t>
            </a:r>
            <a:r>
              <a:rPr baseline="-25000" lang="tr-TR" sz="3200">
                <a:solidFill>
                  <a:srgbClr val="000000"/>
                </a:solidFill>
                <a:latin typeface="Times New Roman"/>
                <a:ea typeface="Times New Roman"/>
                <a:cs typeface="Times New Roman"/>
                <a:sym typeface="Times New Roman"/>
              </a:rPr>
              <a:t>0</a:t>
            </a:r>
            <a:r>
              <a:rPr lang="tr-TR" sz="3200">
                <a:solidFill>
                  <a:srgbClr val="000000"/>
                </a:solidFill>
                <a:latin typeface="Times New Roman"/>
                <a:ea typeface="Times New Roman"/>
                <a:cs typeface="Times New Roman"/>
                <a:sym typeface="Times New Roman"/>
              </a:rPr>
              <a:t>: μ= 18</a:t>
            </a:r>
            <a:endParaRPr/>
          </a:p>
          <a:p>
            <a:pPr indent="0" lvl="0" marL="0" marR="0" rtl="0" algn="l">
              <a:spcBef>
                <a:spcPts val="0"/>
              </a:spcBef>
              <a:spcAft>
                <a:spcPts val="0"/>
              </a:spcAft>
              <a:buClr>
                <a:srgbClr val="000000"/>
              </a:buClr>
              <a:buSzPts val="3200"/>
              <a:buFont typeface="Arial"/>
              <a:buNone/>
            </a:pPr>
            <a:r>
              <a:rPr lang="tr-TR" sz="3200">
                <a:solidFill>
                  <a:srgbClr val="000000"/>
                </a:solidFill>
                <a:latin typeface="Times New Roman"/>
                <a:ea typeface="Times New Roman"/>
                <a:cs typeface="Times New Roman"/>
                <a:sym typeface="Times New Roman"/>
              </a:rPr>
              <a:t>H</a:t>
            </a:r>
            <a:r>
              <a:rPr baseline="-25000" lang="tr-TR" sz="3200">
                <a:solidFill>
                  <a:srgbClr val="000000"/>
                </a:solidFill>
                <a:latin typeface="Times New Roman"/>
                <a:ea typeface="Times New Roman"/>
                <a:cs typeface="Times New Roman"/>
                <a:sym typeface="Times New Roman"/>
              </a:rPr>
              <a:t>1</a:t>
            </a:r>
            <a:r>
              <a:rPr lang="tr-TR" sz="3200">
                <a:solidFill>
                  <a:srgbClr val="000000"/>
                </a:solidFill>
                <a:latin typeface="Times New Roman"/>
                <a:ea typeface="Times New Roman"/>
                <a:cs typeface="Times New Roman"/>
                <a:sym typeface="Times New Roman"/>
              </a:rPr>
              <a:t>: μ&gt; 18</a:t>
            </a:r>
            <a:endParaRPr sz="4400">
              <a:solidFill>
                <a:schemeClr val="dk1"/>
              </a:solidFill>
              <a:latin typeface="Calibri"/>
              <a:ea typeface="Calibri"/>
              <a:cs typeface="Calibri"/>
              <a:sym typeface="Calibri"/>
            </a:endParaRPr>
          </a:p>
        </p:txBody>
      </p:sp>
      <p:sp>
        <p:nvSpPr>
          <p:cNvPr id="755" name="Google Shape;755;p70"/>
          <p:cNvSpPr txBox="1"/>
          <p:nvPr/>
        </p:nvSpPr>
        <p:spPr>
          <a:xfrm>
            <a:off x="1331913" y="5222875"/>
            <a:ext cx="2303462" cy="438150"/>
          </a:xfrm>
          <a:prstGeom prst="rect">
            <a:avLst/>
          </a:prstGeom>
          <a:noFill/>
          <a:ln>
            <a:noFill/>
          </a:ln>
        </p:spPr>
        <p:txBody>
          <a:bodyPr anchorCtr="0" anchor="t" bIns="36575" lIns="73150" spcFirstLastPara="1" rIns="73150" wrap="square" tIns="36575">
            <a:noAutofit/>
          </a:bodyPr>
          <a:lstStyle/>
          <a:p>
            <a:pPr indent="0" lvl="0" marL="0" marR="0" rtl="0" algn="l">
              <a:spcBef>
                <a:spcPts val="0"/>
              </a:spcBef>
              <a:spcAft>
                <a:spcPts val="0"/>
              </a:spcAft>
              <a:buClr>
                <a:srgbClr val="000000"/>
              </a:buClr>
              <a:buSzPts val="2800"/>
              <a:buFont typeface="Arial"/>
              <a:buNone/>
            </a:pPr>
            <a:r>
              <a:rPr lang="tr-TR" sz="2800">
                <a:solidFill>
                  <a:srgbClr val="000000"/>
                </a:solidFill>
                <a:latin typeface="Times New Roman"/>
                <a:ea typeface="Times New Roman"/>
                <a:cs typeface="Times New Roman"/>
                <a:sym typeface="Times New Roman"/>
              </a:rPr>
              <a:t>H</a:t>
            </a:r>
            <a:r>
              <a:rPr baseline="-25000" lang="tr-TR" sz="2800">
                <a:solidFill>
                  <a:srgbClr val="000000"/>
                </a:solidFill>
                <a:latin typeface="Times New Roman"/>
                <a:ea typeface="Times New Roman"/>
                <a:cs typeface="Times New Roman"/>
                <a:sym typeface="Times New Roman"/>
              </a:rPr>
              <a:t>0</a:t>
            </a:r>
            <a:r>
              <a:rPr lang="tr-TR" sz="2800">
                <a:solidFill>
                  <a:srgbClr val="000000"/>
                </a:solidFill>
                <a:latin typeface="Times New Roman"/>
                <a:ea typeface="Times New Roman"/>
                <a:cs typeface="Times New Roman"/>
                <a:sym typeface="Times New Roman"/>
              </a:rPr>
              <a:t>: μ= 18</a:t>
            </a:r>
            <a:endParaRPr/>
          </a:p>
          <a:p>
            <a:pPr indent="0" lvl="0" marL="0" marR="0" rtl="0" algn="l">
              <a:spcBef>
                <a:spcPts val="0"/>
              </a:spcBef>
              <a:spcAft>
                <a:spcPts val="0"/>
              </a:spcAft>
              <a:buClr>
                <a:srgbClr val="000000"/>
              </a:buClr>
              <a:buSzPts val="2800"/>
              <a:buFont typeface="Arial"/>
              <a:buNone/>
            </a:pPr>
            <a:r>
              <a:rPr lang="tr-TR" sz="2800">
                <a:solidFill>
                  <a:srgbClr val="000000"/>
                </a:solidFill>
                <a:latin typeface="Times New Roman"/>
                <a:ea typeface="Times New Roman"/>
                <a:cs typeface="Times New Roman"/>
                <a:sym typeface="Times New Roman"/>
              </a:rPr>
              <a:t>H</a:t>
            </a:r>
            <a:r>
              <a:rPr baseline="-25000" lang="tr-TR" sz="2800">
                <a:solidFill>
                  <a:srgbClr val="000000"/>
                </a:solidFill>
                <a:latin typeface="Times New Roman"/>
                <a:ea typeface="Times New Roman"/>
                <a:cs typeface="Times New Roman"/>
                <a:sym typeface="Times New Roman"/>
              </a:rPr>
              <a:t>1</a:t>
            </a:r>
            <a:r>
              <a:rPr lang="tr-TR" sz="2800">
                <a:solidFill>
                  <a:srgbClr val="000000"/>
                </a:solidFill>
                <a:latin typeface="Times New Roman"/>
                <a:ea typeface="Times New Roman"/>
                <a:cs typeface="Times New Roman"/>
                <a:sym typeface="Times New Roman"/>
              </a:rPr>
              <a:t>: μ &lt; 18</a:t>
            </a:r>
            <a:endParaRPr sz="4000">
              <a:solidFill>
                <a:schemeClr val="dk1"/>
              </a:solidFill>
              <a:latin typeface="Calibri"/>
              <a:ea typeface="Calibri"/>
              <a:cs typeface="Calibri"/>
              <a:sym typeface="Calibri"/>
            </a:endParaRPr>
          </a:p>
        </p:txBody>
      </p:sp>
      <p:sp>
        <p:nvSpPr>
          <p:cNvPr id="756" name="Google Shape;756;p70"/>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98989"/>
              </a:buClr>
              <a:buSzPts val="1200"/>
              <a:buFont typeface="Arial"/>
              <a:buNone/>
            </a:pPr>
            <a:fld id="{00000000-1234-1234-1234-123412341234}" type="slidenum">
              <a:rPr lang="tr-TR" sz="1200">
                <a:solidFill>
                  <a:srgbClr val="898989"/>
                </a:solidFill>
                <a:latin typeface="Calibri"/>
                <a:ea typeface="Calibri"/>
                <a:cs typeface="Calibri"/>
                <a:sym typeface="Calibri"/>
              </a:rPr>
              <a:t>‹#›</a:t>
            </a:fld>
            <a:endParaRPr sz="1200">
              <a:solidFill>
                <a:srgbClr val="898989"/>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71"/>
          <p:cNvSpPr txBox="1"/>
          <p:nvPr>
            <p:ph idx="1" type="body"/>
          </p:nvPr>
        </p:nvSpPr>
        <p:spPr>
          <a:xfrm>
            <a:off x="323850" y="620713"/>
            <a:ext cx="8362950" cy="4525962"/>
          </a:xfrm>
          <a:prstGeom prst="rect">
            <a:avLst/>
          </a:prstGeom>
          <a:noFill/>
          <a:ln>
            <a:noFill/>
          </a:ln>
        </p:spPr>
        <p:txBody>
          <a:bodyPr anchorCtr="0" anchor="t" bIns="45700" lIns="45700" spcFirstLastPara="1" rIns="45700" wrap="square" tIns="45700">
            <a:normAutofit/>
          </a:bodyPr>
          <a:lstStyle/>
          <a:p>
            <a:pPr indent="-91440" lvl="0" marL="91440" rtl="0" algn="just">
              <a:lnSpc>
                <a:spcPct val="90000"/>
              </a:lnSpc>
              <a:spcBef>
                <a:spcPts val="0"/>
              </a:spcBef>
              <a:spcAft>
                <a:spcPts val="0"/>
              </a:spcAft>
              <a:buSzPts val="2000"/>
              <a:buFont typeface="Arial"/>
              <a:buNone/>
            </a:pPr>
            <a:r>
              <a:rPr b="1" lang="tr-TR"/>
              <a:t>	</a:t>
            </a:r>
            <a:r>
              <a:rPr b="1" lang="tr-TR" u="sng"/>
              <a:t>III. Aşama: </a:t>
            </a:r>
            <a:r>
              <a:rPr b="1" lang="tr-TR"/>
              <a:t>İstatistiksel test için I. Tip hatanın olasılığı olan α’nın belirlenmesi:</a:t>
            </a:r>
            <a:endParaRPr/>
          </a:p>
          <a:p>
            <a:pPr indent="0" lvl="0" marL="91440" rtl="0" algn="just">
              <a:lnSpc>
                <a:spcPct val="90000"/>
              </a:lnSpc>
              <a:spcBef>
                <a:spcPts val="1400"/>
              </a:spcBef>
              <a:spcAft>
                <a:spcPts val="0"/>
              </a:spcAft>
              <a:buSzPts val="2000"/>
              <a:buNone/>
            </a:pPr>
            <a:r>
              <a:t/>
            </a:r>
            <a:endParaRPr b="1"/>
          </a:p>
          <a:p>
            <a:pPr indent="-127000" lvl="0" marL="91440" rtl="0" algn="just">
              <a:lnSpc>
                <a:spcPct val="90000"/>
              </a:lnSpc>
              <a:spcBef>
                <a:spcPts val="1400"/>
              </a:spcBef>
              <a:spcAft>
                <a:spcPts val="0"/>
              </a:spcAft>
              <a:buSzPts val="2000"/>
              <a:buChar char=" "/>
            </a:pPr>
            <a:r>
              <a:rPr b="1" lang="tr-TR"/>
              <a:t>Çalışmalarda genellikle</a:t>
            </a:r>
            <a:r>
              <a:rPr b="1" lang="tr-TR" sz="2800"/>
              <a:t> α=0.05</a:t>
            </a:r>
            <a:r>
              <a:rPr b="1" lang="tr-TR"/>
              <a:t>, 0.01 gibi küçük değerler alınır.</a:t>
            </a:r>
            <a:endParaRPr/>
          </a:p>
        </p:txBody>
      </p:sp>
      <p:sp>
        <p:nvSpPr>
          <p:cNvPr id="762" name="Google Shape;762;p71"/>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98989"/>
              </a:buClr>
              <a:buSzPts val="1200"/>
              <a:buFont typeface="Arial"/>
              <a:buNone/>
            </a:pPr>
            <a:fld id="{00000000-1234-1234-1234-123412341234}" type="slidenum">
              <a:rPr lang="tr-TR" sz="1200">
                <a:solidFill>
                  <a:srgbClr val="898989"/>
                </a:solidFill>
                <a:latin typeface="Calibri"/>
                <a:ea typeface="Calibri"/>
                <a:cs typeface="Calibri"/>
                <a:sym typeface="Calibri"/>
              </a:rPr>
              <a:t>‹#›</a:t>
            </a:fld>
            <a:endParaRPr sz="1200">
              <a:solidFill>
                <a:srgbClr val="898989"/>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72"/>
          <p:cNvSpPr txBox="1"/>
          <p:nvPr>
            <p:ph idx="1" type="body"/>
          </p:nvPr>
        </p:nvSpPr>
        <p:spPr>
          <a:xfrm>
            <a:off x="539750" y="549275"/>
            <a:ext cx="8229600" cy="5903913"/>
          </a:xfrm>
          <a:prstGeom prst="rect">
            <a:avLst/>
          </a:prstGeom>
          <a:noFill/>
          <a:ln>
            <a:noFill/>
          </a:ln>
        </p:spPr>
        <p:txBody>
          <a:bodyPr anchorCtr="0" anchor="t" bIns="45700" lIns="45700" spcFirstLastPara="1" rIns="45700" wrap="square" tIns="45700">
            <a:normAutofit/>
          </a:bodyPr>
          <a:lstStyle/>
          <a:p>
            <a:pPr indent="-127000" lvl="0" marL="91440" rtl="0" algn="just">
              <a:lnSpc>
                <a:spcPct val="90000"/>
              </a:lnSpc>
              <a:spcBef>
                <a:spcPts val="0"/>
              </a:spcBef>
              <a:spcAft>
                <a:spcPts val="0"/>
              </a:spcAft>
              <a:buSzPts val="2000"/>
              <a:buChar char=" "/>
            </a:pPr>
            <a:r>
              <a:rPr lang="tr-TR"/>
              <a:t>Örnek 5 için α=0.05 olarak alalım ve çift yönlü hipotez kurmuş olalım.</a:t>
            </a:r>
            <a:endParaRPr/>
          </a:p>
          <a:p>
            <a:pPr indent="-127000" lvl="0" marL="91440" rtl="0" algn="just">
              <a:lnSpc>
                <a:spcPct val="90000"/>
              </a:lnSpc>
              <a:spcBef>
                <a:spcPts val="1400"/>
              </a:spcBef>
              <a:spcAft>
                <a:spcPts val="0"/>
              </a:spcAft>
              <a:buSzPts val="2000"/>
              <a:buChar char=" "/>
            </a:pPr>
            <a:r>
              <a:rPr lang="tr-TR"/>
              <a:t>Yapılan hipotez testi sonucunda hesaplanan z test istatistiği 0.79 olsun.</a:t>
            </a:r>
            <a:endParaRPr/>
          </a:p>
          <a:p>
            <a:pPr indent="0" lvl="0" marL="91440" rtl="0" algn="just">
              <a:lnSpc>
                <a:spcPct val="90000"/>
              </a:lnSpc>
              <a:spcBef>
                <a:spcPts val="1400"/>
              </a:spcBef>
              <a:spcAft>
                <a:spcPts val="0"/>
              </a:spcAft>
              <a:buSzPts val="2000"/>
              <a:buNone/>
            </a:pPr>
            <a:r>
              <a:t/>
            </a:r>
            <a:endParaRPr/>
          </a:p>
        </p:txBody>
      </p:sp>
      <p:sp>
        <p:nvSpPr>
          <p:cNvPr id="768" name="Google Shape;768;p72"/>
          <p:cNvSpPr txBox="1"/>
          <p:nvPr/>
        </p:nvSpPr>
        <p:spPr>
          <a:xfrm>
            <a:off x="1331913" y="3644900"/>
            <a:ext cx="2051050" cy="927100"/>
          </a:xfrm>
          <a:prstGeom prst="rect">
            <a:avLst/>
          </a:prstGeom>
          <a:noFill/>
          <a:ln>
            <a:noFill/>
          </a:ln>
        </p:spPr>
        <p:txBody>
          <a:bodyPr anchorCtr="0" anchor="t" bIns="36575" lIns="73150" spcFirstLastPara="1" rIns="73150" wrap="square" tIns="36575">
            <a:spAutoFit/>
          </a:bodyPr>
          <a:lstStyle/>
          <a:p>
            <a:pPr indent="0" lvl="0" marL="0" marR="0" rtl="0" algn="l">
              <a:spcBef>
                <a:spcPts val="0"/>
              </a:spcBef>
              <a:spcAft>
                <a:spcPts val="0"/>
              </a:spcAft>
              <a:buClr>
                <a:srgbClr val="000000"/>
              </a:buClr>
              <a:buSzPts val="2800"/>
              <a:buFont typeface="Arial"/>
              <a:buNone/>
            </a:pPr>
            <a:r>
              <a:rPr lang="tr-TR" sz="2800">
                <a:solidFill>
                  <a:srgbClr val="000000"/>
                </a:solidFill>
                <a:latin typeface="Times New Roman"/>
                <a:ea typeface="Times New Roman"/>
                <a:cs typeface="Times New Roman"/>
                <a:sym typeface="Times New Roman"/>
              </a:rPr>
              <a:t>H</a:t>
            </a:r>
            <a:r>
              <a:rPr baseline="-25000" lang="tr-TR" sz="2800">
                <a:solidFill>
                  <a:srgbClr val="000000"/>
                </a:solidFill>
                <a:latin typeface="Times New Roman"/>
                <a:ea typeface="Times New Roman"/>
                <a:cs typeface="Times New Roman"/>
                <a:sym typeface="Times New Roman"/>
              </a:rPr>
              <a:t>0</a:t>
            </a:r>
            <a:r>
              <a:rPr lang="tr-TR" sz="2800">
                <a:solidFill>
                  <a:srgbClr val="000000"/>
                </a:solidFill>
                <a:latin typeface="Times New Roman"/>
                <a:ea typeface="Times New Roman"/>
                <a:cs typeface="Times New Roman"/>
                <a:sym typeface="Times New Roman"/>
              </a:rPr>
              <a:t>: μ= 18</a:t>
            </a:r>
            <a:endParaRPr/>
          </a:p>
          <a:p>
            <a:pPr indent="0" lvl="0" marL="0" marR="0" rtl="0" algn="l">
              <a:spcBef>
                <a:spcPts val="0"/>
              </a:spcBef>
              <a:spcAft>
                <a:spcPts val="0"/>
              </a:spcAft>
              <a:buClr>
                <a:srgbClr val="000000"/>
              </a:buClr>
              <a:buSzPts val="2800"/>
              <a:buFont typeface="Arial"/>
              <a:buNone/>
            </a:pPr>
            <a:r>
              <a:rPr lang="tr-TR" sz="2800">
                <a:solidFill>
                  <a:srgbClr val="000000"/>
                </a:solidFill>
                <a:latin typeface="Times New Roman"/>
                <a:ea typeface="Times New Roman"/>
                <a:cs typeface="Times New Roman"/>
                <a:sym typeface="Times New Roman"/>
              </a:rPr>
              <a:t>H</a:t>
            </a:r>
            <a:r>
              <a:rPr baseline="-25000" lang="tr-TR" sz="2800">
                <a:solidFill>
                  <a:srgbClr val="000000"/>
                </a:solidFill>
                <a:latin typeface="Times New Roman"/>
                <a:ea typeface="Times New Roman"/>
                <a:cs typeface="Times New Roman"/>
                <a:sym typeface="Times New Roman"/>
              </a:rPr>
              <a:t>1</a:t>
            </a:r>
            <a:r>
              <a:rPr lang="tr-TR" sz="2800">
                <a:solidFill>
                  <a:srgbClr val="000000"/>
                </a:solidFill>
                <a:latin typeface="Times New Roman"/>
                <a:ea typeface="Times New Roman"/>
                <a:cs typeface="Times New Roman"/>
                <a:sym typeface="Times New Roman"/>
              </a:rPr>
              <a:t>: μ≠ 18</a:t>
            </a:r>
            <a:endParaRPr sz="4000">
              <a:solidFill>
                <a:schemeClr val="dk1"/>
              </a:solidFill>
              <a:latin typeface="Calibri"/>
              <a:ea typeface="Calibri"/>
              <a:cs typeface="Calibri"/>
              <a:sym typeface="Calibri"/>
            </a:endParaRPr>
          </a:p>
        </p:txBody>
      </p:sp>
      <p:sp>
        <p:nvSpPr>
          <p:cNvPr id="769" name="Google Shape;769;p72"/>
          <p:cNvSpPr/>
          <p:nvPr/>
        </p:nvSpPr>
        <p:spPr>
          <a:xfrm>
            <a:off x="5176838" y="4164013"/>
            <a:ext cx="2089150" cy="576262"/>
          </a:xfrm>
          <a:prstGeom prst="leftRightArrow">
            <a:avLst>
              <a:gd fmla="val 50000" name="adj1"/>
              <a:gd fmla="val 72507" name="adj2"/>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770" name="Google Shape;770;p72"/>
          <p:cNvSpPr txBox="1"/>
          <p:nvPr/>
        </p:nvSpPr>
        <p:spPr>
          <a:xfrm>
            <a:off x="5634038" y="4248150"/>
            <a:ext cx="1081087"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tr-TR" sz="1800">
                <a:solidFill>
                  <a:schemeClr val="dk1"/>
                </a:solidFill>
                <a:latin typeface="Calibri"/>
                <a:ea typeface="Calibri"/>
                <a:cs typeface="Calibri"/>
                <a:sym typeface="Calibri"/>
              </a:rPr>
              <a:t>H</a:t>
            </a:r>
            <a:r>
              <a:rPr baseline="-25000" lang="tr-TR" sz="1800">
                <a:solidFill>
                  <a:schemeClr val="dk1"/>
                </a:solidFill>
                <a:latin typeface="Calibri"/>
                <a:ea typeface="Calibri"/>
                <a:cs typeface="Calibri"/>
                <a:sym typeface="Calibri"/>
              </a:rPr>
              <a:t>0</a:t>
            </a:r>
            <a:r>
              <a:rPr lang="tr-TR" sz="1800">
                <a:solidFill>
                  <a:schemeClr val="dk1"/>
                </a:solidFill>
                <a:latin typeface="Calibri"/>
                <a:ea typeface="Calibri"/>
                <a:cs typeface="Calibri"/>
                <a:sym typeface="Calibri"/>
              </a:rPr>
              <a:t> Kabul</a:t>
            </a:r>
            <a:endParaRPr/>
          </a:p>
        </p:txBody>
      </p:sp>
      <p:sp>
        <p:nvSpPr>
          <p:cNvPr id="771" name="Google Shape;771;p72"/>
          <p:cNvSpPr txBox="1"/>
          <p:nvPr/>
        </p:nvSpPr>
        <p:spPr>
          <a:xfrm>
            <a:off x="3736975" y="3587750"/>
            <a:ext cx="979488"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tr-TR" sz="1800">
                <a:solidFill>
                  <a:schemeClr val="dk1"/>
                </a:solidFill>
                <a:latin typeface="Calibri"/>
                <a:ea typeface="Calibri"/>
                <a:cs typeface="Calibri"/>
                <a:sym typeface="Calibri"/>
              </a:rPr>
              <a:t>H</a:t>
            </a:r>
            <a:r>
              <a:rPr baseline="-25000" lang="tr-TR" sz="1800">
                <a:solidFill>
                  <a:schemeClr val="dk1"/>
                </a:solidFill>
                <a:latin typeface="Calibri"/>
                <a:ea typeface="Calibri"/>
                <a:cs typeface="Calibri"/>
                <a:sym typeface="Calibri"/>
              </a:rPr>
              <a:t>0</a:t>
            </a:r>
            <a:r>
              <a:rPr lang="tr-TR" sz="1800">
                <a:solidFill>
                  <a:schemeClr val="dk1"/>
                </a:solidFill>
                <a:latin typeface="Calibri"/>
                <a:ea typeface="Calibri"/>
                <a:cs typeface="Calibri"/>
                <a:sym typeface="Calibri"/>
              </a:rPr>
              <a:t> RED</a:t>
            </a:r>
            <a:endParaRPr/>
          </a:p>
        </p:txBody>
      </p:sp>
      <p:sp>
        <p:nvSpPr>
          <p:cNvPr id="772" name="Google Shape;772;p72"/>
          <p:cNvSpPr txBox="1"/>
          <p:nvPr/>
        </p:nvSpPr>
        <p:spPr>
          <a:xfrm>
            <a:off x="7121525" y="3227388"/>
            <a:ext cx="979488"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tr-TR" sz="1800">
                <a:solidFill>
                  <a:schemeClr val="dk1"/>
                </a:solidFill>
                <a:latin typeface="Calibri"/>
                <a:ea typeface="Calibri"/>
                <a:cs typeface="Calibri"/>
                <a:sym typeface="Calibri"/>
              </a:rPr>
              <a:t>H</a:t>
            </a:r>
            <a:r>
              <a:rPr baseline="-25000" lang="tr-TR" sz="1800">
                <a:solidFill>
                  <a:schemeClr val="dk1"/>
                </a:solidFill>
                <a:latin typeface="Calibri"/>
                <a:ea typeface="Calibri"/>
                <a:cs typeface="Calibri"/>
                <a:sym typeface="Calibri"/>
              </a:rPr>
              <a:t>0</a:t>
            </a:r>
            <a:r>
              <a:rPr lang="tr-TR" sz="1800">
                <a:solidFill>
                  <a:schemeClr val="dk1"/>
                </a:solidFill>
                <a:latin typeface="Calibri"/>
                <a:ea typeface="Calibri"/>
                <a:cs typeface="Calibri"/>
                <a:sym typeface="Calibri"/>
              </a:rPr>
              <a:t> RED</a:t>
            </a:r>
            <a:endParaRPr/>
          </a:p>
        </p:txBody>
      </p:sp>
      <p:sp>
        <p:nvSpPr>
          <p:cNvPr id="773" name="Google Shape;773;p72"/>
          <p:cNvSpPr txBox="1"/>
          <p:nvPr/>
        </p:nvSpPr>
        <p:spPr>
          <a:xfrm>
            <a:off x="4833938" y="4905375"/>
            <a:ext cx="576262"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tr-TR" sz="1400">
                <a:solidFill>
                  <a:srgbClr val="000000"/>
                </a:solidFill>
                <a:latin typeface="Times New Roman"/>
                <a:ea typeface="Times New Roman"/>
                <a:cs typeface="Times New Roman"/>
                <a:sym typeface="Times New Roman"/>
              </a:rPr>
              <a:t>-1.96</a:t>
            </a:r>
            <a:endParaRPr sz="2400">
              <a:solidFill>
                <a:schemeClr val="dk1"/>
              </a:solidFill>
              <a:latin typeface="Twentieth Century"/>
              <a:ea typeface="Twentieth Century"/>
              <a:cs typeface="Twentieth Century"/>
              <a:sym typeface="Twentieth Century"/>
            </a:endParaRPr>
          </a:p>
        </p:txBody>
      </p:sp>
      <p:sp>
        <p:nvSpPr>
          <p:cNvPr id="774" name="Google Shape;774;p72"/>
          <p:cNvSpPr txBox="1"/>
          <p:nvPr/>
        </p:nvSpPr>
        <p:spPr>
          <a:xfrm>
            <a:off x="6981825" y="4883150"/>
            <a:ext cx="576263"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tr-TR" sz="1400">
                <a:solidFill>
                  <a:srgbClr val="000000"/>
                </a:solidFill>
                <a:latin typeface="Times New Roman"/>
                <a:ea typeface="Times New Roman"/>
                <a:cs typeface="Times New Roman"/>
                <a:sym typeface="Times New Roman"/>
              </a:rPr>
              <a:t>1.96</a:t>
            </a:r>
            <a:endParaRPr sz="2400">
              <a:solidFill>
                <a:schemeClr val="dk1"/>
              </a:solidFill>
              <a:latin typeface="Twentieth Century"/>
              <a:ea typeface="Twentieth Century"/>
              <a:cs typeface="Twentieth Century"/>
              <a:sym typeface="Twentieth Century"/>
            </a:endParaRPr>
          </a:p>
        </p:txBody>
      </p:sp>
      <p:grpSp>
        <p:nvGrpSpPr>
          <p:cNvPr id="775" name="Google Shape;775;p72"/>
          <p:cNvGrpSpPr/>
          <p:nvPr/>
        </p:nvGrpSpPr>
        <p:grpSpPr>
          <a:xfrm>
            <a:off x="4529138" y="3082925"/>
            <a:ext cx="3168650" cy="1936750"/>
            <a:chOff x="1417" y="5015"/>
            <a:chExt cx="2700" cy="1650"/>
          </a:xfrm>
        </p:grpSpPr>
        <p:sp>
          <p:nvSpPr>
            <p:cNvPr id="776" name="Google Shape;776;p72"/>
            <p:cNvSpPr/>
            <p:nvPr/>
          </p:nvSpPr>
          <p:spPr>
            <a:xfrm>
              <a:off x="1417" y="5015"/>
              <a:ext cx="2700" cy="1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777" name="Google Shape;777;p72"/>
            <p:cNvSpPr/>
            <p:nvPr/>
          </p:nvSpPr>
          <p:spPr>
            <a:xfrm>
              <a:off x="1597" y="5195"/>
              <a:ext cx="2520" cy="1290"/>
            </a:xfrm>
            <a:custGeom>
              <a:rect b="b" l="l" r="r" t="t"/>
              <a:pathLst>
                <a:path extrusionOk="0" h="1110" w="2160">
                  <a:moveTo>
                    <a:pt x="0" y="1110"/>
                  </a:moveTo>
                  <a:cubicBezTo>
                    <a:pt x="270" y="585"/>
                    <a:pt x="540" y="60"/>
                    <a:pt x="900" y="30"/>
                  </a:cubicBezTo>
                  <a:cubicBezTo>
                    <a:pt x="1260" y="0"/>
                    <a:pt x="1710" y="465"/>
                    <a:pt x="2160" y="93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778" name="Google Shape;778;p72"/>
            <p:cNvCxnSpPr/>
            <p:nvPr/>
          </p:nvCxnSpPr>
          <p:spPr>
            <a:xfrm>
              <a:off x="1597" y="6457"/>
              <a:ext cx="2520" cy="0"/>
            </a:xfrm>
            <a:prstGeom prst="straightConnector1">
              <a:avLst/>
            </a:prstGeom>
            <a:noFill/>
            <a:ln>
              <a:noFill/>
            </a:ln>
          </p:spPr>
        </p:cxnSp>
        <p:cxnSp>
          <p:nvCxnSpPr>
            <p:cNvPr id="779" name="Google Shape;779;p72"/>
            <p:cNvCxnSpPr/>
            <p:nvPr/>
          </p:nvCxnSpPr>
          <p:spPr>
            <a:xfrm>
              <a:off x="1597" y="6455"/>
              <a:ext cx="2520" cy="0"/>
            </a:xfrm>
            <a:prstGeom prst="straightConnector1">
              <a:avLst/>
            </a:prstGeom>
            <a:noFill/>
            <a:ln cap="flat" cmpd="sng" w="9525">
              <a:solidFill>
                <a:srgbClr val="000000"/>
              </a:solidFill>
              <a:prstDash val="solid"/>
              <a:round/>
              <a:headEnd len="med" w="med" type="none"/>
              <a:tailEnd len="med" w="med" type="none"/>
            </a:ln>
          </p:spPr>
        </p:cxnSp>
        <p:cxnSp>
          <p:nvCxnSpPr>
            <p:cNvPr id="780" name="Google Shape;780;p72"/>
            <p:cNvCxnSpPr/>
            <p:nvPr/>
          </p:nvCxnSpPr>
          <p:spPr>
            <a:xfrm>
              <a:off x="1929" y="5901"/>
              <a:ext cx="1" cy="542"/>
            </a:xfrm>
            <a:prstGeom prst="straightConnector1">
              <a:avLst/>
            </a:prstGeom>
            <a:noFill/>
            <a:ln cap="flat" cmpd="sng" w="9525">
              <a:solidFill>
                <a:srgbClr val="000000"/>
              </a:solidFill>
              <a:prstDash val="solid"/>
              <a:round/>
              <a:headEnd len="med" w="med" type="none"/>
              <a:tailEnd len="med" w="med" type="none"/>
            </a:ln>
          </p:spPr>
        </p:cxnSp>
        <p:cxnSp>
          <p:nvCxnSpPr>
            <p:cNvPr id="781" name="Google Shape;781;p72"/>
            <p:cNvCxnSpPr/>
            <p:nvPr/>
          </p:nvCxnSpPr>
          <p:spPr>
            <a:xfrm>
              <a:off x="3757" y="5917"/>
              <a:ext cx="1" cy="542"/>
            </a:xfrm>
            <a:prstGeom prst="straightConnector1">
              <a:avLst/>
            </a:prstGeom>
            <a:noFill/>
            <a:ln cap="flat" cmpd="sng" w="9525">
              <a:solidFill>
                <a:srgbClr val="000000"/>
              </a:solidFill>
              <a:prstDash val="solid"/>
              <a:round/>
              <a:headEnd len="med" w="med" type="none"/>
              <a:tailEnd len="med" w="med" type="none"/>
            </a:ln>
          </p:spPr>
        </p:cxnSp>
        <p:cxnSp>
          <p:nvCxnSpPr>
            <p:cNvPr id="782" name="Google Shape;782;p72"/>
            <p:cNvCxnSpPr/>
            <p:nvPr/>
          </p:nvCxnSpPr>
          <p:spPr>
            <a:xfrm rot="10800000">
              <a:off x="1417" y="5917"/>
              <a:ext cx="360" cy="360"/>
            </a:xfrm>
            <a:prstGeom prst="straightConnector1">
              <a:avLst/>
            </a:prstGeom>
            <a:noFill/>
            <a:ln cap="flat" cmpd="sng" w="9525">
              <a:solidFill>
                <a:srgbClr val="000000"/>
              </a:solidFill>
              <a:prstDash val="solid"/>
              <a:round/>
              <a:headEnd len="med" w="med" type="none"/>
              <a:tailEnd len="med" w="med" type="triangle"/>
            </a:ln>
          </p:spPr>
        </p:cxnSp>
        <p:cxnSp>
          <p:nvCxnSpPr>
            <p:cNvPr id="783" name="Google Shape;783;p72"/>
            <p:cNvCxnSpPr/>
            <p:nvPr/>
          </p:nvCxnSpPr>
          <p:spPr>
            <a:xfrm rot="10800000">
              <a:off x="3884" y="5557"/>
              <a:ext cx="0" cy="540"/>
            </a:xfrm>
            <a:prstGeom prst="straightConnector1">
              <a:avLst/>
            </a:prstGeom>
            <a:noFill/>
            <a:ln cap="flat" cmpd="sng" w="9525">
              <a:solidFill>
                <a:srgbClr val="000000"/>
              </a:solidFill>
              <a:prstDash val="solid"/>
              <a:round/>
              <a:headEnd len="med" w="med" type="none"/>
              <a:tailEnd len="med" w="med" type="triangle"/>
            </a:ln>
          </p:spPr>
        </p:cxnSp>
        <p:cxnSp>
          <p:nvCxnSpPr>
            <p:cNvPr id="784" name="Google Shape;784;p72"/>
            <p:cNvCxnSpPr/>
            <p:nvPr/>
          </p:nvCxnSpPr>
          <p:spPr>
            <a:xfrm flipH="1">
              <a:off x="1723" y="6097"/>
              <a:ext cx="180" cy="360"/>
            </a:xfrm>
            <a:prstGeom prst="straightConnector1">
              <a:avLst/>
            </a:prstGeom>
            <a:noFill/>
            <a:ln>
              <a:noFill/>
            </a:ln>
          </p:spPr>
        </p:cxnSp>
      </p:grpSp>
      <p:sp>
        <p:nvSpPr>
          <p:cNvPr id="785" name="Google Shape;785;p72"/>
          <p:cNvSpPr txBox="1"/>
          <p:nvPr/>
        </p:nvSpPr>
        <p:spPr>
          <a:xfrm>
            <a:off x="3708400" y="3213100"/>
            <a:ext cx="1800225" cy="57626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rPr lang="tr-TR" sz="2000">
                <a:solidFill>
                  <a:schemeClr val="dk1"/>
                </a:solidFill>
                <a:latin typeface="Times New Roman"/>
                <a:ea typeface="Times New Roman"/>
                <a:cs typeface="Times New Roman"/>
                <a:sym typeface="Times New Roman"/>
              </a:rPr>
              <a:t>α/2=0.025</a:t>
            </a:r>
            <a:endParaRPr sz="3200">
              <a:solidFill>
                <a:schemeClr val="dk1"/>
              </a:solidFill>
              <a:latin typeface="Calibri"/>
              <a:ea typeface="Calibri"/>
              <a:cs typeface="Calibri"/>
              <a:sym typeface="Calibri"/>
            </a:endParaRPr>
          </a:p>
        </p:txBody>
      </p:sp>
      <p:sp>
        <p:nvSpPr>
          <p:cNvPr id="786" name="Google Shape;786;p72"/>
          <p:cNvSpPr txBox="1"/>
          <p:nvPr/>
        </p:nvSpPr>
        <p:spPr>
          <a:xfrm>
            <a:off x="7019925" y="2852738"/>
            <a:ext cx="1800225" cy="57626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rPr lang="tr-TR" sz="2000">
                <a:solidFill>
                  <a:schemeClr val="dk1"/>
                </a:solidFill>
                <a:latin typeface="Times New Roman"/>
                <a:ea typeface="Times New Roman"/>
                <a:cs typeface="Times New Roman"/>
                <a:sym typeface="Times New Roman"/>
              </a:rPr>
              <a:t>α/2=0.025</a:t>
            </a:r>
            <a:endParaRPr sz="3200">
              <a:solidFill>
                <a:schemeClr val="dk1"/>
              </a:solidFill>
              <a:latin typeface="Calibri"/>
              <a:ea typeface="Calibri"/>
              <a:cs typeface="Calibri"/>
              <a:sym typeface="Calibri"/>
            </a:endParaRPr>
          </a:p>
        </p:txBody>
      </p:sp>
      <p:cxnSp>
        <p:nvCxnSpPr>
          <p:cNvPr id="787" name="Google Shape;787;p72"/>
          <p:cNvCxnSpPr/>
          <p:nvPr/>
        </p:nvCxnSpPr>
        <p:spPr>
          <a:xfrm>
            <a:off x="6372225" y="4797425"/>
            <a:ext cx="0" cy="863600"/>
          </a:xfrm>
          <a:prstGeom prst="straightConnector1">
            <a:avLst/>
          </a:prstGeom>
          <a:noFill/>
          <a:ln cap="flat" cmpd="sng" w="57150">
            <a:solidFill>
              <a:srgbClr val="CC3300"/>
            </a:solidFill>
            <a:prstDash val="solid"/>
            <a:round/>
            <a:headEnd len="med" w="med" type="none"/>
            <a:tailEnd len="med" w="med" type="triangle"/>
          </a:ln>
        </p:spPr>
      </p:cxnSp>
      <p:sp>
        <p:nvSpPr>
          <p:cNvPr id="788" name="Google Shape;788;p72"/>
          <p:cNvSpPr/>
          <p:nvPr/>
        </p:nvSpPr>
        <p:spPr>
          <a:xfrm>
            <a:off x="6084888" y="5734050"/>
            <a:ext cx="6286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CC3300"/>
              </a:buClr>
              <a:buSzPts val="1800"/>
              <a:buFont typeface="Arial"/>
              <a:buNone/>
            </a:pPr>
            <a:r>
              <a:rPr lang="tr-TR" sz="1800">
                <a:solidFill>
                  <a:srgbClr val="CC3300"/>
                </a:solidFill>
                <a:latin typeface="Calibri"/>
                <a:ea typeface="Calibri"/>
                <a:cs typeface="Calibri"/>
                <a:sym typeface="Calibri"/>
              </a:rPr>
              <a:t>0.79</a:t>
            </a:r>
            <a:endParaRPr/>
          </a:p>
        </p:txBody>
      </p:sp>
      <p:sp>
        <p:nvSpPr>
          <p:cNvPr id="789" name="Google Shape;789;p72"/>
          <p:cNvSpPr/>
          <p:nvPr/>
        </p:nvSpPr>
        <p:spPr>
          <a:xfrm>
            <a:off x="1403350" y="6021388"/>
            <a:ext cx="5111750" cy="519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Arial"/>
              <a:buNone/>
            </a:pPr>
            <a:r>
              <a:rPr lang="tr-TR" sz="2800">
                <a:solidFill>
                  <a:schemeClr val="dk1"/>
                </a:solidFill>
                <a:latin typeface="Calibri"/>
                <a:ea typeface="Calibri"/>
                <a:cs typeface="Calibri"/>
                <a:sym typeface="Calibri"/>
              </a:rPr>
              <a:t>Dolayısıyla H</a:t>
            </a:r>
            <a:r>
              <a:rPr baseline="-25000" lang="tr-TR" sz="2800">
                <a:solidFill>
                  <a:schemeClr val="dk1"/>
                </a:solidFill>
                <a:latin typeface="Calibri"/>
                <a:ea typeface="Calibri"/>
                <a:cs typeface="Calibri"/>
                <a:sym typeface="Calibri"/>
              </a:rPr>
              <a:t>0</a:t>
            </a:r>
            <a:r>
              <a:rPr lang="tr-TR" sz="2800">
                <a:solidFill>
                  <a:schemeClr val="dk1"/>
                </a:solidFill>
                <a:latin typeface="Calibri"/>
                <a:ea typeface="Calibri"/>
                <a:cs typeface="Calibri"/>
                <a:sym typeface="Calibri"/>
              </a:rPr>
              <a:t> KABUL edilir.</a:t>
            </a:r>
            <a:endParaRPr/>
          </a:p>
        </p:txBody>
      </p:sp>
      <p:sp>
        <p:nvSpPr>
          <p:cNvPr id="790" name="Google Shape;790;p72"/>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98989"/>
              </a:buClr>
              <a:buSzPts val="1200"/>
              <a:buFont typeface="Arial"/>
              <a:buNone/>
            </a:pPr>
            <a:fld id="{00000000-1234-1234-1234-123412341234}" type="slidenum">
              <a:rPr lang="tr-TR" sz="1200">
                <a:solidFill>
                  <a:srgbClr val="898989"/>
                </a:solidFill>
                <a:latin typeface="Calibri"/>
                <a:ea typeface="Calibri"/>
                <a:cs typeface="Calibri"/>
                <a:sym typeface="Calibri"/>
              </a:rPr>
              <a:t>‹#›</a:t>
            </a:fld>
            <a:endParaRPr sz="1200">
              <a:solidFill>
                <a:srgbClr val="898989"/>
              </a:solidFill>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73"/>
          <p:cNvSpPr txBox="1"/>
          <p:nvPr>
            <p:ph idx="1" type="body"/>
          </p:nvPr>
        </p:nvSpPr>
        <p:spPr>
          <a:xfrm>
            <a:off x="457200" y="404813"/>
            <a:ext cx="8229600" cy="5721350"/>
          </a:xfrm>
          <a:prstGeom prst="rect">
            <a:avLst/>
          </a:prstGeom>
          <a:noFill/>
          <a:ln>
            <a:noFill/>
          </a:ln>
        </p:spPr>
        <p:txBody>
          <a:bodyPr anchorCtr="0" anchor="t" bIns="45700" lIns="45700" spcFirstLastPara="1" rIns="45700" wrap="square" tIns="45700">
            <a:normAutofit/>
          </a:bodyPr>
          <a:lstStyle/>
          <a:p>
            <a:pPr indent="-91440" lvl="0" marL="91440" rtl="0" algn="ctr">
              <a:lnSpc>
                <a:spcPct val="90000"/>
              </a:lnSpc>
              <a:spcBef>
                <a:spcPts val="0"/>
              </a:spcBef>
              <a:spcAft>
                <a:spcPts val="0"/>
              </a:spcAft>
              <a:buSzPts val="2000"/>
              <a:buFont typeface="Arial"/>
              <a:buNone/>
            </a:pPr>
            <a:r>
              <a:t/>
            </a:r>
            <a:endParaRPr b="1">
              <a:latin typeface="Times New Roman"/>
              <a:ea typeface="Times New Roman"/>
              <a:cs typeface="Times New Roman"/>
              <a:sym typeface="Times New Roman"/>
            </a:endParaRPr>
          </a:p>
          <a:p>
            <a:pPr indent="-91440" lvl="0" marL="91440" rtl="0" algn="ctr">
              <a:lnSpc>
                <a:spcPct val="90000"/>
              </a:lnSpc>
              <a:spcBef>
                <a:spcPts val="1400"/>
              </a:spcBef>
              <a:spcAft>
                <a:spcPts val="0"/>
              </a:spcAft>
              <a:buSzPts val="2000"/>
              <a:buFont typeface="Arial"/>
              <a:buNone/>
            </a:pPr>
            <a:r>
              <a:rPr b="1" lang="tr-TR">
                <a:latin typeface="Times New Roman"/>
                <a:ea typeface="Times New Roman"/>
                <a:cs typeface="Times New Roman"/>
                <a:sym typeface="Times New Roman"/>
              </a:rPr>
              <a:t>KOŞULLAR</a:t>
            </a:r>
            <a:endParaRPr b="1">
              <a:latin typeface="Times New Roman"/>
              <a:ea typeface="Times New Roman"/>
              <a:cs typeface="Times New Roman"/>
              <a:sym typeface="Times New Roman"/>
            </a:endParaRPr>
          </a:p>
          <a:p>
            <a:pPr indent="0" lvl="0" marL="91440" rtl="0" algn="l">
              <a:lnSpc>
                <a:spcPct val="90000"/>
              </a:lnSpc>
              <a:spcBef>
                <a:spcPts val="1400"/>
              </a:spcBef>
              <a:spcAft>
                <a:spcPts val="0"/>
              </a:spcAft>
              <a:buSzPts val="2000"/>
              <a:buNone/>
            </a:pPr>
            <a:r>
              <a:t/>
            </a:r>
            <a:endParaRPr/>
          </a:p>
        </p:txBody>
      </p:sp>
      <p:sp>
        <p:nvSpPr>
          <p:cNvPr id="796" name="Google Shape;796;p73"/>
          <p:cNvSpPr txBox="1"/>
          <p:nvPr/>
        </p:nvSpPr>
        <p:spPr>
          <a:xfrm>
            <a:off x="174625" y="2924175"/>
            <a:ext cx="8816975" cy="1905000"/>
          </a:xfrm>
          <a:prstGeom prst="rect">
            <a:avLst/>
          </a:prstGeom>
          <a:noFill/>
          <a:ln>
            <a:noFill/>
          </a:ln>
          <a:effectLst>
            <a:outerShdw rotWithShape="0" algn="ctr" dir="2700000" dist="35921">
              <a:schemeClr val="lt2"/>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rPr b="1" lang="tr-TR" sz="2800">
                <a:solidFill>
                  <a:schemeClr val="dk1"/>
                </a:solidFill>
                <a:latin typeface="Times New Roman"/>
                <a:ea typeface="Times New Roman"/>
                <a:cs typeface="Times New Roman"/>
                <a:sym typeface="Times New Roman"/>
              </a:rPr>
              <a:t>Kitle Normal dağılmalıdır.</a:t>
            </a:r>
            <a:endParaRPr/>
          </a:p>
          <a:p>
            <a:pPr indent="0" lvl="0" marL="0" marR="0" rtl="0" algn="ctr">
              <a:spcBef>
                <a:spcPts val="0"/>
              </a:spcBef>
              <a:spcAft>
                <a:spcPts val="0"/>
              </a:spcAft>
              <a:buNone/>
            </a:pPr>
            <a:r>
              <a:t/>
            </a:r>
            <a:endParaRPr b="1" sz="28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b="1" lang="tr-TR" sz="2800">
                <a:solidFill>
                  <a:schemeClr val="dk1"/>
                </a:solidFill>
                <a:latin typeface="Times New Roman"/>
                <a:ea typeface="Times New Roman"/>
                <a:cs typeface="Times New Roman"/>
                <a:sym typeface="Times New Roman"/>
              </a:rPr>
              <a:t>Örneklem kitleden rasgele seçilmiş olmalıdır.</a:t>
            </a:r>
            <a:endParaRPr/>
          </a:p>
          <a:p>
            <a:pPr indent="0" lvl="0" marL="0" marR="0" rtl="0" algn="ctr">
              <a:spcBef>
                <a:spcPts val="0"/>
              </a:spcBef>
              <a:spcAft>
                <a:spcPts val="0"/>
              </a:spcAft>
              <a:buNone/>
            </a:pPr>
            <a:r>
              <a:t/>
            </a:r>
            <a:endParaRPr b="1" sz="2800">
              <a:solidFill>
                <a:schemeClr val="dk1"/>
              </a:solidFill>
              <a:latin typeface="Times New Roman"/>
              <a:ea typeface="Times New Roman"/>
              <a:cs typeface="Times New Roman"/>
              <a:sym typeface="Times New Roman"/>
            </a:endParaRPr>
          </a:p>
        </p:txBody>
      </p:sp>
      <p:sp>
        <p:nvSpPr>
          <p:cNvPr id="797" name="Google Shape;797;p73"/>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98989"/>
              </a:buClr>
              <a:buSzPts val="1200"/>
              <a:buFont typeface="Arial"/>
              <a:buNone/>
            </a:pPr>
            <a:fld id="{00000000-1234-1234-1234-123412341234}" type="slidenum">
              <a:rPr lang="tr-TR" sz="1200">
                <a:solidFill>
                  <a:srgbClr val="898989"/>
                </a:solidFill>
                <a:latin typeface="Calibri"/>
                <a:ea typeface="Calibri"/>
                <a:cs typeface="Calibri"/>
                <a:sym typeface="Calibri"/>
              </a:rPr>
              <a:t>‹#›</a:t>
            </a:fld>
            <a:endParaRPr sz="1200">
              <a:solidFill>
                <a:srgbClr val="898989"/>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74"/>
          <p:cNvSpPr txBox="1"/>
          <p:nvPr/>
        </p:nvSpPr>
        <p:spPr>
          <a:xfrm>
            <a:off x="152400" y="908050"/>
            <a:ext cx="8816975" cy="52641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tr-TR" sz="2600">
                <a:solidFill>
                  <a:schemeClr val="dk1"/>
                </a:solidFill>
                <a:latin typeface="Times New Roman"/>
                <a:ea typeface="Times New Roman"/>
                <a:cs typeface="Times New Roman"/>
                <a:sym typeface="Times New Roman"/>
              </a:rPr>
              <a:t>Kitle ortalamasının anlamlılık testinde daha önce belirtilen koşullar sağlandığında yararlanılacak test istatistiği, </a:t>
            </a:r>
            <a:r>
              <a:rPr b="1" lang="tr-TR" sz="3000">
                <a:solidFill>
                  <a:schemeClr val="dk1"/>
                </a:solidFill>
                <a:latin typeface="Times New Roman"/>
                <a:ea typeface="Times New Roman"/>
                <a:cs typeface="Times New Roman"/>
                <a:sym typeface="Times New Roman"/>
              </a:rPr>
              <a:t>n,</a:t>
            </a:r>
            <a:r>
              <a:rPr b="1" lang="tr-TR" sz="2600">
                <a:solidFill>
                  <a:schemeClr val="dk1"/>
                </a:solidFill>
                <a:latin typeface="Times New Roman"/>
                <a:ea typeface="Times New Roman"/>
                <a:cs typeface="Times New Roman"/>
                <a:sym typeface="Times New Roman"/>
              </a:rPr>
              <a:t> örneklemdeki denek sayısını göstermek üzere</a:t>
            </a:r>
            <a:endParaRPr/>
          </a:p>
          <a:p>
            <a:pPr indent="0" lvl="0" marL="0" marR="0" rtl="0" algn="l">
              <a:spcBef>
                <a:spcPts val="0"/>
              </a:spcBef>
              <a:spcAft>
                <a:spcPts val="0"/>
              </a:spcAft>
              <a:buNone/>
            </a:pPr>
            <a:r>
              <a:t/>
            </a:r>
            <a:endParaRPr b="1" sz="2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tr-TR" sz="2600">
                <a:solidFill>
                  <a:schemeClr val="dk1"/>
                </a:solidFill>
                <a:latin typeface="Times New Roman"/>
                <a:ea typeface="Times New Roman"/>
                <a:cs typeface="Times New Roman"/>
                <a:sym typeface="Times New Roman"/>
              </a:rPr>
              <a:t> Kitle varyansı bilindiğinde,</a:t>
            </a:r>
            <a:endParaRPr/>
          </a:p>
          <a:p>
            <a:pPr indent="0" lvl="0" marL="0" marR="0" rtl="0" algn="l">
              <a:spcBef>
                <a:spcPts val="0"/>
              </a:spcBef>
              <a:spcAft>
                <a:spcPts val="0"/>
              </a:spcAft>
              <a:buNone/>
            </a:pPr>
            <a:r>
              <a:t/>
            </a:r>
            <a:endParaRPr b="1" sz="2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tr-TR" sz="2600">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None/>
            </a:pPr>
            <a:r>
              <a:t/>
            </a:r>
            <a:endParaRPr b="1" sz="2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tr-TR" sz="2600">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None/>
            </a:pPr>
            <a:r>
              <a:rPr b="1" lang="tr-TR" sz="2600">
                <a:solidFill>
                  <a:schemeClr val="dk1"/>
                </a:solidFill>
                <a:latin typeface="Times New Roman"/>
                <a:ea typeface="Times New Roman"/>
                <a:cs typeface="Times New Roman"/>
                <a:sym typeface="Times New Roman"/>
              </a:rPr>
              <a:t>Kitle varyansı bilinmediğinde,</a:t>
            </a:r>
            <a:endParaRPr b="1" sz="2600">
              <a:solidFill>
                <a:schemeClr val="dk1"/>
              </a:solidFill>
              <a:latin typeface="Times New Roman"/>
              <a:ea typeface="Times New Roman"/>
              <a:cs typeface="Times New Roman"/>
              <a:sym typeface="Times New Roman"/>
            </a:endParaRPr>
          </a:p>
        </p:txBody>
      </p:sp>
      <p:pic>
        <p:nvPicPr>
          <p:cNvPr id="805" name="Google Shape;805;p74"/>
          <p:cNvPicPr preferRelativeResize="0"/>
          <p:nvPr/>
        </p:nvPicPr>
        <p:blipFill rotWithShape="1">
          <a:blip r:embed="rId3">
            <a:alphaModFix/>
          </a:blip>
          <a:srcRect b="0" l="0" r="0" t="0"/>
          <a:stretch/>
        </p:blipFill>
        <p:spPr>
          <a:xfrm>
            <a:off x="5364163" y="2420938"/>
            <a:ext cx="1506537" cy="920750"/>
          </a:xfrm>
          <a:prstGeom prst="rect">
            <a:avLst/>
          </a:prstGeom>
          <a:noFill/>
          <a:ln>
            <a:noFill/>
          </a:ln>
        </p:spPr>
      </p:pic>
      <p:pic>
        <p:nvPicPr>
          <p:cNvPr id="806" name="Google Shape;806;p74"/>
          <p:cNvPicPr preferRelativeResize="0"/>
          <p:nvPr/>
        </p:nvPicPr>
        <p:blipFill rotWithShape="1">
          <a:blip r:embed="rId4">
            <a:alphaModFix/>
          </a:blip>
          <a:srcRect b="0" l="0" r="0" t="0"/>
          <a:stretch/>
        </p:blipFill>
        <p:spPr>
          <a:xfrm>
            <a:off x="5435600" y="4292600"/>
            <a:ext cx="1393825" cy="920750"/>
          </a:xfrm>
          <a:prstGeom prst="rect">
            <a:avLst/>
          </a:prstGeom>
          <a:noFill/>
          <a:ln>
            <a:noFill/>
          </a:ln>
        </p:spPr>
      </p:pic>
      <p:sp>
        <p:nvSpPr>
          <p:cNvPr id="807" name="Google Shape;807;p74"/>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98989"/>
              </a:buClr>
              <a:buSzPts val="1200"/>
              <a:buFont typeface="Arial"/>
              <a:buNone/>
            </a:pPr>
            <a:fld id="{00000000-1234-1234-1234-123412341234}" type="slidenum">
              <a:rPr lang="tr-TR" sz="1200">
                <a:solidFill>
                  <a:srgbClr val="898989"/>
                </a:solidFill>
                <a:latin typeface="Calibri"/>
                <a:ea typeface="Calibri"/>
                <a:cs typeface="Calibri"/>
                <a:sym typeface="Calibri"/>
              </a:rPr>
              <a:t>‹#›</a:t>
            </a:fld>
            <a:endParaRPr sz="1200">
              <a:solidFill>
                <a:srgbClr val="898989"/>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75"/>
          <p:cNvSpPr txBox="1"/>
          <p:nvPr/>
        </p:nvSpPr>
        <p:spPr>
          <a:xfrm>
            <a:off x="2898775" y="1052513"/>
            <a:ext cx="36179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b="1" lang="tr-TR" sz="2400">
                <a:solidFill>
                  <a:schemeClr val="dk1"/>
                </a:solidFill>
                <a:latin typeface="Times New Roman"/>
                <a:ea typeface="Times New Roman"/>
                <a:cs typeface="Times New Roman"/>
                <a:sym typeface="Times New Roman"/>
              </a:rPr>
              <a:t>H</a:t>
            </a:r>
            <a:r>
              <a:rPr b="1" baseline="-25000" lang="tr-TR" sz="2400">
                <a:solidFill>
                  <a:schemeClr val="dk1"/>
                </a:solidFill>
                <a:latin typeface="Times New Roman"/>
                <a:ea typeface="Times New Roman"/>
                <a:cs typeface="Times New Roman"/>
                <a:sym typeface="Times New Roman"/>
              </a:rPr>
              <a:t>0</a:t>
            </a:r>
            <a:r>
              <a:rPr b="1" lang="tr-TR" sz="2400">
                <a:solidFill>
                  <a:schemeClr val="dk1"/>
                </a:solidFill>
                <a:latin typeface="Times New Roman"/>
                <a:ea typeface="Times New Roman"/>
                <a:cs typeface="Times New Roman"/>
                <a:sym typeface="Times New Roman"/>
              </a:rPr>
              <a:t> Kabul ve Red Bölgeleri</a:t>
            </a:r>
            <a:endParaRPr b="1" sz="2400">
              <a:solidFill>
                <a:schemeClr val="dk1"/>
              </a:solidFill>
              <a:latin typeface="Times New Roman"/>
              <a:ea typeface="Times New Roman"/>
              <a:cs typeface="Times New Roman"/>
              <a:sym typeface="Times New Roman"/>
            </a:endParaRPr>
          </a:p>
        </p:txBody>
      </p:sp>
      <p:sp>
        <p:nvSpPr>
          <p:cNvPr id="815" name="Google Shape;815;p75"/>
          <p:cNvSpPr txBox="1"/>
          <p:nvPr/>
        </p:nvSpPr>
        <p:spPr>
          <a:xfrm>
            <a:off x="533400" y="2060575"/>
            <a:ext cx="2281238"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Arial"/>
              <a:buNone/>
            </a:pPr>
            <a:r>
              <a:rPr b="1" lang="tr-TR" sz="2800">
                <a:solidFill>
                  <a:schemeClr val="dk1"/>
                </a:solidFill>
                <a:latin typeface="Times New Roman"/>
                <a:ea typeface="Times New Roman"/>
                <a:cs typeface="Times New Roman"/>
                <a:sym typeface="Times New Roman"/>
              </a:rPr>
              <a:t>H</a:t>
            </a:r>
            <a:r>
              <a:rPr b="1" baseline="-25000" lang="tr-TR" sz="2800">
                <a:solidFill>
                  <a:schemeClr val="dk1"/>
                </a:solidFill>
                <a:latin typeface="Times New Roman"/>
                <a:ea typeface="Times New Roman"/>
                <a:cs typeface="Times New Roman"/>
                <a:sym typeface="Times New Roman"/>
              </a:rPr>
              <a:t>1</a:t>
            </a:r>
            <a:r>
              <a:rPr b="1" lang="tr-TR" sz="2800">
                <a:solidFill>
                  <a:schemeClr val="dk1"/>
                </a:solidFill>
                <a:latin typeface="Times New Roman"/>
                <a:ea typeface="Times New Roman"/>
                <a:cs typeface="Times New Roman"/>
                <a:sym typeface="Times New Roman"/>
              </a:rPr>
              <a:t> Tek Yönlü</a:t>
            </a:r>
            <a:endParaRPr b="1" sz="2800">
              <a:solidFill>
                <a:schemeClr val="dk1"/>
              </a:solidFill>
              <a:latin typeface="Times New Roman"/>
              <a:ea typeface="Times New Roman"/>
              <a:cs typeface="Times New Roman"/>
              <a:sym typeface="Times New Roman"/>
            </a:endParaRPr>
          </a:p>
        </p:txBody>
      </p:sp>
      <p:sp>
        <p:nvSpPr>
          <p:cNvPr id="816" name="Google Shape;816;p75"/>
          <p:cNvSpPr txBox="1"/>
          <p:nvPr/>
        </p:nvSpPr>
        <p:spPr>
          <a:xfrm>
            <a:off x="533400" y="5348288"/>
            <a:ext cx="2124075" cy="519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Arial"/>
              <a:buNone/>
            </a:pPr>
            <a:r>
              <a:rPr b="1" lang="tr-TR" sz="2800">
                <a:solidFill>
                  <a:schemeClr val="dk1"/>
                </a:solidFill>
                <a:latin typeface="Times New Roman"/>
                <a:ea typeface="Times New Roman"/>
                <a:cs typeface="Times New Roman"/>
                <a:sym typeface="Times New Roman"/>
              </a:rPr>
              <a:t>H</a:t>
            </a:r>
            <a:r>
              <a:rPr b="1" baseline="-25000" lang="tr-TR" sz="2800">
                <a:solidFill>
                  <a:schemeClr val="dk1"/>
                </a:solidFill>
                <a:latin typeface="Times New Roman"/>
                <a:ea typeface="Times New Roman"/>
                <a:cs typeface="Times New Roman"/>
                <a:sym typeface="Times New Roman"/>
              </a:rPr>
              <a:t>1</a:t>
            </a:r>
            <a:r>
              <a:rPr b="1" lang="tr-TR" sz="2800">
                <a:solidFill>
                  <a:schemeClr val="dk1"/>
                </a:solidFill>
                <a:latin typeface="Times New Roman"/>
                <a:ea typeface="Times New Roman"/>
                <a:cs typeface="Times New Roman"/>
                <a:sym typeface="Times New Roman"/>
              </a:rPr>
              <a:t> İki Yönlü</a:t>
            </a:r>
            <a:endParaRPr b="1" sz="2800">
              <a:solidFill>
                <a:schemeClr val="dk1"/>
              </a:solidFill>
              <a:latin typeface="Times New Roman"/>
              <a:ea typeface="Times New Roman"/>
              <a:cs typeface="Times New Roman"/>
              <a:sym typeface="Times New Roman"/>
            </a:endParaRPr>
          </a:p>
        </p:txBody>
      </p:sp>
      <p:grpSp>
        <p:nvGrpSpPr>
          <p:cNvPr id="817" name="Google Shape;817;p75"/>
          <p:cNvGrpSpPr/>
          <p:nvPr/>
        </p:nvGrpSpPr>
        <p:grpSpPr>
          <a:xfrm>
            <a:off x="4067175" y="1700213"/>
            <a:ext cx="4248150" cy="1785937"/>
            <a:chOff x="2789" y="754"/>
            <a:chExt cx="2676" cy="1843"/>
          </a:xfrm>
        </p:grpSpPr>
        <p:grpSp>
          <p:nvGrpSpPr>
            <p:cNvPr id="818" name="Google Shape;818;p75"/>
            <p:cNvGrpSpPr/>
            <p:nvPr/>
          </p:nvGrpSpPr>
          <p:grpSpPr>
            <a:xfrm>
              <a:off x="2789" y="754"/>
              <a:ext cx="2676" cy="1349"/>
              <a:chOff x="2789" y="754"/>
              <a:chExt cx="2676" cy="1349"/>
            </a:xfrm>
          </p:grpSpPr>
          <p:sp>
            <p:nvSpPr>
              <p:cNvPr id="819" name="Google Shape;819;p75"/>
              <p:cNvSpPr/>
              <p:nvPr/>
            </p:nvSpPr>
            <p:spPr>
              <a:xfrm>
                <a:off x="2812" y="754"/>
                <a:ext cx="2653" cy="1326"/>
              </a:xfrm>
              <a:custGeom>
                <a:rect b="b" l="l" r="r" t="t"/>
                <a:pathLst>
                  <a:path extrusionOk="0" h="9062" w="17885">
                    <a:moveTo>
                      <a:pt x="0" y="9062"/>
                    </a:moveTo>
                    <a:lnTo>
                      <a:pt x="89" y="9059"/>
                    </a:lnTo>
                    <a:lnTo>
                      <a:pt x="179" y="9057"/>
                    </a:lnTo>
                    <a:lnTo>
                      <a:pt x="269" y="9053"/>
                    </a:lnTo>
                    <a:lnTo>
                      <a:pt x="359" y="9050"/>
                    </a:lnTo>
                    <a:lnTo>
                      <a:pt x="448" y="9046"/>
                    </a:lnTo>
                    <a:lnTo>
                      <a:pt x="539" y="9041"/>
                    </a:lnTo>
                    <a:lnTo>
                      <a:pt x="628" y="9036"/>
                    </a:lnTo>
                    <a:lnTo>
                      <a:pt x="718" y="9031"/>
                    </a:lnTo>
                    <a:lnTo>
                      <a:pt x="809" y="9024"/>
                    </a:lnTo>
                    <a:lnTo>
                      <a:pt x="898" y="9018"/>
                    </a:lnTo>
                    <a:lnTo>
                      <a:pt x="987" y="9011"/>
                    </a:lnTo>
                    <a:lnTo>
                      <a:pt x="1078" y="9002"/>
                    </a:lnTo>
                    <a:lnTo>
                      <a:pt x="1167" y="8993"/>
                    </a:lnTo>
                    <a:lnTo>
                      <a:pt x="1257" y="8984"/>
                    </a:lnTo>
                    <a:lnTo>
                      <a:pt x="1348" y="8972"/>
                    </a:lnTo>
                    <a:lnTo>
                      <a:pt x="1437" y="8961"/>
                    </a:lnTo>
                    <a:lnTo>
                      <a:pt x="1528" y="8948"/>
                    </a:lnTo>
                    <a:lnTo>
                      <a:pt x="1617" y="8934"/>
                    </a:lnTo>
                    <a:lnTo>
                      <a:pt x="1707" y="8918"/>
                    </a:lnTo>
                    <a:lnTo>
                      <a:pt x="1797" y="8901"/>
                    </a:lnTo>
                    <a:lnTo>
                      <a:pt x="1887" y="8883"/>
                    </a:lnTo>
                    <a:lnTo>
                      <a:pt x="1976" y="8862"/>
                    </a:lnTo>
                    <a:lnTo>
                      <a:pt x="2067" y="8842"/>
                    </a:lnTo>
                    <a:lnTo>
                      <a:pt x="2156" y="8817"/>
                    </a:lnTo>
                    <a:lnTo>
                      <a:pt x="2246" y="8793"/>
                    </a:lnTo>
                    <a:lnTo>
                      <a:pt x="2336" y="8764"/>
                    </a:lnTo>
                    <a:lnTo>
                      <a:pt x="2426" y="8734"/>
                    </a:lnTo>
                    <a:lnTo>
                      <a:pt x="2515" y="8702"/>
                    </a:lnTo>
                    <a:lnTo>
                      <a:pt x="2606" y="8667"/>
                    </a:lnTo>
                    <a:lnTo>
                      <a:pt x="2695" y="8630"/>
                    </a:lnTo>
                    <a:lnTo>
                      <a:pt x="2786" y="8589"/>
                    </a:lnTo>
                    <a:lnTo>
                      <a:pt x="2875" y="8547"/>
                    </a:lnTo>
                    <a:lnTo>
                      <a:pt x="2965" y="8501"/>
                    </a:lnTo>
                    <a:lnTo>
                      <a:pt x="3056" y="8451"/>
                    </a:lnTo>
                    <a:lnTo>
                      <a:pt x="3145" y="8399"/>
                    </a:lnTo>
                    <a:lnTo>
                      <a:pt x="3234" y="8342"/>
                    </a:lnTo>
                    <a:lnTo>
                      <a:pt x="3325" y="8283"/>
                    </a:lnTo>
                    <a:lnTo>
                      <a:pt x="3415" y="8219"/>
                    </a:lnTo>
                    <a:lnTo>
                      <a:pt x="3504" y="8152"/>
                    </a:lnTo>
                    <a:lnTo>
                      <a:pt x="3595" y="8081"/>
                    </a:lnTo>
                    <a:lnTo>
                      <a:pt x="3684" y="8005"/>
                    </a:lnTo>
                    <a:lnTo>
                      <a:pt x="3774" y="7924"/>
                    </a:lnTo>
                    <a:lnTo>
                      <a:pt x="3864" y="7840"/>
                    </a:lnTo>
                    <a:lnTo>
                      <a:pt x="3954" y="7751"/>
                    </a:lnTo>
                    <a:lnTo>
                      <a:pt x="4043" y="7658"/>
                    </a:lnTo>
                    <a:lnTo>
                      <a:pt x="4134" y="7559"/>
                    </a:lnTo>
                    <a:lnTo>
                      <a:pt x="4223" y="7456"/>
                    </a:lnTo>
                    <a:lnTo>
                      <a:pt x="4314" y="7348"/>
                    </a:lnTo>
                    <a:lnTo>
                      <a:pt x="4403" y="7236"/>
                    </a:lnTo>
                    <a:lnTo>
                      <a:pt x="4493" y="7118"/>
                    </a:lnTo>
                    <a:lnTo>
                      <a:pt x="4583" y="6995"/>
                    </a:lnTo>
                    <a:lnTo>
                      <a:pt x="4673" y="6867"/>
                    </a:lnTo>
                    <a:lnTo>
                      <a:pt x="4762" y="6734"/>
                    </a:lnTo>
                    <a:lnTo>
                      <a:pt x="4853" y="6597"/>
                    </a:lnTo>
                    <a:lnTo>
                      <a:pt x="4942" y="6454"/>
                    </a:lnTo>
                    <a:lnTo>
                      <a:pt x="5032" y="6307"/>
                    </a:lnTo>
                    <a:lnTo>
                      <a:pt x="5123" y="6155"/>
                    </a:lnTo>
                    <a:lnTo>
                      <a:pt x="5212" y="5999"/>
                    </a:lnTo>
                    <a:lnTo>
                      <a:pt x="5301" y="5838"/>
                    </a:lnTo>
                    <a:lnTo>
                      <a:pt x="5392" y="5673"/>
                    </a:lnTo>
                    <a:lnTo>
                      <a:pt x="5482" y="5504"/>
                    </a:lnTo>
                    <a:lnTo>
                      <a:pt x="5572" y="5331"/>
                    </a:lnTo>
                    <a:lnTo>
                      <a:pt x="5662" y="5155"/>
                    </a:lnTo>
                    <a:lnTo>
                      <a:pt x="5751" y="4975"/>
                    </a:lnTo>
                    <a:lnTo>
                      <a:pt x="5842" y="4793"/>
                    </a:lnTo>
                    <a:lnTo>
                      <a:pt x="5931" y="4608"/>
                    </a:lnTo>
                    <a:lnTo>
                      <a:pt x="6021" y="4420"/>
                    </a:lnTo>
                    <a:lnTo>
                      <a:pt x="6111" y="4231"/>
                    </a:lnTo>
                    <a:lnTo>
                      <a:pt x="6201" y="4040"/>
                    </a:lnTo>
                    <a:lnTo>
                      <a:pt x="6290" y="3848"/>
                    </a:lnTo>
                    <a:lnTo>
                      <a:pt x="6381" y="3655"/>
                    </a:lnTo>
                    <a:lnTo>
                      <a:pt x="6470" y="3462"/>
                    </a:lnTo>
                    <a:lnTo>
                      <a:pt x="6560" y="3270"/>
                    </a:lnTo>
                    <a:lnTo>
                      <a:pt x="6650" y="3078"/>
                    </a:lnTo>
                    <a:lnTo>
                      <a:pt x="6740" y="2888"/>
                    </a:lnTo>
                    <a:lnTo>
                      <a:pt x="6829" y="2699"/>
                    </a:lnTo>
                    <a:lnTo>
                      <a:pt x="6920" y="2513"/>
                    </a:lnTo>
                    <a:lnTo>
                      <a:pt x="7009" y="2329"/>
                    </a:lnTo>
                    <a:lnTo>
                      <a:pt x="7100" y="2149"/>
                    </a:lnTo>
                    <a:lnTo>
                      <a:pt x="7190" y="1973"/>
                    </a:lnTo>
                    <a:lnTo>
                      <a:pt x="7279" y="1801"/>
                    </a:lnTo>
                    <a:lnTo>
                      <a:pt x="7370" y="1634"/>
                    </a:lnTo>
                    <a:lnTo>
                      <a:pt x="7459" y="1472"/>
                    </a:lnTo>
                    <a:lnTo>
                      <a:pt x="7548" y="1317"/>
                    </a:lnTo>
                    <a:lnTo>
                      <a:pt x="7639" y="1168"/>
                    </a:lnTo>
                    <a:lnTo>
                      <a:pt x="7729" y="1027"/>
                    </a:lnTo>
                    <a:lnTo>
                      <a:pt x="7818" y="893"/>
                    </a:lnTo>
                    <a:lnTo>
                      <a:pt x="7909" y="766"/>
                    </a:lnTo>
                    <a:lnTo>
                      <a:pt x="7998" y="648"/>
                    </a:lnTo>
                    <a:lnTo>
                      <a:pt x="8088" y="539"/>
                    </a:lnTo>
                    <a:lnTo>
                      <a:pt x="8178" y="438"/>
                    </a:lnTo>
                    <a:lnTo>
                      <a:pt x="8268" y="348"/>
                    </a:lnTo>
                    <a:lnTo>
                      <a:pt x="8358" y="268"/>
                    </a:lnTo>
                    <a:lnTo>
                      <a:pt x="8448" y="198"/>
                    </a:lnTo>
                    <a:lnTo>
                      <a:pt x="8537" y="137"/>
                    </a:lnTo>
                    <a:lnTo>
                      <a:pt x="8628" y="88"/>
                    </a:lnTo>
                    <a:lnTo>
                      <a:pt x="8717" y="49"/>
                    </a:lnTo>
                    <a:lnTo>
                      <a:pt x="8807" y="22"/>
                    </a:lnTo>
                    <a:lnTo>
                      <a:pt x="8898" y="5"/>
                    </a:lnTo>
                    <a:lnTo>
                      <a:pt x="8987" y="0"/>
                    </a:lnTo>
                    <a:lnTo>
                      <a:pt x="9076" y="5"/>
                    </a:lnTo>
                    <a:lnTo>
                      <a:pt x="9167" y="22"/>
                    </a:lnTo>
                    <a:lnTo>
                      <a:pt x="9256" y="49"/>
                    </a:lnTo>
                    <a:lnTo>
                      <a:pt x="9346" y="88"/>
                    </a:lnTo>
                    <a:lnTo>
                      <a:pt x="9437" y="137"/>
                    </a:lnTo>
                    <a:lnTo>
                      <a:pt x="9526" y="198"/>
                    </a:lnTo>
                    <a:lnTo>
                      <a:pt x="9615" y="268"/>
                    </a:lnTo>
                    <a:lnTo>
                      <a:pt x="9706" y="348"/>
                    </a:lnTo>
                    <a:lnTo>
                      <a:pt x="9796" y="438"/>
                    </a:lnTo>
                    <a:lnTo>
                      <a:pt x="9886" y="539"/>
                    </a:lnTo>
                    <a:lnTo>
                      <a:pt x="9976" y="648"/>
                    </a:lnTo>
                    <a:lnTo>
                      <a:pt x="10065" y="766"/>
                    </a:lnTo>
                    <a:lnTo>
                      <a:pt x="10156" y="893"/>
                    </a:lnTo>
                    <a:lnTo>
                      <a:pt x="10245" y="1027"/>
                    </a:lnTo>
                    <a:lnTo>
                      <a:pt x="10335" y="1168"/>
                    </a:lnTo>
                    <a:lnTo>
                      <a:pt x="10425" y="1317"/>
                    </a:lnTo>
                    <a:lnTo>
                      <a:pt x="10515" y="1472"/>
                    </a:lnTo>
                    <a:lnTo>
                      <a:pt x="10604" y="1634"/>
                    </a:lnTo>
                    <a:lnTo>
                      <a:pt x="10695" y="1801"/>
                    </a:lnTo>
                    <a:lnTo>
                      <a:pt x="10784" y="1973"/>
                    </a:lnTo>
                    <a:lnTo>
                      <a:pt x="10874" y="2149"/>
                    </a:lnTo>
                    <a:lnTo>
                      <a:pt x="10964" y="2329"/>
                    </a:lnTo>
                    <a:lnTo>
                      <a:pt x="11054" y="2513"/>
                    </a:lnTo>
                    <a:lnTo>
                      <a:pt x="11145" y="2699"/>
                    </a:lnTo>
                    <a:lnTo>
                      <a:pt x="11234" y="2888"/>
                    </a:lnTo>
                    <a:lnTo>
                      <a:pt x="11323" y="3078"/>
                    </a:lnTo>
                    <a:lnTo>
                      <a:pt x="11414" y="3270"/>
                    </a:lnTo>
                    <a:lnTo>
                      <a:pt x="11504" y="3462"/>
                    </a:lnTo>
                    <a:lnTo>
                      <a:pt x="11593" y="3655"/>
                    </a:lnTo>
                    <a:lnTo>
                      <a:pt x="11684" y="3848"/>
                    </a:lnTo>
                    <a:lnTo>
                      <a:pt x="11773" y="4040"/>
                    </a:lnTo>
                    <a:lnTo>
                      <a:pt x="11863" y="4231"/>
                    </a:lnTo>
                    <a:lnTo>
                      <a:pt x="11953" y="4420"/>
                    </a:lnTo>
                    <a:lnTo>
                      <a:pt x="12043" y="4608"/>
                    </a:lnTo>
                    <a:lnTo>
                      <a:pt x="12132" y="4793"/>
                    </a:lnTo>
                    <a:lnTo>
                      <a:pt x="12223" y="4975"/>
                    </a:lnTo>
                    <a:lnTo>
                      <a:pt x="12312" y="5155"/>
                    </a:lnTo>
                    <a:lnTo>
                      <a:pt x="12402" y="5331"/>
                    </a:lnTo>
                    <a:lnTo>
                      <a:pt x="12492" y="5504"/>
                    </a:lnTo>
                    <a:lnTo>
                      <a:pt x="12582" y="5673"/>
                    </a:lnTo>
                    <a:lnTo>
                      <a:pt x="12672" y="5838"/>
                    </a:lnTo>
                    <a:lnTo>
                      <a:pt x="12762" y="5999"/>
                    </a:lnTo>
                    <a:lnTo>
                      <a:pt x="12851" y="6155"/>
                    </a:lnTo>
                    <a:lnTo>
                      <a:pt x="12942" y="6307"/>
                    </a:lnTo>
                    <a:lnTo>
                      <a:pt x="13031" y="6454"/>
                    </a:lnTo>
                    <a:lnTo>
                      <a:pt x="13121" y="6597"/>
                    </a:lnTo>
                    <a:lnTo>
                      <a:pt x="13212" y="6734"/>
                    </a:lnTo>
                    <a:lnTo>
                      <a:pt x="13301" y="6867"/>
                    </a:lnTo>
                    <a:lnTo>
                      <a:pt x="13390" y="6995"/>
                    </a:lnTo>
                    <a:lnTo>
                      <a:pt x="13481" y="7118"/>
                    </a:lnTo>
                    <a:lnTo>
                      <a:pt x="13571" y="7236"/>
                    </a:lnTo>
                    <a:lnTo>
                      <a:pt x="13660" y="7348"/>
                    </a:lnTo>
                    <a:lnTo>
                      <a:pt x="13751" y="7456"/>
                    </a:lnTo>
                    <a:lnTo>
                      <a:pt x="13840" y="7559"/>
                    </a:lnTo>
                    <a:lnTo>
                      <a:pt x="13931" y="7658"/>
                    </a:lnTo>
                    <a:lnTo>
                      <a:pt x="14020" y="7751"/>
                    </a:lnTo>
                    <a:lnTo>
                      <a:pt x="14110" y="7840"/>
                    </a:lnTo>
                    <a:lnTo>
                      <a:pt x="14200" y="7924"/>
                    </a:lnTo>
                    <a:lnTo>
                      <a:pt x="14290" y="8005"/>
                    </a:lnTo>
                    <a:lnTo>
                      <a:pt x="14379" y="8081"/>
                    </a:lnTo>
                    <a:lnTo>
                      <a:pt x="14470" y="8152"/>
                    </a:lnTo>
                    <a:lnTo>
                      <a:pt x="14559" y="8219"/>
                    </a:lnTo>
                    <a:lnTo>
                      <a:pt x="14649" y="8283"/>
                    </a:lnTo>
                    <a:lnTo>
                      <a:pt x="14739" y="8342"/>
                    </a:lnTo>
                    <a:lnTo>
                      <a:pt x="14829" y="8399"/>
                    </a:lnTo>
                    <a:lnTo>
                      <a:pt x="14918" y="8451"/>
                    </a:lnTo>
                    <a:lnTo>
                      <a:pt x="15009" y="8501"/>
                    </a:lnTo>
                    <a:lnTo>
                      <a:pt x="15098" y="8547"/>
                    </a:lnTo>
                    <a:lnTo>
                      <a:pt x="15188" y="8589"/>
                    </a:lnTo>
                    <a:lnTo>
                      <a:pt x="15279" y="8630"/>
                    </a:lnTo>
                    <a:lnTo>
                      <a:pt x="15368" y="8667"/>
                    </a:lnTo>
                    <a:lnTo>
                      <a:pt x="15459" y="8702"/>
                    </a:lnTo>
                    <a:lnTo>
                      <a:pt x="15548" y="8734"/>
                    </a:lnTo>
                    <a:lnTo>
                      <a:pt x="15637" y="8764"/>
                    </a:lnTo>
                    <a:lnTo>
                      <a:pt x="15728" y="8793"/>
                    </a:lnTo>
                    <a:lnTo>
                      <a:pt x="15818" y="8817"/>
                    </a:lnTo>
                    <a:lnTo>
                      <a:pt x="15907" y="8842"/>
                    </a:lnTo>
                    <a:lnTo>
                      <a:pt x="15998" y="8862"/>
                    </a:lnTo>
                    <a:lnTo>
                      <a:pt x="16087" y="8883"/>
                    </a:lnTo>
                    <a:lnTo>
                      <a:pt x="16177" y="8901"/>
                    </a:lnTo>
                    <a:lnTo>
                      <a:pt x="16267" y="8918"/>
                    </a:lnTo>
                    <a:lnTo>
                      <a:pt x="16357" y="8934"/>
                    </a:lnTo>
                    <a:lnTo>
                      <a:pt x="16446" y="8948"/>
                    </a:lnTo>
                    <a:lnTo>
                      <a:pt x="16537" y="8961"/>
                    </a:lnTo>
                    <a:lnTo>
                      <a:pt x="16626" y="8972"/>
                    </a:lnTo>
                    <a:lnTo>
                      <a:pt x="16717" y="8984"/>
                    </a:lnTo>
                    <a:lnTo>
                      <a:pt x="16806" y="8993"/>
                    </a:lnTo>
                    <a:lnTo>
                      <a:pt x="16896" y="9002"/>
                    </a:lnTo>
                    <a:lnTo>
                      <a:pt x="16986" y="9011"/>
                    </a:lnTo>
                    <a:lnTo>
                      <a:pt x="17076" y="9018"/>
                    </a:lnTo>
                    <a:lnTo>
                      <a:pt x="17165" y="9024"/>
                    </a:lnTo>
                    <a:lnTo>
                      <a:pt x="17256" y="9031"/>
                    </a:lnTo>
                    <a:lnTo>
                      <a:pt x="17345" y="9036"/>
                    </a:lnTo>
                    <a:lnTo>
                      <a:pt x="17435" y="9041"/>
                    </a:lnTo>
                    <a:lnTo>
                      <a:pt x="17526" y="9046"/>
                    </a:lnTo>
                    <a:lnTo>
                      <a:pt x="17615" y="9050"/>
                    </a:lnTo>
                    <a:lnTo>
                      <a:pt x="17704" y="9053"/>
                    </a:lnTo>
                    <a:lnTo>
                      <a:pt x="17795" y="9057"/>
                    </a:lnTo>
                    <a:lnTo>
                      <a:pt x="17885" y="9059"/>
                    </a:lnTo>
                  </a:path>
                </a:pathLst>
              </a:custGeom>
              <a:noFill/>
              <a:ln cap="flat" cmpd="sng" w="38100">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820" name="Google Shape;820;p75"/>
              <p:cNvCxnSpPr/>
              <p:nvPr/>
            </p:nvCxnSpPr>
            <p:spPr>
              <a:xfrm>
                <a:off x="2789" y="2103"/>
                <a:ext cx="2676" cy="0"/>
              </a:xfrm>
              <a:prstGeom prst="straightConnector1">
                <a:avLst/>
              </a:prstGeom>
              <a:noFill/>
              <a:ln cap="flat" cmpd="sng" w="38100">
                <a:solidFill>
                  <a:srgbClr val="000000"/>
                </a:solidFill>
                <a:prstDash val="solid"/>
                <a:round/>
                <a:headEnd len="med" w="med" type="none"/>
                <a:tailEnd len="med" w="med" type="none"/>
              </a:ln>
            </p:spPr>
          </p:cxnSp>
        </p:grpSp>
        <p:sp>
          <p:nvSpPr>
            <p:cNvPr id="821" name="Google Shape;821;p75"/>
            <p:cNvSpPr txBox="1"/>
            <p:nvPr/>
          </p:nvSpPr>
          <p:spPr>
            <a:xfrm>
              <a:off x="4014" y="2061"/>
              <a:ext cx="227" cy="53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tr-TR" sz="2800">
                  <a:solidFill>
                    <a:schemeClr val="dk1"/>
                  </a:solidFill>
                  <a:latin typeface="Times New Roman"/>
                  <a:ea typeface="Times New Roman"/>
                  <a:cs typeface="Times New Roman"/>
                  <a:sym typeface="Times New Roman"/>
                </a:rPr>
                <a:t>0</a:t>
              </a:r>
              <a:endParaRPr/>
            </a:p>
          </p:txBody>
        </p:sp>
      </p:grpSp>
      <p:grpSp>
        <p:nvGrpSpPr>
          <p:cNvPr id="822" name="Google Shape;822;p75"/>
          <p:cNvGrpSpPr/>
          <p:nvPr/>
        </p:nvGrpSpPr>
        <p:grpSpPr>
          <a:xfrm>
            <a:off x="4067175" y="4451350"/>
            <a:ext cx="4248150" cy="1785938"/>
            <a:chOff x="2789" y="754"/>
            <a:chExt cx="2676" cy="1843"/>
          </a:xfrm>
        </p:grpSpPr>
        <p:grpSp>
          <p:nvGrpSpPr>
            <p:cNvPr id="823" name="Google Shape;823;p75"/>
            <p:cNvGrpSpPr/>
            <p:nvPr/>
          </p:nvGrpSpPr>
          <p:grpSpPr>
            <a:xfrm>
              <a:off x="2789" y="754"/>
              <a:ext cx="2676" cy="1349"/>
              <a:chOff x="2789" y="754"/>
              <a:chExt cx="2676" cy="1349"/>
            </a:xfrm>
          </p:grpSpPr>
          <p:sp>
            <p:nvSpPr>
              <p:cNvPr id="824" name="Google Shape;824;p75"/>
              <p:cNvSpPr/>
              <p:nvPr/>
            </p:nvSpPr>
            <p:spPr>
              <a:xfrm>
                <a:off x="2812" y="754"/>
                <a:ext cx="2653" cy="1326"/>
              </a:xfrm>
              <a:custGeom>
                <a:rect b="b" l="l" r="r" t="t"/>
                <a:pathLst>
                  <a:path extrusionOk="0" h="9062" w="17885">
                    <a:moveTo>
                      <a:pt x="0" y="9062"/>
                    </a:moveTo>
                    <a:lnTo>
                      <a:pt x="89" y="9059"/>
                    </a:lnTo>
                    <a:lnTo>
                      <a:pt x="179" y="9057"/>
                    </a:lnTo>
                    <a:lnTo>
                      <a:pt x="269" y="9053"/>
                    </a:lnTo>
                    <a:lnTo>
                      <a:pt x="359" y="9050"/>
                    </a:lnTo>
                    <a:lnTo>
                      <a:pt x="448" y="9046"/>
                    </a:lnTo>
                    <a:lnTo>
                      <a:pt x="539" y="9041"/>
                    </a:lnTo>
                    <a:lnTo>
                      <a:pt x="628" y="9036"/>
                    </a:lnTo>
                    <a:lnTo>
                      <a:pt x="718" y="9031"/>
                    </a:lnTo>
                    <a:lnTo>
                      <a:pt x="809" y="9024"/>
                    </a:lnTo>
                    <a:lnTo>
                      <a:pt x="898" y="9018"/>
                    </a:lnTo>
                    <a:lnTo>
                      <a:pt x="987" y="9011"/>
                    </a:lnTo>
                    <a:lnTo>
                      <a:pt x="1078" y="9002"/>
                    </a:lnTo>
                    <a:lnTo>
                      <a:pt x="1167" y="8993"/>
                    </a:lnTo>
                    <a:lnTo>
                      <a:pt x="1257" y="8984"/>
                    </a:lnTo>
                    <a:lnTo>
                      <a:pt x="1348" y="8972"/>
                    </a:lnTo>
                    <a:lnTo>
                      <a:pt x="1437" y="8961"/>
                    </a:lnTo>
                    <a:lnTo>
                      <a:pt x="1528" y="8948"/>
                    </a:lnTo>
                    <a:lnTo>
                      <a:pt x="1617" y="8934"/>
                    </a:lnTo>
                    <a:lnTo>
                      <a:pt x="1707" y="8918"/>
                    </a:lnTo>
                    <a:lnTo>
                      <a:pt x="1797" y="8901"/>
                    </a:lnTo>
                    <a:lnTo>
                      <a:pt x="1887" y="8883"/>
                    </a:lnTo>
                    <a:lnTo>
                      <a:pt x="1976" y="8862"/>
                    </a:lnTo>
                    <a:lnTo>
                      <a:pt x="2067" y="8842"/>
                    </a:lnTo>
                    <a:lnTo>
                      <a:pt x="2156" y="8817"/>
                    </a:lnTo>
                    <a:lnTo>
                      <a:pt x="2246" y="8793"/>
                    </a:lnTo>
                    <a:lnTo>
                      <a:pt x="2336" y="8764"/>
                    </a:lnTo>
                    <a:lnTo>
                      <a:pt x="2426" y="8734"/>
                    </a:lnTo>
                    <a:lnTo>
                      <a:pt x="2515" y="8702"/>
                    </a:lnTo>
                    <a:lnTo>
                      <a:pt x="2606" y="8667"/>
                    </a:lnTo>
                    <a:lnTo>
                      <a:pt x="2695" y="8630"/>
                    </a:lnTo>
                    <a:lnTo>
                      <a:pt x="2786" y="8589"/>
                    </a:lnTo>
                    <a:lnTo>
                      <a:pt x="2875" y="8547"/>
                    </a:lnTo>
                    <a:lnTo>
                      <a:pt x="2965" y="8501"/>
                    </a:lnTo>
                    <a:lnTo>
                      <a:pt x="3056" y="8451"/>
                    </a:lnTo>
                    <a:lnTo>
                      <a:pt x="3145" y="8399"/>
                    </a:lnTo>
                    <a:lnTo>
                      <a:pt x="3234" y="8342"/>
                    </a:lnTo>
                    <a:lnTo>
                      <a:pt x="3325" y="8283"/>
                    </a:lnTo>
                    <a:lnTo>
                      <a:pt x="3415" y="8219"/>
                    </a:lnTo>
                    <a:lnTo>
                      <a:pt x="3504" y="8152"/>
                    </a:lnTo>
                    <a:lnTo>
                      <a:pt x="3595" y="8081"/>
                    </a:lnTo>
                    <a:lnTo>
                      <a:pt x="3684" y="8005"/>
                    </a:lnTo>
                    <a:lnTo>
                      <a:pt x="3774" y="7924"/>
                    </a:lnTo>
                    <a:lnTo>
                      <a:pt x="3864" y="7840"/>
                    </a:lnTo>
                    <a:lnTo>
                      <a:pt x="3954" y="7751"/>
                    </a:lnTo>
                    <a:lnTo>
                      <a:pt x="4043" y="7658"/>
                    </a:lnTo>
                    <a:lnTo>
                      <a:pt x="4134" y="7559"/>
                    </a:lnTo>
                    <a:lnTo>
                      <a:pt x="4223" y="7456"/>
                    </a:lnTo>
                    <a:lnTo>
                      <a:pt x="4314" y="7348"/>
                    </a:lnTo>
                    <a:lnTo>
                      <a:pt x="4403" y="7236"/>
                    </a:lnTo>
                    <a:lnTo>
                      <a:pt x="4493" y="7118"/>
                    </a:lnTo>
                    <a:lnTo>
                      <a:pt x="4583" y="6995"/>
                    </a:lnTo>
                    <a:lnTo>
                      <a:pt x="4673" y="6867"/>
                    </a:lnTo>
                    <a:lnTo>
                      <a:pt x="4762" y="6734"/>
                    </a:lnTo>
                    <a:lnTo>
                      <a:pt x="4853" y="6597"/>
                    </a:lnTo>
                    <a:lnTo>
                      <a:pt x="4942" y="6454"/>
                    </a:lnTo>
                    <a:lnTo>
                      <a:pt x="5032" y="6307"/>
                    </a:lnTo>
                    <a:lnTo>
                      <a:pt x="5123" y="6155"/>
                    </a:lnTo>
                    <a:lnTo>
                      <a:pt x="5212" y="5999"/>
                    </a:lnTo>
                    <a:lnTo>
                      <a:pt x="5301" y="5838"/>
                    </a:lnTo>
                    <a:lnTo>
                      <a:pt x="5392" y="5673"/>
                    </a:lnTo>
                    <a:lnTo>
                      <a:pt x="5482" y="5504"/>
                    </a:lnTo>
                    <a:lnTo>
                      <a:pt x="5572" y="5331"/>
                    </a:lnTo>
                    <a:lnTo>
                      <a:pt x="5662" y="5155"/>
                    </a:lnTo>
                    <a:lnTo>
                      <a:pt x="5751" y="4975"/>
                    </a:lnTo>
                    <a:lnTo>
                      <a:pt x="5842" y="4793"/>
                    </a:lnTo>
                    <a:lnTo>
                      <a:pt x="5931" y="4608"/>
                    </a:lnTo>
                    <a:lnTo>
                      <a:pt x="6021" y="4420"/>
                    </a:lnTo>
                    <a:lnTo>
                      <a:pt x="6111" y="4231"/>
                    </a:lnTo>
                    <a:lnTo>
                      <a:pt x="6201" y="4040"/>
                    </a:lnTo>
                    <a:lnTo>
                      <a:pt x="6290" y="3848"/>
                    </a:lnTo>
                    <a:lnTo>
                      <a:pt x="6381" y="3655"/>
                    </a:lnTo>
                    <a:lnTo>
                      <a:pt x="6470" y="3462"/>
                    </a:lnTo>
                    <a:lnTo>
                      <a:pt x="6560" y="3270"/>
                    </a:lnTo>
                    <a:lnTo>
                      <a:pt x="6650" y="3078"/>
                    </a:lnTo>
                    <a:lnTo>
                      <a:pt x="6740" y="2888"/>
                    </a:lnTo>
                    <a:lnTo>
                      <a:pt x="6829" y="2699"/>
                    </a:lnTo>
                    <a:lnTo>
                      <a:pt x="6920" y="2513"/>
                    </a:lnTo>
                    <a:lnTo>
                      <a:pt x="7009" y="2329"/>
                    </a:lnTo>
                    <a:lnTo>
                      <a:pt x="7100" y="2149"/>
                    </a:lnTo>
                    <a:lnTo>
                      <a:pt x="7190" y="1973"/>
                    </a:lnTo>
                    <a:lnTo>
                      <a:pt x="7279" y="1801"/>
                    </a:lnTo>
                    <a:lnTo>
                      <a:pt x="7370" y="1634"/>
                    </a:lnTo>
                    <a:lnTo>
                      <a:pt x="7459" y="1472"/>
                    </a:lnTo>
                    <a:lnTo>
                      <a:pt x="7548" y="1317"/>
                    </a:lnTo>
                    <a:lnTo>
                      <a:pt x="7639" y="1168"/>
                    </a:lnTo>
                    <a:lnTo>
                      <a:pt x="7729" y="1027"/>
                    </a:lnTo>
                    <a:lnTo>
                      <a:pt x="7818" y="893"/>
                    </a:lnTo>
                    <a:lnTo>
                      <a:pt x="7909" y="766"/>
                    </a:lnTo>
                    <a:lnTo>
                      <a:pt x="7998" y="648"/>
                    </a:lnTo>
                    <a:lnTo>
                      <a:pt x="8088" y="539"/>
                    </a:lnTo>
                    <a:lnTo>
                      <a:pt x="8178" y="438"/>
                    </a:lnTo>
                    <a:lnTo>
                      <a:pt x="8268" y="348"/>
                    </a:lnTo>
                    <a:lnTo>
                      <a:pt x="8358" y="268"/>
                    </a:lnTo>
                    <a:lnTo>
                      <a:pt x="8448" y="198"/>
                    </a:lnTo>
                    <a:lnTo>
                      <a:pt x="8537" y="137"/>
                    </a:lnTo>
                    <a:lnTo>
                      <a:pt x="8628" y="88"/>
                    </a:lnTo>
                    <a:lnTo>
                      <a:pt x="8717" y="49"/>
                    </a:lnTo>
                    <a:lnTo>
                      <a:pt x="8807" y="22"/>
                    </a:lnTo>
                    <a:lnTo>
                      <a:pt x="8898" y="5"/>
                    </a:lnTo>
                    <a:lnTo>
                      <a:pt x="8987" y="0"/>
                    </a:lnTo>
                    <a:lnTo>
                      <a:pt x="9076" y="5"/>
                    </a:lnTo>
                    <a:lnTo>
                      <a:pt x="9167" y="22"/>
                    </a:lnTo>
                    <a:lnTo>
                      <a:pt x="9256" y="49"/>
                    </a:lnTo>
                    <a:lnTo>
                      <a:pt x="9346" y="88"/>
                    </a:lnTo>
                    <a:lnTo>
                      <a:pt x="9437" y="137"/>
                    </a:lnTo>
                    <a:lnTo>
                      <a:pt x="9526" y="198"/>
                    </a:lnTo>
                    <a:lnTo>
                      <a:pt x="9615" y="268"/>
                    </a:lnTo>
                    <a:lnTo>
                      <a:pt x="9706" y="348"/>
                    </a:lnTo>
                    <a:lnTo>
                      <a:pt x="9796" y="438"/>
                    </a:lnTo>
                    <a:lnTo>
                      <a:pt x="9886" y="539"/>
                    </a:lnTo>
                    <a:lnTo>
                      <a:pt x="9976" y="648"/>
                    </a:lnTo>
                    <a:lnTo>
                      <a:pt x="10065" y="766"/>
                    </a:lnTo>
                    <a:lnTo>
                      <a:pt x="10156" y="893"/>
                    </a:lnTo>
                    <a:lnTo>
                      <a:pt x="10245" y="1027"/>
                    </a:lnTo>
                    <a:lnTo>
                      <a:pt x="10335" y="1168"/>
                    </a:lnTo>
                    <a:lnTo>
                      <a:pt x="10425" y="1317"/>
                    </a:lnTo>
                    <a:lnTo>
                      <a:pt x="10515" y="1472"/>
                    </a:lnTo>
                    <a:lnTo>
                      <a:pt x="10604" y="1634"/>
                    </a:lnTo>
                    <a:lnTo>
                      <a:pt x="10695" y="1801"/>
                    </a:lnTo>
                    <a:lnTo>
                      <a:pt x="10784" y="1973"/>
                    </a:lnTo>
                    <a:lnTo>
                      <a:pt x="10874" y="2149"/>
                    </a:lnTo>
                    <a:lnTo>
                      <a:pt x="10964" y="2329"/>
                    </a:lnTo>
                    <a:lnTo>
                      <a:pt x="11054" y="2513"/>
                    </a:lnTo>
                    <a:lnTo>
                      <a:pt x="11145" y="2699"/>
                    </a:lnTo>
                    <a:lnTo>
                      <a:pt x="11234" y="2888"/>
                    </a:lnTo>
                    <a:lnTo>
                      <a:pt x="11323" y="3078"/>
                    </a:lnTo>
                    <a:lnTo>
                      <a:pt x="11414" y="3270"/>
                    </a:lnTo>
                    <a:lnTo>
                      <a:pt x="11504" y="3462"/>
                    </a:lnTo>
                    <a:lnTo>
                      <a:pt x="11593" y="3655"/>
                    </a:lnTo>
                    <a:lnTo>
                      <a:pt x="11684" y="3848"/>
                    </a:lnTo>
                    <a:lnTo>
                      <a:pt x="11773" y="4040"/>
                    </a:lnTo>
                    <a:lnTo>
                      <a:pt x="11863" y="4231"/>
                    </a:lnTo>
                    <a:lnTo>
                      <a:pt x="11953" y="4420"/>
                    </a:lnTo>
                    <a:lnTo>
                      <a:pt x="12043" y="4608"/>
                    </a:lnTo>
                    <a:lnTo>
                      <a:pt x="12132" y="4793"/>
                    </a:lnTo>
                    <a:lnTo>
                      <a:pt x="12223" y="4975"/>
                    </a:lnTo>
                    <a:lnTo>
                      <a:pt x="12312" y="5155"/>
                    </a:lnTo>
                    <a:lnTo>
                      <a:pt x="12402" y="5331"/>
                    </a:lnTo>
                    <a:lnTo>
                      <a:pt x="12492" y="5504"/>
                    </a:lnTo>
                    <a:lnTo>
                      <a:pt x="12582" y="5673"/>
                    </a:lnTo>
                    <a:lnTo>
                      <a:pt x="12672" y="5838"/>
                    </a:lnTo>
                    <a:lnTo>
                      <a:pt x="12762" y="5999"/>
                    </a:lnTo>
                    <a:lnTo>
                      <a:pt x="12851" y="6155"/>
                    </a:lnTo>
                    <a:lnTo>
                      <a:pt x="12942" y="6307"/>
                    </a:lnTo>
                    <a:lnTo>
                      <a:pt x="13031" y="6454"/>
                    </a:lnTo>
                    <a:lnTo>
                      <a:pt x="13121" y="6597"/>
                    </a:lnTo>
                    <a:lnTo>
                      <a:pt x="13212" y="6734"/>
                    </a:lnTo>
                    <a:lnTo>
                      <a:pt x="13301" y="6867"/>
                    </a:lnTo>
                    <a:lnTo>
                      <a:pt x="13390" y="6995"/>
                    </a:lnTo>
                    <a:lnTo>
                      <a:pt x="13481" y="7118"/>
                    </a:lnTo>
                    <a:lnTo>
                      <a:pt x="13571" y="7236"/>
                    </a:lnTo>
                    <a:lnTo>
                      <a:pt x="13660" y="7348"/>
                    </a:lnTo>
                    <a:lnTo>
                      <a:pt x="13751" y="7456"/>
                    </a:lnTo>
                    <a:lnTo>
                      <a:pt x="13840" y="7559"/>
                    </a:lnTo>
                    <a:lnTo>
                      <a:pt x="13931" y="7658"/>
                    </a:lnTo>
                    <a:lnTo>
                      <a:pt x="14020" y="7751"/>
                    </a:lnTo>
                    <a:lnTo>
                      <a:pt x="14110" y="7840"/>
                    </a:lnTo>
                    <a:lnTo>
                      <a:pt x="14200" y="7924"/>
                    </a:lnTo>
                    <a:lnTo>
                      <a:pt x="14290" y="8005"/>
                    </a:lnTo>
                    <a:lnTo>
                      <a:pt x="14379" y="8081"/>
                    </a:lnTo>
                    <a:lnTo>
                      <a:pt x="14470" y="8152"/>
                    </a:lnTo>
                    <a:lnTo>
                      <a:pt x="14559" y="8219"/>
                    </a:lnTo>
                    <a:lnTo>
                      <a:pt x="14649" y="8283"/>
                    </a:lnTo>
                    <a:lnTo>
                      <a:pt x="14739" y="8342"/>
                    </a:lnTo>
                    <a:lnTo>
                      <a:pt x="14829" y="8399"/>
                    </a:lnTo>
                    <a:lnTo>
                      <a:pt x="14918" y="8451"/>
                    </a:lnTo>
                    <a:lnTo>
                      <a:pt x="15009" y="8501"/>
                    </a:lnTo>
                    <a:lnTo>
                      <a:pt x="15098" y="8547"/>
                    </a:lnTo>
                    <a:lnTo>
                      <a:pt x="15188" y="8589"/>
                    </a:lnTo>
                    <a:lnTo>
                      <a:pt x="15279" y="8630"/>
                    </a:lnTo>
                    <a:lnTo>
                      <a:pt x="15368" y="8667"/>
                    </a:lnTo>
                    <a:lnTo>
                      <a:pt x="15459" y="8702"/>
                    </a:lnTo>
                    <a:lnTo>
                      <a:pt x="15548" y="8734"/>
                    </a:lnTo>
                    <a:lnTo>
                      <a:pt x="15637" y="8764"/>
                    </a:lnTo>
                    <a:lnTo>
                      <a:pt x="15728" y="8793"/>
                    </a:lnTo>
                    <a:lnTo>
                      <a:pt x="15818" y="8817"/>
                    </a:lnTo>
                    <a:lnTo>
                      <a:pt x="15907" y="8842"/>
                    </a:lnTo>
                    <a:lnTo>
                      <a:pt x="15998" y="8862"/>
                    </a:lnTo>
                    <a:lnTo>
                      <a:pt x="16087" y="8883"/>
                    </a:lnTo>
                    <a:lnTo>
                      <a:pt x="16177" y="8901"/>
                    </a:lnTo>
                    <a:lnTo>
                      <a:pt x="16267" y="8918"/>
                    </a:lnTo>
                    <a:lnTo>
                      <a:pt x="16357" y="8934"/>
                    </a:lnTo>
                    <a:lnTo>
                      <a:pt x="16446" y="8948"/>
                    </a:lnTo>
                    <a:lnTo>
                      <a:pt x="16537" y="8961"/>
                    </a:lnTo>
                    <a:lnTo>
                      <a:pt x="16626" y="8972"/>
                    </a:lnTo>
                    <a:lnTo>
                      <a:pt x="16717" y="8984"/>
                    </a:lnTo>
                    <a:lnTo>
                      <a:pt x="16806" y="8993"/>
                    </a:lnTo>
                    <a:lnTo>
                      <a:pt x="16896" y="9002"/>
                    </a:lnTo>
                    <a:lnTo>
                      <a:pt x="16986" y="9011"/>
                    </a:lnTo>
                    <a:lnTo>
                      <a:pt x="17076" y="9018"/>
                    </a:lnTo>
                    <a:lnTo>
                      <a:pt x="17165" y="9024"/>
                    </a:lnTo>
                    <a:lnTo>
                      <a:pt x="17256" y="9031"/>
                    </a:lnTo>
                    <a:lnTo>
                      <a:pt x="17345" y="9036"/>
                    </a:lnTo>
                    <a:lnTo>
                      <a:pt x="17435" y="9041"/>
                    </a:lnTo>
                    <a:lnTo>
                      <a:pt x="17526" y="9046"/>
                    </a:lnTo>
                    <a:lnTo>
                      <a:pt x="17615" y="9050"/>
                    </a:lnTo>
                    <a:lnTo>
                      <a:pt x="17704" y="9053"/>
                    </a:lnTo>
                    <a:lnTo>
                      <a:pt x="17795" y="9057"/>
                    </a:lnTo>
                    <a:lnTo>
                      <a:pt x="17885" y="9059"/>
                    </a:lnTo>
                  </a:path>
                </a:pathLst>
              </a:custGeom>
              <a:noFill/>
              <a:ln cap="flat" cmpd="sng" w="38100">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825" name="Google Shape;825;p75"/>
              <p:cNvCxnSpPr/>
              <p:nvPr/>
            </p:nvCxnSpPr>
            <p:spPr>
              <a:xfrm>
                <a:off x="2789" y="2103"/>
                <a:ext cx="2676" cy="0"/>
              </a:xfrm>
              <a:prstGeom prst="straightConnector1">
                <a:avLst/>
              </a:prstGeom>
              <a:noFill/>
              <a:ln cap="flat" cmpd="sng" w="38100">
                <a:solidFill>
                  <a:srgbClr val="000000"/>
                </a:solidFill>
                <a:prstDash val="solid"/>
                <a:round/>
                <a:headEnd len="med" w="med" type="none"/>
                <a:tailEnd len="med" w="med" type="none"/>
              </a:ln>
            </p:spPr>
          </p:cxnSp>
        </p:grpSp>
        <p:sp>
          <p:nvSpPr>
            <p:cNvPr id="826" name="Google Shape;826;p75"/>
            <p:cNvSpPr txBox="1"/>
            <p:nvPr/>
          </p:nvSpPr>
          <p:spPr>
            <a:xfrm>
              <a:off x="4014" y="2061"/>
              <a:ext cx="227" cy="53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tr-TR" sz="2800">
                  <a:solidFill>
                    <a:schemeClr val="dk1"/>
                  </a:solidFill>
                  <a:latin typeface="Times New Roman"/>
                  <a:ea typeface="Times New Roman"/>
                  <a:cs typeface="Times New Roman"/>
                  <a:sym typeface="Times New Roman"/>
                </a:rPr>
                <a:t>0</a:t>
              </a:r>
              <a:endParaRPr/>
            </a:p>
          </p:txBody>
        </p:sp>
      </p:grpSp>
      <p:grpSp>
        <p:nvGrpSpPr>
          <p:cNvPr id="827" name="Google Shape;827;p75"/>
          <p:cNvGrpSpPr/>
          <p:nvPr/>
        </p:nvGrpSpPr>
        <p:grpSpPr>
          <a:xfrm>
            <a:off x="7202488" y="2636838"/>
            <a:ext cx="647700" cy="388937"/>
            <a:chOff x="4513" y="2024"/>
            <a:chExt cx="408" cy="245"/>
          </a:xfrm>
        </p:grpSpPr>
        <p:cxnSp>
          <p:nvCxnSpPr>
            <p:cNvPr id="828" name="Google Shape;828;p75"/>
            <p:cNvCxnSpPr/>
            <p:nvPr/>
          </p:nvCxnSpPr>
          <p:spPr>
            <a:xfrm>
              <a:off x="4513" y="2024"/>
              <a:ext cx="0" cy="227"/>
            </a:xfrm>
            <a:prstGeom prst="straightConnector1">
              <a:avLst/>
            </a:prstGeom>
            <a:noFill/>
            <a:ln cap="flat" cmpd="sng" w="76200">
              <a:solidFill>
                <a:srgbClr val="000000"/>
              </a:solidFill>
              <a:prstDash val="solid"/>
              <a:round/>
              <a:headEnd len="med" w="med" type="none"/>
              <a:tailEnd len="med" w="med" type="none"/>
            </a:ln>
          </p:spPr>
        </p:cxnSp>
        <p:cxnSp>
          <p:nvCxnSpPr>
            <p:cNvPr id="829" name="Google Shape;829;p75"/>
            <p:cNvCxnSpPr/>
            <p:nvPr/>
          </p:nvCxnSpPr>
          <p:spPr>
            <a:xfrm>
              <a:off x="4546" y="2072"/>
              <a:ext cx="0" cy="186"/>
            </a:xfrm>
            <a:prstGeom prst="straightConnector1">
              <a:avLst/>
            </a:prstGeom>
            <a:noFill/>
            <a:ln cap="flat" cmpd="sng" w="76200">
              <a:solidFill>
                <a:srgbClr val="000000"/>
              </a:solidFill>
              <a:prstDash val="solid"/>
              <a:round/>
              <a:headEnd len="med" w="med" type="none"/>
              <a:tailEnd len="med" w="med" type="none"/>
            </a:ln>
          </p:spPr>
        </p:cxnSp>
        <p:cxnSp>
          <p:nvCxnSpPr>
            <p:cNvPr id="830" name="Google Shape;830;p75"/>
            <p:cNvCxnSpPr/>
            <p:nvPr/>
          </p:nvCxnSpPr>
          <p:spPr>
            <a:xfrm>
              <a:off x="4558" y="2069"/>
              <a:ext cx="0" cy="186"/>
            </a:xfrm>
            <a:prstGeom prst="straightConnector1">
              <a:avLst/>
            </a:prstGeom>
            <a:noFill/>
            <a:ln cap="flat" cmpd="sng" w="76200">
              <a:solidFill>
                <a:srgbClr val="000000"/>
              </a:solidFill>
              <a:prstDash val="solid"/>
              <a:round/>
              <a:headEnd len="med" w="med" type="none"/>
              <a:tailEnd len="med" w="med" type="none"/>
            </a:ln>
          </p:spPr>
        </p:cxnSp>
        <p:cxnSp>
          <p:nvCxnSpPr>
            <p:cNvPr id="831" name="Google Shape;831;p75"/>
            <p:cNvCxnSpPr/>
            <p:nvPr/>
          </p:nvCxnSpPr>
          <p:spPr>
            <a:xfrm>
              <a:off x="4604" y="2110"/>
              <a:ext cx="0" cy="159"/>
            </a:xfrm>
            <a:prstGeom prst="straightConnector1">
              <a:avLst/>
            </a:prstGeom>
            <a:noFill/>
            <a:ln cap="flat" cmpd="sng" w="76200">
              <a:solidFill>
                <a:srgbClr val="000000"/>
              </a:solidFill>
              <a:prstDash val="solid"/>
              <a:round/>
              <a:headEnd len="med" w="med" type="none"/>
              <a:tailEnd len="med" w="med" type="none"/>
            </a:ln>
          </p:spPr>
        </p:cxnSp>
        <p:cxnSp>
          <p:nvCxnSpPr>
            <p:cNvPr id="832" name="Google Shape;832;p75"/>
            <p:cNvCxnSpPr/>
            <p:nvPr/>
          </p:nvCxnSpPr>
          <p:spPr>
            <a:xfrm>
              <a:off x="4649" y="2132"/>
              <a:ext cx="0" cy="131"/>
            </a:xfrm>
            <a:prstGeom prst="straightConnector1">
              <a:avLst/>
            </a:prstGeom>
            <a:noFill/>
            <a:ln cap="flat" cmpd="sng" w="76200">
              <a:solidFill>
                <a:srgbClr val="000000"/>
              </a:solidFill>
              <a:prstDash val="solid"/>
              <a:round/>
              <a:headEnd len="med" w="med" type="none"/>
              <a:tailEnd len="med" w="med" type="none"/>
            </a:ln>
          </p:spPr>
        </p:cxnSp>
        <p:cxnSp>
          <p:nvCxnSpPr>
            <p:cNvPr id="833" name="Google Shape;833;p75"/>
            <p:cNvCxnSpPr/>
            <p:nvPr/>
          </p:nvCxnSpPr>
          <p:spPr>
            <a:xfrm>
              <a:off x="4694" y="2150"/>
              <a:ext cx="0" cy="109"/>
            </a:xfrm>
            <a:prstGeom prst="straightConnector1">
              <a:avLst/>
            </a:prstGeom>
            <a:noFill/>
            <a:ln cap="flat" cmpd="sng" w="76200">
              <a:solidFill>
                <a:srgbClr val="000000"/>
              </a:solidFill>
              <a:prstDash val="solid"/>
              <a:round/>
              <a:headEnd len="med" w="med" type="none"/>
              <a:tailEnd len="med" w="med" type="none"/>
            </a:ln>
          </p:spPr>
        </p:cxnSp>
        <p:cxnSp>
          <p:nvCxnSpPr>
            <p:cNvPr id="834" name="Google Shape;834;p75"/>
            <p:cNvCxnSpPr/>
            <p:nvPr/>
          </p:nvCxnSpPr>
          <p:spPr>
            <a:xfrm>
              <a:off x="4740" y="2172"/>
              <a:ext cx="0" cy="91"/>
            </a:xfrm>
            <a:prstGeom prst="straightConnector1">
              <a:avLst/>
            </a:prstGeom>
            <a:noFill/>
            <a:ln cap="flat" cmpd="sng" w="76200">
              <a:solidFill>
                <a:srgbClr val="000000"/>
              </a:solidFill>
              <a:prstDash val="solid"/>
              <a:round/>
              <a:headEnd len="med" w="med" type="none"/>
              <a:tailEnd len="med" w="med" type="none"/>
            </a:ln>
          </p:spPr>
        </p:cxnSp>
        <p:cxnSp>
          <p:nvCxnSpPr>
            <p:cNvPr id="835" name="Google Shape;835;p75"/>
            <p:cNvCxnSpPr/>
            <p:nvPr/>
          </p:nvCxnSpPr>
          <p:spPr>
            <a:xfrm>
              <a:off x="4785" y="2183"/>
              <a:ext cx="0" cy="68"/>
            </a:xfrm>
            <a:prstGeom prst="straightConnector1">
              <a:avLst/>
            </a:prstGeom>
            <a:noFill/>
            <a:ln cap="flat" cmpd="sng" w="76200">
              <a:solidFill>
                <a:srgbClr val="000000"/>
              </a:solidFill>
              <a:prstDash val="solid"/>
              <a:round/>
              <a:headEnd len="med" w="med" type="none"/>
              <a:tailEnd len="med" w="med" type="none"/>
            </a:ln>
          </p:spPr>
        </p:cxnSp>
        <p:cxnSp>
          <p:nvCxnSpPr>
            <p:cNvPr id="836" name="Google Shape;836;p75"/>
            <p:cNvCxnSpPr/>
            <p:nvPr/>
          </p:nvCxnSpPr>
          <p:spPr>
            <a:xfrm>
              <a:off x="4830" y="2205"/>
              <a:ext cx="0" cy="45"/>
            </a:xfrm>
            <a:prstGeom prst="straightConnector1">
              <a:avLst/>
            </a:prstGeom>
            <a:noFill/>
            <a:ln cap="flat" cmpd="sng" w="76200">
              <a:solidFill>
                <a:srgbClr val="000000"/>
              </a:solidFill>
              <a:prstDash val="solid"/>
              <a:round/>
              <a:headEnd len="med" w="med" type="none"/>
              <a:tailEnd len="med" w="med" type="none"/>
            </a:ln>
          </p:spPr>
        </p:cxnSp>
        <p:cxnSp>
          <p:nvCxnSpPr>
            <p:cNvPr id="837" name="Google Shape;837;p75"/>
            <p:cNvCxnSpPr/>
            <p:nvPr/>
          </p:nvCxnSpPr>
          <p:spPr>
            <a:xfrm>
              <a:off x="4876" y="2205"/>
              <a:ext cx="0" cy="45"/>
            </a:xfrm>
            <a:prstGeom prst="straightConnector1">
              <a:avLst/>
            </a:prstGeom>
            <a:noFill/>
            <a:ln cap="flat" cmpd="sng" w="76200">
              <a:solidFill>
                <a:srgbClr val="000000"/>
              </a:solidFill>
              <a:prstDash val="solid"/>
              <a:round/>
              <a:headEnd len="med" w="med" type="none"/>
              <a:tailEnd len="med" w="med" type="none"/>
            </a:ln>
          </p:spPr>
        </p:cxnSp>
        <p:cxnSp>
          <p:nvCxnSpPr>
            <p:cNvPr id="838" name="Google Shape;838;p75"/>
            <p:cNvCxnSpPr/>
            <p:nvPr/>
          </p:nvCxnSpPr>
          <p:spPr>
            <a:xfrm>
              <a:off x="4921" y="2229"/>
              <a:ext cx="0" cy="23"/>
            </a:xfrm>
            <a:prstGeom prst="straightConnector1">
              <a:avLst/>
            </a:prstGeom>
            <a:noFill/>
            <a:ln cap="flat" cmpd="sng" w="76200">
              <a:solidFill>
                <a:srgbClr val="000000"/>
              </a:solidFill>
              <a:prstDash val="solid"/>
              <a:round/>
              <a:headEnd len="med" w="med" type="none"/>
              <a:tailEnd len="med" w="med" type="none"/>
            </a:ln>
          </p:spPr>
        </p:cxnSp>
      </p:grpSp>
      <p:grpSp>
        <p:nvGrpSpPr>
          <p:cNvPr id="839" name="Google Shape;839;p75"/>
          <p:cNvGrpSpPr/>
          <p:nvPr/>
        </p:nvGrpSpPr>
        <p:grpSpPr>
          <a:xfrm>
            <a:off x="7453313" y="5556250"/>
            <a:ext cx="647700" cy="196850"/>
            <a:chOff x="4513" y="2024"/>
            <a:chExt cx="408" cy="245"/>
          </a:xfrm>
        </p:grpSpPr>
        <p:cxnSp>
          <p:nvCxnSpPr>
            <p:cNvPr id="840" name="Google Shape;840;p75"/>
            <p:cNvCxnSpPr/>
            <p:nvPr/>
          </p:nvCxnSpPr>
          <p:spPr>
            <a:xfrm>
              <a:off x="4513" y="2024"/>
              <a:ext cx="0" cy="227"/>
            </a:xfrm>
            <a:prstGeom prst="straightConnector1">
              <a:avLst/>
            </a:prstGeom>
            <a:noFill/>
            <a:ln cap="flat" cmpd="sng" w="76200">
              <a:solidFill>
                <a:srgbClr val="000000"/>
              </a:solidFill>
              <a:prstDash val="solid"/>
              <a:round/>
              <a:headEnd len="med" w="med" type="none"/>
              <a:tailEnd len="med" w="med" type="none"/>
            </a:ln>
          </p:spPr>
        </p:cxnSp>
        <p:cxnSp>
          <p:nvCxnSpPr>
            <p:cNvPr id="841" name="Google Shape;841;p75"/>
            <p:cNvCxnSpPr/>
            <p:nvPr/>
          </p:nvCxnSpPr>
          <p:spPr>
            <a:xfrm>
              <a:off x="4546" y="2072"/>
              <a:ext cx="0" cy="186"/>
            </a:xfrm>
            <a:prstGeom prst="straightConnector1">
              <a:avLst/>
            </a:prstGeom>
            <a:noFill/>
            <a:ln cap="flat" cmpd="sng" w="76200">
              <a:solidFill>
                <a:srgbClr val="000000"/>
              </a:solidFill>
              <a:prstDash val="solid"/>
              <a:round/>
              <a:headEnd len="med" w="med" type="none"/>
              <a:tailEnd len="med" w="med" type="none"/>
            </a:ln>
          </p:spPr>
        </p:cxnSp>
        <p:cxnSp>
          <p:nvCxnSpPr>
            <p:cNvPr id="842" name="Google Shape;842;p75"/>
            <p:cNvCxnSpPr/>
            <p:nvPr/>
          </p:nvCxnSpPr>
          <p:spPr>
            <a:xfrm>
              <a:off x="4558" y="2069"/>
              <a:ext cx="0" cy="186"/>
            </a:xfrm>
            <a:prstGeom prst="straightConnector1">
              <a:avLst/>
            </a:prstGeom>
            <a:noFill/>
            <a:ln cap="flat" cmpd="sng" w="76200">
              <a:solidFill>
                <a:srgbClr val="000000"/>
              </a:solidFill>
              <a:prstDash val="solid"/>
              <a:round/>
              <a:headEnd len="med" w="med" type="none"/>
              <a:tailEnd len="med" w="med" type="none"/>
            </a:ln>
          </p:spPr>
        </p:cxnSp>
        <p:cxnSp>
          <p:nvCxnSpPr>
            <p:cNvPr id="843" name="Google Shape;843;p75"/>
            <p:cNvCxnSpPr/>
            <p:nvPr/>
          </p:nvCxnSpPr>
          <p:spPr>
            <a:xfrm>
              <a:off x="4604" y="2110"/>
              <a:ext cx="0" cy="159"/>
            </a:xfrm>
            <a:prstGeom prst="straightConnector1">
              <a:avLst/>
            </a:prstGeom>
            <a:noFill/>
            <a:ln cap="flat" cmpd="sng" w="76200">
              <a:solidFill>
                <a:srgbClr val="000000"/>
              </a:solidFill>
              <a:prstDash val="solid"/>
              <a:round/>
              <a:headEnd len="med" w="med" type="none"/>
              <a:tailEnd len="med" w="med" type="none"/>
            </a:ln>
          </p:spPr>
        </p:cxnSp>
        <p:cxnSp>
          <p:nvCxnSpPr>
            <p:cNvPr id="844" name="Google Shape;844;p75"/>
            <p:cNvCxnSpPr/>
            <p:nvPr/>
          </p:nvCxnSpPr>
          <p:spPr>
            <a:xfrm>
              <a:off x="4649" y="2132"/>
              <a:ext cx="0" cy="131"/>
            </a:xfrm>
            <a:prstGeom prst="straightConnector1">
              <a:avLst/>
            </a:prstGeom>
            <a:noFill/>
            <a:ln cap="flat" cmpd="sng" w="76200">
              <a:solidFill>
                <a:srgbClr val="000000"/>
              </a:solidFill>
              <a:prstDash val="solid"/>
              <a:round/>
              <a:headEnd len="med" w="med" type="none"/>
              <a:tailEnd len="med" w="med" type="none"/>
            </a:ln>
          </p:spPr>
        </p:cxnSp>
        <p:cxnSp>
          <p:nvCxnSpPr>
            <p:cNvPr id="845" name="Google Shape;845;p75"/>
            <p:cNvCxnSpPr/>
            <p:nvPr/>
          </p:nvCxnSpPr>
          <p:spPr>
            <a:xfrm>
              <a:off x="4694" y="2150"/>
              <a:ext cx="0" cy="109"/>
            </a:xfrm>
            <a:prstGeom prst="straightConnector1">
              <a:avLst/>
            </a:prstGeom>
            <a:noFill/>
            <a:ln cap="flat" cmpd="sng" w="76200">
              <a:solidFill>
                <a:srgbClr val="000000"/>
              </a:solidFill>
              <a:prstDash val="solid"/>
              <a:round/>
              <a:headEnd len="med" w="med" type="none"/>
              <a:tailEnd len="med" w="med" type="none"/>
            </a:ln>
          </p:spPr>
        </p:cxnSp>
        <p:cxnSp>
          <p:nvCxnSpPr>
            <p:cNvPr id="846" name="Google Shape;846;p75"/>
            <p:cNvCxnSpPr/>
            <p:nvPr/>
          </p:nvCxnSpPr>
          <p:spPr>
            <a:xfrm>
              <a:off x="4740" y="2172"/>
              <a:ext cx="0" cy="91"/>
            </a:xfrm>
            <a:prstGeom prst="straightConnector1">
              <a:avLst/>
            </a:prstGeom>
            <a:noFill/>
            <a:ln cap="flat" cmpd="sng" w="76200">
              <a:solidFill>
                <a:srgbClr val="000000"/>
              </a:solidFill>
              <a:prstDash val="solid"/>
              <a:round/>
              <a:headEnd len="med" w="med" type="none"/>
              <a:tailEnd len="med" w="med" type="none"/>
            </a:ln>
          </p:spPr>
        </p:cxnSp>
        <p:cxnSp>
          <p:nvCxnSpPr>
            <p:cNvPr id="847" name="Google Shape;847;p75"/>
            <p:cNvCxnSpPr/>
            <p:nvPr/>
          </p:nvCxnSpPr>
          <p:spPr>
            <a:xfrm>
              <a:off x="4785" y="2183"/>
              <a:ext cx="0" cy="68"/>
            </a:xfrm>
            <a:prstGeom prst="straightConnector1">
              <a:avLst/>
            </a:prstGeom>
            <a:noFill/>
            <a:ln cap="flat" cmpd="sng" w="76200">
              <a:solidFill>
                <a:srgbClr val="000000"/>
              </a:solidFill>
              <a:prstDash val="solid"/>
              <a:round/>
              <a:headEnd len="med" w="med" type="none"/>
              <a:tailEnd len="med" w="med" type="none"/>
            </a:ln>
          </p:spPr>
        </p:cxnSp>
        <p:cxnSp>
          <p:nvCxnSpPr>
            <p:cNvPr id="848" name="Google Shape;848;p75"/>
            <p:cNvCxnSpPr/>
            <p:nvPr/>
          </p:nvCxnSpPr>
          <p:spPr>
            <a:xfrm>
              <a:off x="4830" y="2205"/>
              <a:ext cx="0" cy="45"/>
            </a:xfrm>
            <a:prstGeom prst="straightConnector1">
              <a:avLst/>
            </a:prstGeom>
            <a:noFill/>
            <a:ln cap="flat" cmpd="sng" w="76200">
              <a:solidFill>
                <a:srgbClr val="000000"/>
              </a:solidFill>
              <a:prstDash val="solid"/>
              <a:round/>
              <a:headEnd len="med" w="med" type="none"/>
              <a:tailEnd len="med" w="med" type="none"/>
            </a:ln>
          </p:spPr>
        </p:cxnSp>
        <p:cxnSp>
          <p:nvCxnSpPr>
            <p:cNvPr id="849" name="Google Shape;849;p75"/>
            <p:cNvCxnSpPr/>
            <p:nvPr/>
          </p:nvCxnSpPr>
          <p:spPr>
            <a:xfrm>
              <a:off x="4876" y="2205"/>
              <a:ext cx="0" cy="45"/>
            </a:xfrm>
            <a:prstGeom prst="straightConnector1">
              <a:avLst/>
            </a:prstGeom>
            <a:noFill/>
            <a:ln cap="flat" cmpd="sng" w="76200">
              <a:solidFill>
                <a:srgbClr val="000000"/>
              </a:solidFill>
              <a:prstDash val="solid"/>
              <a:round/>
              <a:headEnd len="med" w="med" type="none"/>
              <a:tailEnd len="med" w="med" type="none"/>
            </a:ln>
          </p:spPr>
        </p:cxnSp>
        <p:cxnSp>
          <p:nvCxnSpPr>
            <p:cNvPr id="850" name="Google Shape;850;p75"/>
            <p:cNvCxnSpPr/>
            <p:nvPr/>
          </p:nvCxnSpPr>
          <p:spPr>
            <a:xfrm>
              <a:off x="4921" y="2229"/>
              <a:ext cx="0" cy="23"/>
            </a:xfrm>
            <a:prstGeom prst="straightConnector1">
              <a:avLst/>
            </a:prstGeom>
            <a:noFill/>
            <a:ln cap="flat" cmpd="sng" w="76200">
              <a:solidFill>
                <a:srgbClr val="000000"/>
              </a:solidFill>
              <a:prstDash val="solid"/>
              <a:round/>
              <a:headEnd len="med" w="med" type="none"/>
              <a:tailEnd len="med" w="med" type="none"/>
            </a:ln>
          </p:spPr>
        </p:cxnSp>
      </p:grpSp>
      <p:grpSp>
        <p:nvGrpSpPr>
          <p:cNvPr id="851" name="Google Shape;851;p75"/>
          <p:cNvGrpSpPr/>
          <p:nvPr/>
        </p:nvGrpSpPr>
        <p:grpSpPr>
          <a:xfrm flipH="1">
            <a:off x="4519613" y="5589588"/>
            <a:ext cx="412750" cy="179387"/>
            <a:chOff x="4513" y="2024"/>
            <a:chExt cx="408" cy="245"/>
          </a:xfrm>
        </p:grpSpPr>
        <p:cxnSp>
          <p:nvCxnSpPr>
            <p:cNvPr id="852" name="Google Shape;852;p75"/>
            <p:cNvCxnSpPr/>
            <p:nvPr/>
          </p:nvCxnSpPr>
          <p:spPr>
            <a:xfrm>
              <a:off x="4513" y="2024"/>
              <a:ext cx="0" cy="227"/>
            </a:xfrm>
            <a:prstGeom prst="straightConnector1">
              <a:avLst/>
            </a:prstGeom>
            <a:noFill/>
            <a:ln cap="flat" cmpd="sng" w="76200">
              <a:solidFill>
                <a:srgbClr val="000000"/>
              </a:solidFill>
              <a:prstDash val="solid"/>
              <a:round/>
              <a:headEnd len="med" w="med" type="none"/>
              <a:tailEnd len="med" w="med" type="none"/>
            </a:ln>
          </p:spPr>
        </p:cxnSp>
        <p:cxnSp>
          <p:nvCxnSpPr>
            <p:cNvPr id="853" name="Google Shape;853;p75"/>
            <p:cNvCxnSpPr/>
            <p:nvPr/>
          </p:nvCxnSpPr>
          <p:spPr>
            <a:xfrm>
              <a:off x="4546" y="2072"/>
              <a:ext cx="0" cy="186"/>
            </a:xfrm>
            <a:prstGeom prst="straightConnector1">
              <a:avLst/>
            </a:prstGeom>
            <a:noFill/>
            <a:ln cap="flat" cmpd="sng" w="76200">
              <a:solidFill>
                <a:srgbClr val="000000"/>
              </a:solidFill>
              <a:prstDash val="solid"/>
              <a:round/>
              <a:headEnd len="med" w="med" type="none"/>
              <a:tailEnd len="med" w="med" type="none"/>
            </a:ln>
          </p:spPr>
        </p:cxnSp>
        <p:cxnSp>
          <p:nvCxnSpPr>
            <p:cNvPr id="854" name="Google Shape;854;p75"/>
            <p:cNvCxnSpPr/>
            <p:nvPr/>
          </p:nvCxnSpPr>
          <p:spPr>
            <a:xfrm>
              <a:off x="4558" y="2069"/>
              <a:ext cx="0" cy="186"/>
            </a:xfrm>
            <a:prstGeom prst="straightConnector1">
              <a:avLst/>
            </a:prstGeom>
            <a:noFill/>
            <a:ln cap="flat" cmpd="sng" w="76200">
              <a:solidFill>
                <a:srgbClr val="000000"/>
              </a:solidFill>
              <a:prstDash val="solid"/>
              <a:round/>
              <a:headEnd len="med" w="med" type="none"/>
              <a:tailEnd len="med" w="med" type="none"/>
            </a:ln>
          </p:spPr>
        </p:cxnSp>
        <p:cxnSp>
          <p:nvCxnSpPr>
            <p:cNvPr id="855" name="Google Shape;855;p75"/>
            <p:cNvCxnSpPr/>
            <p:nvPr/>
          </p:nvCxnSpPr>
          <p:spPr>
            <a:xfrm>
              <a:off x="4604" y="2110"/>
              <a:ext cx="0" cy="159"/>
            </a:xfrm>
            <a:prstGeom prst="straightConnector1">
              <a:avLst/>
            </a:prstGeom>
            <a:noFill/>
            <a:ln cap="flat" cmpd="sng" w="76200">
              <a:solidFill>
                <a:srgbClr val="000000"/>
              </a:solidFill>
              <a:prstDash val="solid"/>
              <a:round/>
              <a:headEnd len="med" w="med" type="none"/>
              <a:tailEnd len="med" w="med" type="none"/>
            </a:ln>
          </p:spPr>
        </p:cxnSp>
        <p:cxnSp>
          <p:nvCxnSpPr>
            <p:cNvPr id="856" name="Google Shape;856;p75"/>
            <p:cNvCxnSpPr/>
            <p:nvPr/>
          </p:nvCxnSpPr>
          <p:spPr>
            <a:xfrm rot="10800000">
              <a:off x="4649" y="2132"/>
              <a:ext cx="0" cy="131"/>
            </a:xfrm>
            <a:prstGeom prst="straightConnector1">
              <a:avLst/>
            </a:prstGeom>
            <a:noFill/>
            <a:ln cap="flat" cmpd="sng" w="76200">
              <a:solidFill>
                <a:srgbClr val="000000"/>
              </a:solidFill>
              <a:prstDash val="solid"/>
              <a:round/>
              <a:headEnd len="med" w="med" type="none"/>
              <a:tailEnd len="med" w="med" type="none"/>
            </a:ln>
          </p:spPr>
        </p:cxnSp>
        <p:cxnSp>
          <p:nvCxnSpPr>
            <p:cNvPr id="857" name="Google Shape;857;p75"/>
            <p:cNvCxnSpPr/>
            <p:nvPr/>
          </p:nvCxnSpPr>
          <p:spPr>
            <a:xfrm>
              <a:off x="4694" y="2150"/>
              <a:ext cx="0" cy="109"/>
            </a:xfrm>
            <a:prstGeom prst="straightConnector1">
              <a:avLst/>
            </a:prstGeom>
            <a:noFill/>
            <a:ln cap="flat" cmpd="sng" w="76200">
              <a:solidFill>
                <a:srgbClr val="000000"/>
              </a:solidFill>
              <a:prstDash val="solid"/>
              <a:round/>
              <a:headEnd len="med" w="med" type="none"/>
              <a:tailEnd len="med" w="med" type="none"/>
            </a:ln>
          </p:spPr>
        </p:cxnSp>
        <p:cxnSp>
          <p:nvCxnSpPr>
            <p:cNvPr id="858" name="Google Shape;858;p75"/>
            <p:cNvCxnSpPr/>
            <p:nvPr/>
          </p:nvCxnSpPr>
          <p:spPr>
            <a:xfrm>
              <a:off x="4740" y="2172"/>
              <a:ext cx="0" cy="91"/>
            </a:xfrm>
            <a:prstGeom prst="straightConnector1">
              <a:avLst/>
            </a:prstGeom>
            <a:noFill/>
            <a:ln cap="flat" cmpd="sng" w="76200">
              <a:solidFill>
                <a:srgbClr val="000000"/>
              </a:solidFill>
              <a:prstDash val="solid"/>
              <a:round/>
              <a:headEnd len="med" w="med" type="none"/>
              <a:tailEnd len="med" w="med" type="none"/>
            </a:ln>
          </p:spPr>
        </p:cxnSp>
        <p:cxnSp>
          <p:nvCxnSpPr>
            <p:cNvPr id="859" name="Google Shape;859;p75"/>
            <p:cNvCxnSpPr/>
            <p:nvPr/>
          </p:nvCxnSpPr>
          <p:spPr>
            <a:xfrm>
              <a:off x="4785" y="2183"/>
              <a:ext cx="0" cy="68"/>
            </a:xfrm>
            <a:prstGeom prst="straightConnector1">
              <a:avLst/>
            </a:prstGeom>
            <a:noFill/>
            <a:ln cap="flat" cmpd="sng" w="76200">
              <a:solidFill>
                <a:srgbClr val="000000"/>
              </a:solidFill>
              <a:prstDash val="solid"/>
              <a:round/>
              <a:headEnd len="med" w="med" type="none"/>
              <a:tailEnd len="med" w="med" type="none"/>
            </a:ln>
          </p:spPr>
        </p:cxnSp>
        <p:cxnSp>
          <p:nvCxnSpPr>
            <p:cNvPr id="860" name="Google Shape;860;p75"/>
            <p:cNvCxnSpPr/>
            <p:nvPr/>
          </p:nvCxnSpPr>
          <p:spPr>
            <a:xfrm>
              <a:off x="4830" y="2205"/>
              <a:ext cx="0" cy="45"/>
            </a:xfrm>
            <a:prstGeom prst="straightConnector1">
              <a:avLst/>
            </a:prstGeom>
            <a:noFill/>
            <a:ln cap="flat" cmpd="sng" w="76200">
              <a:solidFill>
                <a:srgbClr val="000000"/>
              </a:solidFill>
              <a:prstDash val="solid"/>
              <a:round/>
              <a:headEnd len="med" w="med" type="none"/>
              <a:tailEnd len="med" w="med" type="none"/>
            </a:ln>
          </p:spPr>
        </p:cxnSp>
        <p:cxnSp>
          <p:nvCxnSpPr>
            <p:cNvPr id="861" name="Google Shape;861;p75"/>
            <p:cNvCxnSpPr/>
            <p:nvPr/>
          </p:nvCxnSpPr>
          <p:spPr>
            <a:xfrm>
              <a:off x="4876" y="2205"/>
              <a:ext cx="0" cy="45"/>
            </a:xfrm>
            <a:prstGeom prst="straightConnector1">
              <a:avLst/>
            </a:prstGeom>
            <a:noFill/>
            <a:ln cap="flat" cmpd="sng" w="76200">
              <a:solidFill>
                <a:srgbClr val="000000"/>
              </a:solidFill>
              <a:prstDash val="solid"/>
              <a:round/>
              <a:headEnd len="med" w="med" type="none"/>
              <a:tailEnd len="med" w="med" type="none"/>
            </a:ln>
          </p:spPr>
        </p:cxnSp>
        <p:cxnSp>
          <p:nvCxnSpPr>
            <p:cNvPr id="862" name="Google Shape;862;p75"/>
            <p:cNvCxnSpPr/>
            <p:nvPr/>
          </p:nvCxnSpPr>
          <p:spPr>
            <a:xfrm>
              <a:off x="4921" y="2229"/>
              <a:ext cx="0" cy="23"/>
            </a:xfrm>
            <a:prstGeom prst="straightConnector1">
              <a:avLst/>
            </a:prstGeom>
            <a:noFill/>
            <a:ln cap="flat" cmpd="sng" w="76200">
              <a:solidFill>
                <a:srgbClr val="000000"/>
              </a:solidFill>
              <a:prstDash val="solid"/>
              <a:round/>
              <a:headEnd len="med" w="med" type="none"/>
              <a:tailEnd len="med" w="med" type="none"/>
            </a:ln>
          </p:spPr>
        </p:cxnSp>
      </p:grpSp>
      <p:grpSp>
        <p:nvGrpSpPr>
          <p:cNvPr id="863" name="Google Shape;863;p75"/>
          <p:cNvGrpSpPr/>
          <p:nvPr/>
        </p:nvGrpSpPr>
        <p:grpSpPr>
          <a:xfrm>
            <a:off x="7667625" y="2271713"/>
            <a:ext cx="720725" cy="457200"/>
            <a:chOff x="4830" y="1797"/>
            <a:chExt cx="454" cy="288"/>
          </a:xfrm>
        </p:grpSpPr>
        <p:cxnSp>
          <p:nvCxnSpPr>
            <p:cNvPr id="864" name="Google Shape;864;p75"/>
            <p:cNvCxnSpPr/>
            <p:nvPr/>
          </p:nvCxnSpPr>
          <p:spPr>
            <a:xfrm flipH="1" rot="10800000">
              <a:off x="4830" y="1933"/>
              <a:ext cx="182" cy="136"/>
            </a:xfrm>
            <a:prstGeom prst="straightConnector1">
              <a:avLst/>
            </a:prstGeom>
            <a:noFill/>
            <a:ln cap="flat" cmpd="sng" w="57150">
              <a:solidFill>
                <a:schemeClr val="dk1"/>
              </a:solidFill>
              <a:prstDash val="solid"/>
              <a:round/>
              <a:headEnd len="med" w="med" type="none"/>
              <a:tailEnd len="med" w="med" type="triangle"/>
            </a:ln>
          </p:spPr>
        </p:cxnSp>
        <p:sp>
          <p:nvSpPr>
            <p:cNvPr id="865" name="Google Shape;865;p75"/>
            <p:cNvSpPr txBox="1"/>
            <p:nvPr/>
          </p:nvSpPr>
          <p:spPr>
            <a:xfrm>
              <a:off x="5047" y="1797"/>
              <a:ext cx="237"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b="1" lang="tr-TR" sz="2400">
                  <a:solidFill>
                    <a:schemeClr val="dk1"/>
                  </a:solidFill>
                  <a:latin typeface="Calibri"/>
                  <a:ea typeface="Calibri"/>
                  <a:cs typeface="Calibri"/>
                  <a:sym typeface="Calibri"/>
                </a:rPr>
                <a:t>α</a:t>
              </a:r>
              <a:endParaRPr/>
            </a:p>
          </p:txBody>
        </p:sp>
      </p:grpSp>
      <p:grpSp>
        <p:nvGrpSpPr>
          <p:cNvPr id="866" name="Google Shape;866;p75"/>
          <p:cNvGrpSpPr/>
          <p:nvPr/>
        </p:nvGrpSpPr>
        <p:grpSpPr>
          <a:xfrm>
            <a:off x="7740650" y="4987925"/>
            <a:ext cx="1152525" cy="528638"/>
            <a:chOff x="4876" y="3142"/>
            <a:chExt cx="726" cy="333"/>
          </a:xfrm>
        </p:grpSpPr>
        <p:sp>
          <p:nvSpPr>
            <p:cNvPr id="867" name="Google Shape;867;p75"/>
            <p:cNvSpPr txBox="1"/>
            <p:nvPr/>
          </p:nvSpPr>
          <p:spPr>
            <a:xfrm>
              <a:off x="5132" y="3142"/>
              <a:ext cx="470"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b="1" lang="tr-TR" sz="2400">
                  <a:solidFill>
                    <a:schemeClr val="dk1"/>
                  </a:solidFill>
                  <a:latin typeface="Calibri"/>
                  <a:ea typeface="Calibri"/>
                  <a:cs typeface="Calibri"/>
                  <a:sym typeface="Calibri"/>
                </a:rPr>
                <a:t>α/2</a:t>
              </a:r>
              <a:endParaRPr/>
            </a:p>
          </p:txBody>
        </p:sp>
        <p:cxnSp>
          <p:nvCxnSpPr>
            <p:cNvPr id="868" name="Google Shape;868;p75"/>
            <p:cNvCxnSpPr/>
            <p:nvPr/>
          </p:nvCxnSpPr>
          <p:spPr>
            <a:xfrm flipH="1" rot="10800000">
              <a:off x="4876" y="3339"/>
              <a:ext cx="182" cy="136"/>
            </a:xfrm>
            <a:prstGeom prst="straightConnector1">
              <a:avLst/>
            </a:prstGeom>
            <a:noFill/>
            <a:ln cap="flat" cmpd="sng" w="57150">
              <a:solidFill>
                <a:schemeClr val="dk1"/>
              </a:solidFill>
              <a:prstDash val="solid"/>
              <a:round/>
              <a:headEnd len="med" w="med" type="none"/>
              <a:tailEnd len="med" w="med" type="triangle"/>
            </a:ln>
          </p:spPr>
        </p:cxnSp>
      </p:grpSp>
      <p:grpSp>
        <p:nvGrpSpPr>
          <p:cNvPr id="869" name="Google Shape;869;p75"/>
          <p:cNvGrpSpPr/>
          <p:nvPr/>
        </p:nvGrpSpPr>
        <p:grpSpPr>
          <a:xfrm>
            <a:off x="3686175" y="4941888"/>
            <a:ext cx="1154113" cy="503237"/>
            <a:chOff x="2290" y="3113"/>
            <a:chExt cx="727" cy="317"/>
          </a:xfrm>
        </p:grpSpPr>
        <p:sp>
          <p:nvSpPr>
            <p:cNvPr id="870" name="Google Shape;870;p75"/>
            <p:cNvSpPr txBox="1"/>
            <p:nvPr/>
          </p:nvSpPr>
          <p:spPr>
            <a:xfrm>
              <a:off x="2290" y="3113"/>
              <a:ext cx="470"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b="1" lang="tr-TR" sz="2400">
                  <a:solidFill>
                    <a:schemeClr val="dk1"/>
                  </a:solidFill>
                  <a:latin typeface="Calibri"/>
                  <a:ea typeface="Calibri"/>
                  <a:cs typeface="Calibri"/>
                  <a:sym typeface="Calibri"/>
                </a:rPr>
                <a:t>α/2</a:t>
              </a:r>
              <a:endParaRPr/>
            </a:p>
          </p:txBody>
        </p:sp>
        <p:cxnSp>
          <p:nvCxnSpPr>
            <p:cNvPr id="871" name="Google Shape;871;p75"/>
            <p:cNvCxnSpPr/>
            <p:nvPr/>
          </p:nvCxnSpPr>
          <p:spPr>
            <a:xfrm rot="10800000">
              <a:off x="2835" y="3294"/>
              <a:ext cx="182" cy="136"/>
            </a:xfrm>
            <a:prstGeom prst="straightConnector1">
              <a:avLst/>
            </a:prstGeom>
            <a:noFill/>
            <a:ln cap="flat" cmpd="sng" w="57150">
              <a:solidFill>
                <a:schemeClr val="dk1"/>
              </a:solidFill>
              <a:prstDash val="solid"/>
              <a:round/>
              <a:headEnd len="med" w="med" type="none"/>
              <a:tailEnd len="med" w="med" type="triangle"/>
            </a:ln>
          </p:spPr>
        </p:cxnSp>
      </p:grpSp>
      <p:sp>
        <p:nvSpPr>
          <p:cNvPr id="872" name="Google Shape;872;p75"/>
          <p:cNvSpPr txBox="1"/>
          <p:nvPr/>
        </p:nvSpPr>
        <p:spPr>
          <a:xfrm>
            <a:off x="7019925" y="2954338"/>
            <a:ext cx="487363" cy="4429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300"/>
              <a:buFont typeface="Arial"/>
              <a:buNone/>
            </a:pPr>
            <a:r>
              <a:rPr b="1" lang="tr-TR" sz="2300">
                <a:solidFill>
                  <a:schemeClr val="dk1"/>
                </a:solidFill>
                <a:latin typeface="Calibri"/>
                <a:ea typeface="Calibri"/>
                <a:cs typeface="Calibri"/>
                <a:sym typeface="Calibri"/>
              </a:rPr>
              <a:t>Z</a:t>
            </a:r>
            <a:r>
              <a:rPr b="1" baseline="-25000" lang="tr-TR" sz="2300">
                <a:solidFill>
                  <a:schemeClr val="dk1"/>
                </a:solidFill>
                <a:latin typeface="Calibri"/>
                <a:ea typeface="Calibri"/>
                <a:cs typeface="Calibri"/>
                <a:sym typeface="Calibri"/>
              </a:rPr>
              <a:t>α</a:t>
            </a:r>
            <a:endParaRPr/>
          </a:p>
        </p:txBody>
      </p:sp>
      <p:sp>
        <p:nvSpPr>
          <p:cNvPr id="873" name="Google Shape;873;p75"/>
          <p:cNvSpPr txBox="1"/>
          <p:nvPr/>
        </p:nvSpPr>
        <p:spPr>
          <a:xfrm>
            <a:off x="7239000" y="5722938"/>
            <a:ext cx="755650" cy="4810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300"/>
              <a:buFont typeface="Arial"/>
              <a:buNone/>
            </a:pPr>
            <a:r>
              <a:rPr b="1" lang="tr-TR" sz="2300">
                <a:solidFill>
                  <a:schemeClr val="dk1"/>
                </a:solidFill>
                <a:latin typeface="Calibri"/>
                <a:ea typeface="Calibri"/>
                <a:cs typeface="Calibri"/>
                <a:sym typeface="Calibri"/>
              </a:rPr>
              <a:t>Z</a:t>
            </a:r>
            <a:r>
              <a:rPr b="1" baseline="-25000" lang="tr-TR" sz="2300">
                <a:solidFill>
                  <a:schemeClr val="dk1"/>
                </a:solidFill>
                <a:latin typeface="Calibri"/>
                <a:ea typeface="Calibri"/>
                <a:cs typeface="Calibri"/>
                <a:sym typeface="Calibri"/>
              </a:rPr>
              <a:t>α/2</a:t>
            </a:r>
            <a:endParaRPr/>
          </a:p>
        </p:txBody>
      </p:sp>
      <p:sp>
        <p:nvSpPr>
          <p:cNvPr id="874" name="Google Shape;874;p75"/>
          <p:cNvSpPr txBox="1"/>
          <p:nvPr/>
        </p:nvSpPr>
        <p:spPr>
          <a:xfrm>
            <a:off x="4787900" y="5734050"/>
            <a:ext cx="842963" cy="4429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300"/>
              <a:buFont typeface="Arial"/>
              <a:buNone/>
            </a:pPr>
            <a:r>
              <a:rPr b="1" lang="tr-TR" sz="2300">
                <a:solidFill>
                  <a:schemeClr val="dk1"/>
                </a:solidFill>
                <a:latin typeface="Calibri"/>
                <a:ea typeface="Calibri"/>
                <a:cs typeface="Calibri"/>
                <a:sym typeface="Calibri"/>
              </a:rPr>
              <a:t>-Z</a:t>
            </a:r>
            <a:r>
              <a:rPr b="1" baseline="-25000" lang="tr-TR" sz="2300">
                <a:solidFill>
                  <a:schemeClr val="dk1"/>
                </a:solidFill>
                <a:latin typeface="Calibri"/>
                <a:ea typeface="Calibri"/>
                <a:cs typeface="Calibri"/>
                <a:sym typeface="Calibri"/>
              </a:rPr>
              <a:t>α/2</a:t>
            </a:r>
            <a:endParaRPr/>
          </a:p>
        </p:txBody>
      </p:sp>
      <p:sp>
        <p:nvSpPr>
          <p:cNvPr id="875" name="Google Shape;875;p75"/>
          <p:cNvSpPr txBox="1"/>
          <p:nvPr/>
        </p:nvSpPr>
        <p:spPr>
          <a:xfrm>
            <a:off x="3203575" y="260350"/>
            <a:ext cx="2779713"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tr-TR" sz="3200">
                <a:solidFill>
                  <a:srgbClr val="6EA0C0"/>
                </a:solidFill>
                <a:latin typeface="Times New Roman"/>
                <a:ea typeface="Times New Roman"/>
                <a:cs typeface="Times New Roman"/>
                <a:sym typeface="Times New Roman"/>
              </a:rPr>
              <a:t>Z istatistiği için</a:t>
            </a:r>
            <a:endParaRPr/>
          </a:p>
        </p:txBody>
      </p:sp>
      <p:sp>
        <p:nvSpPr>
          <p:cNvPr id="876" name="Google Shape;876;p75"/>
          <p:cNvSpPr/>
          <p:nvPr/>
        </p:nvSpPr>
        <p:spPr>
          <a:xfrm rot="5400000">
            <a:off x="5538787" y="2174876"/>
            <a:ext cx="155575" cy="2952750"/>
          </a:xfrm>
          <a:custGeom>
            <a:rect b="b" l="l" r="r" t="t"/>
            <a:pathLst>
              <a:path extrusionOk="0" h="914400" w="155448">
                <a:moveTo>
                  <a:pt x="0" y="0"/>
                </a:moveTo>
                <a:cubicBezTo>
                  <a:pt x="4281" y="0"/>
                  <a:pt x="8554" y="59"/>
                  <a:pt x="12777" y="176"/>
                </a:cubicBezTo>
                <a:cubicBezTo>
                  <a:pt x="50255" y="1217"/>
                  <a:pt x="77725" y="6621"/>
                  <a:pt x="77724" y="12953"/>
                </a:cubicBezTo>
                <a:lnTo>
                  <a:pt x="77724" y="444247"/>
                </a:lnTo>
                <a:cubicBezTo>
                  <a:pt x="77724" y="451401"/>
                  <a:pt x="112522" y="457200"/>
                  <a:pt x="155448" y="457200"/>
                </a:cubicBezTo>
                <a:cubicBezTo>
                  <a:pt x="112522" y="457200"/>
                  <a:pt x="77724" y="462999"/>
                  <a:pt x="77724" y="470153"/>
                </a:cubicBezTo>
                <a:lnTo>
                  <a:pt x="77724" y="901447"/>
                </a:lnTo>
                <a:cubicBezTo>
                  <a:pt x="77724" y="907779"/>
                  <a:pt x="50255" y="913183"/>
                  <a:pt x="12777" y="914224"/>
                </a:cubicBezTo>
                <a:cubicBezTo>
                  <a:pt x="8554" y="914341"/>
                  <a:pt x="4281" y="914400"/>
                  <a:pt x="0" y="914400"/>
                </a:cubicBezTo>
                <a:lnTo>
                  <a:pt x="0" y="0"/>
                </a:lnTo>
                <a:close/>
              </a:path>
              <a:path extrusionOk="0" fill="none" h="914400" w="155448">
                <a:moveTo>
                  <a:pt x="0" y="0"/>
                </a:moveTo>
                <a:cubicBezTo>
                  <a:pt x="4281" y="0"/>
                  <a:pt x="8554" y="59"/>
                  <a:pt x="12777" y="176"/>
                </a:cubicBezTo>
                <a:cubicBezTo>
                  <a:pt x="50255" y="1217"/>
                  <a:pt x="77725" y="6621"/>
                  <a:pt x="77724" y="12953"/>
                </a:cubicBezTo>
                <a:lnTo>
                  <a:pt x="77724" y="444247"/>
                </a:lnTo>
                <a:cubicBezTo>
                  <a:pt x="77724" y="451401"/>
                  <a:pt x="112522" y="457200"/>
                  <a:pt x="155448" y="457200"/>
                </a:cubicBezTo>
                <a:cubicBezTo>
                  <a:pt x="112522" y="457200"/>
                  <a:pt x="77724" y="462999"/>
                  <a:pt x="77724" y="470153"/>
                </a:cubicBezTo>
                <a:lnTo>
                  <a:pt x="77724" y="901447"/>
                </a:lnTo>
                <a:cubicBezTo>
                  <a:pt x="77724" y="907779"/>
                  <a:pt x="50255" y="913183"/>
                  <a:pt x="12777" y="914224"/>
                </a:cubicBezTo>
                <a:cubicBezTo>
                  <a:pt x="8554" y="914341"/>
                  <a:pt x="4281" y="914400"/>
                  <a:pt x="0" y="914400"/>
                </a:cubicBezTo>
              </a:path>
            </a:pathLst>
          </a:custGeom>
          <a:solidFill>
            <a:schemeClr val="lt1"/>
          </a:solidFill>
          <a:ln cap="flat" cmpd="sng" w="158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77" name="Google Shape;877;p75"/>
          <p:cNvSpPr/>
          <p:nvPr/>
        </p:nvSpPr>
        <p:spPr>
          <a:xfrm rot="5400000">
            <a:off x="7669213" y="3068638"/>
            <a:ext cx="142875" cy="1152525"/>
          </a:xfrm>
          <a:custGeom>
            <a:rect b="b" l="l" r="r" t="t"/>
            <a:pathLst>
              <a:path extrusionOk="0" h="914400" w="155448">
                <a:moveTo>
                  <a:pt x="0" y="0"/>
                </a:moveTo>
                <a:cubicBezTo>
                  <a:pt x="4281" y="0"/>
                  <a:pt x="8554" y="59"/>
                  <a:pt x="12777" y="176"/>
                </a:cubicBezTo>
                <a:cubicBezTo>
                  <a:pt x="50255" y="1217"/>
                  <a:pt x="77725" y="6621"/>
                  <a:pt x="77724" y="12953"/>
                </a:cubicBezTo>
                <a:lnTo>
                  <a:pt x="77724" y="444247"/>
                </a:lnTo>
                <a:cubicBezTo>
                  <a:pt x="77724" y="451401"/>
                  <a:pt x="112522" y="457200"/>
                  <a:pt x="155448" y="457200"/>
                </a:cubicBezTo>
                <a:cubicBezTo>
                  <a:pt x="112522" y="457200"/>
                  <a:pt x="77724" y="462999"/>
                  <a:pt x="77724" y="470153"/>
                </a:cubicBezTo>
                <a:lnTo>
                  <a:pt x="77724" y="901447"/>
                </a:lnTo>
                <a:cubicBezTo>
                  <a:pt x="77724" y="907779"/>
                  <a:pt x="50255" y="913183"/>
                  <a:pt x="12777" y="914224"/>
                </a:cubicBezTo>
                <a:cubicBezTo>
                  <a:pt x="8554" y="914341"/>
                  <a:pt x="4281" y="914400"/>
                  <a:pt x="0" y="914400"/>
                </a:cubicBezTo>
                <a:lnTo>
                  <a:pt x="0" y="0"/>
                </a:lnTo>
                <a:close/>
              </a:path>
              <a:path extrusionOk="0" fill="none" h="914400" w="155448">
                <a:moveTo>
                  <a:pt x="0" y="0"/>
                </a:moveTo>
                <a:cubicBezTo>
                  <a:pt x="4281" y="0"/>
                  <a:pt x="8554" y="59"/>
                  <a:pt x="12777" y="176"/>
                </a:cubicBezTo>
                <a:cubicBezTo>
                  <a:pt x="50255" y="1217"/>
                  <a:pt x="77725" y="6621"/>
                  <a:pt x="77724" y="12953"/>
                </a:cubicBezTo>
                <a:lnTo>
                  <a:pt x="77724" y="444247"/>
                </a:lnTo>
                <a:cubicBezTo>
                  <a:pt x="77724" y="451401"/>
                  <a:pt x="112522" y="457200"/>
                  <a:pt x="155448" y="457200"/>
                </a:cubicBezTo>
                <a:cubicBezTo>
                  <a:pt x="112522" y="457200"/>
                  <a:pt x="77724" y="462999"/>
                  <a:pt x="77724" y="470153"/>
                </a:cubicBezTo>
                <a:lnTo>
                  <a:pt x="77724" y="901447"/>
                </a:lnTo>
                <a:cubicBezTo>
                  <a:pt x="77724" y="907779"/>
                  <a:pt x="50255" y="913183"/>
                  <a:pt x="12777" y="914224"/>
                </a:cubicBezTo>
                <a:cubicBezTo>
                  <a:pt x="8554" y="914341"/>
                  <a:pt x="4281" y="914400"/>
                  <a:pt x="0" y="914400"/>
                </a:cubicBezTo>
              </a:path>
            </a:pathLst>
          </a:custGeom>
          <a:solidFill>
            <a:schemeClr val="lt1"/>
          </a:solidFill>
          <a:ln cap="flat" cmpd="sng" w="158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78" name="Google Shape;878;p75"/>
          <p:cNvSpPr txBox="1"/>
          <p:nvPr/>
        </p:nvSpPr>
        <p:spPr>
          <a:xfrm>
            <a:off x="5003800" y="3789363"/>
            <a:ext cx="1457325"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1"/>
              </a:buClr>
              <a:buSzPts val="1800"/>
              <a:buFont typeface="Arial"/>
              <a:buNone/>
            </a:pPr>
            <a:r>
              <a:rPr b="1" lang="tr-TR" sz="1800">
                <a:solidFill>
                  <a:schemeClr val="accent1"/>
                </a:solidFill>
                <a:latin typeface="Calibri"/>
                <a:ea typeface="Calibri"/>
                <a:cs typeface="Calibri"/>
                <a:sym typeface="Calibri"/>
              </a:rPr>
              <a:t>Kabul Bölgesi</a:t>
            </a:r>
            <a:endParaRPr/>
          </a:p>
        </p:txBody>
      </p:sp>
      <p:sp>
        <p:nvSpPr>
          <p:cNvPr id="879" name="Google Shape;879;p75"/>
          <p:cNvSpPr txBox="1"/>
          <p:nvPr/>
        </p:nvSpPr>
        <p:spPr>
          <a:xfrm>
            <a:off x="7127875" y="3789363"/>
            <a:ext cx="1281113"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2"/>
              </a:buClr>
              <a:buSzPts val="1800"/>
              <a:buFont typeface="Arial"/>
              <a:buNone/>
            </a:pPr>
            <a:r>
              <a:rPr b="1" lang="tr-TR" sz="1800">
                <a:solidFill>
                  <a:schemeClr val="accent2"/>
                </a:solidFill>
                <a:latin typeface="Calibri"/>
                <a:ea typeface="Calibri"/>
                <a:cs typeface="Calibri"/>
                <a:sym typeface="Calibri"/>
              </a:rPr>
              <a:t>Red Bölgesi</a:t>
            </a:r>
            <a:endParaRPr/>
          </a:p>
        </p:txBody>
      </p:sp>
      <p:sp>
        <p:nvSpPr>
          <p:cNvPr id="880" name="Google Shape;880;p75"/>
          <p:cNvSpPr/>
          <p:nvPr/>
        </p:nvSpPr>
        <p:spPr>
          <a:xfrm rot="5400000">
            <a:off x="6115844" y="5188744"/>
            <a:ext cx="152400" cy="2376488"/>
          </a:xfrm>
          <a:custGeom>
            <a:rect b="b" l="l" r="r" t="t"/>
            <a:pathLst>
              <a:path extrusionOk="0" h="914400" w="155448">
                <a:moveTo>
                  <a:pt x="0" y="0"/>
                </a:moveTo>
                <a:cubicBezTo>
                  <a:pt x="4281" y="0"/>
                  <a:pt x="8554" y="59"/>
                  <a:pt x="12777" y="176"/>
                </a:cubicBezTo>
                <a:cubicBezTo>
                  <a:pt x="50255" y="1217"/>
                  <a:pt x="77725" y="6621"/>
                  <a:pt x="77724" y="12953"/>
                </a:cubicBezTo>
                <a:lnTo>
                  <a:pt x="77724" y="444247"/>
                </a:lnTo>
                <a:cubicBezTo>
                  <a:pt x="77724" y="451401"/>
                  <a:pt x="112522" y="457200"/>
                  <a:pt x="155448" y="457200"/>
                </a:cubicBezTo>
                <a:cubicBezTo>
                  <a:pt x="112522" y="457200"/>
                  <a:pt x="77724" y="462999"/>
                  <a:pt x="77724" y="470153"/>
                </a:cubicBezTo>
                <a:lnTo>
                  <a:pt x="77724" y="901447"/>
                </a:lnTo>
                <a:cubicBezTo>
                  <a:pt x="77724" y="907779"/>
                  <a:pt x="50255" y="913183"/>
                  <a:pt x="12777" y="914224"/>
                </a:cubicBezTo>
                <a:cubicBezTo>
                  <a:pt x="8554" y="914341"/>
                  <a:pt x="4281" y="914400"/>
                  <a:pt x="0" y="914400"/>
                </a:cubicBezTo>
                <a:lnTo>
                  <a:pt x="0" y="0"/>
                </a:lnTo>
                <a:close/>
              </a:path>
              <a:path extrusionOk="0" fill="none" h="914400" w="155448">
                <a:moveTo>
                  <a:pt x="0" y="0"/>
                </a:moveTo>
                <a:cubicBezTo>
                  <a:pt x="4281" y="0"/>
                  <a:pt x="8554" y="59"/>
                  <a:pt x="12777" y="176"/>
                </a:cubicBezTo>
                <a:cubicBezTo>
                  <a:pt x="50255" y="1217"/>
                  <a:pt x="77725" y="6621"/>
                  <a:pt x="77724" y="12953"/>
                </a:cubicBezTo>
                <a:lnTo>
                  <a:pt x="77724" y="444247"/>
                </a:lnTo>
                <a:cubicBezTo>
                  <a:pt x="77724" y="451401"/>
                  <a:pt x="112522" y="457200"/>
                  <a:pt x="155448" y="457200"/>
                </a:cubicBezTo>
                <a:cubicBezTo>
                  <a:pt x="112522" y="457200"/>
                  <a:pt x="77724" y="462999"/>
                  <a:pt x="77724" y="470153"/>
                </a:cubicBezTo>
                <a:lnTo>
                  <a:pt x="77724" y="901447"/>
                </a:lnTo>
                <a:cubicBezTo>
                  <a:pt x="77724" y="907779"/>
                  <a:pt x="50255" y="913183"/>
                  <a:pt x="12777" y="914224"/>
                </a:cubicBezTo>
                <a:cubicBezTo>
                  <a:pt x="8554" y="914341"/>
                  <a:pt x="4281" y="914400"/>
                  <a:pt x="0" y="914400"/>
                </a:cubicBezTo>
              </a:path>
            </a:pathLst>
          </a:custGeom>
          <a:solidFill>
            <a:schemeClr val="lt1"/>
          </a:solidFill>
          <a:ln cap="flat" cmpd="sng" w="158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81" name="Google Shape;881;p75"/>
          <p:cNvSpPr/>
          <p:nvPr/>
        </p:nvSpPr>
        <p:spPr>
          <a:xfrm rot="5400000">
            <a:off x="7843838" y="5908675"/>
            <a:ext cx="152400" cy="936625"/>
          </a:xfrm>
          <a:custGeom>
            <a:rect b="b" l="l" r="r" t="t"/>
            <a:pathLst>
              <a:path extrusionOk="0" h="914400" w="155448">
                <a:moveTo>
                  <a:pt x="0" y="0"/>
                </a:moveTo>
                <a:cubicBezTo>
                  <a:pt x="4281" y="0"/>
                  <a:pt x="8554" y="59"/>
                  <a:pt x="12777" y="176"/>
                </a:cubicBezTo>
                <a:cubicBezTo>
                  <a:pt x="50255" y="1217"/>
                  <a:pt x="77725" y="6621"/>
                  <a:pt x="77724" y="12953"/>
                </a:cubicBezTo>
                <a:lnTo>
                  <a:pt x="77724" y="444247"/>
                </a:lnTo>
                <a:cubicBezTo>
                  <a:pt x="77724" y="451401"/>
                  <a:pt x="112522" y="457200"/>
                  <a:pt x="155448" y="457200"/>
                </a:cubicBezTo>
                <a:cubicBezTo>
                  <a:pt x="112522" y="457200"/>
                  <a:pt x="77724" y="462999"/>
                  <a:pt x="77724" y="470153"/>
                </a:cubicBezTo>
                <a:lnTo>
                  <a:pt x="77724" y="901447"/>
                </a:lnTo>
                <a:cubicBezTo>
                  <a:pt x="77724" y="907779"/>
                  <a:pt x="50255" y="913183"/>
                  <a:pt x="12777" y="914224"/>
                </a:cubicBezTo>
                <a:cubicBezTo>
                  <a:pt x="8554" y="914341"/>
                  <a:pt x="4281" y="914400"/>
                  <a:pt x="0" y="914400"/>
                </a:cubicBezTo>
                <a:lnTo>
                  <a:pt x="0" y="0"/>
                </a:lnTo>
                <a:close/>
              </a:path>
              <a:path extrusionOk="0" fill="none" h="914400" w="155448">
                <a:moveTo>
                  <a:pt x="0" y="0"/>
                </a:moveTo>
                <a:cubicBezTo>
                  <a:pt x="4281" y="0"/>
                  <a:pt x="8554" y="59"/>
                  <a:pt x="12777" y="176"/>
                </a:cubicBezTo>
                <a:cubicBezTo>
                  <a:pt x="50255" y="1217"/>
                  <a:pt x="77725" y="6621"/>
                  <a:pt x="77724" y="12953"/>
                </a:cubicBezTo>
                <a:lnTo>
                  <a:pt x="77724" y="444247"/>
                </a:lnTo>
                <a:cubicBezTo>
                  <a:pt x="77724" y="451401"/>
                  <a:pt x="112522" y="457200"/>
                  <a:pt x="155448" y="457200"/>
                </a:cubicBezTo>
                <a:cubicBezTo>
                  <a:pt x="112522" y="457200"/>
                  <a:pt x="77724" y="462999"/>
                  <a:pt x="77724" y="470153"/>
                </a:cubicBezTo>
                <a:lnTo>
                  <a:pt x="77724" y="901447"/>
                </a:lnTo>
                <a:cubicBezTo>
                  <a:pt x="77724" y="907779"/>
                  <a:pt x="50255" y="913183"/>
                  <a:pt x="12777" y="914224"/>
                </a:cubicBezTo>
                <a:cubicBezTo>
                  <a:pt x="8554" y="914341"/>
                  <a:pt x="4281" y="914400"/>
                  <a:pt x="0" y="914400"/>
                </a:cubicBezTo>
              </a:path>
            </a:pathLst>
          </a:custGeom>
          <a:solidFill>
            <a:schemeClr val="lt1"/>
          </a:solidFill>
          <a:ln cap="flat" cmpd="sng" w="158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82" name="Google Shape;882;p75"/>
          <p:cNvSpPr txBox="1"/>
          <p:nvPr/>
        </p:nvSpPr>
        <p:spPr>
          <a:xfrm>
            <a:off x="5292725" y="6516688"/>
            <a:ext cx="1455738"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1"/>
              </a:buClr>
              <a:buSzPts val="1800"/>
              <a:buFont typeface="Arial"/>
              <a:buNone/>
            </a:pPr>
            <a:r>
              <a:rPr b="1" lang="tr-TR" sz="1800">
                <a:solidFill>
                  <a:schemeClr val="accent1"/>
                </a:solidFill>
                <a:latin typeface="Calibri"/>
                <a:ea typeface="Calibri"/>
                <a:cs typeface="Calibri"/>
                <a:sym typeface="Calibri"/>
              </a:rPr>
              <a:t>Kabul Bölgesi</a:t>
            </a:r>
            <a:endParaRPr/>
          </a:p>
        </p:txBody>
      </p:sp>
      <p:sp>
        <p:nvSpPr>
          <p:cNvPr id="883" name="Google Shape;883;p75"/>
          <p:cNvSpPr txBox="1"/>
          <p:nvPr/>
        </p:nvSpPr>
        <p:spPr>
          <a:xfrm>
            <a:off x="7308850" y="6516688"/>
            <a:ext cx="1281113"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2"/>
              </a:buClr>
              <a:buSzPts val="1800"/>
              <a:buFont typeface="Arial"/>
              <a:buNone/>
            </a:pPr>
            <a:r>
              <a:rPr b="1" lang="tr-TR" sz="1800">
                <a:solidFill>
                  <a:schemeClr val="accent2"/>
                </a:solidFill>
                <a:latin typeface="Calibri"/>
                <a:ea typeface="Calibri"/>
                <a:cs typeface="Calibri"/>
                <a:sym typeface="Calibri"/>
              </a:rPr>
              <a:t>Red Bölgesi</a:t>
            </a:r>
            <a:endParaRPr/>
          </a:p>
        </p:txBody>
      </p:sp>
      <p:sp>
        <p:nvSpPr>
          <p:cNvPr id="884" name="Google Shape;884;p75"/>
          <p:cNvSpPr/>
          <p:nvPr/>
        </p:nvSpPr>
        <p:spPr>
          <a:xfrm rot="5400000">
            <a:off x="4406107" y="5890419"/>
            <a:ext cx="152400" cy="973137"/>
          </a:xfrm>
          <a:custGeom>
            <a:rect b="b" l="l" r="r" t="t"/>
            <a:pathLst>
              <a:path extrusionOk="0" h="914400" w="155448">
                <a:moveTo>
                  <a:pt x="0" y="0"/>
                </a:moveTo>
                <a:cubicBezTo>
                  <a:pt x="4281" y="0"/>
                  <a:pt x="8554" y="59"/>
                  <a:pt x="12777" y="176"/>
                </a:cubicBezTo>
                <a:cubicBezTo>
                  <a:pt x="50255" y="1217"/>
                  <a:pt x="77725" y="6621"/>
                  <a:pt x="77724" y="12953"/>
                </a:cubicBezTo>
                <a:lnTo>
                  <a:pt x="77724" y="444247"/>
                </a:lnTo>
                <a:cubicBezTo>
                  <a:pt x="77724" y="451401"/>
                  <a:pt x="112522" y="457200"/>
                  <a:pt x="155448" y="457200"/>
                </a:cubicBezTo>
                <a:cubicBezTo>
                  <a:pt x="112522" y="457200"/>
                  <a:pt x="77724" y="462999"/>
                  <a:pt x="77724" y="470153"/>
                </a:cubicBezTo>
                <a:lnTo>
                  <a:pt x="77724" y="901447"/>
                </a:lnTo>
                <a:cubicBezTo>
                  <a:pt x="77724" y="907779"/>
                  <a:pt x="50255" y="913183"/>
                  <a:pt x="12777" y="914224"/>
                </a:cubicBezTo>
                <a:cubicBezTo>
                  <a:pt x="8554" y="914341"/>
                  <a:pt x="4281" y="914400"/>
                  <a:pt x="0" y="914400"/>
                </a:cubicBezTo>
                <a:lnTo>
                  <a:pt x="0" y="0"/>
                </a:lnTo>
                <a:close/>
              </a:path>
              <a:path extrusionOk="0" fill="none" h="914400" w="155448">
                <a:moveTo>
                  <a:pt x="0" y="0"/>
                </a:moveTo>
                <a:cubicBezTo>
                  <a:pt x="4281" y="0"/>
                  <a:pt x="8554" y="59"/>
                  <a:pt x="12777" y="176"/>
                </a:cubicBezTo>
                <a:cubicBezTo>
                  <a:pt x="50255" y="1217"/>
                  <a:pt x="77725" y="6621"/>
                  <a:pt x="77724" y="12953"/>
                </a:cubicBezTo>
                <a:lnTo>
                  <a:pt x="77724" y="444247"/>
                </a:lnTo>
                <a:cubicBezTo>
                  <a:pt x="77724" y="451401"/>
                  <a:pt x="112522" y="457200"/>
                  <a:pt x="155448" y="457200"/>
                </a:cubicBezTo>
                <a:cubicBezTo>
                  <a:pt x="112522" y="457200"/>
                  <a:pt x="77724" y="462999"/>
                  <a:pt x="77724" y="470153"/>
                </a:cubicBezTo>
                <a:lnTo>
                  <a:pt x="77724" y="901447"/>
                </a:lnTo>
                <a:cubicBezTo>
                  <a:pt x="77724" y="907779"/>
                  <a:pt x="50255" y="913183"/>
                  <a:pt x="12777" y="914224"/>
                </a:cubicBezTo>
                <a:cubicBezTo>
                  <a:pt x="8554" y="914341"/>
                  <a:pt x="4281" y="914400"/>
                  <a:pt x="0" y="914400"/>
                </a:cubicBezTo>
              </a:path>
            </a:pathLst>
          </a:custGeom>
          <a:solidFill>
            <a:schemeClr val="lt1"/>
          </a:solidFill>
          <a:ln cap="flat" cmpd="sng" w="158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85" name="Google Shape;885;p75"/>
          <p:cNvSpPr txBox="1"/>
          <p:nvPr/>
        </p:nvSpPr>
        <p:spPr>
          <a:xfrm>
            <a:off x="3867150" y="6516688"/>
            <a:ext cx="1281113"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2"/>
              </a:buClr>
              <a:buSzPts val="1800"/>
              <a:buFont typeface="Arial"/>
              <a:buNone/>
            </a:pPr>
            <a:r>
              <a:rPr b="1" lang="tr-TR" sz="1800">
                <a:solidFill>
                  <a:schemeClr val="accent2"/>
                </a:solidFill>
                <a:latin typeface="Calibri"/>
                <a:ea typeface="Calibri"/>
                <a:cs typeface="Calibri"/>
                <a:sym typeface="Calibri"/>
              </a:rPr>
              <a:t>Red Bölgesi</a:t>
            </a:r>
            <a:endParaRPr/>
          </a:p>
        </p:txBody>
      </p:sp>
      <p:sp>
        <p:nvSpPr>
          <p:cNvPr id="886" name="Google Shape;886;p75"/>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98989"/>
              </a:buClr>
              <a:buSzPts val="1200"/>
              <a:buFont typeface="Arial"/>
              <a:buNone/>
            </a:pPr>
            <a:fld id="{00000000-1234-1234-1234-123412341234}" type="slidenum">
              <a:rPr lang="tr-TR" sz="1200">
                <a:solidFill>
                  <a:srgbClr val="898989"/>
                </a:solidFill>
                <a:latin typeface="Calibri"/>
                <a:ea typeface="Calibri"/>
                <a:cs typeface="Calibri"/>
                <a:sym typeface="Calibri"/>
              </a:rPr>
              <a:t>‹#›</a:t>
            </a:fld>
            <a:endParaRPr sz="1200">
              <a:solidFill>
                <a:srgbClr val="898989"/>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76"/>
          <p:cNvSpPr txBox="1"/>
          <p:nvPr>
            <p:ph idx="1" type="body"/>
          </p:nvPr>
        </p:nvSpPr>
        <p:spPr>
          <a:xfrm>
            <a:off x="539750" y="404813"/>
            <a:ext cx="8229600" cy="5832475"/>
          </a:xfrm>
          <a:prstGeom prst="rect">
            <a:avLst/>
          </a:prstGeom>
          <a:noFill/>
          <a:ln>
            <a:noFill/>
          </a:ln>
        </p:spPr>
        <p:txBody>
          <a:bodyPr anchorCtr="0" anchor="t" bIns="45700" lIns="45700" spcFirstLastPara="1" rIns="45700" wrap="square" tIns="45700">
            <a:normAutofit/>
          </a:bodyPr>
          <a:lstStyle/>
          <a:p>
            <a:pPr indent="-127000" lvl="0" marL="91440" rtl="0" algn="just">
              <a:lnSpc>
                <a:spcPct val="90000"/>
              </a:lnSpc>
              <a:spcBef>
                <a:spcPts val="0"/>
              </a:spcBef>
              <a:spcAft>
                <a:spcPts val="0"/>
              </a:spcAft>
              <a:buSzPts val="2000"/>
              <a:buChar char=" "/>
            </a:pPr>
            <a:r>
              <a:rPr lang="tr-TR"/>
              <a:t>Diyelim ki, çalışmamızın başında tip I hata olasılığını </a:t>
            </a:r>
            <a:r>
              <a:rPr b="1" lang="tr-TR">
                <a:solidFill>
                  <a:srgbClr val="000000"/>
                </a:solidFill>
              </a:rPr>
              <a:t>α</a:t>
            </a:r>
            <a:r>
              <a:rPr lang="tr-TR"/>
              <a:t>=0.05  olarak öngördük. Bunun anlamı H</a:t>
            </a:r>
            <a:r>
              <a:rPr baseline="-25000" lang="tr-TR"/>
              <a:t>0</a:t>
            </a:r>
            <a:r>
              <a:rPr lang="tr-TR"/>
              <a:t> gerçekte doğru iken onu yanlışlıkla red etme olasılığımız maksimum %5 olmalı.</a:t>
            </a:r>
            <a:endParaRPr/>
          </a:p>
          <a:p>
            <a:pPr indent="0" lvl="0" marL="91440" rtl="0" algn="just">
              <a:lnSpc>
                <a:spcPct val="90000"/>
              </a:lnSpc>
              <a:spcBef>
                <a:spcPts val="1400"/>
              </a:spcBef>
              <a:spcAft>
                <a:spcPts val="0"/>
              </a:spcAft>
              <a:buSzPts val="2000"/>
              <a:buNone/>
            </a:pPr>
            <a:r>
              <a:t/>
            </a:r>
            <a:endParaRPr/>
          </a:p>
          <a:p>
            <a:pPr indent="-127000" lvl="0" marL="91440" rtl="0" algn="just">
              <a:lnSpc>
                <a:spcPct val="90000"/>
              </a:lnSpc>
              <a:spcBef>
                <a:spcPts val="1400"/>
              </a:spcBef>
              <a:spcAft>
                <a:spcPts val="0"/>
              </a:spcAft>
              <a:buSzPts val="2000"/>
              <a:buChar char=" "/>
            </a:pPr>
            <a:r>
              <a:rPr lang="tr-TR"/>
              <a:t>İstatistiksel paket programları, bir hipotez testi sonucunda gerçekleşen I. tip hata miktarını hesaplar ve bu değere </a:t>
            </a:r>
            <a:r>
              <a:rPr b="1" lang="tr-TR"/>
              <a:t>p değeri</a:t>
            </a:r>
            <a:r>
              <a:rPr lang="tr-TR"/>
              <a:t> denir. P değeri önceden belirlenmiş</a:t>
            </a:r>
            <a:r>
              <a:rPr b="1" lang="tr-TR"/>
              <a:t> α </a:t>
            </a:r>
            <a:r>
              <a:rPr lang="tr-TR"/>
              <a:t>değeri ile karşılaştırılarak karar verilir.</a:t>
            </a:r>
            <a:endParaRPr/>
          </a:p>
        </p:txBody>
      </p:sp>
      <p:sp>
        <p:nvSpPr>
          <p:cNvPr id="892" name="Google Shape;892;p76"/>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98989"/>
              </a:buClr>
              <a:buSzPts val="1200"/>
              <a:buFont typeface="Arial"/>
              <a:buNone/>
            </a:pPr>
            <a:fld id="{00000000-1234-1234-1234-123412341234}" type="slidenum">
              <a:rPr lang="tr-TR" sz="1200">
                <a:solidFill>
                  <a:srgbClr val="898989"/>
                </a:solidFill>
                <a:latin typeface="Calibri"/>
                <a:ea typeface="Calibri"/>
                <a:cs typeface="Calibri"/>
                <a:sym typeface="Calibri"/>
              </a:rPr>
              <a:t>‹#›</a:t>
            </a:fld>
            <a:endParaRPr sz="1200">
              <a:solidFill>
                <a:srgbClr val="898989"/>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77"/>
          <p:cNvSpPr txBox="1"/>
          <p:nvPr>
            <p:ph idx="1" type="body"/>
          </p:nvPr>
        </p:nvSpPr>
        <p:spPr>
          <a:xfrm>
            <a:off x="468313" y="1052513"/>
            <a:ext cx="8229600" cy="5040312"/>
          </a:xfrm>
          <a:prstGeom prst="rect">
            <a:avLst/>
          </a:prstGeom>
          <a:noFill/>
          <a:ln>
            <a:noFill/>
          </a:ln>
        </p:spPr>
        <p:txBody>
          <a:bodyPr anchorCtr="0" anchor="t" bIns="45700" lIns="45700" spcFirstLastPara="1" rIns="45700" wrap="square" tIns="45700">
            <a:normAutofit/>
          </a:bodyPr>
          <a:lstStyle/>
          <a:p>
            <a:pPr indent="-91440" lvl="0" marL="91440" rtl="0" algn="just">
              <a:lnSpc>
                <a:spcPct val="90000"/>
              </a:lnSpc>
              <a:spcBef>
                <a:spcPts val="0"/>
              </a:spcBef>
              <a:spcAft>
                <a:spcPts val="0"/>
              </a:spcAft>
              <a:buSzPts val="2000"/>
              <a:buFont typeface="Twentieth Century"/>
              <a:buNone/>
            </a:pPr>
            <a:r>
              <a:rPr lang="tr-TR"/>
              <a:t>Eğer:</a:t>
            </a:r>
            <a:endParaRPr b="1"/>
          </a:p>
          <a:p>
            <a:pPr indent="-127000" lvl="0" marL="91440" rtl="0" algn="just">
              <a:lnSpc>
                <a:spcPct val="90000"/>
              </a:lnSpc>
              <a:spcBef>
                <a:spcPts val="1400"/>
              </a:spcBef>
              <a:spcAft>
                <a:spcPts val="0"/>
              </a:spcAft>
              <a:buSzPts val="2000"/>
              <a:buChar char=" "/>
            </a:pPr>
            <a:r>
              <a:rPr b="1" lang="tr-TR"/>
              <a:t>P ≤ α  </a:t>
            </a:r>
            <a:r>
              <a:rPr lang="tr-TR"/>
              <a:t>ise H</a:t>
            </a:r>
            <a:r>
              <a:rPr baseline="-25000" lang="tr-TR"/>
              <a:t>0</a:t>
            </a:r>
            <a:r>
              <a:rPr lang="tr-TR"/>
              <a:t> red edilir. Bunun anlamı, H</a:t>
            </a:r>
            <a:r>
              <a:rPr baseline="-25000" lang="tr-TR"/>
              <a:t>0</a:t>
            </a:r>
            <a:r>
              <a:rPr lang="tr-TR"/>
              <a:t>’ı red etmekle gerçekleşen yanılgı </a:t>
            </a:r>
            <a:r>
              <a:rPr b="1" lang="tr-TR"/>
              <a:t>öngörülenden küçüktür</a:t>
            </a:r>
            <a:r>
              <a:rPr lang="tr-TR"/>
              <a:t>. Dolayısıyla rahatlıkla H</a:t>
            </a:r>
            <a:r>
              <a:rPr baseline="-25000" lang="tr-TR"/>
              <a:t>0</a:t>
            </a:r>
            <a:r>
              <a:rPr lang="tr-TR"/>
              <a:t> red edilebilir.</a:t>
            </a:r>
            <a:endParaRPr/>
          </a:p>
          <a:p>
            <a:pPr indent="0" lvl="0" marL="91440" rtl="0" algn="just">
              <a:lnSpc>
                <a:spcPct val="90000"/>
              </a:lnSpc>
              <a:spcBef>
                <a:spcPts val="1400"/>
              </a:spcBef>
              <a:spcAft>
                <a:spcPts val="0"/>
              </a:spcAft>
              <a:buSzPts val="2000"/>
              <a:buNone/>
            </a:pPr>
            <a:r>
              <a:t/>
            </a:r>
            <a:endParaRPr b="1"/>
          </a:p>
          <a:p>
            <a:pPr indent="-127000" lvl="0" marL="91440" rtl="0" algn="just">
              <a:lnSpc>
                <a:spcPct val="90000"/>
              </a:lnSpc>
              <a:spcBef>
                <a:spcPts val="1400"/>
              </a:spcBef>
              <a:spcAft>
                <a:spcPts val="0"/>
              </a:spcAft>
              <a:buSzPts val="2000"/>
              <a:buChar char=" "/>
            </a:pPr>
            <a:r>
              <a:rPr b="1" lang="tr-TR"/>
              <a:t>P &gt; α</a:t>
            </a:r>
            <a:r>
              <a:rPr lang="tr-TR"/>
              <a:t>   ise H</a:t>
            </a:r>
            <a:r>
              <a:rPr baseline="-25000" lang="tr-TR"/>
              <a:t>0</a:t>
            </a:r>
            <a:r>
              <a:rPr lang="tr-TR"/>
              <a:t> kabul edilir. Bunun anlamı gerçekleşen yanılgı öngörülenden küçük olmadığı için H</a:t>
            </a:r>
            <a:r>
              <a:rPr baseline="-25000" lang="tr-TR"/>
              <a:t>0</a:t>
            </a:r>
            <a:r>
              <a:rPr lang="tr-TR"/>
              <a:t> red edilemez.</a:t>
            </a:r>
            <a:endParaRPr/>
          </a:p>
        </p:txBody>
      </p:sp>
      <p:sp>
        <p:nvSpPr>
          <p:cNvPr id="898" name="Google Shape;898;p77"/>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98989"/>
              </a:buClr>
              <a:buSzPts val="1200"/>
              <a:buFont typeface="Arial"/>
              <a:buNone/>
            </a:pPr>
            <a:fld id="{00000000-1234-1234-1234-123412341234}" type="slidenum">
              <a:rPr lang="tr-TR" sz="1200">
                <a:solidFill>
                  <a:srgbClr val="898989"/>
                </a:solidFill>
                <a:latin typeface="Calibri"/>
                <a:ea typeface="Calibri"/>
                <a:cs typeface="Calibri"/>
                <a:sym typeface="Calibri"/>
              </a:rPr>
              <a:t>‹#›</a:t>
            </a:fld>
            <a:endParaRPr sz="1200">
              <a:solidFill>
                <a:srgbClr val="898989"/>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eması">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ntegral">
  <a:themeElements>
    <a:clrScheme name="E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2010-01-25T20:44:37Z</dcterms:created>
  <dc:creator>KADRİYEE</dc:creator>
</cp:coreProperties>
</file>