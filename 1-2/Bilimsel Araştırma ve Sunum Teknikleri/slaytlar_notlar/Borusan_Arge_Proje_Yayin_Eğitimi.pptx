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1" roundtripDataSignature="AMtx7mgJ11hth5X2g6UVds4VE8QjuwaB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7C13C7-C8F4-4BBF-AC0E-6AC2C8011462}">
  <a:tblStyle styleId="{827C13C7-C8F4-4BBF-AC0E-6AC2C8011462}" styleName="Table_0">
    <a:wholeTbl>
      <a:tcTxStyle b="off" i="off">
        <a:font>
          <a:latin typeface="Tw Cen MT"/>
          <a:ea typeface="Tw Cen MT"/>
          <a:cs typeface="Tw Cen MT"/>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F1F0EC"/>
          </a:solidFill>
        </a:fill>
      </a:tcStyle>
    </a:band1H>
    <a:band2H>
      <a:tcTxStyle/>
    </a:band2H>
    <a:band1V>
      <a:tcTxStyle/>
      <a:tcStyle>
        <a:fill>
          <a:solidFill>
            <a:srgbClr val="F1F0EC"/>
          </a:solidFill>
        </a:fill>
      </a:tcStyle>
    </a:band1V>
    <a:band2V>
      <a:tcTx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chemeClr val="lt1"/>
          </a:solidFill>
        </a:fill>
      </a:tcStyle>
    </a:lastRow>
    <a:seCell>
      <a:tcTxStyle/>
    </a:seCell>
    <a:swCell>
      <a:tcTxStyle/>
    </a:swCell>
    <a:firstRow>
      <a:tcTxStyle b="on" i="off">
        <a:font>
          <a:latin typeface="Tw Cen MT"/>
          <a:ea typeface="Tw Cen MT"/>
          <a:cs typeface="Tw Cen MT"/>
        </a:font>
        <a:schemeClr val="lt1"/>
      </a:tcTxStyle>
      <a:tcStyle>
        <a:fill>
          <a:solidFill>
            <a:schemeClr val="accent1"/>
          </a:solidFill>
        </a:fill>
      </a:tcStyle>
    </a:firstRow>
    <a:neCell>
      <a:tcTxStyle/>
    </a:neCell>
    <a:nwCell>
      <a:tcTxStyle/>
    </a:nwCell>
  </a:tblStyle>
  <a:tblStyle styleId="{8AD20FD6-57B2-40A4-B154-77D1C63D14A9}" styleName="Table_1">
    <a:wholeTbl>
      <a:tcTxStyle b="off" i="off">
        <a:font>
          <a:latin typeface="Tw Cen MT"/>
          <a:ea typeface="Tw Cen MT"/>
          <a:cs typeface="Tw Cen MT"/>
        </a:font>
        <a:schemeClr val="dk1"/>
      </a:tcTxStyle>
      <a:tcStyle>
        <a:tcBdr>
          <a:left>
            <a:ln cap="flat" cmpd="sng" w="12700">
              <a:solidFill>
                <a:schemeClr val="accent6"/>
              </a:solidFill>
              <a:prstDash val="solid"/>
              <a:round/>
              <a:headEnd len="sm" w="sm" type="none"/>
              <a:tailEnd len="sm" w="sm" type="none"/>
            </a:ln>
          </a:left>
          <a:right>
            <a:ln cap="flat" cmpd="sng" w="12700">
              <a:solidFill>
                <a:schemeClr val="accent6"/>
              </a:solidFill>
              <a:prstDash val="solid"/>
              <a:round/>
              <a:headEnd len="sm" w="sm" type="none"/>
              <a:tailEnd len="sm" w="sm" type="none"/>
            </a:ln>
          </a:right>
          <a:top>
            <a:ln cap="flat" cmpd="sng" w="12700">
              <a:solidFill>
                <a:schemeClr val="accent6"/>
              </a:solidFill>
              <a:prstDash val="solid"/>
              <a:round/>
              <a:headEnd len="sm" w="sm" type="none"/>
              <a:tailEnd len="sm" w="sm" type="none"/>
            </a:ln>
          </a:top>
          <a:bottom>
            <a:ln cap="flat" cmpd="sng" w="12700">
              <a:solidFill>
                <a:schemeClr val="accent6"/>
              </a:solidFill>
              <a:prstDash val="solid"/>
              <a:round/>
              <a:headEnd len="sm" w="sm" type="none"/>
              <a:tailEnd len="sm" w="sm" type="none"/>
            </a:ln>
          </a:bottom>
          <a:insideH>
            <a:ln cap="flat" cmpd="sng" w="12700">
              <a:solidFill>
                <a:schemeClr val="accent6"/>
              </a:solidFill>
              <a:prstDash val="solid"/>
              <a:round/>
              <a:headEnd len="sm" w="sm" type="none"/>
              <a:tailEnd len="sm" w="sm" type="none"/>
            </a:ln>
          </a:insideH>
          <a:insideV>
            <a:ln cap="flat" cmpd="sng" w="12700">
              <a:solidFill>
                <a:schemeClr val="accent6"/>
              </a:solidFill>
              <a:prstDash val="solid"/>
              <a:round/>
              <a:headEnd len="sm" w="sm" type="none"/>
              <a:tailEnd len="sm" w="sm" type="none"/>
            </a:ln>
          </a:insideV>
        </a:tcBdr>
        <a:fill>
          <a:solidFill>
            <a:srgbClr val="F2F0ED"/>
          </a:solidFill>
        </a:fill>
      </a:tcStyle>
    </a:wholeTbl>
    <a:band1H>
      <a:tcTxStyle/>
      <a:tcStyle>
        <a:fill>
          <a:solidFill>
            <a:srgbClr val="E4DFD9"/>
          </a:solidFill>
        </a:fill>
      </a:tcStyle>
    </a:band1H>
    <a:band2H>
      <a:tcTxStyle/>
    </a:band2H>
    <a:band1V>
      <a:tcTxStyle/>
      <a:tcStyle>
        <a:fill>
          <a:solidFill>
            <a:srgbClr val="E4DFD9"/>
          </a:solidFill>
        </a:fill>
      </a:tcStyle>
    </a:band1V>
    <a:band2V>
      <a:tcTxStyle/>
    </a:band2V>
    <a:lastCol>
      <a:tcTxStyle b="on" i="off"/>
    </a:lastCol>
    <a:firstCol>
      <a:tcTxStyle b="on" i="off"/>
    </a:firstCol>
    <a:lastRow>
      <a:tcTxStyle b="on" i="off"/>
      <a:tcStyle>
        <a:tcBdr>
          <a:top>
            <a:ln cap="flat" cmpd="sng" w="25400">
              <a:solidFill>
                <a:schemeClr val="accent6"/>
              </a:solidFill>
              <a:prstDash val="solid"/>
              <a:round/>
              <a:headEnd len="sm" w="sm" type="none"/>
              <a:tailEnd len="sm" w="sm" type="none"/>
            </a:ln>
          </a:top>
        </a:tcBdr>
        <a:fill>
          <a:solidFill>
            <a:srgbClr val="F2F0ED"/>
          </a:solidFill>
        </a:fill>
      </a:tcStyle>
    </a:lastRow>
    <a:seCell>
      <a:tcTxStyle/>
    </a:seCell>
    <a:swCell>
      <a:tcTxStyle/>
    </a:swCell>
    <a:firstRow>
      <a:tcTxStyle b="on" i="off"/>
      <a:tcStyle>
        <a:fill>
          <a:solidFill>
            <a:srgbClr val="F2F0ED"/>
          </a:solidFill>
        </a:fill>
      </a:tcStyle>
    </a:firstRow>
    <a:neCell>
      <a:tcTxStyle/>
    </a:neCell>
    <a:nwCell>
      <a:tcTxStyle/>
    </a:nwCell>
  </a:tblStyle>
  <a:tblStyle styleId="{2FC14CAD-4C46-426C-AFF0-AB8EBF065BA4}" styleName="Table_2">
    <a:wholeTbl>
      <a:tcTxStyle b="off" i="off">
        <a:font>
          <a:latin typeface="Tw Cen MT"/>
          <a:ea typeface="Tw Cen MT"/>
          <a:cs typeface="Tw Cen MT"/>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C711254-F0DD-4DA0-9749-A49FAA096954}" styleName="Table_3">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slide" Target="slides/slide4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tr-T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tr-TR"/>
              <a:t>Eğitmen Notları</a:t>
            </a:r>
            <a:endParaRPr/>
          </a:p>
          <a:p>
            <a:pPr indent="0" lvl="0" marL="0" rtl="0" algn="l">
              <a:spcBef>
                <a:spcPts val="0"/>
              </a:spcBef>
              <a:spcAft>
                <a:spcPts val="0"/>
              </a:spcAft>
              <a:buNone/>
            </a:pPr>
            <a:r>
              <a:rPr lang="tr-TR"/>
              <a:t>“Literatür taraması, bir projenin kalbi gibidir. Yöntem seçimi, yenilik iddiası ve akademik katkı tamamen literatürü ne kadar iyi bildiğinizle ilişkilidir.”</a:t>
            </a:r>
            <a:endParaRPr/>
          </a:p>
          <a:p>
            <a:pPr indent="0" lvl="0" marL="0" rtl="0" algn="l">
              <a:spcBef>
                <a:spcPts val="0"/>
              </a:spcBef>
              <a:spcAft>
                <a:spcPts val="0"/>
              </a:spcAft>
              <a:buNone/>
            </a:pPr>
            <a:r>
              <a:rPr lang="tr-TR"/>
              <a:t>Borusan örneği: "Vehicle renewal prediction" çalışmasının literatürde premium segmentte sınırlı olması → </a:t>
            </a:r>
            <a:r>
              <a:rPr i="1" lang="tr-TR"/>
              <a:t>novelty fırsatı</a:t>
            </a:r>
            <a:endParaRPr/>
          </a:p>
          <a:p>
            <a:pPr indent="0" lvl="0" marL="0" rtl="0" algn="l">
              <a:spcBef>
                <a:spcPts val="0"/>
              </a:spcBef>
              <a:spcAft>
                <a:spcPts val="0"/>
              </a:spcAft>
              <a:buNone/>
            </a:pPr>
            <a:r>
              <a:rPr lang="tr-TR"/>
              <a:t>Katılımcılara: “Sizce literatür taramasını ne zaman yapmaya başlamak gerekir?”sorulabilir.</a:t>
            </a:r>
            <a:endParaRPr/>
          </a:p>
          <a:p>
            <a:pPr indent="0" lvl="0" marL="0" rtl="0" algn="l">
              <a:spcBef>
                <a:spcPts val="0"/>
              </a:spcBef>
              <a:spcAft>
                <a:spcPts val="0"/>
              </a:spcAft>
              <a:buNone/>
            </a:pPr>
            <a:r>
              <a:t/>
            </a:r>
            <a:endParaRPr/>
          </a:p>
        </p:txBody>
      </p:sp>
      <p:sp>
        <p:nvSpPr>
          <p:cNvPr id="122" name="Google Shape;1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tr-TR" sz="1200" u="none" strike="noStrike">
                <a:solidFill>
                  <a:schemeClr val="dk1"/>
                </a:solidFill>
                <a:latin typeface="Calibri"/>
                <a:ea typeface="Calibri"/>
                <a:cs typeface="Calibri"/>
                <a:sym typeface="Calibri"/>
              </a:rPr>
              <a:t>Araç Adı</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tr-TR" sz="1200" u="none" strike="noStrike">
                <a:solidFill>
                  <a:schemeClr val="dk1"/>
                </a:solidFill>
                <a:latin typeface="Calibri"/>
                <a:ea typeface="Calibri"/>
                <a:cs typeface="Calibri"/>
                <a:sym typeface="Calibri"/>
              </a:rPr>
              <a:t>Web Adresi</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tr-TR" sz="1200" u="none" strike="noStrike">
                <a:solidFill>
                  <a:schemeClr val="dk1"/>
                </a:solidFill>
                <a:latin typeface="Calibri"/>
                <a:ea typeface="Calibri"/>
                <a:cs typeface="Calibri"/>
                <a:sym typeface="Calibri"/>
              </a:rPr>
              <a:t>Ücret Durumu</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tr-TR" sz="1200" u="none" strike="noStrike">
                <a:solidFill>
                  <a:schemeClr val="dk1"/>
                </a:solidFill>
                <a:latin typeface="Calibri"/>
                <a:ea typeface="Calibri"/>
                <a:cs typeface="Calibri"/>
                <a:sym typeface="Calibri"/>
              </a:rPr>
              <a:t>Güçlü Yanı</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tr-TR" sz="1200" u="none" strike="noStrike">
                <a:solidFill>
                  <a:schemeClr val="dk1"/>
                </a:solidFill>
                <a:latin typeface="Calibri"/>
                <a:ea typeface="Calibri"/>
                <a:cs typeface="Calibri"/>
                <a:sym typeface="Calibri"/>
              </a:rPr>
              <a:t>Ne Zaman Kullanılmalı?</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tr-TR" sz="1200" u="none" strike="noStrike">
                <a:solidFill>
                  <a:schemeClr val="dk1"/>
                </a:solidFill>
                <a:latin typeface="Calibri"/>
                <a:ea typeface="Calibri"/>
                <a:cs typeface="Calibri"/>
                <a:sym typeface="Calibri"/>
              </a:rPr>
              <a:t>Örnek Borusan Senaryosu</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u="none" strike="noStrike">
              <a:solidFill>
                <a:schemeClr val="dk1"/>
              </a:solidFill>
              <a:latin typeface="Calibri"/>
              <a:ea typeface="Calibri"/>
              <a:cs typeface="Calibri"/>
              <a:sym typeface="Calibri"/>
            </a:endParaRPr>
          </a:p>
        </p:txBody>
      </p:sp>
      <p:sp>
        <p:nvSpPr>
          <p:cNvPr id="191" name="Google Shape;19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ResearchRabbit</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ExplainPaper</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Perplexity AI</a:t>
            </a:r>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ScholarAI (Chrome ext.)</a:t>
            </a:r>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ArXiv Sanity</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Zotero + GPT Plugin</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198" name="Google Shape;19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tr-TR" sz="1200" u="none" strike="noStrike">
                <a:solidFill>
                  <a:schemeClr val="dk1"/>
                </a:solidFill>
                <a:latin typeface="Calibri"/>
                <a:ea typeface="Calibri"/>
                <a:cs typeface="Calibri"/>
                <a:sym typeface="Calibri"/>
              </a:rPr>
              <a:t>Kategori</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tr-TR" sz="1200" u="none" strike="noStrike">
                <a:solidFill>
                  <a:schemeClr val="dk1"/>
                </a:solidFill>
                <a:latin typeface="Calibri"/>
                <a:ea typeface="Calibri"/>
                <a:cs typeface="Calibri"/>
                <a:sym typeface="Calibri"/>
              </a:rPr>
              <a:t>Araçlar</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 Keşif &amp; Arama</a:t>
            </a:r>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Elicit, Semantic Scholar AI, Perplexity AI, ScholarAI, ArXiv Sanity</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  İlişki Analizi &amp; Literatür Haritalama</a:t>
            </a:r>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Connected Papers, ResearchRabbit</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 Makale Anlama &amp; Özetleme</a:t>
            </a:r>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Scispace, ExplainPaper</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 Akademik Yazım &amp; Metin Üretimi</a:t>
            </a:r>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ChatGPT , Scispace</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 Atıf &amp; Kaynak Yönetimi</a:t>
            </a:r>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EndNote, Zotero + GPT</a:t>
            </a:r>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 Hipotez / Araştırma Sorusu Geliştirme</a:t>
            </a:r>
            <a:endParaRPr/>
          </a:p>
          <a:p>
            <a:pPr indent="0" lvl="0" marL="0" rtl="0" algn="l">
              <a:spcBef>
                <a:spcPts val="0"/>
              </a:spcBef>
              <a:spcAft>
                <a:spcPts val="0"/>
              </a:spcAft>
              <a:buNone/>
            </a:pPr>
            <a:r>
              <a:rPr b="0" i="0" lang="tr-TR" sz="1200" u="none" strike="noStrike">
                <a:solidFill>
                  <a:schemeClr val="dk1"/>
                </a:solidFill>
                <a:latin typeface="Calibri"/>
                <a:ea typeface="Calibri"/>
                <a:cs typeface="Calibri"/>
                <a:sym typeface="Calibri"/>
              </a:rPr>
              <a:t>ChatGPT, Elicit</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205" name="Google Shape;20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tr-TR"/>
              <a:t>Örnek Akademik Yöntem Başlıkları</a:t>
            </a:r>
            <a:endParaRPr/>
          </a:p>
          <a:p>
            <a:pPr indent="0" lvl="0" marL="0" rtl="0" algn="l">
              <a:spcBef>
                <a:spcPts val="0"/>
              </a:spcBef>
              <a:spcAft>
                <a:spcPts val="0"/>
              </a:spcAft>
              <a:buNone/>
            </a:pPr>
            <a:r>
              <a:rPr i="1" lang="tr-TR"/>
              <a:t>3.1. Veri Seti ve Özellikler (Features)</a:t>
            </a:r>
            <a:endParaRPr/>
          </a:p>
          <a:p>
            <a:pPr indent="0" lvl="0" marL="0" rtl="0" algn="l">
              <a:spcBef>
                <a:spcPts val="0"/>
              </a:spcBef>
              <a:spcAft>
                <a:spcPts val="0"/>
              </a:spcAft>
              <a:buNone/>
            </a:pPr>
            <a:r>
              <a:rPr i="1" lang="tr-TR"/>
              <a:t>3.2. Ön İşleme ve EDA</a:t>
            </a:r>
            <a:endParaRPr/>
          </a:p>
          <a:p>
            <a:pPr indent="0" lvl="0" marL="0" rtl="0" algn="l">
              <a:spcBef>
                <a:spcPts val="0"/>
              </a:spcBef>
              <a:spcAft>
                <a:spcPts val="0"/>
              </a:spcAft>
              <a:buNone/>
            </a:pPr>
            <a:r>
              <a:rPr i="1" lang="tr-TR"/>
              <a:t>3.3. Makine Öğrenmesi Modelleri</a:t>
            </a:r>
            <a:endParaRPr/>
          </a:p>
          <a:p>
            <a:pPr indent="0" lvl="0" marL="0" rtl="0" algn="l">
              <a:spcBef>
                <a:spcPts val="0"/>
              </a:spcBef>
              <a:spcAft>
                <a:spcPts val="0"/>
              </a:spcAft>
              <a:buNone/>
            </a:pPr>
            <a:r>
              <a:rPr i="1" lang="tr-TR"/>
              <a:t>3.4. Değerlendirme Metrikleri</a:t>
            </a:r>
            <a:endParaRPr/>
          </a:p>
          <a:p>
            <a:pPr indent="0" lvl="0" marL="0" rtl="0" algn="l">
              <a:spcBef>
                <a:spcPts val="0"/>
              </a:spcBef>
              <a:spcAft>
                <a:spcPts val="0"/>
              </a:spcAft>
              <a:buNone/>
            </a:pPr>
            <a:r>
              <a:rPr i="1" lang="tr-TR"/>
              <a:t>3.5. Hibrit Yaklaşım Tasarımı</a:t>
            </a:r>
            <a:endParaRPr/>
          </a:p>
          <a:p>
            <a:pPr indent="0" lvl="0" marL="0" rtl="0" algn="l">
              <a:spcBef>
                <a:spcPts val="0"/>
              </a:spcBef>
              <a:spcAft>
                <a:spcPts val="0"/>
              </a:spcAft>
              <a:buNone/>
            </a:pPr>
            <a:r>
              <a:rPr b="1" lang="tr-TR"/>
              <a:t>Akademik Yazım İpuçları</a:t>
            </a:r>
            <a:endParaRPr/>
          </a:p>
          <a:p>
            <a:pPr indent="0" lvl="0" marL="0" rtl="0" algn="l">
              <a:spcBef>
                <a:spcPts val="0"/>
              </a:spcBef>
              <a:spcAft>
                <a:spcPts val="0"/>
              </a:spcAft>
              <a:buNone/>
            </a:pPr>
            <a:r>
              <a:rPr lang="tr-TR"/>
              <a:t>Şekil ve algoritma diyagramı eklemek büyük avantajdır</a:t>
            </a:r>
            <a:endParaRPr/>
          </a:p>
          <a:p>
            <a:pPr indent="0" lvl="0" marL="0" rtl="0" algn="l">
              <a:spcBef>
                <a:spcPts val="0"/>
              </a:spcBef>
              <a:spcAft>
                <a:spcPts val="0"/>
              </a:spcAft>
              <a:buNone/>
            </a:pPr>
            <a:r>
              <a:rPr lang="tr-TR"/>
              <a:t>Kullanılan hiperparametreleri mutlaka belirtin</a:t>
            </a:r>
            <a:endParaRPr/>
          </a:p>
          <a:p>
            <a:pPr indent="0" lvl="0" marL="0" rtl="0" algn="l">
              <a:spcBef>
                <a:spcPts val="0"/>
              </a:spcBef>
              <a:spcAft>
                <a:spcPts val="0"/>
              </a:spcAft>
              <a:buNone/>
            </a:pPr>
            <a:r>
              <a:rPr lang="tr-TR"/>
              <a:t>Tekrar uygulama yapmak için yeterli teknik detay şarttır</a:t>
            </a:r>
            <a:endParaRPr/>
          </a:p>
          <a:p>
            <a:pPr indent="0" lvl="0" marL="0" rtl="0" algn="l">
              <a:spcBef>
                <a:spcPts val="0"/>
              </a:spcBef>
              <a:spcAft>
                <a:spcPts val="0"/>
              </a:spcAft>
              <a:buNone/>
            </a:pPr>
            <a:r>
              <a:t/>
            </a:r>
            <a:endParaRPr/>
          </a:p>
        </p:txBody>
      </p:sp>
      <p:sp>
        <p:nvSpPr>
          <p:cNvPr id="245" name="Google Shape;24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96" name="Google Shape;296;p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tr-T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03" name="Google Shape;303;p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tr-T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tr-TR"/>
              <a:t>Çalışmanın Amacını Tekrar Hatırlat, 2. En Önemli Bulguları Özetle, 3. Çalışmanın Katkılarını Açıkça Yaz , 4. Gelecek Çalışmalara (Future Work) Öneriler Ver</a:t>
            </a:r>
            <a:endParaRPr/>
          </a:p>
          <a:p>
            <a:pPr indent="0" lvl="0" marL="0" rtl="0" algn="l">
              <a:spcBef>
                <a:spcPts val="0"/>
              </a:spcBef>
              <a:spcAft>
                <a:spcPts val="0"/>
              </a:spcAft>
              <a:buNone/>
            </a:pPr>
            <a:r>
              <a:t/>
            </a:r>
            <a:endParaRPr/>
          </a:p>
        </p:txBody>
      </p:sp>
      <p:sp>
        <p:nvSpPr>
          <p:cNvPr id="331" name="Google Shape;331;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74" name="Google Shape;374;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81" name="Google Shape;381;p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tr-T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Slaydı" showMasterSp="0" type="title">
  <p:cSld name="TITLE">
    <p:spTree>
      <p:nvGrpSpPr>
        <p:cNvPr id="16" name="Shape 16"/>
        <p:cNvGrpSpPr/>
        <p:nvPr/>
      </p:nvGrpSpPr>
      <p:grpSpPr>
        <a:xfrm>
          <a:off x="0" y="0"/>
          <a:ext cx="0" cy="0"/>
          <a:chOff x="0" y="0"/>
          <a:chExt cx="0" cy="0"/>
        </a:xfrm>
      </p:grpSpPr>
      <p:sp>
        <p:nvSpPr>
          <p:cNvPr id="17" name="Google Shape;17;p46"/>
          <p:cNvSpPr/>
          <p:nvPr/>
        </p:nvSpPr>
        <p:spPr>
          <a:xfrm>
            <a:off x="0" y="-1"/>
            <a:ext cx="9144000" cy="4572001"/>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6"/>
          <p:cNvSpPr txBox="1"/>
          <p:nvPr>
            <p:ph type="ctrTitle"/>
          </p:nvPr>
        </p:nvSpPr>
        <p:spPr>
          <a:xfrm>
            <a:off x="342900" y="4960137"/>
            <a:ext cx="58293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464132"/>
              </a:buClr>
              <a:buSzPts val="4400"/>
              <a:buFont typeface="Twentieth Century"/>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6"/>
          <p:cNvSpPr txBox="1"/>
          <p:nvPr>
            <p:ph idx="1" type="subTitle"/>
          </p:nvPr>
        </p:nvSpPr>
        <p:spPr>
          <a:xfrm>
            <a:off x="6457950" y="4960137"/>
            <a:ext cx="24003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600"/>
              <a:buNone/>
              <a:defRPr sz="1600">
                <a:solidFill>
                  <a:srgbClr val="464132"/>
                </a:solidFill>
              </a:defRPr>
            </a:lvl1pPr>
            <a:lvl2pPr lvl="1" algn="ctr">
              <a:lnSpc>
                <a:spcPct val="90000"/>
              </a:lnSpc>
              <a:spcBef>
                <a:spcPts val="200"/>
              </a:spcBef>
              <a:spcAft>
                <a:spcPts val="0"/>
              </a:spcAft>
              <a:buSzPts val="1600"/>
              <a:buNone/>
              <a:defRPr sz="1600"/>
            </a:lvl2pPr>
            <a:lvl3pPr lvl="2" algn="ctr">
              <a:lnSpc>
                <a:spcPct val="90000"/>
              </a:lnSpc>
              <a:spcBef>
                <a:spcPts val="400"/>
              </a:spcBef>
              <a:spcAft>
                <a:spcPts val="0"/>
              </a:spcAft>
              <a:buSzPts val="1600"/>
              <a:buNone/>
              <a:defRPr sz="1600"/>
            </a:lvl3pPr>
            <a:lvl4pPr lvl="3" algn="ctr">
              <a:lnSpc>
                <a:spcPct val="90000"/>
              </a:lnSpc>
              <a:spcBef>
                <a:spcPts val="400"/>
              </a:spcBef>
              <a:spcAft>
                <a:spcPts val="0"/>
              </a:spcAft>
              <a:buSzPts val="1600"/>
              <a:buNone/>
              <a:defRPr sz="1600"/>
            </a:lvl4pPr>
            <a:lvl5pPr lvl="4" algn="ctr">
              <a:lnSpc>
                <a:spcPct val="90000"/>
              </a:lnSpc>
              <a:spcBef>
                <a:spcPts val="400"/>
              </a:spcBef>
              <a:spcAft>
                <a:spcPts val="0"/>
              </a:spcAft>
              <a:buSzPts val="1600"/>
              <a:buNone/>
              <a:defRPr sz="1600"/>
            </a:lvl5pPr>
            <a:lvl6pPr lvl="5" algn="ctr">
              <a:lnSpc>
                <a:spcPct val="90000"/>
              </a:lnSpc>
              <a:spcBef>
                <a:spcPts val="400"/>
              </a:spcBef>
              <a:spcAft>
                <a:spcPts val="0"/>
              </a:spcAft>
              <a:buSzPts val="1600"/>
              <a:buNone/>
              <a:defRPr sz="1600"/>
            </a:lvl6pPr>
            <a:lvl7pPr lvl="6" algn="ctr">
              <a:lnSpc>
                <a:spcPct val="90000"/>
              </a:lnSpc>
              <a:spcBef>
                <a:spcPts val="400"/>
              </a:spcBef>
              <a:spcAft>
                <a:spcPts val="0"/>
              </a:spcAft>
              <a:buSzPts val="1600"/>
              <a:buNone/>
              <a:defRPr sz="1600"/>
            </a:lvl7pPr>
            <a:lvl8pPr lvl="7" algn="ctr">
              <a:lnSpc>
                <a:spcPct val="90000"/>
              </a:lnSpc>
              <a:spcBef>
                <a:spcPts val="400"/>
              </a:spcBef>
              <a:spcAft>
                <a:spcPts val="0"/>
              </a:spcAft>
              <a:buSzPts val="1600"/>
              <a:buNone/>
              <a:defRPr sz="1600"/>
            </a:lvl8pPr>
            <a:lvl9pPr lvl="8" algn="ctr">
              <a:lnSpc>
                <a:spcPct val="90000"/>
              </a:lnSpc>
              <a:spcBef>
                <a:spcPts val="400"/>
              </a:spcBef>
              <a:spcAft>
                <a:spcPts val="400"/>
              </a:spcAft>
              <a:buSzPts val="1600"/>
              <a:buNone/>
              <a:defRPr sz="1600"/>
            </a:lvl9pPr>
          </a:lstStyle>
          <a:p/>
        </p:txBody>
      </p:sp>
      <p:sp>
        <p:nvSpPr>
          <p:cNvPr id="20" name="Google Shape;20;p46"/>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6"/>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6"/>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tr-TR"/>
              <a:t>‹#›</a:t>
            </a:fld>
            <a:endParaRPr/>
          </a:p>
        </p:txBody>
      </p:sp>
      <p:cxnSp>
        <p:nvCxnSpPr>
          <p:cNvPr id="23" name="Google Shape;23;p46"/>
          <p:cNvCxnSpPr/>
          <p:nvPr/>
        </p:nvCxnSpPr>
        <p:spPr>
          <a:xfrm rot="10800000">
            <a:off x="6290132" y="5264106"/>
            <a:ext cx="0" cy="914400"/>
          </a:xfrm>
          <a:prstGeom prst="straightConnector1">
            <a:avLst/>
          </a:prstGeom>
          <a:noFill/>
          <a:ln cap="flat" cmpd="sng" w="19050">
            <a:solidFill>
              <a:schemeClr val="accent2"/>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İçerik" type="obj">
  <p:cSld name="OBJECT">
    <p:spTree>
      <p:nvGrpSpPr>
        <p:cNvPr id="24" name="Shape 24"/>
        <p:cNvGrpSpPr/>
        <p:nvPr/>
      </p:nvGrpSpPr>
      <p:grpSpPr>
        <a:xfrm>
          <a:off x="0" y="0"/>
          <a:ext cx="0" cy="0"/>
          <a:chOff x="0" y="0"/>
          <a:chExt cx="0" cy="0"/>
        </a:xfrm>
      </p:grpSpPr>
      <p:sp>
        <p:nvSpPr>
          <p:cNvPr id="25" name="Google Shape;25;p47"/>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464132"/>
              </a:buClr>
              <a:buSzPts val="4400"/>
              <a:buFont typeface="Twentieth Century"/>
              <a:buNone/>
              <a:defRPr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7"/>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7" name="Google Shape;27;p47"/>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7"/>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7"/>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rşılaştırma" type="twoTxTwoObj">
  <p:cSld name="TWO_OBJECTS_WITH_TEXT">
    <p:spTree>
      <p:nvGrpSpPr>
        <p:cNvPr id="30" name="Shape 30"/>
        <p:cNvGrpSpPr/>
        <p:nvPr/>
      </p:nvGrpSpPr>
      <p:grpSpPr>
        <a:xfrm>
          <a:off x="0" y="0"/>
          <a:ext cx="0" cy="0"/>
          <a:chOff x="0" y="0"/>
          <a:chExt cx="0" cy="0"/>
        </a:xfrm>
      </p:grpSpPr>
      <p:sp>
        <p:nvSpPr>
          <p:cNvPr id="31" name="Google Shape;31;p48"/>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4641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8"/>
          <p:cNvSpPr txBox="1"/>
          <p:nvPr>
            <p:ph idx="1" type="body"/>
          </p:nvPr>
        </p:nvSpPr>
        <p:spPr>
          <a:xfrm>
            <a:off x="768096" y="2179636"/>
            <a:ext cx="356616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200"/>
              <a:buNone/>
              <a:defRPr b="0" sz="2200" cap="none">
                <a:solidFill>
                  <a:srgbClr val="679B9A"/>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33" name="Google Shape;33;p48"/>
          <p:cNvSpPr txBox="1"/>
          <p:nvPr>
            <p:ph idx="2" type="body"/>
          </p:nvPr>
        </p:nvSpPr>
        <p:spPr>
          <a:xfrm>
            <a:off x="768096" y="2967788"/>
            <a:ext cx="356616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4" name="Google Shape;34;p48"/>
          <p:cNvSpPr txBox="1"/>
          <p:nvPr>
            <p:ph idx="3" type="body"/>
          </p:nvPr>
        </p:nvSpPr>
        <p:spPr>
          <a:xfrm>
            <a:off x="4491990" y="2179636"/>
            <a:ext cx="356616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200"/>
              <a:buNone/>
              <a:defRPr b="0" sz="2200" cap="none">
                <a:solidFill>
                  <a:srgbClr val="679B9A"/>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35" name="Google Shape;35;p48"/>
          <p:cNvSpPr txBox="1"/>
          <p:nvPr>
            <p:ph idx="4" type="body"/>
          </p:nvPr>
        </p:nvSpPr>
        <p:spPr>
          <a:xfrm>
            <a:off x="4491990" y="2967788"/>
            <a:ext cx="356616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6" name="Google Shape;36;p48"/>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8"/>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8"/>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ölüm Üstbilgisi" showMasterSp="0" type="secHead">
  <p:cSld name="SECTION_HEADER">
    <p:spTree>
      <p:nvGrpSpPr>
        <p:cNvPr id="39" name="Shape 39"/>
        <p:cNvGrpSpPr/>
        <p:nvPr/>
      </p:nvGrpSpPr>
      <p:grpSpPr>
        <a:xfrm>
          <a:off x="0" y="0"/>
          <a:ext cx="0" cy="0"/>
          <a:chOff x="0" y="0"/>
          <a:chExt cx="0" cy="0"/>
        </a:xfrm>
      </p:grpSpPr>
      <p:sp>
        <p:nvSpPr>
          <p:cNvPr id="40" name="Google Shape;40;p49"/>
          <p:cNvSpPr/>
          <p:nvPr/>
        </p:nvSpPr>
        <p:spPr>
          <a:xfrm>
            <a:off x="0" y="-1"/>
            <a:ext cx="9144000" cy="45720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9"/>
          <p:cNvSpPr txBox="1"/>
          <p:nvPr>
            <p:ph type="title"/>
          </p:nvPr>
        </p:nvSpPr>
        <p:spPr>
          <a:xfrm>
            <a:off x="342900" y="4960137"/>
            <a:ext cx="58293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464132"/>
              </a:buClr>
              <a:buSzPts val="4400"/>
              <a:buFont typeface="Twentieth Century"/>
              <a:buNone/>
              <a:defRPr b="0"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9"/>
          <p:cNvSpPr txBox="1"/>
          <p:nvPr>
            <p:ph idx="1" type="body"/>
          </p:nvPr>
        </p:nvSpPr>
        <p:spPr>
          <a:xfrm>
            <a:off x="6457950" y="4960137"/>
            <a:ext cx="24003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600"/>
              <a:buNone/>
              <a:defRPr sz="1600">
                <a:solidFill>
                  <a:srgbClr val="464132"/>
                </a:solidFill>
              </a:defRPr>
            </a:lvl1pPr>
            <a:lvl2pPr indent="-228600" lvl="1" marL="914400" algn="l">
              <a:lnSpc>
                <a:spcPct val="90000"/>
              </a:lnSpc>
              <a:spcBef>
                <a:spcPts val="200"/>
              </a:spcBef>
              <a:spcAft>
                <a:spcPts val="0"/>
              </a:spcAft>
              <a:buSzPts val="1600"/>
              <a:buNone/>
              <a:defRPr sz="1600">
                <a:solidFill>
                  <a:srgbClr val="8C8B8A"/>
                </a:solidFill>
              </a:defRPr>
            </a:lvl2pPr>
            <a:lvl3pPr indent="-228600" lvl="2" marL="1371600" algn="l">
              <a:lnSpc>
                <a:spcPct val="90000"/>
              </a:lnSpc>
              <a:spcBef>
                <a:spcPts val="400"/>
              </a:spcBef>
              <a:spcAft>
                <a:spcPts val="0"/>
              </a:spcAft>
              <a:buSzPts val="1600"/>
              <a:buNone/>
              <a:defRPr sz="1600">
                <a:solidFill>
                  <a:srgbClr val="8C8B8A"/>
                </a:solidFill>
              </a:defRPr>
            </a:lvl3pPr>
            <a:lvl4pPr indent="-228600" lvl="3" marL="1828800" algn="l">
              <a:lnSpc>
                <a:spcPct val="90000"/>
              </a:lnSpc>
              <a:spcBef>
                <a:spcPts val="400"/>
              </a:spcBef>
              <a:spcAft>
                <a:spcPts val="0"/>
              </a:spcAft>
              <a:buSzPts val="1400"/>
              <a:buNone/>
              <a:defRPr sz="1400">
                <a:solidFill>
                  <a:srgbClr val="8C8B8A"/>
                </a:solidFill>
              </a:defRPr>
            </a:lvl4pPr>
            <a:lvl5pPr indent="-228600" lvl="4" marL="2286000" algn="l">
              <a:lnSpc>
                <a:spcPct val="90000"/>
              </a:lnSpc>
              <a:spcBef>
                <a:spcPts val="400"/>
              </a:spcBef>
              <a:spcAft>
                <a:spcPts val="0"/>
              </a:spcAft>
              <a:buSzPts val="1400"/>
              <a:buNone/>
              <a:defRPr sz="1400">
                <a:solidFill>
                  <a:srgbClr val="8C8B8A"/>
                </a:solidFill>
              </a:defRPr>
            </a:lvl5pPr>
            <a:lvl6pPr indent="-228600" lvl="5" marL="2743200" algn="l">
              <a:lnSpc>
                <a:spcPct val="90000"/>
              </a:lnSpc>
              <a:spcBef>
                <a:spcPts val="400"/>
              </a:spcBef>
              <a:spcAft>
                <a:spcPts val="0"/>
              </a:spcAft>
              <a:buSzPts val="1400"/>
              <a:buNone/>
              <a:defRPr sz="1400">
                <a:solidFill>
                  <a:srgbClr val="8C8B8A"/>
                </a:solidFill>
              </a:defRPr>
            </a:lvl6pPr>
            <a:lvl7pPr indent="-228600" lvl="6" marL="3200400" algn="l">
              <a:lnSpc>
                <a:spcPct val="90000"/>
              </a:lnSpc>
              <a:spcBef>
                <a:spcPts val="400"/>
              </a:spcBef>
              <a:spcAft>
                <a:spcPts val="0"/>
              </a:spcAft>
              <a:buSzPts val="1400"/>
              <a:buNone/>
              <a:defRPr sz="1400">
                <a:solidFill>
                  <a:srgbClr val="8C8B8A"/>
                </a:solidFill>
              </a:defRPr>
            </a:lvl7pPr>
            <a:lvl8pPr indent="-228600" lvl="7" marL="3657600" algn="l">
              <a:lnSpc>
                <a:spcPct val="90000"/>
              </a:lnSpc>
              <a:spcBef>
                <a:spcPts val="400"/>
              </a:spcBef>
              <a:spcAft>
                <a:spcPts val="0"/>
              </a:spcAft>
              <a:buSzPts val="1400"/>
              <a:buNone/>
              <a:defRPr sz="1400">
                <a:solidFill>
                  <a:srgbClr val="8C8B8A"/>
                </a:solidFill>
              </a:defRPr>
            </a:lvl8pPr>
            <a:lvl9pPr indent="-228600" lvl="8" marL="4114800" algn="l">
              <a:lnSpc>
                <a:spcPct val="90000"/>
              </a:lnSpc>
              <a:spcBef>
                <a:spcPts val="400"/>
              </a:spcBef>
              <a:spcAft>
                <a:spcPts val="400"/>
              </a:spcAft>
              <a:buSzPts val="1400"/>
              <a:buNone/>
              <a:defRPr sz="1400">
                <a:solidFill>
                  <a:srgbClr val="8C8B8A"/>
                </a:solidFill>
              </a:defRPr>
            </a:lvl9pPr>
          </a:lstStyle>
          <a:p/>
        </p:txBody>
      </p:sp>
      <p:sp>
        <p:nvSpPr>
          <p:cNvPr id="43" name="Google Shape;43;p49"/>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9"/>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9"/>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tr-TR"/>
              <a:t>‹#›</a:t>
            </a:fld>
            <a:endParaRPr/>
          </a:p>
        </p:txBody>
      </p:sp>
      <p:cxnSp>
        <p:nvCxnSpPr>
          <p:cNvPr id="46" name="Google Shape;46;p49"/>
          <p:cNvCxnSpPr/>
          <p:nvPr/>
        </p:nvCxnSpPr>
        <p:spPr>
          <a:xfrm rot="10800000">
            <a:off x="6290132" y="5264106"/>
            <a:ext cx="0" cy="914400"/>
          </a:xfrm>
          <a:prstGeom prst="straightConnector1">
            <a:avLst/>
          </a:prstGeom>
          <a:noFill/>
          <a:ln cap="flat" cmpd="sng" w="19050">
            <a:solidFill>
              <a:schemeClr val="accent3"/>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ki İçerik" type="twoObj">
  <p:cSld name="TWO_OBJECTS">
    <p:spTree>
      <p:nvGrpSpPr>
        <p:cNvPr id="47" name="Shape 47"/>
        <p:cNvGrpSpPr/>
        <p:nvPr/>
      </p:nvGrpSpPr>
      <p:grpSpPr>
        <a:xfrm>
          <a:off x="0" y="0"/>
          <a:ext cx="0" cy="0"/>
          <a:chOff x="0" y="0"/>
          <a:chExt cx="0" cy="0"/>
        </a:xfrm>
      </p:grpSpPr>
      <p:sp>
        <p:nvSpPr>
          <p:cNvPr id="48" name="Google Shape;48;p50"/>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4641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50"/>
          <p:cNvSpPr txBox="1"/>
          <p:nvPr>
            <p:ph idx="1" type="body"/>
          </p:nvPr>
        </p:nvSpPr>
        <p:spPr>
          <a:xfrm>
            <a:off x="768096" y="2286000"/>
            <a:ext cx="356616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0" name="Google Shape;50;p50"/>
          <p:cNvSpPr txBox="1"/>
          <p:nvPr>
            <p:ph idx="2" type="body"/>
          </p:nvPr>
        </p:nvSpPr>
        <p:spPr>
          <a:xfrm>
            <a:off x="4491990" y="2286000"/>
            <a:ext cx="356616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50"/>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0"/>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0"/>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alnızca Başlık" type="titleOnly">
  <p:cSld name="TITLE_ONLY">
    <p:spTree>
      <p:nvGrpSpPr>
        <p:cNvPr id="54" name="Shape 54"/>
        <p:cNvGrpSpPr/>
        <p:nvPr/>
      </p:nvGrpSpPr>
      <p:grpSpPr>
        <a:xfrm>
          <a:off x="0" y="0"/>
          <a:ext cx="0" cy="0"/>
          <a:chOff x="0" y="0"/>
          <a:chExt cx="0" cy="0"/>
        </a:xfrm>
      </p:grpSpPr>
      <p:sp>
        <p:nvSpPr>
          <p:cNvPr id="55" name="Google Shape;55;p51"/>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4641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1"/>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1"/>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1"/>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ş" showMasterSp="0" type="blank">
  <p:cSld name="BLANK">
    <p:spTree>
      <p:nvGrpSpPr>
        <p:cNvPr id="59" name="Shape 59"/>
        <p:cNvGrpSpPr/>
        <p:nvPr/>
      </p:nvGrpSpPr>
      <p:grpSpPr>
        <a:xfrm>
          <a:off x="0" y="0"/>
          <a:ext cx="0" cy="0"/>
          <a:chOff x="0" y="0"/>
          <a:chExt cx="0" cy="0"/>
        </a:xfrm>
      </p:grpSpPr>
      <p:sp>
        <p:nvSpPr>
          <p:cNvPr id="60" name="Google Shape;60;p52"/>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52"/>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2"/>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İçerik" type="objTx">
  <p:cSld name="OBJECT_WITH_CAPTION_TEXT">
    <p:spTree>
      <p:nvGrpSpPr>
        <p:cNvPr id="63" name="Shape 63"/>
        <p:cNvGrpSpPr/>
        <p:nvPr/>
      </p:nvGrpSpPr>
      <p:grpSpPr>
        <a:xfrm>
          <a:off x="0" y="0"/>
          <a:ext cx="0" cy="0"/>
          <a:chOff x="0" y="0"/>
          <a:chExt cx="0" cy="0"/>
        </a:xfrm>
      </p:grpSpPr>
      <p:sp>
        <p:nvSpPr>
          <p:cNvPr id="64" name="Google Shape;64;p53"/>
          <p:cNvSpPr txBox="1"/>
          <p:nvPr>
            <p:ph type="title"/>
          </p:nvPr>
        </p:nvSpPr>
        <p:spPr>
          <a:xfrm>
            <a:off x="768096" y="471509"/>
            <a:ext cx="329184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464132"/>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53"/>
          <p:cNvSpPr txBox="1"/>
          <p:nvPr>
            <p:ph idx="1" type="body"/>
          </p:nvPr>
        </p:nvSpPr>
        <p:spPr>
          <a:xfrm>
            <a:off x="4286250" y="822960"/>
            <a:ext cx="4258818" cy="5184648"/>
          </a:xfrm>
          <a:prstGeom prst="rect">
            <a:avLst/>
          </a:prstGeom>
          <a:noFill/>
          <a:ln>
            <a:noFill/>
          </a:ln>
        </p:spPr>
        <p:txBody>
          <a:bodyPr anchorCtr="0" anchor="t" bIns="45700" lIns="45700" spcFirstLastPara="1" rIns="45700" wrap="square" tIns="45700">
            <a:normAutofit/>
          </a:bodyPr>
          <a:lstStyle>
            <a:lvl1pPr indent="-355600" lvl="0" marL="457200" algn="l">
              <a:lnSpc>
                <a:spcPct val="90000"/>
              </a:lnSpc>
              <a:spcBef>
                <a:spcPts val="1200"/>
              </a:spcBef>
              <a:spcAft>
                <a:spcPts val="0"/>
              </a:spcAft>
              <a:buSzPts val="2000"/>
              <a:buChar char=" "/>
              <a:defRPr sz="2000"/>
            </a:lvl1pPr>
            <a:lvl2pPr indent="-330200" lvl="1" marL="914400" algn="l">
              <a:lnSpc>
                <a:spcPct val="90000"/>
              </a:lnSpc>
              <a:spcBef>
                <a:spcPts val="200"/>
              </a:spcBef>
              <a:spcAft>
                <a:spcPts val="0"/>
              </a:spcAft>
              <a:buSzPts val="1600"/>
              <a:buChar char="🢝"/>
              <a:defRPr sz="1600"/>
            </a:lvl2pPr>
            <a:lvl3pPr indent="-304800" lvl="2" marL="1371600" algn="l">
              <a:lnSpc>
                <a:spcPct val="90000"/>
              </a:lnSpc>
              <a:spcBef>
                <a:spcPts val="400"/>
              </a:spcBef>
              <a:spcAft>
                <a:spcPts val="0"/>
              </a:spcAft>
              <a:buSzPts val="1200"/>
              <a:buChar char="🢝"/>
              <a:defRPr sz="1200"/>
            </a:lvl3pPr>
            <a:lvl4pPr indent="-304800" lvl="3" marL="1828800" algn="l">
              <a:lnSpc>
                <a:spcPct val="90000"/>
              </a:lnSpc>
              <a:spcBef>
                <a:spcPts val="400"/>
              </a:spcBef>
              <a:spcAft>
                <a:spcPts val="0"/>
              </a:spcAft>
              <a:buSzPts val="1200"/>
              <a:buChar char="🢝"/>
              <a:defRPr sz="1200"/>
            </a:lvl4pPr>
            <a:lvl5pPr indent="-304800" lvl="4" marL="2286000" algn="l">
              <a:lnSpc>
                <a:spcPct val="90000"/>
              </a:lnSpc>
              <a:spcBef>
                <a:spcPts val="400"/>
              </a:spcBef>
              <a:spcAft>
                <a:spcPts val="0"/>
              </a:spcAft>
              <a:buSzPts val="1200"/>
              <a:buChar char="🢝"/>
              <a:defRPr sz="1200"/>
            </a:lvl5pPr>
            <a:lvl6pPr indent="-304800" lvl="5" marL="2743200" algn="l">
              <a:lnSpc>
                <a:spcPct val="90000"/>
              </a:lnSpc>
              <a:spcBef>
                <a:spcPts val="400"/>
              </a:spcBef>
              <a:spcAft>
                <a:spcPts val="0"/>
              </a:spcAft>
              <a:buSzPts val="1200"/>
              <a:buChar char="🢝"/>
              <a:defRPr sz="1200"/>
            </a:lvl6pPr>
            <a:lvl7pPr indent="-304800" lvl="6" marL="3200400" algn="l">
              <a:lnSpc>
                <a:spcPct val="90000"/>
              </a:lnSpc>
              <a:spcBef>
                <a:spcPts val="400"/>
              </a:spcBef>
              <a:spcAft>
                <a:spcPts val="0"/>
              </a:spcAft>
              <a:buSzPts val="1200"/>
              <a:buChar char="🢝"/>
              <a:defRPr sz="1200"/>
            </a:lvl7pPr>
            <a:lvl8pPr indent="-304800" lvl="7" marL="3657600" algn="l">
              <a:lnSpc>
                <a:spcPct val="90000"/>
              </a:lnSpc>
              <a:spcBef>
                <a:spcPts val="400"/>
              </a:spcBef>
              <a:spcAft>
                <a:spcPts val="0"/>
              </a:spcAft>
              <a:buSzPts val="1200"/>
              <a:buChar char="🢝"/>
              <a:defRPr sz="1200"/>
            </a:lvl8pPr>
            <a:lvl9pPr indent="-304800" lvl="8" marL="4114800" algn="l">
              <a:lnSpc>
                <a:spcPct val="90000"/>
              </a:lnSpc>
              <a:spcBef>
                <a:spcPts val="400"/>
              </a:spcBef>
              <a:spcAft>
                <a:spcPts val="400"/>
              </a:spcAft>
              <a:buSzPts val="1200"/>
              <a:buChar char="🢝"/>
              <a:defRPr sz="1200"/>
            </a:lvl9pPr>
          </a:lstStyle>
          <a:p/>
        </p:txBody>
      </p:sp>
      <p:sp>
        <p:nvSpPr>
          <p:cNvPr id="66" name="Google Shape;66;p53"/>
          <p:cNvSpPr txBox="1"/>
          <p:nvPr>
            <p:ph idx="2" type="body"/>
          </p:nvPr>
        </p:nvSpPr>
        <p:spPr>
          <a:xfrm>
            <a:off x="768096" y="2257506"/>
            <a:ext cx="329184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7" name="Google Shape;67;p53"/>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53"/>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3"/>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Resim" showMasterSp="0" type="picTx">
  <p:cSld name="PICTURE_WITH_CAPTION_TEXT">
    <p:spTree>
      <p:nvGrpSpPr>
        <p:cNvPr id="70" name="Shape 70"/>
        <p:cNvGrpSpPr/>
        <p:nvPr/>
      </p:nvGrpSpPr>
      <p:grpSpPr>
        <a:xfrm>
          <a:off x="0" y="0"/>
          <a:ext cx="0" cy="0"/>
          <a:chOff x="0" y="0"/>
          <a:chExt cx="0" cy="0"/>
        </a:xfrm>
      </p:grpSpPr>
      <p:sp>
        <p:nvSpPr>
          <p:cNvPr id="71" name="Google Shape;71;p54"/>
          <p:cNvSpPr txBox="1"/>
          <p:nvPr>
            <p:ph type="title"/>
          </p:nvPr>
        </p:nvSpPr>
        <p:spPr>
          <a:xfrm>
            <a:off x="342900" y="4960138"/>
            <a:ext cx="58293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464132"/>
              </a:buClr>
              <a:buSzPts val="4400"/>
              <a:buFont typeface="Twentieth Century"/>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54"/>
          <p:cNvSpPr/>
          <p:nvPr>
            <p:ph idx="2" type="pic"/>
          </p:nvPr>
        </p:nvSpPr>
        <p:spPr>
          <a:xfrm>
            <a:off x="0" y="-1"/>
            <a:ext cx="9141714" cy="4572000"/>
          </a:xfrm>
          <a:prstGeom prst="rect">
            <a:avLst/>
          </a:prstGeom>
          <a:solidFill>
            <a:srgbClr val="C3D7D7"/>
          </a:solidFill>
          <a:ln>
            <a:noFill/>
          </a:ln>
        </p:spPr>
      </p:sp>
      <p:sp>
        <p:nvSpPr>
          <p:cNvPr id="73" name="Google Shape;73;p54"/>
          <p:cNvSpPr txBox="1"/>
          <p:nvPr>
            <p:ph idx="1" type="body"/>
          </p:nvPr>
        </p:nvSpPr>
        <p:spPr>
          <a:xfrm>
            <a:off x="6457950" y="4960138"/>
            <a:ext cx="24003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600"/>
              <a:buNone/>
              <a:defRPr sz="1600">
                <a:solidFill>
                  <a:srgbClr val="464132"/>
                </a:solidFill>
              </a:defRPr>
            </a:lvl1pPr>
            <a:lvl2pPr indent="-228600" lvl="1" marL="914400" algn="l">
              <a:lnSpc>
                <a:spcPct val="90000"/>
              </a:lnSpc>
              <a:spcBef>
                <a:spcPts val="200"/>
              </a:spcBef>
              <a:spcAft>
                <a:spcPts val="0"/>
              </a:spcAft>
              <a:buSzPts val="1050"/>
              <a:buNone/>
              <a:defRPr sz="1050"/>
            </a:lvl2pPr>
            <a:lvl3pPr indent="-228600" lvl="2" marL="1371600" algn="l">
              <a:lnSpc>
                <a:spcPct val="90000"/>
              </a:lnSpc>
              <a:spcBef>
                <a:spcPts val="400"/>
              </a:spcBef>
              <a:spcAft>
                <a:spcPts val="0"/>
              </a:spcAft>
              <a:buSzPts val="900"/>
              <a:buNone/>
              <a:defRPr sz="900"/>
            </a:lvl3pPr>
            <a:lvl4pPr indent="-228600" lvl="3" marL="1828800" algn="l">
              <a:lnSpc>
                <a:spcPct val="90000"/>
              </a:lnSpc>
              <a:spcBef>
                <a:spcPts val="400"/>
              </a:spcBef>
              <a:spcAft>
                <a:spcPts val="0"/>
              </a:spcAft>
              <a:buSzPts val="750"/>
              <a:buNone/>
              <a:defRPr sz="750"/>
            </a:lvl4pPr>
            <a:lvl5pPr indent="-228600" lvl="4" marL="2286000" algn="l">
              <a:lnSpc>
                <a:spcPct val="90000"/>
              </a:lnSpc>
              <a:spcBef>
                <a:spcPts val="400"/>
              </a:spcBef>
              <a:spcAft>
                <a:spcPts val="0"/>
              </a:spcAft>
              <a:buSzPts val="750"/>
              <a:buNone/>
              <a:defRPr sz="750"/>
            </a:lvl5pPr>
            <a:lvl6pPr indent="-228600" lvl="5" marL="2743200" algn="l">
              <a:lnSpc>
                <a:spcPct val="90000"/>
              </a:lnSpc>
              <a:spcBef>
                <a:spcPts val="400"/>
              </a:spcBef>
              <a:spcAft>
                <a:spcPts val="0"/>
              </a:spcAft>
              <a:buSzPts val="750"/>
              <a:buNone/>
              <a:defRPr sz="750"/>
            </a:lvl6pPr>
            <a:lvl7pPr indent="-228600" lvl="6" marL="3200400" algn="l">
              <a:lnSpc>
                <a:spcPct val="90000"/>
              </a:lnSpc>
              <a:spcBef>
                <a:spcPts val="400"/>
              </a:spcBef>
              <a:spcAft>
                <a:spcPts val="0"/>
              </a:spcAft>
              <a:buSzPts val="750"/>
              <a:buNone/>
              <a:defRPr sz="750"/>
            </a:lvl7pPr>
            <a:lvl8pPr indent="-228600" lvl="7" marL="3657600" algn="l">
              <a:lnSpc>
                <a:spcPct val="90000"/>
              </a:lnSpc>
              <a:spcBef>
                <a:spcPts val="400"/>
              </a:spcBef>
              <a:spcAft>
                <a:spcPts val="0"/>
              </a:spcAft>
              <a:buSzPts val="750"/>
              <a:buNone/>
              <a:defRPr sz="750"/>
            </a:lvl8pPr>
            <a:lvl9pPr indent="-228600" lvl="8" marL="4114800" algn="l">
              <a:lnSpc>
                <a:spcPct val="90000"/>
              </a:lnSpc>
              <a:spcBef>
                <a:spcPts val="400"/>
              </a:spcBef>
              <a:spcAft>
                <a:spcPts val="400"/>
              </a:spcAft>
              <a:buSzPts val="750"/>
              <a:buNone/>
              <a:defRPr sz="750"/>
            </a:lvl9pPr>
          </a:lstStyle>
          <a:p/>
        </p:txBody>
      </p:sp>
      <p:sp>
        <p:nvSpPr>
          <p:cNvPr id="74" name="Google Shape;74;p54"/>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54"/>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4"/>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tr-TR"/>
              <a:t>‹#›</a:t>
            </a:fld>
            <a:endParaRPr/>
          </a:p>
        </p:txBody>
      </p:sp>
      <p:cxnSp>
        <p:nvCxnSpPr>
          <p:cNvPr id="77" name="Google Shape;77;p54"/>
          <p:cNvCxnSpPr/>
          <p:nvPr/>
        </p:nvCxnSpPr>
        <p:spPr>
          <a:xfrm rot="10800000">
            <a:off x="6290132" y="5264106"/>
            <a:ext cx="0" cy="914400"/>
          </a:xfrm>
          <a:prstGeom prst="straightConnector1">
            <a:avLst/>
          </a:prstGeom>
          <a:noFill/>
          <a:ln cap="flat" cmpd="sng" w="19050">
            <a:solidFill>
              <a:schemeClr val="accent2"/>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Dikey Metin" type="vertTx">
  <p:cSld name="VERTICAL_TEXT">
    <p:spTree>
      <p:nvGrpSpPr>
        <p:cNvPr id="78" name="Shape 78"/>
        <p:cNvGrpSpPr/>
        <p:nvPr/>
      </p:nvGrpSpPr>
      <p:grpSpPr>
        <a:xfrm>
          <a:off x="0" y="0"/>
          <a:ext cx="0" cy="0"/>
          <a:chOff x="0" y="0"/>
          <a:chExt cx="0" cy="0"/>
        </a:xfrm>
      </p:grpSpPr>
      <p:sp>
        <p:nvSpPr>
          <p:cNvPr id="79" name="Google Shape;79;p55"/>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4641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5"/>
          <p:cNvSpPr txBox="1"/>
          <p:nvPr>
            <p:ph idx="1" type="body"/>
          </p:nvPr>
        </p:nvSpPr>
        <p:spPr>
          <a:xfrm rot="5400000">
            <a:off x="2401444" y="652653"/>
            <a:ext cx="4023360" cy="7290055"/>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1" name="Google Shape;81;p55"/>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5"/>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5"/>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key Başlık ve Metin" showMasterSp="0" type="vertTitleAndTx">
  <p:cSld name="VERTICAL_TITLE_AND_VERTICAL_TEXT">
    <p:spTree>
      <p:nvGrpSpPr>
        <p:cNvPr id="84" name="Shape 84"/>
        <p:cNvGrpSpPr/>
        <p:nvPr/>
      </p:nvGrpSpPr>
      <p:grpSpPr>
        <a:xfrm>
          <a:off x="0" y="0"/>
          <a:ext cx="0" cy="0"/>
          <a:chOff x="0" y="0"/>
          <a:chExt cx="0" cy="0"/>
        </a:xfrm>
      </p:grpSpPr>
      <p:sp>
        <p:nvSpPr>
          <p:cNvPr id="85" name="Google Shape;85;p56"/>
          <p:cNvSpPr txBox="1"/>
          <p:nvPr>
            <p:ph type="title"/>
          </p:nvPr>
        </p:nvSpPr>
        <p:spPr>
          <a:xfrm rot="5400000">
            <a:off x="4824414" y="2481263"/>
            <a:ext cx="5410200" cy="1971675"/>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4641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56"/>
          <p:cNvSpPr txBox="1"/>
          <p:nvPr>
            <p:ph idx="1" type="body"/>
          </p:nvPr>
        </p:nvSpPr>
        <p:spPr>
          <a:xfrm rot="5400000">
            <a:off x="881064" y="623888"/>
            <a:ext cx="5410200" cy="5686425"/>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7" name="Google Shape;87;p56"/>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6"/>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56"/>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tr-TR"/>
              <a:t>‹#›</a:t>
            </a:fld>
            <a:endParaRPr/>
          </a:p>
        </p:txBody>
      </p:sp>
      <p:cxnSp>
        <p:nvCxnSpPr>
          <p:cNvPr id="90" name="Google Shape;90;p56"/>
          <p:cNvCxnSpPr/>
          <p:nvPr/>
        </p:nvCxnSpPr>
        <p:spPr>
          <a:xfrm rot="10800000">
            <a:off x="7543800" y="173563"/>
            <a:ext cx="0" cy="685800"/>
          </a:xfrm>
          <a:prstGeom prst="straightConnector1">
            <a:avLst/>
          </a:prstGeom>
          <a:noFill/>
          <a:ln cap="flat" cmpd="sng" w="19050">
            <a:solidFill>
              <a:schemeClr val="accent2"/>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5"/>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464132"/>
              </a:buClr>
              <a:buSzPts val="4400"/>
              <a:buFont typeface="Twentieth Century"/>
              <a:buNone/>
              <a:defRPr b="0" i="0" sz="4400" u="none" cap="none" strike="noStrike">
                <a:solidFill>
                  <a:srgbClr val="464132"/>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5"/>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lvl1pPr indent="-355600" lvl="0" marL="457200" marR="0" rtl="0" algn="l">
              <a:lnSpc>
                <a:spcPct val="90000"/>
              </a:lnSpc>
              <a:spcBef>
                <a:spcPts val="1200"/>
              </a:spcBef>
              <a:spcAft>
                <a:spcPts val="0"/>
              </a:spcAft>
              <a:buClr>
                <a:schemeClr val="accent2"/>
              </a:buClr>
              <a:buSzPts val="2000"/>
              <a:buFont typeface="Twentieth Century"/>
              <a:buChar char=" "/>
              <a:defRPr b="0" i="0" sz="2000" u="none" cap="none" strike="noStrike">
                <a:solidFill>
                  <a:schemeClr val="dk1"/>
                </a:solidFill>
                <a:latin typeface="Twentieth Century"/>
                <a:ea typeface="Twentieth Century"/>
                <a:cs typeface="Twentieth Century"/>
                <a:sym typeface="Twentieth Century"/>
              </a:defRPr>
            </a:lvl1pPr>
            <a:lvl2pPr indent="-330200" lvl="1" marL="914400" marR="0" rtl="0" algn="l">
              <a:lnSpc>
                <a:spcPct val="90000"/>
              </a:lnSpc>
              <a:spcBef>
                <a:spcPts val="200"/>
              </a:spcBef>
              <a:spcAft>
                <a:spcPts val="0"/>
              </a:spcAft>
              <a:buClr>
                <a:schemeClr val="accent2"/>
              </a:buClr>
              <a:buSzPts val="1600"/>
              <a:buFont typeface="Noto Sans Symbols"/>
              <a:buChar char="🢝"/>
              <a:defRPr b="0" i="0" sz="1600" u="none" cap="none" strike="noStrike">
                <a:solidFill>
                  <a:schemeClr val="dk1"/>
                </a:solidFill>
                <a:latin typeface="Twentieth Century"/>
                <a:ea typeface="Twentieth Century"/>
                <a:cs typeface="Twentieth Century"/>
                <a:sym typeface="Twentieth Century"/>
              </a:defRPr>
            </a:lvl2pPr>
            <a:lvl3pPr indent="-304800" lvl="2" marL="1371600" marR="0" rtl="0" algn="l">
              <a:lnSpc>
                <a:spcPct val="90000"/>
              </a:lnSpc>
              <a:spcBef>
                <a:spcPts val="400"/>
              </a:spcBef>
              <a:spcAft>
                <a:spcPts val="0"/>
              </a:spcAft>
              <a:buClr>
                <a:schemeClr val="accent2"/>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3pPr>
            <a:lvl4pPr indent="-304800" lvl="3" marL="1828800" marR="0" rtl="0" algn="l">
              <a:lnSpc>
                <a:spcPct val="90000"/>
              </a:lnSpc>
              <a:spcBef>
                <a:spcPts val="400"/>
              </a:spcBef>
              <a:spcAft>
                <a:spcPts val="0"/>
              </a:spcAft>
              <a:buClr>
                <a:schemeClr val="accent2"/>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4pPr>
            <a:lvl5pPr indent="-304800" lvl="4" marL="2286000" marR="0" rtl="0" algn="l">
              <a:lnSpc>
                <a:spcPct val="90000"/>
              </a:lnSpc>
              <a:spcBef>
                <a:spcPts val="400"/>
              </a:spcBef>
              <a:spcAft>
                <a:spcPts val="0"/>
              </a:spcAft>
              <a:buClr>
                <a:schemeClr val="accent2"/>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5pPr>
            <a:lvl6pPr indent="-304800" lvl="5" marL="2743200" marR="0" rtl="0" algn="l">
              <a:lnSpc>
                <a:spcPct val="90000"/>
              </a:lnSpc>
              <a:spcBef>
                <a:spcPts val="400"/>
              </a:spcBef>
              <a:spcAft>
                <a:spcPts val="0"/>
              </a:spcAft>
              <a:buClr>
                <a:schemeClr val="accent2"/>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6pPr>
            <a:lvl7pPr indent="-304800" lvl="6" marL="3200400" marR="0" rtl="0" algn="l">
              <a:lnSpc>
                <a:spcPct val="90000"/>
              </a:lnSpc>
              <a:spcBef>
                <a:spcPts val="400"/>
              </a:spcBef>
              <a:spcAft>
                <a:spcPts val="0"/>
              </a:spcAft>
              <a:buClr>
                <a:schemeClr val="accent2"/>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7pPr>
            <a:lvl8pPr indent="-304800" lvl="7" marL="3657600" marR="0" rtl="0" algn="l">
              <a:lnSpc>
                <a:spcPct val="90000"/>
              </a:lnSpc>
              <a:spcBef>
                <a:spcPts val="400"/>
              </a:spcBef>
              <a:spcAft>
                <a:spcPts val="0"/>
              </a:spcAft>
              <a:buClr>
                <a:schemeClr val="accent2"/>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8pPr>
            <a:lvl9pPr indent="-304800" lvl="8" marL="4114800" marR="0" rtl="0" algn="l">
              <a:lnSpc>
                <a:spcPct val="90000"/>
              </a:lnSpc>
              <a:spcBef>
                <a:spcPts val="400"/>
              </a:spcBef>
              <a:spcAft>
                <a:spcPts val="400"/>
              </a:spcAft>
              <a:buClr>
                <a:schemeClr val="accent2"/>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9pPr>
          </a:lstStyle>
          <a:p/>
        </p:txBody>
      </p:sp>
      <p:sp>
        <p:nvSpPr>
          <p:cNvPr id="12" name="Google Shape;12;p45"/>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46413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 name="Google Shape;13;p45"/>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46413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4" name="Google Shape;14;p45"/>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000" u="none" cap="none" strike="noStrike">
                <a:solidFill>
                  <a:srgbClr val="464132"/>
                </a:solidFill>
                <a:latin typeface="Twentieth Century"/>
                <a:ea typeface="Twentieth Century"/>
                <a:cs typeface="Twentieth Century"/>
                <a:sym typeface="Twentieth Century"/>
              </a:defRPr>
            </a:lvl1pPr>
            <a:lvl2pPr indent="0" lvl="1" marL="0" marR="0" rtl="0" algn="l">
              <a:spcBef>
                <a:spcPts val="0"/>
              </a:spcBef>
              <a:buNone/>
              <a:defRPr b="0" i="0" sz="1000" u="none" cap="none" strike="noStrike">
                <a:solidFill>
                  <a:srgbClr val="464132"/>
                </a:solidFill>
                <a:latin typeface="Twentieth Century"/>
                <a:ea typeface="Twentieth Century"/>
                <a:cs typeface="Twentieth Century"/>
                <a:sym typeface="Twentieth Century"/>
              </a:defRPr>
            </a:lvl2pPr>
            <a:lvl3pPr indent="0" lvl="2" marL="0" marR="0" rtl="0" algn="l">
              <a:spcBef>
                <a:spcPts val="0"/>
              </a:spcBef>
              <a:buNone/>
              <a:defRPr b="0" i="0" sz="1000" u="none" cap="none" strike="noStrike">
                <a:solidFill>
                  <a:srgbClr val="464132"/>
                </a:solidFill>
                <a:latin typeface="Twentieth Century"/>
                <a:ea typeface="Twentieth Century"/>
                <a:cs typeface="Twentieth Century"/>
                <a:sym typeface="Twentieth Century"/>
              </a:defRPr>
            </a:lvl3pPr>
            <a:lvl4pPr indent="0" lvl="3" marL="0" marR="0" rtl="0" algn="l">
              <a:spcBef>
                <a:spcPts val="0"/>
              </a:spcBef>
              <a:buNone/>
              <a:defRPr b="0" i="0" sz="1000" u="none" cap="none" strike="noStrike">
                <a:solidFill>
                  <a:srgbClr val="464132"/>
                </a:solidFill>
                <a:latin typeface="Twentieth Century"/>
                <a:ea typeface="Twentieth Century"/>
                <a:cs typeface="Twentieth Century"/>
                <a:sym typeface="Twentieth Century"/>
              </a:defRPr>
            </a:lvl4pPr>
            <a:lvl5pPr indent="0" lvl="4" marL="0" marR="0" rtl="0" algn="l">
              <a:spcBef>
                <a:spcPts val="0"/>
              </a:spcBef>
              <a:buNone/>
              <a:defRPr b="0" i="0" sz="1000" u="none" cap="none" strike="noStrike">
                <a:solidFill>
                  <a:srgbClr val="464132"/>
                </a:solidFill>
                <a:latin typeface="Twentieth Century"/>
                <a:ea typeface="Twentieth Century"/>
                <a:cs typeface="Twentieth Century"/>
                <a:sym typeface="Twentieth Century"/>
              </a:defRPr>
            </a:lvl5pPr>
            <a:lvl6pPr indent="0" lvl="5" marL="0" marR="0" rtl="0" algn="l">
              <a:spcBef>
                <a:spcPts val="0"/>
              </a:spcBef>
              <a:buNone/>
              <a:defRPr b="0" i="0" sz="1000" u="none" cap="none" strike="noStrike">
                <a:solidFill>
                  <a:srgbClr val="464132"/>
                </a:solidFill>
                <a:latin typeface="Twentieth Century"/>
                <a:ea typeface="Twentieth Century"/>
                <a:cs typeface="Twentieth Century"/>
                <a:sym typeface="Twentieth Century"/>
              </a:defRPr>
            </a:lvl6pPr>
            <a:lvl7pPr indent="0" lvl="6" marL="0" marR="0" rtl="0" algn="l">
              <a:spcBef>
                <a:spcPts val="0"/>
              </a:spcBef>
              <a:buNone/>
              <a:defRPr b="0" i="0" sz="1000" u="none" cap="none" strike="noStrike">
                <a:solidFill>
                  <a:srgbClr val="464132"/>
                </a:solidFill>
                <a:latin typeface="Twentieth Century"/>
                <a:ea typeface="Twentieth Century"/>
                <a:cs typeface="Twentieth Century"/>
                <a:sym typeface="Twentieth Century"/>
              </a:defRPr>
            </a:lvl7pPr>
            <a:lvl8pPr indent="0" lvl="7" marL="0" marR="0" rtl="0" algn="l">
              <a:spcBef>
                <a:spcPts val="0"/>
              </a:spcBef>
              <a:buNone/>
              <a:defRPr b="0" i="0" sz="1000" u="none" cap="none" strike="noStrike">
                <a:solidFill>
                  <a:srgbClr val="464132"/>
                </a:solidFill>
                <a:latin typeface="Twentieth Century"/>
                <a:ea typeface="Twentieth Century"/>
                <a:cs typeface="Twentieth Century"/>
                <a:sym typeface="Twentieth Century"/>
              </a:defRPr>
            </a:lvl8pPr>
            <a:lvl9pPr indent="0" lvl="8" marL="0" marR="0" rtl="0" algn="l">
              <a:spcBef>
                <a:spcPts val="0"/>
              </a:spcBef>
              <a:buNone/>
              <a:defRPr b="0" i="0" sz="1000" u="none" cap="none" strike="noStrike">
                <a:solidFill>
                  <a:srgbClr val="464132"/>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tr-TR"/>
              <a:t>‹#›</a:t>
            </a:fld>
            <a:endParaRPr/>
          </a:p>
        </p:txBody>
      </p:sp>
      <p:cxnSp>
        <p:nvCxnSpPr>
          <p:cNvPr id="15" name="Google Shape;15;p45"/>
          <p:cNvCxnSpPr/>
          <p:nvPr/>
        </p:nvCxnSpPr>
        <p:spPr>
          <a:xfrm rot="10800000">
            <a:off x="571500" y="826324"/>
            <a:ext cx="0" cy="914400"/>
          </a:xfrm>
          <a:prstGeom prst="straightConnector1">
            <a:avLst/>
          </a:prstGeom>
          <a:noFill/>
          <a:ln cap="flat" cmpd="sng" w="19050">
            <a:solidFill>
              <a:schemeClr val="accent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buketb@marmara.edu.tr" TargetMode="External"/><Relationship Id="rId4" Type="http://schemas.openxmlformats.org/officeDocument/2006/relationships/image" Target="../media/image2.jpg"/><Relationship Id="rId5"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scholar.google.com/" TargetMode="External"/><Relationship Id="rId4" Type="http://schemas.openxmlformats.org/officeDocument/2006/relationships/hyperlink" Target="https://www.scopus.com/" TargetMode="External"/><Relationship Id="rId5" Type="http://schemas.openxmlformats.org/officeDocument/2006/relationships/hyperlink" Target="https://ieeexplore.ieee.org/" TargetMode="External"/><Relationship Id="rId6" Type="http://schemas.openxmlformats.org/officeDocument/2006/relationships/hyperlink" Target="https://www.sciencedirect.com/" TargetMode="External"/><Relationship Id="rId7" Type="http://schemas.openxmlformats.org/officeDocument/2006/relationships/hyperlink" Target="https://arxiv.or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scholar.google.com/" TargetMode="External"/><Relationship Id="rId4" Type="http://schemas.openxmlformats.org/officeDocument/2006/relationships/hyperlink" Target="https://www.scopus.com/" TargetMode="External"/><Relationship Id="rId5" Type="http://schemas.openxmlformats.org/officeDocument/2006/relationships/hyperlink" Target="https://ieeexplore.ieee.org/" TargetMode="External"/><Relationship Id="rId6" Type="http://schemas.openxmlformats.org/officeDocument/2006/relationships/hyperlink" Target="https://www.sciencedirect.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dl.acm.org/" TargetMode="External"/><Relationship Id="rId4" Type="http://schemas.openxmlformats.org/officeDocument/2006/relationships/hyperlink" Target="https://link.springer.com/" TargetMode="External"/><Relationship Id="rId5" Type="http://schemas.openxmlformats.org/officeDocument/2006/relationships/hyperlink" Target="https://www.webofscience.com/" TargetMode="External"/><Relationship Id="rId6" Type="http://schemas.openxmlformats.org/officeDocument/2006/relationships/hyperlink" Target="https://www.mckinsey.com/capabilities/quantumblack/our-insights/the-state-of-ai" TargetMode="External"/><Relationship Id="rId7" Type="http://schemas.openxmlformats.org/officeDocument/2006/relationships/hyperlink" Target="https://oica.net/sales-statistics/" TargetMode="External"/><Relationship Id="rId8" Type="http://schemas.openxmlformats.org/officeDocument/2006/relationships/hyperlink" Target="https://www.osd.org.tr/saved-files/PDF/2025/05/12/2025-05%20OSD%20%C3%96zet%20Rapor.pdf"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tubitak.gov.tr/tr/kurumsal/hakkimizda/uretken-yapay-zeka-rehberi"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elicit.com/" TargetMode="External"/><Relationship Id="rId4" Type="http://schemas.openxmlformats.org/officeDocument/2006/relationships/hyperlink" Target="https://scispace.com/" TargetMode="External"/><Relationship Id="rId9" Type="http://schemas.openxmlformats.org/officeDocument/2006/relationships/hyperlink" Target="https://chat.openai.com/" TargetMode="External"/><Relationship Id="rId5" Type="http://schemas.openxmlformats.org/officeDocument/2006/relationships/hyperlink" Target="https://semanticscholar.org/" TargetMode="External"/><Relationship Id="rId6" Type="http://schemas.openxmlformats.org/officeDocument/2006/relationships/hyperlink" Target="https://connectedpapers.com/" TargetMode="External"/><Relationship Id="rId7" Type="http://schemas.openxmlformats.org/officeDocument/2006/relationships/hyperlink" Target="https://www.litmaps.com/" TargetMode="External"/><Relationship Id="rId8" Type="http://schemas.openxmlformats.org/officeDocument/2006/relationships/hyperlink" Target="https://consensus.ap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researchrabbitapp.com/" TargetMode="External"/><Relationship Id="rId4" Type="http://schemas.openxmlformats.org/officeDocument/2006/relationships/hyperlink" Target="https://explainpaper.com/" TargetMode="External"/><Relationship Id="rId5" Type="http://schemas.openxmlformats.org/officeDocument/2006/relationships/hyperlink" Target="https://perplexity.ai/" TargetMode="External"/><Relationship Id="rId6" Type="http://schemas.openxmlformats.org/officeDocument/2006/relationships/hyperlink" Target="https://arxiv-sanity.com/" TargetMode="External"/><Relationship Id="rId7" Type="http://schemas.openxmlformats.org/officeDocument/2006/relationships/hyperlink" Target="https://zotero.or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consensus.app/"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arxiv.org/" TargetMode="External"/><Relationship Id="rId4" Type="http://schemas.openxmlformats.org/officeDocument/2006/relationships/image" Target="../media/image8.png"/><Relationship Id="rId5"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ph type="ctrTitle"/>
          </p:nvPr>
        </p:nvSpPr>
        <p:spPr>
          <a:xfrm>
            <a:off x="552663" y="1357059"/>
            <a:ext cx="7543800" cy="3566160"/>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rgbClr val="464132"/>
              </a:buClr>
              <a:buSzPts val="6600"/>
              <a:buFont typeface="Twentieth Century"/>
              <a:buNone/>
            </a:pPr>
            <a:br>
              <a:rPr b="1" lang="tr-TR" sz="6600"/>
            </a:br>
            <a:r>
              <a:rPr b="1" lang="tr-TR" sz="6600"/>
              <a:t>PROJELERDEN YAYIN GELIŞTIRME EĞITIMI</a:t>
            </a:r>
            <a:endParaRPr b="1" sz="6600"/>
          </a:p>
        </p:txBody>
      </p:sp>
      <p:sp>
        <p:nvSpPr>
          <p:cNvPr id="97" name="Google Shape;97;p1"/>
          <p:cNvSpPr txBox="1"/>
          <p:nvPr>
            <p:ph idx="1" type="subTitle"/>
          </p:nvPr>
        </p:nvSpPr>
        <p:spPr>
          <a:xfrm>
            <a:off x="1019591" y="5027121"/>
            <a:ext cx="75438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900"/>
              <a:buNone/>
            </a:pPr>
            <a:r>
              <a:rPr lang="tr-TR" sz="2900"/>
              <a:t>Doç.Dr. Buket Doğan</a:t>
            </a:r>
            <a:endParaRPr/>
          </a:p>
          <a:p>
            <a:pPr indent="0" lvl="0" marL="0" rtl="0" algn="ctr">
              <a:lnSpc>
                <a:spcPct val="100000"/>
              </a:lnSpc>
              <a:spcBef>
                <a:spcPts val="200"/>
              </a:spcBef>
              <a:spcAft>
                <a:spcPts val="0"/>
              </a:spcAft>
              <a:buSzPts val="1600"/>
              <a:buNone/>
            </a:pPr>
            <a:r>
              <a:rPr lang="tr-TR" u="sng">
                <a:solidFill>
                  <a:schemeClr val="hlink"/>
                </a:solidFill>
                <a:hlinkClick r:id="rId3"/>
              </a:rPr>
              <a:t>buketb@marmara.edu.tr</a:t>
            </a:r>
            <a:endParaRPr/>
          </a:p>
          <a:p>
            <a:pPr indent="0" lvl="0" marL="0" rtl="0" algn="ctr">
              <a:lnSpc>
                <a:spcPct val="100000"/>
              </a:lnSpc>
              <a:spcBef>
                <a:spcPts val="200"/>
              </a:spcBef>
              <a:spcAft>
                <a:spcPts val="0"/>
              </a:spcAft>
              <a:buSzPts val="1600"/>
              <a:buNone/>
            </a:pPr>
            <a:r>
              <a:rPr lang="tr-TR"/>
              <a:t>Marmara Üniversitesi Teknoloji Fakültesi Bilgisayar Mühendisliği Bölümü Öğretim Üyesi</a:t>
            </a:r>
            <a:endParaRPr/>
          </a:p>
        </p:txBody>
      </p:sp>
      <p:pic>
        <p:nvPicPr>
          <p:cNvPr id="98" name="Google Shape;98;p1"/>
          <p:cNvPicPr preferRelativeResize="0"/>
          <p:nvPr/>
        </p:nvPicPr>
        <p:blipFill rotWithShape="1">
          <a:blip r:embed="rId4">
            <a:alphaModFix/>
          </a:blip>
          <a:srcRect b="6577" l="1573" r="1049" t="32822"/>
          <a:stretch/>
        </p:blipFill>
        <p:spPr>
          <a:xfrm>
            <a:off x="3725693" y="560349"/>
            <a:ext cx="5418307" cy="2101174"/>
          </a:xfrm>
          <a:prstGeom prst="rect">
            <a:avLst/>
          </a:prstGeom>
          <a:noFill/>
          <a:ln>
            <a:noFill/>
          </a:ln>
        </p:spPr>
      </p:pic>
      <p:pic>
        <p:nvPicPr>
          <p:cNvPr id="99" name="Google Shape;99;p1"/>
          <p:cNvPicPr preferRelativeResize="0"/>
          <p:nvPr/>
        </p:nvPicPr>
        <p:blipFill rotWithShape="1">
          <a:blip r:embed="rId5">
            <a:alphaModFix/>
          </a:blip>
          <a:srcRect b="11674" l="2376" r="11770" t="35467"/>
          <a:stretch/>
        </p:blipFill>
        <p:spPr>
          <a:xfrm>
            <a:off x="68094" y="0"/>
            <a:ext cx="5361021" cy="205674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İçerik</a:t>
            </a:r>
            <a:endParaRPr/>
          </a:p>
        </p:txBody>
      </p:sp>
      <p:sp>
        <p:nvSpPr>
          <p:cNvPr id="105" name="Google Shape;105;p2"/>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Font typeface="Noto Sans Symbols"/>
              <a:buChar char="❑"/>
            </a:pPr>
            <a:r>
              <a:rPr lang="tr-TR"/>
              <a:t> Projelerden Akademik İçerik Üretme </a:t>
            </a:r>
            <a:endParaRPr/>
          </a:p>
          <a:p>
            <a:pPr indent="-127000" lvl="0" marL="91440" rtl="0" algn="l">
              <a:lnSpc>
                <a:spcPct val="90000"/>
              </a:lnSpc>
              <a:spcBef>
                <a:spcPts val="1400"/>
              </a:spcBef>
              <a:spcAft>
                <a:spcPts val="0"/>
              </a:spcAft>
              <a:buSzPts val="2000"/>
              <a:buFont typeface="Noto Sans Symbols"/>
              <a:buChar char="❑"/>
            </a:pPr>
            <a:r>
              <a:rPr lang="tr-TR"/>
              <a:t> Literatür Araştırması ve Konumlandırma </a:t>
            </a:r>
            <a:endParaRPr/>
          </a:p>
          <a:p>
            <a:pPr indent="-127000" lvl="0" marL="91440" rtl="0" algn="l">
              <a:lnSpc>
                <a:spcPct val="90000"/>
              </a:lnSpc>
              <a:spcBef>
                <a:spcPts val="1400"/>
              </a:spcBef>
              <a:spcAft>
                <a:spcPts val="0"/>
              </a:spcAft>
              <a:buSzPts val="2000"/>
              <a:buFont typeface="Noto Sans Symbols"/>
              <a:buChar char="❑"/>
            </a:pPr>
            <a:r>
              <a:rPr lang="tr-TR"/>
              <a:t> Bildiri ve Makale Yapısının Temelleri (IMRaD Modeli) Başlıklar ve İçerikleri Veri, Görsel ve Tabloların Akademik Sunumu </a:t>
            </a:r>
            <a:endParaRPr/>
          </a:p>
          <a:p>
            <a:pPr indent="-127000" lvl="0" marL="91440" rtl="0" algn="l">
              <a:lnSpc>
                <a:spcPct val="90000"/>
              </a:lnSpc>
              <a:spcBef>
                <a:spcPts val="1400"/>
              </a:spcBef>
              <a:spcAft>
                <a:spcPts val="0"/>
              </a:spcAft>
              <a:buSzPts val="2000"/>
              <a:buFont typeface="Noto Sans Symbols"/>
              <a:buChar char="❑"/>
            </a:pPr>
            <a:r>
              <a:rPr lang="tr-TR"/>
              <a:t> Yayın Türleri ve Nasıl Seçim Yapılabileceği </a:t>
            </a:r>
            <a:endParaRPr/>
          </a:p>
          <a:p>
            <a:pPr indent="-127000" lvl="0" marL="91440" rtl="0" algn="l">
              <a:lnSpc>
                <a:spcPct val="90000"/>
              </a:lnSpc>
              <a:spcBef>
                <a:spcPts val="1400"/>
              </a:spcBef>
              <a:spcAft>
                <a:spcPts val="0"/>
              </a:spcAft>
              <a:buSzPts val="2000"/>
              <a:buFont typeface="Noto Sans Symbols"/>
              <a:buChar char="❑"/>
            </a:pPr>
            <a:r>
              <a:rPr lang="tr-TR"/>
              <a:t> Yayın Süreci ve Dikkat Edilmesi Gerekenler</a:t>
            </a:r>
            <a:endParaRPr/>
          </a:p>
          <a:p>
            <a:pPr indent="-127000" lvl="0" marL="91440" rtl="0" algn="l">
              <a:lnSpc>
                <a:spcPct val="90000"/>
              </a:lnSpc>
              <a:spcBef>
                <a:spcPts val="1400"/>
              </a:spcBef>
              <a:spcAft>
                <a:spcPts val="0"/>
              </a:spcAft>
              <a:buSzPts val="2000"/>
              <a:buFont typeface="Noto Sans Symbols"/>
              <a:buChar char="❑"/>
            </a:pPr>
            <a:r>
              <a:rPr lang="tr-TR"/>
              <a:t> Katılımcılarla Soru&amp;Cevap </a:t>
            </a:r>
            <a:endParaRPr/>
          </a:p>
          <a:p>
            <a:pPr indent="-127000" lvl="0" marL="91440" rtl="0" algn="l">
              <a:lnSpc>
                <a:spcPct val="90000"/>
              </a:lnSpc>
              <a:spcBef>
                <a:spcPts val="1400"/>
              </a:spcBef>
              <a:spcAft>
                <a:spcPts val="0"/>
              </a:spcAft>
              <a:buSzPts val="2000"/>
              <a:buFont typeface="Noto Sans Symbols"/>
              <a:buChar char="❑"/>
            </a:pPr>
            <a:r>
              <a:rPr lang="tr-TR"/>
              <a:t> Özet Bildiri Yazımı için Etkileşimli Uygulama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Projelerden Akademik İçerik Üretme </a:t>
            </a:r>
            <a:endParaRPr/>
          </a:p>
        </p:txBody>
      </p:sp>
      <p:sp>
        <p:nvSpPr>
          <p:cNvPr id="111" name="Google Shape;111;p3"/>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b="1" lang="tr-TR"/>
              <a:t>Sektör/AR-GE Projesi → Akademik Araştırma Döngüsü</a:t>
            </a:r>
            <a:endParaRPr/>
          </a:p>
          <a:p>
            <a:pPr indent="-127000" lvl="0" marL="91440" rtl="0" algn="l">
              <a:lnSpc>
                <a:spcPct val="90000"/>
              </a:lnSpc>
              <a:spcBef>
                <a:spcPts val="1400"/>
              </a:spcBef>
              <a:spcAft>
                <a:spcPts val="0"/>
              </a:spcAft>
              <a:buSzPts val="2000"/>
              <a:buChar char=" "/>
            </a:pPr>
            <a:r>
              <a:rPr lang="tr-TR"/>
              <a:t>Sektörel AR-GE projeleri gerçek veriye, gerçek probleme ve gerçek sonuçlara sahiptir.</a:t>
            </a:r>
            <a:endParaRPr/>
          </a:p>
          <a:p>
            <a:pPr indent="-127000" lvl="0" marL="91440" rtl="0" algn="l">
              <a:lnSpc>
                <a:spcPct val="90000"/>
              </a:lnSpc>
              <a:spcBef>
                <a:spcPts val="1400"/>
              </a:spcBef>
              <a:spcAft>
                <a:spcPts val="0"/>
              </a:spcAft>
              <a:buSzPts val="2000"/>
              <a:buChar char=" "/>
            </a:pPr>
            <a:r>
              <a:rPr lang="tr-TR"/>
              <a:t>Bu nedenle akademik yayın üretmek için en sağlam temel alanlardır.</a:t>
            </a:r>
            <a:endParaRPr/>
          </a:p>
          <a:p>
            <a:pPr indent="-127000" lvl="0" marL="91440" rtl="0" algn="l">
              <a:lnSpc>
                <a:spcPct val="90000"/>
              </a:lnSpc>
              <a:spcBef>
                <a:spcPts val="1400"/>
              </a:spcBef>
              <a:spcAft>
                <a:spcPts val="0"/>
              </a:spcAft>
              <a:buSzPts val="2000"/>
              <a:buChar char=" "/>
            </a:pPr>
            <a:r>
              <a:rPr lang="tr-TR"/>
              <a:t>Yayına dönüşebilecek  içerik başlıkları:</a:t>
            </a:r>
            <a:endParaRPr/>
          </a:p>
          <a:p>
            <a:pPr indent="-137157" lvl="1" marL="265176" rtl="0" algn="l">
              <a:lnSpc>
                <a:spcPct val="90000"/>
              </a:lnSpc>
              <a:spcBef>
                <a:spcPts val="400"/>
              </a:spcBef>
              <a:spcAft>
                <a:spcPts val="0"/>
              </a:spcAft>
              <a:buSzPts val="1600"/>
              <a:buChar char="🢝"/>
            </a:pPr>
            <a:r>
              <a:rPr lang="tr-TR"/>
              <a:t>Problem tanımı</a:t>
            </a:r>
            <a:endParaRPr/>
          </a:p>
          <a:p>
            <a:pPr indent="-137157" lvl="1" marL="265176" rtl="0" algn="l">
              <a:lnSpc>
                <a:spcPct val="90000"/>
              </a:lnSpc>
              <a:spcBef>
                <a:spcPts val="600"/>
              </a:spcBef>
              <a:spcAft>
                <a:spcPts val="0"/>
              </a:spcAft>
              <a:buSzPts val="1600"/>
              <a:buChar char="🢝"/>
            </a:pPr>
            <a:r>
              <a:rPr lang="tr-TR"/>
              <a:t>Veri setinin yapısı</a:t>
            </a:r>
            <a:endParaRPr/>
          </a:p>
          <a:p>
            <a:pPr indent="-137157" lvl="1" marL="265176" rtl="0" algn="l">
              <a:lnSpc>
                <a:spcPct val="90000"/>
              </a:lnSpc>
              <a:spcBef>
                <a:spcPts val="600"/>
              </a:spcBef>
              <a:spcAft>
                <a:spcPts val="0"/>
              </a:spcAft>
              <a:buSzPts val="1600"/>
              <a:buChar char="🢝"/>
            </a:pPr>
            <a:r>
              <a:rPr lang="tr-TR"/>
              <a:t>Geliştirilen yöntem/algoritma</a:t>
            </a:r>
            <a:endParaRPr/>
          </a:p>
          <a:p>
            <a:pPr indent="-137157" lvl="1" marL="265176" rtl="0" algn="l">
              <a:lnSpc>
                <a:spcPct val="90000"/>
              </a:lnSpc>
              <a:spcBef>
                <a:spcPts val="600"/>
              </a:spcBef>
              <a:spcAft>
                <a:spcPts val="0"/>
              </a:spcAft>
              <a:buSzPts val="1600"/>
              <a:buChar char="🢝"/>
            </a:pPr>
            <a:r>
              <a:rPr lang="tr-TR"/>
              <a:t>Deneysel sonuçlar</a:t>
            </a:r>
            <a:endParaRPr/>
          </a:p>
          <a:p>
            <a:pPr indent="-137157" lvl="1" marL="265176" rtl="0" algn="l">
              <a:lnSpc>
                <a:spcPct val="90000"/>
              </a:lnSpc>
              <a:spcBef>
                <a:spcPts val="600"/>
              </a:spcBef>
              <a:spcAft>
                <a:spcPts val="0"/>
              </a:spcAft>
              <a:buSzPts val="1600"/>
              <a:buChar char="🢝"/>
            </a:pPr>
            <a:r>
              <a:rPr lang="tr-TR"/>
              <a:t>İş değeri ve sektörel katkılar</a:t>
            </a:r>
            <a:endParaRPr/>
          </a:p>
          <a:p>
            <a:pPr indent="-137157" lvl="1" marL="265176" rtl="0" algn="l">
              <a:lnSpc>
                <a:spcPct val="90000"/>
              </a:lnSpc>
              <a:spcBef>
                <a:spcPts val="600"/>
              </a:spcBef>
              <a:spcAft>
                <a:spcPts val="0"/>
              </a:spcAft>
              <a:buSzPts val="1600"/>
              <a:buChar char="🢝"/>
            </a:pPr>
            <a:r>
              <a:rPr lang="tr-TR"/>
              <a:t>Yaptığınız yenilik (novelty)</a:t>
            </a:r>
            <a:endParaRPr/>
          </a:p>
          <a:p>
            <a:pPr indent="0" lvl="0" marL="91440" rtl="0" algn="l">
              <a:lnSpc>
                <a:spcPct val="90000"/>
              </a:lnSpc>
              <a:spcBef>
                <a:spcPts val="1600"/>
              </a:spcBef>
              <a:spcAft>
                <a:spcPts val="0"/>
              </a:spcAft>
              <a:buSzPts val="2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304569" y="46819"/>
            <a:ext cx="5213838" cy="1444828"/>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Projelerden Akademik İçerik Üretme </a:t>
            </a:r>
            <a:endParaRPr/>
          </a:p>
        </p:txBody>
      </p:sp>
      <p:sp>
        <p:nvSpPr>
          <p:cNvPr id="117" name="Google Shape;117;p4"/>
          <p:cNvSpPr txBox="1"/>
          <p:nvPr>
            <p:ph idx="1" type="body"/>
          </p:nvPr>
        </p:nvSpPr>
        <p:spPr>
          <a:xfrm>
            <a:off x="404670" y="1845733"/>
            <a:ext cx="5013637" cy="4817713"/>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AR-GE projeleri, akademik araştırmaların ihtiyaç duyduğu </a:t>
            </a:r>
            <a:r>
              <a:rPr b="1" lang="tr-TR"/>
              <a:t>üç temel unsuru</a:t>
            </a:r>
            <a:r>
              <a:rPr lang="tr-TR"/>
              <a:t> doğal olarak sağlar:</a:t>
            </a:r>
            <a:endParaRPr/>
          </a:p>
          <a:p>
            <a:pPr indent="-127000" lvl="0" marL="91440" rtl="0" algn="l">
              <a:lnSpc>
                <a:spcPct val="90000"/>
              </a:lnSpc>
              <a:spcBef>
                <a:spcPts val="1400"/>
              </a:spcBef>
              <a:spcAft>
                <a:spcPts val="0"/>
              </a:spcAft>
              <a:buSzPts val="2000"/>
              <a:buChar char=" "/>
            </a:pPr>
            <a:r>
              <a:rPr b="1" lang="tr-TR"/>
              <a:t>Gerçek problem</a:t>
            </a:r>
            <a:r>
              <a:rPr lang="tr-TR"/>
              <a:t> (industry-driven problem)</a:t>
            </a:r>
            <a:endParaRPr/>
          </a:p>
          <a:p>
            <a:pPr indent="-127000" lvl="0" marL="91440" rtl="0" algn="l">
              <a:lnSpc>
                <a:spcPct val="90000"/>
              </a:lnSpc>
              <a:spcBef>
                <a:spcPts val="1400"/>
              </a:spcBef>
              <a:spcAft>
                <a:spcPts val="0"/>
              </a:spcAft>
              <a:buSzPts val="2000"/>
              <a:buChar char=" "/>
            </a:pPr>
            <a:r>
              <a:rPr b="1" lang="tr-TR"/>
              <a:t>Gerçek veri</a:t>
            </a:r>
            <a:r>
              <a:rPr lang="tr-TR"/>
              <a:t> (operasyonel, davranışsal, cihaz/işlem kayıtları)</a:t>
            </a:r>
            <a:endParaRPr/>
          </a:p>
          <a:p>
            <a:pPr indent="-127000" lvl="0" marL="91440" rtl="0" algn="l">
              <a:lnSpc>
                <a:spcPct val="90000"/>
              </a:lnSpc>
              <a:spcBef>
                <a:spcPts val="1400"/>
              </a:spcBef>
              <a:spcAft>
                <a:spcPts val="0"/>
              </a:spcAft>
              <a:buSzPts val="2000"/>
              <a:buChar char=" "/>
            </a:pPr>
            <a:r>
              <a:rPr b="1" lang="tr-TR"/>
              <a:t>Gerçek etki</a:t>
            </a:r>
            <a:r>
              <a:rPr lang="tr-TR"/>
              <a:t> (iş değeri veya toplumsal etki)</a:t>
            </a:r>
            <a:endParaRPr/>
          </a:p>
          <a:p>
            <a:pPr indent="-127000" lvl="0" marL="91440" rtl="0" algn="l">
              <a:lnSpc>
                <a:spcPct val="90000"/>
              </a:lnSpc>
              <a:spcBef>
                <a:spcPts val="1400"/>
              </a:spcBef>
              <a:spcAft>
                <a:spcPts val="0"/>
              </a:spcAft>
              <a:buSzPts val="2000"/>
              <a:buChar char=" "/>
            </a:pPr>
            <a:r>
              <a:rPr lang="tr-TR"/>
              <a:t>Bu yapı sayesinde AR-GE projeleri, klasik üniversite araştırmalarından daha </a:t>
            </a:r>
            <a:r>
              <a:rPr b="1" lang="tr-TR"/>
              <a:t>uygulamalı</a:t>
            </a:r>
            <a:r>
              <a:rPr lang="tr-TR"/>
              <a:t>, </a:t>
            </a:r>
            <a:r>
              <a:rPr b="1" lang="tr-TR"/>
              <a:t>ölçülebilir</a:t>
            </a:r>
            <a:r>
              <a:rPr lang="tr-TR"/>
              <a:t> ve </a:t>
            </a:r>
            <a:r>
              <a:rPr b="1" lang="tr-TR"/>
              <a:t>yayınlanabilir</a:t>
            </a:r>
            <a:r>
              <a:rPr lang="tr-TR"/>
              <a:t> veri üretir.</a:t>
            </a:r>
            <a:endParaRPr/>
          </a:p>
          <a:p>
            <a:pPr indent="0" lvl="0" marL="91440" rtl="0" algn="l">
              <a:lnSpc>
                <a:spcPct val="90000"/>
              </a:lnSpc>
              <a:spcBef>
                <a:spcPts val="1400"/>
              </a:spcBef>
              <a:spcAft>
                <a:spcPts val="0"/>
              </a:spcAft>
              <a:buSzPts val="2000"/>
              <a:buNone/>
            </a:pPr>
            <a:r>
              <a:t/>
            </a:r>
            <a:endParaRPr/>
          </a:p>
        </p:txBody>
      </p:sp>
      <p:pic>
        <p:nvPicPr>
          <p:cNvPr id="118" name="Google Shape;118;p4"/>
          <p:cNvPicPr preferRelativeResize="0"/>
          <p:nvPr/>
        </p:nvPicPr>
        <p:blipFill rotWithShape="1">
          <a:blip r:embed="rId3">
            <a:alphaModFix/>
          </a:blip>
          <a:srcRect b="0" l="0" r="0" t="0"/>
          <a:stretch/>
        </p:blipFill>
        <p:spPr>
          <a:xfrm>
            <a:off x="5084323" y="103113"/>
            <a:ext cx="4137498" cy="62062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291830" y="116732"/>
            <a:ext cx="8725710" cy="126459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sz="4400"/>
              <a:t>Literatür Araştırması ve Konumlandırma </a:t>
            </a:r>
            <a:endParaRPr/>
          </a:p>
        </p:txBody>
      </p:sp>
      <p:sp>
        <p:nvSpPr>
          <p:cNvPr id="125" name="Google Shape;125;p5"/>
          <p:cNvSpPr txBox="1"/>
          <p:nvPr>
            <p:ph idx="1" type="body"/>
          </p:nvPr>
        </p:nvSpPr>
        <p:spPr>
          <a:xfrm>
            <a:off x="369651" y="1737361"/>
            <a:ext cx="7997109" cy="4131733"/>
          </a:xfrm>
          <a:prstGeom prst="rect">
            <a:avLst/>
          </a:prstGeom>
          <a:noFill/>
          <a:ln>
            <a:noFill/>
          </a:ln>
        </p:spPr>
        <p:txBody>
          <a:bodyPr anchorCtr="0" anchor="t" bIns="45700" lIns="45700" spcFirstLastPara="1" rIns="45700" wrap="square" tIns="45700">
            <a:normAutofit fontScale="77500" lnSpcReduction="20000"/>
          </a:bodyPr>
          <a:lstStyle/>
          <a:p>
            <a:pPr indent="-98425" lvl="0" marL="91440" rtl="0" algn="l">
              <a:lnSpc>
                <a:spcPct val="90000"/>
              </a:lnSpc>
              <a:spcBef>
                <a:spcPts val="0"/>
              </a:spcBef>
              <a:spcAft>
                <a:spcPts val="0"/>
              </a:spcAft>
              <a:buSzPct val="100000"/>
              <a:buChar char=" "/>
            </a:pPr>
            <a:r>
              <a:rPr b="1" lang="tr-TR"/>
              <a:t>Literatür Araştırmasının Temel Amaçları</a:t>
            </a:r>
            <a:endParaRPr/>
          </a:p>
          <a:p>
            <a:pPr indent="-98425" lvl="0" marL="91440" rtl="0" algn="l">
              <a:lnSpc>
                <a:spcPct val="90000"/>
              </a:lnSpc>
              <a:spcBef>
                <a:spcPts val="1400"/>
              </a:spcBef>
              <a:spcAft>
                <a:spcPts val="0"/>
              </a:spcAft>
              <a:buSzPct val="100000"/>
              <a:buFont typeface="Noto Sans Symbols"/>
              <a:buChar char="▪"/>
            </a:pPr>
            <a:r>
              <a:rPr lang="tr-TR"/>
              <a:t>Mevcut bilgi birikimini anlamak</a:t>
            </a:r>
            <a:endParaRPr/>
          </a:p>
          <a:p>
            <a:pPr indent="-98425" lvl="0" marL="91440" rtl="0" algn="l">
              <a:lnSpc>
                <a:spcPct val="90000"/>
              </a:lnSpc>
              <a:spcBef>
                <a:spcPts val="1400"/>
              </a:spcBef>
              <a:spcAft>
                <a:spcPts val="0"/>
              </a:spcAft>
              <a:buSzPct val="100000"/>
              <a:buFont typeface="Noto Sans Symbols"/>
              <a:buChar char="▪"/>
            </a:pPr>
            <a:r>
              <a:rPr lang="tr-TR"/>
              <a:t>Daha önce yapılmış çalışmaların yöntemlerini, sonuçlarını değerlendirmek</a:t>
            </a:r>
            <a:endParaRPr/>
          </a:p>
          <a:p>
            <a:pPr indent="-98425" lvl="0" marL="91440" rtl="0" algn="l">
              <a:lnSpc>
                <a:spcPct val="90000"/>
              </a:lnSpc>
              <a:spcBef>
                <a:spcPts val="1400"/>
              </a:spcBef>
              <a:spcAft>
                <a:spcPts val="0"/>
              </a:spcAft>
              <a:buSzPct val="100000"/>
              <a:buFont typeface="Noto Sans Symbols"/>
              <a:buChar char="▪"/>
            </a:pPr>
            <a:r>
              <a:rPr lang="tr-TR"/>
              <a:t>Bilimsel boşluğu (GAP) belirlemek</a:t>
            </a:r>
            <a:endParaRPr/>
          </a:p>
          <a:p>
            <a:pPr indent="-98425" lvl="0" marL="91440" rtl="0" algn="l">
              <a:lnSpc>
                <a:spcPct val="90000"/>
              </a:lnSpc>
              <a:spcBef>
                <a:spcPts val="1400"/>
              </a:spcBef>
              <a:spcAft>
                <a:spcPts val="0"/>
              </a:spcAft>
              <a:buSzPct val="100000"/>
              <a:buFont typeface="Noto Sans Symbols"/>
              <a:buChar char="▪"/>
            </a:pPr>
            <a:r>
              <a:rPr lang="tr-TR"/>
              <a:t>Projeyi doğru konumlandırmak</a:t>
            </a:r>
            <a:endParaRPr/>
          </a:p>
          <a:p>
            <a:pPr indent="-98425" lvl="0" marL="91440" rtl="0" algn="l">
              <a:lnSpc>
                <a:spcPct val="90000"/>
              </a:lnSpc>
              <a:spcBef>
                <a:spcPts val="1400"/>
              </a:spcBef>
              <a:spcAft>
                <a:spcPts val="0"/>
              </a:spcAft>
              <a:buSzPct val="100000"/>
              <a:buFont typeface="Noto Sans Symbols"/>
              <a:buChar char="▪"/>
            </a:pPr>
            <a:r>
              <a:rPr lang="tr-TR"/>
              <a:t>Kullanılacak yöntemi gerekçelendirmek</a:t>
            </a:r>
            <a:endParaRPr/>
          </a:p>
          <a:p>
            <a:pPr indent="-98425" lvl="0" marL="91440" rtl="0" algn="l">
              <a:lnSpc>
                <a:spcPct val="90000"/>
              </a:lnSpc>
              <a:spcBef>
                <a:spcPts val="1400"/>
              </a:spcBef>
              <a:spcAft>
                <a:spcPts val="0"/>
              </a:spcAft>
              <a:buSzPct val="100000"/>
              <a:buFont typeface="Noto Sans Symbols"/>
              <a:buChar char="▪"/>
            </a:pPr>
            <a:r>
              <a:rPr lang="tr-TR"/>
              <a:t>Akademik yayınlarda “bilimsel temel” oluşturmak</a:t>
            </a:r>
            <a:endParaRPr/>
          </a:p>
          <a:p>
            <a:pPr indent="-98425" lvl="0" marL="91440" rtl="0" algn="l">
              <a:lnSpc>
                <a:spcPct val="90000"/>
              </a:lnSpc>
              <a:spcBef>
                <a:spcPts val="1400"/>
              </a:spcBef>
              <a:spcAft>
                <a:spcPts val="0"/>
              </a:spcAft>
              <a:buSzPct val="100000"/>
              <a:buChar char=" "/>
            </a:pPr>
            <a:r>
              <a:rPr b="1" lang="tr-TR"/>
              <a:t>Neden Kritik?</a:t>
            </a:r>
            <a:endParaRPr/>
          </a:p>
          <a:p>
            <a:pPr indent="-98425" lvl="0" marL="91440" rtl="0" algn="l">
              <a:lnSpc>
                <a:spcPct val="90000"/>
              </a:lnSpc>
              <a:spcBef>
                <a:spcPts val="1400"/>
              </a:spcBef>
              <a:spcAft>
                <a:spcPts val="0"/>
              </a:spcAft>
              <a:buSzPct val="100000"/>
              <a:buFont typeface="Noto Sans Symbols"/>
              <a:buChar char="▪"/>
            </a:pPr>
            <a:r>
              <a:rPr lang="tr-TR"/>
              <a:t>Bilimsel kaliteyi yükseltir</a:t>
            </a:r>
            <a:endParaRPr/>
          </a:p>
          <a:p>
            <a:pPr indent="-98425" lvl="0" marL="91440" rtl="0" algn="l">
              <a:lnSpc>
                <a:spcPct val="90000"/>
              </a:lnSpc>
              <a:spcBef>
                <a:spcPts val="1400"/>
              </a:spcBef>
              <a:spcAft>
                <a:spcPts val="0"/>
              </a:spcAft>
              <a:buSzPct val="100000"/>
              <a:buFont typeface="Noto Sans Symbols"/>
              <a:buChar char="▪"/>
            </a:pPr>
            <a:r>
              <a:rPr lang="tr-TR"/>
              <a:t>Gereksiz tekrarları önler</a:t>
            </a:r>
            <a:endParaRPr/>
          </a:p>
          <a:p>
            <a:pPr indent="-98425" lvl="0" marL="91440" rtl="0" algn="l">
              <a:lnSpc>
                <a:spcPct val="90000"/>
              </a:lnSpc>
              <a:spcBef>
                <a:spcPts val="1400"/>
              </a:spcBef>
              <a:spcAft>
                <a:spcPts val="0"/>
              </a:spcAft>
              <a:buSzPct val="100000"/>
              <a:buFont typeface="Noto Sans Symbols"/>
              <a:buChar char="▪"/>
            </a:pPr>
            <a:r>
              <a:rPr lang="tr-TR"/>
              <a:t>Proje çıktılarını dünya literatürüne bağlar</a:t>
            </a:r>
            <a:endParaRPr/>
          </a:p>
          <a:p>
            <a:pPr indent="-98425" lvl="0" marL="91440" rtl="0" algn="l">
              <a:lnSpc>
                <a:spcPct val="90000"/>
              </a:lnSpc>
              <a:spcBef>
                <a:spcPts val="1400"/>
              </a:spcBef>
              <a:spcAft>
                <a:spcPts val="0"/>
              </a:spcAft>
              <a:buSzPct val="100000"/>
              <a:buFont typeface="Noto Sans Symbols"/>
              <a:buChar char="▪"/>
            </a:pPr>
            <a:r>
              <a:rPr lang="tr-TR"/>
              <a:t>Yeni yöntem veya özgün katkının nerede olduğunu belirler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667512" y="48638"/>
            <a:ext cx="7056199" cy="1001949"/>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Literatür Araştırması</a:t>
            </a:r>
            <a:endParaRPr/>
          </a:p>
        </p:txBody>
      </p:sp>
      <p:sp>
        <p:nvSpPr>
          <p:cNvPr id="131" name="Google Shape;131;p6"/>
          <p:cNvSpPr txBox="1"/>
          <p:nvPr>
            <p:ph idx="1" type="body"/>
          </p:nvPr>
        </p:nvSpPr>
        <p:spPr>
          <a:xfrm>
            <a:off x="667512" y="1254868"/>
            <a:ext cx="8077654" cy="5054492"/>
          </a:xfrm>
          <a:prstGeom prst="rect">
            <a:avLst/>
          </a:prstGeom>
          <a:noFill/>
          <a:ln>
            <a:noFill/>
          </a:ln>
        </p:spPr>
        <p:txBody>
          <a:bodyPr anchorCtr="0" anchor="t" bIns="45700" lIns="45700" spcFirstLastPara="1" rIns="45700" wrap="square" tIns="45700">
            <a:normAutofit fontScale="85000" lnSpcReduction="20000"/>
          </a:bodyPr>
          <a:lstStyle/>
          <a:p>
            <a:pPr indent="-107950" lvl="0" marL="91440" rtl="0" algn="l">
              <a:lnSpc>
                <a:spcPct val="90000"/>
              </a:lnSpc>
              <a:spcBef>
                <a:spcPts val="0"/>
              </a:spcBef>
              <a:spcAft>
                <a:spcPts val="0"/>
              </a:spcAft>
              <a:buSzPct val="100000"/>
              <a:buChar char=" "/>
            </a:pPr>
            <a:r>
              <a:rPr b="1" lang="tr-TR"/>
              <a:t>1. Araştırma Sorusu Oluşturma</a:t>
            </a:r>
            <a:endParaRPr/>
          </a:p>
          <a:p>
            <a:pPr indent="-107950" lvl="0" marL="91440" rtl="0" algn="l">
              <a:lnSpc>
                <a:spcPct val="90000"/>
              </a:lnSpc>
              <a:spcBef>
                <a:spcPts val="1400"/>
              </a:spcBef>
              <a:spcAft>
                <a:spcPts val="0"/>
              </a:spcAft>
              <a:buSzPct val="100000"/>
              <a:buChar char=" "/>
            </a:pPr>
            <a:r>
              <a:rPr lang="tr-TR"/>
              <a:t>“Araç yenileme davranışı nasıl modellenir?”</a:t>
            </a:r>
            <a:endParaRPr/>
          </a:p>
          <a:p>
            <a:pPr indent="-107950" lvl="0" marL="91440" rtl="0" algn="l">
              <a:lnSpc>
                <a:spcPct val="90000"/>
              </a:lnSpc>
              <a:spcBef>
                <a:spcPts val="1400"/>
              </a:spcBef>
              <a:spcAft>
                <a:spcPts val="0"/>
              </a:spcAft>
              <a:buSzPct val="100000"/>
              <a:buChar char=" "/>
            </a:pPr>
            <a:r>
              <a:rPr lang="tr-TR"/>
              <a:t>“Zaman ağırlıklı hibrit öneri sistemleri nasıl çalışır?”</a:t>
            </a:r>
            <a:endParaRPr/>
          </a:p>
          <a:p>
            <a:pPr indent="-107950" lvl="0" marL="91440" rtl="0" algn="l">
              <a:lnSpc>
                <a:spcPct val="90000"/>
              </a:lnSpc>
              <a:spcBef>
                <a:spcPts val="1400"/>
              </a:spcBef>
              <a:spcAft>
                <a:spcPts val="0"/>
              </a:spcAft>
              <a:buSzPct val="100000"/>
              <a:buChar char=" "/>
            </a:pPr>
            <a:r>
              <a:rPr b="1" lang="tr-TR"/>
              <a:t>2. Anahtar Kelimeler Belirleme</a:t>
            </a:r>
            <a:endParaRPr/>
          </a:p>
          <a:p>
            <a:pPr indent="-107950" lvl="0" marL="91440" rtl="0" algn="l">
              <a:lnSpc>
                <a:spcPct val="90000"/>
              </a:lnSpc>
              <a:spcBef>
                <a:spcPts val="1400"/>
              </a:spcBef>
              <a:spcAft>
                <a:spcPts val="0"/>
              </a:spcAft>
              <a:buSzPct val="100000"/>
              <a:buFont typeface="Noto Sans Symbols"/>
              <a:buChar char="▪"/>
            </a:pPr>
            <a:r>
              <a:rPr lang="tr-TR"/>
              <a:t>hybrid ML models</a:t>
            </a:r>
            <a:endParaRPr/>
          </a:p>
          <a:p>
            <a:pPr indent="-107950" lvl="0" marL="91440" rtl="0" algn="l">
              <a:lnSpc>
                <a:spcPct val="90000"/>
              </a:lnSpc>
              <a:spcBef>
                <a:spcPts val="1400"/>
              </a:spcBef>
              <a:spcAft>
                <a:spcPts val="0"/>
              </a:spcAft>
              <a:buSzPct val="100000"/>
              <a:buFont typeface="Noto Sans Symbols"/>
              <a:buChar char="▪"/>
            </a:pPr>
            <a:r>
              <a:rPr lang="tr-TR"/>
              <a:t>data-driven customer insights automotive</a:t>
            </a:r>
            <a:endParaRPr/>
          </a:p>
          <a:p>
            <a:pPr indent="-107950" lvl="0" marL="91440" rtl="0" algn="l">
              <a:lnSpc>
                <a:spcPct val="90000"/>
              </a:lnSpc>
              <a:spcBef>
                <a:spcPts val="1400"/>
              </a:spcBef>
              <a:spcAft>
                <a:spcPts val="0"/>
              </a:spcAft>
              <a:buSzPct val="100000"/>
              <a:buFont typeface="Noto Sans Symbols"/>
              <a:buChar char="▪"/>
            </a:pPr>
            <a:r>
              <a:rPr lang="tr-TR"/>
              <a:t>recommendation systems in automotive</a:t>
            </a:r>
            <a:endParaRPr/>
          </a:p>
          <a:p>
            <a:pPr indent="-107950" lvl="0" marL="91440" rtl="0" algn="l">
              <a:lnSpc>
                <a:spcPct val="90000"/>
              </a:lnSpc>
              <a:spcBef>
                <a:spcPts val="1400"/>
              </a:spcBef>
              <a:spcAft>
                <a:spcPts val="0"/>
              </a:spcAft>
              <a:buSzPct val="100000"/>
              <a:buFont typeface="Noto Sans Symbols"/>
              <a:buChar char="▪"/>
            </a:pPr>
            <a:r>
              <a:rPr lang="tr-TR"/>
              <a:t>automotive machine learning</a:t>
            </a:r>
            <a:endParaRPr/>
          </a:p>
          <a:p>
            <a:pPr indent="-107950" lvl="0" marL="91440" rtl="0" algn="l">
              <a:lnSpc>
                <a:spcPct val="90000"/>
              </a:lnSpc>
              <a:spcBef>
                <a:spcPts val="1400"/>
              </a:spcBef>
              <a:spcAft>
                <a:spcPts val="0"/>
              </a:spcAft>
              <a:buSzPct val="100000"/>
              <a:buFont typeface="Noto Sans Symbols"/>
              <a:buChar char="▪"/>
            </a:pPr>
            <a:r>
              <a:rPr b="1" lang="tr-TR"/>
              <a:t>3. Akademik Kaynakları Tarama</a:t>
            </a:r>
            <a:endParaRPr/>
          </a:p>
          <a:p>
            <a:pPr indent="-107950" lvl="0" marL="91440" rtl="0" algn="l">
              <a:lnSpc>
                <a:spcPct val="90000"/>
              </a:lnSpc>
              <a:spcBef>
                <a:spcPts val="1400"/>
              </a:spcBef>
              <a:spcAft>
                <a:spcPts val="0"/>
              </a:spcAft>
              <a:buSzPct val="100000"/>
              <a:buChar char=" "/>
            </a:pPr>
            <a:r>
              <a:rPr lang="tr-TR"/>
              <a:t>Google Scholar</a:t>
            </a:r>
            <a:endParaRPr/>
          </a:p>
          <a:p>
            <a:pPr indent="-107950" lvl="0" marL="91440" rtl="0" algn="l">
              <a:lnSpc>
                <a:spcPct val="90000"/>
              </a:lnSpc>
              <a:spcBef>
                <a:spcPts val="1400"/>
              </a:spcBef>
              <a:spcAft>
                <a:spcPts val="0"/>
              </a:spcAft>
              <a:buSzPct val="100000"/>
              <a:buChar char=" "/>
            </a:pPr>
            <a:r>
              <a:rPr lang="tr-TR"/>
              <a:t>Scopus</a:t>
            </a:r>
            <a:endParaRPr/>
          </a:p>
          <a:p>
            <a:pPr indent="-107950" lvl="0" marL="91440" rtl="0" algn="l">
              <a:lnSpc>
                <a:spcPct val="90000"/>
              </a:lnSpc>
              <a:spcBef>
                <a:spcPts val="1400"/>
              </a:spcBef>
              <a:spcAft>
                <a:spcPts val="0"/>
              </a:spcAft>
              <a:buSzPct val="100000"/>
              <a:buChar char=" "/>
            </a:pPr>
            <a:r>
              <a:rPr lang="tr-TR"/>
              <a:t>IEEE Xplore</a:t>
            </a:r>
            <a:endParaRPr/>
          </a:p>
          <a:p>
            <a:pPr indent="-107950" lvl="0" marL="91440" rtl="0" algn="l">
              <a:lnSpc>
                <a:spcPct val="90000"/>
              </a:lnSpc>
              <a:spcBef>
                <a:spcPts val="1400"/>
              </a:spcBef>
              <a:spcAft>
                <a:spcPts val="0"/>
              </a:spcAft>
              <a:buSzPct val="100000"/>
              <a:buChar char=" "/>
            </a:pPr>
            <a:r>
              <a:rPr lang="tr-TR"/>
              <a:t>ScienceDirect</a:t>
            </a:r>
            <a:endParaRPr/>
          </a:p>
          <a:p>
            <a:pPr indent="-107950" lvl="0" marL="91440" rtl="0" algn="l">
              <a:lnSpc>
                <a:spcPct val="90000"/>
              </a:lnSpc>
              <a:spcBef>
                <a:spcPts val="1400"/>
              </a:spcBef>
              <a:spcAft>
                <a:spcPts val="0"/>
              </a:spcAft>
              <a:buSzPct val="100000"/>
              <a:buChar char=" "/>
            </a:pPr>
            <a:r>
              <a:rPr lang="tr-TR"/>
              <a:t>arXiv</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7"/>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Akademik Kaynakları Tarama</a:t>
            </a:r>
            <a:endParaRPr/>
          </a:p>
        </p:txBody>
      </p:sp>
      <p:sp>
        <p:nvSpPr>
          <p:cNvPr id="137" name="Google Shape;137;p7"/>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b="1" lang="tr-TR"/>
              <a:t>4. Sıralama ve Özetleme</a:t>
            </a:r>
            <a:endParaRPr/>
          </a:p>
          <a:p>
            <a:pPr indent="-127000" lvl="0" marL="91440" rtl="0" algn="l">
              <a:lnSpc>
                <a:spcPct val="90000"/>
              </a:lnSpc>
              <a:spcBef>
                <a:spcPts val="1400"/>
              </a:spcBef>
              <a:spcAft>
                <a:spcPts val="0"/>
              </a:spcAft>
              <a:buSzPts val="2000"/>
              <a:buChar char=" "/>
            </a:pPr>
            <a:r>
              <a:rPr lang="tr-TR"/>
              <a:t>Makale özetlerini karşılaştır</a:t>
            </a:r>
            <a:endParaRPr/>
          </a:p>
          <a:p>
            <a:pPr indent="-127000" lvl="0" marL="91440" rtl="0" algn="l">
              <a:lnSpc>
                <a:spcPct val="90000"/>
              </a:lnSpc>
              <a:spcBef>
                <a:spcPts val="1400"/>
              </a:spcBef>
              <a:spcAft>
                <a:spcPts val="0"/>
              </a:spcAft>
              <a:buSzPts val="2000"/>
              <a:buChar char=" "/>
            </a:pPr>
            <a:r>
              <a:rPr lang="tr-TR"/>
              <a:t>Yöntem ve veri setlerini çıkar</a:t>
            </a:r>
            <a:endParaRPr/>
          </a:p>
          <a:p>
            <a:pPr indent="-127000" lvl="0" marL="91440" rtl="0" algn="l">
              <a:lnSpc>
                <a:spcPct val="90000"/>
              </a:lnSpc>
              <a:spcBef>
                <a:spcPts val="1400"/>
              </a:spcBef>
              <a:spcAft>
                <a:spcPts val="0"/>
              </a:spcAft>
              <a:buSzPts val="2000"/>
              <a:buChar char=" "/>
            </a:pPr>
            <a:r>
              <a:rPr lang="tr-TR"/>
              <a:t>Sonuçları tablo haline getir</a:t>
            </a:r>
            <a:endParaRPr/>
          </a:p>
          <a:p>
            <a:pPr indent="-127000" lvl="0" marL="91440" rtl="0" algn="l">
              <a:lnSpc>
                <a:spcPct val="90000"/>
              </a:lnSpc>
              <a:spcBef>
                <a:spcPts val="1400"/>
              </a:spcBef>
              <a:spcAft>
                <a:spcPts val="0"/>
              </a:spcAft>
              <a:buSzPts val="2000"/>
              <a:buChar char=" "/>
            </a:pPr>
            <a:r>
              <a:rPr b="1" lang="tr-TR"/>
              <a:t>5. GAP Analizi</a:t>
            </a:r>
            <a:endParaRPr/>
          </a:p>
          <a:p>
            <a:pPr indent="-127000" lvl="0" marL="91440" rtl="0" algn="l">
              <a:lnSpc>
                <a:spcPct val="90000"/>
              </a:lnSpc>
              <a:spcBef>
                <a:spcPts val="1400"/>
              </a:spcBef>
              <a:spcAft>
                <a:spcPts val="0"/>
              </a:spcAft>
              <a:buSzPts val="2000"/>
              <a:buChar char=" "/>
            </a:pPr>
            <a:r>
              <a:rPr lang="tr-TR"/>
              <a:t>Literatürdeki boşluklar</a:t>
            </a:r>
            <a:endParaRPr/>
          </a:p>
          <a:p>
            <a:pPr indent="-127000" lvl="0" marL="91440" rtl="0" algn="l">
              <a:lnSpc>
                <a:spcPct val="90000"/>
              </a:lnSpc>
              <a:spcBef>
                <a:spcPts val="1400"/>
              </a:spcBef>
              <a:spcAft>
                <a:spcPts val="0"/>
              </a:spcAft>
              <a:buSzPts val="2000"/>
              <a:buChar char=" "/>
            </a:pPr>
            <a:r>
              <a:rPr lang="tr-TR"/>
              <a:t>Eksik yöntemler</a:t>
            </a:r>
            <a:endParaRPr/>
          </a:p>
          <a:p>
            <a:pPr indent="-127000" lvl="0" marL="91440" rtl="0" algn="l">
              <a:lnSpc>
                <a:spcPct val="90000"/>
              </a:lnSpc>
              <a:spcBef>
                <a:spcPts val="1400"/>
              </a:spcBef>
              <a:spcAft>
                <a:spcPts val="0"/>
              </a:spcAft>
              <a:buSzPts val="2000"/>
              <a:buChar char=" "/>
            </a:pPr>
            <a:r>
              <a:rPr lang="tr-TR"/>
              <a:t>Endüstri ihtiyacının karşılanmadığı alanlar</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type="title"/>
          </p:nvPr>
        </p:nvSpPr>
        <p:spPr>
          <a:xfrm>
            <a:off x="667512" y="0"/>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Akademik Kaynakları Tarama</a:t>
            </a:r>
            <a:endParaRPr/>
          </a:p>
        </p:txBody>
      </p:sp>
      <p:graphicFrame>
        <p:nvGraphicFramePr>
          <p:cNvPr id="143" name="Google Shape;143;p8"/>
          <p:cNvGraphicFramePr/>
          <p:nvPr/>
        </p:nvGraphicFramePr>
        <p:xfrm>
          <a:off x="243194" y="710525"/>
          <a:ext cx="3000000" cy="3000000"/>
        </p:xfrm>
        <a:graphic>
          <a:graphicData uri="http://schemas.openxmlformats.org/drawingml/2006/table">
            <a:tbl>
              <a:tblPr>
                <a:noFill/>
                <a:tableStyleId>{827C13C7-C8F4-4BBF-AC0E-6AC2C8011462}</a:tableStyleId>
              </a:tblPr>
              <a:tblGrid>
                <a:gridCol w="1585600"/>
                <a:gridCol w="2848700"/>
                <a:gridCol w="4320575"/>
              </a:tblGrid>
              <a:tr h="269375">
                <a:tc>
                  <a:txBody>
                    <a:bodyPr/>
                    <a:lstStyle/>
                    <a:p>
                      <a:pPr indent="0" lvl="0" marL="0" marR="0" rtl="0" algn="l">
                        <a:spcBef>
                          <a:spcPts val="0"/>
                        </a:spcBef>
                        <a:spcAft>
                          <a:spcPts val="0"/>
                        </a:spcAft>
                        <a:buNone/>
                      </a:pPr>
                      <a:r>
                        <a:rPr b="1" lang="tr-TR" sz="1600" u="none" cap="none" strike="noStrike"/>
                        <a:t>Platform</a:t>
                      </a:r>
                      <a:endParaRPr/>
                    </a:p>
                  </a:txBody>
                  <a:tcPr marT="18350" marB="18350" marR="36700" marL="36700" anchor="ctr"/>
                </a:tc>
                <a:tc>
                  <a:txBody>
                    <a:bodyPr/>
                    <a:lstStyle/>
                    <a:p>
                      <a:pPr indent="0" lvl="0" marL="0" marR="0" rtl="0" algn="l">
                        <a:spcBef>
                          <a:spcPts val="0"/>
                        </a:spcBef>
                        <a:spcAft>
                          <a:spcPts val="0"/>
                        </a:spcAft>
                        <a:buNone/>
                      </a:pPr>
                      <a:r>
                        <a:rPr b="1" lang="tr-TR" sz="1600"/>
                        <a:t>Adres</a:t>
                      </a:r>
                      <a:endParaRPr/>
                    </a:p>
                  </a:txBody>
                  <a:tcPr marT="18350" marB="18350" marR="36700" marL="36700" anchor="ctr"/>
                </a:tc>
                <a:tc>
                  <a:txBody>
                    <a:bodyPr/>
                    <a:lstStyle/>
                    <a:p>
                      <a:pPr indent="0" lvl="0" marL="0" marR="0" rtl="0" algn="l">
                        <a:spcBef>
                          <a:spcPts val="0"/>
                        </a:spcBef>
                        <a:spcAft>
                          <a:spcPts val="0"/>
                        </a:spcAft>
                        <a:buNone/>
                      </a:pPr>
                      <a:r>
                        <a:rPr lang="tr-TR" sz="1200"/>
                        <a:t>Açıklama</a:t>
                      </a:r>
                      <a:endParaRPr/>
                    </a:p>
                  </a:txBody>
                  <a:tcPr marT="18350" marB="18350" marR="36700" marL="36700" anchor="ctr"/>
                </a:tc>
              </a:tr>
              <a:tr h="1775750">
                <a:tc>
                  <a:txBody>
                    <a:bodyPr/>
                    <a:lstStyle/>
                    <a:p>
                      <a:pPr indent="0" lvl="0" marL="0" marR="0" rtl="0" algn="l">
                        <a:spcBef>
                          <a:spcPts val="0"/>
                        </a:spcBef>
                        <a:spcAft>
                          <a:spcPts val="0"/>
                        </a:spcAft>
                        <a:buNone/>
                      </a:pPr>
                      <a:r>
                        <a:rPr b="1" lang="tr-TR" sz="1600"/>
                        <a:t>Google Scholar</a:t>
                      </a:r>
                      <a:endParaRPr b="1" sz="1600"/>
                    </a:p>
                  </a:txBody>
                  <a:tcPr marT="18350" marB="18350" marR="36700" marL="36700" anchor="ctr"/>
                </a:tc>
                <a:tc>
                  <a:txBody>
                    <a:bodyPr/>
                    <a:lstStyle/>
                    <a:p>
                      <a:pPr indent="0" lvl="0" marL="0" marR="0" rtl="0" algn="l">
                        <a:spcBef>
                          <a:spcPts val="0"/>
                        </a:spcBef>
                        <a:spcAft>
                          <a:spcPts val="0"/>
                        </a:spcAft>
                        <a:buNone/>
                      </a:pPr>
                      <a:r>
                        <a:rPr b="1" lang="tr-TR" sz="1600" u="sng">
                          <a:solidFill>
                            <a:schemeClr val="hlink"/>
                          </a:solidFill>
                          <a:hlinkClick r:id="rId3"/>
                        </a:rPr>
                        <a:t>https://scholar.google.com</a:t>
                      </a:r>
                      <a:endParaRPr b="1" sz="1600"/>
                    </a:p>
                  </a:txBody>
                  <a:tcPr marT="18350" marB="18350" marR="36700" marL="36700" anchor="ctr"/>
                </a:tc>
                <a:tc>
                  <a:txBody>
                    <a:bodyPr/>
                    <a:lstStyle/>
                    <a:p>
                      <a:pPr indent="0" lvl="0" marL="0" marR="0" rtl="0" algn="l">
                        <a:spcBef>
                          <a:spcPts val="0"/>
                        </a:spcBef>
                        <a:spcAft>
                          <a:spcPts val="0"/>
                        </a:spcAft>
                        <a:buNone/>
                      </a:pPr>
                      <a:r>
                        <a:rPr lang="tr-TR" sz="1200"/>
                        <a:t>Ücretsiz bir akademik arama motoru; makaleler, tezler, patentler ve teknik raporları tarar. Geniş kapsama ve atıf bilgilerine hızlı erişim sağlar.</a:t>
                      </a:r>
                      <a:endParaRPr/>
                    </a:p>
                    <a:p>
                      <a:pPr indent="0" lvl="0" marL="0" marR="0" rtl="0" algn="l">
                        <a:spcBef>
                          <a:spcPts val="0"/>
                        </a:spcBef>
                        <a:spcAft>
                          <a:spcPts val="0"/>
                        </a:spcAft>
                        <a:buNone/>
                      </a:pPr>
                      <a:r>
                        <a:t/>
                      </a:r>
                      <a:endParaRPr sz="1200"/>
                    </a:p>
                    <a:p>
                      <a:pPr indent="0" lvl="0" marL="0" marR="0" rtl="0" algn="l">
                        <a:lnSpc>
                          <a:spcPct val="100000"/>
                        </a:lnSpc>
                        <a:spcBef>
                          <a:spcPts val="0"/>
                        </a:spcBef>
                        <a:spcAft>
                          <a:spcPts val="0"/>
                        </a:spcAft>
                        <a:buNone/>
                      </a:pPr>
                      <a:r>
                        <a:rPr lang="tr-TR" sz="1200"/>
                        <a:t>Scholar sonuçları arasında </a:t>
                      </a:r>
                      <a:r>
                        <a:rPr b="1" lang="tr-TR" sz="1200"/>
                        <a:t>konferans bildirileri, preprint’ler, ders notları, kitap bölümleri, hatta blog benzeri içerikler</a:t>
                      </a:r>
                      <a:r>
                        <a:rPr lang="tr-TR" sz="1200"/>
                        <a:t> bile yer alabilir.</a:t>
                      </a:r>
                      <a:endParaRPr/>
                    </a:p>
                    <a:p>
                      <a:pPr indent="0" lvl="0" marL="0" marR="0" rtl="0" algn="l">
                        <a:lnSpc>
                          <a:spcPct val="100000"/>
                        </a:lnSpc>
                        <a:spcBef>
                          <a:spcPts val="0"/>
                        </a:spcBef>
                        <a:spcAft>
                          <a:spcPts val="0"/>
                        </a:spcAft>
                        <a:buNone/>
                      </a:pPr>
                      <a:r>
                        <a:rPr lang="tr-TR" sz="1200"/>
                        <a:t>Bu nedenle kalite kontrolü tamamen araştırmacıya kalır.</a:t>
                      </a:r>
                      <a:endParaRPr/>
                    </a:p>
                    <a:p>
                      <a:pPr indent="0" lvl="0" marL="0" marR="0" rtl="0" algn="l">
                        <a:spcBef>
                          <a:spcPts val="0"/>
                        </a:spcBef>
                        <a:spcAft>
                          <a:spcPts val="0"/>
                        </a:spcAft>
                        <a:buNone/>
                      </a:pPr>
                      <a:r>
                        <a:t/>
                      </a:r>
                      <a:endParaRPr sz="1200"/>
                    </a:p>
                  </a:txBody>
                  <a:tcPr marT="18350" marB="18350" marR="36700" marL="36700" anchor="ctr"/>
                </a:tc>
              </a:tr>
              <a:tr h="1092750">
                <a:tc>
                  <a:txBody>
                    <a:bodyPr/>
                    <a:lstStyle/>
                    <a:p>
                      <a:pPr indent="0" lvl="0" marL="0" marR="0" rtl="0" algn="l">
                        <a:spcBef>
                          <a:spcPts val="0"/>
                        </a:spcBef>
                        <a:spcAft>
                          <a:spcPts val="0"/>
                        </a:spcAft>
                        <a:buNone/>
                      </a:pPr>
                      <a:r>
                        <a:rPr b="1" lang="tr-TR" sz="1600"/>
                        <a:t>Scopus</a:t>
                      </a:r>
                      <a:endParaRPr b="1" sz="1600"/>
                    </a:p>
                  </a:txBody>
                  <a:tcPr marT="18350" marB="18350" marR="36700" marL="36700" anchor="ctr"/>
                </a:tc>
                <a:tc>
                  <a:txBody>
                    <a:bodyPr/>
                    <a:lstStyle/>
                    <a:p>
                      <a:pPr indent="0" lvl="0" marL="0" marR="0" rtl="0" algn="l">
                        <a:spcBef>
                          <a:spcPts val="0"/>
                        </a:spcBef>
                        <a:spcAft>
                          <a:spcPts val="0"/>
                        </a:spcAft>
                        <a:buNone/>
                      </a:pPr>
                      <a:r>
                        <a:rPr b="1" lang="tr-TR" sz="1600" u="sng">
                          <a:solidFill>
                            <a:schemeClr val="hlink"/>
                          </a:solidFill>
                          <a:hlinkClick r:id="rId4"/>
                        </a:rPr>
                        <a:t>https://www.scopus.com</a:t>
                      </a:r>
                      <a:endParaRPr b="1" sz="1600"/>
                    </a:p>
                  </a:txBody>
                  <a:tcPr marT="18350" marB="18350" marR="36700" marL="36700" anchor="ctr"/>
                </a:tc>
                <a:tc>
                  <a:txBody>
                    <a:bodyPr/>
                    <a:lstStyle/>
                    <a:p>
                      <a:pPr indent="0" lvl="0" marL="0" marR="0" rtl="0" algn="l">
                        <a:spcBef>
                          <a:spcPts val="0"/>
                        </a:spcBef>
                        <a:spcAft>
                          <a:spcPts val="0"/>
                        </a:spcAft>
                        <a:buNone/>
                      </a:pPr>
                      <a:r>
                        <a:rPr lang="tr-TR" sz="1200"/>
                        <a:t>Elsevier’in güçlü bibliyografik veritabanı; hakemli makaleler, konferanslar ve kitap bölümleri içerir. Gelişmiş atıf ve araştırmacı analiz araçlarına sahiptir. (Genelde kurumsal erişim gerektirir.)</a:t>
                      </a:r>
                      <a:endParaRPr/>
                    </a:p>
                  </a:txBody>
                  <a:tcPr marT="18350" marB="18350" marR="36700" marL="36700" anchor="ctr"/>
                </a:tc>
              </a:tr>
              <a:tr h="1088825">
                <a:tc>
                  <a:txBody>
                    <a:bodyPr/>
                    <a:lstStyle/>
                    <a:p>
                      <a:pPr indent="0" lvl="0" marL="0" marR="0" rtl="0" algn="l">
                        <a:spcBef>
                          <a:spcPts val="0"/>
                        </a:spcBef>
                        <a:spcAft>
                          <a:spcPts val="0"/>
                        </a:spcAft>
                        <a:buNone/>
                      </a:pPr>
                      <a:r>
                        <a:rPr b="1" lang="tr-TR" sz="1600"/>
                        <a:t>IEEE Xplore</a:t>
                      </a:r>
                      <a:endParaRPr/>
                    </a:p>
                  </a:txBody>
                  <a:tcPr marT="18350" marB="18350" marR="36700" marL="36700" anchor="ctr"/>
                </a:tc>
                <a:tc>
                  <a:txBody>
                    <a:bodyPr/>
                    <a:lstStyle/>
                    <a:p>
                      <a:pPr indent="0" lvl="0" marL="0" marR="0" rtl="0" algn="l">
                        <a:spcBef>
                          <a:spcPts val="0"/>
                        </a:spcBef>
                        <a:spcAft>
                          <a:spcPts val="0"/>
                        </a:spcAft>
                        <a:buNone/>
                      </a:pPr>
                      <a:r>
                        <a:rPr b="1" lang="tr-TR" sz="1600" u="sng">
                          <a:solidFill>
                            <a:schemeClr val="hlink"/>
                          </a:solidFill>
                          <a:hlinkClick r:id="rId5"/>
                        </a:rPr>
                        <a:t>https://ieeexplore.ieee.org</a:t>
                      </a:r>
                      <a:endParaRPr b="1" sz="1600"/>
                    </a:p>
                  </a:txBody>
                  <a:tcPr marT="18350" marB="18350" marR="36700" marL="36700" anchor="ctr"/>
                </a:tc>
                <a:tc>
                  <a:txBody>
                    <a:bodyPr/>
                    <a:lstStyle/>
                    <a:p>
                      <a:pPr indent="0" lvl="0" marL="0" marR="0" rtl="0" algn="l">
                        <a:spcBef>
                          <a:spcPts val="0"/>
                        </a:spcBef>
                        <a:spcAft>
                          <a:spcPts val="0"/>
                        </a:spcAft>
                        <a:buNone/>
                      </a:pPr>
                      <a:r>
                        <a:rPr lang="tr-TR" sz="1200"/>
                        <a:t>Elektrik-elektronik, yapay zekâ, bilgisayar bilimi ve mühendislik alanlarında önde gelen dijital kütüphane. IEEE dergileri, konferansları ve standartlarını içerir.</a:t>
                      </a:r>
                      <a:endParaRPr/>
                    </a:p>
                    <a:p>
                      <a:pPr indent="0" lvl="0" marL="0" marR="0" rtl="0" algn="l">
                        <a:lnSpc>
                          <a:spcPct val="100000"/>
                        </a:lnSpc>
                        <a:spcBef>
                          <a:spcPts val="0"/>
                        </a:spcBef>
                        <a:spcAft>
                          <a:spcPts val="0"/>
                        </a:spcAft>
                        <a:buClr>
                          <a:schemeClr val="dk1"/>
                        </a:buClr>
                        <a:buSzPts val="1200"/>
                        <a:buFont typeface="Twentieth Century"/>
                        <a:buNone/>
                      </a:pPr>
                      <a:r>
                        <a:rPr lang="tr-TR" sz="1200"/>
                        <a:t>Elektrik-elektronik, bilgisayar müh., yapay zeka ve algoritmalar için en kritik kaynak.</a:t>
                      </a:r>
                      <a:endParaRPr/>
                    </a:p>
                    <a:p>
                      <a:pPr indent="0" lvl="0" marL="0" marR="0" rtl="0" algn="l">
                        <a:spcBef>
                          <a:spcPts val="0"/>
                        </a:spcBef>
                        <a:spcAft>
                          <a:spcPts val="0"/>
                        </a:spcAft>
                        <a:buNone/>
                      </a:pPr>
                      <a:r>
                        <a:t/>
                      </a:r>
                      <a:endParaRPr sz="1200"/>
                    </a:p>
                  </a:txBody>
                  <a:tcPr marT="18350" marB="18350" marR="36700" marL="36700" anchor="ctr"/>
                </a:tc>
              </a:tr>
              <a:tr h="775500">
                <a:tc>
                  <a:txBody>
                    <a:bodyPr/>
                    <a:lstStyle/>
                    <a:p>
                      <a:pPr indent="0" lvl="0" marL="0" marR="0" rtl="0" algn="l">
                        <a:spcBef>
                          <a:spcPts val="0"/>
                        </a:spcBef>
                        <a:spcAft>
                          <a:spcPts val="0"/>
                        </a:spcAft>
                        <a:buNone/>
                      </a:pPr>
                      <a:r>
                        <a:rPr b="1" lang="tr-TR" sz="1600"/>
                        <a:t>ScienceDirect</a:t>
                      </a:r>
                      <a:endParaRPr/>
                    </a:p>
                  </a:txBody>
                  <a:tcPr marT="18350" marB="18350" marR="36700" marL="36700" anchor="ctr"/>
                </a:tc>
                <a:tc>
                  <a:txBody>
                    <a:bodyPr/>
                    <a:lstStyle/>
                    <a:p>
                      <a:pPr indent="0" lvl="0" marL="0" marR="0" rtl="0" algn="l">
                        <a:spcBef>
                          <a:spcPts val="0"/>
                        </a:spcBef>
                        <a:spcAft>
                          <a:spcPts val="0"/>
                        </a:spcAft>
                        <a:buNone/>
                      </a:pPr>
                      <a:r>
                        <a:rPr b="1" lang="tr-TR" sz="1600" u="sng">
                          <a:solidFill>
                            <a:schemeClr val="hlink"/>
                          </a:solidFill>
                          <a:hlinkClick r:id="rId6"/>
                        </a:rPr>
                        <a:t>https://www.sciencedirect.com</a:t>
                      </a:r>
                      <a:endParaRPr b="1" sz="1600"/>
                    </a:p>
                  </a:txBody>
                  <a:tcPr marT="18350" marB="18350" marR="36700" marL="36700" anchor="ctr"/>
                </a:tc>
                <a:tc>
                  <a:txBody>
                    <a:bodyPr/>
                    <a:lstStyle/>
                    <a:p>
                      <a:pPr indent="0" lvl="0" marL="0" marR="0" rtl="0" algn="l">
                        <a:spcBef>
                          <a:spcPts val="0"/>
                        </a:spcBef>
                        <a:spcAft>
                          <a:spcPts val="0"/>
                        </a:spcAft>
                        <a:buNone/>
                      </a:pPr>
                      <a:r>
                        <a:rPr lang="tr-TR" sz="1200"/>
                        <a:t>Elsevier’in bilimsel dergi ve kitap platformu. Çok geniş disiplinlerde hakemli yayınlar sunar. Tam metin erişim genelde abonelik gerektirir.</a:t>
                      </a:r>
                      <a:endParaRPr/>
                    </a:p>
                  </a:txBody>
                  <a:tcPr marT="18350" marB="18350" marR="36700" marL="36700" anchor="ctr"/>
                </a:tc>
              </a:tr>
              <a:tr h="987000">
                <a:tc>
                  <a:txBody>
                    <a:bodyPr/>
                    <a:lstStyle/>
                    <a:p>
                      <a:pPr indent="0" lvl="0" marL="0" marR="0" rtl="0" algn="l">
                        <a:spcBef>
                          <a:spcPts val="0"/>
                        </a:spcBef>
                        <a:spcAft>
                          <a:spcPts val="0"/>
                        </a:spcAft>
                        <a:buNone/>
                      </a:pPr>
                      <a:r>
                        <a:rPr b="1" lang="tr-TR" sz="1600"/>
                        <a:t>arXiv</a:t>
                      </a:r>
                      <a:endParaRPr b="1" sz="1600"/>
                    </a:p>
                  </a:txBody>
                  <a:tcPr marT="18350" marB="18350" marR="36700" marL="36700" anchor="ctr"/>
                </a:tc>
                <a:tc>
                  <a:txBody>
                    <a:bodyPr/>
                    <a:lstStyle/>
                    <a:p>
                      <a:pPr indent="0" lvl="0" marL="0" marR="0" rtl="0" algn="l">
                        <a:spcBef>
                          <a:spcPts val="0"/>
                        </a:spcBef>
                        <a:spcAft>
                          <a:spcPts val="0"/>
                        </a:spcAft>
                        <a:buNone/>
                      </a:pPr>
                      <a:r>
                        <a:rPr b="1" lang="tr-TR" sz="1600" u="sng">
                          <a:solidFill>
                            <a:schemeClr val="hlink"/>
                          </a:solidFill>
                          <a:hlinkClick r:id="rId7"/>
                        </a:rPr>
                        <a:t>https://arxiv.org</a:t>
                      </a:r>
                      <a:endParaRPr b="1" sz="1600"/>
                    </a:p>
                  </a:txBody>
                  <a:tcPr marT="18350" marB="18350" marR="36700" marL="36700" anchor="ctr"/>
                </a:tc>
                <a:tc>
                  <a:txBody>
                    <a:bodyPr/>
                    <a:lstStyle/>
                    <a:p>
                      <a:pPr indent="0" lvl="0" marL="0" marR="0" rtl="0" algn="l">
                        <a:spcBef>
                          <a:spcPts val="0"/>
                        </a:spcBef>
                        <a:spcAft>
                          <a:spcPts val="0"/>
                        </a:spcAft>
                        <a:buNone/>
                      </a:pPr>
                      <a:r>
                        <a:rPr lang="tr-TR" sz="1200"/>
                        <a:t>Fizik, matematik, bilgisayar bilimi, yapay zekâ, istatistik vb. alanlarda hakemsiz “preprint” makalelerin olduğu açık erişimli arşiv. En güncel araştırmaların erken versiyonları burada paylaşılır.</a:t>
                      </a:r>
                      <a:endParaRPr/>
                    </a:p>
                  </a:txBody>
                  <a:tcPr marT="18350" marB="18350" marR="36700" marL="36700"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7" name="Shape 147"/>
        <p:cNvGrpSpPr/>
        <p:nvPr/>
      </p:nvGrpSpPr>
      <p:grpSpPr>
        <a:xfrm>
          <a:off x="0" y="0"/>
          <a:ext cx="0" cy="0"/>
          <a:chOff x="0" y="0"/>
          <a:chExt cx="0" cy="0"/>
        </a:xfrm>
      </p:grpSpPr>
      <p:sp>
        <p:nvSpPr>
          <p:cNvPr id="148" name="Google Shape;148;p9"/>
          <p:cNvSpPr txBox="1"/>
          <p:nvPr>
            <p:ph idx="2" type="body"/>
          </p:nvPr>
        </p:nvSpPr>
        <p:spPr>
          <a:xfrm>
            <a:off x="414399" y="291830"/>
            <a:ext cx="3703320" cy="4435813"/>
          </a:xfrm>
          <a:prstGeom prst="rect">
            <a:avLst/>
          </a:prstGeom>
          <a:noFill/>
          <a:ln>
            <a:noFill/>
          </a:ln>
        </p:spPr>
        <p:txBody>
          <a:bodyPr anchorCtr="0" anchor="t" bIns="45700" lIns="45700" spcFirstLastPara="1" rIns="45700" wrap="square" tIns="45700">
            <a:noAutofit/>
          </a:bodyPr>
          <a:lstStyle/>
          <a:p>
            <a:pPr indent="-101600" lvl="0" marL="91440" rtl="0" algn="l">
              <a:lnSpc>
                <a:spcPct val="100000"/>
              </a:lnSpc>
              <a:spcBef>
                <a:spcPts val="0"/>
              </a:spcBef>
              <a:spcAft>
                <a:spcPts val="0"/>
              </a:spcAft>
              <a:buSzPts val="1600"/>
              <a:buChar char=" "/>
            </a:pPr>
            <a:r>
              <a:rPr b="1" lang="tr-TR" sz="1600"/>
              <a:t>Google Scholar</a:t>
            </a:r>
            <a:endParaRPr b="1"/>
          </a:p>
          <a:p>
            <a:pPr indent="-91440" lvl="0" marL="91440" rtl="0" algn="l">
              <a:lnSpc>
                <a:spcPct val="100000"/>
              </a:lnSpc>
              <a:spcBef>
                <a:spcPts val="0"/>
              </a:spcBef>
              <a:spcAft>
                <a:spcPts val="0"/>
              </a:spcAft>
              <a:buSzPts val="1400"/>
              <a:buChar char=" "/>
            </a:pPr>
            <a:r>
              <a:rPr b="1" lang="tr-TR" sz="1400"/>
              <a:t>Adres:</a:t>
            </a:r>
            <a:r>
              <a:rPr lang="tr-TR" sz="1400"/>
              <a:t> </a:t>
            </a:r>
            <a:r>
              <a:rPr lang="tr-TR" sz="1400" u="sng">
                <a:solidFill>
                  <a:schemeClr val="hlink"/>
                </a:solidFill>
                <a:hlinkClick r:id="rId3"/>
              </a:rPr>
              <a:t>https://scholar.google.com</a:t>
            </a:r>
            <a:endParaRPr sz="1400"/>
          </a:p>
          <a:p>
            <a:pPr indent="-91440" lvl="0" marL="91440" rtl="0" algn="l">
              <a:lnSpc>
                <a:spcPct val="100000"/>
              </a:lnSpc>
              <a:spcBef>
                <a:spcPts val="0"/>
              </a:spcBef>
              <a:spcAft>
                <a:spcPts val="0"/>
              </a:spcAft>
              <a:buSzPts val="1400"/>
              <a:buChar char=" "/>
            </a:pPr>
            <a:r>
              <a:rPr b="1" lang="tr-TR" sz="1400"/>
              <a:t>Ücret:</a:t>
            </a:r>
            <a:r>
              <a:rPr lang="tr-TR" sz="1400"/>
              <a:t> Ücretsiz</a:t>
            </a:r>
            <a:endParaRPr/>
          </a:p>
          <a:p>
            <a:pPr indent="-91440" lvl="0" marL="91440" rtl="0" algn="l">
              <a:lnSpc>
                <a:spcPct val="100000"/>
              </a:lnSpc>
              <a:spcBef>
                <a:spcPts val="0"/>
              </a:spcBef>
              <a:spcAft>
                <a:spcPts val="0"/>
              </a:spcAft>
              <a:buSzPts val="1400"/>
              <a:buChar char=" "/>
            </a:pPr>
            <a:r>
              <a:rPr b="1" lang="tr-TR" sz="1400"/>
              <a:t>Not:</a:t>
            </a:r>
            <a:r>
              <a:rPr lang="tr-TR" sz="1400"/>
              <a:t> En geniş kapsamlı akademik arama motoru; mühendislik için temel kaynak.</a:t>
            </a:r>
            <a:endParaRPr/>
          </a:p>
          <a:p>
            <a:pPr indent="-91440" lvl="0" marL="91440" rtl="0" algn="l">
              <a:lnSpc>
                <a:spcPct val="100000"/>
              </a:lnSpc>
              <a:spcBef>
                <a:spcPts val="0"/>
              </a:spcBef>
              <a:spcAft>
                <a:spcPts val="0"/>
              </a:spcAft>
              <a:buSzPts val="1400"/>
              <a:buChar char=" "/>
            </a:pPr>
            <a:r>
              <a:rPr b="1" lang="tr-TR" sz="1400"/>
              <a:t>Hakemli–hakemsiz ayrımı yapmaz</a:t>
            </a:r>
            <a:endParaRPr/>
          </a:p>
          <a:p>
            <a:pPr indent="-91440" lvl="0" marL="91440" rtl="0" algn="l">
              <a:lnSpc>
                <a:spcPct val="100000"/>
              </a:lnSpc>
              <a:spcBef>
                <a:spcPts val="0"/>
              </a:spcBef>
              <a:spcAft>
                <a:spcPts val="0"/>
              </a:spcAft>
              <a:buSzPts val="1400"/>
              <a:buChar char=" "/>
            </a:pPr>
            <a:r>
              <a:rPr lang="tr-TR" sz="1400"/>
              <a:t>Scholar sonuçları arasında </a:t>
            </a:r>
            <a:r>
              <a:rPr b="1" lang="tr-TR" sz="1400"/>
              <a:t>konferans bildirileri, preprint’ler, ders notları, kitap bölümleri, hatta blog benzeri içerikler</a:t>
            </a:r>
            <a:r>
              <a:rPr lang="tr-TR" sz="1400"/>
              <a:t> bile yer alabilir.</a:t>
            </a:r>
            <a:endParaRPr/>
          </a:p>
          <a:p>
            <a:pPr indent="-91440" lvl="0" marL="91440" rtl="0" algn="l">
              <a:lnSpc>
                <a:spcPct val="100000"/>
              </a:lnSpc>
              <a:spcBef>
                <a:spcPts val="0"/>
              </a:spcBef>
              <a:spcAft>
                <a:spcPts val="0"/>
              </a:spcAft>
              <a:buSzPts val="1400"/>
              <a:buChar char=" "/>
            </a:pPr>
            <a:r>
              <a:rPr lang="tr-TR" sz="1400"/>
              <a:t>Bu nedenle kalite kontrolü tamamen araştırmacıya kalır.</a:t>
            </a:r>
            <a:endParaRPr/>
          </a:p>
          <a:p>
            <a:pPr indent="0" lvl="0" marL="91440" rtl="0" algn="l">
              <a:lnSpc>
                <a:spcPct val="100000"/>
              </a:lnSpc>
              <a:spcBef>
                <a:spcPts val="0"/>
              </a:spcBef>
              <a:spcAft>
                <a:spcPts val="0"/>
              </a:spcAft>
              <a:buSzPts val="1800"/>
              <a:buNone/>
            </a:pPr>
            <a:r>
              <a:t/>
            </a:r>
            <a:endParaRPr sz="1800"/>
          </a:p>
          <a:p>
            <a:pPr indent="-114300" lvl="0" marL="91440" rtl="0" algn="l">
              <a:lnSpc>
                <a:spcPct val="100000"/>
              </a:lnSpc>
              <a:spcBef>
                <a:spcPts val="0"/>
              </a:spcBef>
              <a:spcAft>
                <a:spcPts val="0"/>
              </a:spcAft>
              <a:buSzPts val="1800"/>
              <a:buChar char=" "/>
            </a:pPr>
            <a:r>
              <a:rPr b="1" lang="tr-TR" sz="1800"/>
              <a:t>Scopus</a:t>
            </a:r>
            <a:endParaRPr b="1" sz="1800"/>
          </a:p>
          <a:p>
            <a:pPr indent="-91440" lvl="0" marL="91440" rtl="0" algn="l">
              <a:lnSpc>
                <a:spcPct val="100000"/>
              </a:lnSpc>
              <a:spcBef>
                <a:spcPts val="200"/>
              </a:spcBef>
              <a:spcAft>
                <a:spcPts val="0"/>
              </a:spcAft>
              <a:buSzPts val="1400"/>
              <a:buChar char=" "/>
            </a:pPr>
            <a:r>
              <a:rPr b="1" lang="tr-TR" sz="1400"/>
              <a:t>Adres:</a:t>
            </a:r>
            <a:r>
              <a:rPr lang="tr-TR" sz="1400"/>
              <a:t> </a:t>
            </a:r>
            <a:r>
              <a:rPr lang="tr-TR" sz="1400" u="sng">
                <a:solidFill>
                  <a:schemeClr val="hlink"/>
                </a:solidFill>
                <a:hlinkClick r:id="rId4"/>
              </a:rPr>
              <a:t>https://www.scopus.com</a:t>
            </a:r>
            <a:endParaRPr sz="1400"/>
          </a:p>
          <a:p>
            <a:pPr indent="-91440" lvl="0" marL="91440" rtl="0" algn="l">
              <a:lnSpc>
                <a:spcPct val="100000"/>
              </a:lnSpc>
              <a:spcBef>
                <a:spcPts val="200"/>
              </a:spcBef>
              <a:spcAft>
                <a:spcPts val="0"/>
              </a:spcAft>
              <a:buSzPts val="1400"/>
              <a:buChar char=" "/>
            </a:pPr>
            <a:r>
              <a:rPr b="1" lang="tr-TR" sz="1400"/>
              <a:t>Ücret:</a:t>
            </a:r>
            <a:r>
              <a:rPr lang="tr-TR" sz="1400"/>
              <a:t> Kurumsal abonelik</a:t>
            </a:r>
            <a:endParaRPr/>
          </a:p>
          <a:p>
            <a:pPr indent="-91440" lvl="0" marL="91440" rtl="0" algn="l">
              <a:lnSpc>
                <a:spcPct val="100000"/>
              </a:lnSpc>
              <a:spcBef>
                <a:spcPts val="200"/>
              </a:spcBef>
              <a:spcAft>
                <a:spcPts val="0"/>
              </a:spcAft>
              <a:buSzPts val="1400"/>
              <a:buChar char=" "/>
            </a:pPr>
            <a:r>
              <a:rPr b="1" lang="tr-TR" sz="1400"/>
              <a:t>Not:</a:t>
            </a:r>
            <a:r>
              <a:rPr lang="tr-TR" sz="1400"/>
              <a:t> Atıf analizi ve kapsamlı mühendislik makaleleri için güçlü veri tabanı.</a:t>
            </a:r>
            <a:endParaRPr/>
          </a:p>
          <a:p>
            <a:pPr indent="-2540" lvl="0" marL="91440" rtl="0" algn="l">
              <a:lnSpc>
                <a:spcPct val="100000"/>
              </a:lnSpc>
              <a:spcBef>
                <a:spcPts val="200"/>
              </a:spcBef>
              <a:spcAft>
                <a:spcPts val="0"/>
              </a:spcAft>
              <a:buSzPts val="1400"/>
              <a:buNone/>
            </a:pPr>
            <a:r>
              <a:t/>
            </a:r>
            <a:endParaRPr sz="1400"/>
          </a:p>
          <a:p>
            <a:pPr indent="-91440" lvl="0" marL="91440" rtl="0" algn="l">
              <a:lnSpc>
                <a:spcPct val="100000"/>
              </a:lnSpc>
              <a:spcBef>
                <a:spcPts val="200"/>
              </a:spcBef>
              <a:spcAft>
                <a:spcPts val="0"/>
              </a:spcAft>
              <a:buSzPts val="1400"/>
              <a:buChar char=" "/>
            </a:pPr>
            <a:r>
              <a:rPr b="1" lang="tr-TR" sz="1400"/>
              <a:t>IEEE Xplore</a:t>
            </a:r>
            <a:endParaRPr b="1" sz="1400"/>
          </a:p>
          <a:p>
            <a:pPr indent="-91440" lvl="0" marL="91440" rtl="0" algn="l">
              <a:lnSpc>
                <a:spcPct val="100000"/>
              </a:lnSpc>
              <a:spcBef>
                <a:spcPts val="200"/>
              </a:spcBef>
              <a:spcAft>
                <a:spcPts val="0"/>
              </a:spcAft>
              <a:buSzPts val="1400"/>
              <a:buChar char=" "/>
            </a:pPr>
            <a:r>
              <a:rPr b="1" lang="tr-TR" sz="1400"/>
              <a:t>Adres:</a:t>
            </a:r>
            <a:r>
              <a:rPr lang="tr-TR" sz="1400"/>
              <a:t> </a:t>
            </a:r>
            <a:r>
              <a:rPr lang="tr-TR" sz="1400" u="sng">
                <a:solidFill>
                  <a:schemeClr val="hlink"/>
                </a:solidFill>
                <a:hlinkClick r:id="rId5"/>
              </a:rPr>
              <a:t>https://ieeexplore.ieee.org</a:t>
            </a:r>
            <a:endParaRPr sz="1400"/>
          </a:p>
          <a:p>
            <a:pPr indent="-91440" lvl="0" marL="91440" rtl="0" algn="l">
              <a:lnSpc>
                <a:spcPct val="100000"/>
              </a:lnSpc>
              <a:spcBef>
                <a:spcPts val="200"/>
              </a:spcBef>
              <a:spcAft>
                <a:spcPts val="0"/>
              </a:spcAft>
              <a:buSzPts val="1400"/>
              <a:buChar char=" "/>
            </a:pPr>
            <a:r>
              <a:rPr b="1" lang="tr-TR" sz="1400"/>
              <a:t>Ücret:</a:t>
            </a:r>
            <a:r>
              <a:rPr lang="tr-TR" sz="1400"/>
              <a:t> Kurumsal/kişisel abonelik</a:t>
            </a:r>
            <a:endParaRPr/>
          </a:p>
          <a:p>
            <a:pPr indent="-91440" lvl="0" marL="91440" rtl="0" algn="l">
              <a:lnSpc>
                <a:spcPct val="100000"/>
              </a:lnSpc>
              <a:spcBef>
                <a:spcPts val="200"/>
              </a:spcBef>
              <a:spcAft>
                <a:spcPts val="0"/>
              </a:spcAft>
              <a:buSzPts val="1400"/>
              <a:buChar char=" "/>
            </a:pPr>
            <a:r>
              <a:rPr b="1" lang="tr-TR" sz="1400"/>
              <a:t>Not:</a:t>
            </a:r>
            <a:r>
              <a:rPr lang="tr-TR" sz="1400"/>
              <a:t> Elektrik-elektronik, bilgisayar müh., yapay zeka ve algoritmalar için en kritik kaynak.</a:t>
            </a:r>
            <a:endParaRPr sz="1400"/>
          </a:p>
        </p:txBody>
      </p:sp>
      <p:sp>
        <p:nvSpPr>
          <p:cNvPr id="149" name="Google Shape;149;p9"/>
          <p:cNvSpPr txBox="1"/>
          <p:nvPr>
            <p:ph idx="4" type="body"/>
          </p:nvPr>
        </p:nvSpPr>
        <p:spPr>
          <a:xfrm>
            <a:off x="4731534" y="291830"/>
            <a:ext cx="4519470" cy="4761435"/>
          </a:xfrm>
          <a:prstGeom prst="rect">
            <a:avLst/>
          </a:prstGeom>
          <a:noFill/>
          <a:ln>
            <a:noFill/>
          </a:ln>
        </p:spPr>
        <p:txBody>
          <a:bodyPr anchorCtr="0" anchor="t" bIns="45700" lIns="45700" spcFirstLastPara="1" rIns="45700" wrap="square" tIns="45700">
            <a:normAutofit fontScale="92500" lnSpcReduction="20000"/>
          </a:bodyPr>
          <a:lstStyle/>
          <a:p>
            <a:pPr indent="-117475" lvl="0" marL="91440" rtl="0" algn="l">
              <a:lnSpc>
                <a:spcPct val="120000"/>
              </a:lnSpc>
              <a:spcBef>
                <a:spcPts val="0"/>
              </a:spcBef>
              <a:spcAft>
                <a:spcPts val="0"/>
              </a:spcAft>
              <a:buSzPct val="100000"/>
              <a:buChar char=" "/>
            </a:pPr>
            <a:r>
              <a:rPr b="1" lang="tr-TR"/>
              <a:t>ScienceDirect</a:t>
            </a:r>
            <a:endParaRPr b="1"/>
          </a:p>
          <a:p>
            <a:pPr indent="-117475" lvl="0" marL="91440" rtl="0" algn="l">
              <a:lnSpc>
                <a:spcPct val="120000"/>
              </a:lnSpc>
              <a:spcBef>
                <a:spcPts val="200"/>
              </a:spcBef>
              <a:spcAft>
                <a:spcPts val="0"/>
              </a:spcAft>
              <a:buSzPct val="100000"/>
              <a:buChar char=" "/>
            </a:pPr>
            <a:r>
              <a:rPr b="1" lang="tr-TR"/>
              <a:t>Adres:</a:t>
            </a:r>
            <a:r>
              <a:rPr lang="tr-TR"/>
              <a:t> </a:t>
            </a:r>
            <a:r>
              <a:rPr lang="tr-TR" u="sng">
                <a:solidFill>
                  <a:schemeClr val="hlink"/>
                </a:solidFill>
                <a:hlinkClick r:id="rId6"/>
              </a:rPr>
              <a:t>https://www.sciencedirect.com</a:t>
            </a:r>
            <a:endParaRPr/>
          </a:p>
          <a:p>
            <a:pPr indent="-117475" lvl="0" marL="91440" rtl="0" algn="l">
              <a:lnSpc>
                <a:spcPct val="120000"/>
              </a:lnSpc>
              <a:spcBef>
                <a:spcPts val="200"/>
              </a:spcBef>
              <a:spcAft>
                <a:spcPts val="0"/>
              </a:spcAft>
              <a:buSzPct val="100000"/>
              <a:buChar char=" "/>
            </a:pPr>
            <a:r>
              <a:rPr b="1" lang="tr-TR"/>
              <a:t>Ücret:</a:t>
            </a:r>
            <a:r>
              <a:rPr lang="tr-TR"/>
              <a:t> Kurumsal abonelik</a:t>
            </a:r>
            <a:endParaRPr/>
          </a:p>
          <a:p>
            <a:pPr indent="-117475" lvl="0" marL="91440" rtl="0" algn="l">
              <a:lnSpc>
                <a:spcPct val="120000"/>
              </a:lnSpc>
              <a:spcBef>
                <a:spcPts val="200"/>
              </a:spcBef>
              <a:spcAft>
                <a:spcPts val="0"/>
              </a:spcAft>
              <a:buSzPct val="100000"/>
              <a:buChar char=" "/>
            </a:pPr>
            <a:r>
              <a:rPr b="1" lang="tr-TR"/>
              <a:t>Not:</a:t>
            </a:r>
            <a:r>
              <a:rPr lang="tr-TR"/>
              <a:t> Mühendislik ve uygulamalı bilimlerde Elsevier’in en güçlü makale koleksiyonu.</a:t>
            </a:r>
            <a:endParaRPr/>
          </a:p>
          <a:p>
            <a:pPr indent="0" lvl="0" marL="91440" rtl="0" algn="l">
              <a:lnSpc>
                <a:spcPct val="120000"/>
              </a:lnSpc>
              <a:spcBef>
                <a:spcPts val="200"/>
              </a:spcBef>
              <a:spcAft>
                <a:spcPts val="0"/>
              </a:spcAft>
              <a:buSzPct val="100000"/>
              <a:buNone/>
            </a:pPr>
            <a:r>
              <a:t/>
            </a:r>
            <a:endParaRPr b="1"/>
          </a:p>
          <a:p>
            <a:pPr indent="0" lvl="0" marL="91440" rtl="0" algn="l">
              <a:lnSpc>
                <a:spcPct val="120000"/>
              </a:lnSpc>
              <a:spcBef>
                <a:spcPts val="200"/>
              </a:spcBef>
              <a:spcAft>
                <a:spcPts val="0"/>
              </a:spcAft>
              <a:buSzPct val="100000"/>
              <a:buNone/>
            </a:pPr>
            <a:r>
              <a:t/>
            </a:r>
            <a:endParaRPr b="1"/>
          </a:p>
          <a:p>
            <a:pPr indent="0" lvl="0" marL="91440" rtl="0" algn="l">
              <a:lnSpc>
                <a:spcPct val="120000"/>
              </a:lnSpc>
              <a:spcBef>
                <a:spcPts val="200"/>
              </a:spcBef>
              <a:spcAft>
                <a:spcPts val="0"/>
              </a:spcAft>
              <a:buSzPct val="100000"/>
              <a:buNone/>
            </a:pPr>
            <a:r>
              <a:t/>
            </a:r>
            <a:endParaRPr b="1"/>
          </a:p>
          <a:p>
            <a:pPr indent="-117475" lvl="0" marL="91440" rtl="0" algn="l">
              <a:lnSpc>
                <a:spcPct val="120000"/>
              </a:lnSpc>
              <a:spcBef>
                <a:spcPts val="200"/>
              </a:spcBef>
              <a:spcAft>
                <a:spcPts val="0"/>
              </a:spcAft>
              <a:buSzPct val="100000"/>
              <a:buChar char=" "/>
            </a:pPr>
            <a:r>
              <a:rPr b="1" lang="tr-TR"/>
              <a:t>arXiv</a:t>
            </a:r>
            <a:endParaRPr b="1"/>
          </a:p>
          <a:p>
            <a:pPr indent="-117475" lvl="0" marL="91440" rtl="0" algn="l">
              <a:lnSpc>
                <a:spcPct val="120000"/>
              </a:lnSpc>
              <a:spcBef>
                <a:spcPts val="200"/>
              </a:spcBef>
              <a:spcAft>
                <a:spcPts val="0"/>
              </a:spcAft>
              <a:buSzPct val="100000"/>
              <a:buChar char=" "/>
            </a:pPr>
            <a:r>
              <a:rPr b="1" lang="tr-TR"/>
              <a:t>Adres:</a:t>
            </a:r>
            <a:r>
              <a:rPr lang="tr-TR"/>
              <a:t> https://arxiv.org</a:t>
            </a:r>
            <a:endParaRPr/>
          </a:p>
          <a:p>
            <a:pPr indent="-117475" lvl="0" marL="91440" rtl="0" algn="l">
              <a:lnSpc>
                <a:spcPct val="120000"/>
              </a:lnSpc>
              <a:spcBef>
                <a:spcPts val="200"/>
              </a:spcBef>
              <a:spcAft>
                <a:spcPts val="0"/>
              </a:spcAft>
              <a:buSzPct val="100000"/>
              <a:buChar char=" "/>
            </a:pPr>
            <a:r>
              <a:rPr b="1" lang="tr-TR"/>
              <a:t>Ücret:</a:t>
            </a:r>
            <a:r>
              <a:rPr lang="tr-TR"/>
              <a:t> Ücretsiz</a:t>
            </a:r>
            <a:endParaRPr/>
          </a:p>
          <a:p>
            <a:pPr indent="-117475" lvl="0" marL="91440" rtl="0" algn="l">
              <a:lnSpc>
                <a:spcPct val="120000"/>
              </a:lnSpc>
              <a:spcBef>
                <a:spcPts val="200"/>
              </a:spcBef>
              <a:spcAft>
                <a:spcPts val="0"/>
              </a:spcAft>
              <a:buSzPct val="100000"/>
              <a:buChar char=" "/>
            </a:pPr>
            <a:r>
              <a:rPr b="1" lang="tr-TR"/>
              <a:t>Not:</a:t>
            </a:r>
            <a:r>
              <a:rPr lang="tr-TR"/>
              <a:t> Yapay zeka, ML, veri bilimi ve mühendislikte en güncel preprint çalışma platformu.</a:t>
            </a:r>
            <a:endParaRPr/>
          </a:p>
          <a:p>
            <a:pPr indent="0" lvl="0" marL="91440" rtl="0" algn="l">
              <a:lnSpc>
                <a:spcPct val="120000"/>
              </a:lnSpc>
              <a:spcBef>
                <a:spcPts val="200"/>
              </a:spcBef>
              <a:spcAft>
                <a:spcPts val="0"/>
              </a:spcAft>
              <a:buSzPct val="100000"/>
              <a:buNone/>
            </a:pPr>
            <a:r>
              <a:t/>
            </a:r>
            <a:endParaRPr/>
          </a:p>
          <a:p>
            <a:pPr indent="0" lvl="0" marL="91440" rtl="0" algn="l">
              <a:lnSpc>
                <a:spcPct val="120000"/>
              </a:lnSpc>
              <a:spcBef>
                <a:spcPts val="200"/>
              </a:spcBef>
              <a:spcAft>
                <a:spcPts val="0"/>
              </a:spcAft>
              <a:buSzPct val="100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txBox="1"/>
          <p:nvPr>
            <p:ph type="title"/>
          </p:nvPr>
        </p:nvSpPr>
        <p:spPr>
          <a:xfrm>
            <a:off x="768095" y="585216"/>
            <a:ext cx="8727597" cy="65449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464132"/>
              </a:buClr>
              <a:buSzPct val="100000"/>
              <a:buFont typeface="Twentieth Century"/>
              <a:buNone/>
            </a:pPr>
            <a:r>
              <a:rPr lang="tr-TR"/>
              <a:t>Literatür Araştırması Mühendislik İçin Ek Önemli Kaynaklar</a:t>
            </a:r>
            <a:br>
              <a:rPr b="1" lang="tr-TR"/>
            </a:br>
            <a:endParaRPr/>
          </a:p>
        </p:txBody>
      </p:sp>
      <p:sp>
        <p:nvSpPr>
          <p:cNvPr id="155" name="Google Shape;155;p10"/>
          <p:cNvSpPr txBox="1"/>
          <p:nvPr>
            <p:ph idx="1" type="body"/>
          </p:nvPr>
        </p:nvSpPr>
        <p:spPr>
          <a:xfrm>
            <a:off x="768096" y="1517515"/>
            <a:ext cx="7513402" cy="4957215"/>
          </a:xfrm>
          <a:prstGeom prst="rect">
            <a:avLst/>
          </a:prstGeom>
          <a:noFill/>
          <a:ln>
            <a:noFill/>
          </a:ln>
        </p:spPr>
        <p:txBody>
          <a:bodyPr anchorCtr="0" anchor="t" bIns="45700" lIns="45700" spcFirstLastPara="1" rIns="45700" wrap="square" tIns="45700">
            <a:normAutofit fontScale="62500" lnSpcReduction="20000"/>
          </a:bodyPr>
          <a:lstStyle/>
          <a:p>
            <a:pPr indent="-91440" lvl="0" marL="91440" rtl="0" algn="l">
              <a:lnSpc>
                <a:spcPct val="90000"/>
              </a:lnSpc>
              <a:spcBef>
                <a:spcPts val="0"/>
              </a:spcBef>
              <a:spcAft>
                <a:spcPts val="0"/>
              </a:spcAft>
              <a:buSzPct val="100000"/>
              <a:buChar char=" "/>
            </a:pPr>
            <a:r>
              <a:rPr b="1" lang="tr-TR"/>
              <a:t>ACM Digital Library – </a:t>
            </a:r>
            <a:r>
              <a:rPr b="1" lang="tr-TR" u="sng">
                <a:solidFill>
                  <a:schemeClr val="hlink"/>
                </a:solidFill>
                <a:hlinkClick r:id="rId3"/>
              </a:rPr>
              <a:t>https://dl.acm.org</a:t>
            </a:r>
            <a:endParaRPr b="1"/>
          </a:p>
          <a:p>
            <a:pPr indent="-91440" lvl="0" marL="91440" rtl="0" algn="l">
              <a:lnSpc>
                <a:spcPct val="90000"/>
              </a:lnSpc>
              <a:spcBef>
                <a:spcPts val="1400"/>
              </a:spcBef>
              <a:spcAft>
                <a:spcPts val="0"/>
              </a:spcAft>
              <a:buSzPct val="100000"/>
              <a:buChar char=" "/>
            </a:pPr>
            <a:r>
              <a:rPr lang="tr-TR"/>
              <a:t>Bilgisayar bilimi ve yazılım mühendisliği konferansları.</a:t>
            </a:r>
            <a:endParaRPr/>
          </a:p>
          <a:p>
            <a:pPr indent="-91440" lvl="0" marL="91440" rtl="0" algn="l">
              <a:lnSpc>
                <a:spcPct val="90000"/>
              </a:lnSpc>
              <a:spcBef>
                <a:spcPts val="1400"/>
              </a:spcBef>
              <a:spcAft>
                <a:spcPts val="0"/>
              </a:spcAft>
              <a:buSzPct val="100000"/>
              <a:buChar char=" "/>
            </a:pPr>
            <a:r>
              <a:rPr b="1" lang="tr-TR"/>
              <a:t>SpringerLink – </a:t>
            </a:r>
            <a:r>
              <a:rPr b="1" lang="tr-TR" u="sng">
                <a:solidFill>
                  <a:schemeClr val="hlink"/>
                </a:solidFill>
                <a:hlinkClick r:id="rId4"/>
              </a:rPr>
              <a:t>https://link.springer.com</a:t>
            </a:r>
            <a:endParaRPr b="1"/>
          </a:p>
          <a:p>
            <a:pPr indent="-91440" lvl="0" marL="91440" rtl="0" algn="l">
              <a:lnSpc>
                <a:spcPct val="90000"/>
              </a:lnSpc>
              <a:spcBef>
                <a:spcPts val="1400"/>
              </a:spcBef>
              <a:spcAft>
                <a:spcPts val="0"/>
              </a:spcAft>
              <a:buSzPct val="100000"/>
              <a:buChar char=" "/>
            </a:pPr>
            <a:r>
              <a:rPr lang="tr-TR"/>
              <a:t>LNCS serisi ve mühendislik kitapları.</a:t>
            </a:r>
            <a:endParaRPr/>
          </a:p>
          <a:p>
            <a:pPr indent="-91440" lvl="0" marL="91440" rtl="0" algn="l">
              <a:lnSpc>
                <a:spcPct val="90000"/>
              </a:lnSpc>
              <a:spcBef>
                <a:spcPts val="1400"/>
              </a:spcBef>
              <a:spcAft>
                <a:spcPts val="0"/>
              </a:spcAft>
              <a:buSzPct val="100000"/>
              <a:buChar char=" "/>
            </a:pPr>
            <a:r>
              <a:rPr b="1" lang="tr-TR"/>
              <a:t>Web of Science – </a:t>
            </a:r>
            <a:r>
              <a:rPr b="1" lang="tr-TR" u="sng">
                <a:solidFill>
                  <a:schemeClr val="hlink"/>
                </a:solidFill>
                <a:hlinkClick r:id="rId5"/>
              </a:rPr>
              <a:t>https://www.webofscience.com</a:t>
            </a:r>
            <a:endParaRPr b="1"/>
          </a:p>
          <a:p>
            <a:pPr indent="-91440" lvl="0" marL="91440" rtl="0" algn="l">
              <a:lnSpc>
                <a:spcPct val="90000"/>
              </a:lnSpc>
              <a:spcBef>
                <a:spcPts val="1400"/>
              </a:spcBef>
              <a:spcAft>
                <a:spcPts val="0"/>
              </a:spcAft>
              <a:buSzPct val="100000"/>
              <a:buChar char=" "/>
            </a:pPr>
            <a:r>
              <a:rPr lang="tr-TR"/>
              <a:t>Impact Factor bilgileri ve atıf analizleri.</a:t>
            </a:r>
            <a:endParaRPr/>
          </a:p>
          <a:p>
            <a:pPr indent="0" lvl="0" marL="0" rtl="0" algn="l">
              <a:lnSpc>
                <a:spcPct val="90000"/>
              </a:lnSpc>
              <a:spcBef>
                <a:spcPts val="1400"/>
              </a:spcBef>
              <a:spcAft>
                <a:spcPts val="0"/>
              </a:spcAft>
              <a:buSzPct val="100000"/>
              <a:buNone/>
            </a:pPr>
            <a:r>
              <a:t/>
            </a:r>
            <a:endParaRPr/>
          </a:p>
          <a:p>
            <a:pPr indent="-91440" lvl="0" marL="91440" rtl="0" algn="l">
              <a:lnSpc>
                <a:spcPct val="90000"/>
              </a:lnSpc>
              <a:spcBef>
                <a:spcPts val="1400"/>
              </a:spcBef>
              <a:spcAft>
                <a:spcPts val="0"/>
              </a:spcAft>
              <a:buSzPct val="100000"/>
              <a:buChar char=" "/>
            </a:pPr>
            <a:r>
              <a:rPr b="1" lang="tr-TR"/>
              <a:t>Endüstri Raporları / Sektörel Kaynaklar</a:t>
            </a:r>
            <a:endParaRPr/>
          </a:p>
          <a:p>
            <a:pPr indent="-91440" lvl="0" marL="91440" rtl="0" algn="l">
              <a:lnSpc>
                <a:spcPct val="90000"/>
              </a:lnSpc>
              <a:spcBef>
                <a:spcPts val="1400"/>
              </a:spcBef>
              <a:spcAft>
                <a:spcPts val="0"/>
              </a:spcAft>
              <a:buSzPct val="100000"/>
              <a:buChar char=" "/>
            </a:pPr>
            <a:r>
              <a:rPr lang="tr-TR"/>
              <a:t>McKinsey AI Raporları </a:t>
            </a:r>
            <a:r>
              <a:rPr lang="tr-TR" u="sng">
                <a:solidFill>
                  <a:schemeClr val="hlink"/>
                </a:solidFill>
                <a:hlinkClick r:id="rId6"/>
              </a:rPr>
              <a:t>https://www.mckinsey.com/capabilities/quantumblack/our-insights/the-state-of-ai</a:t>
            </a:r>
            <a:endParaRPr/>
          </a:p>
          <a:p>
            <a:pPr indent="-91440" lvl="0" marL="91440" rtl="0" algn="l">
              <a:lnSpc>
                <a:spcPct val="90000"/>
              </a:lnSpc>
              <a:spcBef>
                <a:spcPts val="1400"/>
              </a:spcBef>
              <a:spcAft>
                <a:spcPts val="0"/>
              </a:spcAft>
              <a:buSzPct val="100000"/>
              <a:buChar char=" "/>
            </a:pPr>
            <a:r>
              <a:rPr lang="tr-TR"/>
              <a:t>Gartner Machine Learning Trend Analizleri</a:t>
            </a:r>
            <a:endParaRPr/>
          </a:p>
          <a:p>
            <a:pPr indent="-91440" lvl="0" marL="91440" rtl="0" algn="l">
              <a:lnSpc>
                <a:spcPct val="90000"/>
              </a:lnSpc>
              <a:spcBef>
                <a:spcPts val="1400"/>
              </a:spcBef>
              <a:spcAft>
                <a:spcPts val="0"/>
              </a:spcAft>
              <a:buSzPct val="100000"/>
              <a:buChar char=" "/>
            </a:pPr>
            <a:r>
              <a:rPr lang="tr-TR"/>
              <a:t>OICA - International Organization of Motor Vehicle Manufacturers araç sektörü veri raporları</a:t>
            </a:r>
            <a:endParaRPr/>
          </a:p>
          <a:p>
            <a:pPr indent="-91440" lvl="0" marL="91440" rtl="0" algn="l">
              <a:lnSpc>
                <a:spcPct val="90000"/>
              </a:lnSpc>
              <a:spcBef>
                <a:spcPts val="1400"/>
              </a:spcBef>
              <a:spcAft>
                <a:spcPts val="0"/>
              </a:spcAft>
              <a:buSzPct val="100000"/>
              <a:buChar char=" "/>
            </a:pPr>
            <a:r>
              <a:rPr lang="tr-TR" u="sng">
                <a:solidFill>
                  <a:schemeClr val="hlink"/>
                </a:solidFill>
                <a:hlinkClick r:id="rId7"/>
              </a:rPr>
              <a:t>https://oica.net/sales-statistics/</a:t>
            </a:r>
            <a:endParaRPr/>
          </a:p>
          <a:p>
            <a:pPr indent="-91440" lvl="0" marL="91440" rtl="0" algn="l">
              <a:lnSpc>
                <a:spcPct val="90000"/>
              </a:lnSpc>
              <a:spcBef>
                <a:spcPts val="1400"/>
              </a:spcBef>
              <a:spcAft>
                <a:spcPts val="0"/>
              </a:spcAft>
              <a:buSzPct val="100000"/>
              <a:buChar char=" "/>
            </a:pPr>
            <a:r>
              <a:rPr lang="tr-TR" u="sng">
                <a:solidFill>
                  <a:schemeClr val="hlink"/>
                </a:solidFill>
                <a:hlinkClick r:id="rId8"/>
              </a:rPr>
              <a:t>https://www.osd.org.tr/saved-files/PDF/2025/05/12/2025-05%20OSD%20%C3%96zet%20Rapor.pdf</a:t>
            </a:r>
            <a:endParaRPr/>
          </a:p>
          <a:p>
            <a:pPr indent="-12065" lvl="0" marL="91440" rtl="0" algn="l">
              <a:lnSpc>
                <a:spcPct val="90000"/>
              </a:lnSpc>
              <a:spcBef>
                <a:spcPts val="1400"/>
              </a:spcBef>
              <a:spcAft>
                <a:spcPts val="0"/>
              </a:spcAft>
              <a:buSzPct val="100000"/>
              <a:buNone/>
            </a:pPr>
            <a:r>
              <a:t/>
            </a:r>
            <a:endParaRPr/>
          </a:p>
          <a:p>
            <a:pPr indent="-91440" lvl="0" marL="91440" rtl="0" algn="l">
              <a:lnSpc>
                <a:spcPct val="90000"/>
              </a:lnSpc>
              <a:spcBef>
                <a:spcPts val="1400"/>
              </a:spcBef>
              <a:spcAft>
                <a:spcPts val="0"/>
              </a:spcAft>
              <a:buSzPct val="100000"/>
              <a:buChar char=" "/>
            </a:pPr>
            <a:r>
              <a:rPr lang="tr-TR"/>
              <a:t>IBM, NVIDIA, OpenAI teknik whitepaper’ları</a:t>
            </a:r>
            <a:endParaRPr/>
          </a:p>
          <a:p>
            <a:pPr indent="-12065" lvl="0" marL="91440" rtl="0" algn="l">
              <a:lnSpc>
                <a:spcPct val="90000"/>
              </a:lnSpc>
              <a:spcBef>
                <a:spcPts val="1400"/>
              </a:spcBef>
              <a:spcAft>
                <a:spcPts val="0"/>
              </a:spcAft>
              <a:buSzPct val="100000"/>
              <a:buNone/>
            </a:pPr>
            <a:r>
              <a:t/>
            </a:r>
            <a:endParaRPr/>
          </a:p>
          <a:p>
            <a:pPr indent="-12065" lvl="0" marL="91440" rtl="0" algn="l">
              <a:lnSpc>
                <a:spcPct val="90000"/>
              </a:lnSpc>
              <a:spcBef>
                <a:spcPts val="1400"/>
              </a:spcBef>
              <a:spcAft>
                <a:spcPts val="0"/>
              </a:spcAft>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605965" y="505030"/>
            <a:ext cx="8397357" cy="9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464132"/>
              </a:buClr>
              <a:buSzPct val="100000"/>
              <a:buFont typeface="Twentieth Century"/>
              <a:buNone/>
            </a:pPr>
            <a:r>
              <a:rPr lang="tr-TR"/>
              <a:t>⚙️ Üretken Yapay Zekâ Kullanımında Dikkat (TÜBİTAK Rehberi)</a:t>
            </a:r>
            <a:br>
              <a:rPr lang="tr-TR"/>
            </a:br>
            <a:endParaRPr/>
          </a:p>
        </p:txBody>
      </p:sp>
      <p:sp>
        <p:nvSpPr>
          <p:cNvPr id="161" name="Google Shape;161;p11"/>
          <p:cNvSpPr txBox="1"/>
          <p:nvPr>
            <p:ph idx="1" type="body"/>
          </p:nvPr>
        </p:nvSpPr>
        <p:spPr>
          <a:xfrm>
            <a:off x="605965" y="1221428"/>
            <a:ext cx="7491750" cy="5284880"/>
          </a:xfrm>
          <a:prstGeom prst="rect">
            <a:avLst/>
          </a:prstGeom>
          <a:noFill/>
          <a:ln>
            <a:noFill/>
          </a:ln>
        </p:spPr>
        <p:txBody>
          <a:bodyPr anchorCtr="0" anchor="t" bIns="45700" lIns="45700" spcFirstLastPara="1" rIns="45700" wrap="square" tIns="45700">
            <a:normAutofit fontScale="92500" lnSpcReduction="10000"/>
          </a:bodyPr>
          <a:lstStyle/>
          <a:p>
            <a:pPr indent="-91440" lvl="0" marL="91440" rtl="0" algn="l">
              <a:lnSpc>
                <a:spcPct val="90000"/>
              </a:lnSpc>
              <a:spcBef>
                <a:spcPts val="0"/>
              </a:spcBef>
              <a:spcAft>
                <a:spcPts val="0"/>
              </a:spcAft>
              <a:buSzPct val="100000"/>
              <a:buChar char=" "/>
            </a:pPr>
            <a:r>
              <a:rPr b="1" lang="tr-TR" sz="1400"/>
              <a:t>✔︎ 1) Doğruluk Kontrolü</a:t>
            </a:r>
            <a:endParaRPr/>
          </a:p>
          <a:p>
            <a:pPr indent="-91440" lvl="0" marL="91440" rtl="0" algn="l">
              <a:lnSpc>
                <a:spcPct val="90000"/>
              </a:lnSpc>
              <a:spcBef>
                <a:spcPts val="1400"/>
              </a:spcBef>
              <a:spcAft>
                <a:spcPts val="0"/>
              </a:spcAft>
              <a:buSzPct val="100000"/>
              <a:buChar char=" "/>
            </a:pPr>
            <a:r>
              <a:rPr lang="tr-TR" sz="1400"/>
              <a:t>Yapay zekâ çıktıları hatalı veya uydurma olabilir; mutlaka insan tarafından doğrulanmalıdır.</a:t>
            </a:r>
            <a:endParaRPr/>
          </a:p>
          <a:p>
            <a:pPr indent="-91440" lvl="0" marL="91440" rtl="0" algn="l">
              <a:lnSpc>
                <a:spcPct val="90000"/>
              </a:lnSpc>
              <a:spcBef>
                <a:spcPts val="1400"/>
              </a:spcBef>
              <a:spcAft>
                <a:spcPts val="0"/>
              </a:spcAft>
              <a:buSzPct val="100000"/>
              <a:buChar char=" "/>
            </a:pPr>
            <a:r>
              <a:rPr b="1" lang="tr-TR" sz="1400"/>
              <a:t>🔒 2) Gizlilik ve Veri Koruma</a:t>
            </a:r>
            <a:endParaRPr/>
          </a:p>
          <a:p>
            <a:pPr indent="-91440" lvl="0" marL="91440" rtl="0" algn="l">
              <a:lnSpc>
                <a:spcPct val="90000"/>
              </a:lnSpc>
              <a:spcBef>
                <a:spcPts val="1400"/>
              </a:spcBef>
              <a:spcAft>
                <a:spcPts val="0"/>
              </a:spcAft>
              <a:buSzPct val="100000"/>
              <a:buChar char=" "/>
            </a:pPr>
            <a:r>
              <a:rPr lang="tr-TR" sz="1400"/>
              <a:t>Kişisel veri, kurumsal sır veya gizli belgeler AI araçlarıyla paylaşılmamalıdır.</a:t>
            </a:r>
            <a:endParaRPr/>
          </a:p>
          <a:p>
            <a:pPr indent="-91440" lvl="0" marL="91440" rtl="0" algn="l">
              <a:lnSpc>
                <a:spcPct val="90000"/>
              </a:lnSpc>
              <a:spcBef>
                <a:spcPts val="1400"/>
              </a:spcBef>
              <a:spcAft>
                <a:spcPts val="0"/>
              </a:spcAft>
              <a:buSzPct val="100000"/>
              <a:buChar char=" "/>
            </a:pPr>
            <a:r>
              <a:rPr b="1" lang="tr-TR" sz="1400"/>
              <a:t>⚖︎ 3) Etik ve Tarafsızlık</a:t>
            </a:r>
            <a:endParaRPr/>
          </a:p>
          <a:p>
            <a:pPr indent="-91440" lvl="0" marL="91440" rtl="0" algn="l">
              <a:lnSpc>
                <a:spcPct val="90000"/>
              </a:lnSpc>
              <a:spcBef>
                <a:spcPts val="1400"/>
              </a:spcBef>
              <a:spcAft>
                <a:spcPts val="0"/>
              </a:spcAft>
              <a:buSzPct val="100000"/>
              <a:buChar char=" "/>
            </a:pPr>
            <a:r>
              <a:rPr lang="tr-TR" sz="1400"/>
              <a:t>Model önyargı üretebileceği için karar ve sorumluluk kullanıcıdadır.</a:t>
            </a:r>
            <a:endParaRPr/>
          </a:p>
          <a:p>
            <a:pPr indent="-91440" lvl="0" marL="91440" rtl="0" algn="l">
              <a:lnSpc>
                <a:spcPct val="90000"/>
              </a:lnSpc>
              <a:spcBef>
                <a:spcPts val="1400"/>
              </a:spcBef>
              <a:spcAft>
                <a:spcPts val="0"/>
              </a:spcAft>
              <a:buSzPct val="100000"/>
              <a:buChar char=" "/>
            </a:pPr>
            <a:r>
              <a:rPr b="1" lang="tr-TR" sz="1400"/>
              <a:t>©︎ 4) Fikri Mülkiyet ve Telif Hakları</a:t>
            </a:r>
            <a:endParaRPr/>
          </a:p>
          <a:p>
            <a:pPr indent="-91440" lvl="0" marL="91440" rtl="0" algn="l">
              <a:lnSpc>
                <a:spcPct val="90000"/>
              </a:lnSpc>
              <a:spcBef>
                <a:spcPts val="1400"/>
              </a:spcBef>
              <a:spcAft>
                <a:spcPts val="0"/>
              </a:spcAft>
              <a:buSzPct val="100000"/>
              <a:buChar char=" "/>
            </a:pPr>
            <a:r>
              <a:rPr lang="tr-TR" sz="1400"/>
              <a:t>Üretilen içeriklerin telif uygunluğu kontrol edilmelidir.</a:t>
            </a:r>
            <a:endParaRPr/>
          </a:p>
          <a:p>
            <a:pPr indent="-91440" lvl="0" marL="91440" rtl="0" algn="l">
              <a:lnSpc>
                <a:spcPct val="90000"/>
              </a:lnSpc>
              <a:spcBef>
                <a:spcPts val="1400"/>
              </a:spcBef>
              <a:spcAft>
                <a:spcPts val="0"/>
              </a:spcAft>
              <a:buSzPct val="100000"/>
              <a:buChar char=" "/>
            </a:pPr>
            <a:r>
              <a:rPr b="1" lang="tr-TR" sz="1400"/>
              <a:t>ℹ︎ 5) Şeffaflık</a:t>
            </a:r>
            <a:endParaRPr/>
          </a:p>
          <a:p>
            <a:pPr indent="-91440" lvl="0" marL="91440" rtl="0" algn="l">
              <a:lnSpc>
                <a:spcPct val="90000"/>
              </a:lnSpc>
              <a:spcBef>
                <a:spcPts val="1400"/>
              </a:spcBef>
              <a:spcAft>
                <a:spcPts val="0"/>
              </a:spcAft>
              <a:buSzPct val="100000"/>
              <a:buChar char=" "/>
            </a:pPr>
            <a:r>
              <a:rPr lang="tr-TR" sz="1400"/>
              <a:t>Gerektiğinde yapay zekâ kullanıldığı açıkça belirtilmelidir.</a:t>
            </a:r>
            <a:endParaRPr/>
          </a:p>
          <a:p>
            <a:pPr indent="-91440" lvl="0" marL="91440" rtl="0" algn="l">
              <a:lnSpc>
                <a:spcPct val="90000"/>
              </a:lnSpc>
              <a:spcBef>
                <a:spcPts val="1400"/>
              </a:spcBef>
              <a:spcAft>
                <a:spcPts val="0"/>
              </a:spcAft>
              <a:buSzPct val="100000"/>
              <a:buChar char=" "/>
            </a:pPr>
            <a:r>
              <a:rPr b="1" lang="tr-TR" sz="1400"/>
              <a:t>🛡 6) Güvenlik</a:t>
            </a:r>
            <a:endParaRPr/>
          </a:p>
          <a:p>
            <a:pPr indent="-91440" lvl="0" marL="91440" rtl="0" algn="l">
              <a:lnSpc>
                <a:spcPct val="90000"/>
              </a:lnSpc>
              <a:spcBef>
                <a:spcPts val="1400"/>
              </a:spcBef>
              <a:spcAft>
                <a:spcPts val="0"/>
              </a:spcAft>
              <a:buSzPct val="100000"/>
              <a:buChar char=" "/>
            </a:pPr>
            <a:r>
              <a:rPr lang="tr-TR" sz="1400"/>
              <a:t>Kullanılan araç ve paylaşılan içerik kurumun bilgi güvenliği kurallarına uygun olmalıdır.</a:t>
            </a:r>
            <a:endParaRPr/>
          </a:p>
          <a:p>
            <a:pPr indent="0" lvl="0" marL="0" rtl="0" algn="l">
              <a:lnSpc>
                <a:spcPct val="90000"/>
              </a:lnSpc>
              <a:spcBef>
                <a:spcPts val="1400"/>
              </a:spcBef>
              <a:spcAft>
                <a:spcPts val="0"/>
              </a:spcAft>
              <a:buSzPct val="100000"/>
              <a:buNone/>
            </a:pPr>
            <a:r>
              <a:t/>
            </a:r>
            <a:endParaRPr sz="1400"/>
          </a:p>
          <a:p>
            <a:pPr indent="-91440" lvl="0" marL="91440" rtl="0" algn="l">
              <a:lnSpc>
                <a:spcPct val="90000"/>
              </a:lnSpc>
              <a:spcBef>
                <a:spcPts val="1400"/>
              </a:spcBef>
              <a:spcAft>
                <a:spcPts val="0"/>
              </a:spcAft>
              <a:buSzPct val="100000"/>
              <a:buChar char=" "/>
            </a:pPr>
            <a:r>
              <a:rPr b="1" lang="tr-TR" sz="1400"/>
              <a:t>➤ Daha Fazla Bilgi İçin</a:t>
            </a:r>
            <a:endParaRPr/>
          </a:p>
          <a:p>
            <a:pPr indent="-91440" lvl="0" marL="91440" rtl="0" algn="l">
              <a:lnSpc>
                <a:spcPct val="90000"/>
              </a:lnSpc>
              <a:spcBef>
                <a:spcPts val="1400"/>
              </a:spcBef>
              <a:spcAft>
                <a:spcPts val="0"/>
              </a:spcAft>
              <a:buSzPct val="100000"/>
              <a:buChar char=" "/>
            </a:pPr>
            <a:r>
              <a:rPr lang="tr-TR" sz="1400"/>
              <a:t>TÜBİTAK Üretken Yapay Zekâ Rehberi:</a:t>
            </a:r>
            <a:br>
              <a:rPr lang="tr-TR" sz="1400"/>
            </a:br>
            <a:r>
              <a:rPr lang="tr-TR" sz="1400" u="sng">
                <a:solidFill>
                  <a:schemeClr val="hlink"/>
                </a:solidFill>
                <a:hlinkClick r:id="rId3"/>
              </a:rPr>
              <a:t>https://tubitak.gov.tr/tr/kurumsal/hakkimizda/uretken-yapay-zeka-rehberi</a:t>
            </a:r>
            <a:endParaRPr sz="1400"/>
          </a:p>
          <a:p>
            <a:pPr indent="-9207" lvl="0" marL="91440" rtl="0" algn="l">
              <a:lnSpc>
                <a:spcPct val="90000"/>
              </a:lnSpc>
              <a:spcBef>
                <a:spcPts val="1400"/>
              </a:spcBef>
              <a:spcAft>
                <a:spcPts val="0"/>
              </a:spcAft>
              <a:buSzPct val="100000"/>
              <a:buNone/>
            </a:pPr>
            <a:r>
              <a:t/>
            </a:r>
            <a:endParaRPr sz="1400"/>
          </a:p>
          <a:p>
            <a:pPr indent="-9207" lvl="0" marL="91440" rtl="0" algn="l">
              <a:lnSpc>
                <a:spcPct val="90000"/>
              </a:lnSpc>
              <a:spcBef>
                <a:spcPts val="1400"/>
              </a:spcBef>
              <a:spcAft>
                <a:spcPts val="0"/>
              </a:spcAft>
              <a:buSzPct val="100000"/>
              <a:buNone/>
            </a:pPr>
            <a:r>
              <a:t/>
            </a:r>
            <a:endParaRPr sz="1400"/>
          </a:p>
          <a:p>
            <a:pPr indent="-9207" lvl="0" marL="91440" rtl="0" algn="l">
              <a:lnSpc>
                <a:spcPct val="90000"/>
              </a:lnSpc>
              <a:spcBef>
                <a:spcPts val="1400"/>
              </a:spcBef>
              <a:spcAft>
                <a:spcPts val="0"/>
              </a:spcAft>
              <a:buSzPct val="100000"/>
              <a:buNone/>
            </a:pPr>
            <a:r>
              <a:t/>
            </a:r>
            <a:endParaRPr sz="1400"/>
          </a:p>
          <a:p>
            <a:pPr indent="-9207" lvl="0" marL="91440" rtl="0" algn="l">
              <a:lnSpc>
                <a:spcPct val="90000"/>
              </a:lnSpc>
              <a:spcBef>
                <a:spcPts val="1400"/>
              </a:spcBef>
              <a:spcAft>
                <a:spcPts val="0"/>
              </a:spcAft>
              <a:buSzPct val="100000"/>
              <a:buNone/>
            </a:pPr>
            <a:r>
              <a:t/>
            </a:r>
            <a:endParaRPr sz="1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2"/>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Literatür Tarama Süreci </a:t>
            </a:r>
            <a:endParaRPr/>
          </a:p>
        </p:txBody>
      </p:sp>
      <p:sp>
        <p:nvSpPr>
          <p:cNvPr id="167" name="Google Shape;167;p12"/>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b="1" lang="tr-TR"/>
              <a:t>Anahtar Kelimelerin Belirlenmesi</a:t>
            </a:r>
            <a:endParaRPr/>
          </a:p>
          <a:p>
            <a:pPr indent="-127000" lvl="0" marL="91440" rtl="0" algn="l">
              <a:lnSpc>
                <a:spcPct val="90000"/>
              </a:lnSpc>
              <a:spcBef>
                <a:spcPts val="1400"/>
              </a:spcBef>
              <a:spcAft>
                <a:spcPts val="0"/>
              </a:spcAft>
              <a:buSzPts val="2000"/>
              <a:buChar char=" "/>
            </a:pPr>
            <a:r>
              <a:rPr lang="tr-TR"/>
              <a:t>Örnek :</a:t>
            </a:r>
            <a:r>
              <a:rPr i="1" lang="tr-TR"/>
              <a:t>vehicle renewal prediction</a:t>
            </a:r>
            <a:endParaRPr/>
          </a:p>
          <a:p>
            <a:pPr indent="-127000" lvl="0" marL="91440" rtl="0" algn="l">
              <a:lnSpc>
                <a:spcPct val="90000"/>
              </a:lnSpc>
              <a:spcBef>
                <a:spcPts val="1400"/>
              </a:spcBef>
              <a:spcAft>
                <a:spcPts val="0"/>
              </a:spcAft>
              <a:buSzPts val="2000"/>
              <a:buChar char=" "/>
            </a:pPr>
            <a:r>
              <a:rPr i="1" lang="tr-TR"/>
              <a:t>hybrid machine learning automotive</a:t>
            </a:r>
            <a:endParaRPr i="1"/>
          </a:p>
          <a:p>
            <a:pPr indent="-127000" lvl="0" marL="91440" rtl="0" algn="l">
              <a:lnSpc>
                <a:spcPct val="90000"/>
              </a:lnSpc>
              <a:spcBef>
                <a:spcPts val="1400"/>
              </a:spcBef>
              <a:spcAft>
                <a:spcPts val="0"/>
              </a:spcAft>
              <a:buSzPts val="2000"/>
              <a:buChar char=" "/>
            </a:pPr>
            <a:r>
              <a:rPr b="1" lang="tr-TR"/>
              <a:t>Gelişmiş Arama Yapmak</a:t>
            </a:r>
            <a:endParaRPr/>
          </a:p>
          <a:p>
            <a:pPr indent="-127000" lvl="0" marL="91440" rtl="0" algn="l">
              <a:lnSpc>
                <a:spcPct val="90000"/>
              </a:lnSpc>
              <a:spcBef>
                <a:spcPts val="1400"/>
              </a:spcBef>
              <a:spcAft>
                <a:spcPts val="0"/>
              </a:spcAft>
              <a:buSzPts val="2000"/>
              <a:buChar char=" "/>
            </a:pPr>
            <a:r>
              <a:rPr lang="tr-TR"/>
              <a:t>"title" + "abstract" + "keywords" filtreleri</a:t>
            </a:r>
            <a:endParaRPr/>
          </a:p>
          <a:p>
            <a:pPr indent="-127000" lvl="0" marL="91440" rtl="0" algn="l">
              <a:lnSpc>
                <a:spcPct val="90000"/>
              </a:lnSpc>
              <a:spcBef>
                <a:spcPts val="1400"/>
              </a:spcBef>
              <a:spcAft>
                <a:spcPts val="0"/>
              </a:spcAft>
              <a:buSzPts val="2000"/>
              <a:buChar char=" "/>
            </a:pPr>
            <a:r>
              <a:rPr lang="tr-TR"/>
              <a:t>Son </a:t>
            </a:r>
            <a:r>
              <a:rPr b="1" lang="tr-TR"/>
              <a:t>5 yıl</a:t>
            </a:r>
            <a:r>
              <a:rPr lang="tr-TR"/>
              <a:t> araştırmalarına öncelik</a:t>
            </a:r>
            <a:endParaRPr/>
          </a:p>
          <a:p>
            <a:pPr indent="-127000" lvl="0" marL="91440" rtl="0" algn="l">
              <a:lnSpc>
                <a:spcPct val="90000"/>
              </a:lnSpc>
              <a:spcBef>
                <a:spcPts val="1400"/>
              </a:spcBef>
              <a:spcAft>
                <a:spcPts val="0"/>
              </a:spcAft>
              <a:buSzPts val="2000"/>
              <a:buChar char=" "/>
            </a:pPr>
            <a:r>
              <a:rPr lang="tr-TR"/>
              <a:t>Atıf sayısı yüksek makalelere odaklanma</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3"/>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Boşluk (GAP) Analizi</a:t>
            </a:r>
            <a:endParaRPr/>
          </a:p>
        </p:txBody>
      </p:sp>
      <p:sp>
        <p:nvSpPr>
          <p:cNvPr id="173" name="Google Shape;173;p13"/>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Her proje için şu sorular sorulur:</a:t>
            </a:r>
            <a:endParaRPr/>
          </a:p>
          <a:p>
            <a:pPr indent="-127000" lvl="0" marL="91440" rtl="0" algn="l">
              <a:lnSpc>
                <a:spcPct val="90000"/>
              </a:lnSpc>
              <a:spcBef>
                <a:spcPts val="1400"/>
              </a:spcBef>
              <a:spcAft>
                <a:spcPts val="0"/>
              </a:spcAft>
              <a:buSzPts val="2000"/>
              <a:buChar char=" "/>
            </a:pPr>
            <a:r>
              <a:rPr lang="tr-TR"/>
              <a:t>Bu problem </a:t>
            </a:r>
            <a:r>
              <a:rPr b="1" lang="tr-TR"/>
              <a:t>nerelerde çözülmüş</a:t>
            </a:r>
            <a:r>
              <a:rPr lang="tr-TR"/>
              <a:t>, nerelerde çözülmemiş?</a:t>
            </a:r>
            <a:endParaRPr/>
          </a:p>
          <a:p>
            <a:pPr indent="-127000" lvl="0" marL="91440" rtl="0" algn="l">
              <a:lnSpc>
                <a:spcPct val="90000"/>
              </a:lnSpc>
              <a:spcBef>
                <a:spcPts val="1400"/>
              </a:spcBef>
              <a:spcAft>
                <a:spcPts val="0"/>
              </a:spcAft>
              <a:buSzPts val="2000"/>
              <a:buChar char=" "/>
            </a:pPr>
            <a:r>
              <a:rPr lang="tr-TR"/>
              <a:t>Mevcut yöntemler hangi noktada </a:t>
            </a:r>
            <a:r>
              <a:rPr b="1" lang="tr-TR"/>
              <a:t>başarısız</a:t>
            </a:r>
            <a:r>
              <a:rPr lang="tr-TR"/>
              <a:t>?</a:t>
            </a:r>
            <a:endParaRPr/>
          </a:p>
          <a:p>
            <a:pPr indent="-127000" lvl="0" marL="91440" rtl="0" algn="l">
              <a:lnSpc>
                <a:spcPct val="90000"/>
              </a:lnSpc>
              <a:spcBef>
                <a:spcPts val="1400"/>
              </a:spcBef>
              <a:spcAft>
                <a:spcPts val="0"/>
              </a:spcAft>
              <a:buSzPts val="2000"/>
              <a:buChar char=" "/>
            </a:pPr>
            <a:r>
              <a:rPr lang="tr-TR"/>
              <a:t>Borusan'ın verisi/ortamı </a:t>
            </a:r>
            <a:r>
              <a:rPr b="1" lang="tr-TR"/>
              <a:t>özgün bir durum</a:t>
            </a:r>
            <a:r>
              <a:rPr lang="tr-TR"/>
              <a:t> sunuyor mu?</a:t>
            </a:r>
            <a:endParaRPr/>
          </a:p>
          <a:p>
            <a:pPr indent="-127000" lvl="0" marL="91440" rtl="0" algn="l">
              <a:lnSpc>
                <a:spcPct val="90000"/>
              </a:lnSpc>
              <a:spcBef>
                <a:spcPts val="1400"/>
              </a:spcBef>
              <a:spcAft>
                <a:spcPts val="0"/>
              </a:spcAft>
              <a:buSzPts val="2000"/>
              <a:buChar char=" "/>
            </a:pPr>
            <a:r>
              <a:rPr lang="tr-TR"/>
              <a:t>Hibrit veya temporal yöntemler bu alanda </a:t>
            </a:r>
            <a:r>
              <a:rPr b="1" lang="tr-TR"/>
              <a:t>yeni mi</a:t>
            </a:r>
            <a:r>
              <a:rPr lang="tr-TR"/>
              <a:t>?</a:t>
            </a:r>
            <a:endParaRPr/>
          </a:p>
          <a:p>
            <a:pPr indent="-127000" lvl="0" marL="91440" rtl="0" algn="l">
              <a:lnSpc>
                <a:spcPct val="90000"/>
              </a:lnSpc>
              <a:spcBef>
                <a:spcPts val="1400"/>
              </a:spcBef>
              <a:spcAft>
                <a:spcPts val="0"/>
              </a:spcAft>
              <a:buSzPts val="2000"/>
              <a:buChar char=" "/>
            </a:pPr>
            <a:r>
              <a:rPr lang="tr-TR"/>
              <a:t>📌 Örneğin:</a:t>
            </a:r>
            <a:br>
              <a:rPr lang="tr-TR"/>
            </a:br>
            <a:r>
              <a:rPr b="1" lang="tr-TR"/>
              <a:t>B2B araç açık artırmalarında Word2Vec + zaman ağırlıklı hibrit öneri sistemi</a:t>
            </a:r>
            <a:r>
              <a:rPr i="1" lang="tr-TR"/>
              <a:t>.</a:t>
            </a:r>
            <a:endParaRPr/>
          </a:p>
          <a:p>
            <a:pPr indent="-127000" lvl="0" marL="91440" rtl="0" algn="l">
              <a:lnSpc>
                <a:spcPct val="90000"/>
              </a:lnSpc>
              <a:spcBef>
                <a:spcPts val="1400"/>
              </a:spcBef>
              <a:spcAft>
                <a:spcPts val="0"/>
              </a:spcAft>
              <a:buSzPts val="2000"/>
              <a:buChar char=" "/>
            </a:pPr>
            <a:r>
              <a:rPr lang="tr-TR"/>
              <a:t>Gerçek Zamanlı Araç Değerleme (Dynamic Pricing) Makine Öğrenmesi Modeli</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14"/>
          <p:cNvPicPr preferRelativeResize="0"/>
          <p:nvPr/>
        </p:nvPicPr>
        <p:blipFill rotWithShape="1">
          <a:blip r:embed="rId3">
            <a:alphaModFix/>
          </a:blip>
          <a:srcRect b="0" l="0" r="0" t="0"/>
          <a:stretch/>
        </p:blipFill>
        <p:spPr>
          <a:xfrm>
            <a:off x="5758962" y="3587262"/>
            <a:ext cx="3270738" cy="3270738"/>
          </a:xfrm>
          <a:prstGeom prst="rect">
            <a:avLst/>
          </a:prstGeom>
          <a:noFill/>
          <a:ln>
            <a:noFill/>
          </a:ln>
        </p:spPr>
      </p:pic>
      <p:sp>
        <p:nvSpPr>
          <p:cNvPr id="180" name="Google Shape;180;p14"/>
          <p:cNvSpPr txBox="1"/>
          <p:nvPr>
            <p:ph type="title"/>
          </p:nvPr>
        </p:nvSpPr>
        <p:spPr>
          <a:xfrm>
            <a:off x="164980" y="-164592"/>
            <a:ext cx="8979019" cy="1341639"/>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Literatürde Konumlandırma Nasıl Yapılır?</a:t>
            </a:r>
            <a:endParaRPr/>
          </a:p>
        </p:txBody>
      </p:sp>
      <p:sp>
        <p:nvSpPr>
          <p:cNvPr id="181" name="Google Shape;181;p14"/>
          <p:cNvSpPr txBox="1"/>
          <p:nvPr>
            <p:ph idx="1" type="body"/>
          </p:nvPr>
        </p:nvSpPr>
        <p:spPr>
          <a:xfrm>
            <a:off x="604237" y="1177047"/>
            <a:ext cx="8803532" cy="5132313"/>
          </a:xfrm>
          <a:prstGeom prst="rect">
            <a:avLst/>
          </a:prstGeom>
          <a:noFill/>
          <a:ln>
            <a:noFill/>
          </a:ln>
        </p:spPr>
        <p:txBody>
          <a:bodyPr anchorCtr="0" anchor="t" bIns="45700" lIns="45700" spcFirstLastPara="1" rIns="45700" wrap="square" tIns="45700">
            <a:normAutofit fontScale="85000" lnSpcReduction="20000"/>
          </a:bodyPr>
          <a:lstStyle/>
          <a:p>
            <a:pPr indent="-107950" lvl="0" marL="91440" rtl="0" algn="l">
              <a:lnSpc>
                <a:spcPct val="120000"/>
              </a:lnSpc>
              <a:spcBef>
                <a:spcPts val="0"/>
              </a:spcBef>
              <a:spcAft>
                <a:spcPts val="0"/>
              </a:spcAft>
              <a:buSzPct val="100000"/>
              <a:buChar char=" "/>
            </a:pPr>
            <a:r>
              <a:rPr b="1" lang="tr-TR"/>
              <a:t> </a:t>
            </a:r>
            <a:r>
              <a:rPr lang="tr-TR" sz="2600"/>
              <a:t>🔍❓ </a:t>
            </a:r>
            <a:r>
              <a:rPr b="1" lang="tr-TR" sz="2600"/>
              <a:t>Bilimsel Boşluk (Scientific Gap</a:t>
            </a:r>
            <a:r>
              <a:rPr b="1" lang="tr-TR"/>
              <a:t>)</a:t>
            </a:r>
            <a:endParaRPr/>
          </a:p>
          <a:p>
            <a:pPr indent="-107950" lvl="0" marL="91440" rtl="0" algn="l">
              <a:lnSpc>
                <a:spcPct val="120000"/>
              </a:lnSpc>
              <a:spcBef>
                <a:spcPts val="0"/>
              </a:spcBef>
              <a:spcAft>
                <a:spcPts val="0"/>
              </a:spcAft>
              <a:buSzPct val="100000"/>
              <a:buChar char=" "/>
            </a:pPr>
            <a:r>
              <a:rPr lang="tr-TR"/>
              <a:t>Literatürde ne eksik?</a:t>
            </a:r>
            <a:endParaRPr/>
          </a:p>
          <a:p>
            <a:pPr indent="-107950" lvl="0" marL="91440" rtl="0" algn="l">
              <a:lnSpc>
                <a:spcPct val="120000"/>
              </a:lnSpc>
              <a:spcBef>
                <a:spcPts val="0"/>
              </a:spcBef>
              <a:spcAft>
                <a:spcPts val="0"/>
              </a:spcAft>
              <a:buSzPct val="100000"/>
              <a:buChar char=" "/>
            </a:pPr>
            <a:r>
              <a:rPr lang="tr-TR"/>
              <a:t>......segmentte araç yenileme tahmini az çalışılmıştır</a:t>
            </a:r>
            <a:endParaRPr/>
          </a:p>
          <a:p>
            <a:pPr indent="-107950" lvl="0" marL="91440" rtl="0" algn="l">
              <a:lnSpc>
                <a:spcPct val="120000"/>
              </a:lnSpc>
              <a:spcBef>
                <a:spcPts val="0"/>
              </a:spcBef>
              <a:spcAft>
                <a:spcPts val="0"/>
              </a:spcAft>
              <a:buSzPct val="100000"/>
              <a:buChar char=" "/>
            </a:pPr>
            <a:r>
              <a:rPr lang="tr-TR"/>
              <a:t>Zaman ağırlıklı öneri sistemi B2B açık artırmalarda nadirdir</a:t>
            </a:r>
            <a:endParaRPr/>
          </a:p>
          <a:p>
            <a:pPr indent="-107950" lvl="0" marL="91440" rtl="0" algn="l">
              <a:lnSpc>
                <a:spcPct val="120000"/>
              </a:lnSpc>
              <a:spcBef>
                <a:spcPts val="0"/>
              </a:spcBef>
              <a:spcAft>
                <a:spcPts val="0"/>
              </a:spcAft>
              <a:buSzPct val="100000"/>
              <a:buChar char=" "/>
            </a:pPr>
            <a:r>
              <a:rPr lang="tr-TR"/>
              <a:t>Hibrit ML modelleri gerçek sahada az test edilmiştir</a:t>
            </a:r>
            <a:endParaRPr/>
          </a:p>
          <a:p>
            <a:pPr indent="0" lvl="0" marL="0" rtl="0" algn="l">
              <a:lnSpc>
                <a:spcPct val="120000"/>
              </a:lnSpc>
              <a:spcBef>
                <a:spcPts val="0"/>
              </a:spcBef>
              <a:spcAft>
                <a:spcPts val="0"/>
              </a:spcAft>
              <a:buSzPct val="100000"/>
              <a:buNone/>
            </a:pPr>
            <a:r>
              <a:t/>
            </a:r>
            <a:endParaRPr/>
          </a:p>
          <a:p>
            <a:pPr indent="-107950" lvl="0" marL="91440" rtl="0" algn="l">
              <a:lnSpc>
                <a:spcPct val="120000"/>
              </a:lnSpc>
              <a:spcBef>
                <a:spcPts val="0"/>
              </a:spcBef>
              <a:spcAft>
                <a:spcPts val="0"/>
              </a:spcAft>
              <a:buSzPct val="76923"/>
              <a:buChar char=" "/>
            </a:pPr>
            <a:r>
              <a:rPr b="1" lang="tr-TR"/>
              <a:t> </a:t>
            </a:r>
            <a:r>
              <a:rPr lang="tr-TR" sz="2600"/>
              <a:t>🏭➔⚙️</a:t>
            </a:r>
            <a:r>
              <a:rPr b="1" lang="tr-TR" sz="2600"/>
              <a:t>Endüstriyel Gereksinim (Industry Need)</a:t>
            </a:r>
            <a:endParaRPr b="1" sz="2600"/>
          </a:p>
          <a:p>
            <a:pPr indent="-107950" lvl="0" marL="91440" rtl="0" algn="l">
              <a:lnSpc>
                <a:spcPct val="120000"/>
              </a:lnSpc>
              <a:spcBef>
                <a:spcPts val="0"/>
              </a:spcBef>
              <a:spcAft>
                <a:spcPts val="0"/>
              </a:spcAft>
              <a:buSzPct val="100000"/>
              <a:buChar char=" "/>
            </a:pPr>
            <a:r>
              <a:rPr lang="tr-TR"/>
              <a:t>Bu çalışma neden gerekli?</a:t>
            </a:r>
            <a:endParaRPr/>
          </a:p>
          <a:p>
            <a:pPr indent="-107950" lvl="0" marL="91440" rtl="0" algn="l">
              <a:lnSpc>
                <a:spcPct val="120000"/>
              </a:lnSpc>
              <a:spcBef>
                <a:spcPts val="0"/>
              </a:spcBef>
              <a:spcAft>
                <a:spcPts val="0"/>
              </a:spcAft>
              <a:buSzPct val="100000"/>
              <a:buChar char=" "/>
            </a:pPr>
            <a:r>
              <a:rPr lang="tr-TR"/>
              <a:t>Müşteri kaybı maliyeti → yüksek</a:t>
            </a:r>
            <a:endParaRPr/>
          </a:p>
          <a:p>
            <a:pPr indent="-107950" lvl="0" marL="91440" rtl="0" algn="l">
              <a:lnSpc>
                <a:spcPct val="120000"/>
              </a:lnSpc>
              <a:spcBef>
                <a:spcPts val="0"/>
              </a:spcBef>
              <a:spcAft>
                <a:spcPts val="0"/>
              </a:spcAft>
              <a:buSzPct val="100000"/>
              <a:buChar char=" "/>
            </a:pPr>
            <a:r>
              <a:rPr lang="tr-TR"/>
              <a:t>Açık artırmalarda yanlış öneri → gelir kaybı</a:t>
            </a:r>
            <a:endParaRPr/>
          </a:p>
          <a:p>
            <a:pPr indent="-107950" lvl="0" marL="91440" rtl="0" algn="l">
              <a:lnSpc>
                <a:spcPct val="120000"/>
              </a:lnSpc>
              <a:spcBef>
                <a:spcPts val="0"/>
              </a:spcBef>
              <a:spcAft>
                <a:spcPts val="0"/>
              </a:spcAft>
              <a:buSzPct val="100000"/>
              <a:buChar char=" "/>
            </a:pPr>
            <a:r>
              <a:rPr lang="tr-TR"/>
              <a:t>Filo bakım tahmini → operasyon maliyetleri</a:t>
            </a:r>
            <a:endParaRPr/>
          </a:p>
          <a:p>
            <a:pPr indent="0" lvl="0" marL="91440" rtl="0" algn="l">
              <a:lnSpc>
                <a:spcPct val="120000"/>
              </a:lnSpc>
              <a:spcBef>
                <a:spcPts val="0"/>
              </a:spcBef>
              <a:spcAft>
                <a:spcPts val="0"/>
              </a:spcAft>
              <a:buSzPct val="100000"/>
              <a:buNone/>
            </a:pPr>
            <a:r>
              <a:t/>
            </a:r>
            <a:endParaRPr/>
          </a:p>
          <a:p>
            <a:pPr indent="-107950" lvl="0" marL="91440" rtl="0" algn="l">
              <a:lnSpc>
                <a:spcPct val="120000"/>
              </a:lnSpc>
              <a:spcBef>
                <a:spcPts val="0"/>
              </a:spcBef>
              <a:spcAft>
                <a:spcPts val="0"/>
              </a:spcAft>
              <a:buSzPct val="100000"/>
              <a:buChar char=" "/>
            </a:pPr>
            <a:r>
              <a:rPr b="1" lang="tr-TR"/>
              <a:t> </a:t>
            </a:r>
            <a:r>
              <a:rPr lang="tr-TR" sz="2400"/>
              <a:t>💡✨</a:t>
            </a:r>
            <a:r>
              <a:rPr b="1" lang="tr-TR" sz="2400"/>
              <a:t> Yenilik (Novelty)</a:t>
            </a:r>
            <a:endParaRPr/>
          </a:p>
          <a:p>
            <a:pPr indent="0" lvl="0" marL="91440" rtl="0" algn="l">
              <a:lnSpc>
                <a:spcPct val="120000"/>
              </a:lnSpc>
              <a:spcBef>
                <a:spcPts val="0"/>
              </a:spcBef>
              <a:spcAft>
                <a:spcPts val="0"/>
              </a:spcAft>
              <a:buSzPct val="100000"/>
              <a:buNone/>
            </a:pPr>
            <a:r>
              <a:t/>
            </a:r>
            <a:endParaRPr/>
          </a:p>
          <a:p>
            <a:pPr indent="-107950" lvl="0" marL="91440" rtl="0" algn="l">
              <a:lnSpc>
                <a:spcPct val="120000"/>
              </a:lnSpc>
              <a:spcBef>
                <a:spcPts val="0"/>
              </a:spcBef>
              <a:spcAft>
                <a:spcPts val="0"/>
              </a:spcAft>
              <a:buSzPct val="100000"/>
              <a:buChar char=" "/>
            </a:pPr>
            <a:r>
              <a:rPr lang="tr-TR"/>
              <a:t>Bu çalışma neyi yenilikçi yapıyor?</a:t>
            </a:r>
            <a:endParaRPr/>
          </a:p>
          <a:p>
            <a:pPr indent="-107950" lvl="0" marL="91440" rtl="0" algn="l">
              <a:lnSpc>
                <a:spcPct val="120000"/>
              </a:lnSpc>
              <a:spcBef>
                <a:spcPts val="0"/>
              </a:spcBef>
              <a:spcAft>
                <a:spcPts val="0"/>
              </a:spcAft>
              <a:buSzPct val="100000"/>
              <a:buChar char=" "/>
            </a:pPr>
            <a:r>
              <a:rPr lang="tr-TR"/>
              <a:t>Yeni model, Yeni veri seti</a:t>
            </a:r>
            <a:endParaRPr/>
          </a:p>
          <a:p>
            <a:pPr indent="-107950" lvl="0" marL="91440" rtl="0" algn="l">
              <a:lnSpc>
                <a:spcPct val="120000"/>
              </a:lnSpc>
              <a:spcBef>
                <a:spcPts val="0"/>
              </a:spcBef>
              <a:spcAft>
                <a:spcPts val="0"/>
              </a:spcAft>
              <a:buSzPct val="100000"/>
              <a:buChar char=" "/>
            </a:pPr>
            <a:r>
              <a:rPr lang="tr-TR"/>
              <a:t>Yeni özellik mühendisliği, Yeni optimizasyon yaklaşımı</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5"/>
          <p:cNvSpPr txBox="1"/>
          <p:nvPr>
            <p:ph type="title"/>
          </p:nvPr>
        </p:nvSpPr>
        <p:spPr>
          <a:xfrm>
            <a:off x="476655" y="332297"/>
            <a:ext cx="8589524" cy="1875882"/>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Literatür Sonuçlarının Raporlanması</a:t>
            </a:r>
            <a:endParaRPr/>
          </a:p>
        </p:txBody>
      </p:sp>
      <p:sp>
        <p:nvSpPr>
          <p:cNvPr id="187" name="Google Shape;187;p15"/>
          <p:cNvSpPr txBox="1"/>
          <p:nvPr>
            <p:ph idx="1" type="body"/>
          </p:nvPr>
        </p:nvSpPr>
        <p:spPr>
          <a:xfrm>
            <a:off x="579963" y="189339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Bir AR-GE projesinde literatür özeti </a:t>
            </a:r>
            <a:r>
              <a:rPr b="1" lang="tr-TR"/>
              <a:t>şu 4 maddeyle sunulur:</a:t>
            </a:r>
            <a:endParaRPr/>
          </a:p>
          <a:p>
            <a:pPr indent="-127000" lvl="0" marL="91440" rtl="0" algn="l">
              <a:lnSpc>
                <a:spcPct val="90000"/>
              </a:lnSpc>
              <a:spcBef>
                <a:spcPts val="1400"/>
              </a:spcBef>
              <a:spcAft>
                <a:spcPts val="0"/>
              </a:spcAft>
              <a:buSzPts val="2000"/>
              <a:buFont typeface="Noto Sans Symbols"/>
              <a:buChar char="✔"/>
            </a:pPr>
            <a:r>
              <a:rPr b="1" lang="tr-TR"/>
              <a:t>Mevcut yöntemler</a:t>
            </a:r>
            <a:endParaRPr/>
          </a:p>
          <a:p>
            <a:pPr indent="-127000" lvl="0" marL="91440" rtl="0" algn="l">
              <a:lnSpc>
                <a:spcPct val="90000"/>
              </a:lnSpc>
              <a:spcBef>
                <a:spcPts val="1400"/>
              </a:spcBef>
              <a:spcAft>
                <a:spcPts val="0"/>
              </a:spcAft>
              <a:buSzPts val="2000"/>
              <a:buFont typeface="Noto Sans Symbols"/>
              <a:buChar char="✔"/>
            </a:pPr>
            <a:r>
              <a:rPr b="1" lang="tr-TR"/>
              <a:t>Mevcut yaklaşımların sınırlılıkları</a:t>
            </a:r>
            <a:endParaRPr/>
          </a:p>
          <a:p>
            <a:pPr indent="-127000" lvl="0" marL="91440" rtl="0" algn="l">
              <a:lnSpc>
                <a:spcPct val="90000"/>
              </a:lnSpc>
              <a:spcBef>
                <a:spcPts val="1400"/>
              </a:spcBef>
              <a:spcAft>
                <a:spcPts val="0"/>
              </a:spcAft>
              <a:buSzPts val="2000"/>
              <a:buFont typeface="Noto Sans Symbols"/>
              <a:buChar char="✔"/>
            </a:pPr>
            <a:r>
              <a:rPr b="1" lang="tr-TR"/>
              <a:t>Bu çalışmanın yenilikleri</a:t>
            </a:r>
            <a:endParaRPr/>
          </a:p>
          <a:p>
            <a:pPr indent="-127000" lvl="0" marL="91440" rtl="0" algn="l">
              <a:lnSpc>
                <a:spcPct val="90000"/>
              </a:lnSpc>
              <a:spcBef>
                <a:spcPts val="1400"/>
              </a:spcBef>
              <a:spcAft>
                <a:spcPts val="0"/>
              </a:spcAft>
              <a:buSzPts val="2000"/>
              <a:buFont typeface="Noto Sans Symbols"/>
              <a:buChar char="✔"/>
            </a:pPr>
            <a:r>
              <a:rPr b="1" lang="tr-TR"/>
              <a:t>Bu çalışmanın sektöre akademik katkısı</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txBox="1"/>
          <p:nvPr>
            <p:ph type="title"/>
          </p:nvPr>
        </p:nvSpPr>
        <p:spPr>
          <a:xfrm>
            <a:off x="645003" y="45017"/>
            <a:ext cx="7977070"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BİLİMSEL YAYIN İÇİN AI ARAÇLARI</a:t>
            </a:r>
            <a:endParaRPr/>
          </a:p>
        </p:txBody>
      </p:sp>
      <p:graphicFrame>
        <p:nvGraphicFramePr>
          <p:cNvPr id="194" name="Google Shape;194;p16"/>
          <p:cNvGraphicFramePr/>
          <p:nvPr/>
        </p:nvGraphicFramePr>
        <p:xfrm>
          <a:off x="474785" y="1372724"/>
          <a:ext cx="3000000" cy="3000000"/>
        </p:xfrm>
        <a:graphic>
          <a:graphicData uri="http://schemas.openxmlformats.org/drawingml/2006/table">
            <a:tbl>
              <a:tblPr>
                <a:noFill/>
                <a:tableStyleId>{8AD20FD6-57B2-40A4-B154-77D1C63D14A9}</a:tableStyleId>
              </a:tblPr>
              <a:tblGrid>
                <a:gridCol w="1344275"/>
                <a:gridCol w="1741250"/>
                <a:gridCol w="919275"/>
                <a:gridCol w="1344050"/>
                <a:gridCol w="1344050"/>
                <a:gridCol w="1344050"/>
              </a:tblGrid>
              <a:tr h="218025">
                <a:tc>
                  <a:txBody>
                    <a:bodyPr/>
                    <a:lstStyle/>
                    <a:p>
                      <a:pPr indent="0" lvl="0" marL="0" marR="0" rtl="0" algn="l">
                        <a:spcBef>
                          <a:spcPts val="0"/>
                        </a:spcBef>
                        <a:spcAft>
                          <a:spcPts val="0"/>
                        </a:spcAft>
                        <a:buNone/>
                      </a:pPr>
                      <a:r>
                        <a:rPr b="1" lang="tr-TR" sz="1100"/>
                        <a:t>Araç Adı</a:t>
                      </a:r>
                      <a:endParaRPr b="1" sz="1100"/>
                    </a:p>
                  </a:txBody>
                  <a:tcPr marT="8050" marB="8050" marR="16100" marL="16100" anchor="ctr"/>
                </a:tc>
                <a:tc>
                  <a:txBody>
                    <a:bodyPr/>
                    <a:lstStyle/>
                    <a:p>
                      <a:pPr indent="0" lvl="0" marL="0" marR="0" rtl="0" algn="l">
                        <a:spcBef>
                          <a:spcPts val="0"/>
                        </a:spcBef>
                        <a:spcAft>
                          <a:spcPts val="0"/>
                        </a:spcAft>
                        <a:buNone/>
                      </a:pPr>
                      <a:r>
                        <a:rPr b="1" lang="tr-TR" sz="1100"/>
                        <a:t>Web Adresi</a:t>
                      </a:r>
                      <a:endParaRPr/>
                    </a:p>
                  </a:txBody>
                  <a:tcPr marT="8050" marB="8050" marR="16100" marL="16100" anchor="ctr"/>
                </a:tc>
                <a:tc>
                  <a:txBody>
                    <a:bodyPr/>
                    <a:lstStyle/>
                    <a:p>
                      <a:pPr indent="0" lvl="0" marL="0" marR="0" rtl="0" algn="l">
                        <a:spcBef>
                          <a:spcPts val="0"/>
                        </a:spcBef>
                        <a:spcAft>
                          <a:spcPts val="0"/>
                        </a:spcAft>
                        <a:buNone/>
                      </a:pPr>
                      <a:r>
                        <a:rPr b="1" lang="tr-TR" sz="1100"/>
                        <a:t>Ücret Durumu</a:t>
                      </a:r>
                      <a:endParaRPr/>
                    </a:p>
                  </a:txBody>
                  <a:tcPr marT="8050" marB="8050" marR="16100" marL="16100" anchor="ctr"/>
                </a:tc>
                <a:tc>
                  <a:txBody>
                    <a:bodyPr/>
                    <a:lstStyle/>
                    <a:p>
                      <a:pPr indent="0" lvl="0" marL="0" marR="0" rtl="0" algn="l">
                        <a:spcBef>
                          <a:spcPts val="0"/>
                        </a:spcBef>
                        <a:spcAft>
                          <a:spcPts val="0"/>
                        </a:spcAft>
                        <a:buNone/>
                      </a:pPr>
                      <a:r>
                        <a:rPr b="1" lang="tr-TR" sz="1100"/>
                        <a:t>Güçlü Yanı</a:t>
                      </a:r>
                      <a:endParaRPr/>
                    </a:p>
                  </a:txBody>
                  <a:tcPr marT="8050" marB="8050" marR="16100" marL="16100" anchor="ctr"/>
                </a:tc>
                <a:tc>
                  <a:txBody>
                    <a:bodyPr/>
                    <a:lstStyle/>
                    <a:p>
                      <a:pPr indent="0" lvl="0" marL="0" marR="0" rtl="0" algn="l">
                        <a:spcBef>
                          <a:spcPts val="0"/>
                        </a:spcBef>
                        <a:spcAft>
                          <a:spcPts val="0"/>
                        </a:spcAft>
                        <a:buNone/>
                      </a:pPr>
                      <a:r>
                        <a:rPr b="1" lang="tr-TR" sz="1100"/>
                        <a:t>Ne Zaman Kullanılmalı?</a:t>
                      </a:r>
                      <a:endParaRPr/>
                    </a:p>
                  </a:txBody>
                  <a:tcPr marT="8050" marB="8050" marR="16100" marL="16100" anchor="ctr"/>
                </a:tc>
                <a:tc>
                  <a:txBody>
                    <a:bodyPr/>
                    <a:lstStyle/>
                    <a:p>
                      <a:pPr indent="0" lvl="0" marL="0" marR="0" rtl="0" algn="l">
                        <a:spcBef>
                          <a:spcPts val="0"/>
                        </a:spcBef>
                        <a:spcAft>
                          <a:spcPts val="0"/>
                        </a:spcAft>
                        <a:buNone/>
                      </a:pPr>
                      <a:r>
                        <a:rPr b="1" lang="tr-TR" sz="1100"/>
                        <a:t>Örnek Borusan Senaryosu</a:t>
                      </a:r>
                      <a:endParaRPr/>
                    </a:p>
                  </a:txBody>
                  <a:tcPr marT="8050" marB="8050" marR="16100" marL="16100" anchor="ctr"/>
                </a:tc>
              </a:tr>
              <a:tr h="545075">
                <a:tc>
                  <a:txBody>
                    <a:bodyPr/>
                    <a:lstStyle/>
                    <a:p>
                      <a:pPr indent="0" lvl="0" marL="0" marR="0" rtl="0" algn="l">
                        <a:spcBef>
                          <a:spcPts val="0"/>
                        </a:spcBef>
                        <a:spcAft>
                          <a:spcPts val="0"/>
                        </a:spcAft>
                        <a:buNone/>
                      </a:pPr>
                      <a:r>
                        <a:rPr b="1" lang="tr-TR" sz="1100"/>
                        <a:t>Elicit</a:t>
                      </a:r>
                      <a:endParaRPr b="1" sz="1100"/>
                    </a:p>
                  </a:txBody>
                  <a:tcPr marT="8050" marB="8050" marR="16100" marL="16100" anchor="ctr"/>
                </a:tc>
                <a:tc>
                  <a:txBody>
                    <a:bodyPr/>
                    <a:lstStyle/>
                    <a:p>
                      <a:pPr indent="0" lvl="0" marL="0" marR="0" rtl="0" algn="l">
                        <a:spcBef>
                          <a:spcPts val="0"/>
                        </a:spcBef>
                        <a:spcAft>
                          <a:spcPts val="0"/>
                        </a:spcAft>
                        <a:buNone/>
                      </a:pPr>
                      <a:r>
                        <a:rPr lang="tr-TR" sz="1100" u="sng">
                          <a:solidFill>
                            <a:schemeClr val="hlink"/>
                          </a:solidFill>
                          <a:hlinkClick r:id="rId3"/>
                        </a:rPr>
                        <a:t>https://elicit.com</a:t>
                      </a:r>
                      <a:endParaRPr sz="1100"/>
                    </a:p>
                  </a:txBody>
                  <a:tcPr marT="8050" marB="8050" marR="16100" marL="16100" anchor="ctr"/>
                </a:tc>
                <a:tc>
                  <a:txBody>
                    <a:bodyPr/>
                    <a:lstStyle/>
                    <a:p>
                      <a:pPr indent="0" lvl="0" marL="0" marR="0" rtl="0" algn="l">
                        <a:spcBef>
                          <a:spcPts val="0"/>
                        </a:spcBef>
                        <a:spcAft>
                          <a:spcPts val="0"/>
                        </a:spcAft>
                        <a:buNone/>
                      </a:pPr>
                      <a:r>
                        <a:rPr lang="tr-TR" sz="1100"/>
                        <a:t>Freemium</a:t>
                      </a:r>
                      <a:endParaRPr sz="1100"/>
                    </a:p>
                  </a:txBody>
                  <a:tcPr marT="8050" marB="8050" marR="16100" marL="16100" anchor="ctr"/>
                </a:tc>
                <a:tc>
                  <a:txBody>
                    <a:bodyPr/>
                    <a:lstStyle/>
                    <a:p>
                      <a:pPr indent="0" lvl="0" marL="0" marR="0" rtl="0" algn="l">
                        <a:spcBef>
                          <a:spcPts val="0"/>
                        </a:spcBef>
                        <a:spcAft>
                          <a:spcPts val="0"/>
                        </a:spcAft>
                        <a:buNone/>
                      </a:pPr>
                      <a:r>
                        <a:rPr lang="tr-TR" sz="1100"/>
                        <a:t>Araştırma sorusundan makale bulur</a:t>
                      </a:r>
                      <a:endParaRPr/>
                    </a:p>
                  </a:txBody>
                  <a:tcPr marT="8050" marB="8050" marR="16100" marL="16100" anchor="ctr"/>
                </a:tc>
                <a:tc>
                  <a:txBody>
                    <a:bodyPr/>
                    <a:lstStyle/>
                    <a:p>
                      <a:pPr indent="0" lvl="0" marL="0" marR="0" rtl="0" algn="l">
                        <a:spcBef>
                          <a:spcPts val="0"/>
                        </a:spcBef>
                        <a:spcAft>
                          <a:spcPts val="0"/>
                        </a:spcAft>
                        <a:buNone/>
                      </a:pPr>
                      <a:r>
                        <a:rPr lang="tr-TR" sz="1100"/>
                        <a:t>Sistematik tarama başlangıcı</a:t>
                      </a:r>
                      <a:endParaRPr/>
                    </a:p>
                  </a:txBody>
                  <a:tcPr marT="8050" marB="8050" marR="16100" marL="16100" anchor="ctr"/>
                </a:tc>
                <a:tc>
                  <a:txBody>
                    <a:bodyPr/>
                    <a:lstStyle/>
                    <a:p>
                      <a:pPr indent="0" lvl="0" marL="0" marR="0" rtl="0" algn="l">
                        <a:spcBef>
                          <a:spcPts val="0"/>
                        </a:spcBef>
                        <a:spcAft>
                          <a:spcPts val="0"/>
                        </a:spcAft>
                        <a:buNone/>
                      </a:pPr>
                      <a:r>
                        <a:rPr lang="tr-TR" sz="1100"/>
                        <a:t>“recommender systems için 20 temel makaleyi listele.”</a:t>
                      </a:r>
                      <a:endParaRPr/>
                    </a:p>
                  </a:txBody>
                  <a:tcPr marT="8050" marB="8050" marR="16100" marL="16100" anchor="ctr"/>
                </a:tc>
              </a:tr>
              <a:tr h="414250">
                <a:tc>
                  <a:txBody>
                    <a:bodyPr/>
                    <a:lstStyle/>
                    <a:p>
                      <a:pPr indent="0" lvl="0" marL="0" marR="0" rtl="0" algn="l">
                        <a:spcBef>
                          <a:spcPts val="0"/>
                        </a:spcBef>
                        <a:spcAft>
                          <a:spcPts val="0"/>
                        </a:spcAft>
                        <a:buNone/>
                      </a:pPr>
                      <a:r>
                        <a:rPr b="1" lang="tr-TR" sz="1100"/>
                        <a:t>Scispace (PaperGPT)</a:t>
                      </a:r>
                      <a:endParaRPr/>
                    </a:p>
                  </a:txBody>
                  <a:tcPr marT="8050" marB="8050" marR="16100" marL="16100" anchor="ctr"/>
                </a:tc>
                <a:tc>
                  <a:txBody>
                    <a:bodyPr/>
                    <a:lstStyle/>
                    <a:p>
                      <a:pPr indent="0" lvl="0" marL="0" marR="0" rtl="0" algn="l">
                        <a:spcBef>
                          <a:spcPts val="0"/>
                        </a:spcBef>
                        <a:spcAft>
                          <a:spcPts val="0"/>
                        </a:spcAft>
                        <a:buNone/>
                      </a:pPr>
                      <a:r>
                        <a:rPr lang="tr-TR" sz="1100" u="sng">
                          <a:solidFill>
                            <a:schemeClr val="hlink"/>
                          </a:solidFill>
                          <a:hlinkClick r:id="rId4"/>
                        </a:rPr>
                        <a:t>https://scispace.com</a:t>
                      </a:r>
                      <a:endParaRPr sz="1100"/>
                    </a:p>
                  </a:txBody>
                  <a:tcPr marT="8050" marB="8050" marR="16100" marL="16100" anchor="ctr"/>
                </a:tc>
                <a:tc>
                  <a:txBody>
                    <a:bodyPr/>
                    <a:lstStyle/>
                    <a:p>
                      <a:pPr indent="0" lvl="0" marL="0" marR="0" rtl="0" algn="l">
                        <a:spcBef>
                          <a:spcPts val="0"/>
                        </a:spcBef>
                        <a:spcAft>
                          <a:spcPts val="0"/>
                        </a:spcAft>
                        <a:buNone/>
                      </a:pPr>
                      <a:r>
                        <a:rPr lang="tr-TR" sz="1100"/>
                        <a:t>Freemium</a:t>
                      </a:r>
                      <a:endParaRPr sz="1100"/>
                    </a:p>
                  </a:txBody>
                  <a:tcPr marT="8050" marB="8050" marR="16100" marL="16100" anchor="ctr"/>
                </a:tc>
                <a:tc>
                  <a:txBody>
                    <a:bodyPr/>
                    <a:lstStyle/>
                    <a:p>
                      <a:pPr indent="0" lvl="0" marL="0" marR="0" rtl="0" algn="l">
                        <a:spcBef>
                          <a:spcPts val="0"/>
                        </a:spcBef>
                        <a:spcAft>
                          <a:spcPts val="0"/>
                        </a:spcAft>
                        <a:buNone/>
                      </a:pPr>
                      <a:r>
                        <a:rPr lang="tr-TR" sz="1100"/>
                        <a:t>PDF içinden akademik çözümleme</a:t>
                      </a:r>
                      <a:endParaRPr/>
                    </a:p>
                  </a:txBody>
                  <a:tcPr marT="8050" marB="8050" marR="16100" marL="16100" anchor="ctr"/>
                </a:tc>
                <a:tc>
                  <a:txBody>
                    <a:bodyPr/>
                    <a:lstStyle/>
                    <a:p>
                      <a:pPr indent="0" lvl="0" marL="0" marR="0" rtl="0" algn="l">
                        <a:spcBef>
                          <a:spcPts val="0"/>
                        </a:spcBef>
                        <a:spcAft>
                          <a:spcPts val="0"/>
                        </a:spcAft>
                        <a:buNone/>
                      </a:pPr>
                      <a:r>
                        <a:rPr lang="tr-TR" sz="1100"/>
                        <a:t>Zor makaleleri anlamlandırma</a:t>
                      </a:r>
                      <a:endParaRPr/>
                    </a:p>
                  </a:txBody>
                  <a:tcPr marT="8050" marB="8050" marR="16100" marL="16100" anchor="ctr"/>
                </a:tc>
                <a:tc>
                  <a:txBody>
                    <a:bodyPr/>
                    <a:lstStyle/>
                    <a:p>
                      <a:pPr indent="0" lvl="0" marL="0" marR="0" rtl="0" algn="l">
                        <a:spcBef>
                          <a:spcPts val="0"/>
                        </a:spcBef>
                        <a:spcAft>
                          <a:spcPts val="0"/>
                        </a:spcAft>
                        <a:buNone/>
                      </a:pPr>
                      <a:r>
                        <a:rPr lang="tr-TR" sz="1100"/>
                        <a:t>“Bu makaledeki Word2Vec formüllerini basitçe açıkla.”</a:t>
                      </a:r>
                      <a:endParaRPr/>
                    </a:p>
                  </a:txBody>
                  <a:tcPr marT="8050" marB="8050" marR="16100" marL="16100" anchor="ctr"/>
                </a:tc>
              </a:tr>
              <a:tr h="414250">
                <a:tc>
                  <a:txBody>
                    <a:bodyPr/>
                    <a:lstStyle/>
                    <a:p>
                      <a:pPr indent="0" lvl="0" marL="0" marR="0" rtl="0" algn="l">
                        <a:spcBef>
                          <a:spcPts val="0"/>
                        </a:spcBef>
                        <a:spcAft>
                          <a:spcPts val="0"/>
                        </a:spcAft>
                        <a:buNone/>
                      </a:pPr>
                      <a:r>
                        <a:rPr b="1" lang="tr-TR" sz="1100"/>
                        <a:t>Semantic Scholar AI</a:t>
                      </a:r>
                      <a:endParaRPr/>
                    </a:p>
                  </a:txBody>
                  <a:tcPr marT="8050" marB="8050" marR="16100" marL="16100" anchor="ctr"/>
                </a:tc>
                <a:tc>
                  <a:txBody>
                    <a:bodyPr/>
                    <a:lstStyle/>
                    <a:p>
                      <a:pPr indent="0" lvl="0" marL="0" marR="0" rtl="0" algn="l">
                        <a:spcBef>
                          <a:spcPts val="0"/>
                        </a:spcBef>
                        <a:spcAft>
                          <a:spcPts val="0"/>
                        </a:spcAft>
                        <a:buNone/>
                      </a:pPr>
                      <a:r>
                        <a:rPr lang="tr-TR" sz="1100" u="sng">
                          <a:solidFill>
                            <a:schemeClr val="hlink"/>
                          </a:solidFill>
                          <a:hlinkClick r:id="rId5"/>
                        </a:rPr>
                        <a:t>https://semanticscholar.org</a:t>
                      </a:r>
                      <a:endParaRPr sz="1100"/>
                    </a:p>
                  </a:txBody>
                  <a:tcPr marT="8050" marB="8050" marR="16100" marL="16100" anchor="ctr"/>
                </a:tc>
                <a:tc>
                  <a:txBody>
                    <a:bodyPr/>
                    <a:lstStyle/>
                    <a:p>
                      <a:pPr indent="0" lvl="0" marL="0" marR="0" rtl="0" algn="l">
                        <a:spcBef>
                          <a:spcPts val="0"/>
                        </a:spcBef>
                        <a:spcAft>
                          <a:spcPts val="0"/>
                        </a:spcAft>
                        <a:buNone/>
                      </a:pPr>
                      <a:r>
                        <a:rPr lang="tr-TR" sz="1100"/>
                        <a:t>Ücretsiz</a:t>
                      </a:r>
                      <a:endParaRPr/>
                    </a:p>
                  </a:txBody>
                  <a:tcPr marT="8050" marB="8050" marR="16100" marL="16100" anchor="ctr"/>
                </a:tc>
                <a:tc>
                  <a:txBody>
                    <a:bodyPr/>
                    <a:lstStyle/>
                    <a:p>
                      <a:pPr indent="0" lvl="0" marL="0" marR="0" rtl="0" algn="l">
                        <a:spcBef>
                          <a:spcPts val="0"/>
                        </a:spcBef>
                        <a:spcAft>
                          <a:spcPts val="0"/>
                        </a:spcAft>
                        <a:buNone/>
                      </a:pPr>
                      <a:r>
                        <a:rPr lang="tr-TR" sz="1100"/>
                        <a:t>Atıf ağı, influential papers</a:t>
                      </a:r>
                      <a:endParaRPr sz="1100"/>
                    </a:p>
                  </a:txBody>
                  <a:tcPr marT="8050" marB="8050" marR="16100" marL="16100" anchor="ctr"/>
                </a:tc>
                <a:tc>
                  <a:txBody>
                    <a:bodyPr/>
                    <a:lstStyle/>
                    <a:p>
                      <a:pPr indent="0" lvl="0" marL="0" marR="0" rtl="0" algn="l">
                        <a:spcBef>
                          <a:spcPts val="0"/>
                        </a:spcBef>
                        <a:spcAft>
                          <a:spcPts val="0"/>
                        </a:spcAft>
                        <a:buNone/>
                      </a:pPr>
                      <a:r>
                        <a:rPr lang="tr-TR" sz="1100"/>
                        <a:t>Temel literatürü bulmak</a:t>
                      </a:r>
                      <a:endParaRPr/>
                    </a:p>
                  </a:txBody>
                  <a:tcPr marT="8050" marB="8050" marR="16100" marL="16100" anchor="ctr"/>
                </a:tc>
                <a:tc>
                  <a:txBody>
                    <a:bodyPr/>
                    <a:lstStyle/>
                    <a:p>
                      <a:pPr indent="0" lvl="0" marL="0" marR="0" rtl="0" algn="l">
                        <a:spcBef>
                          <a:spcPts val="0"/>
                        </a:spcBef>
                        <a:spcAft>
                          <a:spcPts val="0"/>
                        </a:spcAft>
                        <a:buNone/>
                      </a:pPr>
                      <a:r>
                        <a:rPr lang="tr-TR" sz="1100"/>
                        <a:t>“Hybrid ML modelleri için en etkili 10 makaleyi çıkar.”</a:t>
                      </a:r>
                      <a:endParaRPr/>
                    </a:p>
                  </a:txBody>
                  <a:tcPr marT="8050" marB="8050" marR="16100" marL="16100" anchor="ctr"/>
                </a:tc>
              </a:tr>
              <a:tr h="414250">
                <a:tc>
                  <a:txBody>
                    <a:bodyPr/>
                    <a:lstStyle/>
                    <a:p>
                      <a:pPr indent="0" lvl="0" marL="0" marR="0" rtl="0" algn="l">
                        <a:spcBef>
                          <a:spcPts val="0"/>
                        </a:spcBef>
                        <a:spcAft>
                          <a:spcPts val="0"/>
                        </a:spcAft>
                        <a:buNone/>
                      </a:pPr>
                      <a:r>
                        <a:rPr b="1" lang="tr-TR" sz="1100"/>
                        <a:t>Connected Papers</a:t>
                      </a:r>
                      <a:endParaRPr b="1" sz="1100"/>
                    </a:p>
                  </a:txBody>
                  <a:tcPr marT="8050" marB="8050" marR="16100" marL="16100" anchor="ctr"/>
                </a:tc>
                <a:tc>
                  <a:txBody>
                    <a:bodyPr/>
                    <a:lstStyle/>
                    <a:p>
                      <a:pPr indent="0" lvl="0" marL="0" marR="0" rtl="0" algn="l">
                        <a:spcBef>
                          <a:spcPts val="0"/>
                        </a:spcBef>
                        <a:spcAft>
                          <a:spcPts val="0"/>
                        </a:spcAft>
                        <a:buNone/>
                      </a:pPr>
                      <a:r>
                        <a:rPr lang="tr-TR" sz="1100" u="sng">
                          <a:solidFill>
                            <a:schemeClr val="hlink"/>
                          </a:solidFill>
                          <a:hlinkClick r:id="rId6"/>
                        </a:rPr>
                        <a:t>https://connectedpapers.com</a:t>
                      </a:r>
                      <a:endParaRPr sz="1100"/>
                    </a:p>
                  </a:txBody>
                  <a:tcPr marT="8050" marB="8050" marR="16100" marL="16100" anchor="ctr"/>
                </a:tc>
                <a:tc>
                  <a:txBody>
                    <a:bodyPr/>
                    <a:lstStyle/>
                    <a:p>
                      <a:pPr indent="0" lvl="0" marL="0" marR="0" rtl="0" algn="l">
                        <a:spcBef>
                          <a:spcPts val="0"/>
                        </a:spcBef>
                        <a:spcAft>
                          <a:spcPts val="0"/>
                        </a:spcAft>
                        <a:buNone/>
                      </a:pPr>
                      <a:r>
                        <a:rPr lang="tr-TR" sz="1100"/>
                        <a:t>Freemium</a:t>
                      </a:r>
                      <a:endParaRPr sz="1100"/>
                    </a:p>
                  </a:txBody>
                  <a:tcPr marT="8050" marB="8050" marR="16100" marL="16100" anchor="ctr"/>
                </a:tc>
                <a:tc>
                  <a:txBody>
                    <a:bodyPr/>
                    <a:lstStyle/>
                    <a:p>
                      <a:pPr indent="0" lvl="0" marL="0" marR="0" rtl="0" algn="l">
                        <a:spcBef>
                          <a:spcPts val="0"/>
                        </a:spcBef>
                        <a:spcAft>
                          <a:spcPts val="0"/>
                        </a:spcAft>
                        <a:buNone/>
                      </a:pPr>
                      <a:r>
                        <a:rPr lang="tr-TR" sz="1100"/>
                        <a:t>Literatür haritası</a:t>
                      </a:r>
                      <a:endParaRPr/>
                    </a:p>
                  </a:txBody>
                  <a:tcPr marT="8050" marB="8050" marR="16100" marL="16100" anchor="ctr"/>
                </a:tc>
                <a:tc>
                  <a:txBody>
                    <a:bodyPr/>
                    <a:lstStyle/>
                    <a:p>
                      <a:pPr indent="0" lvl="0" marL="0" marR="0" rtl="0" algn="l">
                        <a:spcBef>
                          <a:spcPts val="0"/>
                        </a:spcBef>
                        <a:spcAft>
                          <a:spcPts val="0"/>
                        </a:spcAft>
                        <a:buNone/>
                      </a:pPr>
                      <a:r>
                        <a:rPr lang="tr-TR" sz="1100"/>
                        <a:t>GAP analizi</a:t>
                      </a:r>
                      <a:endParaRPr/>
                    </a:p>
                  </a:txBody>
                  <a:tcPr marT="8050" marB="8050" marR="16100" marL="16100" anchor="ctr"/>
                </a:tc>
                <a:tc>
                  <a:txBody>
                    <a:bodyPr/>
                    <a:lstStyle/>
                    <a:p>
                      <a:pPr indent="0" lvl="0" marL="0" marR="0" rtl="0" algn="l">
                        <a:spcBef>
                          <a:spcPts val="0"/>
                        </a:spcBef>
                        <a:spcAft>
                          <a:spcPts val="0"/>
                        </a:spcAft>
                        <a:buNone/>
                      </a:pPr>
                      <a:r>
                        <a:rPr lang="tr-TR" sz="1100"/>
                        <a:t>“Vehicle renewal prediction literatür haritasını çıkar.”</a:t>
                      </a:r>
                      <a:endParaRPr/>
                    </a:p>
                  </a:txBody>
                  <a:tcPr marT="8050" marB="8050" marR="16100" marL="16100" anchor="ctr"/>
                </a:tc>
              </a:tr>
              <a:tr h="414250">
                <a:tc>
                  <a:txBody>
                    <a:bodyPr/>
                    <a:lstStyle/>
                    <a:p>
                      <a:pPr indent="0" lvl="0" marL="0" marR="0" rtl="0" algn="l">
                        <a:spcBef>
                          <a:spcPts val="0"/>
                        </a:spcBef>
                        <a:spcAft>
                          <a:spcPts val="0"/>
                        </a:spcAft>
                        <a:buNone/>
                      </a:pPr>
                      <a:r>
                        <a:rPr b="1" lang="tr-TR" sz="1100"/>
                        <a:t>litmaps</a:t>
                      </a:r>
                      <a:br>
                        <a:rPr b="1" lang="tr-TR" sz="1100"/>
                      </a:br>
                      <a:endParaRPr b="1" sz="1100"/>
                    </a:p>
                  </a:txBody>
                  <a:tcPr marT="8050" marB="8050" marR="16100" marL="16100" anchor="ctr"/>
                </a:tc>
                <a:tc>
                  <a:txBody>
                    <a:bodyPr/>
                    <a:lstStyle/>
                    <a:p>
                      <a:pPr indent="0" lvl="0" marL="0" marR="0" rtl="0" algn="l">
                        <a:spcBef>
                          <a:spcPts val="0"/>
                        </a:spcBef>
                        <a:spcAft>
                          <a:spcPts val="0"/>
                        </a:spcAft>
                        <a:buNone/>
                      </a:pPr>
                      <a:r>
                        <a:rPr lang="tr-TR" sz="1100" u="sng">
                          <a:solidFill>
                            <a:schemeClr val="hlink"/>
                          </a:solidFill>
                          <a:hlinkClick r:id="rId7"/>
                        </a:rPr>
                        <a:t>https://www.litmaps.com</a:t>
                      </a:r>
                      <a:endParaRPr sz="1100"/>
                    </a:p>
                  </a:txBody>
                  <a:tcPr marT="8050" marB="8050" marR="16100" marL="16100" anchor="ctr"/>
                </a:tc>
                <a:tc>
                  <a:txBody>
                    <a:bodyPr/>
                    <a:lstStyle/>
                    <a:p>
                      <a:pPr indent="0" lvl="0" marL="0" marR="0" rtl="0" algn="l">
                        <a:spcBef>
                          <a:spcPts val="0"/>
                        </a:spcBef>
                        <a:spcAft>
                          <a:spcPts val="0"/>
                        </a:spcAft>
                        <a:buNone/>
                      </a:pPr>
                      <a:r>
                        <a:rPr lang="tr-TR" sz="1100"/>
                        <a:t>Freemium</a:t>
                      </a:r>
                      <a:endParaRPr sz="1100"/>
                    </a:p>
                  </a:txBody>
                  <a:tcPr marT="8050" marB="8050" marR="16100" marL="16100" anchor="ctr"/>
                </a:tc>
                <a:tc>
                  <a:txBody>
                    <a:bodyPr/>
                    <a:lstStyle/>
                    <a:p>
                      <a:pPr indent="0" lvl="0" marL="0" marR="0" rtl="0" algn="l">
                        <a:spcBef>
                          <a:spcPts val="0"/>
                        </a:spcBef>
                        <a:spcAft>
                          <a:spcPts val="0"/>
                        </a:spcAft>
                        <a:buNone/>
                      </a:pPr>
                      <a:r>
                        <a:rPr lang="tr-TR" sz="1100"/>
                        <a:t>Literatür yayılım haritaları, atıf ilişkileri, zaman çizelgesi</a:t>
                      </a:r>
                      <a:br>
                        <a:rPr lang="tr-TR" sz="1100"/>
                      </a:br>
                      <a:br>
                        <a:rPr lang="tr-TR" sz="1100"/>
                      </a:br>
                      <a:endParaRPr sz="1100"/>
                    </a:p>
                  </a:txBody>
                  <a:tcPr marT="8050" marB="8050" marR="16100" marL="16100" anchor="ctr"/>
                </a:tc>
                <a:tc>
                  <a:txBody>
                    <a:bodyPr/>
                    <a:lstStyle/>
                    <a:p>
                      <a:pPr indent="0" lvl="0" marL="0" marR="0" rtl="0" algn="l">
                        <a:spcBef>
                          <a:spcPts val="0"/>
                        </a:spcBef>
                        <a:spcAft>
                          <a:spcPts val="0"/>
                        </a:spcAft>
                        <a:buNone/>
                      </a:pPr>
                      <a:r>
                        <a:rPr lang="tr-TR" sz="1100"/>
                        <a:t>State-of-the-art çıkarma, temel çalışmaların evrimini izleme</a:t>
                      </a:r>
                      <a:endParaRPr sz="1100"/>
                    </a:p>
                  </a:txBody>
                  <a:tcPr marT="8050" marB="8050" marR="16100" marL="16100" anchor="ctr"/>
                </a:tc>
                <a:tc>
                  <a:txBody>
                    <a:bodyPr/>
                    <a:lstStyle/>
                    <a:p>
                      <a:pPr indent="0" lvl="0" marL="0" marR="0" rtl="0" algn="l">
                        <a:lnSpc>
                          <a:spcPct val="100000"/>
                        </a:lnSpc>
                        <a:spcBef>
                          <a:spcPts val="0"/>
                        </a:spcBef>
                        <a:spcAft>
                          <a:spcPts val="0"/>
                        </a:spcAft>
                        <a:buClr>
                          <a:schemeClr val="dk1"/>
                        </a:buClr>
                        <a:buSzPts val="1100"/>
                        <a:buFont typeface="Twentieth Century"/>
                        <a:buNone/>
                      </a:pPr>
                      <a:br>
                        <a:rPr lang="tr-TR" sz="1100"/>
                      </a:br>
                      <a:r>
                        <a:rPr lang="tr-TR" sz="1100"/>
                        <a:t>“Federated learning alanındaki makalelerin zaman içindeki gelişim haritasını çıkar.”</a:t>
                      </a:r>
                      <a:endParaRPr/>
                    </a:p>
                    <a:p>
                      <a:pPr indent="0" lvl="0" marL="0" marR="0" rtl="0" algn="l">
                        <a:spcBef>
                          <a:spcPts val="0"/>
                        </a:spcBef>
                        <a:spcAft>
                          <a:spcPts val="0"/>
                        </a:spcAft>
                        <a:buNone/>
                      </a:pPr>
                      <a:r>
                        <a:t/>
                      </a:r>
                      <a:endParaRPr sz="1100"/>
                    </a:p>
                  </a:txBody>
                  <a:tcPr marT="8050" marB="8050" marR="16100" marL="16100" anchor="ctr"/>
                </a:tc>
              </a:tr>
              <a:tr h="414250">
                <a:tc>
                  <a:txBody>
                    <a:bodyPr/>
                    <a:lstStyle/>
                    <a:p>
                      <a:pPr indent="0" lvl="0" marL="0" marR="0" rtl="0" algn="l">
                        <a:spcBef>
                          <a:spcPts val="0"/>
                        </a:spcBef>
                        <a:spcAft>
                          <a:spcPts val="0"/>
                        </a:spcAft>
                        <a:buNone/>
                      </a:pPr>
                      <a:r>
                        <a:rPr b="1" lang="tr-TR" sz="1100"/>
                        <a:t>Consensus AI</a:t>
                      </a:r>
                      <a:endParaRPr/>
                    </a:p>
                    <a:p>
                      <a:pPr indent="0" lvl="0" marL="0" marR="0" rtl="0" algn="l">
                        <a:spcBef>
                          <a:spcPts val="0"/>
                        </a:spcBef>
                        <a:spcAft>
                          <a:spcPts val="0"/>
                        </a:spcAft>
                        <a:buNone/>
                      </a:pPr>
                      <a:br>
                        <a:rPr b="1" lang="tr-TR" sz="1100"/>
                      </a:br>
                      <a:br>
                        <a:rPr b="1" lang="tr-TR" sz="1100"/>
                      </a:br>
                      <a:endParaRPr b="1" sz="1100"/>
                    </a:p>
                    <a:p>
                      <a:pPr indent="0" lvl="0" marL="0" marR="0" rtl="0" algn="l">
                        <a:spcBef>
                          <a:spcPts val="0"/>
                        </a:spcBef>
                        <a:spcAft>
                          <a:spcPts val="0"/>
                        </a:spcAft>
                        <a:buNone/>
                      </a:pPr>
                      <a:r>
                        <a:t/>
                      </a:r>
                      <a:endParaRPr b="1" sz="1100"/>
                    </a:p>
                  </a:txBody>
                  <a:tcPr marT="8050" marB="8050" marR="16100" marL="16100" anchor="ctr"/>
                </a:tc>
                <a:tc>
                  <a:txBody>
                    <a:bodyPr/>
                    <a:lstStyle/>
                    <a:p>
                      <a:pPr indent="0" lvl="0" marL="0" marR="0" rtl="0" algn="l">
                        <a:spcBef>
                          <a:spcPts val="0"/>
                        </a:spcBef>
                        <a:spcAft>
                          <a:spcPts val="0"/>
                        </a:spcAft>
                        <a:buNone/>
                      </a:pPr>
                      <a:r>
                        <a:rPr lang="tr-TR" sz="1100" u="sng">
                          <a:solidFill>
                            <a:schemeClr val="hlink"/>
                          </a:solidFill>
                          <a:hlinkClick r:id="rId8"/>
                        </a:rPr>
                        <a:t>https://consensus.app</a:t>
                      </a:r>
                      <a:br>
                        <a:rPr lang="tr-TR" sz="1100"/>
                      </a:br>
                      <a:endParaRPr sz="1100"/>
                    </a:p>
                  </a:txBody>
                  <a:tcPr marT="8050" marB="8050" marR="16100" marL="16100" anchor="ctr"/>
                </a:tc>
                <a:tc>
                  <a:txBody>
                    <a:bodyPr/>
                    <a:lstStyle/>
                    <a:p>
                      <a:pPr indent="0" lvl="0" marL="0" marR="0" rtl="0" algn="l">
                        <a:spcBef>
                          <a:spcPts val="0"/>
                        </a:spcBef>
                        <a:spcAft>
                          <a:spcPts val="0"/>
                        </a:spcAft>
                        <a:buNone/>
                      </a:pPr>
                      <a:r>
                        <a:rPr lang="tr-TR" sz="1100"/>
                        <a:t>Freemium</a:t>
                      </a:r>
                      <a:endParaRPr sz="1100"/>
                    </a:p>
                  </a:txBody>
                  <a:tcPr marT="8050" marB="8050" marR="16100" marL="16100" anchor="ctr"/>
                </a:tc>
                <a:tc>
                  <a:txBody>
                    <a:bodyPr/>
                    <a:lstStyle/>
                    <a:p>
                      <a:pPr indent="0" lvl="0" marL="0" marR="0" rtl="0" algn="l">
                        <a:spcBef>
                          <a:spcPts val="0"/>
                        </a:spcBef>
                        <a:spcAft>
                          <a:spcPts val="0"/>
                        </a:spcAft>
                        <a:buNone/>
                      </a:pPr>
                      <a:r>
                        <a:rPr lang="tr-TR" sz="1100"/>
                        <a:t>Hızlı literatür incelemesi, araştırma sorularına kanıt temelli cevap bulma</a:t>
                      </a:r>
                      <a:endParaRPr sz="1100"/>
                    </a:p>
                  </a:txBody>
                  <a:tcPr marT="8050" marB="8050" marR="16100" marL="16100" anchor="ctr"/>
                </a:tc>
                <a:tc>
                  <a:txBody>
                    <a:bodyPr/>
                    <a:lstStyle/>
                    <a:p>
                      <a:pPr indent="0" lvl="0" marL="0" marR="0" rtl="0" algn="l">
                        <a:spcBef>
                          <a:spcPts val="0"/>
                        </a:spcBef>
                        <a:spcAft>
                          <a:spcPts val="0"/>
                        </a:spcAft>
                        <a:buNone/>
                      </a:pPr>
                      <a:r>
                        <a:rPr lang="tr-TR" sz="1100"/>
                        <a:t>Araştırma sorularına hızlı, güvenilir ve akademik referanslı yanıt gerektiğinde;</a:t>
                      </a:r>
                      <a:endParaRPr sz="1100"/>
                    </a:p>
                  </a:txBody>
                  <a:tcPr marT="8050" marB="8050" marR="16100" marL="16100" anchor="ctr"/>
                </a:tc>
                <a:tc>
                  <a:txBody>
                    <a:bodyPr/>
                    <a:lstStyle/>
                    <a:p>
                      <a:pPr indent="0" lvl="0" marL="0" marR="0" rtl="0" algn="l">
                        <a:spcBef>
                          <a:spcPts val="0"/>
                        </a:spcBef>
                        <a:spcAft>
                          <a:spcPts val="0"/>
                        </a:spcAft>
                        <a:buNone/>
                      </a:pPr>
                      <a:r>
                        <a:rPr lang="tr-TR" sz="1100"/>
                        <a:t>“Premium araçlarda müşteri sadakati ve araç yenileme davranışını etkileyen faktörler nelerdir?” </a:t>
                      </a:r>
                      <a:endParaRPr sz="1100"/>
                    </a:p>
                  </a:txBody>
                  <a:tcPr marT="8050" marB="8050" marR="16100" marL="16100" anchor="ctr"/>
                </a:tc>
              </a:tr>
              <a:tr h="414250">
                <a:tc>
                  <a:txBody>
                    <a:bodyPr/>
                    <a:lstStyle/>
                    <a:p>
                      <a:pPr indent="0" lvl="0" marL="0" marR="0" rtl="0" algn="l">
                        <a:spcBef>
                          <a:spcPts val="0"/>
                        </a:spcBef>
                        <a:spcAft>
                          <a:spcPts val="0"/>
                        </a:spcAft>
                        <a:buNone/>
                      </a:pPr>
                      <a:r>
                        <a:rPr b="1" lang="tr-TR" sz="1100"/>
                        <a:t>ChatGPT (GPT-4/5)</a:t>
                      </a:r>
                      <a:endParaRPr/>
                    </a:p>
                  </a:txBody>
                  <a:tcPr marT="8050" marB="8050" marR="16100" marL="16100" anchor="ctr"/>
                </a:tc>
                <a:tc>
                  <a:txBody>
                    <a:bodyPr/>
                    <a:lstStyle/>
                    <a:p>
                      <a:pPr indent="0" lvl="0" marL="0" marR="0" rtl="0" algn="l">
                        <a:spcBef>
                          <a:spcPts val="0"/>
                        </a:spcBef>
                        <a:spcAft>
                          <a:spcPts val="0"/>
                        </a:spcAft>
                        <a:buNone/>
                      </a:pPr>
                      <a:r>
                        <a:rPr lang="tr-TR" sz="1100" u="sng">
                          <a:solidFill>
                            <a:schemeClr val="hlink"/>
                          </a:solidFill>
                          <a:hlinkClick r:id="rId9"/>
                        </a:rPr>
                        <a:t>https://chat.openai.com</a:t>
                      </a:r>
                      <a:endParaRPr sz="1100"/>
                    </a:p>
                  </a:txBody>
                  <a:tcPr marT="8050" marB="8050" marR="16100" marL="16100" anchor="ctr"/>
                </a:tc>
                <a:tc>
                  <a:txBody>
                    <a:bodyPr/>
                    <a:lstStyle/>
                    <a:p>
                      <a:pPr indent="0" lvl="0" marL="0" marR="0" rtl="0" algn="l">
                        <a:spcBef>
                          <a:spcPts val="0"/>
                        </a:spcBef>
                        <a:spcAft>
                          <a:spcPts val="0"/>
                        </a:spcAft>
                        <a:buNone/>
                      </a:pPr>
                      <a:r>
                        <a:rPr lang="tr-TR" sz="1100"/>
                        <a:t>Ücretsiz + Plus (Ücretli)</a:t>
                      </a:r>
                      <a:endParaRPr/>
                    </a:p>
                  </a:txBody>
                  <a:tcPr marT="8050" marB="8050" marR="16100" marL="16100" anchor="ctr"/>
                </a:tc>
                <a:tc>
                  <a:txBody>
                    <a:bodyPr/>
                    <a:lstStyle/>
                    <a:p>
                      <a:pPr indent="0" lvl="0" marL="0" marR="0" rtl="0" algn="l">
                        <a:spcBef>
                          <a:spcPts val="0"/>
                        </a:spcBef>
                        <a:spcAft>
                          <a:spcPts val="0"/>
                        </a:spcAft>
                        <a:buNone/>
                      </a:pPr>
                      <a:r>
                        <a:rPr lang="tr-TR" sz="1100"/>
                        <a:t>Geniş kapsamlı analiz aracı</a:t>
                      </a:r>
                      <a:endParaRPr/>
                    </a:p>
                  </a:txBody>
                  <a:tcPr marT="8050" marB="8050" marR="16100" marL="16100" anchor="ctr"/>
                </a:tc>
                <a:tc>
                  <a:txBody>
                    <a:bodyPr/>
                    <a:lstStyle/>
                    <a:p>
                      <a:pPr indent="0" lvl="0" marL="0" marR="0" rtl="0" algn="l">
                        <a:spcBef>
                          <a:spcPts val="0"/>
                        </a:spcBef>
                        <a:spcAft>
                          <a:spcPts val="0"/>
                        </a:spcAft>
                        <a:buNone/>
                      </a:pPr>
                      <a:r>
                        <a:rPr lang="tr-TR" sz="1100"/>
                        <a:t>Konuya hızlı hakim olmak, özet, karşılaştırma</a:t>
                      </a:r>
                      <a:endParaRPr/>
                    </a:p>
                  </a:txBody>
                  <a:tcPr marT="8050" marB="8050" marR="16100" marL="16100" anchor="ctr"/>
                </a:tc>
                <a:tc>
                  <a:txBody>
                    <a:bodyPr/>
                    <a:lstStyle/>
                    <a:p>
                      <a:pPr indent="0" lvl="0" marL="0" marR="0" rtl="0" algn="l">
                        <a:spcBef>
                          <a:spcPts val="0"/>
                        </a:spcBef>
                        <a:spcAft>
                          <a:spcPts val="0"/>
                        </a:spcAft>
                        <a:buNone/>
                      </a:pPr>
                      <a:r>
                        <a:rPr lang="tr-TR" sz="1100"/>
                        <a:t>“… Yönteminin</a:t>
                      </a:r>
                      <a:r>
                        <a:rPr lang="tr-TR" sz="1100"/>
                        <a:t> </a:t>
                      </a:r>
                      <a:r>
                        <a:rPr lang="tr-TR" sz="1100"/>
                        <a:t>literatürünün 2019–2024 özetini çıkar.”</a:t>
                      </a:r>
                      <a:endParaRPr/>
                    </a:p>
                  </a:txBody>
                  <a:tcPr marT="8050" marB="8050" marR="16100" marL="16100" anchor="ct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aphicFrame>
        <p:nvGraphicFramePr>
          <p:cNvPr id="200" name="Google Shape;200;p17"/>
          <p:cNvGraphicFramePr/>
          <p:nvPr/>
        </p:nvGraphicFramePr>
        <p:xfrm>
          <a:off x="466793" y="1583720"/>
          <a:ext cx="3000000" cy="3000000"/>
        </p:xfrm>
        <a:graphic>
          <a:graphicData uri="http://schemas.openxmlformats.org/drawingml/2006/table">
            <a:tbl>
              <a:tblPr>
                <a:noFill/>
                <a:tableStyleId>{8AD20FD6-57B2-40A4-B154-77D1C63D14A9}</a:tableStyleId>
              </a:tblPr>
              <a:tblGrid>
                <a:gridCol w="1359575"/>
                <a:gridCol w="1802675"/>
                <a:gridCol w="951700"/>
                <a:gridCol w="1391450"/>
                <a:gridCol w="1391450"/>
                <a:gridCol w="1381525"/>
              </a:tblGrid>
              <a:tr h="433150">
                <a:tc>
                  <a:txBody>
                    <a:bodyPr/>
                    <a:lstStyle/>
                    <a:p>
                      <a:pPr indent="0" lvl="0" marL="0" marR="0" rtl="0" algn="l">
                        <a:spcBef>
                          <a:spcPts val="0"/>
                        </a:spcBef>
                        <a:spcAft>
                          <a:spcPts val="0"/>
                        </a:spcAft>
                        <a:buNone/>
                      </a:pPr>
                      <a:r>
                        <a:rPr b="1" lang="tr-TR" sz="1100"/>
                        <a:t>Araç Adı</a:t>
                      </a:r>
                      <a:endParaRPr b="1" sz="1100"/>
                    </a:p>
                  </a:txBody>
                  <a:tcPr marT="8050" marB="8050" marR="16100" marL="16100" anchor="ctr"/>
                </a:tc>
                <a:tc>
                  <a:txBody>
                    <a:bodyPr/>
                    <a:lstStyle/>
                    <a:p>
                      <a:pPr indent="0" lvl="0" marL="0" marR="0" rtl="0" algn="l">
                        <a:spcBef>
                          <a:spcPts val="0"/>
                        </a:spcBef>
                        <a:spcAft>
                          <a:spcPts val="0"/>
                        </a:spcAft>
                        <a:buNone/>
                      </a:pPr>
                      <a:r>
                        <a:rPr b="1" lang="tr-TR" sz="1100"/>
                        <a:t>Web Adresi</a:t>
                      </a:r>
                      <a:endParaRPr/>
                    </a:p>
                  </a:txBody>
                  <a:tcPr marT="8050" marB="8050" marR="16100" marL="16100" anchor="ctr"/>
                </a:tc>
                <a:tc>
                  <a:txBody>
                    <a:bodyPr/>
                    <a:lstStyle/>
                    <a:p>
                      <a:pPr indent="0" lvl="0" marL="0" marR="0" rtl="0" algn="l">
                        <a:spcBef>
                          <a:spcPts val="0"/>
                        </a:spcBef>
                        <a:spcAft>
                          <a:spcPts val="0"/>
                        </a:spcAft>
                        <a:buNone/>
                      </a:pPr>
                      <a:r>
                        <a:rPr b="1" lang="tr-TR" sz="1100"/>
                        <a:t>Ücret Durumu</a:t>
                      </a:r>
                      <a:endParaRPr/>
                    </a:p>
                  </a:txBody>
                  <a:tcPr marT="8050" marB="8050" marR="16100" marL="16100" anchor="ctr"/>
                </a:tc>
                <a:tc>
                  <a:txBody>
                    <a:bodyPr/>
                    <a:lstStyle/>
                    <a:p>
                      <a:pPr indent="0" lvl="0" marL="0" marR="0" rtl="0" algn="l">
                        <a:spcBef>
                          <a:spcPts val="0"/>
                        </a:spcBef>
                        <a:spcAft>
                          <a:spcPts val="0"/>
                        </a:spcAft>
                        <a:buNone/>
                      </a:pPr>
                      <a:r>
                        <a:rPr b="1" lang="tr-TR" sz="1100"/>
                        <a:t>Güçlü Yanı</a:t>
                      </a:r>
                      <a:endParaRPr/>
                    </a:p>
                  </a:txBody>
                  <a:tcPr marT="8050" marB="8050" marR="16100" marL="16100" anchor="ctr"/>
                </a:tc>
                <a:tc>
                  <a:txBody>
                    <a:bodyPr/>
                    <a:lstStyle/>
                    <a:p>
                      <a:pPr indent="0" lvl="0" marL="0" marR="0" rtl="0" algn="l">
                        <a:spcBef>
                          <a:spcPts val="0"/>
                        </a:spcBef>
                        <a:spcAft>
                          <a:spcPts val="0"/>
                        </a:spcAft>
                        <a:buNone/>
                      </a:pPr>
                      <a:r>
                        <a:rPr b="1" lang="tr-TR" sz="1100"/>
                        <a:t>Ne Zaman Kullanılmalı?</a:t>
                      </a:r>
                      <a:endParaRPr/>
                    </a:p>
                  </a:txBody>
                  <a:tcPr marT="8050" marB="8050" marR="16100" marL="16100" anchor="ctr"/>
                </a:tc>
                <a:tc>
                  <a:txBody>
                    <a:bodyPr/>
                    <a:lstStyle/>
                    <a:p>
                      <a:pPr indent="0" lvl="0" marL="0" marR="0" rtl="0" algn="l">
                        <a:spcBef>
                          <a:spcPts val="0"/>
                        </a:spcBef>
                        <a:spcAft>
                          <a:spcPts val="0"/>
                        </a:spcAft>
                        <a:buNone/>
                      </a:pPr>
                      <a:r>
                        <a:rPr b="1" lang="tr-TR" sz="1100"/>
                        <a:t>Örnek Borusan Senaryosu</a:t>
                      </a:r>
                      <a:endParaRPr/>
                    </a:p>
                  </a:txBody>
                  <a:tcPr marT="8050" marB="8050" marR="16100" marL="16100" anchor="ctr"/>
                </a:tc>
              </a:tr>
              <a:tr h="671950">
                <a:tc>
                  <a:txBody>
                    <a:bodyPr/>
                    <a:lstStyle/>
                    <a:p>
                      <a:pPr indent="0" lvl="0" marL="0" marR="0" rtl="0" algn="l">
                        <a:spcBef>
                          <a:spcPts val="0"/>
                        </a:spcBef>
                        <a:spcAft>
                          <a:spcPts val="0"/>
                        </a:spcAft>
                        <a:buNone/>
                      </a:pPr>
                      <a:r>
                        <a:rPr b="1" lang="tr-TR" sz="1100">
                          <a:solidFill>
                            <a:schemeClr val="dk1"/>
                          </a:solidFill>
                          <a:latin typeface="Twentieth Century"/>
                          <a:ea typeface="Twentieth Century"/>
                          <a:cs typeface="Twentieth Century"/>
                          <a:sym typeface="Twentieth Century"/>
                        </a:rPr>
                        <a:t>ResearchRabbit</a:t>
                      </a:r>
                      <a:endParaRPr b="1" sz="1100">
                        <a:solidFill>
                          <a:schemeClr val="dk1"/>
                        </a:solidFill>
                        <a:latin typeface="Twentieth Century"/>
                        <a:ea typeface="Twentieth Century"/>
                        <a:cs typeface="Twentieth Century"/>
                        <a:sym typeface="Twentieth Century"/>
                      </a:endParaRPr>
                    </a:p>
                  </a:txBody>
                  <a:tcPr marT="8050" marB="8050" marR="16100" marL="16100" anchor="ctr"/>
                </a:tc>
                <a:tc>
                  <a:txBody>
                    <a:bodyPr/>
                    <a:lstStyle/>
                    <a:p>
                      <a:pPr indent="0" lvl="0" marL="0" marR="0" rtl="0" algn="l">
                        <a:spcBef>
                          <a:spcPts val="0"/>
                        </a:spcBef>
                        <a:spcAft>
                          <a:spcPts val="0"/>
                        </a:spcAft>
                        <a:buNone/>
                      </a:pPr>
                      <a:r>
                        <a:rPr lang="tr-TR" sz="1100" u="sng">
                          <a:solidFill>
                            <a:schemeClr val="dk1"/>
                          </a:solidFill>
                          <a:latin typeface="Twentieth Century"/>
                          <a:ea typeface="Twentieth Century"/>
                          <a:cs typeface="Twentieth Century"/>
                          <a:sym typeface="Twentieth Century"/>
                          <a:hlinkClick r:id="rId3">
                            <a:extLst>
                              <a:ext uri="{A12FA001-AC4F-418D-AE19-62706E023703}">
                                <ahyp:hlinkClr val="tx"/>
                              </a:ext>
                            </a:extLst>
                          </a:hlinkClick>
                        </a:rPr>
                        <a:t>https://researchrabbitapp.com</a:t>
                      </a:r>
                      <a:endParaRPr sz="1100">
                        <a:solidFill>
                          <a:schemeClr val="dk1"/>
                        </a:solidFill>
                        <a:latin typeface="Twentieth Century"/>
                        <a:ea typeface="Twentieth Century"/>
                        <a:cs typeface="Twentieth Century"/>
                        <a:sym typeface="Twentieth Century"/>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Ücretsiz</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Görsel literatür ağı</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Yazar ve konu ilişkilerini görmek</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“B2B öneri sistemi araştırma alanındaki kümeleri göster.”</a:t>
                      </a:r>
                      <a:endParaRPr/>
                    </a:p>
                    <a:p>
                      <a:pPr indent="0" lvl="0" marL="0" marR="0" rtl="0" algn="l">
                        <a:spcBef>
                          <a:spcPts val="0"/>
                        </a:spcBef>
                        <a:spcAft>
                          <a:spcPts val="0"/>
                        </a:spcAft>
                        <a:buNone/>
                      </a:pPr>
                      <a:r>
                        <a:t/>
                      </a:r>
                      <a:endParaRPr sz="1100">
                        <a:solidFill>
                          <a:schemeClr val="dk1"/>
                        </a:solidFill>
                        <a:latin typeface="Twentieth Century"/>
                        <a:ea typeface="Twentieth Century"/>
                        <a:cs typeface="Twentieth Century"/>
                        <a:sym typeface="Twentieth Century"/>
                      </a:endParaRPr>
                    </a:p>
                    <a:p>
                      <a:pPr indent="0" lvl="0" marL="0" marR="0" rtl="0" algn="l">
                        <a:spcBef>
                          <a:spcPts val="0"/>
                        </a:spcBef>
                        <a:spcAft>
                          <a:spcPts val="0"/>
                        </a:spcAft>
                        <a:buNone/>
                      </a:pPr>
                      <a:r>
                        <a:rPr lang="tr-TR" sz="1100"/>
                        <a:t>"Spotify for Papers" gibidir, beğendikçe yenilerini önerir.</a:t>
                      </a:r>
                      <a:endParaRPr sz="1100">
                        <a:solidFill>
                          <a:schemeClr val="dk1"/>
                        </a:solidFill>
                        <a:latin typeface="Twentieth Century"/>
                        <a:ea typeface="Twentieth Century"/>
                        <a:cs typeface="Twentieth Century"/>
                        <a:sym typeface="Twentieth Century"/>
                      </a:endParaRPr>
                    </a:p>
                  </a:txBody>
                  <a:tcPr marT="8050" marB="8050" marR="16100" marL="16100" anchor="ctr"/>
                </a:tc>
              </a:tr>
              <a:tr h="639825">
                <a:tc>
                  <a:txBody>
                    <a:bodyPr/>
                    <a:lstStyle/>
                    <a:p>
                      <a:pPr indent="0" lvl="0" marL="0" marR="0" rtl="0" algn="l">
                        <a:spcBef>
                          <a:spcPts val="0"/>
                        </a:spcBef>
                        <a:spcAft>
                          <a:spcPts val="0"/>
                        </a:spcAft>
                        <a:buNone/>
                      </a:pPr>
                      <a:r>
                        <a:rPr b="1" lang="tr-TR" sz="1100">
                          <a:solidFill>
                            <a:schemeClr val="dk1"/>
                          </a:solidFill>
                          <a:latin typeface="Twentieth Century"/>
                          <a:ea typeface="Twentieth Century"/>
                          <a:cs typeface="Twentieth Century"/>
                          <a:sym typeface="Twentieth Century"/>
                        </a:rPr>
                        <a:t>ExplainPaper</a:t>
                      </a:r>
                      <a:endParaRPr b="1" sz="1100">
                        <a:solidFill>
                          <a:schemeClr val="dk1"/>
                        </a:solidFill>
                        <a:latin typeface="Twentieth Century"/>
                        <a:ea typeface="Twentieth Century"/>
                        <a:cs typeface="Twentieth Century"/>
                        <a:sym typeface="Twentieth Century"/>
                      </a:endParaRPr>
                    </a:p>
                  </a:txBody>
                  <a:tcPr marT="8050" marB="8050" marR="16100" marL="16100" anchor="ctr"/>
                </a:tc>
                <a:tc>
                  <a:txBody>
                    <a:bodyPr/>
                    <a:lstStyle/>
                    <a:p>
                      <a:pPr indent="0" lvl="0" marL="0" marR="0" rtl="0" algn="l">
                        <a:spcBef>
                          <a:spcPts val="0"/>
                        </a:spcBef>
                        <a:spcAft>
                          <a:spcPts val="0"/>
                        </a:spcAft>
                        <a:buNone/>
                      </a:pPr>
                      <a:r>
                        <a:rPr lang="tr-TR" sz="1100" u="sng">
                          <a:solidFill>
                            <a:schemeClr val="dk1"/>
                          </a:solidFill>
                          <a:latin typeface="Twentieth Century"/>
                          <a:ea typeface="Twentieth Century"/>
                          <a:cs typeface="Twentieth Century"/>
                          <a:sym typeface="Twentieth Century"/>
                          <a:hlinkClick r:id="rId4">
                            <a:extLst>
                              <a:ext uri="{A12FA001-AC4F-418D-AE19-62706E023703}">
                                <ahyp:hlinkClr val="tx"/>
                              </a:ext>
                            </a:extLst>
                          </a:hlinkClick>
                        </a:rPr>
                        <a:t>https://explainpaper.com</a:t>
                      </a:r>
                      <a:endParaRPr sz="1100">
                        <a:solidFill>
                          <a:schemeClr val="dk1"/>
                        </a:solidFill>
                        <a:latin typeface="Twentieth Century"/>
                        <a:ea typeface="Twentieth Century"/>
                        <a:cs typeface="Twentieth Century"/>
                        <a:sym typeface="Twentieth Century"/>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Ücretsiz</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PDF sadeleştirme</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Zor yöntemleri anlamak</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“Transformer tabanlı öneri sistemini sade anlat.”</a:t>
                      </a:r>
                      <a:endParaRPr/>
                    </a:p>
                  </a:txBody>
                  <a:tcPr marT="8050" marB="8050" marR="16100" marL="16100" anchor="ctr"/>
                </a:tc>
              </a:tr>
              <a:tr h="639825">
                <a:tc>
                  <a:txBody>
                    <a:bodyPr/>
                    <a:lstStyle/>
                    <a:p>
                      <a:pPr indent="0" lvl="0" marL="0" marR="0" rtl="0" algn="l">
                        <a:spcBef>
                          <a:spcPts val="0"/>
                        </a:spcBef>
                        <a:spcAft>
                          <a:spcPts val="0"/>
                        </a:spcAft>
                        <a:buNone/>
                      </a:pPr>
                      <a:r>
                        <a:rPr b="1" lang="tr-TR" sz="1100">
                          <a:solidFill>
                            <a:schemeClr val="dk1"/>
                          </a:solidFill>
                          <a:latin typeface="Twentieth Century"/>
                          <a:ea typeface="Twentieth Century"/>
                          <a:cs typeface="Twentieth Century"/>
                          <a:sym typeface="Twentieth Century"/>
                        </a:rPr>
                        <a:t>Perplexity AI</a:t>
                      </a:r>
                      <a:endParaRPr/>
                    </a:p>
                  </a:txBody>
                  <a:tcPr marT="8050" marB="8050" marR="16100" marL="16100" anchor="ctr"/>
                </a:tc>
                <a:tc>
                  <a:txBody>
                    <a:bodyPr/>
                    <a:lstStyle/>
                    <a:p>
                      <a:pPr indent="0" lvl="0" marL="0" marR="0" rtl="0" algn="l">
                        <a:spcBef>
                          <a:spcPts val="0"/>
                        </a:spcBef>
                        <a:spcAft>
                          <a:spcPts val="0"/>
                        </a:spcAft>
                        <a:buNone/>
                      </a:pPr>
                      <a:r>
                        <a:rPr lang="tr-TR" sz="1100" u="sng">
                          <a:solidFill>
                            <a:schemeClr val="dk1"/>
                          </a:solidFill>
                          <a:latin typeface="Twentieth Century"/>
                          <a:ea typeface="Twentieth Century"/>
                          <a:cs typeface="Twentieth Century"/>
                          <a:sym typeface="Twentieth Century"/>
                          <a:hlinkClick r:id="rId5">
                            <a:extLst>
                              <a:ext uri="{A12FA001-AC4F-418D-AE19-62706E023703}">
                                <ahyp:hlinkClr val="tx"/>
                              </a:ext>
                            </a:extLst>
                          </a:hlinkClick>
                        </a:rPr>
                        <a:t>https://perplexity.ai</a:t>
                      </a:r>
                      <a:endParaRPr sz="1100">
                        <a:solidFill>
                          <a:schemeClr val="dk1"/>
                        </a:solidFill>
                        <a:latin typeface="Twentieth Century"/>
                        <a:ea typeface="Twentieth Century"/>
                        <a:cs typeface="Twentieth Century"/>
                        <a:sym typeface="Twentieth Century"/>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Free + Pro</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Kaynak göstererek cevap üretir</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Akademik doğrulama</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“Citation-backed: temporal ML trendleri özetle.”</a:t>
                      </a:r>
                      <a:endParaRPr/>
                    </a:p>
                  </a:txBody>
                  <a:tcPr marT="8050" marB="8050" marR="16100" marL="16100" anchor="ctr"/>
                </a:tc>
              </a:tr>
              <a:tr h="639825">
                <a:tc>
                  <a:txBody>
                    <a:bodyPr/>
                    <a:lstStyle/>
                    <a:p>
                      <a:pPr indent="0" lvl="0" marL="0" marR="0" rtl="0" algn="l">
                        <a:spcBef>
                          <a:spcPts val="0"/>
                        </a:spcBef>
                        <a:spcAft>
                          <a:spcPts val="0"/>
                        </a:spcAft>
                        <a:buNone/>
                      </a:pPr>
                      <a:r>
                        <a:rPr b="1" lang="tr-TR" sz="1100">
                          <a:solidFill>
                            <a:schemeClr val="dk1"/>
                          </a:solidFill>
                          <a:latin typeface="Twentieth Century"/>
                          <a:ea typeface="Twentieth Century"/>
                          <a:cs typeface="Twentieth Century"/>
                          <a:sym typeface="Twentieth Century"/>
                        </a:rPr>
                        <a:t>ScholarAI (Chrome ext.)</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Chrome Web Store</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Ücretsiz</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Web üzerinden hızlı özet</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Hızlı arama &amp; tarama</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“Bu sayfadaki makalenin özetini çıkar.”</a:t>
                      </a:r>
                      <a:endParaRPr/>
                    </a:p>
                  </a:txBody>
                  <a:tcPr marT="8050" marB="8050" marR="16100" marL="16100" anchor="ctr"/>
                </a:tc>
              </a:tr>
              <a:tr h="639825">
                <a:tc>
                  <a:txBody>
                    <a:bodyPr/>
                    <a:lstStyle/>
                    <a:p>
                      <a:pPr indent="0" lvl="0" marL="0" marR="0" rtl="0" algn="l">
                        <a:spcBef>
                          <a:spcPts val="0"/>
                        </a:spcBef>
                        <a:spcAft>
                          <a:spcPts val="0"/>
                        </a:spcAft>
                        <a:buNone/>
                      </a:pPr>
                      <a:r>
                        <a:rPr b="1" lang="tr-TR" sz="1100">
                          <a:solidFill>
                            <a:schemeClr val="dk1"/>
                          </a:solidFill>
                          <a:latin typeface="Twentieth Century"/>
                          <a:ea typeface="Twentieth Century"/>
                          <a:cs typeface="Twentieth Century"/>
                          <a:sym typeface="Twentieth Century"/>
                        </a:rPr>
                        <a:t>ArXiv Sanity</a:t>
                      </a:r>
                      <a:endParaRPr b="1" sz="1100">
                        <a:solidFill>
                          <a:schemeClr val="dk1"/>
                        </a:solidFill>
                        <a:latin typeface="Twentieth Century"/>
                        <a:ea typeface="Twentieth Century"/>
                        <a:cs typeface="Twentieth Century"/>
                        <a:sym typeface="Twentieth Century"/>
                      </a:endParaRPr>
                    </a:p>
                  </a:txBody>
                  <a:tcPr marT="8050" marB="8050" marR="16100" marL="16100" anchor="ctr"/>
                </a:tc>
                <a:tc>
                  <a:txBody>
                    <a:bodyPr/>
                    <a:lstStyle/>
                    <a:p>
                      <a:pPr indent="0" lvl="0" marL="0" marR="0" rtl="0" algn="l">
                        <a:spcBef>
                          <a:spcPts val="0"/>
                        </a:spcBef>
                        <a:spcAft>
                          <a:spcPts val="0"/>
                        </a:spcAft>
                        <a:buNone/>
                      </a:pPr>
                      <a:r>
                        <a:rPr lang="tr-TR" sz="1100" u="sng">
                          <a:solidFill>
                            <a:schemeClr val="dk1"/>
                          </a:solidFill>
                          <a:latin typeface="Twentieth Century"/>
                          <a:ea typeface="Twentieth Century"/>
                          <a:cs typeface="Twentieth Century"/>
                          <a:sym typeface="Twentieth Century"/>
                          <a:hlinkClick r:id="rId6">
                            <a:extLst>
                              <a:ext uri="{A12FA001-AC4F-418D-AE19-62706E023703}">
                                <ahyp:hlinkClr val="tx"/>
                              </a:ext>
                            </a:extLst>
                          </a:hlinkClick>
                        </a:rPr>
                        <a:t>https://arxiv-sanity.com</a:t>
                      </a:r>
                      <a:endParaRPr sz="1100">
                        <a:solidFill>
                          <a:schemeClr val="dk1"/>
                        </a:solidFill>
                        <a:latin typeface="Twentieth Century"/>
                        <a:ea typeface="Twentieth Century"/>
                        <a:cs typeface="Twentieth Century"/>
                        <a:sym typeface="Twentieth Century"/>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Ücretsiz</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Preprint tarama</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En güncel ML araştırmaları</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“Son 1 ayda öneri sistemleri üzerine çıkan makaleleri sırala.”</a:t>
                      </a:r>
                      <a:endParaRPr/>
                    </a:p>
                  </a:txBody>
                  <a:tcPr marT="8050" marB="8050" marR="16100" marL="16100" anchor="ctr"/>
                </a:tc>
              </a:tr>
              <a:tr h="510675">
                <a:tc>
                  <a:txBody>
                    <a:bodyPr/>
                    <a:lstStyle/>
                    <a:p>
                      <a:pPr indent="0" lvl="0" marL="0" marR="0" rtl="0" algn="l">
                        <a:spcBef>
                          <a:spcPts val="0"/>
                        </a:spcBef>
                        <a:spcAft>
                          <a:spcPts val="0"/>
                        </a:spcAft>
                        <a:buNone/>
                      </a:pPr>
                      <a:r>
                        <a:rPr b="1" lang="tr-TR" sz="1100">
                          <a:solidFill>
                            <a:schemeClr val="dk1"/>
                          </a:solidFill>
                          <a:latin typeface="Twentieth Century"/>
                          <a:ea typeface="Twentieth Century"/>
                          <a:cs typeface="Twentieth Century"/>
                          <a:sym typeface="Twentieth Century"/>
                        </a:rPr>
                        <a:t>Zotero + GPT Plugin</a:t>
                      </a:r>
                      <a:endParaRPr b="1" sz="1100">
                        <a:solidFill>
                          <a:schemeClr val="dk1"/>
                        </a:solidFill>
                        <a:latin typeface="Twentieth Century"/>
                        <a:ea typeface="Twentieth Century"/>
                        <a:cs typeface="Twentieth Century"/>
                        <a:sym typeface="Twentieth Century"/>
                      </a:endParaRPr>
                    </a:p>
                  </a:txBody>
                  <a:tcPr marT="8050" marB="8050" marR="16100" marL="16100" anchor="ctr"/>
                </a:tc>
                <a:tc>
                  <a:txBody>
                    <a:bodyPr/>
                    <a:lstStyle/>
                    <a:p>
                      <a:pPr indent="0" lvl="0" marL="0" marR="0" rtl="0" algn="l">
                        <a:spcBef>
                          <a:spcPts val="0"/>
                        </a:spcBef>
                        <a:spcAft>
                          <a:spcPts val="0"/>
                        </a:spcAft>
                        <a:buNone/>
                      </a:pPr>
                      <a:r>
                        <a:rPr lang="tr-TR" sz="1100" u="sng">
                          <a:solidFill>
                            <a:schemeClr val="dk1"/>
                          </a:solidFill>
                          <a:latin typeface="Twentieth Century"/>
                          <a:ea typeface="Twentieth Century"/>
                          <a:cs typeface="Twentieth Century"/>
                          <a:sym typeface="Twentieth Century"/>
                          <a:hlinkClick r:id="rId7">
                            <a:extLst>
                              <a:ext uri="{A12FA001-AC4F-418D-AE19-62706E023703}">
                                <ahyp:hlinkClr val="tx"/>
                              </a:ext>
                            </a:extLst>
                          </a:hlinkClick>
                        </a:rPr>
                        <a:t>https://zotero.org</a:t>
                      </a:r>
                      <a:endParaRPr sz="1100">
                        <a:solidFill>
                          <a:schemeClr val="dk1"/>
                        </a:solidFill>
                        <a:latin typeface="Twentieth Century"/>
                        <a:ea typeface="Twentieth Century"/>
                        <a:cs typeface="Twentieth Century"/>
                        <a:sym typeface="Twentieth Century"/>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Ücretsiz</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Kaynakça yönetimi</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Referans düzenleme</a:t>
                      </a:r>
                      <a:endParaRPr/>
                    </a:p>
                  </a:txBody>
                  <a:tcPr marT="8050" marB="8050" marR="16100" marL="16100" anchor="ctr"/>
                </a:tc>
                <a:tc>
                  <a:txBody>
                    <a:bodyPr/>
                    <a:lstStyle/>
                    <a:p>
                      <a:pPr indent="0" lvl="0" marL="0" marR="0" rtl="0" algn="l">
                        <a:spcBef>
                          <a:spcPts val="0"/>
                        </a:spcBef>
                        <a:spcAft>
                          <a:spcPts val="0"/>
                        </a:spcAft>
                        <a:buNone/>
                      </a:pPr>
                      <a:r>
                        <a:rPr lang="tr-TR" sz="1100">
                          <a:solidFill>
                            <a:schemeClr val="dk1"/>
                          </a:solidFill>
                          <a:latin typeface="Twentieth Century"/>
                          <a:ea typeface="Twentieth Century"/>
                          <a:cs typeface="Twentieth Century"/>
                          <a:sym typeface="Twentieth Century"/>
                        </a:rPr>
                        <a:t>“Bu 40 makaleyi APA 7 formatında toparla.”</a:t>
                      </a:r>
                      <a:endParaRPr/>
                    </a:p>
                  </a:txBody>
                  <a:tcPr marT="8050" marB="8050" marR="16100" marL="16100" anchor="ctr"/>
                </a:tc>
              </a:tr>
            </a:tbl>
          </a:graphicData>
        </a:graphic>
      </p:graphicFrame>
      <p:sp>
        <p:nvSpPr>
          <p:cNvPr id="201" name="Google Shape;201;p17"/>
          <p:cNvSpPr txBox="1"/>
          <p:nvPr>
            <p:ph type="title"/>
          </p:nvPr>
        </p:nvSpPr>
        <p:spPr>
          <a:xfrm>
            <a:off x="768096" y="166927"/>
            <a:ext cx="7977070"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BİLİMSEL YAYIN İÇİN AI ARAÇLARI</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graphicFrame>
        <p:nvGraphicFramePr>
          <p:cNvPr id="207" name="Google Shape;207;p18"/>
          <p:cNvGraphicFramePr/>
          <p:nvPr/>
        </p:nvGraphicFramePr>
        <p:xfrm>
          <a:off x="526835" y="624961"/>
          <a:ext cx="3000000" cy="3000000"/>
        </p:xfrm>
        <a:graphic>
          <a:graphicData uri="http://schemas.openxmlformats.org/drawingml/2006/table">
            <a:tbl>
              <a:tblPr>
                <a:noFill/>
                <a:tableStyleId>{2FC14CAD-4C46-426C-AFF0-AB8EBF065BA4}</a:tableStyleId>
              </a:tblPr>
              <a:tblGrid>
                <a:gridCol w="3964450"/>
                <a:gridCol w="4292250"/>
              </a:tblGrid>
              <a:tr h="405175">
                <a:tc>
                  <a:txBody>
                    <a:bodyPr/>
                    <a:lstStyle/>
                    <a:p>
                      <a:pPr indent="0" lvl="0" marL="0" marR="0" rtl="0" algn="l">
                        <a:spcBef>
                          <a:spcPts val="0"/>
                        </a:spcBef>
                        <a:spcAft>
                          <a:spcPts val="0"/>
                        </a:spcAft>
                        <a:buNone/>
                      </a:pPr>
                      <a:r>
                        <a:rPr b="1" lang="tr-TR" sz="1600"/>
                        <a:t>Kategori</a:t>
                      </a:r>
                      <a:endParaRPr/>
                    </a:p>
                  </a:txBody>
                  <a:tcPr marT="45725" marB="45725" marR="91450" marL="91450" anchor="ctr"/>
                </a:tc>
                <a:tc>
                  <a:txBody>
                    <a:bodyPr/>
                    <a:lstStyle/>
                    <a:p>
                      <a:pPr indent="0" lvl="0" marL="0" marR="0" rtl="0" algn="l">
                        <a:spcBef>
                          <a:spcPts val="0"/>
                        </a:spcBef>
                        <a:spcAft>
                          <a:spcPts val="0"/>
                        </a:spcAft>
                        <a:buNone/>
                      </a:pPr>
                      <a:r>
                        <a:rPr b="1" lang="tr-TR" sz="1600"/>
                        <a:t>Araçlar</a:t>
                      </a:r>
                      <a:endParaRPr/>
                    </a:p>
                  </a:txBody>
                  <a:tcPr marT="45725" marB="45725" marR="91450" marL="91450" anchor="ctr"/>
                </a:tc>
              </a:tr>
              <a:tr h="1704275">
                <a:tc>
                  <a:txBody>
                    <a:bodyPr/>
                    <a:lstStyle/>
                    <a:p>
                      <a:pPr indent="0" lvl="0" marL="0" marR="0" rtl="0" algn="l">
                        <a:spcBef>
                          <a:spcPts val="0"/>
                        </a:spcBef>
                        <a:spcAft>
                          <a:spcPts val="0"/>
                        </a:spcAft>
                        <a:buNone/>
                      </a:pPr>
                      <a:r>
                        <a:rPr b="1" lang="tr-TR" sz="1600"/>
                        <a:t>🔍 Keşif &amp; Arama</a:t>
                      </a:r>
                      <a:endParaRPr/>
                    </a:p>
                  </a:txBody>
                  <a:tcPr marT="45725" marB="45725" marR="91450" marL="91450" anchor="ctr"/>
                </a:tc>
                <a:tc>
                  <a:txBody>
                    <a:bodyPr/>
                    <a:lstStyle/>
                    <a:p>
                      <a:pPr indent="0" lvl="0" marL="0" marR="0" rtl="0" algn="l">
                        <a:spcBef>
                          <a:spcPts val="0"/>
                        </a:spcBef>
                        <a:spcAft>
                          <a:spcPts val="0"/>
                        </a:spcAft>
                        <a:buNone/>
                      </a:pPr>
                      <a:r>
                        <a:rPr b="1" lang="tr-TR" sz="1600"/>
                        <a:t>Elicit, Semantic Scholar AI, Perplexity AI, ScholarAI, ArXiv Sanity, Scopus*, Web of Science* manuel tarama),</a:t>
                      </a:r>
                      <a:endParaRPr/>
                    </a:p>
                    <a:p>
                      <a:pPr indent="0" lvl="0" marL="0" marR="0" rtl="0" algn="l">
                        <a:lnSpc>
                          <a:spcPct val="100000"/>
                        </a:lnSpc>
                        <a:spcBef>
                          <a:spcPts val="0"/>
                        </a:spcBef>
                        <a:spcAft>
                          <a:spcPts val="0"/>
                        </a:spcAft>
                        <a:buClr>
                          <a:schemeClr val="dk1"/>
                        </a:buClr>
                        <a:buSzPts val="1600"/>
                        <a:buFont typeface="Twentieth Century"/>
                        <a:buNone/>
                      </a:pPr>
                      <a:r>
                        <a:rPr b="1" lang="tr-TR" sz="1600"/>
                        <a:t>Litmaps,</a:t>
                      </a:r>
                      <a:r>
                        <a:rPr b="1" lang="tr-TR" sz="1600" u="sng">
                          <a:solidFill>
                            <a:schemeClr val="hlink"/>
                          </a:solidFill>
                          <a:hlinkClick r:id="rId3"/>
                        </a:rPr>
                        <a:t>Consensus</a:t>
                      </a:r>
                      <a:r>
                        <a:rPr lang="tr-TR" sz="1600"/>
                        <a:t>,</a:t>
                      </a:r>
                      <a:endParaRPr/>
                    </a:p>
                    <a:p>
                      <a:pPr indent="0" lvl="0" marL="0" marR="0" rtl="0" algn="l">
                        <a:lnSpc>
                          <a:spcPct val="100000"/>
                        </a:lnSpc>
                        <a:spcBef>
                          <a:spcPts val="0"/>
                        </a:spcBef>
                        <a:spcAft>
                          <a:spcPts val="0"/>
                        </a:spcAft>
                        <a:buClr>
                          <a:schemeClr val="dk1"/>
                        </a:buClr>
                        <a:buSzPts val="1600"/>
                        <a:buFont typeface="Twentieth Century"/>
                        <a:buNone/>
                      </a:pPr>
                      <a:r>
                        <a:rPr b="1" lang="tr-TR" sz="1600"/>
                        <a:t>Consensus GPT: Consensus AI</a:t>
                      </a:r>
                      <a:r>
                        <a:rPr lang="tr-TR" sz="1600"/>
                        <a:t>’ın ,veritabanını kullanan ve onun bilimsel arama motorunu sohbet biçiminde sunan yapay zekâ asistanıdır.</a:t>
                      </a:r>
                      <a:endParaRPr b="1" sz="1600"/>
                    </a:p>
                  </a:txBody>
                  <a:tcPr marT="45725" marB="45725" marR="91450" marL="91450" anchor="ctr"/>
                </a:tc>
              </a:tr>
              <a:tr h="709075">
                <a:tc>
                  <a:txBody>
                    <a:bodyPr/>
                    <a:lstStyle/>
                    <a:p>
                      <a:pPr indent="0" lvl="0" marL="0" marR="0" rtl="0" algn="l">
                        <a:spcBef>
                          <a:spcPts val="0"/>
                        </a:spcBef>
                        <a:spcAft>
                          <a:spcPts val="0"/>
                        </a:spcAft>
                        <a:buNone/>
                      </a:pPr>
                      <a:r>
                        <a:rPr b="1" lang="tr-TR" sz="1600"/>
                        <a:t>🔗  İlişki Analizi &amp; Literatür Haritalama</a:t>
                      </a:r>
                      <a:endParaRPr/>
                    </a:p>
                  </a:txBody>
                  <a:tcPr marT="45725" marB="45725" marR="91450" marL="91450" anchor="ctr"/>
                </a:tc>
                <a:tc>
                  <a:txBody>
                    <a:bodyPr/>
                    <a:lstStyle/>
                    <a:p>
                      <a:pPr indent="0" lvl="0" marL="0" marR="0" rtl="0" algn="l">
                        <a:spcBef>
                          <a:spcPts val="0"/>
                        </a:spcBef>
                        <a:spcAft>
                          <a:spcPts val="0"/>
                        </a:spcAft>
                        <a:buNone/>
                      </a:pPr>
                      <a:r>
                        <a:rPr b="1" lang="tr-TR" sz="1600"/>
                        <a:t>Connected Papers, ResearchRabbit</a:t>
                      </a:r>
                      <a:endParaRPr b="1" sz="1600"/>
                    </a:p>
                  </a:txBody>
                  <a:tcPr marT="45725" marB="45725" marR="91450" marL="91450" anchor="ctr"/>
                </a:tc>
              </a:tr>
              <a:tr h="405175">
                <a:tc>
                  <a:txBody>
                    <a:bodyPr/>
                    <a:lstStyle/>
                    <a:p>
                      <a:pPr indent="0" lvl="0" marL="0" marR="0" rtl="0" algn="l">
                        <a:spcBef>
                          <a:spcPts val="0"/>
                        </a:spcBef>
                        <a:spcAft>
                          <a:spcPts val="0"/>
                        </a:spcAft>
                        <a:buNone/>
                      </a:pPr>
                      <a:r>
                        <a:rPr b="1" lang="tr-TR" sz="1600"/>
                        <a:t>📄 Makale Anlama &amp; Özetleme</a:t>
                      </a:r>
                      <a:endParaRPr/>
                    </a:p>
                  </a:txBody>
                  <a:tcPr marT="45725" marB="45725" marR="91450" marL="91450" anchor="ctr"/>
                </a:tc>
                <a:tc>
                  <a:txBody>
                    <a:bodyPr/>
                    <a:lstStyle/>
                    <a:p>
                      <a:pPr indent="0" lvl="0" marL="0" marR="0" rtl="0" algn="l">
                        <a:spcBef>
                          <a:spcPts val="0"/>
                        </a:spcBef>
                        <a:spcAft>
                          <a:spcPts val="0"/>
                        </a:spcAft>
                        <a:buNone/>
                      </a:pPr>
                      <a:r>
                        <a:rPr b="1" lang="tr-TR" sz="1600"/>
                        <a:t>Scispace, ExplainPaper, </a:t>
                      </a:r>
                      <a:endParaRPr b="1" sz="1600"/>
                    </a:p>
                  </a:txBody>
                  <a:tcPr marT="45725" marB="45725" marR="91450" marL="91450" anchor="ctr"/>
                </a:tc>
              </a:tr>
              <a:tr h="405175">
                <a:tc>
                  <a:txBody>
                    <a:bodyPr/>
                    <a:lstStyle/>
                    <a:p>
                      <a:pPr indent="0" lvl="0" marL="0" marR="0" rtl="0" algn="l">
                        <a:spcBef>
                          <a:spcPts val="0"/>
                        </a:spcBef>
                        <a:spcAft>
                          <a:spcPts val="0"/>
                        </a:spcAft>
                        <a:buNone/>
                      </a:pPr>
                      <a:r>
                        <a:rPr b="1" lang="tr-TR" sz="1600"/>
                        <a:t>✍️ Akademik Yazım &amp; Metin Üretimi</a:t>
                      </a:r>
                      <a:endParaRPr/>
                    </a:p>
                  </a:txBody>
                  <a:tcPr marT="45725" marB="45725" marR="91450" marL="91450" anchor="ctr"/>
                </a:tc>
                <a:tc>
                  <a:txBody>
                    <a:bodyPr/>
                    <a:lstStyle/>
                    <a:p>
                      <a:pPr indent="0" lvl="0" marL="0" marR="0" rtl="0" algn="l">
                        <a:spcBef>
                          <a:spcPts val="0"/>
                        </a:spcBef>
                        <a:spcAft>
                          <a:spcPts val="0"/>
                        </a:spcAft>
                        <a:buNone/>
                      </a:pPr>
                      <a:r>
                        <a:rPr b="1" lang="tr-TR" sz="1600"/>
                        <a:t>ChatGPT , Scispace, Jenni AI: Cümleyi başlarsınız, o akademik dille tamamlar ve </a:t>
                      </a:r>
                      <a:r>
                        <a:rPr b="1" i="1" lang="tr-TR" sz="1600"/>
                        <a:t>gerçek atıflar</a:t>
                      </a:r>
                      <a:r>
                        <a:rPr b="1" lang="tr-TR" sz="1600"/>
                        <a:t> ekler.</a:t>
                      </a:r>
                      <a:endParaRPr b="1" sz="1600"/>
                    </a:p>
                  </a:txBody>
                  <a:tcPr marT="45725" marB="45725" marR="91450" marL="91450" anchor="ctr"/>
                </a:tc>
              </a:tr>
              <a:tr h="405175">
                <a:tc>
                  <a:txBody>
                    <a:bodyPr/>
                    <a:lstStyle/>
                    <a:p>
                      <a:pPr indent="0" lvl="0" marL="0" marR="0" rtl="0" algn="l">
                        <a:spcBef>
                          <a:spcPts val="0"/>
                        </a:spcBef>
                        <a:spcAft>
                          <a:spcPts val="0"/>
                        </a:spcAft>
                        <a:buNone/>
                      </a:pPr>
                      <a:r>
                        <a:rPr b="1" lang="tr-TR" sz="1600"/>
                        <a:t>📚 Atıf &amp; Kaynak Yönetimi</a:t>
                      </a:r>
                      <a:endParaRPr/>
                    </a:p>
                  </a:txBody>
                  <a:tcPr marT="45725" marB="45725" marR="91450" marL="91450" anchor="ctr"/>
                </a:tc>
                <a:tc>
                  <a:txBody>
                    <a:bodyPr/>
                    <a:lstStyle/>
                    <a:p>
                      <a:pPr indent="0" lvl="0" marL="0" marR="0" rtl="0" algn="l">
                        <a:spcBef>
                          <a:spcPts val="0"/>
                        </a:spcBef>
                        <a:spcAft>
                          <a:spcPts val="0"/>
                        </a:spcAft>
                        <a:buNone/>
                      </a:pPr>
                      <a:r>
                        <a:rPr b="1" lang="tr-TR" sz="1600"/>
                        <a:t>EndNote, Zotero + GPT</a:t>
                      </a:r>
                      <a:endParaRPr b="1" sz="1600"/>
                    </a:p>
                  </a:txBody>
                  <a:tcPr marT="45725" marB="45725" marR="91450" marL="91450" anchor="ctr"/>
                </a:tc>
              </a:tr>
              <a:tr h="709075">
                <a:tc>
                  <a:txBody>
                    <a:bodyPr/>
                    <a:lstStyle/>
                    <a:p>
                      <a:pPr indent="0" lvl="0" marL="0" marR="0" rtl="0" algn="l">
                        <a:spcBef>
                          <a:spcPts val="0"/>
                        </a:spcBef>
                        <a:spcAft>
                          <a:spcPts val="0"/>
                        </a:spcAft>
                        <a:buNone/>
                      </a:pPr>
                      <a:r>
                        <a:rPr b="1" lang="tr-TR" sz="1600"/>
                        <a:t>💡 Hipotez / Araştırma Sorusu Geliştirme</a:t>
                      </a:r>
                      <a:endParaRPr/>
                    </a:p>
                  </a:txBody>
                  <a:tcPr marT="45725" marB="45725" marR="91450" marL="91450" anchor="ctr"/>
                </a:tc>
                <a:tc>
                  <a:txBody>
                    <a:bodyPr/>
                    <a:lstStyle/>
                    <a:p>
                      <a:pPr indent="0" lvl="0" marL="0" marR="0" rtl="0" algn="l">
                        <a:spcBef>
                          <a:spcPts val="0"/>
                        </a:spcBef>
                        <a:spcAft>
                          <a:spcPts val="0"/>
                        </a:spcAft>
                        <a:buNone/>
                      </a:pPr>
                      <a:r>
                        <a:rPr b="1" lang="tr-TR" sz="1600"/>
                        <a:t>ChatGPT, Elicit</a:t>
                      </a:r>
                      <a:endParaRPr b="1" sz="1600"/>
                    </a:p>
                  </a:txBody>
                  <a:tcPr marT="45725" marB="45725" marR="91450" marL="91450" anchor="ctr"/>
                </a:tc>
              </a:tr>
              <a:tr h="405175">
                <a:tc>
                  <a:txBody>
                    <a:bodyPr/>
                    <a:lstStyle/>
                    <a:p>
                      <a:pPr indent="0" lvl="0" marL="0" marR="0" rtl="0" algn="l">
                        <a:spcBef>
                          <a:spcPts val="0"/>
                        </a:spcBef>
                        <a:spcAft>
                          <a:spcPts val="0"/>
                        </a:spcAft>
                        <a:buNone/>
                      </a:pPr>
                      <a:r>
                        <a:rPr lang="tr-TR" sz="1600"/>
                        <a:t>🔍 </a:t>
                      </a:r>
                      <a:r>
                        <a:rPr b="1" lang="tr-TR" sz="1600"/>
                        <a:t>İntihal &amp; Benzerlik Analizi</a:t>
                      </a:r>
                      <a:endParaRPr sz="1600"/>
                    </a:p>
                  </a:txBody>
                  <a:tcPr marT="45725" marB="45725" marR="91450" marL="91450" anchor="ctr"/>
                </a:tc>
                <a:tc>
                  <a:txBody>
                    <a:bodyPr/>
                    <a:lstStyle/>
                    <a:p>
                      <a:pPr indent="0" lvl="0" marL="0" marR="0" rtl="0" algn="l">
                        <a:spcBef>
                          <a:spcPts val="0"/>
                        </a:spcBef>
                        <a:spcAft>
                          <a:spcPts val="0"/>
                        </a:spcAft>
                        <a:buNone/>
                      </a:pPr>
                      <a:r>
                        <a:rPr b="1" lang="tr-TR" sz="1600"/>
                        <a:t>Turnitin, iThenticate (manuel kullanım), GPTZero</a:t>
                      </a:r>
                      <a:endParaRPr b="1" sz="1600"/>
                    </a:p>
                  </a:txBody>
                  <a:tcPr marT="45725" marB="45725" marR="91450" marL="91450"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9"/>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464132"/>
              </a:buClr>
              <a:buSzPct val="100000"/>
              <a:buFont typeface="Twentieth Century"/>
              <a:buNone/>
            </a:pPr>
            <a:r>
              <a:rPr lang="tr-TR"/>
              <a:t>Bildiri ve Makale Yapısının Temelleri (IMRaD Modeli)</a:t>
            </a:r>
            <a:endParaRPr/>
          </a:p>
        </p:txBody>
      </p:sp>
      <p:sp>
        <p:nvSpPr>
          <p:cNvPr id="213" name="Google Shape;213;p19"/>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b="1" lang="tr-TR"/>
              <a:t>Akademik Yayınların Evrensel Yapısı-IMRaD nedir?</a:t>
            </a:r>
            <a:endParaRPr/>
          </a:p>
          <a:p>
            <a:pPr indent="-127000" lvl="0" marL="91440" rtl="0" algn="l">
              <a:lnSpc>
                <a:spcPct val="90000"/>
              </a:lnSpc>
              <a:spcBef>
                <a:spcPts val="1400"/>
              </a:spcBef>
              <a:spcAft>
                <a:spcPts val="0"/>
              </a:spcAft>
              <a:buSzPts val="2000"/>
              <a:buChar char=" "/>
            </a:pPr>
            <a:r>
              <a:rPr lang="tr-TR"/>
              <a:t>IMRaD (</a:t>
            </a:r>
            <a:r>
              <a:rPr i="1" lang="tr-TR"/>
              <a:t>Introduction – Methods – Results – Discussion</a:t>
            </a:r>
            <a:r>
              <a:rPr lang="tr-TR"/>
              <a:t>) modeli, bilimsel makalelerde kullanılan </a:t>
            </a:r>
            <a:r>
              <a:rPr b="1" lang="tr-TR"/>
              <a:t>evrensel ve standart</a:t>
            </a:r>
            <a:r>
              <a:rPr lang="tr-TR"/>
              <a:t> yazım düzenidir.</a:t>
            </a:r>
            <a:br>
              <a:rPr lang="tr-TR"/>
            </a:br>
            <a:r>
              <a:rPr lang="tr-TR"/>
              <a:t>Bilimsel düşünme biçimini yansıtır ve okuyucunun çalışmayı sistematik olarak takip etmesini sağlar.</a:t>
            </a:r>
            <a:endParaRPr/>
          </a:p>
          <a:p>
            <a:pPr indent="-127000" lvl="0" marL="91440" rtl="0" algn="l">
              <a:lnSpc>
                <a:spcPct val="90000"/>
              </a:lnSpc>
              <a:spcBef>
                <a:spcPts val="1400"/>
              </a:spcBef>
              <a:spcAft>
                <a:spcPts val="0"/>
              </a:spcAft>
              <a:buSzPts val="2000"/>
              <a:buChar char=" "/>
            </a:pPr>
            <a:r>
              <a:rPr b="1" lang="tr-TR"/>
              <a:t>Neden IMRaD yapısı kullanılır?</a:t>
            </a:r>
            <a:endParaRPr b="1"/>
          </a:p>
          <a:p>
            <a:pPr indent="-127000" lvl="0" marL="91440" rtl="0" algn="l">
              <a:lnSpc>
                <a:spcPct val="90000"/>
              </a:lnSpc>
              <a:spcBef>
                <a:spcPts val="1400"/>
              </a:spcBef>
              <a:spcAft>
                <a:spcPts val="0"/>
              </a:spcAft>
              <a:buSzPts val="2000"/>
              <a:buFont typeface="Noto Sans Symbols"/>
              <a:buChar char="▪"/>
            </a:pPr>
            <a:r>
              <a:rPr lang="tr-TR"/>
              <a:t>Okuyucunun çalışmayı hızlı değerlendirmesini sağlar</a:t>
            </a:r>
            <a:endParaRPr/>
          </a:p>
          <a:p>
            <a:pPr indent="-127000" lvl="0" marL="91440" rtl="0" algn="l">
              <a:lnSpc>
                <a:spcPct val="90000"/>
              </a:lnSpc>
              <a:spcBef>
                <a:spcPts val="1400"/>
              </a:spcBef>
              <a:spcAft>
                <a:spcPts val="0"/>
              </a:spcAft>
              <a:buSzPts val="2000"/>
              <a:buFont typeface="Noto Sans Symbols"/>
              <a:buChar char="▪"/>
            </a:pPr>
            <a:r>
              <a:rPr lang="tr-TR"/>
              <a:t>Hakem sürecini kolaylaştırır</a:t>
            </a:r>
            <a:endParaRPr/>
          </a:p>
          <a:p>
            <a:pPr indent="-127000" lvl="0" marL="91440" rtl="0" algn="l">
              <a:lnSpc>
                <a:spcPct val="90000"/>
              </a:lnSpc>
              <a:spcBef>
                <a:spcPts val="1400"/>
              </a:spcBef>
              <a:spcAft>
                <a:spcPts val="0"/>
              </a:spcAft>
              <a:buSzPts val="2000"/>
              <a:buFont typeface="Noto Sans Symbols"/>
              <a:buChar char="▪"/>
            </a:pPr>
            <a:r>
              <a:rPr lang="tr-TR"/>
              <a:t>IEEE, Springer, Elsevier, ACM gibi yayınevleri tarafından standart kabul edilir.</a:t>
            </a:r>
            <a:endParaRPr/>
          </a:p>
          <a:p>
            <a:pPr indent="-127000" lvl="0" marL="91440" rtl="0" algn="l">
              <a:lnSpc>
                <a:spcPct val="90000"/>
              </a:lnSpc>
              <a:spcBef>
                <a:spcPts val="1400"/>
              </a:spcBef>
              <a:spcAft>
                <a:spcPts val="0"/>
              </a:spcAft>
              <a:buSzPts val="2000"/>
              <a:buFont typeface="Noto Sans Symbols"/>
              <a:buChar char="▪"/>
            </a:pPr>
            <a:r>
              <a:rPr lang="tr-TR"/>
              <a:t>Üniversite ve AR-GE merkezlerinde kalite kriteri olarak kullanılır</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0"/>
          <p:cNvSpPr txBox="1"/>
          <p:nvPr>
            <p:ph type="title"/>
          </p:nvPr>
        </p:nvSpPr>
        <p:spPr>
          <a:xfrm>
            <a:off x="505449" y="-95720"/>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b="1" lang="tr-TR"/>
              <a:t> Giriş- Introduction</a:t>
            </a:r>
            <a:endParaRPr/>
          </a:p>
        </p:txBody>
      </p:sp>
      <p:sp>
        <p:nvSpPr>
          <p:cNvPr id="219" name="Google Shape;219;p20"/>
          <p:cNvSpPr txBox="1"/>
          <p:nvPr>
            <p:ph idx="1" type="body"/>
          </p:nvPr>
        </p:nvSpPr>
        <p:spPr>
          <a:xfrm>
            <a:off x="369278" y="1230923"/>
            <a:ext cx="8370276" cy="5424854"/>
          </a:xfrm>
          <a:prstGeom prst="rect">
            <a:avLst/>
          </a:prstGeom>
          <a:noFill/>
          <a:ln>
            <a:noFill/>
          </a:ln>
        </p:spPr>
        <p:txBody>
          <a:bodyPr anchorCtr="0" anchor="t" bIns="45700" lIns="45700" spcFirstLastPara="1" rIns="45700" wrap="square" tIns="45700">
            <a:normAutofit fontScale="85000" lnSpcReduction="20000"/>
          </a:bodyPr>
          <a:lstStyle/>
          <a:p>
            <a:pPr indent="-107950" lvl="0" marL="91440" rtl="0" algn="l">
              <a:lnSpc>
                <a:spcPct val="90000"/>
              </a:lnSpc>
              <a:spcBef>
                <a:spcPts val="0"/>
              </a:spcBef>
              <a:spcAft>
                <a:spcPts val="0"/>
              </a:spcAft>
              <a:buSzPct val="100000"/>
              <a:buChar char=" "/>
            </a:pPr>
            <a:r>
              <a:rPr b="1" lang="tr-TR"/>
              <a:t> Introduction (Giriş) – Ne, Neden ve Hangi Boşluk?</a:t>
            </a:r>
            <a:endParaRPr/>
          </a:p>
          <a:p>
            <a:pPr indent="-107950" lvl="0" marL="91440" rtl="0" algn="l">
              <a:lnSpc>
                <a:spcPct val="90000"/>
              </a:lnSpc>
              <a:spcBef>
                <a:spcPts val="1400"/>
              </a:spcBef>
              <a:spcAft>
                <a:spcPts val="0"/>
              </a:spcAft>
              <a:buSzPct val="100000"/>
              <a:buChar char=" "/>
            </a:pPr>
            <a:r>
              <a:rPr b="1" lang="tr-TR"/>
              <a:t>Giriş Bölümünün Rolü: </a:t>
            </a:r>
            <a:r>
              <a:rPr lang="tr-TR"/>
              <a:t>Giriş, bir makalenin “hikâyesini” kurar.</a:t>
            </a:r>
            <a:br>
              <a:rPr lang="tr-TR"/>
            </a:br>
            <a:r>
              <a:rPr lang="tr-TR"/>
              <a:t>Şu sorulara net cevap vermelidir:</a:t>
            </a:r>
            <a:endParaRPr/>
          </a:p>
          <a:p>
            <a:pPr indent="-107950" lvl="0" marL="91440" rtl="0" algn="l">
              <a:lnSpc>
                <a:spcPct val="90000"/>
              </a:lnSpc>
              <a:spcBef>
                <a:spcPts val="1400"/>
              </a:spcBef>
              <a:spcAft>
                <a:spcPts val="0"/>
              </a:spcAft>
              <a:buSzPct val="100000"/>
              <a:buChar char=" "/>
            </a:pPr>
            <a:r>
              <a:rPr b="1" lang="tr-TR"/>
              <a:t>Çalışmanın konusu nedir?</a:t>
            </a:r>
            <a:br>
              <a:rPr lang="tr-TR"/>
            </a:br>
            <a:r>
              <a:rPr b="1" lang="tr-TR"/>
              <a:t>Bu konu neden önemlidir? (Sektörel veya akademik gereksinim)</a:t>
            </a:r>
            <a:br>
              <a:rPr lang="tr-TR"/>
            </a:br>
            <a:r>
              <a:rPr lang="tr-TR"/>
              <a:t>L</a:t>
            </a:r>
            <a:r>
              <a:rPr b="1" lang="tr-TR"/>
              <a:t>iteratürde şu ana kadar neler yapılmıştır?</a:t>
            </a:r>
            <a:br>
              <a:rPr lang="tr-TR"/>
            </a:br>
            <a:r>
              <a:rPr lang="tr-TR"/>
              <a:t>B</a:t>
            </a:r>
            <a:r>
              <a:rPr b="1" lang="tr-TR"/>
              <a:t>oşluk (gap) nedir?</a:t>
            </a:r>
            <a:br>
              <a:rPr lang="tr-TR"/>
            </a:br>
            <a:r>
              <a:rPr lang="tr-TR"/>
              <a:t>B</a:t>
            </a:r>
            <a:r>
              <a:rPr b="1" lang="tr-TR"/>
              <a:t>u çalışma hangi katkıyı sağlamaktadır?</a:t>
            </a:r>
            <a:endParaRPr/>
          </a:p>
          <a:p>
            <a:pPr indent="0" lvl="0" marL="91440" rtl="0" algn="l">
              <a:lnSpc>
                <a:spcPct val="90000"/>
              </a:lnSpc>
              <a:spcBef>
                <a:spcPts val="1400"/>
              </a:spcBef>
              <a:spcAft>
                <a:spcPts val="0"/>
              </a:spcAft>
              <a:buSzPct val="100000"/>
              <a:buNone/>
            </a:pPr>
            <a:r>
              <a:t/>
            </a:r>
            <a:endParaRPr b="1"/>
          </a:p>
          <a:p>
            <a:pPr indent="-107950" lvl="0" marL="91440" rtl="0" algn="l">
              <a:lnSpc>
                <a:spcPct val="90000"/>
              </a:lnSpc>
              <a:spcBef>
                <a:spcPts val="1400"/>
              </a:spcBef>
              <a:spcAft>
                <a:spcPts val="0"/>
              </a:spcAft>
              <a:buSzPct val="100000"/>
              <a:buChar char=" "/>
            </a:pPr>
            <a:r>
              <a:rPr b="1" lang="tr-TR"/>
              <a:t>Akademik Yazım İpuçları</a:t>
            </a:r>
            <a:endParaRPr/>
          </a:p>
          <a:p>
            <a:pPr indent="-107950" lvl="0" marL="91440" rtl="0" algn="l">
              <a:lnSpc>
                <a:spcPct val="90000"/>
              </a:lnSpc>
              <a:spcBef>
                <a:spcPts val="1400"/>
              </a:spcBef>
              <a:spcAft>
                <a:spcPts val="0"/>
              </a:spcAft>
              <a:buSzPct val="100000"/>
              <a:buChar char=" "/>
            </a:pPr>
            <a:r>
              <a:rPr lang="tr-TR"/>
              <a:t>En son 5 yıl içindeki kaynaklar mutlaka kullanılmalı</a:t>
            </a:r>
            <a:endParaRPr/>
          </a:p>
          <a:p>
            <a:pPr indent="-107950" lvl="0" marL="91440" rtl="0" algn="l">
              <a:lnSpc>
                <a:spcPct val="90000"/>
              </a:lnSpc>
              <a:spcBef>
                <a:spcPts val="1400"/>
              </a:spcBef>
              <a:spcAft>
                <a:spcPts val="0"/>
              </a:spcAft>
              <a:buSzPct val="100000"/>
              <a:buChar char=" "/>
            </a:pPr>
            <a:r>
              <a:rPr lang="tr-TR"/>
              <a:t>Giriş ≠ literatür özeti — yalnızca konumlandırma yapılır</a:t>
            </a:r>
            <a:endParaRPr/>
          </a:p>
          <a:p>
            <a:pPr indent="0" lvl="0" marL="91440" rtl="0" algn="l">
              <a:lnSpc>
                <a:spcPct val="90000"/>
              </a:lnSpc>
              <a:spcBef>
                <a:spcPts val="1400"/>
              </a:spcBef>
              <a:spcAft>
                <a:spcPts val="0"/>
              </a:spcAft>
              <a:buSzPct val="100000"/>
              <a:buNone/>
            </a:pPr>
            <a:r>
              <a:t/>
            </a:r>
            <a:endParaRPr/>
          </a:p>
          <a:p>
            <a:pPr indent="-107950" lvl="0" marL="91440" rtl="0" algn="l">
              <a:lnSpc>
                <a:spcPct val="90000"/>
              </a:lnSpc>
              <a:spcBef>
                <a:spcPts val="1400"/>
              </a:spcBef>
              <a:spcAft>
                <a:spcPts val="0"/>
              </a:spcAft>
              <a:buSzPct val="100000"/>
              <a:buChar char=" "/>
            </a:pPr>
            <a:r>
              <a:rPr b="1" lang="tr-TR">
                <a:solidFill>
                  <a:srgbClr val="FF0000"/>
                </a:solidFill>
              </a:rPr>
              <a:t>Giriş Bölümünde Yaygın Hatalar</a:t>
            </a:r>
            <a:endParaRPr/>
          </a:p>
          <a:p>
            <a:pPr indent="-107950" lvl="0" marL="91440" rtl="0" algn="l">
              <a:lnSpc>
                <a:spcPct val="90000"/>
              </a:lnSpc>
              <a:spcBef>
                <a:spcPts val="1400"/>
              </a:spcBef>
              <a:spcAft>
                <a:spcPts val="0"/>
              </a:spcAft>
              <a:buSzPct val="100000"/>
              <a:buChar char=" "/>
            </a:pPr>
            <a:r>
              <a:rPr lang="tr-TR"/>
              <a:t>Çok fazla literatür yüklemek</a:t>
            </a:r>
            <a:endParaRPr/>
          </a:p>
          <a:p>
            <a:pPr indent="-107950" lvl="0" marL="91440" rtl="0" algn="l">
              <a:lnSpc>
                <a:spcPct val="90000"/>
              </a:lnSpc>
              <a:spcBef>
                <a:spcPts val="1400"/>
              </a:spcBef>
              <a:spcAft>
                <a:spcPts val="0"/>
              </a:spcAft>
              <a:buSzPct val="100000"/>
              <a:buChar char=" "/>
            </a:pPr>
            <a:r>
              <a:rPr lang="tr-TR"/>
              <a:t>Katkıyı açık yazmamak</a:t>
            </a:r>
            <a:endParaRPr/>
          </a:p>
          <a:p>
            <a:pPr indent="-107950" lvl="0" marL="91440" rtl="0" algn="l">
              <a:lnSpc>
                <a:spcPct val="90000"/>
              </a:lnSpc>
              <a:spcBef>
                <a:spcPts val="1400"/>
              </a:spcBef>
              <a:spcAft>
                <a:spcPts val="0"/>
              </a:spcAft>
              <a:buSzPct val="100000"/>
              <a:buChar char=" "/>
            </a:pPr>
            <a:r>
              <a:rPr lang="tr-TR"/>
              <a:t>Problemi akademik değil operasyonel dile hapsetmek</a:t>
            </a:r>
            <a:endParaRPr/>
          </a:p>
          <a:p>
            <a:pPr indent="0" lvl="0" marL="91440" rtl="0" algn="l">
              <a:lnSpc>
                <a:spcPct val="90000"/>
              </a:lnSpc>
              <a:spcBef>
                <a:spcPts val="1400"/>
              </a:spcBef>
              <a:spcAft>
                <a:spcPts val="0"/>
              </a:spcAft>
              <a:buSzPct val="100000"/>
              <a:buNone/>
            </a:pPr>
            <a:r>
              <a:t/>
            </a:r>
            <a:endParaRPr/>
          </a:p>
          <a:p>
            <a:pPr indent="0" lvl="0" marL="91440" rtl="0" algn="l">
              <a:lnSpc>
                <a:spcPct val="90000"/>
              </a:lnSpc>
              <a:spcBef>
                <a:spcPts val="1400"/>
              </a:spcBef>
              <a:spcAft>
                <a:spcPts val="0"/>
              </a:spcAft>
              <a:buSzPct val="100000"/>
              <a:buNone/>
            </a:pPr>
            <a:r>
              <a:t/>
            </a:r>
            <a:endParaRPr/>
          </a:p>
        </p:txBody>
      </p:sp>
      <p:pic>
        <p:nvPicPr>
          <p:cNvPr id="220" name="Google Shape;220;p20"/>
          <p:cNvPicPr preferRelativeResize="0"/>
          <p:nvPr/>
        </p:nvPicPr>
        <p:blipFill rotWithShape="1">
          <a:blip r:embed="rId3">
            <a:alphaModFix/>
          </a:blip>
          <a:srcRect b="0" l="0" r="0" t="0"/>
          <a:stretch/>
        </p:blipFill>
        <p:spPr>
          <a:xfrm>
            <a:off x="5757066" y="0"/>
            <a:ext cx="1560262" cy="151751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1"/>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464132"/>
              </a:buClr>
              <a:buSzPct val="100000"/>
              <a:buFont typeface="Twentieth Century"/>
              <a:buNone/>
            </a:pPr>
            <a:r>
              <a:rPr lang="tr-TR"/>
              <a:t>Related Works Bölümü NASIL Yazılır?</a:t>
            </a:r>
            <a:br>
              <a:rPr lang="tr-TR"/>
            </a:br>
            <a:endParaRPr/>
          </a:p>
        </p:txBody>
      </p:sp>
      <p:sp>
        <p:nvSpPr>
          <p:cNvPr id="226" name="Google Shape;226;p21"/>
          <p:cNvSpPr txBox="1"/>
          <p:nvPr>
            <p:ph idx="1" type="body"/>
          </p:nvPr>
        </p:nvSpPr>
        <p:spPr>
          <a:xfrm>
            <a:off x="718868" y="787879"/>
            <a:ext cx="7339283" cy="5521481"/>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0"/>
              </a:spcBef>
              <a:spcAft>
                <a:spcPts val="0"/>
              </a:spcAft>
              <a:buSzPts val="2000"/>
              <a:buNone/>
            </a:pPr>
            <a:r>
              <a:rPr b="1" lang="tr-TR"/>
              <a:t>Bu bölümün üç temel görevi vardır:</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Font typeface="Noto Sans Symbols"/>
              <a:buChar char="▪"/>
            </a:pPr>
            <a:r>
              <a:rPr lang="tr-TR"/>
              <a:t>Çalışmayı literatürde konumlandırmak</a:t>
            </a:r>
            <a:endParaRPr/>
          </a:p>
          <a:p>
            <a:pPr indent="-127000" lvl="0" marL="91440" rtl="0" algn="l">
              <a:lnSpc>
                <a:spcPct val="90000"/>
              </a:lnSpc>
              <a:spcBef>
                <a:spcPts val="1400"/>
              </a:spcBef>
              <a:spcAft>
                <a:spcPts val="0"/>
              </a:spcAft>
              <a:buSzPts val="2000"/>
              <a:buFont typeface="Noto Sans Symbols"/>
              <a:buChar char="▪"/>
            </a:pPr>
            <a:r>
              <a:rPr lang="tr-TR"/>
              <a:t>Kimin ne yaptığı anlatılır</a:t>
            </a:r>
            <a:endParaRPr/>
          </a:p>
          <a:p>
            <a:pPr indent="-127000" lvl="0" marL="91440" rtl="0" algn="l">
              <a:lnSpc>
                <a:spcPct val="90000"/>
              </a:lnSpc>
              <a:spcBef>
                <a:spcPts val="1400"/>
              </a:spcBef>
              <a:spcAft>
                <a:spcPts val="0"/>
              </a:spcAft>
              <a:buSzPts val="2000"/>
              <a:buFont typeface="Noto Sans Symbols"/>
              <a:buChar char="▪"/>
            </a:pPr>
            <a:r>
              <a:rPr lang="tr-TR"/>
              <a:t>Alanın gelişimi özetlenir</a:t>
            </a:r>
            <a:endParaRPr/>
          </a:p>
          <a:p>
            <a:pPr indent="-127000" lvl="0" marL="91440" rtl="0" algn="l">
              <a:lnSpc>
                <a:spcPct val="90000"/>
              </a:lnSpc>
              <a:spcBef>
                <a:spcPts val="1400"/>
              </a:spcBef>
              <a:spcAft>
                <a:spcPts val="0"/>
              </a:spcAft>
              <a:buSzPts val="2000"/>
              <a:buFont typeface="Noto Sans Symbols"/>
              <a:buChar char="▪"/>
            </a:pPr>
            <a:r>
              <a:rPr lang="tr-TR"/>
              <a:t>Eğilimler gösterilir</a:t>
            </a:r>
            <a:endParaRPr/>
          </a:p>
          <a:p>
            <a:pPr indent="-127000" lvl="0" marL="91440" rtl="0" algn="l">
              <a:lnSpc>
                <a:spcPct val="90000"/>
              </a:lnSpc>
              <a:spcBef>
                <a:spcPts val="1400"/>
              </a:spcBef>
              <a:spcAft>
                <a:spcPts val="0"/>
              </a:spcAft>
              <a:buSzPts val="2000"/>
              <a:buChar char=" "/>
            </a:pPr>
            <a:r>
              <a:rPr lang="tr-TR"/>
              <a:t> Ancak:</a:t>
            </a:r>
            <a:endParaRPr/>
          </a:p>
          <a:p>
            <a:pPr indent="-127000" lvl="0" marL="91440" rtl="0" algn="l">
              <a:lnSpc>
                <a:spcPct val="90000"/>
              </a:lnSpc>
              <a:spcBef>
                <a:spcPts val="1400"/>
              </a:spcBef>
              <a:spcAft>
                <a:spcPts val="0"/>
              </a:spcAft>
              <a:buSzPts val="2000"/>
              <a:buChar char=" "/>
            </a:pPr>
            <a:r>
              <a:rPr lang="tr-TR"/>
              <a:t>Related Works = “literatür listesi” değildir.</a:t>
            </a:r>
            <a:endParaRPr/>
          </a:p>
          <a:p>
            <a:pPr indent="-127000" lvl="0" marL="91440" rtl="0" algn="l">
              <a:lnSpc>
                <a:spcPct val="90000"/>
              </a:lnSpc>
              <a:spcBef>
                <a:spcPts val="1400"/>
              </a:spcBef>
              <a:spcAft>
                <a:spcPts val="0"/>
              </a:spcAft>
              <a:buSzPts val="2000"/>
              <a:buChar char=" "/>
            </a:pPr>
            <a:r>
              <a:rPr lang="tr-TR"/>
              <a:t>Amaç sıralamak değil, analiz etmektir.</a:t>
            </a:r>
            <a:endParaRPr/>
          </a:p>
          <a:p>
            <a:pPr indent="0" lvl="0" marL="91440" rtl="0" algn="l">
              <a:lnSpc>
                <a:spcPct val="90000"/>
              </a:lnSpc>
              <a:spcBef>
                <a:spcPts val="1400"/>
              </a:spcBef>
              <a:spcAft>
                <a:spcPts val="0"/>
              </a:spcAft>
              <a:buSzPts val="2000"/>
              <a:buNone/>
            </a:pPr>
            <a:r>
              <a:t/>
            </a:r>
            <a:endParaRPr/>
          </a:p>
        </p:txBody>
      </p:sp>
      <p:pic>
        <p:nvPicPr>
          <p:cNvPr id="227" name="Google Shape;227;p21"/>
          <p:cNvPicPr preferRelativeResize="0"/>
          <p:nvPr/>
        </p:nvPicPr>
        <p:blipFill rotWithShape="1">
          <a:blip r:embed="rId3">
            <a:alphaModFix/>
          </a:blip>
          <a:srcRect b="0" l="0" r="0" t="0"/>
          <a:stretch/>
        </p:blipFill>
        <p:spPr>
          <a:xfrm>
            <a:off x="7189721" y="0"/>
            <a:ext cx="1557572" cy="150778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2"/>
          <p:cNvSpPr txBox="1"/>
          <p:nvPr>
            <p:ph type="title"/>
          </p:nvPr>
        </p:nvSpPr>
        <p:spPr>
          <a:xfrm>
            <a:off x="316302" y="391830"/>
            <a:ext cx="8246853" cy="539823"/>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rgbClr val="464132"/>
              </a:buClr>
              <a:buSzPts val="3200"/>
              <a:buFont typeface="Twentieth Century"/>
              <a:buNone/>
            </a:pPr>
            <a:r>
              <a:rPr lang="tr-TR" sz="3200"/>
              <a:t>İlgili Çalışmalar (Related Works) Makalede NEREDE Yer Alır?</a:t>
            </a:r>
            <a:br>
              <a:rPr lang="tr-TR" sz="3200"/>
            </a:br>
            <a:endParaRPr sz="3200"/>
          </a:p>
        </p:txBody>
      </p:sp>
      <p:sp>
        <p:nvSpPr>
          <p:cNvPr id="233" name="Google Shape;233;p22"/>
          <p:cNvSpPr txBox="1"/>
          <p:nvPr>
            <p:ph idx="1" type="body"/>
          </p:nvPr>
        </p:nvSpPr>
        <p:spPr>
          <a:xfrm>
            <a:off x="581248" y="661741"/>
            <a:ext cx="8281398" cy="4956048"/>
          </a:xfrm>
          <a:prstGeom prst="rect">
            <a:avLst/>
          </a:prstGeom>
          <a:noFill/>
          <a:ln>
            <a:noFill/>
          </a:ln>
        </p:spPr>
        <p:txBody>
          <a:bodyPr anchorCtr="0" anchor="t" bIns="45700" lIns="45700" spcFirstLastPara="1" rIns="45700" wrap="square" tIns="45700">
            <a:normAutofit lnSpcReduction="10000"/>
          </a:bodyPr>
          <a:lstStyle/>
          <a:p>
            <a:pPr indent="0" lvl="0" marL="91440" rtl="0" algn="l">
              <a:lnSpc>
                <a:spcPct val="90000"/>
              </a:lnSpc>
              <a:spcBef>
                <a:spcPts val="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tr-TR"/>
              <a:t>IMRaD modeline göre “Related Works” bölümü iki farklı şekilde yazılabilir:</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b="1" lang="tr-TR"/>
              <a:t>Introduction içinde “Gömülü Literatür” (Modern yöntem – Elsevier / IEEE)</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tr-TR"/>
              <a:t>Artık birçok üst seviye dergi ve konferans ayrı bir Related Works bölümü istemiyor.</a:t>
            </a:r>
            <a:endParaRPr/>
          </a:p>
          <a:p>
            <a:pPr indent="-127000" lvl="0" marL="91440" rtl="0" algn="l">
              <a:lnSpc>
                <a:spcPct val="90000"/>
              </a:lnSpc>
              <a:spcBef>
                <a:spcPts val="1400"/>
              </a:spcBef>
              <a:spcAft>
                <a:spcPts val="0"/>
              </a:spcAft>
              <a:buSzPts val="2000"/>
              <a:buChar char=" "/>
            </a:pPr>
            <a:r>
              <a:rPr lang="tr-TR"/>
              <a:t>İlgili çalışmalar Giriş bölümünde, problemi konumlandırmak için özetleniyor.</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b="1" lang="tr-TR"/>
              <a:t>Ne zaman?</a:t>
            </a:r>
            <a:endParaRPr/>
          </a:p>
          <a:p>
            <a:pPr indent="-127000" lvl="0" marL="91440" rtl="0" algn="l">
              <a:lnSpc>
                <a:spcPct val="90000"/>
              </a:lnSpc>
              <a:spcBef>
                <a:spcPts val="1400"/>
              </a:spcBef>
              <a:spcAft>
                <a:spcPts val="0"/>
              </a:spcAft>
              <a:buSzPts val="2000"/>
              <a:buChar char=" "/>
            </a:pPr>
            <a:r>
              <a:rPr lang="tr-TR"/>
              <a:t>Paper kısa ise, Alan çok klasik ve çalışmalar iyi biliniyorsa, 6–8 sayfalık konferans bildirilerinde (IEEE, ACM)</a:t>
            </a:r>
            <a:endParaRPr/>
          </a:p>
        </p:txBody>
      </p:sp>
      <p:pic>
        <p:nvPicPr>
          <p:cNvPr id="234" name="Google Shape;234;p22"/>
          <p:cNvPicPr preferRelativeResize="0"/>
          <p:nvPr/>
        </p:nvPicPr>
        <p:blipFill rotWithShape="1">
          <a:blip r:embed="rId3">
            <a:alphaModFix/>
          </a:blip>
          <a:srcRect b="0" l="0" r="0" t="0"/>
          <a:stretch/>
        </p:blipFill>
        <p:spPr>
          <a:xfrm>
            <a:off x="8118574" y="0"/>
            <a:ext cx="1105374" cy="107004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3"/>
          <p:cNvSpPr txBox="1"/>
          <p:nvPr>
            <p:ph type="title"/>
          </p:nvPr>
        </p:nvSpPr>
        <p:spPr>
          <a:xfrm>
            <a:off x="721410" y="164592"/>
            <a:ext cx="7172147" cy="44194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464132"/>
              </a:buClr>
              <a:buSzPct val="100000"/>
              <a:buFont typeface="Twentieth Century"/>
              <a:buNone/>
            </a:pPr>
            <a:r>
              <a:t/>
            </a:r>
            <a:endParaRPr/>
          </a:p>
        </p:txBody>
      </p:sp>
      <p:sp>
        <p:nvSpPr>
          <p:cNvPr id="240" name="Google Shape;240;p23"/>
          <p:cNvSpPr txBox="1"/>
          <p:nvPr>
            <p:ph idx="1" type="body"/>
          </p:nvPr>
        </p:nvSpPr>
        <p:spPr>
          <a:xfrm>
            <a:off x="563148" y="1494691"/>
            <a:ext cx="8264328" cy="4668717"/>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b="1" lang="tr-TR"/>
              <a:t>Methods bölümünden ÖNCE ayrı başlık olarak (Klasik yöntem)</a:t>
            </a:r>
            <a:endParaRPr/>
          </a:p>
          <a:p>
            <a:pPr indent="-127000" lvl="0" marL="91440" rtl="0" algn="l">
              <a:lnSpc>
                <a:spcPct val="90000"/>
              </a:lnSpc>
              <a:spcBef>
                <a:spcPts val="1400"/>
              </a:spcBef>
              <a:spcAft>
                <a:spcPts val="0"/>
              </a:spcAft>
              <a:buSzPts val="2000"/>
              <a:buChar char=" "/>
            </a:pPr>
            <a:r>
              <a:rPr lang="tr-TR"/>
              <a:t>Bu daha geleneksel yaklaşımdır. Girişten sonra “2. İlgili Çalışmalar” şeklinde bağımsız bir bölüm gelir.</a:t>
            </a:r>
            <a:endParaRPr/>
          </a:p>
          <a:p>
            <a:pPr indent="0" lvl="0" marL="0" rtl="0" algn="l">
              <a:lnSpc>
                <a:spcPct val="90000"/>
              </a:lnSpc>
              <a:spcBef>
                <a:spcPts val="1400"/>
              </a:spcBef>
              <a:spcAft>
                <a:spcPts val="0"/>
              </a:spcAft>
              <a:buSzPts val="2000"/>
              <a:buNone/>
            </a:pPr>
            <a:r>
              <a:rPr b="1" lang="tr-TR"/>
              <a:t>Ne zaman? </a:t>
            </a:r>
            <a:endParaRPr/>
          </a:p>
          <a:p>
            <a:pPr indent="0" lvl="0" marL="0" rtl="0" algn="l">
              <a:lnSpc>
                <a:spcPct val="90000"/>
              </a:lnSpc>
              <a:spcBef>
                <a:spcPts val="1400"/>
              </a:spcBef>
              <a:spcAft>
                <a:spcPts val="0"/>
              </a:spcAft>
              <a:buSzPts val="2000"/>
              <a:buNone/>
            </a:pPr>
            <a:r>
              <a:rPr lang="tr-TR"/>
              <a:t>Alan genişse, Çok sayıda alt yöntem varsa, Yöntemler arasında sistematik karşılaştırma yapılıyorsa, Doktora tezlerinde, derleme (survey) makalelerinde</a:t>
            </a:r>
            <a:endParaRPr/>
          </a:p>
          <a:p>
            <a:pPr indent="0" lvl="0" marL="0" rtl="0" algn="l">
              <a:lnSpc>
                <a:spcPct val="90000"/>
              </a:lnSpc>
              <a:spcBef>
                <a:spcPts val="1400"/>
              </a:spcBef>
              <a:spcAft>
                <a:spcPts val="0"/>
              </a:spcAft>
              <a:buSzPts val="2000"/>
              <a:buNone/>
            </a:pPr>
            <a:r>
              <a:rPr b="1" lang="tr-TR"/>
              <a:t> GENEL KURAL </a:t>
            </a:r>
            <a:endParaRPr/>
          </a:p>
          <a:p>
            <a:pPr indent="0" lvl="0" marL="0" rtl="0" algn="l">
              <a:lnSpc>
                <a:spcPct val="90000"/>
              </a:lnSpc>
              <a:spcBef>
                <a:spcPts val="1400"/>
              </a:spcBef>
              <a:spcAft>
                <a:spcPts val="0"/>
              </a:spcAft>
              <a:buSzPts val="2000"/>
              <a:buNone/>
            </a:pPr>
            <a:r>
              <a:rPr lang="tr-TR"/>
              <a:t>İlgili çalışmalar, sizin yaptığınız çalışmanın “neden gerekli olduğunu” gösteren bölümdür. Bu nedenle Introduction → Related Works → Methods sırası en mantıklı akıştır.</a:t>
            </a:r>
            <a:endParaRPr/>
          </a:p>
        </p:txBody>
      </p:sp>
      <p:pic>
        <p:nvPicPr>
          <p:cNvPr id="241" name="Google Shape;241;p23"/>
          <p:cNvPicPr preferRelativeResize="0"/>
          <p:nvPr/>
        </p:nvPicPr>
        <p:blipFill rotWithShape="1">
          <a:blip r:embed="rId3">
            <a:alphaModFix/>
          </a:blip>
          <a:srcRect b="0" l="0" r="0" t="0"/>
          <a:stretch/>
        </p:blipFill>
        <p:spPr>
          <a:xfrm>
            <a:off x="7586428" y="0"/>
            <a:ext cx="1557572" cy="150778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4"/>
          <p:cNvSpPr txBox="1"/>
          <p:nvPr>
            <p:ph type="title"/>
          </p:nvPr>
        </p:nvSpPr>
        <p:spPr>
          <a:xfrm>
            <a:off x="1278110" y="374733"/>
            <a:ext cx="8476488" cy="61362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464132"/>
              </a:buClr>
              <a:buSzPct val="100000"/>
              <a:buFont typeface="Twentieth Century"/>
              <a:buNone/>
            </a:pPr>
            <a:r>
              <a:rPr b="1" lang="tr-TR"/>
              <a:t>Methods (Yöntemler) – Çalışmanın Kalbi</a:t>
            </a:r>
            <a:br>
              <a:rPr b="1" lang="tr-TR"/>
            </a:br>
            <a:endParaRPr/>
          </a:p>
        </p:txBody>
      </p:sp>
      <p:sp>
        <p:nvSpPr>
          <p:cNvPr id="248" name="Google Shape;248;p24"/>
          <p:cNvSpPr txBox="1"/>
          <p:nvPr>
            <p:ph idx="1" type="body"/>
          </p:nvPr>
        </p:nvSpPr>
        <p:spPr>
          <a:xfrm>
            <a:off x="1348448" y="778214"/>
            <a:ext cx="7542585" cy="5531147"/>
          </a:xfrm>
          <a:prstGeom prst="rect">
            <a:avLst/>
          </a:prstGeom>
          <a:noFill/>
          <a:ln>
            <a:noFill/>
          </a:ln>
        </p:spPr>
        <p:txBody>
          <a:bodyPr anchorCtr="0" anchor="t" bIns="45700" lIns="45700" spcFirstLastPara="1" rIns="45700" wrap="square" tIns="45700">
            <a:normAutofit fontScale="32500" lnSpcReduction="20000"/>
          </a:bodyPr>
          <a:lstStyle/>
          <a:p>
            <a:pPr indent="-148590" lvl="0" marL="91440" rtl="0" algn="l">
              <a:lnSpc>
                <a:spcPct val="90000"/>
              </a:lnSpc>
              <a:spcBef>
                <a:spcPts val="0"/>
              </a:spcBef>
              <a:spcAft>
                <a:spcPts val="0"/>
              </a:spcAft>
              <a:buSzPct val="100000"/>
              <a:buChar char=" "/>
            </a:pPr>
            <a:r>
              <a:rPr b="1" lang="tr-TR" sz="7200"/>
              <a:t>Methods (Yöntemler)</a:t>
            </a:r>
            <a:r>
              <a:rPr lang="tr-TR" sz="7200"/>
              <a:t> bölümü, bilimsel bir çalışmanın nasıl yapıldığını, hangi adımların izlendiğini, hangi veri, model ve araçların kullanıldığını ayrıntılı fakat sistematik biçimde açıklayan kısımdır. </a:t>
            </a:r>
            <a:endParaRPr sz="7200"/>
          </a:p>
          <a:p>
            <a:pPr indent="-148590" lvl="0" marL="91440" rtl="0" algn="l">
              <a:lnSpc>
                <a:spcPct val="90000"/>
              </a:lnSpc>
              <a:spcBef>
                <a:spcPts val="1400"/>
              </a:spcBef>
              <a:spcAft>
                <a:spcPts val="0"/>
              </a:spcAft>
              <a:buSzPct val="100000"/>
              <a:buChar char=" "/>
            </a:pPr>
            <a:r>
              <a:rPr lang="tr-TR" sz="7200"/>
              <a:t>Bu bölüm, çalışmanın tekrar edilebilir olması için gereklidir; yani başka bir araştırmacı aynı adımları izlediğinde benzer sonuçlara ulaşabilmelidir. </a:t>
            </a:r>
            <a:endParaRPr sz="7200"/>
          </a:p>
          <a:p>
            <a:pPr indent="-148590" lvl="0" marL="91440" rtl="0" algn="l">
              <a:lnSpc>
                <a:spcPct val="90000"/>
              </a:lnSpc>
              <a:spcBef>
                <a:spcPts val="1400"/>
              </a:spcBef>
              <a:spcAft>
                <a:spcPts val="0"/>
              </a:spcAft>
              <a:buSzPct val="100000"/>
              <a:buChar char=" "/>
            </a:pPr>
            <a:r>
              <a:rPr lang="tr-TR" sz="7200"/>
              <a:t>IMRaD yapısında Methods; Introduction’da tanıtılan araştırma problemini çözmek için tasarlanan yaklaşımın bütün teknik ayrıntılarını içerir.</a:t>
            </a:r>
            <a:endParaRPr b="1" sz="7200"/>
          </a:p>
          <a:p>
            <a:pPr indent="-50165" lvl="0" marL="91440" rtl="0" algn="l">
              <a:lnSpc>
                <a:spcPct val="90000"/>
              </a:lnSpc>
              <a:spcBef>
                <a:spcPts val="1400"/>
              </a:spcBef>
              <a:spcAft>
                <a:spcPts val="0"/>
              </a:spcAft>
              <a:buSzPct val="100000"/>
              <a:buNone/>
            </a:pPr>
            <a:r>
              <a:t/>
            </a:r>
            <a:endParaRPr b="1"/>
          </a:p>
          <a:p>
            <a:pPr indent="-50165" lvl="0" marL="91440" rtl="0" algn="l">
              <a:lnSpc>
                <a:spcPct val="90000"/>
              </a:lnSpc>
              <a:spcBef>
                <a:spcPts val="1400"/>
              </a:spcBef>
              <a:spcAft>
                <a:spcPts val="0"/>
              </a:spcAft>
              <a:buSzPct val="100000"/>
              <a:buNone/>
            </a:pPr>
            <a:r>
              <a:t/>
            </a:r>
            <a:endParaRPr b="1"/>
          </a:p>
          <a:p>
            <a:pPr indent="-101124" lvl="0" marL="91440" rtl="0" algn="l">
              <a:lnSpc>
                <a:spcPct val="90000"/>
              </a:lnSpc>
              <a:spcBef>
                <a:spcPts val="1400"/>
              </a:spcBef>
              <a:spcAft>
                <a:spcPts val="0"/>
              </a:spcAft>
              <a:buSzPct val="100000"/>
              <a:buChar char=" "/>
            </a:pPr>
            <a:r>
              <a:rPr b="1" lang="tr-TR" sz="4900"/>
              <a:t>Bu Bölümde Şu Sorular Yanıtlanır</a:t>
            </a:r>
            <a:endParaRPr/>
          </a:p>
          <a:p>
            <a:pPr indent="-101124" lvl="0" marL="91440" rtl="0" algn="l">
              <a:lnSpc>
                <a:spcPct val="90000"/>
              </a:lnSpc>
              <a:spcBef>
                <a:spcPts val="1400"/>
              </a:spcBef>
              <a:spcAft>
                <a:spcPts val="0"/>
              </a:spcAft>
              <a:buSzPct val="100000"/>
              <a:buChar char=" "/>
            </a:pPr>
            <a:r>
              <a:rPr lang="tr-TR" sz="4900"/>
              <a:t>Kullanılan veri seti nedir?</a:t>
            </a:r>
            <a:endParaRPr/>
          </a:p>
          <a:p>
            <a:pPr indent="-101124" lvl="0" marL="91440" rtl="0" algn="l">
              <a:lnSpc>
                <a:spcPct val="90000"/>
              </a:lnSpc>
              <a:spcBef>
                <a:spcPts val="1400"/>
              </a:spcBef>
              <a:spcAft>
                <a:spcPts val="0"/>
              </a:spcAft>
              <a:buSzPct val="100000"/>
              <a:buChar char=" "/>
            </a:pPr>
            <a:r>
              <a:rPr lang="tr-TR" sz="4900"/>
              <a:t>Veri nasıl işlendi, temizlendi?</a:t>
            </a:r>
            <a:endParaRPr/>
          </a:p>
          <a:p>
            <a:pPr indent="-101124" lvl="0" marL="91440" rtl="0" algn="l">
              <a:lnSpc>
                <a:spcPct val="90000"/>
              </a:lnSpc>
              <a:spcBef>
                <a:spcPts val="1400"/>
              </a:spcBef>
              <a:spcAft>
                <a:spcPts val="0"/>
              </a:spcAft>
              <a:buSzPct val="100000"/>
              <a:buChar char=" "/>
            </a:pPr>
            <a:r>
              <a:rPr lang="tr-TR" sz="4900"/>
              <a:t>Yöntem/Algoritmalar nasıl seçildi?</a:t>
            </a:r>
            <a:endParaRPr/>
          </a:p>
          <a:p>
            <a:pPr indent="-101124" lvl="0" marL="91440" rtl="0" algn="l">
              <a:lnSpc>
                <a:spcPct val="90000"/>
              </a:lnSpc>
              <a:spcBef>
                <a:spcPts val="1400"/>
              </a:spcBef>
              <a:spcAft>
                <a:spcPts val="0"/>
              </a:spcAft>
              <a:buSzPct val="100000"/>
              <a:buChar char=" "/>
            </a:pPr>
            <a:r>
              <a:rPr lang="tr-TR" sz="4900"/>
              <a:t>Deney ortamı nasıl kuruldu?</a:t>
            </a:r>
            <a:endParaRPr/>
          </a:p>
          <a:p>
            <a:pPr indent="-101124" lvl="0" marL="91440" rtl="0" algn="l">
              <a:lnSpc>
                <a:spcPct val="90000"/>
              </a:lnSpc>
              <a:spcBef>
                <a:spcPts val="1400"/>
              </a:spcBef>
              <a:spcAft>
                <a:spcPts val="0"/>
              </a:spcAft>
              <a:buSzPct val="100000"/>
              <a:buChar char=" "/>
            </a:pPr>
            <a:r>
              <a:rPr lang="tr-TR" sz="4900"/>
              <a:t>Model mimarisi nasıldır?</a:t>
            </a:r>
            <a:endParaRPr/>
          </a:p>
          <a:p>
            <a:pPr indent="-50165" lvl="0" marL="91440" rtl="0" algn="l">
              <a:lnSpc>
                <a:spcPct val="90000"/>
              </a:lnSpc>
              <a:spcBef>
                <a:spcPts val="1400"/>
              </a:spcBef>
              <a:spcAft>
                <a:spcPts val="0"/>
              </a:spcAft>
              <a:buSzPct val="100000"/>
              <a:buNone/>
            </a:pPr>
            <a:r>
              <a:t/>
            </a:r>
            <a:endParaRPr/>
          </a:p>
        </p:txBody>
      </p:sp>
      <p:pic>
        <p:nvPicPr>
          <p:cNvPr id="249" name="Google Shape;249;p24"/>
          <p:cNvPicPr preferRelativeResize="0"/>
          <p:nvPr/>
        </p:nvPicPr>
        <p:blipFill rotWithShape="1">
          <a:blip r:embed="rId3">
            <a:alphaModFix/>
          </a:blip>
          <a:srcRect b="0" l="0" r="0" t="0"/>
          <a:stretch/>
        </p:blipFill>
        <p:spPr>
          <a:xfrm>
            <a:off x="0" y="0"/>
            <a:ext cx="1111993" cy="136308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5"/>
          <p:cNvSpPr txBox="1"/>
          <p:nvPr>
            <p:ph type="title"/>
          </p:nvPr>
        </p:nvSpPr>
        <p:spPr>
          <a:xfrm>
            <a:off x="881521" y="195927"/>
            <a:ext cx="8262479" cy="82762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464132"/>
              </a:buClr>
              <a:buSzPct val="100000"/>
              <a:buFont typeface="Twentieth Century"/>
              <a:buNone/>
            </a:pPr>
            <a:r>
              <a:rPr b="1" lang="tr-TR"/>
              <a:t>Methods (Yöntemler) – Çalışmanın Kalbi</a:t>
            </a:r>
            <a:br>
              <a:rPr b="1" lang="tr-TR"/>
            </a:br>
            <a:endParaRPr/>
          </a:p>
        </p:txBody>
      </p:sp>
      <p:sp>
        <p:nvSpPr>
          <p:cNvPr id="255" name="Google Shape;255;p25"/>
          <p:cNvSpPr txBox="1"/>
          <p:nvPr>
            <p:ph idx="1" type="body"/>
          </p:nvPr>
        </p:nvSpPr>
        <p:spPr>
          <a:xfrm>
            <a:off x="418290" y="1078992"/>
            <a:ext cx="4396901" cy="5370446"/>
          </a:xfrm>
          <a:prstGeom prst="rect">
            <a:avLst/>
          </a:prstGeom>
          <a:noFill/>
          <a:ln>
            <a:noFill/>
          </a:ln>
        </p:spPr>
        <p:txBody>
          <a:bodyPr anchorCtr="0" anchor="t" bIns="45700" lIns="45700" spcFirstLastPara="1" rIns="45700" wrap="square" tIns="45700">
            <a:noAutofit/>
          </a:bodyPr>
          <a:lstStyle/>
          <a:p>
            <a:pPr indent="-91440" lvl="0" marL="91440" rtl="0" algn="l">
              <a:lnSpc>
                <a:spcPct val="90000"/>
              </a:lnSpc>
              <a:spcBef>
                <a:spcPts val="0"/>
              </a:spcBef>
              <a:spcAft>
                <a:spcPts val="0"/>
              </a:spcAft>
              <a:buSzPts val="1400"/>
              <a:buChar char=" "/>
            </a:pPr>
            <a:r>
              <a:rPr b="1" lang="tr-TR" sz="1400"/>
              <a:t>1. Veri Kaynağı ve Veri Seti</a:t>
            </a:r>
            <a:endParaRPr b="1" sz="1400"/>
          </a:p>
          <a:p>
            <a:pPr indent="-91440" lvl="0" marL="91440" rtl="0" algn="l">
              <a:lnSpc>
                <a:spcPct val="90000"/>
              </a:lnSpc>
              <a:spcBef>
                <a:spcPts val="1400"/>
              </a:spcBef>
              <a:spcAft>
                <a:spcPts val="0"/>
              </a:spcAft>
              <a:buSzPts val="1400"/>
              <a:buChar char=" "/>
            </a:pPr>
            <a:r>
              <a:rPr lang="tr-TR" sz="1400"/>
              <a:t>Bu alt bölümde çalışmada kullanılan verinin kaynağı, özellikleri ve kapsamı açıklanır.</a:t>
            </a:r>
            <a:endParaRPr/>
          </a:p>
          <a:p>
            <a:pPr indent="-91440" lvl="0" marL="91440" rtl="0" algn="l">
              <a:lnSpc>
                <a:spcPct val="100000"/>
              </a:lnSpc>
              <a:spcBef>
                <a:spcPts val="200"/>
              </a:spcBef>
              <a:spcAft>
                <a:spcPts val="0"/>
              </a:spcAft>
              <a:buSzPts val="1400"/>
              <a:buChar char=" "/>
            </a:pPr>
            <a:r>
              <a:rPr lang="tr-TR" sz="1400"/>
              <a:t>Verinin nereden elde edildiği (sensör, CRM, log kayıtları, deneysel ölçümler, kamu verileri vb.)</a:t>
            </a:r>
            <a:endParaRPr/>
          </a:p>
          <a:p>
            <a:pPr indent="-91440" lvl="0" marL="91440" rtl="0" algn="l">
              <a:lnSpc>
                <a:spcPct val="100000"/>
              </a:lnSpc>
              <a:spcBef>
                <a:spcPts val="0"/>
              </a:spcBef>
              <a:spcAft>
                <a:spcPts val="0"/>
              </a:spcAft>
              <a:buSzPts val="1400"/>
              <a:buChar char=" "/>
            </a:pPr>
            <a:r>
              <a:rPr lang="tr-TR" sz="1400"/>
              <a:t>Örneklem büyüklüğü</a:t>
            </a:r>
            <a:endParaRPr/>
          </a:p>
          <a:p>
            <a:pPr indent="-91440" lvl="0" marL="91440" rtl="0" algn="l">
              <a:lnSpc>
                <a:spcPct val="100000"/>
              </a:lnSpc>
              <a:spcBef>
                <a:spcPts val="0"/>
              </a:spcBef>
              <a:spcAft>
                <a:spcPts val="0"/>
              </a:spcAft>
              <a:buSzPts val="1400"/>
              <a:buChar char=" "/>
            </a:pPr>
            <a:r>
              <a:rPr lang="tr-TR" sz="1400"/>
              <a:t>Veri türleri (sayısal, kategorik, metin, zaman serisi vb.)</a:t>
            </a:r>
            <a:endParaRPr/>
          </a:p>
          <a:p>
            <a:pPr indent="-91440" lvl="0" marL="91440" rtl="0" algn="l">
              <a:lnSpc>
                <a:spcPct val="90000"/>
              </a:lnSpc>
              <a:spcBef>
                <a:spcPts val="1200"/>
              </a:spcBef>
              <a:spcAft>
                <a:spcPts val="0"/>
              </a:spcAft>
              <a:buSzPts val="1400"/>
              <a:buChar char=" "/>
            </a:pPr>
            <a:r>
              <a:rPr b="1" lang="tr-TR" sz="1400"/>
              <a:t>2. Ön İşleme (Preprocessing) Adımları</a:t>
            </a:r>
            <a:endParaRPr/>
          </a:p>
          <a:p>
            <a:pPr indent="0" lvl="0" marL="0" rtl="0" algn="l">
              <a:lnSpc>
                <a:spcPct val="90000"/>
              </a:lnSpc>
              <a:spcBef>
                <a:spcPts val="1400"/>
              </a:spcBef>
              <a:spcAft>
                <a:spcPts val="0"/>
              </a:spcAft>
              <a:buSzPts val="1400"/>
              <a:buNone/>
            </a:pPr>
            <a:r>
              <a:t/>
            </a:r>
            <a:endParaRPr sz="1400"/>
          </a:p>
          <a:p>
            <a:pPr indent="-91440" lvl="0" marL="91440" rtl="0" algn="l">
              <a:lnSpc>
                <a:spcPct val="90000"/>
              </a:lnSpc>
              <a:spcBef>
                <a:spcPts val="1400"/>
              </a:spcBef>
              <a:spcAft>
                <a:spcPts val="0"/>
              </a:spcAft>
              <a:buSzPts val="1400"/>
              <a:buChar char=" "/>
            </a:pPr>
            <a:r>
              <a:rPr lang="tr-TR" sz="1400"/>
              <a:t>Modellerden önce veriye uygulanan hazırlık işlemleri açıklanır:</a:t>
            </a:r>
            <a:endParaRPr/>
          </a:p>
          <a:p>
            <a:pPr indent="-91440" lvl="0" marL="91440" rtl="0" algn="l">
              <a:lnSpc>
                <a:spcPct val="100000"/>
              </a:lnSpc>
              <a:spcBef>
                <a:spcPts val="200"/>
              </a:spcBef>
              <a:spcAft>
                <a:spcPts val="0"/>
              </a:spcAft>
              <a:buSzPts val="1400"/>
              <a:buChar char=" "/>
            </a:pPr>
            <a:r>
              <a:rPr lang="tr-TR" sz="1400"/>
              <a:t>Normalizasyon / standardizasyon</a:t>
            </a:r>
            <a:endParaRPr/>
          </a:p>
          <a:p>
            <a:pPr indent="-91440" lvl="0" marL="91440" rtl="0" algn="l">
              <a:lnSpc>
                <a:spcPct val="100000"/>
              </a:lnSpc>
              <a:spcBef>
                <a:spcPts val="0"/>
              </a:spcBef>
              <a:spcAft>
                <a:spcPts val="0"/>
              </a:spcAft>
              <a:buSzPts val="1400"/>
              <a:buChar char=" "/>
            </a:pPr>
            <a:r>
              <a:rPr lang="tr-TR" sz="1400"/>
              <a:t>Kategori kodlama (One-hot, label encoding)</a:t>
            </a:r>
            <a:endParaRPr/>
          </a:p>
          <a:p>
            <a:pPr indent="-91440" lvl="0" marL="91440" rtl="0" algn="l">
              <a:lnSpc>
                <a:spcPct val="100000"/>
              </a:lnSpc>
              <a:spcBef>
                <a:spcPts val="0"/>
              </a:spcBef>
              <a:spcAft>
                <a:spcPts val="0"/>
              </a:spcAft>
              <a:buSzPts val="1400"/>
              <a:buChar char=" "/>
            </a:pPr>
            <a:r>
              <a:rPr lang="tr-TR" sz="1400"/>
              <a:t>Metin ise: tokenizasyon, embedding, stop-word removal</a:t>
            </a:r>
            <a:endParaRPr sz="1400"/>
          </a:p>
          <a:p>
            <a:pPr indent="-91440" lvl="0" marL="91440" rtl="0" algn="l">
              <a:lnSpc>
                <a:spcPct val="100000"/>
              </a:lnSpc>
              <a:spcBef>
                <a:spcPts val="0"/>
              </a:spcBef>
              <a:spcAft>
                <a:spcPts val="0"/>
              </a:spcAft>
              <a:buSzPts val="1400"/>
              <a:buChar char=" "/>
            </a:pPr>
            <a:r>
              <a:rPr lang="tr-TR" sz="1400"/>
              <a:t>Zaman serisi ise: pencereler, smoothing, trend çıkarma</a:t>
            </a:r>
            <a:endParaRPr/>
          </a:p>
          <a:p>
            <a:pPr indent="-91440" lvl="0" marL="91440" rtl="0" algn="l">
              <a:lnSpc>
                <a:spcPct val="100000"/>
              </a:lnSpc>
              <a:spcBef>
                <a:spcPts val="0"/>
              </a:spcBef>
              <a:spcAft>
                <a:spcPts val="0"/>
              </a:spcAft>
              <a:buSzPts val="1400"/>
              <a:buChar char=" "/>
            </a:pPr>
            <a:r>
              <a:rPr lang="tr-TR" sz="1400"/>
              <a:t>Feature engineering (özellik çıkarımı, türetme işlemleri)</a:t>
            </a:r>
            <a:endParaRPr/>
          </a:p>
          <a:p>
            <a:pPr indent="-2540" lvl="0" marL="91440" rtl="0" algn="l">
              <a:lnSpc>
                <a:spcPct val="90000"/>
              </a:lnSpc>
              <a:spcBef>
                <a:spcPts val="1200"/>
              </a:spcBef>
              <a:spcAft>
                <a:spcPts val="0"/>
              </a:spcAft>
              <a:buSzPts val="1400"/>
              <a:buNone/>
            </a:pPr>
            <a:r>
              <a:t/>
            </a:r>
            <a:endParaRPr sz="1400"/>
          </a:p>
        </p:txBody>
      </p:sp>
      <p:sp>
        <p:nvSpPr>
          <p:cNvPr id="256" name="Google Shape;256;p25"/>
          <p:cNvSpPr txBox="1"/>
          <p:nvPr/>
        </p:nvSpPr>
        <p:spPr>
          <a:xfrm>
            <a:off x="4815191" y="646337"/>
            <a:ext cx="3998068" cy="6205801"/>
          </a:xfrm>
          <a:prstGeom prst="rect">
            <a:avLst/>
          </a:prstGeom>
          <a:noFill/>
          <a:ln>
            <a:noFill/>
          </a:ln>
        </p:spPr>
        <p:txBody>
          <a:bodyPr anchorCtr="0" anchor="t" bIns="45700" lIns="91425" spcFirstLastPara="1" rIns="91425" wrap="square" tIns="45700">
            <a:spAutoFit/>
          </a:bodyPr>
          <a:lstStyle/>
          <a:p>
            <a:pPr indent="-91440" lvl="0" marL="91440" marR="0" rtl="0" algn="l">
              <a:lnSpc>
                <a:spcPct val="90000"/>
              </a:lnSpc>
              <a:spcBef>
                <a:spcPts val="0"/>
              </a:spcBef>
              <a:spcAft>
                <a:spcPts val="0"/>
              </a:spcAft>
              <a:buClr>
                <a:schemeClr val="accent2"/>
              </a:buClr>
              <a:buSzPts val="1400"/>
              <a:buFont typeface="Twentieth Century"/>
              <a:buChar char=" "/>
            </a:pPr>
            <a:r>
              <a:rPr b="1" i="0" lang="tr-TR" sz="1400" u="none" cap="none" strike="noStrike">
                <a:solidFill>
                  <a:schemeClr val="dk1"/>
                </a:solidFill>
                <a:latin typeface="Twentieth Century"/>
                <a:ea typeface="Twentieth Century"/>
                <a:cs typeface="Twentieth Century"/>
                <a:sym typeface="Twentieth Century"/>
              </a:rPr>
              <a:t>3. Model / Yöntem Seçimi</a:t>
            </a:r>
            <a:endParaRPr/>
          </a:p>
          <a:p>
            <a:pPr indent="0" lvl="0" marL="0" marR="0" rtl="0" algn="l">
              <a:spcBef>
                <a:spcPts val="200"/>
              </a:spcBef>
              <a:spcAft>
                <a:spcPts val="0"/>
              </a:spcAft>
              <a:buNone/>
            </a:pPr>
            <a:r>
              <a:t/>
            </a:r>
            <a:endParaRPr sz="1200">
              <a:solidFill>
                <a:schemeClr val="dk1"/>
              </a:solidFill>
              <a:latin typeface="Twentieth Century"/>
              <a:ea typeface="Twentieth Century"/>
              <a:cs typeface="Twentieth Century"/>
              <a:sym typeface="Twentieth Century"/>
            </a:endParaRPr>
          </a:p>
          <a:p>
            <a:pPr indent="0" lvl="0" marL="0" marR="0" rtl="0" algn="l">
              <a:spcBef>
                <a:spcPts val="0"/>
              </a:spcBef>
              <a:spcAft>
                <a:spcPts val="0"/>
              </a:spcAft>
              <a:buNone/>
            </a:pPr>
            <a:r>
              <a:rPr lang="tr-TR" sz="1200">
                <a:solidFill>
                  <a:schemeClr val="dk1"/>
                </a:solidFill>
                <a:latin typeface="Twentieth Century"/>
                <a:ea typeface="Twentieth Century"/>
                <a:cs typeface="Twentieth Century"/>
                <a:sym typeface="Twentieth Century"/>
              </a:rPr>
              <a:t>Bu bölüm çalışmanın temel bilimsel kısımdır.</a:t>
            </a:r>
            <a:endParaRPr/>
          </a:p>
          <a:p>
            <a:pPr indent="0" lvl="0" marL="0" marR="0" rtl="0" algn="l">
              <a:spcBef>
                <a:spcPts val="0"/>
              </a:spcBef>
              <a:spcAft>
                <a:spcPts val="0"/>
              </a:spcAft>
              <a:buNone/>
            </a:pPr>
            <a:r>
              <a:t/>
            </a:r>
            <a:endParaRPr sz="1200">
              <a:solidFill>
                <a:schemeClr val="dk1"/>
              </a:solidFill>
              <a:latin typeface="Twentieth Century"/>
              <a:ea typeface="Twentieth Century"/>
              <a:cs typeface="Twentieth Century"/>
              <a:sym typeface="Twentieth Century"/>
            </a:endParaRPr>
          </a:p>
          <a:p>
            <a:pPr indent="-91440" lvl="0" marL="91440" marR="0" rtl="0" algn="l">
              <a:spcBef>
                <a:spcPts val="0"/>
              </a:spcBef>
              <a:spcAft>
                <a:spcPts val="0"/>
              </a:spcAft>
              <a:buClr>
                <a:schemeClr val="accent2"/>
              </a:buClr>
              <a:buSzPts val="1400"/>
              <a:buFont typeface="Twentieth Century"/>
              <a:buChar char=" "/>
            </a:pPr>
            <a:r>
              <a:rPr lang="tr-TR" sz="1400">
                <a:solidFill>
                  <a:schemeClr val="dk1"/>
                </a:solidFill>
                <a:latin typeface="Twentieth Century"/>
                <a:ea typeface="Twentieth Century"/>
                <a:cs typeface="Twentieth Century"/>
                <a:sym typeface="Twentieth Century"/>
              </a:rPr>
              <a:t>Kullanılan algoritmalar (Regression, Random Forest, XGBoost, Word2Vec, Neural Networks vb.)</a:t>
            </a:r>
            <a:endParaRPr/>
          </a:p>
          <a:p>
            <a:pPr indent="-91440" lvl="0" marL="91440" marR="0" rtl="0" algn="l">
              <a:spcBef>
                <a:spcPts val="0"/>
              </a:spcBef>
              <a:spcAft>
                <a:spcPts val="0"/>
              </a:spcAft>
              <a:buClr>
                <a:schemeClr val="accent2"/>
              </a:buClr>
              <a:buSzPts val="1400"/>
              <a:buFont typeface="Twentieth Century"/>
              <a:buChar char=" "/>
            </a:pPr>
            <a:r>
              <a:rPr lang="tr-TR" sz="1400">
                <a:solidFill>
                  <a:schemeClr val="dk1"/>
                </a:solidFill>
                <a:latin typeface="Twentieth Century"/>
                <a:ea typeface="Twentieth Century"/>
                <a:cs typeface="Twentieth Century"/>
                <a:sym typeface="Twentieth Century"/>
              </a:rPr>
              <a:t>Bu modellerin seçilme nedenleri</a:t>
            </a:r>
            <a:endParaRPr/>
          </a:p>
          <a:p>
            <a:pPr indent="-2540" lvl="0" marL="91440" marR="0" rtl="0" algn="l">
              <a:lnSpc>
                <a:spcPct val="90000"/>
              </a:lnSpc>
              <a:spcBef>
                <a:spcPts val="1200"/>
              </a:spcBef>
              <a:spcAft>
                <a:spcPts val="0"/>
              </a:spcAft>
              <a:buClr>
                <a:schemeClr val="accent2"/>
              </a:buClr>
              <a:buSzPts val="1400"/>
              <a:buFont typeface="Twentieth Century"/>
              <a:buNone/>
            </a:pPr>
            <a:r>
              <a:t/>
            </a:r>
            <a:endParaRPr b="1" sz="1400">
              <a:solidFill>
                <a:schemeClr val="dk1"/>
              </a:solidFill>
              <a:latin typeface="Twentieth Century"/>
              <a:ea typeface="Twentieth Century"/>
              <a:cs typeface="Twentieth Century"/>
              <a:sym typeface="Twentieth Century"/>
            </a:endParaRPr>
          </a:p>
          <a:p>
            <a:pPr indent="-91440" lvl="0" marL="91440" marR="0" rtl="0" algn="l">
              <a:lnSpc>
                <a:spcPct val="90000"/>
              </a:lnSpc>
              <a:spcBef>
                <a:spcPts val="1400"/>
              </a:spcBef>
              <a:spcAft>
                <a:spcPts val="0"/>
              </a:spcAft>
              <a:buClr>
                <a:schemeClr val="accent2"/>
              </a:buClr>
              <a:buSzPts val="1400"/>
              <a:buFont typeface="Twentieth Century"/>
              <a:buChar char=" "/>
            </a:pPr>
            <a:r>
              <a:rPr b="1" lang="tr-TR" sz="1400">
                <a:solidFill>
                  <a:schemeClr val="dk1"/>
                </a:solidFill>
                <a:latin typeface="Twentieth Century"/>
                <a:ea typeface="Twentieth Century"/>
                <a:cs typeface="Twentieth Century"/>
                <a:sym typeface="Twentieth Century"/>
              </a:rPr>
              <a:t>4. Eğitim, Doğrulama ve Deney Tasarımı</a:t>
            </a:r>
            <a:endParaRPr/>
          </a:p>
          <a:p>
            <a:pPr indent="0" lvl="0" marL="0" marR="0" rtl="0" algn="l">
              <a:spcBef>
                <a:spcPts val="200"/>
              </a:spcBef>
              <a:spcAft>
                <a:spcPts val="0"/>
              </a:spcAft>
              <a:buNone/>
            </a:pPr>
            <a:r>
              <a:t/>
            </a:r>
            <a:endParaRPr sz="1200">
              <a:solidFill>
                <a:schemeClr val="dk1"/>
              </a:solidFill>
              <a:latin typeface="Twentieth Century"/>
              <a:ea typeface="Twentieth Century"/>
              <a:cs typeface="Twentieth Century"/>
              <a:sym typeface="Twentieth Century"/>
            </a:endParaRPr>
          </a:p>
          <a:p>
            <a:pPr indent="-91440" lvl="0" marL="91440" marR="0" rtl="0" algn="l">
              <a:spcBef>
                <a:spcPts val="0"/>
              </a:spcBef>
              <a:spcAft>
                <a:spcPts val="0"/>
              </a:spcAft>
              <a:buClr>
                <a:schemeClr val="accent2"/>
              </a:buClr>
              <a:buSzPts val="1400"/>
              <a:buFont typeface="Twentieth Century"/>
              <a:buChar char=" "/>
            </a:pPr>
            <a:r>
              <a:rPr lang="tr-TR" sz="1400">
                <a:solidFill>
                  <a:schemeClr val="dk1"/>
                </a:solidFill>
                <a:latin typeface="Twentieth Century"/>
                <a:ea typeface="Twentieth Century"/>
                <a:cs typeface="Twentieth Century"/>
                <a:sym typeface="Twentieth Century"/>
              </a:rPr>
              <a:t>Bu alt bölüm, deneysel süreçlerin nasıl gerçekleştirildiğini açıklar:</a:t>
            </a:r>
            <a:endParaRPr/>
          </a:p>
          <a:p>
            <a:pPr indent="-91440" lvl="0" marL="91440" marR="0" rtl="0" algn="l">
              <a:spcBef>
                <a:spcPts val="0"/>
              </a:spcBef>
              <a:spcAft>
                <a:spcPts val="0"/>
              </a:spcAft>
              <a:buClr>
                <a:schemeClr val="accent2"/>
              </a:buClr>
              <a:buSzPts val="1400"/>
              <a:buFont typeface="Twentieth Century"/>
              <a:buChar char=" "/>
            </a:pPr>
            <a:r>
              <a:rPr lang="tr-TR" sz="1400">
                <a:solidFill>
                  <a:schemeClr val="dk1"/>
                </a:solidFill>
                <a:latin typeface="Twentieth Century"/>
                <a:ea typeface="Twentieth Century"/>
                <a:cs typeface="Twentieth Century"/>
                <a:sym typeface="Twentieth Century"/>
              </a:rPr>
              <a:t>Eğitim sürecinin parametreleri (epoch, batch size, learning rate vb.)</a:t>
            </a:r>
            <a:endParaRPr/>
          </a:p>
          <a:p>
            <a:pPr indent="-91440" lvl="0" marL="91440" marR="0" rtl="0" algn="l">
              <a:spcBef>
                <a:spcPts val="0"/>
              </a:spcBef>
              <a:spcAft>
                <a:spcPts val="0"/>
              </a:spcAft>
              <a:buClr>
                <a:schemeClr val="accent2"/>
              </a:buClr>
              <a:buSzPts val="1400"/>
              <a:buFont typeface="Twentieth Century"/>
              <a:buChar char=" "/>
            </a:pPr>
            <a:r>
              <a:rPr lang="tr-TR" sz="1400">
                <a:solidFill>
                  <a:schemeClr val="dk1"/>
                </a:solidFill>
                <a:latin typeface="Twentieth Century"/>
                <a:ea typeface="Twentieth Century"/>
                <a:cs typeface="Twentieth Century"/>
                <a:sym typeface="Twentieth Century"/>
              </a:rPr>
              <a:t>Hiperparametre optimizasyon yöntemi (Grid Search, Bayesian Optimization vb.)</a:t>
            </a:r>
            <a:endParaRPr/>
          </a:p>
          <a:p>
            <a:pPr indent="-91440" lvl="0" marL="91440" marR="0" rtl="0" algn="l">
              <a:spcBef>
                <a:spcPts val="0"/>
              </a:spcBef>
              <a:spcAft>
                <a:spcPts val="0"/>
              </a:spcAft>
              <a:buClr>
                <a:schemeClr val="accent2"/>
              </a:buClr>
              <a:buSzPts val="1400"/>
              <a:buFont typeface="Twentieth Century"/>
              <a:buChar char=" "/>
            </a:pPr>
            <a:r>
              <a:rPr lang="tr-TR" sz="1400">
                <a:solidFill>
                  <a:schemeClr val="dk1"/>
                </a:solidFill>
                <a:latin typeface="Twentieth Century"/>
                <a:ea typeface="Twentieth Century"/>
                <a:cs typeface="Twentieth Century"/>
                <a:sym typeface="Twentieth Century"/>
              </a:rPr>
              <a:t>Kullanılan donanım (GPU/CPU bilgisi, kütüphaneler)</a:t>
            </a:r>
            <a:endParaRPr/>
          </a:p>
          <a:p>
            <a:pPr indent="-2540" lvl="0" marL="91440" marR="0" rtl="0" algn="l">
              <a:spcBef>
                <a:spcPts val="0"/>
              </a:spcBef>
              <a:spcAft>
                <a:spcPts val="0"/>
              </a:spcAft>
              <a:buClr>
                <a:schemeClr val="accent2"/>
              </a:buClr>
              <a:buSzPts val="1400"/>
              <a:buFont typeface="Twentieth Century"/>
              <a:buNone/>
            </a:pPr>
            <a:r>
              <a:t/>
            </a:r>
            <a:endParaRPr sz="1400">
              <a:solidFill>
                <a:schemeClr val="dk1"/>
              </a:solidFill>
              <a:latin typeface="Twentieth Century"/>
              <a:ea typeface="Twentieth Century"/>
              <a:cs typeface="Twentieth Century"/>
              <a:sym typeface="Twentieth Century"/>
            </a:endParaRPr>
          </a:p>
          <a:p>
            <a:pPr indent="-91440" lvl="0" marL="91440" marR="0" rtl="0" algn="l">
              <a:lnSpc>
                <a:spcPct val="90000"/>
              </a:lnSpc>
              <a:spcBef>
                <a:spcPts val="1200"/>
              </a:spcBef>
              <a:spcAft>
                <a:spcPts val="0"/>
              </a:spcAft>
              <a:buClr>
                <a:schemeClr val="accent2"/>
              </a:buClr>
              <a:buSzPts val="1400"/>
              <a:buFont typeface="Twentieth Century"/>
              <a:buChar char=" "/>
            </a:pPr>
            <a:r>
              <a:rPr b="1" lang="tr-TR" sz="1400">
                <a:solidFill>
                  <a:schemeClr val="dk1"/>
                </a:solidFill>
                <a:latin typeface="Twentieth Century"/>
                <a:ea typeface="Twentieth Century"/>
                <a:cs typeface="Twentieth Century"/>
                <a:sym typeface="Twentieth Century"/>
              </a:rPr>
              <a:t>5. Ölçme ve Değerlendirme Metrikleri</a:t>
            </a:r>
            <a:endParaRPr/>
          </a:p>
          <a:p>
            <a:pPr indent="0" lvl="0" marL="0" marR="0" rtl="0" algn="l">
              <a:spcBef>
                <a:spcPts val="200"/>
              </a:spcBef>
              <a:spcAft>
                <a:spcPts val="0"/>
              </a:spcAft>
              <a:buNone/>
            </a:pPr>
            <a:r>
              <a:t/>
            </a:r>
            <a:endParaRPr sz="1200">
              <a:solidFill>
                <a:schemeClr val="dk1"/>
              </a:solidFill>
              <a:latin typeface="Twentieth Century"/>
              <a:ea typeface="Twentieth Century"/>
              <a:cs typeface="Twentieth Century"/>
              <a:sym typeface="Twentieth Century"/>
            </a:endParaRPr>
          </a:p>
          <a:p>
            <a:pPr indent="-91440" lvl="0" marL="91440" marR="0" rtl="0" algn="l">
              <a:spcBef>
                <a:spcPts val="0"/>
              </a:spcBef>
              <a:spcAft>
                <a:spcPts val="0"/>
              </a:spcAft>
              <a:buClr>
                <a:schemeClr val="accent2"/>
              </a:buClr>
              <a:buSzPts val="1400"/>
              <a:buFont typeface="Twentieth Century"/>
              <a:buChar char=" "/>
            </a:pPr>
            <a:r>
              <a:rPr lang="tr-TR" sz="1400">
                <a:solidFill>
                  <a:schemeClr val="dk1"/>
                </a:solidFill>
                <a:latin typeface="Twentieth Century"/>
                <a:ea typeface="Twentieth Century"/>
                <a:cs typeface="Twentieth Century"/>
                <a:sym typeface="Twentieth Century"/>
              </a:rPr>
              <a:t>Methods sonunda mutlaka kullanılan performans metrikleri belirtilir:</a:t>
            </a:r>
            <a:endParaRPr/>
          </a:p>
          <a:p>
            <a:pPr indent="-91440" lvl="0" marL="91440" marR="0" rtl="0" algn="l">
              <a:spcBef>
                <a:spcPts val="0"/>
              </a:spcBef>
              <a:spcAft>
                <a:spcPts val="0"/>
              </a:spcAft>
              <a:buClr>
                <a:schemeClr val="accent2"/>
              </a:buClr>
              <a:buSzPts val="1400"/>
              <a:buFont typeface="Twentieth Century"/>
              <a:buChar char=" "/>
            </a:pPr>
            <a:r>
              <a:rPr lang="tr-TR" sz="1400">
                <a:solidFill>
                  <a:schemeClr val="dk1"/>
                </a:solidFill>
                <a:latin typeface="Twentieth Century"/>
                <a:ea typeface="Twentieth Century"/>
                <a:cs typeface="Twentieth Century"/>
                <a:sym typeface="Twentieth Century"/>
              </a:rPr>
              <a:t>Sınıflandırma: Accuracy, Precision, Recall, F1, AUC</a:t>
            </a:r>
            <a:endParaRPr/>
          </a:p>
          <a:p>
            <a:pPr indent="-91440" lvl="0" marL="91440" marR="0" rtl="0" algn="l">
              <a:spcBef>
                <a:spcPts val="0"/>
              </a:spcBef>
              <a:spcAft>
                <a:spcPts val="0"/>
              </a:spcAft>
              <a:buClr>
                <a:schemeClr val="accent2"/>
              </a:buClr>
              <a:buSzPts val="1400"/>
              <a:buFont typeface="Twentieth Century"/>
              <a:buChar char=" "/>
            </a:pPr>
            <a:r>
              <a:rPr lang="tr-TR" sz="1400">
                <a:solidFill>
                  <a:schemeClr val="dk1"/>
                </a:solidFill>
                <a:latin typeface="Twentieth Century"/>
                <a:ea typeface="Twentieth Century"/>
                <a:cs typeface="Twentieth Century"/>
                <a:sym typeface="Twentieth Century"/>
              </a:rPr>
              <a:t>Regresyon: RMSE, MAE, R²</a:t>
            </a:r>
            <a:endParaRPr/>
          </a:p>
          <a:p>
            <a:pPr indent="-91440" lvl="0" marL="91440" marR="0" rtl="0" algn="l">
              <a:spcBef>
                <a:spcPts val="0"/>
              </a:spcBef>
              <a:spcAft>
                <a:spcPts val="0"/>
              </a:spcAft>
              <a:buClr>
                <a:schemeClr val="accent2"/>
              </a:buClr>
              <a:buSzPts val="1400"/>
              <a:buFont typeface="Twentieth Century"/>
              <a:buChar char=" "/>
            </a:pPr>
            <a:r>
              <a:rPr lang="tr-TR" sz="1400">
                <a:solidFill>
                  <a:schemeClr val="dk1"/>
                </a:solidFill>
                <a:latin typeface="Twentieth Century"/>
                <a:ea typeface="Twentieth Century"/>
                <a:cs typeface="Twentieth Century"/>
                <a:sym typeface="Twentieth Century"/>
              </a:rPr>
              <a:t>Öneri sistemleri: Precision@K, Recall@K, MAP, NDCG</a:t>
            </a:r>
            <a:endParaRPr/>
          </a:p>
          <a:p>
            <a:pPr indent="-91440" lvl="0" marL="91440" marR="0" rtl="0" algn="l">
              <a:spcBef>
                <a:spcPts val="0"/>
              </a:spcBef>
              <a:spcAft>
                <a:spcPts val="0"/>
              </a:spcAft>
              <a:buClr>
                <a:schemeClr val="accent2"/>
              </a:buClr>
              <a:buSzPts val="1400"/>
              <a:buFont typeface="Twentieth Century"/>
              <a:buChar char=" "/>
            </a:pPr>
            <a:r>
              <a:rPr lang="tr-TR" sz="1400">
                <a:solidFill>
                  <a:schemeClr val="dk1"/>
                </a:solidFill>
                <a:latin typeface="Twentieth Century"/>
                <a:ea typeface="Twentieth Century"/>
                <a:cs typeface="Twentieth Century"/>
                <a:sym typeface="Twentieth Century"/>
              </a:rPr>
              <a:t>Zaman serisi: MAPE, sMAPE</a:t>
            </a:r>
            <a:endParaRPr sz="1400">
              <a:solidFill>
                <a:schemeClr val="dk1"/>
              </a:solidFill>
              <a:latin typeface="Twentieth Century"/>
              <a:ea typeface="Twentieth Century"/>
              <a:cs typeface="Twentieth Century"/>
              <a:sym typeface="Twentieth Century"/>
            </a:endParaRPr>
          </a:p>
        </p:txBody>
      </p:sp>
      <p:pic>
        <p:nvPicPr>
          <p:cNvPr id="257" name="Google Shape;257;p25"/>
          <p:cNvPicPr preferRelativeResize="0"/>
          <p:nvPr/>
        </p:nvPicPr>
        <p:blipFill rotWithShape="1">
          <a:blip r:embed="rId3">
            <a:alphaModFix/>
          </a:blip>
          <a:srcRect b="0" l="0" r="0" t="0"/>
          <a:stretch/>
        </p:blipFill>
        <p:spPr>
          <a:xfrm>
            <a:off x="155889" y="0"/>
            <a:ext cx="789782" cy="96812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6"/>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b="1" lang="tr-TR"/>
              <a:t>Results (Sonuçlar)</a:t>
            </a:r>
            <a:endParaRPr/>
          </a:p>
        </p:txBody>
      </p:sp>
      <p:sp>
        <p:nvSpPr>
          <p:cNvPr id="263" name="Google Shape;263;p26"/>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Bir bilimsel makalenin </a:t>
            </a:r>
            <a:r>
              <a:rPr b="1" lang="tr-TR"/>
              <a:t>bulguların sunulduğu</a:t>
            </a:r>
            <a:r>
              <a:rPr lang="tr-TR"/>
              <a:t> ve </a:t>
            </a:r>
            <a:r>
              <a:rPr b="1" lang="tr-TR"/>
              <a:t>verinin konuştuğu</a:t>
            </a:r>
            <a:r>
              <a:rPr lang="tr-TR"/>
              <a:t> bölümüdür. Araştırmacı bu bölümde hem deneysel çıktılarını hem de analiz sonuçlarını </a:t>
            </a:r>
            <a:r>
              <a:rPr b="1" lang="tr-TR"/>
              <a:t>yorum eklemeden</a:t>
            </a:r>
            <a:r>
              <a:rPr lang="tr-TR"/>
              <a:t>, </a:t>
            </a:r>
            <a:r>
              <a:rPr b="1" lang="tr-TR"/>
              <a:t>nesnel bir şekilde</a:t>
            </a:r>
            <a:r>
              <a:rPr lang="tr-TR"/>
              <a:t> aktarır.</a:t>
            </a:r>
            <a:endParaRPr/>
          </a:p>
          <a:p>
            <a:pPr indent="-127000" lvl="0" marL="91440" rtl="0" algn="l">
              <a:lnSpc>
                <a:spcPct val="90000"/>
              </a:lnSpc>
              <a:spcBef>
                <a:spcPts val="1400"/>
              </a:spcBef>
              <a:spcAft>
                <a:spcPts val="0"/>
              </a:spcAft>
              <a:buSzPts val="2000"/>
              <a:buChar char=" "/>
            </a:pPr>
            <a:r>
              <a:rPr lang="tr-TR"/>
              <a:t>Bu açıdan Results bölümü, IMRaD modelinin en “teknik olarak tarafsız” kısmıdır.</a:t>
            </a:r>
            <a:endParaRPr/>
          </a:p>
          <a:p>
            <a:pPr indent="-127000" lvl="0" marL="91440" rtl="0" algn="l">
              <a:lnSpc>
                <a:spcPct val="90000"/>
              </a:lnSpc>
              <a:spcBef>
                <a:spcPts val="1400"/>
              </a:spcBef>
              <a:spcAft>
                <a:spcPts val="0"/>
              </a:spcAft>
              <a:buSzPts val="2000"/>
              <a:buChar char=" "/>
            </a:pPr>
            <a:r>
              <a:rPr lang="tr-TR"/>
              <a:t>Modellerin performansını göstermek, Karşılaştırmalı grafiklerle deney bulgularını nesnel sunmak amaçtır</a:t>
            </a:r>
            <a:endParaRPr/>
          </a:p>
          <a:p>
            <a:pPr indent="0" lvl="0" marL="91440" rtl="0" algn="l">
              <a:lnSpc>
                <a:spcPct val="90000"/>
              </a:lnSpc>
              <a:spcBef>
                <a:spcPts val="1400"/>
              </a:spcBef>
              <a:spcAft>
                <a:spcPts val="0"/>
              </a:spcAft>
              <a:buSzPts val="2000"/>
              <a:buNone/>
            </a:pPr>
            <a:r>
              <a:t/>
            </a:r>
            <a:endParaRPr/>
          </a:p>
        </p:txBody>
      </p:sp>
      <p:pic>
        <p:nvPicPr>
          <p:cNvPr id="264" name="Google Shape;264;p26"/>
          <p:cNvPicPr preferRelativeResize="0"/>
          <p:nvPr/>
        </p:nvPicPr>
        <p:blipFill rotWithShape="1">
          <a:blip r:embed="rId3">
            <a:alphaModFix/>
          </a:blip>
          <a:srcRect b="0" l="0" r="0" t="0"/>
          <a:stretch/>
        </p:blipFill>
        <p:spPr>
          <a:xfrm>
            <a:off x="5807412" y="0"/>
            <a:ext cx="997389" cy="12612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7"/>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t/>
            </a:r>
            <a:endParaRPr/>
          </a:p>
        </p:txBody>
      </p:sp>
      <p:sp>
        <p:nvSpPr>
          <p:cNvPr id="270" name="Google Shape;270;p27"/>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b="1" lang="tr-TR"/>
              <a:t>Results Bölümünün Amacı Nedir?</a:t>
            </a:r>
            <a:endParaRPr/>
          </a:p>
          <a:p>
            <a:pPr indent="-127000" lvl="0" marL="91440" rtl="0" algn="l">
              <a:lnSpc>
                <a:spcPct val="90000"/>
              </a:lnSpc>
              <a:spcBef>
                <a:spcPts val="1400"/>
              </a:spcBef>
              <a:spcAft>
                <a:spcPts val="0"/>
              </a:spcAft>
              <a:buSzPts val="2000"/>
              <a:buChar char=" "/>
            </a:pPr>
            <a:r>
              <a:rPr lang="tr-TR"/>
              <a:t>Araştırmanın deneylerinden, uygulamalarından veya analizlerinden </a:t>
            </a:r>
            <a:r>
              <a:rPr b="1" lang="tr-TR"/>
              <a:t>elde edilen bulguları sunmak</a:t>
            </a:r>
            <a:endParaRPr/>
          </a:p>
          <a:p>
            <a:pPr indent="-127000" lvl="0" marL="91440" rtl="0" algn="l">
              <a:lnSpc>
                <a:spcPct val="90000"/>
              </a:lnSpc>
              <a:spcBef>
                <a:spcPts val="1400"/>
              </a:spcBef>
              <a:spcAft>
                <a:spcPts val="0"/>
              </a:spcAft>
              <a:buSzPts val="2000"/>
              <a:buChar char=" "/>
            </a:pPr>
            <a:r>
              <a:rPr lang="tr-TR"/>
              <a:t>Veriyi </a:t>
            </a:r>
            <a:r>
              <a:rPr b="1" lang="tr-TR"/>
              <a:t>kanıta dayalı</a:t>
            </a:r>
            <a:r>
              <a:rPr lang="tr-TR"/>
              <a:t> biçimde ortaya koymak</a:t>
            </a:r>
            <a:endParaRPr/>
          </a:p>
          <a:p>
            <a:pPr indent="-127000" lvl="0" marL="91440" rtl="0" algn="l">
              <a:lnSpc>
                <a:spcPct val="90000"/>
              </a:lnSpc>
              <a:spcBef>
                <a:spcPts val="1400"/>
              </a:spcBef>
              <a:spcAft>
                <a:spcPts val="0"/>
              </a:spcAft>
              <a:buSzPts val="2000"/>
              <a:buChar char=" "/>
            </a:pPr>
            <a:r>
              <a:rPr lang="tr-TR"/>
              <a:t>Yöntem bölümünde tanımlanan süreçlerin çıktısını göstermek</a:t>
            </a:r>
            <a:endParaRPr/>
          </a:p>
          <a:p>
            <a:pPr indent="-127000" lvl="0" marL="91440" rtl="0" algn="l">
              <a:lnSpc>
                <a:spcPct val="90000"/>
              </a:lnSpc>
              <a:spcBef>
                <a:spcPts val="1400"/>
              </a:spcBef>
              <a:spcAft>
                <a:spcPts val="0"/>
              </a:spcAft>
              <a:buSzPts val="2000"/>
              <a:buChar char=" "/>
            </a:pPr>
            <a:r>
              <a:rPr lang="tr-TR"/>
              <a:t>Okuyucunun çalışmanın başarımını nicel ve nitel olarak değerlendirebilmesini sağlamak</a:t>
            </a:r>
            <a:endParaRPr/>
          </a:p>
          <a:p>
            <a:pPr indent="-127000" lvl="0" marL="91440" rtl="0" algn="l">
              <a:lnSpc>
                <a:spcPct val="90000"/>
              </a:lnSpc>
              <a:spcBef>
                <a:spcPts val="1400"/>
              </a:spcBef>
              <a:spcAft>
                <a:spcPts val="0"/>
              </a:spcAft>
              <a:buSzPts val="2000"/>
              <a:buChar char=" "/>
            </a:pPr>
            <a:r>
              <a:rPr lang="tr-TR"/>
              <a:t>➡️ </a:t>
            </a:r>
            <a:r>
              <a:rPr b="1" lang="tr-TR"/>
              <a:t>Bu bölüm “ne bulduğunuzu” açıklar; “ne anlama geldiğini” tartışmaz (tartışma Discussion kısmında)</a:t>
            </a:r>
            <a:endParaRPr/>
          </a:p>
          <a:p>
            <a:pPr indent="0" lvl="0" marL="91440" rtl="0" algn="l">
              <a:lnSpc>
                <a:spcPct val="90000"/>
              </a:lnSpc>
              <a:spcBef>
                <a:spcPts val="1400"/>
              </a:spcBef>
              <a:spcAft>
                <a:spcPts val="0"/>
              </a:spcAft>
              <a:buSzPts val="2000"/>
              <a:buNone/>
            </a:pPr>
            <a:r>
              <a:t/>
            </a:r>
            <a:endParaRPr/>
          </a:p>
        </p:txBody>
      </p:sp>
      <p:pic>
        <p:nvPicPr>
          <p:cNvPr id="271" name="Google Shape;271;p27"/>
          <p:cNvPicPr preferRelativeResize="0"/>
          <p:nvPr/>
        </p:nvPicPr>
        <p:blipFill rotWithShape="1">
          <a:blip r:embed="rId3">
            <a:alphaModFix/>
          </a:blip>
          <a:srcRect b="0" l="0" r="0" t="0"/>
          <a:stretch/>
        </p:blipFill>
        <p:spPr>
          <a:xfrm>
            <a:off x="7762671" y="0"/>
            <a:ext cx="997389" cy="12612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8"/>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t/>
            </a:r>
            <a:endParaRPr/>
          </a:p>
        </p:txBody>
      </p:sp>
      <p:sp>
        <p:nvSpPr>
          <p:cNvPr id="277" name="Google Shape;277;p28"/>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b="1" lang="tr-TR"/>
              <a:t>Bu Bölümü Güçlendiren Öğeler</a:t>
            </a:r>
            <a:endParaRPr/>
          </a:p>
          <a:p>
            <a:pPr indent="-127000" lvl="0" marL="91440" rtl="0" algn="l">
              <a:lnSpc>
                <a:spcPct val="90000"/>
              </a:lnSpc>
              <a:spcBef>
                <a:spcPts val="1400"/>
              </a:spcBef>
              <a:spcAft>
                <a:spcPts val="0"/>
              </a:spcAft>
              <a:buSzPts val="2000"/>
              <a:buChar char=" "/>
            </a:pPr>
            <a:r>
              <a:rPr lang="tr-TR"/>
              <a:t>AUC, F1, Recall, RMSE gibi metrik tabloları, ROC eğrileri, Confusion matrix</a:t>
            </a:r>
            <a:endParaRPr/>
          </a:p>
          <a:p>
            <a:pPr indent="-127000" lvl="0" marL="91440" rtl="0" algn="l">
              <a:lnSpc>
                <a:spcPct val="90000"/>
              </a:lnSpc>
              <a:spcBef>
                <a:spcPts val="1400"/>
              </a:spcBef>
              <a:spcAft>
                <a:spcPts val="0"/>
              </a:spcAft>
              <a:buSzPts val="2000"/>
              <a:buChar char=" "/>
            </a:pPr>
            <a:r>
              <a:rPr lang="tr-TR"/>
              <a:t>Embedding görselleri (Word2Vec, BERT), Zaman ağırlıklı model çıktı grafikleri</a:t>
            </a:r>
            <a:endParaRPr/>
          </a:p>
          <a:p>
            <a:pPr indent="-127000" lvl="0" marL="91440" rtl="0" algn="l">
              <a:lnSpc>
                <a:spcPct val="90000"/>
              </a:lnSpc>
              <a:spcBef>
                <a:spcPts val="1400"/>
              </a:spcBef>
              <a:spcAft>
                <a:spcPts val="0"/>
              </a:spcAft>
              <a:buSzPts val="2000"/>
              <a:buChar char=" "/>
            </a:pPr>
            <a:r>
              <a:rPr b="1" lang="tr-TR"/>
              <a:t>Akademik Yazım için İpuçları</a:t>
            </a:r>
            <a:endParaRPr/>
          </a:p>
          <a:p>
            <a:pPr indent="-127000" lvl="0" marL="91440" rtl="0" algn="l">
              <a:lnSpc>
                <a:spcPct val="90000"/>
              </a:lnSpc>
              <a:spcBef>
                <a:spcPts val="1400"/>
              </a:spcBef>
              <a:spcAft>
                <a:spcPts val="0"/>
              </a:spcAft>
              <a:buSzPts val="2000"/>
              <a:buFont typeface="Noto Sans Symbols"/>
              <a:buChar char="▪"/>
            </a:pPr>
            <a:r>
              <a:rPr lang="tr-TR"/>
              <a:t>Sonuçları yorumsuz ve nesnel şekilde sunun</a:t>
            </a:r>
            <a:endParaRPr/>
          </a:p>
          <a:p>
            <a:pPr indent="-127000" lvl="0" marL="91440" rtl="0" algn="l">
              <a:lnSpc>
                <a:spcPct val="90000"/>
              </a:lnSpc>
              <a:spcBef>
                <a:spcPts val="1400"/>
              </a:spcBef>
              <a:spcAft>
                <a:spcPts val="0"/>
              </a:spcAft>
              <a:buSzPts val="2000"/>
              <a:buFont typeface="Noto Sans Symbols"/>
              <a:buChar char="▪"/>
            </a:pPr>
            <a:r>
              <a:rPr lang="tr-TR"/>
              <a:t>Başarısız sonuçlar da bilimsel olarak değerlidir</a:t>
            </a:r>
            <a:endParaRPr/>
          </a:p>
          <a:p>
            <a:pPr indent="-127000" lvl="0" marL="91440" rtl="0" algn="l">
              <a:lnSpc>
                <a:spcPct val="90000"/>
              </a:lnSpc>
              <a:spcBef>
                <a:spcPts val="1400"/>
              </a:spcBef>
              <a:spcAft>
                <a:spcPts val="0"/>
              </a:spcAft>
              <a:buSzPts val="2000"/>
              <a:buFont typeface="Noto Sans Symbols"/>
              <a:buChar char="▪"/>
            </a:pPr>
            <a:r>
              <a:rPr lang="tr-TR"/>
              <a:t>Kıyaslamayı mutlaka literatürle yapın</a:t>
            </a:r>
            <a:endParaRPr/>
          </a:p>
          <a:p>
            <a:pPr indent="0" lvl="0" marL="91440" rtl="0" algn="l">
              <a:lnSpc>
                <a:spcPct val="90000"/>
              </a:lnSpc>
              <a:spcBef>
                <a:spcPts val="1400"/>
              </a:spcBef>
              <a:spcAft>
                <a:spcPts val="0"/>
              </a:spcAft>
              <a:buSzPts val="2000"/>
              <a:buNone/>
            </a:pPr>
            <a:r>
              <a:t/>
            </a:r>
            <a:endParaRPr/>
          </a:p>
        </p:txBody>
      </p:sp>
      <p:pic>
        <p:nvPicPr>
          <p:cNvPr id="278" name="Google Shape;278;p28"/>
          <p:cNvPicPr preferRelativeResize="0"/>
          <p:nvPr/>
        </p:nvPicPr>
        <p:blipFill rotWithShape="1">
          <a:blip r:embed="rId3">
            <a:alphaModFix/>
          </a:blip>
          <a:srcRect b="0" l="0" r="0" t="0"/>
          <a:stretch/>
        </p:blipFill>
        <p:spPr>
          <a:xfrm>
            <a:off x="7743216" y="-8833"/>
            <a:ext cx="997389" cy="12612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9"/>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Results için Öneriler</a:t>
            </a:r>
            <a:endParaRPr/>
          </a:p>
        </p:txBody>
      </p:sp>
      <p:sp>
        <p:nvSpPr>
          <p:cNvPr id="284" name="Google Shape;284;p29"/>
          <p:cNvSpPr txBox="1"/>
          <p:nvPr>
            <p:ph idx="1" type="body"/>
          </p:nvPr>
        </p:nvSpPr>
        <p:spPr>
          <a:xfrm>
            <a:off x="667512" y="1078992"/>
            <a:ext cx="7390639" cy="5230368"/>
          </a:xfrm>
          <a:prstGeom prst="rect">
            <a:avLst/>
          </a:prstGeom>
          <a:noFill/>
          <a:ln>
            <a:noFill/>
          </a:ln>
        </p:spPr>
        <p:txBody>
          <a:bodyPr anchorCtr="0" anchor="t" bIns="45700" lIns="45700" spcFirstLastPara="1" rIns="45700" wrap="square" tIns="45700">
            <a:normAutofit fontScale="77500" lnSpcReduction="20000"/>
          </a:bodyPr>
          <a:lstStyle/>
          <a:p>
            <a:pPr indent="-98425" lvl="0" marL="91440" rtl="0" algn="l">
              <a:lnSpc>
                <a:spcPct val="90000"/>
              </a:lnSpc>
              <a:spcBef>
                <a:spcPts val="0"/>
              </a:spcBef>
              <a:spcAft>
                <a:spcPts val="0"/>
              </a:spcAft>
              <a:buSzPct val="100000"/>
              <a:buChar char=" "/>
            </a:pPr>
            <a:r>
              <a:rPr lang="tr-TR"/>
              <a:t>Aşağıdaki ilkeler tüm disiplinlerde geçerlidir:</a:t>
            </a:r>
            <a:endParaRPr/>
          </a:p>
          <a:p>
            <a:pPr indent="-98425" lvl="0" marL="91440" rtl="0" algn="l">
              <a:lnSpc>
                <a:spcPct val="90000"/>
              </a:lnSpc>
              <a:spcBef>
                <a:spcPts val="1400"/>
              </a:spcBef>
              <a:spcAft>
                <a:spcPts val="0"/>
              </a:spcAft>
              <a:buSzPct val="100000"/>
              <a:buChar char=" "/>
            </a:pPr>
            <a:br>
              <a:rPr lang="tr-TR"/>
            </a:br>
            <a:r>
              <a:rPr lang="tr-TR"/>
              <a:t>✔ </a:t>
            </a:r>
            <a:r>
              <a:rPr b="1" lang="tr-TR"/>
              <a:t>Nesnel ve doğrudan olmalı</a:t>
            </a:r>
            <a:r>
              <a:rPr lang="tr-TR"/>
              <a:t> — </a:t>
            </a:r>
            <a:r>
              <a:rPr lang="tr-TR" u="sng">
                <a:solidFill>
                  <a:srgbClr val="FF0000"/>
                </a:solidFill>
              </a:rPr>
              <a:t>Yorumdan</a:t>
            </a:r>
            <a:r>
              <a:rPr lang="tr-TR">
                <a:solidFill>
                  <a:srgbClr val="FF0000"/>
                </a:solidFill>
              </a:rPr>
              <a:t> kaçınılır: </a:t>
            </a:r>
            <a:endParaRPr>
              <a:solidFill>
                <a:srgbClr val="FF0000"/>
              </a:solidFill>
            </a:endParaRPr>
          </a:p>
          <a:p>
            <a:pPr indent="-98425" lvl="0" marL="91440" rtl="0" algn="l">
              <a:lnSpc>
                <a:spcPct val="90000"/>
              </a:lnSpc>
              <a:spcBef>
                <a:spcPts val="1400"/>
              </a:spcBef>
              <a:spcAft>
                <a:spcPts val="0"/>
              </a:spcAft>
              <a:buSzPct val="100000"/>
              <a:buChar char=" "/>
            </a:pPr>
            <a:r>
              <a:rPr lang="tr-TR">
                <a:solidFill>
                  <a:srgbClr val="FF0000"/>
                </a:solidFill>
              </a:rPr>
              <a:t>❌ “Bu sonuç çok iyi görünmektedir…” </a:t>
            </a:r>
            <a:endParaRPr>
              <a:solidFill>
                <a:srgbClr val="FF0000"/>
              </a:solidFill>
            </a:endParaRPr>
          </a:p>
          <a:p>
            <a:pPr indent="-98425" lvl="0" marL="91440" rtl="0" algn="l">
              <a:lnSpc>
                <a:spcPct val="90000"/>
              </a:lnSpc>
              <a:spcBef>
                <a:spcPts val="1400"/>
              </a:spcBef>
              <a:spcAft>
                <a:spcPts val="0"/>
              </a:spcAft>
              <a:buSzPct val="100000"/>
              <a:buChar char=" "/>
            </a:pPr>
            <a:r>
              <a:rPr lang="tr-TR"/>
              <a:t>✔ “Model A, Model B’den %12 daha yüksek doğruluk elde etmiştir.”</a:t>
            </a:r>
            <a:endParaRPr/>
          </a:p>
          <a:p>
            <a:pPr indent="-98425" lvl="0" marL="91440" rtl="0" algn="l">
              <a:lnSpc>
                <a:spcPct val="90000"/>
              </a:lnSpc>
              <a:spcBef>
                <a:spcPts val="1400"/>
              </a:spcBef>
              <a:spcAft>
                <a:spcPts val="0"/>
              </a:spcAft>
              <a:buSzPct val="100000"/>
              <a:buChar char=" "/>
            </a:pPr>
            <a:br>
              <a:rPr lang="tr-TR"/>
            </a:br>
            <a:r>
              <a:rPr lang="tr-TR"/>
              <a:t>✔ </a:t>
            </a:r>
            <a:r>
              <a:rPr b="1" lang="tr-TR"/>
              <a:t>Okuyucunun sonuçları yeniden üretebilmesini sağlayacak netlikte olmalı</a:t>
            </a:r>
            <a:r>
              <a:rPr lang="tr-TR"/>
              <a:t> — İyi bir Results bölümü şu soruya cevap verir: “Aynı veri ve yöntem verilse aynı sonuç elde edilebilir mi?”</a:t>
            </a:r>
            <a:endParaRPr/>
          </a:p>
          <a:p>
            <a:pPr indent="-98425" lvl="0" marL="91440" rtl="0" algn="l">
              <a:lnSpc>
                <a:spcPct val="90000"/>
              </a:lnSpc>
              <a:spcBef>
                <a:spcPts val="1400"/>
              </a:spcBef>
              <a:spcAft>
                <a:spcPts val="0"/>
              </a:spcAft>
              <a:buSzPct val="100000"/>
              <a:buChar char=" "/>
            </a:pPr>
            <a:br>
              <a:rPr lang="tr-TR"/>
            </a:br>
            <a:r>
              <a:rPr lang="tr-TR"/>
              <a:t>✔ </a:t>
            </a:r>
            <a:r>
              <a:rPr b="1" lang="tr-TR"/>
              <a:t>Önce en temel bulgu, sonra detaylar sunulur</a:t>
            </a:r>
            <a:r>
              <a:rPr lang="tr-TR"/>
              <a:t> — “En güçlü sonuç → destekleyici kanıt → alt analizler” sırası izlenir.</a:t>
            </a:r>
            <a:endParaRPr/>
          </a:p>
          <a:p>
            <a:pPr indent="-98425" lvl="0" marL="91440" rtl="0" algn="l">
              <a:lnSpc>
                <a:spcPct val="90000"/>
              </a:lnSpc>
              <a:spcBef>
                <a:spcPts val="1400"/>
              </a:spcBef>
              <a:spcAft>
                <a:spcPts val="0"/>
              </a:spcAft>
              <a:buSzPct val="100000"/>
              <a:buChar char=" "/>
            </a:pPr>
            <a:br>
              <a:rPr lang="tr-TR"/>
            </a:br>
            <a:r>
              <a:rPr lang="tr-TR"/>
              <a:t>✔ </a:t>
            </a:r>
            <a:r>
              <a:rPr b="1" lang="tr-TR"/>
              <a:t>Görsel ve tablolara mutlaka referans verilir</a:t>
            </a:r>
            <a:r>
              <a:rPr lang="tr-TR"/>
              <a:t> — Örnek: “Şekil 2’de görüldüğü gibi hatalar 10. epoktan sonra düşmektedir.”</a:t>
            </a:r>
            <a:endParaRPr/>
          </a:p>
          <a:p>
            <a:pPr indent="-98425" lvl="0" marL="91440" rtl="0" algn="l">
              <a:lnSpc>
                <a:spcPct val="90000"/>
              </a:lnSpc>
              <a:spcBef>
                <a:spcPts val="1400"/>
              </a:spcBef>
              <a:spcAft>
                <a:spcPts val="0"/>
              </a:spcAft>
              <a:buSzPct val="100000"/>
              <a:buChar char=" "/>
            </a:pPr>
            <a:br>
              <a:rPr lang="tr-TR"/>
            </a:br>
            <a:r>
              <a:rPr lang="tr-TR"/>
              <a:t>✔ </a:t>
            </a:r>
            <a:r>
              <a:rPr b="1" lang="tr-TR"/>
              <a:t>Tüm sayısal sonuçlar ölçü birimiyle birlikte verilir</a:t>
            </a:r>
            <a:r>
              <a:rPr lang="tr-TR"/>
              <a:t> — Örnek: 0.91 doğruluk, 15 ms gecikme, 3.2 °C artış</a:t>
            </a:r>
            <a:endParaRPr/>
          </a:p>
          <a:p>
            <a:pPr indent="-98425" lvl="0" marL="91440" rtl="0" algn="l">
              <a:lnSpc>
                <a:spcPct val="90000"/>
              </a:lnSpc>
              <a:spcBef>
                <a:spcPts val="1400"/>
              </a:spcBef>
              <a:spcAft>
                <a:spcPts val="0"/>
              </a:spcAft>
              <a:buSzPct val="100000"/>
              <a:buChar char=" "/>
            </a:pPr>
            <a:br>
              <a:rPr lang="tr-TR"/>
            </a:br>
            <a:r>
              <a:rPr lang="tr-TR"/>
              <a:t>✔ </a:t>
            </a:r>
            <a:r>
              <a:rPr b="1" lang="tr-TR"/>
              <a:t>İstatistiksel sonuçlar standart formatta sunulur</a:t>
            </a:r>
            <a:r>
              <a:rPr lang="tr-TR"/>
              <a:t> — Örnek: t(48) = 3.42, p &lt; 0.01; RMSE = 0.83; AUC = 0.94</a:t>
            </a:r>
            <a:endParaRPr/>
          </a:p>
        </p:txBody>
      </p:sp>
      <p:pic>
        <p:nvPicPr>
          <p:cNvPr id="285" name="Google Shape;285;p29"/>
          <p:cNvPicPr preferRelativeResize="0"/>
          <p:nvPr/>
        </p:nvPicPr>
        <p:blipFill rotWithShape="1">
          <a:blip r:embed="rId3">
            <a:alphaModFix/>
          </a:blip>
          <a:srcRect b="0" l="0" r="0" t="0"/>
          <a:stretch/>
        </p:blipFill>
        <p:spPr>
          <a:xfrm>
            <a:off x="5807412" y="0"/>
            <a:ext cx="997389" cy="126124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0"/>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t/>
            </a:r>
            <a:endParaRPr/>
          </a:p>
        </p:txBody>
      </p:sp>
      <p:sp>
        <p:nvSpPr>
          <p:cNvPr id="291" name="Google Shape;291;p30"/>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b="1" lang="tr-TR"/>
              <a:t>Örnek Results (Genel)</a:t>
            </a:r>
            <a:endParaRPr/>
          </a:p>
          <a:p>
            <a:pPr indent="-127000" lvl="0" marL="91440" rtl="0" algn="l">
              <a:lnSpc>
                <a:spcPct val="90000"/>
              </a:lnSpc>
              <a:spcBef>
                <a:spcPts val="1400"/>
              </a:spcBef>
              <a:spcAft>
                <a:spcPts val="0"/>
              </a:spcAft>
              <a:buSzPts val="2000"/>
              <a:buChar char=" "/>
            </a:pPr>
            <a:r>
              <a:rPr lang="tr-TR"/>
              <a:t>Bu çalışmada önerilen yöntem, üç farklı veri seti üzerinde test edilmiştir. Tablo 1’de gösterildiği gibi, hibrit model tüm veri setlerinde en yüksek doğruluğu sağlamıştır. En iyi performans A veri setinde elde edilmiş olup model doğruluğu %91.3 olarak ölçülmüştür.</a:t>
            </a:r>
            <a:endParaRPr/>
          </a:p>
          <a:p>
            <a:pPr indent="-127000" lvl="0" marL="91440" rtl="0" algn="l">
              <a:lnSpc>
                <a:spcPct val="90000"/>
              </a:lnSpc>
              <a:spcBef>
                <a:spcPts val="1400"/>
              </a:spcBef>
              <a:spcAft>
                <a:spcPts val="0"/>
              </a:spcAft>
              <a:buSzPts val="2000"/>
              <a:buChar char=" "/>
            </a:pPr>
            <a:r>
              <a:rPr lang="tr-TR"/>
              <a:t>Şekil 3, modellerin ROC eğrilerini göstermektedir. Önerilen yaklaşımın AUC değeri (0.94), diğer yöntemlere kıyasla daha yüksek olup sınıflandırma başarımının tutarlı olduğunu göstermektedir.</a:t>
            </a:r>
            <a:endParaRPr/>
          </a:p>
          <a:p>
            <a:pPr indent="-127000" lvl="0" marL="91440" rtl="0" algn="l">
              <a:lnSpc>
                <a:spcPct val="90000"/>
              </a:lnSpc>
              <a:spcBef>
                <a:spcPts val="1400"/>
              </a:spcBef>
              <a:spcAft>
                <a:spcPts val="0"/>
              </a:spcAft>
              <a:buSzPts val="2000"/>
              <a:buChar char=" "/>
            </a:pPr>
            <a:r>
              <a:rPr lang="tr-TR"/>
              <a:t>Ek olarak, hata dağılımı analiz edilmiştir. Şekil 4’te görüldüğü üzere, modelin hataları çoğunlukla düşük yoğunluklu bölgelerde yoğunlaşmaktadır. Bu durum, modelin yüksek veri yoğunluklu alanlarda istikrarlı performans sergilediğini işaret etmektedir.</a:t>
            </a:r>
            <a:endParaRPr/>
          </a:p>
          <a:p>
            <a:pPr indent="-127000" lvl="0" marL="91440" rtl="0" algn="l">
              <a:lnSpc>
                <a:spcPct val="90000"/>
              </a:lnSpc>
              <a:spcBef>
                <a:spcPts val="1400"/>
              </a:spcBef>
              <a:spcAft>
                <a:spcPts val="0"/>
              </a:spcAft>
              <a:buSzPts val="2000"/>
              <a:buChar char=" "/>
            </a:pPr>
            <a:r>
              <a:rPr lang="tr-TR"/>
              <a:t>Zaman karmaşıklığı açısından karşılaştırma yapıldığında, hibrit modelin ortalama işlem süresi 15.2 ms’dir ve bu değer geleneksel yöntemlerden daha düşüktür. Bellek kullanım sonuçları ise Tablo 2’de özetlenmiştir.</a:t>
            </a:r>
            <a:endParaRPr/>
          </a:p>
          <a:p>
            <a:pPr indent="0" lvl="0" marL="91440" rtl="0" algn="l">
              <a:lnSpc>
                <a:spcPct val="90000"/>
              </a:lnSpc>
              <a:spcBef>
                <a:spcPts val="1400"/>
              </a:spcBef>
              <a:spcAft>
                <a:spcPts val="0"/>
              </a:spcAft>
              <a:buSzPts val="2000"/>
              <a:buNone/>
            </a:pPr>
            <a:r>
              <a:t/>
            </a:r>
            <a:endParaRPr/>
          </a:p>
        </p:txBody>
      </p:sp>
      <p:pic>
        <p:nvPicPr>
          <p:cNvPr id="292" name="Google Shape;292;p30"/>
          <p:cNvPicPr preferRelativeResize="0"/>
          <p:nvPr/>
        </p:nvPicPr>
        <p:blipFill rotWithShape="1">
          <a:blip r:embed="rId3">
            <a:alphaModFix/>
          </a:blip>
          <a:srcRect b="0" l="0" r="0" t="0"/>
          <a:stretch/>
        </p:blipFill>
        <p:spPr>
          <a:xfrm>
            <a:off x="7655667" y="-45097"/>
            <a:ext cx="997389" cy="126124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1"/>
          <p:cNvSpPr txBox="1"/>
          <p:nvPr>
            <p:ph type="title"/>
          </p:nvPr>
        </p:nvSpPr>
        <p:spPr>
          <a:xfrm>
            <a:off x="291831" y="164591"/>
            <a:ext cx="8852170" cy="944362"/>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2400"/>
              </a:spcBef>
              <a:spcAft>
                <a:spcPts val="600"/>
              </a:spcAft>
              <a:buClr>
                <a:srgbClr val="464132"/>
              </a:buClr>
              <a:buSzPts val="4000"/>
              <a:buFont typeface="Twentieth Century"/>
              <a:buNone/>
            </a:pPr>
            <a:r>
              <a:rPr lang="tr-TR" sz="4000"/>
              <a:t>Bilimsel Makalelerde Görsel (Figure) ve Tabloların Sunumu</a:t>
            </a:r>
            <a:endParaRPr sz="4000"/>
          </a:p>
        </p:txBody>
      </p:sp>
      <p:sp>
        <p:nvSpPr>
          <p:cNvPr id="299" name="Google Shape;299;p31"/>
          <p:cNvSpPr txBox="1"/>
          <p:nvPr>
            <p:ph idx="1" type="body"/>
          </p:nvPr>
        </p:nvSpPr>
        <p:spPr>
          <a:xfrm>
            <a:off x="667512" y="1353312"/>
            <a:ext cx="7390500" cy="4956000"/>
          </a:xfrm>
          <a:prstGeom prst="rect">
            <a:avLst/>
          </a:prstGeom>
          <a:noFill/>
          <a:ln>
            <a:noFill/>
          </a:ln>
        </p:spPr>
        <p:txBody>
          <a:bodyPr anchorCtr="0" anchor="t" bIns="45700" lIns="45700" spcFirstLastPara="1" rIns="45700" wrap="square" tIns="45700">
            <a:noAutofit/>
          </a:bodyPr>
          <a:lstStyle/>
          <a:p>
            <a:pPr indent="0" lvl="0" marL="0" rtl="0" algn="l">
              <a:lnSpc>
                <a:spcPct val="95000"/>
              </a:lnSpc>
              <a:spcBef>
                <a:spcPts val="1800"/>
              </a:spcBef>
              <a:spcAft>
                <a:spcPts val="0"/>
              </a:spcAft>
              <a:buSzPts val="1018"/>
              <a:buNone/>
            </a:pPr>
            <a:r>
              <a:rPr b="1" lang="tr-TR" sz="1872">
                <a:solidFill>
                  <a:srgbClr val="000000"/>
                </a:solidFill>
              </a:rPr>
              <a:t>Yerleşim ve Atıf Kuralları</a:t>
            </a:r>
            <a:endParaRPr b="1" sz="1872">
              <a:solidFill>
                <a:srgbClr val="000000"/>
              </a:solidFill>
            </a:endParaRPr>
          </a:p>
          <a:p>
            <a:pPr indent="-312261" lvl="0" marL="457200" rtl="0" algn="l">
              <a:lnSpc>
                <a:spcPct val="95000"/>
              </a:lnSpc>
              <a:spcBef>
                <a:spcPts val="1200"/>
              </a:spcBef>
              <a:spcAft>
                <a:spcPts val="0"/>
              </a:spcAft>
              <a:buClr>
                <a:srgbClr val="000000"/>
              </a:buClr>
              <a:buSzPts val="1318"/>
              <a:buFont typeface="Arial"/>
              <a:buChar char="●"/>
            </a:pPr>
            <a:r>
              <a:rPr lang="tr-TR" sz="1317">
                <a:solidFill>
                  <a:srgbClr val="000000"/>
                </a:solidFill>
              </a:rPr>
              <a:t>Her tablo/figür </a:t>
            </a:r>
            <a:r>
              <a:rPr b="1" lang="tr-TR" sz="1317">
                <a:solidFill>
                  <a:srgbClr val="000000"/>
                </a:solidFill>
              </a:rPr>
              <a:t>ilk geçtiği paragrafın hemen sonrasında</a:t>
            </a:r>
            <a:r>
              <a:rPr lang="tr-TR" sz="1317">
                <a:solidFill>
                  <a:srgbClr val="000000"/>
                </a:solidFill>
              </a:rPr>
              <a:t> yer almalıdır.</a:t>
            </a:r>
            <a:endParaRPr sz="1317">
              <a:solidFill>
                <a:srgbClr val="000000"/>
              </a:solidFill>
            </a:endParaRPr>
          </a:p>
          <a:p>
            <a:pPr indent="-312261" lvl="0" marL="457200" rtl="0" algn="l">
              <a:lnSpc>
                <a:spcPct val="95000"/>
              </a:lnSpc>
              <a:spcBef>
                <a:spcPts val="0"/>
              </a:spcBef>
              <a:spcAft>
                <a:spcPts val="0"/>
              </a:spcAft>
              <a:buClr>
                <a:srgbClr val="000000"/>
              </a:buClr>
              <a:buSzPts val="1318"/>
              <a:buFont typeface="Arial"/>
              <a:buChar char="●"/>
            </a:pPr>
            <a:r>
              <a:rPr lang="tr-TR" sz="1317">
                <a:solidFill>
                  <a:srgbClr val="000000"/>
                </a:solidFill>
              </a:rPr>
              <a:t>Metin içinde </a:t>
            </a:r>
            <a:r>
              <a:rPr b="1" lang="tr-TR" sz="1317">
                <a:solidFill>
                  <a:srgbClr val="000000"/>
                </a:solidFill>
              </a:rPr>
              <a:t>“Şekil 1'de görüldüğü gibi…”</a:t>
            </a:r>
            <a:r>
              <a:rPr lang="tr-TR" sz="1317">
                <a:solidFill>
                  <a:srgbClr val="000000"/>
                </a:solidFill>
              </a:rPr>
              <a:t>, </a:t>
            </a:r>
            <a:r>
              <a:rPr b="1" lang="tr-TR" sz="1317">
                <a:solidFill>
                  <a:srgbClr val="000000"/>
                </a:solidFill>
              </a:rPr>
              <a:t>“Tablo 2’de sunulmuştur.”</a:t>
            </a:r>
            <a:r>
              <a:rPr lang="tr-TR" sz="1317">
                <a:solidFill>
                  <a:srgbClr val="000000"/>
                </a:solidFill>
              </a:rPr>
              <a:t> biçiminde atıf yapılmalıdır.</a:t>
            </a:r>
            <a:endParaRPr sz="1317">
              <a:solidFill>
                <a:srgbClr val="000000"/>
              </a:solidFill>
            </a:endParaRPr>
          </a:p>
          <a:p>
            <a:pPr indent="-312261" lvl="0" marL="457200" rtl="0" algn="l">
              <a:lnSpc>
                <a:spcPct val="95000"/>
              </a:lnSpc>
              <a:spcBef>
                <a:spcPts val="0"/>
              </a:spcBef>
              <a:spcAft>
                <a:spcPts val="0"/>
              </a:spcAft>
              <a:buClr>
                <a:srgbClr val="000000"/>
              </a:buClr>
              <a:buSzPts val="1318"/>
              <a:buFont typeface="Twentieth Century"/>
              <a:buChar char="●"/>
            </a:pPr>
            <a:r>
              <a:rPr lang="tr-TR" sz="1317">
                <a:solidFill>
                  <a:srgbClr val="000000"/>
                </a:solidFill>
              </a:rPr>
              <a:t>Asla “yukarıdaki/ aşağıdaki tablo” gibi belirsiz ifadeler kullanılmaz.</a:t>
            </a:r>
            <a:endParaRPr sz="1317">
              <a:solidFill>
                <a:srgbClr val="000000"/>
              </a:solidFill>
            </a:endParaRPr>
          </a:p>
          <a:p>
            <a:pPr indent="0" lvl="0" marL="0" rtl="0" algn="l">
              <a:lnSpc>
                <a:spcPct val="95000"/>
              </a:lnSpc>
              <a:spcBef>
                <a:spcPts val="1800"/>
              </a:spcBef>
              <a:spcAft>
                <a:spcPts val="0"/>
              </a:spcAft>
              <a:buSzPts val="1018"/>
              <a:buNone/>
            </a:pPr>
            <a:r>
              <a:rPr b="1" lang="tr-TR" sz="1872">
                <a:solidFill>
                  <a:srgbClr val="000000"/>
                </a:solidFill>
              </a:rPr>
              <a:t>Numalandırma Standartları</a:t>
            </a:r>
            <a:endParaRPr b="1" sz="1872">
              <a:solidFill>
                <a:srgbClr val="000000"/>
              </a:solidFill>
            </a:endParaRPr>
          </a:p>
          <a:p>
            <a:pPr indent="-312261" lvl="0" marL="457200" rtl="0" algn="l">
              <a:lnSpc>
                <a:spcPct val="95000"/>
              </a:lnSpc>
              <a:spcBef>
                <a:spcPts val="1200"/>
              </a:spcBef>
              <a:spcAft>
                <a:spcPts val="0"/>
              </a:spcAft>
              <a:buClr>
                <a:srgbClr val="000000"/>
              </a:buClr>
              <a:buSzPts val="1318"/>
              <a:buFont typeface="Arial"/>
              <a:buChar char="●"/>
            </a:pPr>
            <a:r>
              <a:rPr b="1" lang="tr-TR" sz="1317">
                <a:solidFill>
                  <a:srgbClr val="000000"/>
                </a:solidFill>
              </a:rPr>
              <a:t>Tablolar</a:t>
            </a:r>
            <a:r>
              <a:rPr lang="tr-TR" sz="1317">
                <a:solidFill>
                  <a:srgbClr val="000000"/>
                </a:solidFill>
              </a:rPr>
              <a:t>: </a:t>
            </a:r>
            <a:r>
              <a:rPr i="1" lang="tr-TR" sz="1317">
                <a:solidFill>
                  <a:srgbClr val="000000"/>
                </a:solidFill>
              </a:rPr>
              <a:t>Table 1, Table 2…</a:t>
            </a:r>
            <a:endParaRPr i="1" sz="1317">
              <a:solidFill>
                <a:srgbClr val="000000"/>
              </a:solidFill>
            </a:endParaRPr>
          </a:p>
          <a:p>
            <a:pPr indent="-312261" lvl="0" marL="457200" rtl="0" algn="l">
              <a:lnSpc>
                <a:spcPct val="95000"/>
              </a:lnSpc>
              <a:spcBef>
                <a:spcPts val="0"/>
              </a:spcBef>
              <a:spcAft>
                <a:spcPts val="0"/>
              </a:spcAft>
              <a:buClr>
                <a:srgbClr val="000000"/>
              </a:buClr>
              <a:buSzPts val="1318"/>
              <a:buFont typeface="Arial"/>
              <a:buChar char="●"/>
            </a:pPr>
            <a:r>
              <a:rPr b="1" lang="tr-TR" sz="1317">
                <a:solidFill>
                  <a:srgbClr val="000000"/>
                </a:solidFill>
              </a:rPr>
              <a:t>Figürler</a:t>
            </a:r>
            <a:r>
              <a:rPr lang="tr-TR" sz="1317">
                <a:solidFill>
                  <a:srgbClr val="000000"/>
                </a:solidFill>
              </a:rPr>
              <a:t>: </a:t>
            </a:r>
            <a:r>
              <a:rPr i="1" lang="tr-TR" sz="1317">
                <a:solidFill>
                  <a:srgbClr val="000000"/>
                </a:solidFill>
              </a:rPr>
              <a:t>Figure 1, Figure 2…</a:t>
            </a:r>
            <a:endParaRPr i="1" sz="1317">
              <a:solidFill>
                <a:srgbClr val="000000"/>
              </a:solidFill>
            </a:endParaRPr>
          </a:p>
          <a:p>
            <a:pPr indent="-312261" lvl="0" marL="457200" rtl="0" algn="l">
              <a:lnSpc>
                <a:spcPct val="95000"/>
              </a:lnSpc>
              <a:spcBef>
                <a:spcPts val="0"/>
              </a:spcBef>
              <a:spcAft>
                <a:spcPts val="0"/>
              </a:spcAft>
              <a:buClr>
                <a:srgbClr val="000000"/>
              </a:buClr>
              <a:buSzPts val="1318"/>
              <a:buFont typeface="Arial"/>
              <a:buChar char="●"/>
            </a:pPr>
            <a:r>
              <a:rPr lang="tr-TR" sz="1317">
                <a:solidFill>
                  <a:srgbClr val="000000"/>
                </a:solidFill>
              </a:rPr>
              <a:t>Her biri kendi içinde </a:t>
            </a:r>
            <a:r>
              <a:rPr b="1" lang="tr-TR" sz="1317">
                <a:solidFill>
                  <a:srgbClr val="000000"/>
                </a:solidFill>
              </a:rPr>
              <a:t>ardışık</a:t>
            </a:r>
            <a:r>
              <a:rPr lang="tr-TR" sz="1317">
                <a:solidFill>
                  <a:srgbClr val="000000"/>
                </a:solidFill>
              </a:rPr>
              <a:t> numaralandırılır.</a:t>
            </a:r>
            <a:endParaRPr sz="1317">
              <a:solidFill>
                <a:srgbClr val="000000"/>
              </a:solidFill>
            </a:endParaRPr>
          </a:p>
          <a:p>
            <a:pPr indent="0" lvl="0" marL="0" rtl="0" algn="l">
              <a:lnSpc>
                <a:spcPct val="95000"/>
              </a:lnSpc>
              <a:spcBef>
                <a:spcPts val="1800"/>
              </a:spcBef>
              <a:spcAft>
                <a:spcPts val="0"/>
              </a:spcAft>
              <a:buSzPts val="1018"/>
              <a:buNone/>
            </a:pPr>
            <a:r>
              <a:rPr b="1" lang="tr-TR" sz="1872">
                <a:solidFill>
                  <a:srgbClr val="000000"/>
                </a:solidFill>
              </a:rPr>
              <a:t>Başlık (Caption) Kuralları</a:t>
            </a:r>
            <a:endParaRPr b="1" sz="1872">
              <a:solidFill>
                <a:srgbClr val="000000"/>
              </a:solidFill>
            </a:endParaRPr>
          </a:p>
          <a:p>
            <a:pPr indent="-312261" lvl="0" marL="457200" rtl="0" algn="l">
              <a:lnSpc>
                <a:spcPct val="95000"/>
              </a:lnSpc>
              <a:spcBef>
                <a:spcPts val="1200"/>
              </a:spcBef>
              <a:spcAft>
                <a:spcPts val="0"/>
              </a:spcAft>
              <a:buClr>
                <a:srgbClr val="000000"/>
              </a:buClr>
              <a:buSzPts val="1318"/>
              <a:buFont typeface="Arial"/>
              <a:buChar char="●"/>
            </a:pPr>
            <a:r>
              <a:rPr b="1" lang="tr-TR" sz="1317">
                <a:solidFill>
                  <a:srgbClr val="000000"/>
                </a:solidFill>
              </a:rPr>
              <a:t>Tablo başlığı yukarıda</a:t>
            </a:r>
            <a:r>
              <a:rPr lang="tr-TR" sz="1317">
                <a:solidFill>
                  <a:srgbClr val="000000"/>
                </a:solidFill>
              </a:rPr>
              <a:t>, figür başlığı </a:t>
            </a:r>
            <a:r>
              <a:rPr b="1" lang="tr-TR" sz="1317">
                <a:solidFill>
                  <a:srgbClr val="000000"/>
                </a:solidFill>
              </a:rPr>
              <a:t>aşağıda</a:t>
            </a:r>
            <a:r>
              <a:rPr lang="tr-TR" sz="1317">
                <a:solidFill>
                  <a:srgbClr val="000000"/>
                </a:solidFill>
              </a:rPr>
              <a:t> yer alır.</a:t>
            </a:r>
            <a:br>
              <a:rPr lang="tr-TR" sz="1317">
                <a:solidFill>
                  <a:srgbClr val="000000"/>
                </a:solidFill>
              </a:rPr>
            </a:br>
            <a:r>
              <a:rPr lang="tr-TR" sz="1317">
                <a:solidFill>
                  <a:srgbClr val="000000"/>
                </a:solidFill>
              </a:rPr>
              <a:t>(IEEE, Springer ve Elsevier’in ortak kuralıdır.)</a:t>
            </a:r>
            <a:endParaRPr sz="1317">
              <a:solidFill>
                <a:srgbClr val="000000"/>
              </a:solidFill>
            </a:endParaRPr>
          </a:p>
          <a:p>
            <a:pPr indent="-312261" lvl="0" marL="457200" rtl="0" algn="l">
              <a:lnSpc>
                <a:spcPct val="95000"/>
              </a:lnSpc>
              <a:spcBef>
                <a:spcPts val="0"/>
              </a:spcBef>
              <a:spcAft>
                <a:spcPts val="0"/>
              </a:spcAft>
              <a:buClr>
                <a:srgbClr val="000000"/>
              </a:buClr>
              <a:buSzPts val="1318"/>
              <a:buFont typeface="Twentieth Century"/>
              <a:buChar char="●"/>
            </a:pPr>
            <a:r>
              <a:rPr lang="tr-TR" sz="1317">
                <a:solidFill>
                  <a:srgbClr val="000000"/>
                </a:solidFill>
              </a:rPr>
              <a:t>Kısa, açıklayıcı ve kendi başına anlaşılır olmalıdır.</a:t>
            </a:r>
            <a:br>
              <a:rPr lang="tr-TR" sz="1317">
                <a:solidFill>
                  <a:srgbClr val="000000"/>
                </a:solidFill>
              </a:rPr>
            </a:br>
            <a:r>
              <a:rPr lang="tr-TR" sz="1317">
                <a:solidFill>
                  <a:srgbClr val="000000"/>
                </a:solidFill>
              </a:rPr>
              <a:t>Ör.: </a:t>
            </a:r>
            <a:r>
              <a:rPr i="1" lang="tr-TR" sz="1317">
                <a:solidFill>
                  <a:srgbClr val="000000"/>
                </a:solidFill>
              </a:rPr>
              <a:t>Figure 3. Model architecture of the proposed deep network.</a:t>
            </a:r>
            <a:endParaRPr i="1" sz="1317">
              <a:solidFill>
                <a:srgbClr val="000000"/>
              </a:solidFill>
            </a:endParaRPr>
          </a:p>
          <a:p>
            <a:pPr indent="-312261" lvl="0" marL="457200" rtl="0" algn="l">
              <a:lnSpc>
                <a:spcPct val="95000"/>
              </a:lnSpc>
              <a:spcBef>
                <a:spcPts val="0"/>
              </a:spcBef>
              <a:spcAft>
                <a:spcPts val="0"/>
              </a:spcAft>
              <a:buClr>
                <a:srgbClr val="000000"/>
              </a:buClr>
              <a:buSzPts val="1318"/>
              <a:buFont typeface="Twentieth Century"/>
              <a:buChar char="●"/>
            </a:pPr>
            <a:r>
              <a:rPr lang="tr-TR" sz="1317">
                <a:solidFill>
                  <a:srgbClr val="000000"/>
                </a:solidFill>
              </a:rPr>
              <a:t>Başlıklar çok uzun olmamalı; tarih, “görsel kaynağı” vb. gereksiz bilgiler eklenmemelidir.</a:t>
            </a:r>
            <a:endParaRPr sz="1317">
              <a:solidFill>
                <a:srgbClr val="000000"/>
              </a:solidFill>
            </a:endParaRPr>
          </a:p>
          <a:p>
            <a:pPr indent="0" lvl="0" marL="457200" rtl="0" algn="l">
              <a:lnSpc>
                <a:spcPct val="95000"/>
              </a:lnSpc>
              <a:spcBef>
                <a:spcPts val="1200"/>
              </a:spcBef>
              <a:spcAft>
                <a:spcPts val="0"/>
              </a:spcAft>
              <a:buSzPts val="2282"/>
              <a:buNone/>
            </a:pPr>
            <a:r>
              <a:t/>
            </a:r>
            <a:endParaRPr b="1" sz="2282"/>
          </a:p>
          <a:p>
            <a:pPr indent="0" lvl="0" marL="0" rtl="0" algn="l">
              <a:lnSpc>
                <a:spcPct val="70000"/>
              </a:lnSpc>
              <a:spcBef>
                <a:spcPts val="1200"/>
              </a:spcBef>
              <a:spcAft>
                <a:spcPts val="0"/>
              </a:spcAft>
              <a:buSzPts val="1018"/>
              <a:buNone/>
            </a:pPr>
            <a:r>
              <a:t/>
            </a:r>
            <a:endParaRPr sz="2150"/>
          </a:p>
          <a:p>
            <a:pPr indent="0" lvl="0" marL="0" rtl="0" algn="l">
              <a:lnSpc>
                <a:spcPct val="70000"/>
              </a:lnSpc>
              <a:spcBef>
                <a:spcPts val="1200"/>
              </a:spcBef>
              <a:spcAft>
                <a:spcPts val="200"/>
              </a:spcAft>
              <a:buSzPts val="1018"/>
              <a:buNone/>
            </a:pPr>
            <a:r>
              <a:t/>
            </a:r>
            <a:endParaRPr b="1" sz="2282"/>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2"/>
          <p:cNvSpPr txBox="1"/>
          <p:nvPr>
            <p:ph type="title"/>
          </p:nvPr>
        </p:nvSpPr>
        <p:spPr>
          <a:xfrm>
            <a:off x="243191" y="176191"/>
            <a:ext cx="9523380" cy="108054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464132"/>
              </a:buClr>
              <a:buSzPct val="100000"/>
              <a:buFont typeface="Twentieth Century"/>
              <a:buNone/>
            </a:pPr>
            <a:r>
              <a:rPr lang="tr-TR"/>
              <a:t>Bilimsel Makalelerde Görsel (Figure) ve Tabloların Sunumu</a:t>
            </a:r>
            <a:endParaRPr/>
          </a:p>
        </p:txBody>
      </p:sp>
      <p:sp>
        <p:nvSpPr>
          <p:cNvPr id="306" name="Google Shape;306;p32"/>
          <p:cNvSpPr txBox="1"/>
          <p:nvPr>
            <p:ph idx="1" type="body"/>
          </p:nvPr>
        </p:nvSpPr>
        <p:spPr>
          <a:xfrm>
            <a:off x="667512" y="1353312"/>
            <a:ext cx="7390500" cy="4956000"/>
          </a:xfrm>
          <a:prstGeom prst="rect">
            <a:avLst/>
          </a:prstGeom>
          <a:noFill/>
          <a:ln>
            <a:noFill/>
          </a:ln>
        </p:spPr>
        <p:txBody>
          <a:bodyPr anchorCtr="0" anchor="t" bIns="45700" lIns="45700" spcFirstLastPara="1" rIns="45700" wrap="square" tIns="45700">
            <a:normAutofit/>
          </a:bodyPr>
          <a:lstStyle/>
          <a:p>
            <a:pPr indent="0" lvl="0" marL="0" rtl="0" algn="l">
              <a:lnSpc>
                <a:spcPct val="115000"/>
              </a:lnSpc>
              <a:spcBef>
                <a:spcPts val="1800"/>
              </a:spcBef>
              <a:spcAft>
                <a:spcPts val="0"/>
              </a:spcAft>
              <a:buSzPts val="1900"/>
              <a:buNone/>
            </a:pPr>
            <a:r>
              <a:rPr b="1" lang="tr-TR" sz="1900">
                <a:solidFill>
                  <a:srgbClr val="000000"/>
                </a:solidFill>
              </a:rPr>
              <a:t>Veri Tutarlılığı ve Etik Kurallar</a:t>
            </a:r>
            <a:endParaRPr b="1" sz="1900">
              <a:solidFill>
                <a:srgbClr val="000000"/>
              </a:solidFill>
            </a:endParaRPr>
          </a:p>
          <a:p>
            <a:pPr indent="-311150" lvl="0" marL="457200" rtl="0" algn="l">
              <a:lnSpc>
                <a:spcPct val="115000"/>
              </a:lnSpc>
              <a:spcBef>
                <a:spcPts val="1200"/>
              </a:spcBef>
              <a:spcAft>
                <a:spcPts val="0"/>
              </a:spcAft>
              <a:buClr>
                <a:srgbClr val="000000"/>
              </a:buClr>
              <a:buSzPts val="1300"/>
              <a:buFont typeface="Arial"/>
              <a:buChar char="●"/>
            </a:pPr>
            <a:r>
              <a:rPr lang="tr-TR" sz="1300">
                <a:solidFill>
                  <a:srgbClr val="000000"/>
                </a:solidFill>
              </a:rPr>
              <a:t>Figürlerdeki eksen isimleri, birimler, kısaltmalar </a:t>
            </a:r>
            <a:r>
              <a:rPr b="1" lang="tr-TR" sz="1300">
                <a:solidFill>
                  <a:srgbClr val="000000"/>
                </a:solidFill>
              </a:rPr>
              <a:t>metinle tutarlı</a:t>
            </a:r>
            <a:r>
              <a:rPr lang="tr-TR" sz="1300">
                <a:solidFill>
                  <a:srgbClr val="000000"/>
                </a:solidFill>
              </a:rPr>
              <a:t> olmalıdır.</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Twentieth Century"/>
              <a:buChar char="●"/>
            </a:pPr>
            <a:r>
              <a:rPr lang="tr-TR" sz="1300">
                <a:solidFill>
                  <a:srgbClr val="000000"/>
                </a:solidFill>
              </a:rPr>
              <a:t>Veri kaynağı, lisans gerektiren görseller veya telifli materyaller kullanılmamalıdır.</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Arial"/>
              <a:buChar char="●"/>
            </a:pPr>
            <a:r>
              <a:rPr lang="tr-TR" sz="1300">
                <a:solidFill>
                  <a:srgbClr val="000000"/>
                </a:solidFill>
              </a:rPr>
              <a:t>Başka çalışmalardan alınan figürler için </a:t>
            </a:r>
            <a:r>
              <a:rPr b="1" lang="tr-TR" sz="1300">
                <a:solidFill>
                  <a:srgbClr val="000000"/>
                </a:solidFill>
              </a:rPr>
              <a:t>izne dayalı alıntı</a:t>
            </a:r>
            <a:r>
              <a:rPr lang="tr-TR" sz="1300">
                <a:solidFill>
                  <a:srgbClr val="000000"/>
                </a:solidFill>
              </a:rPr>
              <a:t> yapılmalıdır.</a:t>
            </a:r>
            <a:endParaRPr sz="1300">
              <a:solidFill>
                <a:srgbClr val="000000"/>
              </a:solidFill>
            </a:endParaRPr>
          </a:p>
          <a:p>
            <a:pPr indent="0" lvl="0" marL="0" rtl="0" algn="l">
              <a:lnSpc>
                <a:spcPct val="115000"/>
              </a:lnSpc>
              <a:spcBef>
                <a:spcPts val="1200"/>
              </a:spcBef>
              <a:spcAft>
                <a:spcPts val="0"/>
              </a:spcAft>
              <a:buSzPts val="1300"/>
              <a:buNone/>
            </a:pPr>
            <a:r>
              <a:t/>
            </a:r>
            <a:endParaRPr sz="1300">
              <a:solidFill>
                <a:srgbClr val="000000"/>
              </a:solidFill>
            </a:endParaRPr>
          </a:p>
          <a:p>
            <a:pPr indent="0" lvl="0" marL="0" rtl="0" algn="l">
              <a:lnSpc>
                <a:spcPct val="115000"/>
              </a:lnSpc>
              <a:spcBef>
                <a:spcPts val="1800"/>
              </a:spcBef>
              <a:spcAft>
                <a:spcPts val="0"/>
              </a:spcAft>
              <a:buSzPts val="1900"/>
              <a:buNone/>
            </a:pPr>
            <a:r>
              <a:rPr b="1" lang="tr-TR" sz="1900">
                <a:solidFill>
                  <a:srgbClr val="000000"/>
                </a:solidFill>
              </a:rPr>
              <a:t>Tablo Tasarımı Kuralları</a:t>
            </a:r>
            <a:endParaRPr b="1" sz="1900">
              <a:solidFill>
                <a:srgbClr val="000000"/>
              </a:solidFill>
            </a:endParaRPr>
          </a:p>
          <a:p>
            <a:pPr indent="-311150" lvl="0" marL="457200" rtl="0" algn="l">
              <a:lnSpc>
                <a:spcPct val="115000"/>
              </a:lnSpc>
              <a:spcBef>
                <a:spcPts val="1200"/>
              </a:spcBef>
              <a:spcAft>
                <a:spcPts val="0"/>
              </a:spcAft>
              <a:buClr>
                <a:srgbClr val="000000"/>
              </a:buClr>
              <a:buSzPts val="1300"/>
              <a:buFont typeface="Twentieth Century"/>
              <a:buChar char="●"/>
            </a:pPr>
            <a:r>
              <a:rPr lang="tr-TR" sz="1300">
                <a:solidFill>
                  <a:srgbClr val="000000"/>
                </a:solidFill>
              </a:rPr>
              <a:t>Sınırlar minimum düzeyde kullanılmalı (ör.: yatay çizgiler yeterlidir).</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Twentieth Century"/>
              <a:buChar char="●"/>
            </a:pPr>
            <a:r>
              <a:rPr lang="tr-TR" sz="1300">
                <a:solidFill>
                  <a:srgbClr val="000000"/>
                </a:solidFill>
              </a:rPr>
              <a:t>Sütun başlıkları net, anlamlı ve kısa olmalıdır.</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Arial"/>
              <a:buChar char="●"/>
            </a:pPr>
            <a:r>
              <a:rPr lang="tr-TR" sz="1300">
                <a:solidFill>
                  <a:srgbClr val="000000"/>
                </a:solidFill>
              </a:rPr>
              <a:t>Eksenlerin etiketleri olmalı , tablodaki verinin hangi birimde olduğu verilmelidir.</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Twentieth Century"/>
              <a:buChar char="●"/>
            </a:pPr>
            <a:r>
              <a:rPr lang="tr-TR" sz="1300">
                <a:solidFill>
                  <a:srgbClr val="000000"/>
                </a:solidFill>
              </a:rPr>
              <a:t>Onluk basamaklar hizalı ve tutarlı olmalıdır.</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Twentieth Century"/>
              <a:buChar char="●"/>
            </a:pPr>
            <a:r>
              <a:rPr lang="tr-TR" sz="1300">
                <a:solidFill>
                  <a:srgbClr val="000000"/>
                </a:solidFill>
              </a:rPr>
              <a:t>Uzun satır açıklamalarından kaçınılmalıdır.</a:t>
            </a:r>
            <a:endParaRPr sz="1300">
              <a:solidFill>
                <a:srgbClr val="000000"/>
              </a:solidFill>
            </a:endParaRPr>
          </a:p>
          <a:p>
            <a:pPr indent="0" lvl="0" marL="0" rtl="0" algn="l">
              <a:lnSpc>
                <a:spcPct val="90000"/>
              </a:lnSpc>
              <a:spcBef>
                <a:spcPts val="1200"/>
              </a:spcBef>
              <a:spcAft>
                <a:spcPts val="200"/>
              </a:spcAft>
              <a:buSzPts val="20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3"/>
          <p:cNvSpPr txBox="1"/>
          <p:nvPr>
            <p:ph type="title"/>
          </p:nvPr>
        </p:nvSpPr>
        <p:spPr>
          <a:xfrm>
            <a:off x="667512" y="349417"/>
            <a:ext cx="7226046" cy="9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464132"/>
              </a:buClr>
              <a:buSzPct val="100000"/>
              <a:buFont typeface="Twentieth Century"/>
              <a:buNone/>
            </a:pPr>
            <a:r>
              <a:rPr b="1" lang="tr-TR"/>
              <a:t>Discussion (Tartışma) – Yorumlama ve Bilimsel Katkı</a:t>
            </a:r>
            <a:br>
              <a:rPr b="1" lang="tr-TR"/>
            </a:br>
            <a:endParaRPr/>
          </a:p>
        </p:txBody>
      </p:sp>
      <p:sp>
        <p:nvSpPr>
          <p:cNvPr id="312" name="Google Shape;312;p33"/>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Sonuç ne anlatıyor?</a:t>
            </a:r>
            <a:endParaRPr/>
          </a:p>
          <a:p>
            <a:pPr indent="-127000" lvl="0" marL="91440" rtl="0" algn="l">
              <a:lnSpc>
                <a:spcPct val="90000"/>
              </a:lnSpc>
              <a:spcBef>
                <a:spcPts val="1400"/>
              </a:spcBef>
              <a:spcAft>
                <a:spcPts val="0"/>
              </a:spcAft>
              <a:buSzPts val="2000"/>
              <a:buChar char=" "/>
            </a:pPr>
            <a:r>
              <a:rPr lang="tr-TR"/>
              <a:t>Model hangi durumlarda başarılı / başarısız?</a:t>
            </a:r>
            <a:endParaRPr/>
          </a:p>
          <a:p>
            <a:pPr indent="-127000" lvl="0" marL="91440" rtl="0" algn="l">
              <a:lnSpc>
                <a:spcPct val="90000"/>
              </a:lnSpc>
              <a:spcBef>
                <a:spcPts val="1400"/>
              </a:spcBef>
              <a:spcAft>
                <a:spcPts val="0"/>
              </a:spcAft>
              <a:buSzPts val="2000"/>
              <a:buChar char=" "/>
            </a:pPr>
            <a:r>
              <a:rPr lang="tr-TR"/>
              <a:t>Literatürdeki mevcut modellerle fark nedir?</a:t>
            </a:r>
            <a:endParaRPr/>
          </a:p>
          <a:p>
            <a:pPr indent="-127000" lvl="0" marL="91440" rtl="0" algn="l">
              <a:lnSpc>
                <a:spcPct val="90000"/>
              </a:lnSpc>
              <a:spcBef>
                <a:spcPts val="1400"/>
              </a:spcBef>
              <a:spcAft>
                <a:spcPts val="0"/>
              </a:spcAft>
              <a:buSzPts val="2000"/>
              <a:buChar char=" "/>
            </a:pPr>
            <a:r>
              <a:rPr lang="tr-TR"/>
              <a:t>Çalışmanın sektörel / bilimsel katkısı nedir?</a:t>
            </a:r>
            <a:endParaRPr/>
          </a:p>
          <a:p>
            <a:pPr indent="-127000" lvl="0" marL="91440" rtl="0" algn="l">
              <a:lnSpc>
                <a:spcPct val="90000"/>
              </a:lnSpc>
              <a:spcBef>
                <a:spcPts val="1400"/>
              </a:spcBef>
              <a:spcAft>
                <a:spcPts val="0"/>
              </a:spcAft>
              <a:buSzPts val="2000"/>
              <a:buChar char=" "/>
            </a:pPr>
            <a:r>
              <a:rPr lang="tr-TR"/>
              <a:t>Sınırlılıklar (limitations) neler?</a:t>
            </a:r>
            <a:endParaRPr/>
          </a:p>
          <a:p>
            <a:pPr indent="-127000" lvl="0" marL="91440" rtl="0" algn="l">
              <a:lnSpc>
                <a:spcPct val="90000"/>
              </a:lnSpc>
              <a:spcBef>
                <a:spcPts val="1400"/>
              </a:spcBef>
              <a:spcAft>
                <a:spcPts val="0"/>
              </a:spcAft>
              <a:buSzPts val="2000"/>
              <a:buChar char=" "/>
            </a:pPr>
            <a:r>
              <a:rPr b="1" lang="tr-TR"/>
              <a:t>Future Work (Gelecek Çalışmalar)</a:t>
            </a:r>
            <a:endParaRPr/>
          </a:p>
          <a:p>
            <a:pPr indent="-127000" lvl="0" marL="91440" rtl="0" algn="l">
              <a:lnSpc>
                <a:spcPct val="90000"/>
              </a:lnSpc>
              <a:spcBef>
                <a:spcPts val="1400"/>
              </a:spcBef>
              <a:spcAft>
                <a:spcPts val="0"/>
              </a:spcAft>
              <a:buSzPts val="2000"/>
              <a:buChar char=" "/>
            </a:pPr>
            <a:r>
              <a:rPr lang="tr-TR"/>
              <a:t>Her tartışma bölümünün sonunda geleceğe yönelik öneriler:</a:t>
            </a:r>
            <a:endParaRPr/>
          </a:p>
          <a:p>
            <a:pPr indent="-127000" lvl="0" marL="91440" rtl="0" algn="l">
              <a:lnSpc>
                <a:spcPct val="90000"/>
              </a:lnSpc>
              <a:spcBef>
                <a:spcPts val="1400"/>
              </a:spcBef>
              <a:spcAft>
                <a:spcPts val="0"/>
              </a:spcAft>
              <a:buSzPts val="2000"/>
              <a:buChar char=" "/>
            </a:pPr>
            <a:r>
              <a:rPr lang="tr-TR"/>
              <a:t>Veri setinin genişletilmesi</a:t>
            </a:r>
            <a:endParaRPr/>
          </a:p>
          <a:p>
            <a:pPr indent="-127000" lvl="0" marL="91440" rtl="0" algn="l">
              <a:lnSpc>
                <a:spcPct val="90000"/>
              </a:lnSpc>
              <a:spcBef>
                <a:spcPts val="1400"/>
              </a:spcBef>
              <a:spcAft>
                <a:spcPts val="0"/>
              </a:spcAft>
              <a:buSzPts val="2000"/>
              <a:buChar char=" "/>
            </a:pPr>
            <a:r>
              <a:rPr lang="tr-TR"/>
              <a:t>Farklı derin öğrenme modelleri denenmesi</a:t>
            </a:r>
            <a:endParaRPr/>
          </a:p>
          <a:p>
            <a:pPr indent="-127000" lvl="0" marL="91440" rtl="0" algn="l">
              <a:lnSpc>
                <a:spcPct val="90000"/>
              </a:lnSpc>
              <a:spcBef>
                <a:spcPts val="1400"/>
              </a:spcBef>
              <a:spcAft>
                <a:spcPts val="0"/>
              </a:spcAft>
              <a:buSzPts val="2000"/>
              <a:buChar char=" "/>
            </a:pPr>
            <a:r>
              <a:rPr lang="tr-TR"/>
              <a:t>Hibrit mimarilerin zenginleştirilmesi</a:t>
            </a:r>
            <a:endParaRPr/>
          </a:p>
        </p:txBody>
      </p:sp>
      <p:pic>
        <p:nvPicPr>
          <p:cNvPr id="313" name="Google Shape;313;p33"/>
          <p:cNvPicPr preferRelativeResize="0"/>
          <p:nvPr/>
        </p:nvPicPr>
        <p:blipFill rotWithShape="1">
          <a:blip r:embed="rId3">
            <a:alphaModFix/>
          </a:blip>
          <a:srcRect b="0" l="0" r="0" t="0"/>
          <a:stretch/>
        </p:blipFill>
        <p:spPr>
          <a:xfrm>
            <a:off x="7683401" y="-90183"/>
            <a:ext cx="1274862" cy="144349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4"/>
          <p:cNvSpPr txBox="1"/>
          <p:nvPr>
            <p:ph type="title"/>
          </p:nvPr>
        </p:nvSpPr>
        <p:spPr>
          <a:xfrm>
            <a:off x="554019" y="164592"/>
            <a:ext cx="7339539" cy="85200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b="1" lang="tr-TR"/>
              <a:t>Discussion Nasıl Yazılır? </a:t>
            </a:r>
            <a:endParaRPr/>
          </a:p>
        </p:txBody>
      </p:sp>
      <p:sp>
        <p:nvSpPr>
          <p:cNvPr id="319" name="Google Shape;319;p34"/>
          <p:cNvSpPr txBox="1"/>
          <p:nvPr>
            <p:ph idx="1" type="body"/>
          </p:nvPr>
        </p:nvSpPr>
        <p:spPr>
          <a:xfrm>
            <a:off x="554019" y="1189983"/>
            <a:ext cx="8176845" cy="5873261"/>
          </a:xfrm>
          <a:prstGeom prst="rect">
            <a:avLst/>
          </a:prstGeom>
          <a:noFill/>
          <a:ln>
            <a:noFill/>
          </a:ln>
        </p:spPr>
        <p:txBody>
          <a:bodyPr anchorCtr="0" anchor="t" bIns="45700" lIns="45700" spcFirstLastPara="1" rIns="45700" wrap="square" tIns="45700">
            <a:noAutofit/>
          </a:bodyPr>
          <a:lstStyle/>
          <a:p>
            <a:pPr indent="-101600" lvl="0" marL="91440" rtl="0" algn="l">
              <a:lnSpc>
                <a:spcPct val="120000"/>
              </a:lnSpc>
              <a:spcBef>
                <a:spcPts val="0"/>
              </a:spcBef>
              <a:spcAft>
                <a:spcPts val="0"/>
              </a:spcAft>
              <a:buSzPts val="1600"/>
              <a:buChar char=" "/>
            </a:pPr>
            <a:r>
              <a:rPr b="1" lang="tr-TR" sz="1600"/>
              <a:t>✔ 1) En önemli bulgu tekrar ifade edilmeli (ama özetle)</a:t>
            </a:r>
            <a:endParaRPr/>
          </a:p>
          <a:p>
            <a:pPr indent="-101600" lvl="0" marL="91440" rtl="0" algn="l">
              <a:lnSpc>
                <a:spcPct val="120000"/>
              </a:lnSpc>
              <a:spcBef>
                <a:spcPts val="0"/>
              </a:spcBef>
              <a:spcAft>
                <a:spcPts val="0"/>
              </a:spcAft>
              <a:buSzPts val="1600"/>
              <a:buChar char=" "/>
            </a:pPr>
            <a:r>
              <a:rPr lang="tr-TR" sz="1600"/>
              <a:t>"Bu çalışmada geliştirilen hibrit model X veri setinde en yüksek doğruluğu sağlamıştır.«</a:t>
            </a:r>
            <a:endParaRPr/>
          </a:p>
          <a:p>
            <a:pPr indent="0" lvl="0" marL="91440" rtl="0" algn="l">
              <a:lnSpc>
                <a:spcPct val="120000"/>
              </a:lnSpc>
              <a:spcBef>
                <a:spcPts val="0"/>
              </a:spcBef>
              <a:spcAft>
                <a:spcPts val="0"/>
              </a:spcAft>
              <a:buSzPts val="1600"/>
              <a:buNone/>
            </a:pPr>
            <a:r>
              <a:t/>
            </a:r>
            <a:endParaRPr sz="1600"/>
          </a:p>
          <a:p>
            <a:pPr indent="-101600" lvl="0" marL="91440" rtl="0" algn="l">
              <a:lnSpc>
                <a:spcPct val="120000"/>
              </a:lnSpc>
              <a:spcBef>
                <a:spcPts val="0"/>
              </a:spcBef>
              <a:spcAft>
                <a:spcPts val="0"/>
              </a:spcAft>
              <a:buSzPts val="1600"/>
              <a:buChar char=" "/>
            </a:pPr>
            <a:r>
              <a:rPr b="1" lang="tr-TR" sz="1600"/>
              <a:t>✔ 2) Bulguları literatürle karşılaştırılmalı</a:t>
            </a:r>
            <a:endParaRPr b="1" sz="1600"/>
          </a:p>
          <a:p>
            <a:pPr indent="-101600" lvl="0" marL="91440" rtl="0" algn="l">
              <a:lnSpc>
                <a:spcPct val="120000"/>
              </a:lnSpc>
              <a:spcBef>
                <a:spcPts val="0"/>
              </a:spcBef>
              <a:spcAft>
                <a:spcPts val="0"/>
              </a:spcAft>
              <a:buSzPts val="1600"/>
              <a:buChar char=" "/>
            </a:pPr>
            <a:r>
              <a:rPr lang="tr-TR" sz="1600"/>
              <a:t>“Sonuçlarımız, Yazar X’in (2020) bulgularıyla uyumludur…”</a:t>
            </a:r>
            <a:endParaRPr/>
          </a:p>
          <a:p>
            <a:pPr indent="-101600" lvl="0" marL="91440" rtl="0" algn="l">
              <a:lnSpc>
                <a:spcPct val="120000"/>
              </a:lnSpc>
              <a:spcBef>
                <a:spcPts val="0"/>
              </a:spcBef>
              <a:spcAft>
                <a:spcPts val="0"/>
              </a:spcAft>
              <a:buSzPts val="1600"/>
              <a:buChar char=" "/>
            </a:pPr>
            <a:r>
              <a:rPr lang="tr-TR" sz="1600"/>
              <a:t>“Ancak bizim modelimiz, Z çalışmasına kıyasla daha yüksek AUC elde etmiştir.”</a:t>
            </a:r>
            <a:endParaRPr/>
          </a:p>
          <a:p>
            <a:pPr indent="0" lvl="0" marL="91440" rtl="0" algn="l">
              <a:lnSpc>
                <a:spcPct val="120000"/>
              </a:lnSpc>
              <a:spcBef>
                <a:spcPts val="0"/>
              </a:spcBef>
              <a:spcAft>
                <a:spcPts val="0"/>
              </a:spcAft>
              <a:buSzPts val="1600"/>
              <a:buNone/>
            </a:pPr>
            <a:r>
              <a:t/>
            </a:r>
            <a:endParaRPr sz="1600"/>
          </a:p>
          <a:p>
            <a:pPr indent="-101600" lvl="0" marL="91440" rtl="0" algn="l">
              <a:lnSpc>
                <a:spcPct val="120000"/>
              </a:lnSpc>
              <a:spcBef>
                <a:spcPts val="0"/>
              </a:spcBef>
              <a:spcAft>
                <a:spcPts val="0"/>
              </a:spcAft>
              <a:buSzPts val="1600"/>
              <a:buChar char=" "/>
            </a:pPr>
            <a:r>
              <a:rPr b="1" lang="tr-TR" sz="1600"/>
              <a:t>✔ 3) Bulguların neden böyle çıktığını açıklanmalı</a:t>
            </a:r>
            <a:endParaRPr b="1" sz="1600"/>
          </a:p>
          <a:p>
            <a:pPr indent="-101600" lvl="0" marL="91440" rtl="0" algn="l">
              <a:lnSpc>
                <a:spcPct val="120000"/>
              </a:lnSpc>
              <a:spcBef>
                <a:spcPts val="0"/>
              </a:spcBef>
              <a:spcAft>
                <a:spcPts val="0"/>
              </a:spcAft>
              <a:buSzPts val="1600"/>
              <a:buChar char=" "/>
            </a:pPr>
            <a:r>
              <a:rPr lang="tr-TR" sz="1600"/>
              <a:t>Veri özellikleri, Modelin yapısı, Zaman bağlamı, Kullanıcı davranışları</a:t>
            </a:r>
            <a:endParaRPr/>
          </a:p>
          <a:p>
            <a:pPr indent="0" lvl="0" marL="91440" rtl="0" algn="l">
              <a:lnSpc>
                <a:spcPct val="120000"/>
              </a:lnSpc>
              <a:spcBef>
                <a:spcPts val="0"/>
              </a:spcBef>
              <a:spcAft>
                <a:spcPts val="0"/>
              </a:spcAft>
              <a:buSzPts val="1600"/>
              <a:buNone/>
            </a:pPr>
            <a:r>
              <a:t/>
            </a:r>
            <a:endParaRPr sz="1600"/>
          </a:p>
          <a:p>
            <a:pPr indent="-101600" lvl="0" marL="91440" rtl="0" algn="l">
              <a:lnSpc>
                <a:spcPct val="120000"/>
              </a:lnSpc>
              <a:spcBef>
                <a:spcPts val="0"/>
              </a:spcBef>
              <a:spcAft>
                <a:spcPts val="0"/>
              </a:spcAft>
              <a:buSzPts val="1600"/>
              <a:buChar char=" "/>
            </a:pPr>
            <a:r>
              <a:rPr b="1" lang="tr-TR" sz="1600"/>
              <a:t>✔ 4) Modelin güçlü yönleri tartışılmalı</a:t>
            </a:r>
            <a:endParaRPr b="1" sz="1600"/>
          </a:p>
          <a:p>
            <a:pPr indent="-101600" lvl="0" marL="91440" rtl="0" algn="l">
              <a:lnSpc>
                <a:spcPct val="120000"/>
              </a:lnSpc>
              <a:spcBef>
                <a:spcPts val="0"/>
              </a:spcBef>
              <a:spcAft>
                <a:spcPts val="0"/>
              </a:spcAft>
              <a:buSzPts val="1600"/>
              <a:buChar char=" "/>
            </a:pPr>
            <a:r>
              <a:rPr lang="tr-TR" sz="1600"/>
              <a:t>Daha hızlı, Daha yüksek doğruluk, Daha düşük hata, Daha açıklanabilir</a:t>
            </a:r>
            <a:endParaRPr/>
          </a:p>
          <a:p>
            <a:pPr indent="0" lvl="0" marL="91440" rtl="0" algn="l">
              <a:lnSpc>
                <a:spcPct val="120000"/>
              </a:lnSpc>
              <a:spcBef>
                <a:spcPts val="0"/>
              </a:spcBef>
              <a:spcAft>
                <a:spcPts val="0"/>
              </a:spcAft>
              <a:buSzPts val="1600"/>
              <a:buNone/>
            </a:pPr>
            <a:r>
              <a:t/>
            </a:r>
            <a:endParaRPr sz="1600"/>
          </a:p>
          <a:p>
            <a:pPr indent="-101600" lvl="0" marL="91440" rtl="0" algn="l">
              <a:lnSpc>
                <a:spcPct val="120000"/>
              </a:lnSpc>
              <a:spcBef>
                <a:spcPts val="0"/>
              </a:spcBef>
              <a:spcAft>
                <a:spcPts val="0"/>
              </a:spcAft>
              <a:buSzPts val="1600"/>
              <a:buChar char=" "/>
            </a:pPr>
            <a:r>
              <a:rPr b="1" lang="tr-TR" sz="1600"/>
              <a:t>✔ 5) Sınırlılıklar belirtilmeli</a:t>
            </a:r>
            <a:endParaRPr b="1" sz="1600"/>
          </a:p>
          <a:p>
            <a:pPr indent="-101600" lvl="0" marL="91440" rtl="0" algn="l">
              <a:lnSpc>
                <a:spcPct val="120000"/>
              </a:lnSpc>
              <a:spcBef>
                <a:spcPts val="0"/>
              </a:spcBef>
              <a:spcAft>
                <a:spcPts val="0"/>
              </a:spcAft>
              <a:buSzPts val="1600"/>
              <a:buChar char=" "/>
            </a:pPr>
            <a:r>
              <a:rPr lang="tr-TR" sz="1600"/>
              <a:t>Veri eksiklikleri, Modelin genelleme sorunu, Hesaplama maliyeti, Dar sınıf dengesizlikleri</a:t>
            </a:r>
            <a:endParaRPr/>
          </a:p>
          <a:p>
            <a:pPr indent="0" lvl="0" marL="91440" rtl="0" algn="l">
              <a:lnSpc>
                <a:spcPct val="120000"/>
              </a:lnSpc>
              <a:spcBef>
                <a:spcPts val="0"/>
              </a:spcBef>
              <a:spcAft>
                <a:spcPts val="0"/>
              </a:spcAft>
              <a:buSzPts val="1600"/>
              <a:buNone/>
            </a:pPr>
            <a:r>
              <a:t/>
            </a:r>
            <a:endParaRPr sz="1600"/>
          </a:p>
          <a:p>
            <a:pPr indent="-101600" lvl="0" marL="91440" rtl="0" algn="l">
              <a:lnSpc>
                <a:spcPct val="120000"/>
              </a:lnSpc>
              <a:spcBef>
                <a:spcPts val="0"/>
              </a:spcBef>
              <a:spcAft>
                <a:spcPts val="0"/>
              </a:spcAft>
              <a:buSzPts val="1600"/>
              <a:buChar char=" "/>
            </a:pPr>
            <a:r>
              <a:rPr b="1" lang="tr-TR" sz="1600"/>
              <a:t>✔ 6) Bulguların sektörel / akademik katkısı açıklanmalı</a:t>
            </a:r>
            <a:endParaRPr b="1" sz="1600"/>
          </a:p>
          <a:p>
            <a:pPr indent="-101600" lvl="0" marL="91440" rtl="0" algn="l">
              <a:lnSpc>
                <a:spcPct val="120000"/>
              </a:lnSpc>
              <a:spcBef>
                <a:spcPts val="0"/>
              </a:spcBef>
              <a:spcAft>
                <a:spcPts val="0"/>
              </a:spcAft>
              <a:buSzPts val="1600"/>
              <a:buChar char=" "/>
            </a:pPr>
            <a:r>
              <a:rPr lang="tr-TR" sz="1600"/>
              <a:t>İş değeri, Performans artışı, Yeni metodolojik yaklaşım</a:t>
            </a:r>
            <a:endParaRPr sz="1600"/>
          </a:p>
        </p:txBody>
      </p:sp>
      <p:pic>
        <p:nvPicPr>
          <p:cNvPr id="320" name="Google Shape;320;p34"/>
          <p:cNvPicPr preferRelativeResize="0"/>
          <p:nvPr/>
        </p:nvPicPr>
        <p:blipFill rotWithShape="1">
          <a:blip r:embed="rId3">
            <a:alphaModFix/>
          </a:blip>
          <a:srcRect b="0" l="0" r="0" t="0"/>
          <a:stretch/>
        </p:blipFill>
        <p:spPr>
          <a:xfrm>
            <a:off x="7548664" y="0"/>
            <a:ext cx="1391055" cy="157505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5"/>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b="1" lang="tr-TR"/>
              <a:t>Conclusions-Sonuçlar</a:t>
            </a:r>
            <a:endParaRPr/>
          </a:p>
        </p:txBody>
      </p:sp>
      <p:sp>
        <p:nvSpPr>
          <p:cNvPr id="326" name="Google Shape;326;p35"/>
          <p:cNvSpPr txBox="1"/>
          <p:nvPr>
            <p:ph idx="1" type="body"/>
          </p:nvPr>
        </p:nvSpPr>
        <p:spPr>
          <a:xfrm>
            <a:off x="667512" y="1078992"/>
            <a:ext cx="7390639" cy="523036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b="1" lang="tr-TR"/>
              <a:t>Conclusion</a:t>
            </a:r>
            <a:r>
              <a:rPr lang="tr-TR"/>
              <a:t>, bir bilimsel makalenin:</a:t>
            </a:r>
            <a:endParaRPr/>
          </a:p>
          <a:p>
            <a:pPr indent="-127000" lvl="0" marL="91440" rtl="0" algn="l">
              <a:lnSpc>
                <a:spcPct val="90000"/>
              </a:lnSpc>
              <a:spcBef>
                <a:spcPts val="1400"/>
              </a:spcBef>
              <a:spcAft>
                <a:spcPts val="0"/>
              </a:spcAft>
              <a:buSzPts val="2000"/>
              <a:buChar char=" "/>
            </a:pPr>
            <a:r>
              <a:rPr lang="tr-TR"/>
              <a:t>Çalışmanın </a:t>
            </a:r>
            <a:r>
              <a:rPr i="1" lang="tr-TR"/>
              <a:t>esas bulgularını</a:t>
            </a:r>
            <a:r>
              <a:rPr lang="tr-TR"/>
              <a:t> özetlediği,</a:t>
            </a:r>
            <a:endParaRPr/>
          </a:p>
          <a:p>
            <a:pPr indent="-127000" lvl="0" marL="91440" rtl="0" algn="l">
              <a:lnSpc>
                <a:spcPct val="90000"/>
              </a:lnSpc>
              <a:spcBef>
                <a:spcPts val="1400"/>
              </a:spcBef>
              <a:spcAft>
                <a:spcPts val="0"/>
              </a:spcAft>
              <a:buSzPts val="2000"/>
              <a:buChar char=" "/>
            </a:pPr>
            <a:r>
              <a:rPr i="1" lang="tr-TR"/>
              <a:t>Katkıyı net şekilde</a:t>
            </a:r>
            <a:r>
              <a:rPr lang="tr-TR"/>
              <a:t> belirttiği,</a:t>
            </a:r>
            <a:endParaRPr/>
          </a:p>
          <a:p>
            <a:pPr indent="-127000" lvl="0" marL="91440" rtl="0" algn="l">
              <a:lnSpc>
                <a:spcPct val="90000"/>
              </a:lnSpc>
              <a:spcBef>
                <a:spcPts val="1400"/>
              </a:spcBef>
              <a:spcAft>
                <a:spcPts val="0"/>
              </a:spcAft>
              <a:buSzPts val="2000"/>
              <a:buChar char=" "/>
            </a:pPr>
            <a:r>
              <a:rPr i="1" lang="tr-TR"/>
              <a:t>Çalışmanın neyi başardığını</a:t>
            </a:r>
            <a:r>
              <a:rPr lang="tr-TR"/>
              <a:t> anlattığı,</a:t>
            </a:r>
            <a:endParaRPr/>
          </a:p>
          <a:p>
            <a:pPr indent="-127000" lvl="0" marL="91440" rtl="0" algn="l">
              <a:lnSpc>
                <a:spcPct val="90000"/>
              </a:lnSpc>
              <a:spcBef>
                <a:spcPts val="1400"/>
              </a:spcBef>
              <a:spcAft>
                <a:spcPts val="0"/>
              </a:spcAft>
              <a:buSzPts val="2000"/>
              <a:buChar char=" "/>
            </a:pPr>
            <a:r>
              <a:rPr i="1" lang="tr-TR"/>
              <a:t>Gelecek çalışmalara yol gösterdiği</a:t>
            </a:r>
            <a:endParaRPr/>
          </a:p>
          <a:p>
            <a:pPr indent="-127000" lvl="0" marL="91440" rtl="0" algn="l">
              <a:lnSpc>
                <a:spcPct val="90000"/>
              </a:lnSpc>
              <a:spcBef>
                <a:spcPts val="1400"/>
              </a:spcBef>
              <a:spcAft>
                <a:spcPts val="0"/>
              </a:spcAft>
              <a:buSzPts val="2000"/>
              <a:buChar char=" "/>
            </a:pPr>
            <a:r>
              <a:rPr b="1" lang="tr-TR"/>
              <a:t>kısa ama etkili</a:t>
            </a:r>
            <a:r>
              <a:rPr lang="tr-TR"/>
              <a:t> son bölümüdür.</a:t>
            </a:r>
            <a:endParaRPr/>
          </a:p>
          <a:p>
            <a:pPr indent="-127000" lvl="0" marL="91440" rtl="0" algn="l">
              <a:lnSpc>
                <a:spcPct val="90000"/>
              </a:lnSpc>
              <a:spcBef>
                <a:spcPts val="1400"/>
              </a:spcBef>
              <a:spcAft>
                <a:spcPts val="0"/>
              </a:spcAft>
              <a:buSzPts val="2000"/>
              <a:buChar char=" "/>
            </a:pPr>
            <a:r>
              <a:rPr lang="tr-TR"/>
              <a:t>👉 </a:t>
            </a:r>
            <a:r>
              <a:rPr b="1" lang="tr-TR"/>
              <a:t>“Bu çalışma bize ne öğretti?”</a:t>
            </a:r>
            <a:r>
              <a:rPr lang="tr-TR"/>
              <a:t> sorusunun cevabıdır.</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pic>
        <p:nvPicPr>
          <p:cNvPr id="327" name="Google Shape;327;p35"/>
          <p:cNvPicPr preferRelativeResize="0"/>
          <p:nvPr/>
        </p:nvPicPr>
        <p:blipFill rotWithShape="1">
          <a:blip r:embed="rId3">
            <a:alphaModFix/>
          </a:blip>
          <a:srcRect b="0" l="0" r="0" t="0"/>
          <a:stretch/>
        </p:blipFill>
        <p:spPr>
          <a:xfrm>
            <a:off x="5220510" y="134112"/>
            <a:ext cx="1524000" cy="1219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6"/>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b="1" lang="tr-TR"/>
              <a:t>CONCLUSION YAZARKEN DİKKAT EDİLMESİ GEREKENLER</a:t>
            </a:r>
            <a:endParaRPr/>
          </a:p>
          <a:p>
            <a:pPr indent="-127000" lvl="0" marL="91440" rtl="0" algn="l">
              <a:lnSpc>
                <a:spcPct val="90000"/>
              </a:lnSpc>
              <a:spcBef>
                <a:spcPts val="1400"/>
              </a:spcBef>
              <a:spcAft>
                <a:spcPts val="0"/>
              </a:spcAft>
              <a:buSzPts val="2000"/>
              <a:buChar char=" "/>
            </a:pPr>
            <a:r>
              <a:rPr lang="tr-TR"/>
              <a:t>✔ Kısa olmalı (150–250 kelime ideal)</a:t>
            </a:r>
            <a:endParaRPr/>
          </a:p>
          <a:p>
            <a:pPr indent="-127000" lvl="0" marL="91440" rtl="0" algn="l">
              <a:lnSpc>
                <a:spcPct val="90000"/>
              </a:lnSpc>
              <a:spcBef>
                <a:spcPts val="1400"/>
              </a:spcBef>
              <a:spcAft>
                <a:spcPts val="0"/>
              </a:spcAft>
              <a:buSzPts val="2000"/>
              <a:buChar char=" "/>
            </a:pPr>
            <a:r>
              <a:rPr lang="tr-TR"/>
              <a:t>✔ Yeni veri, yeni sonuç veya yeni şekil eklenmez</a:t>
            </a:r>
            <a:endParaRPr/>
          </a:p>
          <a:p>
            <a:pPr indent="-127000" lvl="0" marL="91440" rtl="0" algn="l">
              <a:lnSpc>
                <a:spcPct val="90000"/>
              </a:lnSpc>
              <a:spcBef>
                <a:spcPts val="1400"/>
              </a:spcBef>
              <a:spcAft>
                <a:spcPts val="0"/>
              </a:spcAft>
              <a:buSzPts val="2000"/>
              <a:buChar char=" "/>
            </a:pPr>
            <a:r>
              <a:rPr lang="tr-TR"/>
              <a:t>✔ Yorum yapılır ama tekrara kaçılmaz</a:t>
            </a:r>
            <a:endParaRPr/>
          </a:p>
          <a:p>
            <a:pPr indent="-127000" lvl="0" marL="91440" rtl="0" algn="l">
              <a:lnSpc>
                <a:spcPct val="90000"/>
              </a:lnSpc>
              <a:spcBef>
                <a:spcPts val="1400"/>
              </a:spcBef>
              <a:spcAft>
                <a:spcPts val="0"/>
              </a:spcAft>
              <a:buSzPts val="2000"/>
              <a:buChar char=" "/>
            </a:pPr>
            <a:r>
              <a:rPr lang="tr-TR"/>
              <a:t>✔ Yöntem anlatılmaz (Methods kısmına ait değildir)</a:t>
            </a:r>
            <a:endParaRPr/>
          </a:p>
          <a:p>
            <a:pPr indent="-127000" lvl="0" marL="91440" rtl="0" algn="l">
              <a:lnSpc>
                <a:spcPct val="90000"/>
              </a:lnSpc>
              <a:spcBef>
                <a:spcPts val="1400"/>
              </a:spcBef>
              <a:spcAft>
                <a:spcPts val="0"/>
              </a:spcAft>
              <a:buSzPts val="2000"/>
              <a:buChar char=" "/>
            </a:pPr>
            <a:r>
              <a:rPr lang="tr-TR"/>
              <a:t>✔ Tartışma bölümüyle karıştırılmamalı</a:t>
            </a:r>
            <a:endParaRPr/>
          </a:p>
          <a:p>
            <a:pPr indent="-127000" lvl="0" marL="91440" rtl="0" algn="l">
              <a:lnSpc>
                <a:spcPct val="90000"/>
              </a:lnSpc>
              <a:spcBef>
                <a:spcPts val="1400"/>
              </a:spcBef>
              <a:spcAft>
                <a:spcPts val="0"/>
              </a:spcAft>
              <a:buSzPts val="2000"/>
              <a:buChar char=" "/>
            </a:pPr>
            <a:r>
              <a:rPr lang="tr-TR"/>
              <a:t>✔ En kritik bulgular net ve vurucu verilmeli</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sp>
        <p:nvSpPr>
          <p:cNvPr id="334" name="Google Shape;334;p36"/>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b="1" lang="tr-TR"/>
              <a:t>Conclusions-Sonuçlar</a:t>
            </a:r>
            <a:endParaRPr/>
          </a:p>
        </p:txBody>
      </p:sp>
      <p:pic>
        <p:nvPicPr>
          <p:cNvPr id="335" name="Google Shape;335;p36"/>
          <p:cNvPicPr preferRelativeResize="0"/>
          <p:nvPr/>
        </p:nvPicPr>
        <p:blipFill rotWithShape="1">
          <a:blip r:embed="rId3">
            <a:alphaModFix/>
          </a:blip>
          <a:srcRect b="0" l="0" r="0" t="0"/>
          <a:stretch/>
        </p:blipFill>
        <p:spPr>
          <a:xfrm>
            <a:off x="5888726" y="-3048"/>
            <a:ext cx="1524000" cy="1219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7"/>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b="1" lang="tr-TR"/>
              <a:t>Örnek Conclusion</a:t>
            </a:r>
            <a:endParaRPr/>
          </a:p>
        </p:txBody>
      </p:sp>
      <p:sp>
        <p:nvSpPr>
          <p:cNvPr id="341" name="Google Shape;341;p37"/>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Bu çalışma, belirlenen problemi çözmek amacıyla …….. yöntemlerin karşılaştırmalı olarak analiz edildiği kapsamlı bir yaklaşım sunmuştur. Elde edilen sonuçlar, önerilen modelin hem doğruluk hem de kararlılık açısından mevcut yöntemlerden ……..daha iyi performans gösterdiğini ortaya koymuştur. Ayrıca, veri işleme sürecinde uygulanan geliştirilmiş özellik çıkarımı stratejilerinin model başarımına önemli ölçüde katkıda bulunduğu gözlemlenmiştir.</a:t>
            </a:r>
            <a:endParaRPr/>
          </a:p>
          <a:p>
            <a:pPr indent="-127000" lvl="0" marL="91440" rtl="0" algn="l">
              <a:lnSpc>
                <a:spcPct val="90000"/>
              </a:lnSpc>
              <a:spcBef>
                <a:spcPts val="1400"/>
              </a:spcBef>
              <a:spcAft>
                <a:spcPts val="0"/>
              </a:spcAft>
              <a:buSzPts val="2000"/>
              <a:buChar char=" "/>
            </a:pPr>
            <a:r>
              <a:rPr lang="tr-TR"/>
              <a:t>Bu çalışmanın özgün değeri, çok kaynaklı veriyi bütünleştirerek hibrit bir yöntem tasarlaması ve bunu gerçek saha verisi üzerinde değerlendirmesidir. Bu yönüyle çalışma, literatürdeki önceki modellerden ayrışmakta ve veri odaklı karar destek sistemlerine yeni bir yaklaşım sunmaktadır.</a:t>
            </a:r>
            <a:endParaRPr/>
          </a:p>
          <a:p>
            <a:pPr indent="-127000" lvl="0" marL="91440" rtl="0" algn="l">
              <a:lnSpc>
                <a:spcPct val="90000"/>
              </a:lnSpc>
              <a:spcBef>
                <a:spcPts val="1400"/>
              </a:spcBef>
              <a:spcAft>
                <a:spcPts val="0"/>
              </a:spcAft>
              <a:buSzPts val="2000"/>
              <a:buChar char=" "/>
            </a:pPr>
            <a:r>
              <a:rPr lang="tr-TR"/>
              <a:t>Gelecek çalışmalarda daha büyük çaplı veri setlerinin kullanılması, derin öğrenme tabanlı modellerin entegrasyonu ve yöntemin gerçek zamanlı ortamlarda test edilmesi planlanmaktadır</a:t>
            </a:r>
            <a:endParaRPr/>
          </a:p>
          <a:p>
            <a:pPr indent="0" lvl="0" marL="91440" rtl="0" algn="l">
              <a:lnSpc>
                <a:spcPct val="90000"/>
              </a:lnSpc>
              <a:spcBef>
                <a:spcPts val="1400"/>
              </a:spcBef>
              <a:spcAft>
                <a:spcPts val="0"/>
              </a:spcAft>
              <a:buSzPts val="2000"/>
              <a:buNone/>
            </a:pPr>
            <a:r>
              <a:t/>
            </a:r>
            <a:endParaRPr/>
          </a:p>
        </p:txBody>
      </p:sp>
      <p:pic>
        <p:nvPicPr>
          <p:cNvPr id="342" name="Google Shape;342;p37"/>
          <p:cNvPicPr preferRelativeResize="0"/>
          <p:nvPr/>
        </p:nvPicPr>
        <p:blipFill rotWithShape="1">
          <a:blip r:embed="rId3">
            <a:alphaModFix/>
          </a:blip>
          <a:srcRect b="0" l="0" r="0" t="0"/>
          <a:stretch/>
        </p:blipFill>
        <p:spPr>
          <a:xfrm>
            <a:off x="7131558" y="-3048"/>
            <a:ext cx="1524000" cy="12192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8"/>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Yayın Türlerine Genel Bakış</a:t>
            </a:r>
            <a:endParaRPr/>
          </a:p>
        </p:txBody>
      </p:sp>
      <p:sp>
        <p:nvSpPr>
          <p:cNvPr id="348" name="Google Shape;348;p38"/>
          <p:cNvSpPr txBox="1"/>
          <p:nvPr>
            <p:ph idx="1" type="body"/>
          </p:nvPr>
        </p:nvSpPr>
        <p:spPr>
          <a:xfrm>
            <a:off x="488602" y="1335175"/>
            <a:ext cx="8483948" cy="5425105"/>
          </a:xfrm>
          <a:prstGeom prst="rect">
            <a:avLst/>
          </a:prstGeom>
          <a:noFill/>
          <a:ln>
            <a:noFill/>
          </a:ln>
        </p:spPr>
        <p:txBody>
          <a:bodyPr anchorCtr="0" anchor="t" bIns="45700" lIns="45700" spcFirstLastPara="1" rIns="45700" wrap="square" tIns="45700">
            <a:normAutofit lnSpcReduction="10000"/>
          </a:bodyPr>
          <a:lstStyle/>
          <a:p>
            <a:pPr indent="0" lvl="0" marL="0" rtl="0" algn="l">
              <a:lnSpc>
                <a:spcPct val="90000"/>
              </a:lnSpc>
              <a:spcBef>
                <a:spcPts val="0"/>
              </a:spcBef>
              <a:spcAft>
                <a:spcPts val="0"/>
              </a:spcAft>
              <a:buSzPts val="2000"/>
              <a:buNone/>
            </a:pPr>
            <a:r>
              <a:rPr lang="tr-TR"/>
              <a:t>Akademik yayınlar, çalışmaların kapsamına, derinliğine, hedef kitleye ve yayın amacına göre farklı türlerde ortaya çıkar. Bir araştırmacının etkili bir yayın stratejisi oluşturabilmesi için bu türleri iyi anlaması gerekir.</a:t>
            </a:r>
            <a:endParaRPr/>
          </a:p>
          <a:p>
            <a:pPr indent="0" lvl="0" marL="0" rtl="0" algn="l">
              <a:lnSpc>
                <a:spcPct val="90000"/>
              </a:lnSpc>
              <a:spcBef>
                <a:spcPts val="1400"/>
              </a:spcBef>
              <a:spcAft>
                <a:spcPts val="0"/>
              </a:spcAft>
              <a:buSzPts val="2000"/>
              <a:buNone/>
            </a:pPr>
            <a:r>
              <a:rPr b="1" lang="tr-TR"/>
              <a:t>Konferans Bildirileri (Conference Papers)</a:t>
            </a:r>
            <a:endParaRPr/>
          </a:p>
          <a:p>
            <a:pPr indent="-127000" lvl="0" marL="91440" rtl="0" algn="l">
              <a:lnSpc>
                <a:spcPct val="90000"/>
              </a:lnSpc>
              <a:spcBef>
                <a:spcPts val="1400"/>
              </a:spcBef>
              <a:spcAft>
                <a:spcPts val="0"/>
              </a:spcAft>
              <a:buSzPts val="2000"/>
              <a:buChar char=" "/>
            </a:pPr>
            <a:r>
              <a:rPr lang="tr-TR"/>
              <a:t>Özellikleri: Daha hızlı hakem süreci (2–8 hafta), sonuçların erken duyurulmasını sağlar, prototip çalışmalar ve ön bulgular için idealdir, bazı konferanslar (NeurIPS, ICML, IEEE BigData) Q1 dergiler kadar prestijlidir.</a:t>
            </a:r>
            <a:endParaRPr/>
          </a:p>
          <a:p>
            <a:pPr indent="-127000" lvl="0" marL="91440" rtl="0" algn="l">
              <a:lnSpc>
                <a:spcPct val="90000"/>
              </a:lnSpc>
              <a:spcBef>
                <a:spcPts val="1400"/>
              </a:spcBef>
              <a:spcAft>
                <a:spcPts val="0"/>
              </a:spcAft>
              <a:buSzPts val="2000"/>
              <a:buChar char=" "/>
            </a:pPr>
            <a:r>
              <a:rPr lang="tr-TR"/>
              <a:t>Ne zaman tercih edilir? Çalışma henüz olgunlaşmamışsa, yöntem yeni ama kapsam dar ise, uluslararası görünürlük isteniyorsa, etkinlikte sunum yaparak geri bildirim almak hedefleniyorsa.</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b="1" lang="tr-TR">
                <a:solidFill>
                  <a:srgbClr val="00B050"/>
                </a:solidFill>
              </a:rPr>
              <a:t>Avantajlar: ✔ Hızlı yayın ✔ Geniş akademik ağ ✔ Canlı sunum imkânı</a:t>
            </a:r>
            <a:endParaRPr/>
          </a:p>
          <a:p>
            <a:pPr indent="0" lvl="0" marL="91440" rtl="0" algn="l">
              <a:lnSpc>
                <a:spcPct val="90000"/>
              </a:lnSpc>
              <a:spcBef>
                <a:spcPts val="1400"/>
              </a:spcBef>
              <a:spcAft>
                <a:spcPts val="0"/>
              </a:spcAft>
              <a:buSzPts val="2000"/>
              <a:buNone/>
            </a:pPr>
            <a:r>
              <a:t/>
            </a:r>
            <a:endParaRPr b="1"/>
          </a:p>
          <a:p>
            <a:pPr indent="-127000" lvl="0" marL="91440" rtl="0" algn="l">
              <a:lnSpc>
                <a:spcPct val="90000"/>
              </a:lnSpc>
              <a:spcBef>
                <a:spcPts val="1400"/>
              </a:spcBef>
              <a:spcAft>
                <a:spcPts val="0"/>
              </a:spcAft>
              <a:buSzPts val="2000"/>
              <a:buChar char=" "/>
            </a:pPr>
            <a:r>
              <a:rPr b="1" lang="tr-TR">
                <a:solidFill>
                  <a:srgbClr val="FF0000"/>
                </a:solidFill>
              </a:rPr>
              <a:t>Dezavantajlar: ✘ Kısa uzunluk (genelde 4–8 sayfa) ✘ Derin teknik analiz sınırlı</a:t>
            </a:r>
            <a:endParaRPr b="1">
              <a:solidFill>
                <a:srgbClr val="FF0000"/>
              </a:solidFill>
            </a:endParaRPr>
          </a:p>
        </p:txBody>
      </p:sp>
      <p:pic>
        <p:nvPicPr>
          <p:cNvPr id="349" name="Google Shape;349;p38"/>
          <p:cNvPicPr preferRelativeResize="0"/>
          <p:nvPr/>
        </p:nvPicPr>
        <p:blipFill rotWithShape="1">
          <a:blip r:embed="rId3">
            <a:alphaModFix/>
          </a:blip>
          <a:srcRect b="0" l="0" r="0" t="0"/>
          <a:stretch/>
        </p:blipFill>
        <p:spPr>
          <a:xfrm>
            <a:off x="6038850" y="0"/>
            <a:ext cx="2933700" cy="9048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9"/>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Yayın Türlerine Genel Bakış</a:t>
            </a:r>
            <a:endParaRPr/>
          </a:p>
        </p:txBody>
      </p:sp>
      <p:sp>
        <p:nvSpPr>
          <p:cNvPr id="355" name="Google Shape;355;p39"/>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lnSpcReduction="10000"/>
          </a:bodyPr>
          <a:lstStyle/>
          <a:p>
            <a:pPr indent="-127000" lvl="0" marL="91440" rtl="0" algn="l">
              <a:lnSpc>
                <a:spcPct val="90000"/>
              </a:lnSpc>
              <a:spcBef>
                <a:spcPts val="0"/>
              </a:spcBef>
              <a:spcAft>
                <a:spcPts val="0"/>
              </a:spcAft>
              <a:buSzPts val="2000"/>
              <a:buChar char=" "/>
            </a:pPr>
            <a:r>
              <a:rPr b="1" lang="tr-TR"/>
              <a:t>Dergi Makaleleri (Journal Articles)</a:t>
            </a:r>
            <a:endParaRPr/>
          </a:p>
          <a:p>
            <a:pPr indent="-127000" lvl="0" marL="91440" rtl="0" algn="l">
              <a:lnSpc>
                <a:spcPct val="90000"/>
              </a:lnSpc>
              <a:spcBef>
                <a:spcPts val="1400"/>
              </a:spcBef>
              <a:spcAft>
                <a:spcPts val="0"/>
              </a:spcAft>
              <a:buSzPts val="2000"/>
              <a:buChar char=" "/>
            </a:pPr>
            <a:r>
              <a:rPr b="1" lang="tr-TR"/>
              <a:t>Özellikleri:</a:t>
            </a:r>
            <a:r>
              <a:rPr lang="tr-TR"/>
              <a:t> En prestijli bilimsel yayın türüdür; derin teori, yöntem analizi ve kapsamlı deney gerektirir; hakem süreci uzun olabilir (3–12 ay).</a:t>
            </a:r>
            <a:endParaRPr/>
          </a:p>
          <a:p>
            <a:pPr indent="-127000" lvl="0" marL="91440" rtl="0" algn="l">
              <a:lnSpc>
                <a:spcPct val="90000"/>
              </a:lnSpc>
              <a:spcBef>
                <a:spcPts val="1400"/>
              </a:spcBef>
              <a:spcAft>
                <a:spcPts val="0"/>
              </a:spcAft>
              <a:buSzPts val="2000"/>
              <a:buChar char=" "/>
            </a:pPr>
            <a:r>
              <a:rPr b="1" lang="tr-TR"/>
              <a:t>Dergi sınıfları:</a:t>
            </a:r>
            <a:r>
              <a:rPr lang="tr-TR"/>
              <a:t> SCI / SCI-E (Web of Science) → En yüksek etki; </a:t>
            </a:r>
            <a:endParaRPr/>
          </a:p>
          <a:p>
            <a:pPr indent="-127000" lvl="0" marL="91440" rtl="0" algn="l">
              <a:lnSpc>
                <a:spcPct val="90000"/>
              </a:lnSpc>
              <a:spcBef>
                <a:spcPts val="1400"/>
              </a:spcBef>
              <a:spcAft>
                <a:spcPts val="0"/>
              </a:spcAft>
              <a:buSzPts val="2000"/>
              <a:buChar char=" "/>
            </a:pPr>
            <a:r>
              <a:rPr lang="tr-TR"/>
              <a:t>Q1–Q4 sınıflandırması; alan bazlı dergiler (IEEE Transactions, Elsevier Applied series).</a:t>
            </a:r>
            <a:endParaRPr/>
          </a:p>
          <a:p>
            <a:pPr indent="-127000" lvl="0" marL="91440" rtl="0" algn="l">
              <a:lnSpc>
                <a:spcPct val="90000"/>
              </a:lnSpc>
              <a:spcBef>
                <a:spcPts val="1400"/>
              </a:spcBef>
              <a:spcAft>
                <a:spcPts val="0"/>
              </a:spcAft>
              <a:buSzPts val="2000"/>
              <a:buChar char=" "/>
            </a:pPr>
            <a:r>
              <a:rPr b="1" lang="tr-TR"/>
              <a:t>Ne zaman tercih edilir?</a:t>
            </a:r>
            <a:r>
              <a:rPr lang="tr-TR"/>
              <a:t> Çalışma tamamen olgunlaşmışsa; çok güçlü deneysel sonuçlar varsa; yeni bir yöntem/model/algoritma veya kuramsal yaklaşım sunuluyorsa; akademik yükseltme, proje çıktısı ya da kurumsal hedef gerektiriyorsa.</a:t>
            </a:r>
            <a:endParaRPr/>
          </a:p>
          <a:p>
            <a:pPr indent="-127000" lvl="0" marL="91440" rtl="0" algn="l">
              <a:lnSpc>
                <a:spcPct val="90000"/>
              </a:lnSpc>
              <a:spcBef>
                <a:spcPts val="1400"/>
              </a:spcBef>
              <a:spcAft>
                <a:spcPts val="0"/>
              </a:spcAft>
              <a:buSzPts val="2000"/>
              <a:buChar char=" "/>
            </a:pPr>
            <a:r>
              <a:rPr b="1" lang="tr-TR">
                <a:solidFill>
                  <a:srgbClr val="00B050"/>
                </a:solidFill>
              </a:rPr>
              <a:t>Avantajlar: ✔ En yüksek bilimsel etki ✔ Geniş alıntı potansiyeli ✔ Kurumsal ve akademik tanınırlık</a:t>
            </a:r>
            <a:endParaRPr/>
          </a:p>
          <a:p>
            <a:pPr indent="-127000" lvl="0" marL="91440" rtl="0" algn="l">
              <a:lnSpc>
                <a:spcPct val="90000"/>
              </a:lnSpc>
              <a:spcBef>
                <a:spcPts val="1400"/>
              </a:spcBef>
              <a:spcAft>
                <a:spcPts val="0"/>
              </a:spcAft>
              <a:buSzPts val="2000"/>
              <a:buChar char=" "/>
            </a:pPr>
            <a:r>
              <a:rPr b="1" lang="tr-TR">
                <a:solidFill>
                  <a:srgbClr val="FF0000"/>
                </a:solidFill>
              </a:rPr>
              <a:t>Dezavantajlar:</a:t>
            </a:r>
            <a:r>
              <a:rPr lang="tr-TR">
                <a:solidFill>
                  <a:srgbClr val="FF0000"/>
                </a:solidFill>
              </a:rPr>
              <a:t> ✘ Uzun değerlendirme süresi ✘ Yazım ve metodoloji standardı daha kat</a:t>
            </a:r>
            <a:endParaRPr/>
          </a:p>
        </p:txBody>
      </p:sp>
      <p:pic>
        <p:nvPicPr>
          <p:cNvPr id="356" name="Google Shape;356;p39"/>
          <p:cNvPicPr preferRelativeResize="0"/>
          <p:nvPr/>
        </p:nvPicPr>
        <p:blipFill rotWithShape="1">
          <a:blip r:embed="rId3">
            <a:alphaModFix/>
          </a:blip>
          <a:srcRect b="0" l="0" r="0" t="0"/>
          <a:stretch/>
        </p:blipFill>
        <p:spPr>
          <a:xfrm>
            <a:off x="6147881" y="164592"/>
            <a:ext cx="2672674" cy="95982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0"/>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Yayın Türlerine Genel Bakış</a:t>
            </a:r>
            <a:endParaRPr/>
          </a:p>
        </p:txBody>
      </p:sp>
      <p:sp>
        <p:nvSpPr>
          <p:cNvPr id="362" name="Google Shape;362;p40"/>
          <p:cNvSpPr txBox="1"/>
          <p:nvPr>
            <p:ph idx="1" type="body"/>
          </p:nvPr>
        </p:nvSpPr>
        <p:spPr>
          <a:xfrm>
            <a:off x="411982" y="1004835"/>
            <a:ext cx="8490858" cy="5747657"/>
          </a:xfrm>
          <a:prstGeom prst="rect">
            <a:avLst/>
          </a:prstGeom>
          <a:noFill/>
          <a:ln>
            <a:noFill/>
          </a:ln>
        </p:spPr>
        <p:txBody>
          <a:bodyPr anchorCtr="0" anchor="t" bIns="45700" lIns="45700" spcFirstLastPara="1" rIns="45700" wrap="square" tIns="45700">
            <a:normAutofit fontScale="92500" lnSpcReduction="20000"/>
          </a:bodyPr>
          <a:lstStyle/>
          <a:p>
            <a:pPr indent="-117475" lvl="0" marL="91440" rtl="0" algn="l">
              <a:lnSpc>
                <a:spcPct val="90000"/>
              </a:lnSpc>
              <a:spcBef>
                <a:spcPts val="0"/>
              </a:spcBef>
              <a:spcAft>
                <a:spcPts val="0"/>
              </a:spcAft>
              <a:buSzPct val="100000"/>
              <a:buChar char=" "/>
            </a:pPr>
            <a:r>
              <a:rPr b="1" lang="tr-TR"/>
              <a:t>Kısa Bildiriler / Poster Yayınları (Short Papers – Poster Sessions)</a:t>
            </a:r>
            <a:endParaRPr/>
          </a:p>
          <a:p>
            <a:pPr indent="-117475" lvl="0" marL="91440" rtl="0" algn="l">
              <a:lnSpc>
                <a:spcPct val="90000"/>
              </a:lnSpc>
              <a:spcBef>
                <a:spcPts val="1400"/>
              </a:spcBef>
              <a:spcAft>
                <a:spcPts val="0"/>
              </a:spcAft>
              <a:buSzPct val="100000"/>
              <a:buChar char=" "/>
            </a:pPr>
            <a:r>
              <a:rPr lang="tr-TR"/>
              <a:t>Erken aşama sonuçlar için uygundur</a:t>
            </a:r>
            <a:endParaRPr/>
          </a:p>
          <a:p>
            <a:pPr indent="-117475" lvl="0" marL="91440" rtl="0" algn="l">
              <a:lnSpc>
                <a:spcPct val="90000"/>
              </a:lnSpc>
              <a:spcBef>
                <a:spcPts val="1400"/>
              </a:spcBef>
              <a:spcAft>
                <a:spcPts val="0"/>
              </a:spcAft>
              <a:buSzPct val="100000"/>
              <a:buChar char=" "/>
            </a:pPr>
            <a:r>
              <a:rPr lang="tr-TR"/>
              <a:t>Yöntem açıklanır ama detaylı analiz gerekmez</a:t>
            </a:r>
            <a:endParaRPr/>
          </a:p>
          <a:p>
            <a:pPr indent="-117475" lvl="0" marL="91440" rtl="0" algn="l">
              <a:lnSpc>
                <a:spcPct val="90000"/>
              </a:lnSpc>
              <a:spcBef>
                <a:spcPts val="1400"/>
              </a:spcBef>
              <a:spcAft>
                <a:spcPts val="0"/>
              </a:spcAft>
              <a:buSzPct val="100000"/>
              <a:buChar char=" "/>
            </a:pPr>
            <a:r>
              <a:rPr lang="tr-TR"/>
              <a:t>Çoğu konferansta ayrı değerlendirilir</a:t>
            </a:r>
            <a:endParaRPr/>
          </a:p>
          <a:p>
            <a:pPr indent="-117475" lvl="0" marL="91440" rtl="0" algn="l">
              <a:lnSpc>
                <a:spcPct val="90000"/>
              </a:lnSpc>
              <a:spcBef>
                <a:spcPts val="1400"/>
              </a:spcBef>
              <a:spcAft>
                <a:spcPts val="0"/>
              </a:spcAft>
              <a:buSzPct val="100000"/>
              <a:buChar char=" "/>
            </a:pPr>
            <a:r>
              <a:rPr lang="tr-TR"/>
              <a:t>Görsel anlatım (poster) ön plandadır</a:t>
            </a:r>
            <a:endParaRPr/>
          </a:p>
          <a:p>
            <a:pPr indent="-117475" lvl="0" marL="91440" rtl="0" algn="l">
              <a:lnSpc>
                <a:spcPct val="90000"/>
              </a:lnSpc>
              <a:spcBef>
                <a:spcPts val="1400"/>
              </a:spcBef>
              <a:spcAft>
                <a:spcPts val="0"/>
              </a:spcAft>
              <a:buSzPct val="100000"/>
              <a:buChar char=" "/>
            </a:pPr>
            <a:r>
              <a:rPr b="1" lang="tr-TR"/>
              <a:t>Ön Baskılar (Preprints – arXiv)</a:t>
            </a:r>
            <a:endParaRPr b="1"/>
          </a:p>
          <a:p>
            <a:pPr indent="-117475" lvl="0" marL="91440" rtl="0" algn="l">
              <a:lnSpc>
                <a:spcPct val="90000"/>
              </a:lnSpc>
              <a:spcBef>
                <a:spcPts val="1400"/>
              </a:spcBef>
              <a:spcAft>
                <a:spcPts val="0"/>
              </a:spcAft>
              <a:buSzPct val="100000"/>
              <a:buChar char=" "/>
            </a:pPr>
            <a:r>
              <a:rPr lang="tr-TR"/>
              <a:t>Ücretsiz ve hızlı yayımlama platformlarıdır. </a:t>
            </a:r>
            <a:r>
              <a:rPr lang="tr-TR" u="sng">
                <a:solidFill>
                  <a:schemeClr val="hlink"/>
                </a:solidFill>
                <a:hlinkClick r:id="rId3"/>
              </a:rPr>
              <a:t>https://arxiv.org/</a:t>
            </a:r>
            <a:endParaRPr/>
          </a:p>
          <a:p>
            <a:pPr indent="-117475" lvl="0" marL="91440" rtl="0" algn="l">
              <a:lnSpc>
                <a:spcPct val="90000"/>
              </a:lnSpc>
              <a:spcBef>
                <a:spcPts val="1400"/>
              </a:spcBef>
              <a:spcAft>
                <a:spcPts val="0"/>
              </a:spcAft>
              <a:buSzPct val="100000"/>
              <a:buChar char=" "/>
            </a:pPr>
            <a:r>
              <a:rPr lang="tr-TR">
                <a:solidFill>
                  <a:srgbClr val="FF0000"/>
                </a:solidFill>
              </a:rPr>
              <a:t>Hakemli değildir</a:t>
            </a:r>
            <a:endParaRPr/>
          </a:p>
          <a:p>
            <a:pPr indent="-117475" lvl="0" marL="91440" rtl="0" algn="l">
              <a:lnSpc>
                <a:spcPct val="90000"/>
              </a:lnSpc>
              <a:spcBef>
                <a:spcPts val="1400"/>
              </a:spcBef>
              <a:spcAft>
                <a:spcPts val="0"/>
              </a:spcAft>
              <a:buSzPct val="100000"/>
              <a:buChar char=" "/>
            </a:pPr>
            <a:r>
              <a:rPr lang="tr-TR"/>
              <a:t>Sonuçların hızlı paylaşımı ve açık bilim yaklaşımı için idealdir</a:t>
            </a:r>
            <a:endParaRPr/>
          </a:p>
          <a:p>
            <a:pPr indent="-117475" lvl="0" marL="91440" rtl="0" algn="l">
              <a:lnSpc>
                <a:spcPct val="90000"/>
              </a:lnSpc>
              <a:spcBef>
                <a:spcPts val="1400"/>
              </a:spcBef>
              <a:spcAft>
                <a:spcPts val="0"/>
              </a:spcAft>
              <a:buSzPct val="100000"/>
              <a:buChar char=" "/>
            </a:pPr>
            <a:r>
              <a:rPr b="1" lang="tr-TR"/>
              <a:t>Ne zaman tercih edilir?</a:t>
            </a:r>
            <a:endParaRPr/>
          </a:p>
          <a:p>
            <a:pPr indent="-117475" lvl="0" marL="91440" rtl="0" algn="l">
              <a:lnSpc>
                <a:spcPct val="90000"/>
              </a:lnSpc>
              <a:spcBef>
                <a:spcPts val="1400"/>
              </a:spcBef>
              <a:spcAft>
                <a:spcPts val="0"/>
              </a:spcAft>
              <a:buSzPct val="100000"/>
              <a:buChar char=" "/>
            </a:pPr>
            <a:r>
              <a:rPr lang="tr-TR"/>
              <a:t>Dergi veya konferansa gönderilmeden önce görünürlük isteniyorsa</a:t>
            </a:r>
            <a:endParaRPr/>
          </a:p>
          <a:p>
            <a:pPr indent="-117475" lvl="0" marL="91440" rtl="0" algn="l">
              <a:lnSpc>
                <a:spcPct val="90000"/>
              </a:lnSpc>
              <a:spcBef>
                <a:spcPts val="1400"/>
              </a:spcBef>
              <a:spcAft>
                <a:spcPts val="0"/>
              </a:spcAft>
              <a:buSzPct val="100000"/>
              <a:buChar char=" "/>
            </a:pPr>
            <a:r>
              <a:rPr lang="tr-TR"/>
              <a:t>Etki yaratmak ve diğer araştırmacılarla erken etkileşim kurmak amaçlanıyorsa</a:t>
            </a:r>
            <a:endParaRPr/>
          </a:p>
          <a:p>
            <a:pPr indent="-117475" lvl="0" marL="91440" rtl="0" algn="l">
              <a:lnSpc>
                <a:spcPct val="90000"/>
              </a:lnSpc>
              <a:spcBef>
                <a:spcPts val="1400"/>
              </a:spcBef>
              <a:spcAft>
                <a:spcPts val="0"/>
              </a:spcAft>
              <a:buSzPct val="100000"/>
              <a:buChar char=" "/>
            </a:pPr>
            <a:r>
              <a:rPr lang="tr-TR"/>
              <a:t>Çalışma çok yeni ama paylaşılması gerekiyorsa</a:t>
            </a:r>
            <a:endParaRPr/>
          </a:p>
          <a:p>
            <a:pPr indent="-117475" lvl="0" marL="91440" rtl="0" algn="l">
              <a:lnSpc>
                <a:spcPct val="90000"/>
              </a:lnSpc>
              <a:spcBef>
                <a:spcPts val="1400"/>
              </a:spcBef>
              <a:spcAft>
                <a:spcPts val="0"/>
              </a:spcAft>
              <a:buSzPct val="100000"/>
              <a:buChar char=" "/>
            </a:pPr>
            <a:r>
              <a:rPr lang="tr-TR"/>
              <a:t>Yeni araştırmacılar için ilk yayın tecrübesi amaçlanıyorsa</a:t>
            </a:r>
            <a:endParaRPr/>
          </a:p>
          <a:p>
            <a:pPr indent="-117475" lvl="0" marL="91440" rtl="0" algn="l">
              <a:lnSpc>
                <a:spcPct val="90000"/>
              </a:lnSpc>
              <a:spcBef>
                <a:spcPts val="1400"/>
              </a:spcBef>
              <a:spcAft>
                <a:spcPts val="0"/>
              </a:spcAft>
              <a:buSzPct val="100000"/>
              <a:buChar char=" "/>
            </a:pPr>
            <a:r>
              <a:rPr lang="tr-TR"/>
              <a:t>Projenin ara fazı raporlanmak isteniyorsa</a:t>
            </a:r>
            <a:endParaRPr/>
          </a:p>
          <a:p>
            <a:pPr indent="0" lvl="0" marL="91440" rtl="0" algn="l">
              <a:lnSpc>
                <a:spcPct val="90000"/>
              </a:lnSpc>
              <a:spcBef>
                <a:spcPts val="1400"/>
              </a:spcBef>
              <a:spcAft>
                <a:spcPts val="0"/>
              </a:spcAft>
              <a:buSzPct val="100000"/>
              <a:buNone/>
            </a:pPr>
            <a:r>
              <a:t/>
            </a:r>
            <a:endParaRPr/>
          </a:p>
        </p:txBody>
      </p:sp>
      <p:pic>
        <p:nvPicPr>
          <p:cNvPr id="363" name="Google Shape;363;p40"/>
          <p:cNvPicPr preferRelativeResize="0"/>
          <p:nvPr/>
        </p:nvPicPr>
        <p:blipFill rotWithShape="1">
          <a:blip r:embed="rId4">
            <a:alphaModFix/>
          </a:blip>
          <a:srcRect b="0" l="0" r="0" t="0"/>
          <a:stretch/>
        </p:blipFill>
        <p:spPr>
          <a:xfrm>
            <a:off x="7092451" y="451322"/>
            <a:ext cx="1602213" cy="1970864"/>
          </a:xfrm>
          <a:prstGeom prst="rect">
            <a:avLst/>
          </a:prstGeom>
          <a:noFill/>
          <a:ln>
            <a:noFill/>
          </a:ln>
        </p:spPr>
      </p:pic>
      <p:pic>
        <p:nvPicPr>
          <p:cNvPr id="364" name="Google Shape;364;p40"/>
          <p:cNvPicPr preferRelativeResize="0"/>
          <p:nvPr/>
        </p:nvPicPr>
        <p:blipFill rotWithShape="1">
          <a:blip r:embed="rId5">
            <a:alphaModFix/>
          </a:blip>
          <a:srcRect b="0" l="0" r="0" t="0"/>
          <a:stretch/>
        </p:blipFill>
        <p:spPr>
          <a:xfrm>
            <a:off x="4533090" y="2638019"/>
            <a:ext cx="1099224" cy="61831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1"/>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Yayın Türlerine Genel Bakış</a:t>
            </a:r>
            <a:endParaRPr/>
          </a:p>
        </p:txBody>
      </p:sp>
      <p:graphicFrame>
        <p:nvGraphicFramePr>
          <p:cNvPr id="370" name="Google Shape;370;p41"/>
          <p:cNvGraphicFramePr/>
          <p:nvPr/>
        </p:nvGraphicFramePr>
        <p:xfrm>
          <a:off x="717550" y="2916237"/>
          <a:ext cx="3000000" cy="3000000"/>
        </p:xfrm>
        <a:graphic>
          <a:graphicData uri="http://schemas.openxmlformats.org/drawingml/2006/table">
            <a:tbl>
              <a:tblPr>
                <a:noFill/>
                <a:tableStyleId>{7C711254-F0DD-4DA0-9749-A49FAA096954}</a:tableStyleId>
              </a:tblPr>
              <a:tblGrid>
                <a:gridCol w="3644900"/>
                <a:gridCol w="3644900"/>
              </a:tblGrid>
              <a:tr h="228600">
                <a:tc>
                  <a:txBody>
                    <a:bodyPr/>
                    <a:lstStyle/>
                    <a:p>
                      <a:pPr indent="0" lvl="0" marL="0" marR="0" rtl="0" algn="l">
                        <a:spcBef>
                          <a:spcPts val="0"/>
                        </a:spcBef>
                        <a:spcAft>
                          <a:spcPts val="0"/>
                        </a:spcAft>
                        <a:buNone/>
                      </a:pPr>
                      <a:r>
                        <a:rPr lang="tr-TR" sz="1800"/>
                        <a:t>Olgunluk Düzeyi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tr-TR" sz="1800"/>
                        <a:t>Uygun Yayın Türü</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tr-TR" sz="1800"/>
                        <a:t>İlk sonuçlar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tr-TR" sz="1800"/>
                        <a:t>Konferans bildirisi / Poster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tr-TR" sz="1800"/>
                        <a:t>Olgunlaşmış yöntem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tr-TR" sz="1800"/>
                        <a:t>Journal (SCI / Q1–Q2)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tr-TR" sz="1800"/>
                        <a:t>Kuramsal katkı</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tr-TR" sz="1800"/>
                        <a:t>High Impact Journals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tr-TR" sz="1800"/>
                        <a:t>Pilot analiz</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tr-TR" sz="1800"/>
                        <a:t>Short Paper / Workshop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71" name="Google Shape;371;p41"/>
          <p:cNvSpPr txBox="1"/>
          <p:nvPr/>
        </p:nvSpPr>
        <p:spPr>
          <a:xfrm>
            <a:off x="844062" y="1372609"/>
            <a:ext cx="684292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Twentieth Century"/>
                <a:ea typeface="Twentieth Century"/>
                <a:cs typeface="Twentieth Century"/>
                <a:sym typeface="Twentieth Century"/>
              </a:rPr>
              <a:t>Bir araştırmacı için yayın türü seçimi “nereye göndersem?” sorusundan ibaret değildir.</a:t>
            </a:r>
            <a:endParaRPr/>
          </a:p>
          <a:p>
            <a:pPr indent="0" lvl="0" marL="0" marR="0" rtl="0" algn="l">
              <a:spcBef>
                <a:spcPts val="0"/>
              </a:spcBef>
              <a:spcAft>
                <a:spcPts val="0"/>
              </a:spcAft>
              <a:buNone/>
            </a:pPr>
            <a:r>
              <a:rPr lang="tr-TR" sz="1800">
                <a:solidFill>
                  <a:schemeClr val="dk1"/>
                </a:solidFill>
                <a:latin typeface="Twentieth Century"/>
                <a:ea typeface="Twentieth Century"/>
                <a:cs typeface="Twentieth Century"/>
                <a:sym typeface="Twentieth Century"/>
              </a:rPr>
              <a:t>Bu stratejik bir karardır ve şu faktörlere göre yapılmalıdır:</a:t>
            </a:r>
            <a:endParaRPr/>
          </a:p>
          <a:p>
            <a:pPr indent="0" lvl="0" marL="0" marR="0" rtl="0" algn="l">
              <a:spcBef>
                <a:spcPts val="0"/>
              </a:spcBef>
              <a:spcAft>
                <a:spcPts val="0"/>
              </a:spcAft>
              <a:buNone/>
            </a:pPr>
            <a:r>
              <a:t/>
            </a:r>
            <a:endParaRPr sz="18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2"/>
          <p:cNvSpPr txBox="1"/>
          <p:nvPr>
            <p:ph type="title"/>
          </p:nvPr>
        </p:nvSpPr>
        <p:spPr>
          <a:xfrm>
            <a:off x="667511" y="315999"/>
            <a:ext cx="8151173" cy="563231"/>
          </a:xfrm>
          <a:prstGeom prst="rect">
            <a:avLst/>
          </a:prstGeom>
          <a:noFill/>
          <a:ln>
            <a:noFill/>
          </a:ln>
        </p:spPr>
        <p:txBody>
          <a:bodyPr anchorCtr="0" anchor="ctr" bIns="45700" lIns="91425" spcFirstLastPara="1" rIns="91425" wrap="square" tIns="45700">
            <a:normAutofit fontScale="90000"/>
          </a:bodyPr>
          <a:lstStyle/>
          <a:p>
            <a:pPr indent="0" lvl="0" marL="91440" rtl="0" algn="l">
              <a:lnSpc>
                <a:spcPct val="90000"/>
              </a:lnSpc>
              <a:spcBef>
                <a:spcPts val="1400"/>
              </a:spcBef>
              <a:spcAft>
                <a:spcPts val="0"/>
              </a:spcAft>
              <a:buClr>
                <a:srgbClr val="464132"/>
              </a:buClr>
              <a:buSzPct val="100000"/>
              <a:buFont typeface="Twentieth Century"/>
              <a:buNone/>
            </a:pPr>
            <a:r>
              <a:rPr lang="tr-TR"/>
              <a:t>Yayın Süreci ve Dikkat Edilecek Konular</a:t>
            </a:r>
            <a:endParaRPr/>
          </a:p>
        </p:txBody>
      </p:sp>
      <p:sp>
        <p:nvSpPr>
          <p:cNvPr id="377" name="Google Shape;377;p42"/>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lnSpcReduction="10000"/>
          </a:bodyPr>
          <a:lstStyle/>
          <a:p>
            <a:pPr indent="0" lvl="0" marL="0" rtl="0" algn="l">
              <a:lnSpc>
                <a:spcPct val="115000"/>
              </a:lnSpc>
              <a:spcBef>
                <a:spcPts val="1400"/>
              </a:spcBef>
              <a:spcAft>
                <a:spcPts val="0"/>
              </a:spcAft>
              <a:buSzPts val="2000"/>
              <a:buNone/>
            </a:pPr>
            <a:r>
              <a:rPr b="1" lang="tr-TR"/>
              <a:t> Kaçınılması Gereken Etik İhlaller</a:t>
            </a:r>
            <a:endParaRPr b="1"/>
          </a:p>
          <a:p>
            <a:pPr indent="-298450" lvl="0" marL="457200" rtl="0" algn="l">
              <a:lnSpc>
                <a:spcPct val="115000"/>
              </a:lnSpc>
              <a:spcBef>
                <a:spcPts val="1200"/>
              </a:spcBef>
              <a:spcAft>
                <a:spcPts val="0"/>
              </a:spcAft>
              <a:buClr>
                <a:srgbClr val="000000"/>
              </a:buClr>
              <a:buSzPts val="1100"/>
              <a:buFont typeface="Arial"/>
              <a:buChar char="●"/>
            </a:pPr>
            <a:r>
              <a:rPr lang="tr-TR"/>
              <a:t>İntihal (Plagiarism): Başka çalışmayı kaynak göstermeden kopyalamak</a:t>
            </a:r>
            <a:endParaRPr/>
          </a:p>
          <a:p>
            <a:pPr indent="-298450" lvl="0" marL="457200" rtl="0" algn="l">
              <a:lnSpc>
                <a:spcPct val="115000"/>
              </a:lnSpc>
              <a:spcBef>
                <a:spcPts val="0"/>
              </a:spcBef>
              <a:spcAft>
                <a:spcPts val="0"/>
              </a:spcAft>
              <a:buClr>
                <a:srgbClr val="000000"/>
              </a:buClr>
              <a:buSzPts val="1100"/>
              <a:buFont typeface="Arial"/>
              <a:buChar char="●"/>
            </a:pPr>
            <a:r>
              <a:rPr lang="tr-TR"/>
              <a:t>Oto-İntihal: Kendi önceki metnini izinsiz yeniden kullanmak</a:t>
            </a:r>
            <a:endParaRPr/>
          </a:p>
          <a:p>
            <a:pPr indent="-298450" lvl="0" marL="457200" rtl="0" algn="l">
              <a:lnSpc>
                <a:spcPct val="115000"/>
              </a:lnSpc>
              <a:spcBef>
                <a:spcPts val="0"/>
              </a:spcBef>
              <a:spcAft>
                <a:spcPts val="0"/>
              </a:spcAft>
              <a:buClr>
                <a:srgbClr val="000000"/>
              </a:buClr>
              <a:buSzPts val="1100"/>
              <a:buFont typeface="Arial"/>
              <a:buChar char="●"/>
            </a:pPr>
            <a:r>
              <a:rPr lang="tr-TR"/>
              <a:t>Fabrication: Veri uydurmak</a:t>
            </a:r>
            <a:endParaRPr/>
          </a:p>
          <a:p>
            <a:pPr indent="-298450" lvl="0" marL="457200" rtl="0" algn="l">
              <a:lnSpc>
                <a:spcPct val="115000"/>
              </a:lnSpc>
              <a:spcBef>
                <a:spcPts val="0"/>
              </a:spcBef>
              <a:spcAft>
                <a:spcPts val="0"/>
              </a:spcAft>
              <a:buClr>
                <a:srgbClr val="000000"/>
              </a:buClr>
              <a:buSzPts val="1100"/>
              <a:buFont typeface="Arial"/>
              <a:buChar char="●"/>
            </a:pPr>
            <a:r>
              <a:rPr lang="tr-TR"/>
              <a:t>Falsification: Veriyi değiştirmek/manipüle etmek</a:t>
            </a:r>
            <a:endParaRPr/>
          </a:p>
          <a:p>
            <a:pPr indent="-298450" lvl="0" marL="457200" rtl="0" algn="l">
              <a:lnSpc>
                <a:spcPct val="115000"/>
              </a:lnSpc>
              <a:spcBef>
                <a:spcPts val="0"/>
              </a:spcBef>
              <a:spcAft>
                <a:spcPts val="0"/>
              </a:spcAft>
              <a:buClr>
                <a:srgbClr val="000000"/>
              </a:buClr>
              <a:buSzPts val="1100"/>
              <a:buFont typeface="Arial"/>
              <a:buChar char="●"/>
            </a:pPr>
            <a:r>
              <a:rPr lang="tr-TR"/>
              <a:t>Haksız Yazarlık: Katkı yapmayanı eklemek; katkı yapanı çıkarmak</a:t>
            </a:r>
            <a:endParaRPr/>
          </a:p>
          <a:p>
            <a:pPr indent="0" lvl="0" marL="0" rtl="0" algn="l">
              <a:lnSpc>
                <a:spcPct val="115000"/>
              </a:lnSpc>
              <a:spcBef>
                <a:spcPts val="1400"/>
              </a:spcBef>
              <a:spcAft>
                <a:spcPts val="0"/>
              </a:spcAft>
              <a:buSzPts val="2000"/>
              <a:buNone/>
            </a:pPr>
            <a:r>
              <a:rPr b="1" lang="tr-TR"/>
              <a:t>Etik Olarak Doğru Uygulamalar</a:t>
            </a:r>
            <a:endParaRPr b="1"/>
          </a:p>
          <a:p>
            <a:pPr indent="-298450" lvl="0" marL="457200" rtl="0" algn="l">
              <a:lnSpc>
                <a:spcPct val="115000"/>
              </a:lnSpc>
              <a:spcBef>
                <a:spcPts val="1200"/>
              </a:spcBef>
              <a:spcAft>
                <a:spcPts val="0"/>
              </a:spcAft>
              <a:buClr>
                <a:srgbClr val="000000"/>
              </a:buClr>
              <a:buSzPts val="1100"/>
              <a:buFont typeface="Arial"/>
              <a:buChar char="●"/>
            </a:pPr>
            <a:r>
              <a:rPr lang="tr-TR"/>
              <a:t>Tüm kaynakları doğru atıflamak</a:t>
            </a:r>
            <a:endParaRPr/>
          </a:p>
          <a:p>
            <a:pPr indent="-298450" lvl="0" marL="457200" rtl="0" algn="l">
              <a:lnSpc>
                <a:spcPct val="115000"/>
              </a:lnSpc>
              <a:spcBef>
                <a:spcPts val="0"/>
              </a:spcBef>
              <a:spcAft>
                <a:spcPts val="0"/>
              </a:spcAft>
              <a:buClr>
                <a:srgbClr val="000000"/>
              </a:buClr>
              <a:buSzPts val="1100"/>
              <a:buFont typeface="Arial"/>
              <a:buChar char="●"/>
            </a:pPr>
            <a:r>
              <a:rPr lang="tr-TR"/>
              <a:t>Grafik ve tabloları manipüle etmemek</a:t>
            </a:r>
            <a:endParaRPr/>
          </a:p>
          <a:p>
            <a:pPr indent="-298450" lvl="0" marL="457200" rtl="0" algn="l">
              <a:lnSpc>
                <a:spcPct val="115000"/>
              </a:lnSpc>
              <a:spcBef>
                <a:spcPts val="0"/>
              </a:spcBef>
              <a:spcAft>
                <a:spcPts val="0"/>
              </a:spcAft>
              <a:buClr>
                <a:srgbClr val="000000"/>
              </a:buClr>
              <a:buSzPts val="1100"/>
              <a:buFont typeface="Arial"/>
              <a:buChar char="●"/>
            </a:pPr>
            <a:r>
              <a:rPr lang="tr-TR"/>
              <a:t>Veri, kod ve yöntemleri şeffaf paylaşmak </a:t>
            </a:r>
            <a:endParaRPr/>
          </a:p>
          <a:p>
            <a:pPr indent="-298450" lvl="0" marL="457200" rtl="0" algn="l">
              <a:lnSpc>
                <a:spcPct val="115000"/>
              </a:lnSpc>
              <a:spcBef>
                <a:spcPts val="0"/>
              </a:spcBef>
              <a:spcAft>
                <a:spcPts val="0"/>
              </a:spcAft>
              <a:buClr>
                <a:srgbClr val="000000"/>
              </a:buClr>
              <a:buSzPts val="1100"/>
              <a:buFont typeface="Arial"/>
              <a:buChar char="●"/>
            </a:pPr>
            <a:r>
              <a:rPr lang="tr-TR"/>
              <a:t>GDPR/KVKK uyumlu veri anonimleştirme yapmak</a:t>
            </a:r>
            <a:endParaRPr/>
          </a:p>
          <a:p>
            <a:pPr indent="-298450" lvl="0" marL="457200" rtl="0" algn="l">
              <a:lnSpc>
                <a:spcPct val="115000"/>
              </a:lnSpc>
              <a:spcBef>
                <a:spcPts val="0"/>
              </a:spcBef>
              <a:spcAft>
                <a:spcPts val="0"/>
              </a:spcAft>
              <a:buClr>
                <a:srgbClr val="000000"/>
              </a:buClr>
              <a:buSzPts val="1100"/>
              <a:buFont typeface="Arial"/>
              <a:buChar char="●"/>
            </a:pPr>
            <a:r>
              <a:rPr lang="tr-TR"/>
              <a:t>İnsan/denek/hayvan içeren çalışmalarda etik kurul onayı almak</a:t>
            </a:r>
            <a:endParaRPr sz="1100">
              <a:solidFill>
                <a:srgbClr val="000000"/>
              </a:solidFill>
              <a:latin typeface="Arial"/>
              <a:ea typeface="Arial"/>
              <a:cs typeface="Arial"/>
              <a:sym typeface="Arial"/>
            </a:endParaRPr>
          </a:p>
          <a:p>
            <a:pPr indent="0" lvl="0" marL="0" rtl="0" algn="l">
              <a:lnSpc>
                <a:spcPct val="90000"/>
              </a:lnSpc>
              <a:spcBef>
                <a:spcPts val="1200"/>
              </a:spcBef>
              <a:spcAft>
                <a:spcPts val="0"/>
              </a:spcAft>
              <a:buSzPts val="20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3"/>
          <p:cNvSpPr txBox="1"/>
          <p:nvPr>
            <p:ph type="title"/>
          </p:nvPr>
        </p:nvSpPr>
        <p:spPr>
          <a:xfrm>
            <a:off x="566662" y="214112"/>
            <a:ext cx="8807700" cy="732000"/>
          </a:xfrm>
          <a:prstGeom prst="rect">
            <a:avLst/>
          </a:prstGeom>
          <a:noFill/>
          <a:ln>
            <a:noFill/>
          </a:ln>
        </p:spPr>
        <p:txBody>
          <a:bodyPr anchorCtr="0" anchor="ctr" bIns="45700" lIns="91425" spcFirstLastPara="1" rIns="91425" wrap="square" tIns="45700">
            <a:normAutofit fontScale="90000"/>
          </a:bodyPr>
          <a:lstStyle/>
          <a:p>
            <a:pPr indent="0" lvl="0" marL="91440" rtl="0" algn="l">
              <a:lnSpc>
                <a:spcPct val="90000"/>
              </a:lnSpc>
              <a:spcBef>
                <a:spcPts val="1400"/>
              </a:spcBef>
              <a:spcAft>
                <a:spcPts val="0"/>
              </a:spcAft>
              <a:buClr>
                <a:srgbClr val="464132"/>
              </a:buClr>
              <a:buSzPct val="100000"/>
              <a:buFont typeface="Twentieth Century"/>
              <a:buNone/>
            </a:pPr>
            <a:r>
              <a:rPr lang="tr-TR"/>
              <a:t>Yayın Süreci ve Dikkat Edilecek Konular</a:t>
            </a:r>
            <a:endParaRPr/>
          </a:p>
          <a:p>
            <a:pPr indent="0" lvl="0" marL="0" rtl="0" algn="l">
              <a:lnSpc>
                <a:spcPct val="80000"/>
              </a:lnSpc>
              <a:spcBef>
                <a:spcPts val="0"/>
              </a:spcBef>
              <a:spcAft>
                <a:spcPts val="0"/>
              </a:spcAft>
              <a:buClr>
                <a:srgbClr val="464132"/>
              </a:buClr>
              <a:buSzPct val="100000"/>
              <a:buFont typeface="Twentieth Century"/>
              <a:buNone/>
            </a:pPr>
            <a:r>
              <a:t/>
            </a:r>
            <a:endParaRPr/>
          </a:p>
        </p:txBody>
      </p:sp>
      <p:sp>
        <p:nvSpPr>
          <p:cNvPr id="384" name="Google Shape;384;p43"/>
          <p:cNvSpPr txBox="1"/>
          <p:nvPr>
            <p:ph idx="1" type="body"/>
          </p:nvPr>
        </p:nvSpPr>
        <p:spPr>
          <a:xfrm>
            <a:off x="566662" y="580112"/>
            <a:ext cx="7390500" cy="49560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0"/>
              </a:spcAft>
              <a:buSzPts val="2000"/>
              <a:buNone/>
            </a:pPr>
            <a:r>
              <a:t/>
            </a:r>
            <a:endParaRPr/>
          </a:p>
          <a:p>
            <a:pPr indent="0" lvl="0" marL="0" rtl="0" algn="l">
              <a:lnSpc>
                <a:spcPct val="115000"/>
              </a:lnSpc>
              <a:spcBef>
                <a:spcPts val="2400"/>
              </a:spcBef>
              <a:spcAft>
                <a:spcPts val="0"/>
              </a:spcAft>
              <a:buSzPts val="2000"/>
              <a:buNone/>
            </a:pPr>
            <a:r>
              <a:rPr b="1" lang="tr-TR"/>
              <a:t>Başarılı Yayın İçin İpuçları</a:t>
            </a:r>
            <a:endParaRPr b="1"/>
          </a:p>
          <a:p>
            <a:pPr indent="-298450" lvl="0" marL="457200" rtl="0" algn="l">
              <a:lnSpc>
                <a:spcPct val="115000"/>
              </a:lnSpc>
              <a:spcBef>
                <a:spcPts val="1200"/>
              </a:spcBef>
              <a:spcAft>
                <a:spcPts val="0"/>
              </a:spcAft>
              <a:buClr>
                <a:srgbClr val="000000"/>
              </a:buClr>
              <a:buSzPts val="1100"/>
              <a:buFont typeface="Arial"/>
              <a:buChar char="●"/>
            </a:pPr>
            <a:r>
              <a:rPr lang="tr-TR"/>
              <a:t>Açık, sade ve bilimsel dil</a:t>
            </a:r>
            <a:endParaRPr/>
          </a:p>
          <a:p>
            <a:pPr indent="-298450" lvl="0" marL="457200" rtl="0" algn="l">
              <a:lnSpc>
                <a:spcPct val="115000"/>
              </a:lnSpc>
              <a:spcBef>
                <a:spcPts val="0"/>
              </a:spcBef>
              <a:spcAft>
                <a:spcPts val="0"/>
              </a:spcAft>
              <a:buClr>
                <a:srgbClr val="000000"/>
              </a:buClr>
              <a:buSzPts val="1100"/>
              <a:buFont typeface="Arial"/>
              <a:buChar char="●"/>
            </a:pPr>
            <a:r>
              <a:rPr lang="tr-TR"/>
              <a:t>Tekrarlanabilir yöntem</a:t>
            </a:r>
            <a:endParaRPr/>
          </a:p>
          <a:p>
            <a:pPr indent="-298450" lvl="0" marL="457200" rtl="0" algn="l">
              <a:lnSpc>
                <a:spcPct val="115000"/>
              </a:lnSpc>
              <a:spcBef>
                <a:spcPts val="0"/>
              </a:spcBef>
              <a:spcAft>
                <a:spcPts val="0"/>
              </a:spcAft>
              <a:buClr>
                <a:srgbClr val="000000"/>
              </a:buClr>
              <a:buSzPts val="1100"/>
              <a:buFont typeface="Arial"/>
              <a:buChar char="●"/>
            </a:pPr>
            <a:r>
              <a:rPr lang="tr-TR"/>
              <a:t>Tutarlı birim ve istatistiksel gösterimler</a:t>
            </a:r>
            <a:endParaRPr/>
          </a:p>
          <a:p>
            <a:pPr indent="-298450" lvl="0" marL="457200" rtl="0" algn="l">
              <a:lnSpc>
                <a:spcPct val="115000"/>
              </a:lnSpc>
              <a:spcBef>
                <a:spcPts val="0"/>
              </a:spcBef>
              <a:spcAft>
                <a:spcPts val="0"/>
              </a:spcAft>
              <a:buClr>
                <a:srgbClr val="000000"/>
              </a:buClr>
              <a:buSzPts val="1100"/>
              <a:buFont typeface="Arial"/>
              <a:buChar char="●"/>
            </a:pPr>
            <a:r>
              <a:rPr lang="tr-TR"/>
              <a:t>Net figür ve tablo tasarımı</a:t>
            </a:r>
            <a:endParaRPr/>
          </a:p>
          <a:p>
            <a:pPr indent="-298450" lvl="0" marL="457200" rtl="0" algn="l">
              <a:lnSpc>
                <a:spcPct val="115000"/>
              </a:lnSpc>
              <a:spcBef>
                <a:spcPts val="0"/>
              </a:spcBef>
              <a:spcAft>
                <a:spcPts val="0"/>
              </a:spcAft>
              <a:buClr>
                <a:srgbClr val="000000"/>
              </a:buClr>
              <a:buSzPts val="1100"/>
              <a:buFont typeface="Arial"/>
              <a:buChar char="●"/>
            </a:pPr>
            <a:r>
              <a:rPr lang="tr-TR"/>
              <a:t>Sınırlılıkların açıkça belirtilmesi</a:t>
            </a:r>
            <a:endParaRPr/>
          </a:p>
          <a:p>
            <a:pPr indent="-298450" lvl="0" marL="457200" rtl="0" algn="l">
              <a:lnSpc>
                <a:spcPct val="115000"/>
              </a:lnSpc>
              <a:spcBef>
                <a:spcPts val="0"/>
              </a:spcBef>
              <a:spcAft>
                <a:spcPts val="0"/>
              </a:spcAft>
              <a:buClr>
                <a:srgbClr val="000000"/>
              </a:buClr>
              <a:buSzPts val="1100"/>
              <a:buFont typeface="Arial"/>
              <a:buChar char="●"/>
            </a:pPr>
            <a:r>
              <a:rPr lang="tr-TR"/>
              <a:t>Dergi formatına uygunluk</a:t>
            </a:r>
            <a:endParaRPr sz="1100">
              <a:solidFill>
                <a:srgbClr val="000000"/>
              </a:solidFill>
              <a:latin typeface="Arial"/>
              <a:ea typeface="Arial"/>
              <a:cs typeface="Arial"/>
              <a:sym typeface="Arial"/>
            </a:endParaRPr>
          </a:p>
          <a:p>
            <a:pPr indent="0" lvl="0" marL="0" rtl="0" algn="l">
              <a:lnSpc>
                <a:spcPct val="90000"/>
              </a:lnSpc>
              <a:spcBef>
                <a:spcPts val="1200"/>
              </a:spcBef>
              <a:spcAft>
                <a:spcPts val="200"/>
              </a:spcAft>
              <a:buSzPts val="20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4"/>
          <p:cNvSpPr txBox="1"/>
          <p:nvPr>
            <p:ph type="title"/>
          </p:nvPr>
        </p:nvSpPr>
        <p:spPr>
          <a:xfrm>
            <a:off x="667512" y="164592"/>
            <a:ext cx="7226046" cy="91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464132"/>
              </a:buClr>
              <a:buSzPts val="4400"/>
              <a:buFont typeface="Twentieth Century"/>
              <a:buNone/>
            </a:pPr>
            <a:r>
              <a:rPr lang="tr-TR"/>
              <a:t>DİNLEDİĞİNİZ İÇİN TEŞEKKÜRLER</a:t>
            </a:r>
            <a:endParaRPr/>
          </a:p>
        </p:txBody>
      </p:sp>
      <p:sp>
        <p:nvSpPr>
          <p:cNvPr id="390" name="Google Shape;390;p44"/>
          <p:cNvSpPr txBox="1"/>
          <p:nvPr>
            <p:ph idx="1" type="body"/>
          </p:nvPr>
        </p:nvSpPr>
        <p:spPr>
          <a:xfrm>
            <a:off x="667512" y="1353312"/>
            <a:ext cx="7390639" cy="4956048"/>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Font typeface="Arial"/>
              <a:buChar char="•"/>
            </a:pPr>
            <a:r>
              <a:rPr lang="tr-TR"/>
              <a:t>Sorular </a:t>
            </a:r>
            <a:endParaRPr/>
          </a:p>
          <a:p>
            <a:pPr indent="-127000" lvl="0" marL="91440" rtl="0" algn="l">
              <a:lnSpc>
                <a:spcPct val="90000"/>
              </a:lnSpc>
              <a:spcBef>
                <a:spcPts val="1400"/>
              </a:spcBef>
              <a:spcAft>
                <a:spcPts val="0"/>
              </a:spcAft>
              <a:buSzPts val="2000"/>
              <a:buFont typeface="Arial"/>
              <a:buChar char="•"/>
            </a:pPr>
            <a:r>
              <a:rPr lang="tr-TR"/>
              <a:t>Örnek Uygulama</a:t>
            </a:r>
            <a:endParaRPr/>
          </a:p>
          <a:p>
            <a:pPr indent="0" lvl="0" marL="91440" rtl="0" algn="l">
              <a:lnSpc>
                <a:spcPct val="90000"/>
              </a:lnSpc>
              <a:spcBef>
                <a:spcPts val="1400"/>
              </a:spcBef>
              <a:spcAft>
                <a:spcPts val="0"/>
              </a:spcAft>
              <a:buSzPts val="2000"/>
              <a:buFont typeface="Arial"/>
              <a:buNone/>
            </a:pPr>
            <a:r>
              <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eması">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tegral">
  <a:themeElements>
    <a:clrScheme name="E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bd</dc:creator>
</cp:coreProperties>
</file>