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75" r:id="rId1"/>
  </p:sldMasterIdLst>
  <p:sldIdLst>
    <p:sldId id="256" r:id="rId2"/>
    <p:sldId id="258" r:id="rId3"/>
    <p:sldId id="257" r:id="rId4"/>
    <p:sldId id="259" r:id="rId5"/>
    <p:sldId id="260" r:id="rId6"/>
    <p:sldId id="272" r:id="rId7"/>
    <p:sldId id="261" r:id="rId8"/>
    <p:sldId id="262" r:id="rId9"/>
    <p:sldId id="263" r:id="rId10"/>
    <p:sldId id="264" r:id="rId11"/>
    <p:sldId id="265" r:id="rId12"/>
    <p:sldId id="273" r:id="rId13"/>
    <p:sldId id="266" r:id="rId14"/>
    <p:sldId id="267" r:id="rId15"/>
    <p:sldId id="268" r:id="rId16"/>
    <p:sldId id="269" r:id="rId17"/>
    <p:sldId id="270"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56"/>
  </p:normalViewPr>
  <p:slideViewPr>
    <p:cSldViewPr snapToGrid="0" snapToObjects="1">
      <p:cViewPr varScale="1">
        <p:scale>
          <a:sx n="108" d="100"/>
          <a:sy n="108" d="100"/>
        </p:scale>
        <p:origin x="6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DA971608-FD55-B44D-982B-0801028ABF86}" type="datetimeFigureOut">
              <a:rPr lang="tr-TR" smtClean="0"/>
              <a:t>12.03.2025</a:t>
            </a:fld>
            <a:endParaRPr lang="tr-TR"/>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tr-TR"/>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CC73CE3C-F058-5343-8880-46952751D210}" type="slidenum">
              <a:rPr lang="tr-TR" smtClean="0"/>
              <a:t>‹#›</a:t>
            </a:fld>
            <a:endParaRPr lang="tr-TR"/>
          </a:p>
        </p:txBody>
      </p:sp>
    </p:spTree>
    <p:extLst>
      <p:ext uri="{BB962C8B-B14F-4D97-AF65-F5344CB8AC3E}">
        <p14:creationId xmlns:p14="http://schemas.microsoft.com/office/powerpoint/2010/main" val="45860315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DA971608-FD55-B44D-982B-0801028ABF86}" type="datetimeFigureOut">
              <a:rPr lang="tr-TR" smtClean="0"/>
              <a:t>12.03.2025</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C73CE3C-F058-5343-8880-46952751D210}" type="slidenum">
              <a:rPr lang="tr-TR" smtClean="0"/>
              <a:t>‹#›</a:t>
            </a:fld>
            <a:endParaRPr lang="tr-TR"/>
          </a:p>
        </p:txBody>
      </p:sp>
    </p:spTree>
    <p:extLst>
      <p:ext uri="{BB962C8B-B14F-4D97-AF65-F5344CB8AC3E}">
        <p14:creationId xmlns:p14="http://schemas.microsoft.com/office/powerpoint/2010/main" val="26876498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 Bilgisi">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DA971608-FD55-B44D-982B-0801028ABF86}" type="datetimeFigureOut">
              <a:rPr lang="tr-TR" smtClean="0"/>
              <a:t>12.03.2025</a:t>
            </a:fld>
            <a:endParaRPr lang="tr-TR"/>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tr-TR"/>
          </a:p>
        </p:txBody>
      </p:sp>
      <p:sp>
        <p:nvSpPr>
          <p:cNvPr id="6" name="Slide Number Placeholder 5"/>
          <p:cNvSpPr>
            <a:spLocks noGrp="1"/>
          </p:cNvSpPr>
          <p:nvPr>
            <p:ph type="sldNum" sz="quarter" idx="12"/>
          </p:nvPr>
        </p:nvSpPr>
        <p:spPr>
          <a:xfrm>
            <a:off x="8604504" y="5211060"/>
            <a:ext cx="2112264" cy="228600"/>
          </a:xfrm>
        </p:spPr>
        <p:txBody>
          <a:bodyPr/>
          <a:lstStyle/>
          <a:p>
            <a:fld id="{CC73CE3C-F058-5343-8880-46952751D210}" type="slidenum">
              <a:rPr lang="tr-TR" smtClean="0"/>
              <a:t>‹#›</a:t>
            </a:fld>
            <a:endParaRPr lang="tr-TR"/>
          </a:p>
        </p:txBody>
      </p:sp>
    </p:spTree>
    <p:extLst>
      <p:ext uri="{BB962C8B-B14F-4D97-AF65-F5344CB8AC3E}">
        <p14:creationId xmlns:p14="http://schemas.microsoft.com/office/powerpoint/2010/main" val="104185021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DA971608-FD55-B44D-982B-0801028ABF86}" type="datetimeFigureOut">
              <a:rPr lang="tr-TR" smtClean="0"/>
              <a:t>12.03.2025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C73CE3C-F058-5343-8880-46952751D210}" type="slidenum">
              <a:rPr lang="tr-TR" smtClean="0"/>
              <a:t>‹#›</a:t>
            </a:fld>
            <a:endParaRPr lang="tr-TR"/>
          </a:p>
        </p:txBody>
      </p:sp>
    </p:spTree>
    <p:extLst>
      <p:ext uri="{BB962C8B-B14F-4D97-AF65-F5344CB8AC3E}">
        <p14:creationId xmlns:p14="http://schemas.microsoft.com/office/powerpoint/2010/main" val="1598364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DA971608-FD55-B44D-982B-0801028ABF86}" type="datetimeFigureOut">
              <a:rPr lang="tr-TR" smtClean="0"/>
              <a:t>12.03.2025</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C73CE3C-F058-5343-8880-46952751D210}" type="slidenum">
              <a:rPr lang="tr-TR" smtClean="0"/>
              <a:t>‹#›</a:t>
            </a:fld>
            <a:endParaRPr lang="tr-TR"/>
          </a:p>
        </p:txBody>
      </p:sp>
    </p:spTree>
    <p:extLst>
      <p:ext uri="{BB962C8B-B14F-4D97-AF65-F5344CB8AC3E}">
        <p14:creationId xmlns:p14="http://schemas.microsoft.com/office/powerpoint/2010/main" val="1523546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DA971608-FD55-B44D-982B-0801028ABF86}" type="datetimeFigureOut">
              <a:rPr lang="tr-TR" smtClean="0"/>
              <a:t>12.03.2025</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C73CE3C-F058-5343-8880-46952751D210}" type="slidenum">
              <a:rPr lang="tr-TR" smtClean="0"/>
              <a:t>‹#›</a:t>
            </a:fld>
            <a:endParaRPr lang="tr-TR"/>
          </a:p>
        </p:txBody>
      </p:sp>
    </p:spTree>
    <p:extLst>
      <p:ext uri="{BB962C8B-B14F-4D97-AF65-F5344CB8AC3E}">
        <p14:creationId xmlns:p14="http://schemas.microsoft.com/office/powerpoint/2010/main" val="3731266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971608-FD55-B44D-982B-0801028ABF86}" type="datetimeFigureOut">
              <a:rPr lang="tr-TR" smtClean="0"/>
              <a:t>12.03.2025</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C73CE3C-F058-5343-8880-46952751D210}" type="slidenum">
              <a:rPr lang="tr-TR" smtClean="0"/>
              <a:t>‹#›</a:t>
            </a:fld>
            <a:endParaRPr lang="tr-TR"/>
          </a:p>
        </p:txBody>
      </p:sp>
    </p:spTree>
    <p:extLst>
      <p:ext uri="{BB962C8B-B14F-4D97-AF65-F5344CB8AC3E}">
        <p14:creationId xmlns:p14="http://schemas.microsoft.com/office/powerpoint/2010/main" val="3684082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tr-TR"/>
              <a:t>Asıl başlık stilini düzenlemek için tıklayın</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8" name="Date Placeholder 7"/>
          <p:cNvSpPr>
            <a:spLocks noGrp="1"/>
          </p:cNvSpPr>
          <p:nvPr>
            <p:ph type="dt" sz="half" idx="10"/>
          </p:nvPr>
        </p:nvSpPr>
        <p:spPr/>
        <p:txBody>
          <a:bodyPr/>
          <a:lstStyle/>
          <a:p>
            <a:fld id="{DA971608-FD55-B44D-982B-0801028ABF86}" type="datetimeFigureOut">
              <a:rPr lang="tr-TR" smtClean="0"/>
              <a:t>12.03.2025</a:t>
            </a:fld>
            <a:endParaRPr lang="tr-TR"/>
          </a:p>
        </p:txBody>
      </p:sp>
      <p:sp>
        <p:nvSpPr>
          <p:cNvPr id="9" name="Footer Placeholder 8"/>
          <p:cNvSpPr>
            <a:spLocks noGrp="1"/>
          </p:cNvSpPr>
          <p:nvPr>
            <p:ph type="ftr" sz="quarter" idx="11"/>
          </p:nvPr>
        </p:nvSpPr>
        <p:spPr/>
        <p:txBody>
          <a:bodyPr/>
          <a:lstStyle>
            <a:lvl1pPr algn="r">
              <a:defRPr/>
            </a:lvl1pPr>
          </a:lstStyle>
          <a:p>
            <a:endParaRPr lang="tr-TR"/>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CC73CE3C-F058-5343-8880-46952751D210}" type="slidenum">
              <a:rPr lang="tr-TR" smtClean="0"/>
              <a:t>‹#›</a:t>
            </a:fld>
            <a:endParaRPr lang="tr-TR"/>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70044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DA971608-FD55-B44D-982B-0801028ABF86}" type="datetimeFigureOut">
              <a:rPr lang="tr-TR" smtClean="0"/>
              <a:t>12.03.2025</a:t>
            </a:fld>
            <a:endParaRPr lang="tr-TR"/>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CC73CE3C-F058-5343-8880-46952751D210}" type="slidenum">
              <a:rPr lang="tr-TR" smtClean="0"/>
              <a:t>‹#›</a:t>
            </a:fld>
            <a:endParaRPr lang="tr-TR"/>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518755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DA971608-FD55-B44D-982B-0801028ABF86}" type="datetimeFigureOut">
              <a:rPr lang="tr-TR" smtClean="0"/>
              <a:t>12.03.2025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C73CE3C-F058-5343-8880-46952751D210}" type="slidenum">
              <a:rPr lang="tr-TR" smtClean="0"/>
              <a:t>‹#›</a:t>
            </a:fld>
            <a:endParaRPr lang="tr-TR"/>
          </a:p>
        </p:txBody>
      </p:sp>
    </p:spTree>
    <p:extLst>
      <p:ext uri="{BB962C8B-B14F-4D97-AF65-F5344CB8AC3E}">
        <p14:creationId xmlns:p14="http://schemas.microsoft.com/office/powerpoint/2010/main" val="1289496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DA971608-FD55-B44D-982B-0801028ABF86}" type="datetimeFigureOut">
              <a:rPr lang="tr-TR" smtClean="0"/>
              <a:t>12.03.2025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C73CE3C-F058-5343-8880-46952751D210}" type="slidenum">
              <a:rPr lang="tr-TR" smtClean="0"/>
              <a:t>‹#›</a:t>
            </a:fld>
            <a:endParaRPr lang="tr-TR"/>
          </a:p>
        </p:txBody>
      </p:sp>
    </p:spTree>
    <p:extLst>
      <p:ext uri="{BB962C8B-B14F-4D97-AF65-F5344CB8AC3E}">
        <p14:creationId xmlns:p14="http://schemas.microsoft.com/office/powerpoint/2010/main" val="6392745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p:nvPr>
        </p:nvSpPr>
        <p:spPr/>
        <p:txBody>
          <a:bodyPr/>
          <a:lstStyle/>
          <a:p>
            <a:r>
              <a:rPr lang="en-US"/>
              <a:t>Title</a:t>
            </a:r>
          </a:p>
        </p:txBody>
      </p:sp>
      <p:sp>
        <p:nvSpPr>
          <p:cNvPr id="3" name="Text 2"/>
          <p:cNvSpPr>
            <a:spLocks noGrp="1"/>
          </p:cNvSpPr>
          <p:nvPr>
            <p:ph type="body" idx="1"/>
          </p:nvPr>
        </p:nvSpPr>
        <p:spPr/>
        <p:txBody>
          <a:bodyPr/>
          <a:lstStyle/>
          <a:p>
            <a:pPr lvl="0"/>
            <a:r>
              <a:rPr lang="en-US"/>
              <a:t>Text</a:t>
            </a:r>
          </a:p>
          <a:p>
            <a:pPr lvl="1"/>
            <a:r>
              <a:rPr lang="en-US"/>
              <a:t>Second level</a:t>
            </a:r>
          </a:p>
          <a:p>
            <a:pPr lvl="2"/>
            <a:r>
              <a:rPr lang="en-US"/>
              <a:t>Third level</a:t>
            </a:r>
          </a:p>
          <a:p>
            <a:pPr lvl="3"/>
            <a:r>
              <a:rPr lang="en-US"/>
              <a:t>Fourth level</a:t>
            </a:r>
          </a:p>
          <a:p>
            <a:pPr lvl="4"/>
            <a:r>
              <a:rPr lang="en-US"/>
              <a:t>Fifth level</a:t>
            </a:r>
          </a:p>
        </p:txBody>
      </p:sp>
      <p:sp>
        <p:nvSpPr>
          <p:cNvPr id="4" name="Date 3"/>
          <p:cNvSpPr>
            <a:spLocks noGrp="1"/>
          </p:cNvSpPr>
          <p:nvPr>
            <p:ph type="dt" sz="half" idx="10"/>
          </p:nvPr>
        </p:nvSpPr>
        <p:spPr/>
        <p:txBody>
          <a:bodyPr/>
          <a:lstStyle/>
          <a:p>
            <a:fld id="{C16525B2-4347-4F72-BAF7-76B19438D329}" type="datetimeFigureOut">
              <a:rPr lang="en-US" smtClean="0"/>
              <a:t>3/12/2025</a:t>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t>‹#›</a:t>
            </a:fld>
            <a:endParaRPr lang="en-US"/>
          </a:p>
        </p:txBody>
      </p:sp>
    </p:spTree>
    <p:extLst>
      <p:ext uri="{BB962C8B-B14F-4D97-AF65-F5344CB8AC3E}">
        <p14:creationId xmlns:p14="http://schemas.microsoft.com/office/powerpoint/2010/main" val="3865558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DA971608-FD55-B44D-982B-0801028ABF86}" type="datetimeFigureOut">
              <a:rPr lang="tr-TR" smtClean="0"/>
              <a:t>12.03.2025</a:t>
            </a:fld>
            <a:endParaRPr lang="tr-TR"/>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tr-TR"/>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CC73CE3C-F058-5343-8880-46952751D210}" type="slidenum">
              <a:rPr lang="tr-TR" smtClean="0"/>
              <a:t>‹#›</a:t>
            </a:fld>
            <a:endParaRPr lang="tr-TR"/>
          </a:p>
        </p:txBody>
      </p:sp>
    </p:spTree>
    <p:extLst>
      <p:ext uri="{BB962C8B-B14F-4D97-AF65-F5344CB8AC3E}">
        <p14:creationId xmlns:p14="http://schemas.microsoft.com/office/powerpoint/2010/main" val="2025492935"/>
      </p:ext>
    </p:extLst>
  </p:cSld>
  <p:clrMap bg1="lt1" tx1="dk1" bg2="lt2" tx2="dk2" accent1="accent1" accent2="accent2" accent3="accent3" accent4="accent4" accent5="accent5" accent6="accent6" hlink="hlink" folHlink="folHlink"/>
  <p:sldLayoutIdLst>
    <p:sldLayoutId id="2147483976" r:id="rId1"/>
    <p:sldLayoutId id="2147483977" r:id="rId2"/>
    <p:sldLayoutId id="2147483978" r:id="rId3"/>
    <p:sldLayoutId id="2147483979" r:id="rId4"/>
    <p:sldLayoutId id="2147483980" r:id="rId5"/>
    <p:sldLayoutId id="2147483981" r:id="rId6"/>
    <p:sldLayoutId id="2147483982" r:id="rId7"/>
    <p:sldLayoutId id="2147483983" r:id="rId8"/>
    <p:sldLayoutId id="2147483984" r:id="rId9"/>
    <p:sldLayoutId id="2147483985" r:id="rId10"/>
    <p:sldLayoutId id="2147483986" r:id="rId11"/>
    <p:sldLayoutId id="2147483987" r:id="rId12"/>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hyperlink" Target="https://www.pnas.org/content/102/46/16569" TargetMode="External"/><Relationship Id="rId2" Type="http://schemas.openxmlformats.org/officeDocument/2006/relationships/hyperlink" Target="http://en.wikipedia.org/wiki/H-index" TargetMode="External"/><Relationship Id="rId1" Type="http://schemas.openxmlformats.org/officeDocument/2006/relationships/slideLayout" Target="../slideLayouts/slideLayout12.xml"/><Relationship Id="rId5" Type="http://schemas.openxmlformats.org/officeDocument/2006/relationships/hyperlink" Target="https://chrome.google.com/webstore/detail/scholar-h-index-calculato/cdpobfbhbdlpbloccjokjgekjnmifbng?hl=en" TargetMode="External"/><Relationship Id="rId4" Type="http://schemas.openxmlformats.org/officeDocument/2006/relationships/hyperlink" Target="https://subjectguides.uwaterloo.ca/calculate-academic-footprint/YourHIndex"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63BB57EC-8F51-F841-BF58-7D120EA6CD41}"/>
              </a:ext>
            </a:extLst>
          </p:cNvPr>
          <p:cNvSpPr>
            <a:spLocks noGrp="1"/>
          </p:cNvSpPr>
          <p:nvPr>
            <p:ph type="ctrTitle"/>
          </p:nvPr>
        </p:nvSpPr>
        <p:spPr/>
        <p:txBody>
          <a:bodyPr>
            <a:normAutofit/>
          </a:bodyPr>
          <a:lstStyle/>
          <a:p>
            <a:r>
              <a:rPr lang="tr-TR" dirty="0"/>
              <a:t>Atıf,  Etki Değeri, </a:t>
            </a:r>
            <a:br>
              <a:rPr lang="tr-TR" dirty="0"/>
            </a:br>
            <a:r>
              <a:rPr lang="tr-TR" dirty="0"/>
              <a:t>H-İndeks</a:t>
            </a:r>
          </a:p>
        </p:txBody>
      </p:sp>
      <p:sp>
        <p:nvSpPr>
          <p:cNvPr id="3" name="Alt Başlık 2">
            <a:extLst>
              <a:ext uri="{FF2B5EF4-FFF2-40B4-BE49-F238E27FC236}">
                <a16:creationId xmlns:a16="http://schemas.microsoft.com/office/drawing/2014/main" id="{04A7399F-1B62-824A-83D4-F5EB58825FB9}"/>
              </a:ext>
            </a:extLst>
          </p:cNvPr>
          <p:cNvSpPr>
            <a:spLocks noGrp="1"/>
          </p:cNvSpPr>
          <p:nvPr>
            <p:ph type="subTitle" idx="1"/>
          </p:nvPr>
        </p:nvSpPr>
        <p:spPr/>
        <p:txBody>
          <a:bodyPr/>
          <a:lstStyle/>
          <a:p>
            <a:endParaRPr lang="tr-TR"/>
          </a:p>
        </p:txBody>
      </p:sp>
    </p:spTree>
    <p:extLst>
      <p:ext uri="{BB962C8B-B14F-4D97-AF65-F5344CB8AC3E}">
        <p14:creationId xmlns:p14="http://schemas.microsoft.com/office/powerpoint/2010/main" val="1129784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49CF7FB5-D51C-B74D-BD79-167BC73D9FA0}"/>
              </a:ext>
            </a:extLst>
          </p:cNvPr>
          <p:cNvSpPr>
            <a:spLocks noGrp="1"/>
          </p:cNvSpPr>
          <p:nvPr>
            <p:ph type="title"/>
          </p:nvPr>
        </p:nvSpPr>
        <p:spPr/>
        <p:txBody>
          <a:bodyPr/>
          <a:lstStyle/>
          <a:p>
            <a:r>
              <a:rPr lang="tr-TR" dirty="0"/>
              <a:t>Atıf ve Etki Değeri</a:t>
            </a:r>
          </a:p>
        </p:txBody>
      </p:sp>
      <p:sp>
        <p:nvSpPr>
          <p:cNvPr id="3" name="İçerik Yer Tutucusu 2">
            <a:extLst>
              <a:ext uri="{FF2B5EF4-FFF2-40B4-BE49-F238E27FC236}">
                <a16:creationId xmlns:a16="http://schemas.microsoft.com/office/drawing/2014/main" id="{2FA1ADC9-6E15-D74A-87CA-79C8B050E77C}"/>
              </a:ext>
            </a:extLst>
          </p:cNvPr>
          <p:cNvSpPr>
            <a:spLocks noGrp="1"/>
          </p:cNvSpPr>
          <p:nvPr>
            <p:ph idx="1"/>
          </p:nvPr>
        </p:nvSpPr>
        <p:spPr/>
        <p:txBody>
          <a:bodyPr/>
          <a:lstStyle/>
          <a:p>
            <a:r>
              <a:rPr lang="tr-TR" dirty="0"/>
              <a:t>Bilimsel makalelerin bazıları, daha iyi yöntemlerle, daha özenle yapılmış, daha nitelikli bilimsel çalışmaları tarif eder ve bilim camiasının daha çok ilgisini çeker. </a:t>
            </a:r>
          </a:p>
          <a:p>
            <a:r>
              <a:rPr lang="tr-TR" dirty="0"/>
              <a:t>Bir bilimsel makale, diğer bir bilimsel makaleyi kaynak olarak gösterince, o makaleye atıf yapmış olmaktadır. </a:t>
            </a:r>
          </a:p>
          <a:p>
            <a:r>
              <a:rPr lang="tr-TR" dirty="0"/>
              <a:t>Hangi makalenin daha çok ilgi çektiğini öğrenmek isteyen bilim adamları, o makalenin “atıf” sayısına bakar. </a:t>
            </a:r>
          </a:p>
          <a:p>
            <a:r>
              <a:rPr lang="tr-TR" dirty="0"/>
              <a:t>Bilimsel dergiler de yayınladıkları makalelerin atıf sayısına dayanan bir ölçek olan “etki </a:t>
            </a:r>
            <a:r>
              <a:rPr lang="tr-TR" dirty="0" err="1"/>
              <a:t>değeri”ne</a:t>
            </a:r>
            <a:r>
              <a:rPr lang="tr-TR" dirty="0"/>
              <a:t> göre değerlendirilirler. </a:t>
            </a:r>
          </a:p>
        </p:txBody>
      </p:sp>
    </p:spTree>
    <p:extLst>
      <p:ext uri="{BB962C8B-B14F-4D97-AF65-F5344CB8AC3E}">
        <p14:creationId xmlns:p14="http://schemas.microsoft.com/office/powerpoint/2010/main" val="1699644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0EFF99C7-3DE8-D145-9DB7-A0708FC65EB5}"/>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87BB35AB-A8DA-494E-A0FB-196830154B82}"/>
              </a:ext>
            </a:extLst>
          </p:cNvPr>
          <p:cNvSpPr>
            <a:spLocks noGrp="1"/>
          </p:cNvSpPr>
          <p:nvPr>
            <p:ph idx="1"/>
          </p:nvPr>
        </p:nvSpPr>
        <p:spPr/>
        <p:txBody>
          <a:bodyPr>
            <a:normAutofit fontScale="85000" lnSpcReduction="10000"/>
          </a:bodyPr>
          <a:lstStyle/>
          <a:p>
            <a:pPr fontAlgn="base"/>
            <a:r>
              <a:rPr lang="tr-TR" dirty="0"/>
              <a:t>Atıflar neden verilir? Çünkü bilimsel makalelerde eğer bir bilgi için bizzat deneysel, gözlemsel kanıt göstermiyorsanız güvenilir bir kaynağı dayanak göstermeniz gerekir; atıflar da bunu sağlar. Atıflar sıklıkla şu hallerde verilir:</a:t>
            </a:r>
          </a:p>
          <a:p>
            <a:pPr fontAlgn="base"/>
            <a:r>
              <a:rPr lang="tr-TR" dirty="0"/>
              <a:t>Makalede anlatılan bilimsel çalışmaya zemin teşkil etmiş çalışmalar anılırken, bunları tarif eden özgün yayınlara atıf verilir.</a:t>
            </a:r>
          </a:p>
          <a:p>
            <a:pPr fontAlgn="base"/>
            <a:r>
              <a:rPr lang="tr-TR" dirty="0"/>
              <a:t>Çalışmada kullanılan yöntem daha önce geliştirmiş olanların ilgili makalesine atıf verilerek hem onların emeğine saygı gösterilir, hem de yöntem daha kısaca anlatılarak sayfadan tasarruf sağlanır. Daha fazla ayrıntı isteyenlere adres gösterilmiş olur.</a:t>
            </a:r>
          </a:p>
          <a:p>
            <a:pPr fontAlgn="base"/>
            <a:r>
              <a:rPr lang="tr-TR" dirty="0"/>
              <a:t>Tartışma kısmında bahsedilen, eleştirilen, doğrulanan, </a:t>
            </a:r>
            <a:r>
              <a:rPr lang="tr-TR" dirty="0" err="1"/>
              <a:t>yanlışlanan</a:t>
            </a:r>
            <a:r>
              <a:rPr lang="tr-TR" dirty="0"/>
              <a:t> makalelere de atıf verilir.</a:t>
            </a:r>
          </a:p>
          <a:p>
            <a:pPr fontAlgn="base"/>
            <a:r>
              <a:rPr lang="tr-TR" dirty="0"/>
              <a:t>Derleme makalelerinde tartışılan tüm çalışmalara atıf verilir. Bu tür makalelerin genelde gayet uzun bir atıf listesi olur.</a:t>
            </a:r>
          </a:p>
          <a:p>
            <a:pPr fontAlgn="base"/>
            <a:r>
              <a:rPr lang="tr-TR" dirty="0"/>
              <a:t>Yazışmalarda da tartışılan makalelere atıf verilir.</a:t>
            </a:r>
          </a:p>
          <a:p>
            <a:pPr fontAlgn="base"/>
            <a:r>
              <a:rPr lang="tr-TR" b="1" i="1" dirty="0"/>
              <a:t>Kendine atıf:</a:t>
            </a:r>
            <a:r>
              <a:rPr lang="tr-TR" b="1" dirty="0"/>
              <a:t> </a:t>
            </a:r>
            <a:r>
              <a:rPr lang="tr-TR" dirty="0"/>
              <a:t>Atıf yapılan makaleler çoğunlukla başkalarının makaleleri olmakla birlikte yazarların kendi makaleleri de olabilir: Meselâ yazarlar daha önceki çalışmalarının devamı niteliğinde yeni çalışmalar yayınlıyorlarsa, daha önce kullandıkları yöntemi yeniden kullanmışlarsa ilgili makalelerine atıf yapmalıdırlar</a:t>
            </a:r>
          </a:p>
          <a:p>
            <a:endParaRPr lang="tr-TR" dirty="0"/>
          </a:p>
        </p:txBody>
      </p:sp>
    </p:spTree>
    <p:extLst>
      <p:ext uri="{BB962C8B-B14F-4D97-AF65-F5344CB8AC3E}">
        <p14:creationId xmlns:p14="http://schemas.microsoft.com/office/powerpoint/2010/main" val="19960967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CC010BD6-5CD8-8B45-A644-7A2D32CDB780}"/>
              </a:ext>
            </a:extLst>
          </p:cNvPr>
          <p:cNvSpPr>
            <a:spLocks noGrp="1"/>
          </p:cNvSpPr>
          <p:nvPr>
            <p:ph type="title"/>
          </p:nvPr>
        </p:nvSpPr>
        <p:spPr/>
        <p:txBody>
          <a:bodyPr/>
          <a:lstStyle/>
          <a:p>
            <a:endParaRPr lang="tr-TR"/>
          </a:p>
        </p:txBody>
      </p:sp>
      <p:pic>
        <p:nvPicPr>
          <p:cNvPr id="5" name="İçerik Yer Tutucusu 4">
            <a:extLst>
              <a:ext uri="{FF2B5EF4-FFF2-40B4-BE49-F238E27FC236}">
                <a16:creationId xmlns:a16="http://schemas.microsoft.com/office/drawing/2014/main" id="{2D731552-37F5-4D4A-B3A2-F47EEAA79FB1}"/>
              </a:ext>
            </a:extLst>
          </p:cNvPr>
          <p:cNvPicPr>
            <a:picLocks noGrp="1" noChangeAspect="1"/>
          </p:cNvPicPr>
          <p:nvPr>
            <p:ph idx="1"/>
          </p:nvPr>
        </p:nvPicPr>
        <p:blipFill>
          <a:blip r:embed="rId2"/>
          <a:stretch>
            <a:fillRect/>
          </a:stretch>
        </p:blipFill>
        <p:spPr>
          <a:xfrm>
            <a:off x="1539579" y="2057401"/>
            <a:ext cx="5661321" cy="4024313"/>
          </a:xfrm>
        </p:spPr>
      </p:pic>
    </p:spTree>
    <p:extLst>
      <p:ext uri="{BB962C8B-B14F-4D97-AF65-F5344CB8AC3E}">
        <p14:creationId xmlns:p14="http://schemas.microsoft.com/office/powerpoint/2010/main" val="3531383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A2BD0D8B-A723-6142-84CB-108B4684F9F4}"/>
              </a:ext>
            </a:extLst>
          </p:cNvPr>
          <p:cNvSpPr>
            <a:spLocks noGrp="1"/>
          </p:cNvSpPr>
          <p:nvPr>
            <p:ph type="title"/>
          </p:nvPr>
        </p:nvSpPr>
        <p:spPr/>
        <p:txBody>
          <a:bodyPr/>
          <a:lstStyle/>
          <a:p>
            <a:r>
              <a:rPr lang="tr-TR" dirty="0"/>
              <a:t>Etki Değeri</a:t>
            </a:r>
          </a:p>
        </p:txBody>
      </p:sp>
      <p:sp>
        <p:nvSpPr>
          <p:cNvPr id="3" name="İçerik Yer Tutucusu 2">
            <a:extLst>
              <a:ext uri="{FF2B5EF4-FFF2-40B4-BE49-F238E27FC236}">
                <a16:creationId xmlns:a16="http://schemas.microsoft.com/office/drawing/2014/main" id="{4A25EBB8-380E-904E-B7F5-3A227C4D68F9}"/>
              </a:ext>
            </a:extLst>
          </p:cNvPr>
          <p:cNvSpPr>
            <a:spLocks noGrp="1"/>
          </p:cNvSpPr>
          <p:nvPr>
            <p:ph idx="1"/>
          </p:nvPr>
        </p:nvSpPr>
        <p:spPr/>
        <p:txBody>
          <a:bodyPr>
            <a:normAutofit/>
          </a:bodyPr>
          <a:lstStyle/>
          <a:p>
            <a:r>
              <a:rPr lang="tr-TR" dirty="0"/>
              <a:t>Tek bir makalenin etkisini anlamak için atıf sayısına bakılırken, bir derginin etkisini anlamak için yayınladığı makalelerin ortalama atıf sayısına bakılır. Bunun için, aynı şirket tarafından hesaplanan “etki değeri” (ED) (İng. </a:t>
            </a:r>
            <a:r>
              <a:rPr lang="tr-TR" i="1" dirty="0" err="1"/>
              <a:t>impact</a:t>
            </a:r>
            <a:r>
              <a:rPr lang="tr-TR" i="1" dirty="0"/>
              <a:t> </a:t>
            </a:r>
            <a:r>
              <a:rPr lang="tr-TR" i="1" dirty="0" err="1"/>
              <a:t>factor</a:t>
            </a:r>
            <a:r>
              <a:rPr lang="tr-TR" dirty="0"/>
              <a:t>) adlı bir gösterge kullanır. Bir derginin </a:t>
            </a:r>
            <a:r>
              <a:rPr lang="tr-TR" dirty="0" err="1"/>
              <a:t>ED’si</a:t>
            </a:r>
            <a:r>
              <a:rPr lang="tr-TR" dirty="0"/>
              <a:t> şu formüle göre hesaplanır:</a:t>
            </a:r>
          </a:p>
          <a:p>
            <a:endParaRPr lang="tr-TR" dirty="0"/>
          </a:p>
          <a:p>
            <a:endParaRPr lang="tr-TR" dirty="0"/>
          </a:p>
          <a:p>
            <a:endParaRPr lang="tr-TR" dirty="0"/>
          </a:p>
          <a:p>
            <a:endParaRPr lang="tr-TR" dirty="0"/>
          </a:p>
          <a:p>
            <a:endParaRPr lang="tr-TR" dirty="0"/>
          </a:p>
          <a:p>
            <a:r>
              <a:rPr lang="tr-TR" dirty="0"/>
              <a:t>Tek bir makalenin bilimsel önemine değil, bir derginin önemine yönelik geliştirilmiş bir göstergedir.</a:t>
            </a:r>
          </a:p>
        </p:txBody>
      </p:sp>
      <p:pic>
        <p:nvPicPr>
          <p:cNvPr id="7" name="Resim 6">
            <a:extLst>
              <a:ext uri="{FF2B5EF4-FFF2-40B4-BE49-F238E27FC236}">
                <a16:creationId xmlns:a16="http://schemas.microsoft.com/office/drawing/2014/main" id="{5BF8BF56-DF55-F545-83EB-F76D4ACDA4AA}"/>
              </a:ext>
            </a:extLst>
          </p:cNvPr>
          <p:cNvPicPr>
            <a:picLocks noChangeAspect="1"/>
          </p:cNvPicPr>
          <p:nvPr/>
        </p:nvPicPr>
        <p:blipFill>
          <a:blip r:embed="rId2"/>
          <a:stretch>
            <a:fillRect/>
          </a:stretch>
        </p:blipFill>
        <p:spPr>
          <a:xfrm>
            <a:off x="1629109" y="3618664"/>
            <a:ext cx="7625973" cy="1347767"/>
          </a:xfrm>
          <a:prstGeom prst="rect">
            <a:avLst/>
          </a:prstGeom>
        </p:spPr>
      </p:pic>
    </p:spTree>
    <p:extLst>
      <p:ext uri="{BB962C8B-B14F-4D97-AF65-F5344CB8AC3E}">
        <p14:creationId xmlns:p14="http://schemas.microsoft.com/office/powerpoint/2010/main" val="3060673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A103DACC-DDC9-644D-87F4-D736C6C0529C}"/>
              </a:ext>
            </a:extLst>
          </p:cNvPr>
          <p:cNvSpPr>
            <a:spLocks noGrp="1"/>
          </p:cNvSpPr>
          <p:nvPr>
            <p:ph type="title"/>
          </p:nvPr>
        </p:nvSpPr>
        <p:spPr/>
        <p:txBody>
          <a:bodyPr/>
          <a:lstStyle/>
          <a:p>
            <a:r>
              <a:rPr lang="tr-TR" dirty="0"/>
              <a:t>c</a:t>
            </a:r>
          </a:p>
        </p:txBody>
      </p:sp>
      <p:pic>
        <p:nvPicPr>
          <p:cNvPr id="5" name="İçerik Yer Tutucusu 4">
            <a:extLst>
              <a:ext uri="{FF2B5EF4-FFF2-40B4-BE49-F238E27FC236}">
                <a16:creationId xmlns:a16="http://schemas.microsoft.com/office/drawing/2014/main" id="{75C6733C-1AFF-0B4D-BF79-BFFF1C74BD27}"/>
              </a:ext>
            </a:extLst>
          </p:cNvPr>
          <p:cNvPicPr>
            <a:picLocks noGrp="1" noChangeAspect="1"/>
          </p:cNvPicPr>
          <p:nvPr>
            <p:ph idx="1"/>
          </p:nvPr>
        </p:nvPicPr>
        <p:blipFill>
          <a:blip r:embed="rId2"/>
          <a:stretch>
            <a:fillRect/>
          </a:stretch>
        </p:blipFill>
        <p:spPr>
          <a:xfrm>
            <a:off x="2847975" y="2893219"/>
            <a:ext cx="6496050" cy="2352675"/>
          </a:xfrm>
          <a:ln w="28575">
            <a:tailEnd type="triangle"/>
          </a:ln>
        </p:spPr>
      </p:pic>
      <p:sp>
        <p:nvSpPr>
          <p:cNvPr id="6" name="Metin kutusu 5">
            <a:extLst>
              <a:ext uri="{FF2B5EF4-FFF2-40B4-BE49-F238E27FC236}">
                <a16:creationId xmlns:a16="http://schemas.microsoft.com/office/drawing/2014/main" id="{93D9A2F6-94A8-4A46-9ACA-5D08CAE91E5E}"/>
              </a:ext>
            </a:extLst>
          </p:cNvPr>
          <p:cNvSpPr txBox="1"/>
          <p:nvPr/>
        </p:nvSpPr>
        <p:spPr>
          <a:xfrm>
            <a:off x="641267" y="3087585"/>
            <a:ext cx="1694757" cy="369332"/>
          </a:xfrm>
          <a:prstGeom prst="rect">
            <a:avLst/>
          </a:prstGeom>
          <a:noFill/>
        </p:spPr>
        <p:txBody>
          <a:bodyPr wrap="square" rtlCol="0">
            <a:spAutoFit/>
          </a:bodyPr>
          <a:lstStyle/>
          <a:p>
            <a:r>
              <a:rPr lang="tr-TR" dirty="0"/>
              <a:t>Atıf sayıları</a:t>
            </a:r>
          </a:p>
        </p:txBody>
      </p:sp>
      <p:sp>
        <p:nvSpPr>
          <p:cNvPr id="7" name="Metin kutusu 6">
            <a:extLst>
              <a:ext uri="{FF2B5EF4-FFF2-40B4-BE49-F238E27FC236}">
                <a16:creationId xmlns:a16="http://schemas.microsoft.com/office/drawing/2014/main" id="{2DA1B691-0474-FE44-B408-758B1401531A}"/>
              </a:ext>
            </a:extLst>
          </p:cNvPr>
          <p:cNvSpPr txBox="1"/>
          <p:nvPr/>
        </p:nvSpPr>
        <p:spPr>
          <a:xfrm>
            <a:off x="7200900" y="2234932"/>
            <a:ext cx="4448794" cy="369332"/>
          </a:xfrm>
          <a:prstGeom prst="rect">
            <a:avLst/>
          </a:prstGeom>
          <a:noFill/>
        </p:spPr>
        <p:txBody>
          <a:bodyPr wrap="square" rtlCol="0">
            <a:spAutoFit/>
          </a:bodyPr>
          <a:lstStyle/>
          <a:p>
            <a:r>
              <a:rPr lang="tr-TR" dirty="0"/>
              <a:t>Dergide yayınlanan makale sayısı</a:t>
            </a:r>
          </a:p>
        </p:txBody>
      </p:sp>
      <p:cxnSp>
        <p:nvCxnSpPr>
          <p:cNvPr id="9" name="Düz Ok Bağlayıcısı 8">
            <a:extLst>
              <a:ext uri="{FF2B5EF4-FFF2-40B4-BE49-F238E27FC236}">
                <a16:creationId xmlns:a16="http://schemas.microsoft.com/office/drawing/2014/main" id="{A82E159B-12D9-1E4B-94A9-F66DC9571DE9}"/>
              </a:ext>
            </a:extLst>
          </p:cNvPr>
          <p:cNvCxnSpPr>
            <a:cxnSpLocks/>
          </p:cNvCxnSpPr>
          <p:nvPr/>
        </p:nvCxnSpPr>
        <p:spPr>
          <a:xfrm>
            <a:off x="1888177" y="3301340"/>
            <a:ext cx="1187532" cy="8799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Düz Ok Bağlayıcısı 10">
            <a:extLst>
              <a:ext uri="{FF2B5EF4-FFF2-40B4-BE49-F238E27FC236}">
                <a16:creationId xmlns:a16="http://schemas.microsoft.com/office/drawing/2014/main" id="{A95211CC-B36A-034F-A392-13348DE47E85}"/>
              </a:ext>
            </a:extLst>
          </p:cNvPr>
          <p:cNvCxnSpPr/>
          <p:nvPr/>
        </p:nvCxnSpPr>
        <p:spPr>
          <a:xfrm flipH="1">
            <a:off x="7837714" y="2604264"/>
            <a:ext cx="1187533" cy="103018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8459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1923803" y="100853"/>
            <a:ext cx="8609838" cy="6240570"/>
          </a:xfrm>
          <a:prstGeom prst="rect">
            <a:avLst/>
          </a:prstGeom>
          <a:blipFill>
            <a:blip r:embed="rId2" cstate="print"/>
            <a:stretch>
              <a:fillRect/>
            </a:stretch>
          </a:blipFill>
        </p:spPr>
        <p:txBody>
          <a:bodyPr wrap="square" lIns="0" tIns="0" rIns="0" bIns="0" rtlCol="0">
            <a:spAutoFit/>
          </a:bodyPr>
          <a:lstStyle/>
          <a:p>
            <a:endParaRPr sz="1588"/>
          </a:p>
        </p:txBody>
      </p:sp>
    </p:spTree>
    <p:extLst>
      <p:ext uri="{BB962C8B-B14F-4D97-AF65-F5344CB8AC3E}">
        <p14:creationId xmlns:p14="http://schemas.microsoft.com/office/powerpoint/2010/main" val="1321587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1567543" y="0"/>
            <a:ext cx="8954223" cy="6757147"/>
          </a:xfrm>
          <a:prstGeom prst="rect">
            <a:avLst/>
          </a:prstGeom>
          <a:blipFill>
            <a:blip r:embed="rId2" cstate="print"/>
            <a:stretch>
              <a:fillRect/>
            </a:stretch>
          </a:blipFill>
        </p:spPr>
        <p:txBody>
          <a:bodyPr wrap="square" lIns="0" tIns="0" rIns="0" bIns="0" rtlCol="0">
            <a:spAutoFit/>
          </a:bodyPr>
          <a:lstStyle/>
          <a:p>
            <a:endParaRPr sz="1588"/>
          </a:p>
        </p:txBody>
      </p:sp>
    </p:spTree>
    <p:extLst>
      <p:ext uri="{BB962C8B-B14F-4D97-AF65-F5344CB8AC3E}">
        <p14:creationId xmlns:p14="http://schemas.microsoft.com/office/powerpoint/2010/main" val="2934581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1686296" y="100852"/>
            <a:ext cx="8847345" cy="6757147"/>
          </a:xfrm>
          <a:prstGeom prst="rect">
            <a:avLst/>
          </a:prstGeom>
          <a:blipFill>
            <a:blip r:embed="rId2" cstate="print"/>
            <a:stretch>
              <a:fillRect/>
            </a:stretch>
          </a:blipFill>
        </p:spPr>
        <p:txBody>
          <a:bodyPr wrap="square" lIns="0" tIns="0" rIns="0" bIns="0" rtlCol="0">
            <a:spAutoFit/>
          </a:bodyPr>
          <a:lstStyle/>
          <a:p>
            <a:endParaRPr sz="1588"/>
          </a:p>
        </p:txBody>
      </p:sp>
    </p:spTree>
    <p:extLst>
      <p:ext uri="{BB962C8B-B14F-4D97-AF65-F5344CB8AC3E}">
        <p14:creationId xmlns:p14="http://schemas.microsoft.com/office/powerpoint/2010/main" val="12343998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1591294" y="100853"/>
            <a:ext cx="8942347" cy="6252446"/>
          </a:xfrm>
          <a:prstGeom prst="rect">
            <a:avLst/>
          </a:prstGeom>
          <a:blipFill>
            <a:blip r:embed="rId2" cstate="print"/>
            <a:stretch>
              <a:fillRect/>
            </a:stretch>
          </a:blipFill>
        </p:spPr>
        <p:txBody>
          <a:bodyPr wrap="square" lIns="0" tIns="0" rIns="0" bIns="0" rtlCol="0">
            <a:spAutoFit/>
          </a:bodyPr>
          <a:lstStyle/>
          <a:p>
            <a:endParaRPr sz="1588"/>
          </a:p>
        </p:txBody>
      </p:sp>
    </p:spTree>
    <p:extLst>
      <p:ext uri="{BB962C8B-B14F-4D97-AF65-F5344CB8AC3E}">
        <p14:creationId xmlns:p14="http://schemas.microsoft.com/office/powerpoint/2010/main" val="310459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1567544" y="112728"/>
            <a:ext cx="8966098" cy="6038689"/>
          </a:xfrm>
          <a:prstGeom prst="rect">
            <a:avLst/>
          </a:prstGeom>
          <a:blipFill>
            <a:blip r:embed="rId2" cstate="print"/>
            <a:stretch>
              <a:fillRect/>
            </a:stretch>
          </a:blipFill>
        </p:spPr>
        <p:txBody>
          <a:bodyPr wrap="square" lIns="0" tIns="0" rIns="0" bIns="0" rtlCol="0">
            <a:spAutoFit/>
          </a:bodyPr>
          <a:lstStyle/>
          <a:p>
            <a:endParaRPr sz="1588"/>
          </a:p>
        </p:txBody>
      </p:sp>
    </p:spTree>
    <p:extLst>
      <p:ext uri="{BB962C8B-B14F-4D97-AF65-F5344CB8AC3E}">
        <p14:creationId xmlns:p14="http://schemas.microsoft.com/office/powerpoint/2010/main" val="573633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A5CB06DB-4587-6F41-AC33-B022F3D11903}"/>
              </a:ext>
            </a:extLst>
          </p:cNvPr>
          <p:cNvSpPr>
            <a:spLocks noGrp="1"/>
          </p:cNvSpPr>
          <p:nvPr>
            <p:ph type="title"/>
          </p:nvPr>
        </p:nvSpPr>
        <p:spPr>
          <a:xfrm>
            <a:off x="273132" y="764373"/>
            <a:ext cx="11233068" cy="613165"/>
          </a:xfrm>
        </p:spPr>
        <p:txBody>
          <a:bodyPr>
            <a:normAutofit fontScale="90000"/>
          </a:bodyPr>
          <a:lstStyle/>
          <a:p>
            <a:r>
              <a:rPr lang="tr-TR" dirty="0"/>
              <a:t>H-</a:t>
            </a:r>
            <a:r>
              <a:rPr lang="tr-TR" dirty="0" err="1"/>
              <a:t>Indeks</a:t>
            </a:r>
            <a:endParaRPr lang="tr-TR" dirty="0"/>
          </a:p>
        </p:txBody>
      </p:sp>
      <p:sp>
        <p:nvSpPr>
          <p:cNvPr id="3" name="Metin Yer Tutucusu 2">
            <a:extLst>
              <a:ext uri="{FF2B5EF4-FFF2-40B4-BE49-F238E27FC236}">
                <a16:creationId xmlns:a16="http://schemas.microsoft.com/office/drawing/2014/main" id="{0DE7EEDB-A693-5D41-9F8A-A9A40A0E928A}"/>
              </a:ext>
            </a:extLst>
          </p:cNvPr>
          <p:cNvSpPr>
            <a:spLocks noGrp="1"/>
          </p:cNvSpPr>
          <p:nvPr>
            <p:ph type="body" idx="1"/>
          </p:nvPr>
        </p:nvSpPr>
        <p:spPr>
          <a:xfrm>
            <a:off x="380010" y="1579418"/>
            <a:ext cx="11126190" cy="4639267"/>
          </a:xfrm>
        </p:spPr>
        <p:txBody>
          <a:bodyPr>
            <a:normAutofit fontScale="85000" lnSpcReduction="10000"/>
          </a:bodyPr>
          <a:lstStyle/>
          <a:p>
            <a:r>
              <a:rPr lang="tr-TR" u="sng" dirty="0">
                <a:hlinkClick r:id="rId2"/>
              </a:rPr>
              <a:t>H-indeksi</a:t>
            </a:r>
            <a:r>
              <a:rPr lang="tr-TR" dirty="0"/>
              <a:t>, bir araştırmacının ne kadar verimli ve etkili olduğunu gösteren sayısal bir göstergedir. Kaliforniya Üniversitesinde fizikçi olan Profesör </a:t>
            </a:r>
            <a:r>
              <a:rPr lang="tr-TR" u="sng" dirty="0">
                <a:hlinkClick r:id="rId3"/>
              </a:rPr>
              <a:t>Jorge Hirsch tarafından</a:t>
            </a:r>
            <a:r>
              <a:rPr lang="tr-TR" dirty="0"/>
              <a:t> 2005 yılında icat edilmiştir. Başlangıçta, </a:t>
            </a:r>
          </a:p>
          <a:p>
            <a:r>
              <a:rPr lang="tr-TR" dirty="0"/>
              <a:t>Profesör </a:t>
            </a:r>
            <a:r>
              <a:rPr lang="tr-TR" dirty="0" err="1"/>
              <a:t>Hirsch</a:t>
            </a:r>
            <a:r>
              <a:rPr lang="tr-TR" dirty="0"/>
              <a:t>, bir araştırmacının alana yaptığı katkıyı gösteren sayısal bir gösterge oluşturmak istemiştir. O zamanlarda, önemli olarak görülen şey bir araştırmacının ham alıntı sayılarıydı. Bir araştırmacının ne kadar etkili olduğunu bilmek isteseydiniz, diğer araştırma makalelerinin, araştırmacının yazdığı makaleleri kaç kez alıntıladığını bulmanız gerekiyordu.</a:t>
            </a:r>
          </a:p>
          <a:p>
            <a:r>
              <a:rPr lang="tr-TR" dirty="0"/>
              <a:t>Yaygın olarak çokça alıntı yapılan bir makale yayınladıysanız ve bunun ardından bir daha makale yayınlamadıysanız, teknik olarak başarılısınızdır. Ancak bu kişi gerçekte ne kadar başarılıdır? </a:t>
            </a:r>
          </a:p>
          <a:p>
            <a:r>
              <a:rPr lang="tr-TR" dirty="0" err="1"/>
              <a:t>Hirsch</a:t>
            </a:r>
            <a:r>
              <a:rPr lang="tr-TR" dirty="0"/>
              <a:t>, bu sorunu gidermek için, H-indeksi (</a:t>
            </a:r>
            <a:r>
              <a:rPr lang="tr-TR" dirty="0" err="1"/>
              <a:t>Hirsch’in</a:t>
            </a:r>
            <a:r>
              <a:rPr lang="tr-TR" dirty="0"/>
              <a:t> H’si) olarak adlandırdığı ve araştırmacıların değerini hesaplamak için kullanılabilecek başka bir yaklaşım önerdi. Bunu şöyle </a:t>
            </a:r>
            <a:r>
              <a:rPr lang="tr-TR" u="sng" dirty="0">
                <a:hlinkClick r:id="rId4"/>
              </a:rPr>
              <a:t>açıklayabiliriz</a:t>
            </a:r>
            <a:r>
              <a:rPr lang="tr-TR" dirty="0"/>
              <a:t>: </a:t>
            </a:r>
          </a:p>
          <a:p>
            <a:r>
              <a:rPr lang="tr-TR" dirty="0"/>
              <a:t>Bir bilim adamı, p makalelerinin h’sinin her birinin en az h alıntı yapması durumunda h indeksine sahiptir ve diğer (p − h) makalelerinin her birinin h alıntılarından daha fazlasına sahip değildir.</a:t>
            </a:r>
          </a:p>
          <a:p>
            <a:r>
              <a:rPr lang="tr-TR" dirty="0"/>
              <a:t>Biraz daha basit bir şekilde anlatmak gerekirse: birine en az H defa atıfta bulunulan makale sayısı (H) baz alınarak bir H-indeksi verirsiniz. Örneğin, </a:t>
            </a:r>
            <a:r>
              <a:rPr lang="tr-TR" u="sng" dirty="0">
                <a:hlinkClick r:id="rId5"/>
              </a:rPr>
              <a:t>Google Akademik’e göre</a:t>
            </a:r>
            <a:r>
              <a:rPr lang="tr-TR" dirty="0"/>
              <a:t>, H-indeksiniz 5 olsun. Bunun anlamı, diğer araştırma makaleleri tarafından en az 5 kez alıntı yapılan 5 makalenizin var olmasıdır.</a:t>
            </a:r>
          </a:p>
          <a:p>
            <a:endParaRPr lang="tr-TR" dirty="0"/>
          </a:p>
          <a:p>
            <a:r>
              <a:rPr lang="tr-TR" dirty="0"/>
              <a:t> Bunun anlamı da, bir bilim adamının, çok fazla alıntı yapılan bir veya iki değil, iyi atıf düzeyine sahip bir dizi makaleye sahip olmasının oluyor.</a:t>
            </a:r>
          </a:p>
          <a:p>
            <a:endParaRPr lang="tr-TR" dirty="0"/>
          </a:p>
        </p:txBody>
      </p:sp>
    </p:spTree>
    <p:extLst>
      <p:ext uri="{BB962C8B-B14F-4D97-AF65-F5344CB8AC3E}">
        <p14:creationId xmlns:p14="http://schemas.microsoft.com/office/powerpoint/2010/main" val="3810063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1353788" y="100852"/>
            <a:ext cx="9179854" cy="6573079"/>
          </a:xfrm>
          <a:prstGeom prst="rect">
            <a:avLst/>
          </a:prstGeom>
          <a:blipFill>
            <a:blip r:embed="rId2" cstate="print"/>
            <a:stretch>
              <a:fillRect/>
            </a:stretch>
          </a:blipFill>
        </p:spPr>
        <p:txBody>
          <a:bodyPr wrap="square" lIns="0" tIns="0" rIns="0" bIns="0" rtlCol="0">
            <a:spAutoFit/>
          </a:bodyPr>
          <a:lstStyle/>
          <a:p>
            <a:endParaRPr sz="1588"/>
          </a:p>
        </p:txBody>
      </p:sp>
    </p:spTree>
    <p:extLst>
      <p:ext uri="{BB962C8B-B14F-4D97-AF65-F5344CB8AC3E}">
        <p14:creationId xmlns:p14="http://schemas.microsoft.com/office/powerpoint/2010/main" val="16273966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1045030" y="100853"/>
            <a:ext cx="9488612" cy="6288072"/>
          </a:xfrm>
          <a:prstGeom prst="rect">
            <a:avLst/>
          </a:prstGeom>
          <a:blipFill>
            <a:blip r:embed="rId2" cstate="print"/>
            <a:stretch>
              <a:fillRect/>
            </a:stretch>
          </a:blipFill>
        </p:spPr>
        <p:txBody>
          <a:bodyPr wrap="square" lIns="0" tIns="0" rIns="0" bIns="0" rtlCol="0">
            <a:spAutoFit/>
          </a:bodyPr>
          <a:lstStyle/>
          <a:p>
            <a:endParaRPr sz="1588"/>
          </a:p>
        </p:txBody>
      </p:sp>
    </p:spTree>
    <p:extLst>
      <p:ext uri="{BB962C8B-B14F-4D97-AF65-F5344CB8AC3E}">
        <p14:creationId xmlns:p14="http://schemas.microsoft.com/office/powerpoint/2010/main" val="2596594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1199408" y="100852"/>
            <a:ext cx="9334233" cy="6442451"/>
          </a:xfrm>
          <a:prstGeom prst="rect">
            <a:avLst/>
          </a:prstGeom>
          <a:blipFill>
            <a:blip r:embed="rId2" cstate="print"/>
            <a:stretch>
              <a:fillRect/>
            </a:stretch>
          </a:blipFill>
        </p:spPr>
        <p:txBody>
          <a:bodyPr wrap="square" lIns="0" tIns="0" rIns="0" bIns="0" rtlCol="0">
            <a:spAutoFit/>
          </a:bodyPr>
          <a:lstStyle/>
          <a:p>
            <a:endParaRPr sz="1588"/>
          </a:p>
        </p:txBody>
      </p:sp>
    </p:spTree>
    <p:extLst>
      <p:ext uri="{BB962C8B-B14F-4D97-AF65-F5344CB8AC3E}">
        <p14:creationId xmlns:p14="http://schemas.microsoft.com/office/powerpoint/2010/main" val="12985751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950026" y="100853"/>
            <a:ext cx="9583615" cy="5967438"/>
          </a:xfrm>
          <a:prstGeom prst="rect">
            <a:avLst/>
          </a:prstGeom>
          <a:blipFill>
            <a:blip r:embed="rId2" cstate="print"/>
            <a:stretch>
              <a:fillRect/>
            </a:stretch>
          </a:blipFill>
        </p:spPr>
        <p:txBody>
          <a:bodyPr wrap="square" lIns="0" tIns="0" rIns="0" bIns="0" rtlCol="0">
            <a:spAutoFit/>
          </a:bodyPr>
          <a:lstStyle/>
          <a:p>
            <a:endParaRPr sz="1588"/>
          </a:p>
        </p:txBody>
      </p:sp>
    </p:spTree>
    <p:extLst>
      <p:ext uri="{BB962C8B-B14F-4D97-AF65-F5344CB8AC3E}">
        <p14:creationId xmlns:p14="http://schemas.microsoft.com/office/powerpoint/2010/main" val="795472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760022" y="480863"/>
            <a:ext cx="9702368" cy="6086192"/>
          </a:xfrm>
          <a:prstGeom prst="rect">
            <a:avLst/>
          </a:prstGeom>
          <a:blipFill>
            <a:blip r:embed="rId2" cstate="print"/>
            <a:stretch>
              <a:fillRect/>
            </a:stretch>
          </a:blipFill>
        </p:spPr>
        <p:txBody>
          <a:bodyPr wrap="square" lIns="0" tIns="0" rIns="0" bIns="0" rtlCol="0">
            <a:spAutoFit/>
          </a:bodyPr>
          <a:lstStyle/>
          <a:p>
            <a:endParaRPr sz="1588"/>
          </a:p>
        </p:txBody>
      </p:sp>
    </p:spTree>
    <p:extLst>
      <p:ext uri="{BB962C8B-B14F-4D97-AF65-F5344CB8AC3E}">
        <p14:creationId xmlns:p14="http://schemas.microsoft.com/office/powerpoint/2010/main" val="7367900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bun">
  <a:themeElements>
    <a:clrScheme name="Sabu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bu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bu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Sabun</Template>
  <TotalTime>118</TotalTime>
  <Words>594</Words>
  <Application>Microsoft Office PowerPoint</Application>
  <PresentationFormat>Geniş ekran</PresentationFormat>
  <Paragraphs>33</Paragraphs>
  <Slides>17</Slides>
  <Notes>0</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17</vt:i4>
      </vt:variant>
    </vt:vector>
  </HeadingPairs>
  <TitlesOfParts>
    <vt:vector size="20" baseType="lpstr">
      <vt:lpstr>Century Gothic</vt:lpstr>
      <vt:lpstr>Garamond</vt:lpstr>
      <vt:lpstr>Sabun</vt:lpstr>
      <vt:lpstr>Atıf,  Etki Değeri,  H-İndeks</vt:lpstr>
      <vt:lpstr>Atıf ve Etki Değeri</vt:lpstr>
      <vt:lpstr>PowerPoint Sunusu</vt:lpstr>
      <vt:lpstr>PowerPoint Sunusu</vt:lpstr>
      <vt:lpstr>Etki Değeri</vt:lpstr>
      <vt:lpstr>c</vt:lpstr>
      <vt:lpstr>PowerPoint Sunusu</vt:lpstr>
      <vt:lpstr>PowerPoint Sunusu</vt:lpstr>
      <vt:lpstr>PowerPoint Sunusu</vt:lpstr>
      <vt:lpstr>PowerPoint Sunusu</vt:lpstr>
      <vt:lpstr>PowerPoint Sunusu</vt:lpstr>
      <vt:lpstr>H-Indeks</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Atıf,  Etki Değeri, H-İndeks</dc:title>
  <dc:creator>Microsoft Office User</dc:creator>
  <cp:lastModifiedBy>marmara</cp:lastModifiedBy>
  <cp:revision>11</cp:revision>
  <dcterms:created xsi:type="dcterms:W3CDTF">2021-04-14T06:28:32Z</dcterms:created>
  <dcterms:modified xsi:type="dcterms:W3CDTF">2025-03-12T08:27:40Z</dcterms:modified>
</cp:coreProperties>
</file>