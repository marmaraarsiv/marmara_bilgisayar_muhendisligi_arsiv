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Lst>
  <p:sldSz cy="6858000" cx="9144000"/>
  <p:notesSz cx="9144000" cy="6858000"/>
  <p:embeddedFontLst>
    <p:embeddedFont>
      <p:font typeface="Arial Narrow"/>
      <p:regular r:id="rId118"/>
      <p:bold r:id="rId119"/>
      <p:italic r:id="rId120"/>
      <p:boldItalic r:id="rId121"/>
    </p:embeddedFont>
    <p:embeddedFont>
      <p:font typeface="Tahoma"/>
      <p:regular r:id="rId122"/>
      <p:bold r:id="rId123"/>
    </p:embeddedFont>
    <p:embeddedFont>
      <p:font typeface="Noto Sans Symbols"/>
      <p:regular r:id="rId124"/>
      <p:bold r:id="rId1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26" roundtripDataSignature="AMtx7mgtbgipYCyLX9oJPs65XalIK3cv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6" Type="http://customschemas.google.com/relationships/presentationmetadata" Target="metadata"/><Relationship Id="rId26" Type="http://schemas.openxmlformats.org/officeDocument/2006/relationships/slide" Target="slides/slide20.xml"/><Relationship Id="rId121" Type="http://schemas.openxmlformats.org/officeDocument/2006/relationships/font" Target="fonts/ArialNarrow-boldItalic.fntdata"/><Relationship Id="rId25" Type="http://schemas.openxmlformats.org/officeDocument/2006/relationships/slide" Target="slides/slide19.xml"/><Relationship Id="rId120" Type="http://schemas.openxmlformats.org/officeDocument/2006/relationships/font" Target="fonts/ArialNarrow-italic.fntdata"/><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font" Target="fonts/NotoSansSymbols-bold.fntdata"/><Relationship Id="rId29" Type="http://schemas.openxmlformats.org/officeDocument/2006/relationships/slide" Target="slides/slide23.xml"/><Relationship Id="rId124" Type="http://schemas.openxmlformats.org/officeDocument/2006/relationships/font" Target="fonts/NotoSansSymbols-regular.fntdata"/><Relationship Id="rId123" Type="http://schemas.openxmlformats.org/officeDocument/2006/relationships/font" Target="fonts/Tahoma-bold.fntdata"/><Relationship Id="rId122" Type="http://schemas.openxmlformats.org/officeDocument/2006/relationships/font" Target="fonts/Tahoma-regular.fntdata"/><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ArialNarrow-regular.fntdata"/><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font" Target="fonts/ArialNarrow-bold.fntdata"/><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tr-T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2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2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3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3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3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3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3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3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3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4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4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4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4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4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4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4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4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4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4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4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5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5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5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5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5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5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5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5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5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5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5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5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5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5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5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5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5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5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5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5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6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6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6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6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6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6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6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6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6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6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6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6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6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6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6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6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6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6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6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6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7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7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7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7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7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p7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7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7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7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7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7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7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7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7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7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7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7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7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7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7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8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p8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8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8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8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8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8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5" name="Google Shape;685;p8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8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 name="Google Shape;691;p8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8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9" name="Google Shape;699;p8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8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5" name="Google Shape;705;p8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8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p8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8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8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8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4" name="Google Shape;724;p8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9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p9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9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p9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9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3" name="Google Shape;743;p9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9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9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9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 name="Google Shape;754;p9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9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p9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9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9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9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9" name="Google Shape;769;p9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9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7" name="Google Shape;777;p9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9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3" name="Google Shape;783;p9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0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0" name="Google Shape;790;p10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10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6" name="Google Shape;796;p10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10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2" name="Google Shape;802;p102: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10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 name="Google Shape;809;p103: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0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5" name="Google Shape;815;p104: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0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3" name="Google Shape;823;p105: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0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0" name="Google Shape;830;p106: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10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p107: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10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4" name="Google Shape;844;p108: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10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1" name="Google Shape;851;p109: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11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9" name="Google Shape;859;p110: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1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5" name="Google Shape;865;p111:notes"/>
          <p:cNvSpPr/>
          <p:nvPr>
            <p:ph idx="2" type="sldImg"/>
          </p:nvPr>
        </p:nvSpPr>
        <p:spPr>
          <a:xfrm>
            <a:off x="3028950" y="857250"/>
            <a:ext cx="30861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8" name="Shape 18"/>
        <p:cNvGrpSpPr/>
        <p:nvPr/>
      </p:nvGrpSpPr>
      <p:grpSpPr>
        <a:xfrm>
          <a:off x="0" y="0"/>
          <a:ext cx="0" cy="0"/>
          <a:chOff x="0" y="0"/>
          <a:chExt cx="0" cy="0"/>
        </a:xfrm>
      </p:grpSpPr>
      <p:sp>
        <p:nvSpPr>
          <p:cNvPr id="19" name="Google Shape;19;p113"/>
          <p:cNvSpPr txBox="1"/>
          <p:nvPr>
            <p:ph type="ctrTitle"/>
          </p:nvPr>
        </p:nvSpPr>
        <p:spPr>
          <a:xfrm>
            <a:off x="685800" y="2125980"/>
            <a:ext cx="77724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13"/>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13"/>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13"/>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1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tr-TR"/>
              <a:t>‹#›</a:t>
            </a:fld>
            <a:endParaRPr sz="1800">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4" name="Shape 24"/>
        <p:cNvGrpSpPr/>
        <p:nvPr/>
      </p:nvGrpSpPr>
      <p:grpSpPr>
        <a:xfrm>
          <a:off x="0" y="0"/>
          <a:ext cx="0" cy="0"/>
          <a:chOff x="0" y="0"/>
          <a:chExt cx="0" cy="0"/>
        </a:xfrm>
      </p:grpSpPr>
      <p:sp>
        <p:nvSpPr>
          <p:cNvPr id="25" name="Google Shape;25;p114"/>
          <p:cNvSpPr txBox="1"/>
          <p:nvPr>
            <p:ph type="title"/>
          </p:nvPr>
        </p:nvSpPr>
        <p:spPr>
          <a:xfrm>
            <a:off x="688340" y="1539062"/>
            <a:ext cx="7531100" cy="14763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14"/>
          <p:cNvSpPr txBox="1"/>
          <p:nvPr>
            <p:ph idx="1" type="body"/>
          </p:nvPr>
        </p:nvSpPr>
        <p:spPr>
          <a:xfrm>
            <a:off x="1011732" y="1905126"/>
            <a:ext cx="7433309" cy="33858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30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14"/>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14"/>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1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tr-TR"/>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0" name="Shape 30"/>
        <p:cNvGrpSpPr/>
        <p:nvPr/>
      </p:nvGrpSpPr>
      <p:grpSpPr>
        <a:xfrm>
          <a:off x="0" y="0"/>
          <a:ext cx="0" cy="0"/>
          <a:chOff x="0" y="0"/>
          <a:chExt cx="0" cy="0"/>
        </a:xfrm>
      </p:grpSpPr>
      <p:sp>
        <p:nvSpPr>
          <p:cNvPr id="31" name="Google Shape;31;p115"/>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5"/>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1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tr-TR"/>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 name="Shape 34"/>
        <p:cNvGrpSpPr/>
        <p:nvPr/>
      </p:nvGrpSpPr>
      <p:grpSpPr>
        <a:xfrm>
          <a:off x="0" y="0"/>
          <a:ext cx="0" cy="0"/>
          <a:chOff x="0" y="0"/>
          <a:chExt cx="0" cy="0"/>
        </a:xfrm>
      </p:grpSpPr>
      <p:sp>
        <p:nvSpPr>
          <p:cNvPr id="35" name="Google Shape;35;p116"/>
          <p:cNvSpPr txBox="1"/>
          <p:nvPr>
            <p:ph type="title"/>
          </p:nvPr>
        </p:nvSpPr>
        <p:spPr>
          <a:xfrm>
            <a:off x="688340" y="1539062"/>
            <a:ext cx="7531100" cy="14763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16"/>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16"/>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1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tr-TR"/>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ş" showMasterSp="0" type="blank">
  <p:cSld name="BLANK">
    <p:spTree>
      <p:nvGrpSpPr>
        <p:cNvPr id="39" name="Shape 39"/>
        <p:cNvGrpSpPr/>
        <p:nvPr/>
      </p:nvGrpSpPr>
      <p:grpSpPr>
        <a:xfrm>
          <a:off x="0" y="0"/>
          <a:ext cx="0" cy="0"/>
          <a:chOff x="0" y="0"/>
          <a:chExt cx="0" cy="0"/>
        </a:xfrm>
      </p:grpSpPr>
      <p:sp>
        <p:nvSpPr>
          <p:cNvPr id="40" name="Google Shape;40;p117"/>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17"/>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17"/>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7"/>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1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5" name="Shape 45"/>
        <p:cNvGrpSpPr/>
        <p:nvPr/>
      </p:nvGrpSpPr>
      <p:grpSpPr>
        <a:xfrm>
          <a:off x="0" y="0"/>
          <a:ext cx="0" cy="0"/>
          <a:chOff x="0" y="0"/>
          <a:chExt cx="0" cy="0"/>
        </a:xfrm>
      </p:grpSpPr>
      <p:sp>
        <p:nvSpPr>
          <p:cNvPr id="46" name="Google Shape;46;p121"/>
          <p:cNvSpPr txBox="1"/>
          <p:nvPr>
            <p:ph type="title"/>
          </p:nvPr>
        </p:nvSpPr>
        <p:spPr>
          <a:xfrm>
            <a:off x="688340" y="1539062"/>
            <a:ext cx="7531100" cy="14763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21"/>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21"/>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121"/>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21"/>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2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tr-TR"/>
              <a:t>‹#›</a:t>
            </a:fld>
            <a:endParaRPr sz="1800">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İçerik" type="obj">
  <p:cSld name="OBJECT">
    <p:spTree>
      <p:nvGrpSpPr>
        <p:cNvPr id="61" name="Shape 61"/>
        <p:cNvGrpSpPr/>
        <p:nvPr/>
      </p:nvGrpSpPr>
      <p:grpSpPr>
        <a:xfrm>
          <a:off x="0" y="0"/>
          <a:ext cx="0" cy="0"/>
          <a:chOff x="0" y="0"/>
          <a:chExt cx="0" cy="0"/>
        </a:xfrm>
      </p:grpSpPr>
      <p:sp>
        <p:nvSpPr>
          <p:cNvPr id="62" name="Google Shape;62;p11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9"/>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4" name="Google Shape;64;p11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1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rşılaştırma" type="twoTxTwoObj">
  <p:cSld name="TWO_OBJECTS_WITH_TEXT">
    <p:spTree>
      <p:nvGrpSpPr>
        <p:cNvPr id="67" name="Shape 67"/>
        <p:cNvGrpSpPr/>
        <p:nvPr/>
      </p:nvGrpSpPr>
      <p:grpSpPr>
        <a:xfrm>
          <a:off x="0" y="0"/>
          <a:ext cx="0" cy="0"/>
          <a:chOff x="0" y="0"/>
          <a:chExt cx="0" cy="0"/>
        </a:xfrm>
      </p:grpSpPr>
      <p:sp>
        <p:nvSpPr>
          <p:cNvPr id="68" name="Google Shape;68;p120"/>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20"/>
          <p:cNvSpPr txBox="1"/>
          <p:nvPr>
            <p:ph idx="1" type="body"/>
          </p:nvPr>
        </p:nvSpPr>
        <p:spPr>
          <a:xfrm>
            <a:off x="82296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70" name="Google Shape;70;p120"/>
          <p:cNvSpPr txBox="1"/>
          <p:nvPr>
            <p:ph idx="2" type="body"/>
          </p:nvPr>
        </p:nvSpPr>
        <p:spPr>
          <a:xfrm>
            <a:off x="822960" y="2582334"/>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1" name="Google Shape;71;p120"/>
          <p:cNvSpPr txBox="1"/>
          <p:nvPr>
            <p:ph idx="3" type="body"/>
          </p:nvPr>
        </p:nvSpPr>
        <p:spPr>
          <a:xfrm>
            <a:off x="466344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72" name="Google Shape;72;p120"/>
          <p:cNvSpPr txBox="1"/>
          <p:nvPr>
            <p:ph idx="4" type="body"/>
          </p:nvPr>
        </p:nvSpPr>
        <p:spPr>
          <a:xfrm>
            <a:off x="4663440" y="2582334"/>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3" name="Google Shape;73;p12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2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2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Slaydı" showMasterSp="0" type="title">
  <p:cSld name="TITLE">
    <p:spTree>
      <p:nvGrpSpPr>
        <p:cNvPr id="76" name="Shape 76"/>
        <p:cNvGrpSpPr/>
        <p:nvPr/>
      </p:nvGrpSpPr>
      <p:grpSpPr>
        <a:xfrm>
          <a:off x="0" y="0"/>
          <a:ext cx="0" cy="0"/>
          <a:chOff x="0" y="0"/>
          <a:chExt cx="0" cy="0"/>
        </a:xfrm>
      </p:grpSpPr>
      <p:sp>
        <p:nvSpPr>
          <p:cNvPr id="77" name="Google Shape;77;p122"/>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22"/>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22"/>
          <p:cNvSpPr txBox="1"/>
          <p:nvPr>
            <p:ph type="ctr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2"/>
          <p:cNvSpPr txBox="1"/>
          <p:nvPr>
            <p:ph idx="1" type="subTitle"/>
          </p:nvPr>
        </p:nvSpPr>
        <p:spPr>
          <a:xfrm>
            <a:off x="825038" y="4455621"/>
            <a:ext cx="75438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81" name="Google Shape;81;p12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cxnSp>
        <p:nvCxnSpPr>
          <p:cNvPr id="84" name="Google Shape;84;p122"/>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ölüm Üstbilgisi" showMasterSp="0" type="secHead">
  <p:cSld name="SECTION_HEADER">
    <p:bg>
      <p:bgPr>
        <a:solidFill>
          <a:schemeClr val="lt1"/>
        </a:solidFill>
      </p:bgPr>
    </p:bg>
    <p:spTree>
      <p:nvGrpSpPr>
        <p:cNvPr id="85" name="Shape 85"/>
        <p:cNvGrpSpPr/>
        <p:nvPr/>
      </p:nvGrpSpPr>
      <p:grpSpPr>
        <a:xfrm>
          <a:off x="0" y="0"/>
          <a:ext cx="0" cy="0"/>
          <a:chOff x="0" y="0"/>
          <a:chExt cx="0" cy="0"/>
        </a:xfrm>
      </p:grpSpPr>
      <p:sp>
        <p:nvSpPr>
          <p:cNvPr id="86" name="Google Shape;86;p123"/>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23"/>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23"/>
          <p:cNvSpPr txBox="1"/>
          <p:nvPr>
            <p:ph type="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23"/>
          <p:cNvSpPr txBox="1"/>
          <p:nvPr>
            <p:ph idx="1" type="body"/>
          </p:nvPr>
        </p:nvSpPr>
        <p:spPr>
          <a:xfrm>
            <a:off x="822960" y="4453128"/>
            <a:ext cx="75438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90" name="Google Shape;90;p12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cxnSp>
        <p:nvCxnSpPr>
          <p:cNvPr id="93" name="Google Shape;93;p123"/>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ki İçerik" type="twoObj">
  <p:cSld name="TWO_OBJECTS">
    <p:spTree>
      <p:nvGrpSpPr>
        <p:cNvPr id="94" name="Shape 94"/>
        <p:cNvGrpSpPr/>
        <p:nvPr/>
      </p:nvGrpSpPr>
      <p:grpSpPr>
        <a:xfrm>
          <a:off x="0" y="0"/>
          <a:ext cx="0" cy="0"/>
          <a:chOff x="0" y="0"/>
          <a:chExt cx="0" cy="0"/>
        </a:xfrm>
      </p:grpSpPr>
      <p:sp>
        <p:nvSpPr>
          <p:cNvPr id="95" name="Google Shape;95;p12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24"/>
          <p:cNvSpPr txBox="1"/>
          <p:nvPr>
            <p:ph idx="1" type="body"/>
          </p:nvPr>
        </p:nvSpPr>
        <p:spPr>
          <a:xfrm>
            <a:off x="822960" y="1845734"/>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7" name="Google Shape;97;p124"/>
          <p:cNvSpPr txBox="1"/>
          <p:nvPr>
            <p:ph idx="2" type="body"/>
          </p:nvPr>
        </p:nvSpPr>
        <p:spPr>
          <a:xfrm>
            <a:off x="4663440" y="1845736"/>
            <a:ext cx="370332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12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2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2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alnızca Başlık" type="titleOnly">
  <p:cSld name="TITLE_ONLY">
    <p:spTree>
      <p:nvGrpSpPr>
        <p:cNvPr id="101" name="Shape 101"/>
        <p:cNvGrpSpPr/>
        <p:nvPr/>
      </p:nvGrpSpPr>
      <p:grpSpPr>
        <a:xfrm>
          <a:off x="0" y="0"/>
          <a:ext cx="0" cy="0"/>
          <a:chOff x="0" y="0"/>
          <a:chExt cx="0" cy="0"/>
        </a:xfrm>
      </p:grpSpPr>
      <p:sp>
        <p:nvSpPr>
          <p:cNvPr id="102" name="Google Shape;102;p12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12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2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2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ş" showMasterSp="0" type="blank">
  <p:cSld name="BLANK">
    <p:spTree>
      <p:nvGrpSpPr>
        <p:cNvPr id="106" name="Shape 106"/>
        <p:cNvGrpSpPr/>
        <p:nvPr/>
      </p:nvGrpSpPr>
      <p:grpSpPr>
        <a:xfrm>
          <a:off x="0" y="0"/>
          <a:ext cx="0" cy="0"/>
          <a:chOff x="0" y="0"/>
          <a:chExt cx="0" cy="0"/>
        </a:xfrm>
      </p:grpSpPr>
      <p:sp>
        <p:nvSpPr>
          <p:cNvPr id="107" name="Google Shape;107;p126"/>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26"/>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2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2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2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İçerik" showMasterSp="0" type="objTx">
  <p:cSld name="OBJECT_WITH_CAPTION_TEXT">
    <p:spTree>
      <p:nvGrpSpPr>
        <p:cNvPr id="112" name="Shape 112"/>
        <p:cNvGrpSpPr/>
        <p:nvPr/>
      </p:nvGrpSpPr>
      <p:grpSpPr>
        <a:xfrm>
          <a:off x="0" y="0"/>
          <a:ext cx="0" cy="0"/>
          <a:chOff x="0" y="0"/>
          <a:chExt cx="0" cy="0"/>
        </a:xfrm>
      </p:grpSpPr>
      <p:sp>
        <p:nvSpPr>
          <p:cNvPr id="113" name="Google Shape;113;p127"/>
          <p:cNvSpPr/>
          <p:nvPr/>
        </p:nvSpPr>
        <p:spPr>
          <a:xfrm>
            <a:off x="13" y="0"/>
            <a:ext cx="3038093"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27"/>
          <p:cNvSpPr/>
          <p:nvPr/>
        </p:nvSpPr>
        <p:spPr>
          <a:xfrm>
            <a:off x="3030053" y="0"/>
            <a:ext cx="48006"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27"/>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127"/>
          <p:cNvSpPr txBox="1"/>
          <p:nvPr>
            <p:ph idx="1" type="body"/>
          </p:nvPr>
        </p:nvSpPr>
        <p:spPr>
          <a:xfrm>
            <a:off x="3460237" y="731520"/>
            <a:ext cx="5009393"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17" name="Google Shape;117;p127"/>
          <p:cNvSpPr txBox="1"/>
          <p:nvPr>
            <p:ph idx="2" type="body"/>
          </p:nvPr>
        </p:nvSpPr>
        <p:spPr>
          <a:xfrm>
            <a:off x="342900" y="2926080"/>
            <a:ext cx="24003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18" name="Google Shape;118;p127"/>
          <p:cNvSpPr txBox="1"/>
          <p:nvPr>
            <p:ph idx="10" type="dt"/>
          </p:nvPr>
        </p:nvSpPr>
        <p:spPr>
          <a:xfrm>
            <a:off x="349134" y="6459786"/>
            <a:ext cx="1963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27"/>
          <p:cNvSpPr txBox="1"/>
          <p:nvPr>
            <p:ph idx="11" type="ftr"/>
          </p:nvPr>
        </p:nvSpPr>
        <p:spPr>
          <a:xfrm>
            <a:off x="3600450" y="6459786"/>
            <a:ext cx="34861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2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632E62"/>
              </a:buClr>
              <a:buSzPts val="1050"/>
              <a:buFont typeface="Calibri"/>
              <a:buNone/>
              <a:defRPr b="0" i="0" sz="1050" u="none" cap="none" strike="noStrike">
                <a:solidFill>
                  <a:srgbClr val="632E62"/>
                </a:solidFill>
                <a:latin typeface="Calibri"/>
                <a:ea typeface="Calibri"/>
                <a:cs typeface="Calibri"/>
                <a:sym typeface="Calibri"/>
              </a:defRPr>
            </a:lvl1pPr>
            <a:lvl2pPr indent="0" lvl="1" marL="0" marR="0" algn="r">
              <a:lnSpc>
                <a:spcPct val="100000"/>
              </a:lnSpc>
              <a:spcBef>
                <a:spcPts val="0"/>
              </a:spcBef>
              <a:spcAft>
                <a:spcPts val="0"/>
              </a:spcAft>
              <a:buClr>
                <a:srgbClr val="632E62"/>
              </a:buClr>
              <a:buSzPts val="1050"/>
              <a:buFont typeface="Calibri"/>
              <a:buNone/>
              <a:defRPr b="0" i="0" sz="1050" u="none" cap="none" strike="noStrike">
                <a:solidFill>
                  <a:srgbClr val="632E62"/>
                </a:solidFill>
                <a:latin typeface="Calibri"/>
                <a:ea typeface="Calibri"/>
                <a:cs typeface="Calibri"/>
                <a:sym typeface="Calibri"/>
              </a:defRPr>
            </a:lvl2pPr>
            <a:lvl3pPr indent="0" lvl="2" marL="0" marR="0" algn="r">
              <a:lnSpc>
                <a:spcPct val="100000"/>
              </a:lnSpc>
              <a:spcBef>
                <a:spcPts val="0"/>
              </a:spcBef>
              <a:spcAft>
                <a:spcPts val="0"/>
              </a:spcAft>
              <a:buClr>
                <a:srgbClr val="632E62"/>
              </a:buClr>
              <a:buSzPts val="1050"/>
              <a:buFont typeface="Calibri"/>
              <a:buNone/>
              <a:defRPr b="0" i="0" sz="1050" u="none" cap="none" strike="noStrike">
                <a:solidFill>
                  <a:srgbClr val="632E62"/>
                </a:solidFill>
                <a:latin typeface="Calibri"/>
                <a:ea typeface="Calibri"/>
                <a:cs typeface="Calibri"/>
                <a:sym typeface="Calibri"/>
              </a:defRPr>
            </a:lvl3pPr>
            <a:lvl4pPr indent="0" lvl="3" marL="0" marR="0" algn="r">
              <a:lnSpc>
                <a:spcPct val="100000"/>
              </a:lnSpc>
              <a:spcBef>
                <a:spcPts val="0"/>
              </a:spcBef>
              <a:spcAft>
                <a:spcPts val="0"/>
              </a:spcAft>
              <a:buClr>
                <a:srgbClr val="632E62"/>
              </a:buClr>
              <a:buSzPts val="1050"/>
              <a:buFont typeface="Calibri"/>
              <a:buNone/>
              <a:defRPr b="0" i="0" sz="1050" u="none" cap="none" strike="noStrike">
                <a:solidFill>
                  <a:srgbClr val="632E62"/>
                </a:solidFill>
                <a:latin typeface="Calibri"/>
                <a:ea typeface="Calibri"/>
                <a:cs typeface="Calibri"/>
                <a:sym typeface="Calibri"/>
              </a:defRPr>
            </a:lvl4pPr>
            <a:lvl5pPr indent="0" lvl="4" marL="0" marR="0" algn="r">
              <a:lnSpc>
                <a:spcPct val="100000"/>
              </a:lnSpc>
              <a:spcBef>
                <a:spcPts val="0"/>
              </a:spcBef>
              <a:spcAft>
                <a:spcPts val="0"/>
              </a:spcAft>
              <a:buClr>
                <a:srgbClr val="632E62"/>
              </a:buClr>
              <a:buSzPts val="1050"/>
              <a:buFont typeface="Calibri"/>
              <a:buNone/>
              <a:defRPr b="0" i="0" sz="1050" u="none" cap="none" strike="noStrike">
                <a:solidFill>
                  <a:srgbClr val="632E62"/>
                </a:solidFill>
                <a:latin typeface="Calibri"/>
                <a:ea typeface="Calibri"/>
                <a:cs typeface="Calibri"/>
                <a:sym typeface="Calibri"/>
              </a:defRPr>
            </a:lvl5pPr>
            <a:lvl6pPr indent="0" lvl="5" marL="0" marR="0" algn="r">
              <a:lnSpc>
                <a:spcPct val="100000"/>
              </a:lnSpc>
              <a:spcBef>
                <a:spcPts val="0"/>
              </a:spcBef>
              <a:spcAft>
                <a:spcPts val="0"/>
              </a:spcAft>
              <a:buClr>
                <a:srgbClr val="632E62"/>
              </a:buClr>
              <a:buSzPts val="1050"/>
              <a:buFont typeface="Calibri"/>
              <a:buNone/>
              <a:defRPr b="0" i="0" sz="1050" u="none" cap="none" strike="noStrike">
                <a:solidFill>
                  <a:srgbClr val="632E62"/>
                </a:solidFill>
                <a:latin typeface="Calibri"/>
                <a:ea typeface="Calibri"/>
                <a:cs typeface="Calibri"/>
                <a:sym typeface="Calibri"/>
              </a:defRPr>
            </a:lvl6pPr>
            <a:lvl7pPr indent="0" lvl="6" marL="0" marR="0" algn="r">
              <a:lnSpc>
                <a:spcPct val="100000"/>
              </a:lnSpc>
              <a:spcBef>
                <a:spcPts val="0"/>
              </a:spcBef>
              <a:spcAft>
                <a:spcPts val="0"/>
              </a:spcAft>
              <a:buClr>
                <a:srgbClr val="632E62"/>
              </a:buClr>
              <a:buSzPts val="1050"/>
              <a:buFont typeface="Calibri"/>
              <a:buNone/>
              <a:defRPr b="0" i="0" sz="1050" u="none" cap="none" strike="noStrike">
                <a:solidFill>
                  <a:srgbClr val="632E62"/>
                </a:solidFill>
                <a:latin typeface="Calibri"/>
                <a:ea typeface="Calibri"/>
                <a:cs typeface="Calibri"/>
                <a:sym typeface="Calibri"/>
              </a:defRPr>
            </a:lvl7pPr>
            <a:lvl8pPr indent="0" lvl="7" marL="0" marR="0" algn="r">
              <a:lnSpc>
                <a:spcPct val="100000"/>
              </a:lnSpc>
              <a:spcBef>
                <a:spcPts val="0"/>
              </a:spcBef>
              <a:spcAft>
                <a:spcPts val="0"/>
              </a:spcAft>
              <a:buClr>
                <a:srgbClr val="632E62"/>
              </a:buClr>
              <a:buSzPts val="1050"/>
              <a:buFont typeface="Calibri"/>
              <a:buNone/>
              <a:defRPr b="0" i="0" sz="1050" u="none" cap="none" strike="noStrike">
                <a:solidFill>
                  <a:srgbClr val="632E62"/>
                </a:solidFill>
                <a:latin typeface="Calibri"/>
                <a:ea typeface="Calibri"/>
                <a:cs typeface="Calibri"/>
                <a:sym typeface="Calibri"/>
              </a:defRPr>
            </a:lvl8pPr>
            <a:lvl9pPr indent="0" lvl="8" marL="0" marR="0" algn="r">
              <a:lnSpc>
                <a:spcPct val="100000"/>
              </a:lnSpc>
              <a:spcBef>
                <a:spcPts val="0"/>
              </a:spcBef>
              <a:spcAft>
                <a:spcPts val="0"/>
              </a:spcAft>
              <a:buClr>
                <a:srgbClr val="632E62"/>
              </a:buClr>
              <a:buSzPts val="1050"/>
              <a:buFont typeface="Calibri"/>
              <a:buNone/>
              <a:defRPr b="0" i="0" sz="1050" u="none" cap="none" strike="noStrike">
                <a:solidFill>
                  <a:srgbClr val="632E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Resim" showMasterSp="0" type="picTx">
  <p:cSld name="PICTURE_WITH_CAPTION_TEXT">
    <p:spTree>
      <p:nvGrpSpPr>
        <p:cNvPr id="121" name="Shape 121"/>
        <p:cNvGrpSpPr/>
        <p:nvPr/>
      </p:nvGrpSpPr>
      <p:grpSpPr>
        <a:xfrm>
          <a:off x="0" y="0"/>
          <a:ext cx="0" cy="0"/>
          <a:chOff x="0" y="0"/>
          <a:chExt cx="0" cy="0"/>
        </a:xfrm>
      </p:grpSpPr>
      <p:sp>
        <p:nvSpPr>
          <p:cNvPr id="122" name="Google Shape;122;p128"/>
          <p:cNvSpPr/>
          <p:nvPr/>
        </p:nvSpPr>
        <p:spPr>
          <a:xfrm>
            <a:off x="0" y="4953000"/>
            <a:ext cx="9141619"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28"/>
          <p:cNvSpPr/>
          <p:nvPr/>
        </p:nvSpPr>
        <p:spPr>
          <a:xfrm>
            <a:off x="12" y="491507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28"/>
          <p:cNvSpPr txBox="1"/>
          <p:nvPr>
            <p:ph type="title"/>
          </p:nvPr>
        </p:nvSpPr>
        <p:spPr>
          <a:xfrm>
            <a:off x="822960" y="5074920"/>
            <a:ext cx="7589520"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25" name="Google Shape;125;p128"/>
          <p:cNvPicPr preferRelativeResize="0"/>
          <p:nvPr>
            <p:ph idx="2" type="pic"/>
          </p:nvPr>
        </p:nvPicPr>
        <p:blipFill/>
        <p:spPr>
          <a:xfrm>
            <a:off x="12" y="0"/>
            <a:ext cx="9143989" cy="4915076"/>
          </a:xfrm>
          <a:prstGeom prst="rect">
            <a:avLst/>
          </a:prstGeom>
          <a:blipFill rotWithShape="1">
            <a:blip r:embed="rId2">
              <a:alphaModFix/>
            </a:blip>
            <a:stretch>
              <a:fillRect b="0" l="0" r="0" t="0"/>
            </a:stretch>
          </a:blipFill>
          <a:ln>
            <a:noFill/>
          </a:ln>
        </p:spPr>
      </p:pic>
      <p:sp>
        <p:nvSpPr>
          <p:cNvPr id="126" name="Google Shape;126;p128"/>
          <p:cNvSpPr txBox="1"/>
          <p:nvPr>
            <p:ph idx="1" type="body"/>
          </p:nvPr>
        </p:nvSpPr>
        <p:spPr>
          <a:xfrm>
            <a:off x="822959" y="5907024"/>
            <a:ext cx="7589520"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27" name="Google Shape;127;p12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12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2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Dikey Metin" type="vertTx">
  <p:cSld name="VERTICAL_TEXT">
    <p:spTree>
      <p:nvGrpSpPr>
        <p:cNvPr id="130" name="Shape 130"/>
        <p:cNvGrpSpPr/>
        <p:nvPr/>
      </p:nvGrpSpPr>
      <p:grpSpPr>
        <a:xfrm>
          <a:off x="0" y="0"/>
          <a:ext cx="0" cy="0"/>
          <a:chOff x="0" y="0"/>
          <a:chExt cx="0" cy="0"/>
        </a:xfrm>
      </p:grpSpPr>
      <p:sp>
        <p:nvSpPr>
          <p:cNvPr id="131" name="Google Shape;131;p12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129"/>
          <p:cNvSpPr txBox="1"/>
          <p:nvPr>
            <p:ph idx="1" type="body"/>
          </p:nvPr>
        </p:nvSpPr>
        <p:spPr>
          <a:xfrm rot="5400000">
            <a:off x="2583179" y="85514"/>
            <a:ext cx="4023360" cy="7543801"/>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33" name="Google Shape;133;p12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2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12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key Başlık ve Metin" showMasterSp="0" type="vertTitleAndTx">
  <p:cSld name="VERTICAL_TITLE_AND_VERTICAL_TEXT">
    <p:spTree>
      <p:nvGrpSpPr>
        <p:cNvPr id="136" name="Shape 136"/>
        <p:cNvGrpSpPr/>
        <p:nvPr/>
      </p:nvGrpSpPr>
      <p:grpSpPr>
        <a:xfrm>
          <a:off x="0" y="0"/>
          <a:ext cx="0" cy="0"/>
          <a:chOff x="0" y="0"/>
          <a:chExt cx="0" cy="0"/>
        </a:xfrm>
      </p:grpSpPr>
      <p:sp>
        <p:nvSpPr>
          <p:cNvPr id="137" name="Google Shape;137;p130"/>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0"/>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0"/>
          <p:cNvSpPr txBox="1"/>
          <p:nvPr>
            <p:ph type="title"/>
          </p:nvPr>
        </p:nvSpPr>
        <p:spPr>
          <a:xfrm rot="5400000">
            <a:off x="4650802" y="2307652"/>
            <a:ext cx="5757421" cy="1971675"/>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130"/>
          <p:cNvSpPr txBox="1"/>
          <p:nvPr>
            <p:ph idx="1" type="body"/>
          </p:nvPr>
        </p:nvSpPr>
        <p:spPr>
          <a:xfrm rot="5400000">
            <a:off x="650303" y="393126"/>
            <a:ext cx="5757420" cy="5800725"/>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41" name="Google Shape;141;p13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13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3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2" Type="http://schemas.openxmlformats.org/officeDocument/2006/relationships/theme" Target="../theme/theme1.xml"/><Relationship Id="rId9" Type="http://schemas.openxmlformats.org/officeDocument/2006/relationships/slideLayout" Target="../slideLayouts/slideLayout15.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2"/>
          <p:cNvSpPr/>
          <p:nvPr/>
        </p:nvSpPr>
        <p:spPr>
          <a:xfrm>
            <a:off x="381000" y="533400"/>
            <a:ext cx="8305800" cy="5715000"/>
          </a:xfrm>
          <a:custGeom>
            <a:rect b="b" l="l" r="r" t="t"/>
            <a:pathLst>
              <a:path extrusionOk="0" h="5715000" w="8305800">
                <a:moveTo>
                  <a:pt x="0" y="784478"/>
                </a:moveTo>
                <a:lnTo>
                  <a:pt x="1431" y="736696"/>
                </a:lnTo>
                <a:lnTo>
                  <a:pt x="5672" y="689670"/>
                </a:lnTo>
                <a:lnTo>
                  <a:pt x="12639" y="643483"/>
                </a:lnTo>
                <a:lnTo>
                  <a:pt x="22251" y="598216"/>
                </a:lnTo>
                <a:lnTo>
                  <a:pt x="34425" y="553952"/>
                </a:lnTo>
                <a:lnTo>
                  <a:pt x="49080" y="510772"/>
                </a:lnTo>
                <a:lnTo>
                  <a:pt x="66133" y="468759"/>
                </a:lnTo>
                <a:lnTo>
                  <a:pt x="85502" y="427996"/>
                </a:lnTo>
                <a:lnTo>
                  <a:pt x="107106" y="388563"/>
                </a:lnTo>
                <a:lnTo>
                  <a:pt x="130862" y="350544"/>
                </a:lnTo>
                <a:lnTo>
                  <a:pt x="156688" y="314020"/>
                </a:lnTo>
                <a:lnTo>
                  <a:pt x="184503" y="279073"/>
                </a:lnTo>
                <a:lnTo>
                  <a:pt x="214223" y="245786"/>
                </a:lnTo>
                <a:lnTo>
                  <a:pt x="245768" y="214240"/>
                </a:lnTo>
                <a:lnTo>
                  <a:pt x="279054" y="184518"/>
                </a:lnTo>
                <a:lnTo>
                  <a:pt x="314000" y="156703"/>
                </a:lnTo>
                <a:lnTo>
                  <a:pt x="350524" y="130875"/>
                </a:lnTo>
                <a:lnTo>
                  <a:pt x="388544" y="107117"/>
                </a:lnTo>
                <a:lnTo>
                  <a:pt x="427978" y="85511"/>
                </a:lnTo>
                <a:lnTo>
                  <a:pt x="468743" y="66140"/>
                </a:lnTo>
                <a:lnTo>
                  <a:pt x="510758" y="49085"/>
                </a:lnTo>
                <a:lnTo>
                  <a:pt x="553940" y="34429"/>
                </a:lnTo>
                <a:lnTo>
                  <a:pt x="598207" y="22253"/>
                </a:lnTo>
                <a:lnTo>
                  <a:pt x="643478" y="12640"/>
                </a:lnTo>
                <a:lnTo>
                  <a:pt x="689671" y="5672"/>
                </a:lnTo>
                <a:lnTo>
                  <a:pt x="736702" y="1431"/>
                </a:lnTo>
                <a:lnTo>
                  <a:pt x="784491" y="0"/>
                </a:lnTo>
                <a:lnTo>
                  <a:pt x="7521321" y="0"/>
                </a:lnTo>
                <a:lnTo>
                  <a:pt x="7569103" y="1431"/>
                </a:lnTo>
                <a:lnTo>
                  <a:pt x="7616129" y="5672"/>
                </a:lnTo>
                <a:lnTo>
                  <a:pt x="7662316" y="12640"/>
                </a:lnTo>
                <a:lnTo>
                  <a:pt x="7707583" y="22253"/>
                </a:lnTo>
                <a:lnTo>
                  <a:pt x="7751847" y="34429"/>
                </a:lnTo>
                <a:lnTo>
                  <a:pt x="7795027" y="49085"/>
                </a:lnTo>
                <a:lnTo>
                  <a:pt x="7837040" y="66140"/>
                </a:lnTo>
                <a:lnTo>
                  <a:pt x="7877803" y="85511"/>
                </a:lnTo>
                <a:lnTo>
                  <a:pt x="7917236" y="107117"/>
                </a:lnTo>
                <a:lnTo>
                  <a:pt x="7955255" y="130875"/>
                </a:lnTo>
                <a:lnTo>
                  <a:pt x="7991779" y="156703"/>
                </a:lnTo>
                <a:lnTo>
                  <a:pt x="8026726" y="184518"/>
                </a:lnTo>
                <a:lnTo>
                  <a:pt x="8060013" y="214240"/>
                </a:lnTo>
                <a:lnTo>
                  <a:pt x="8091559" y="245786"/>
                </a:lnTo>
                <a:lnTo>
                  <a:pt x="8121281" y="279073"/>
                </a:lnTo>
                <a:lnTo>
                  <a:pt x="8149096" y="314020"/>
                </a:lnTo>
                <a:lnTo>
                  <a:pt x="8174924" y="350544"/>
                </a:lnTo>
                <a:lnTo>
                  <a:pt x="8198682" y="388563"/>
                </a:lnTo>
                <a:lnTo>
                  <a:pt x="8220288" y="427996"/>
                </a:lnTo>
                <a:lnTo>
                  <a:pt x="8239659" y="468759"/>
                </a:lnTo>
                <a:lnTo>
                  <a:pt x="8256714" y="510772"/>
                </a:lnTo>
                <a:lnTo>
                  <a:pt x="8271370" y="553952"/>
                </a:lnTo>
                <a:lnTo>
                  <a:pt x="8283546" y="598216"/>
                </a:lnTo>
                <a:lnTo>
                  <a:pt x="8293159" y="643483"/>
                </a:lnTo>
                <a:lnTo>
                  <a:pt x="8300127" y="689670"/>
                </a:lnTo>
                <a:lnTo>
                  <a:pt x="8304368" y="736696"/>
                </a:lnTo>
                <a:lnTo>
                  <a:pt x="8305800" y="784478"/>
                </a:lnTo>
                <a:lnTo>
                  <a:pt x="8305800" y="4930521"/>
                </a:lnTo>
                <a:lnTo>
                  <a:pt x="8304368" y="4978308"/>
                </a:lnTo>
                <a:lnTo>
                  <a:pt x="8300127" y="5025338"/>
                </a:lnTo>
                <a:lnTo>
                  <a:pt x="8293159" y="5071529"/>
                </a:lnTo>
                <a:lnTo>
                  <a:pt x="8283546" y="5116799"/>
                </a:lnTo>
                <a:lnTo>
                  <a:pt x="8271370" y="5161066"/>
                </a:lnTo>
                <a:lnTo>
                  <a:pt x="8256714" y="5204247"/>
                </a:lnTo>
                <a:lnTo>
                  <a:pt x="8239659" y="5246261"/>
                </a:lnTo>
                <a:lnTo>
                  <a:pt x="8220288" y="5287026"/>
                </a:lnTo>
                <a:lnTo>
                  <a:pt x="8198682" y="5326459"/>
                </a:lnTo>
                <a:lnTo>
                  <a:pt x="8174924" y="5364478"/>
                </a:lnTo>
                <a:lnTo>
                  <a:pt x="8149096" y="5401001"/>
                </a:lnTo>
                <a:lnTo>
                  <a:pt x="8121281" y="5435947"/>
                </a:lnTo>
                <a:lnTo>
                  <a:pt x="8091559" y="5469233"/>
                </a:lnTo>
                <a:lnTo>
                  <a:pt x="8060013" y="5500777"/>
                </a:lnTo>
                <a:lnTo>
                  <a:pt x="8026726" y="5530497"/>
                </a:lnTo>
                <a:lnTo>
                  <a:pt x="7991779" y="5558311"/>
                </a:lnTo>
                <a:lnTo>
                  <a:pt x="7955255" y="5584137"/>
                </a:lnTo>
                <a:lnTo>
                  <a:pt x="7917236" y="5607893"/>
                </a:lnTo>
                <a:lnTo>
                  <a:pt x="7877803" y="5629497"/>
                </a:lnTo>
                <a:lnTo>
                  <a:pt x="7837040" y="5648866"/>
                </a:lnTo>
                <a:lnTo>
                  <a:pt x="7795027" y="5665920"/>
                </a:lnTo>
                <a:lnTo>
                  <a:pt x="7751847" y="5680574"/>
                </a:lnTo>
                <a:lnTo>
                  <a:pt x="7707583" y="5692749"/>
                </a:lnTo>
                <a:lnTo>
                  <a:pt x="7662316" y="5702360"/>
                </a:lnTo>
                <a:lnTo>
                  <a:pt x="7616129" y="5709327"/>
                </a:lnTo>
                <a:lnTo>
                  <a:pt x="7569103" y="5713568"/>
                </a:lnTo>
                <a:lnTo>
                  <a:pt x="7521321" y="5715000"/>
                </a:lnTo>
                <a:lnTo>
                  <a:pt x="784491" y="5715000"/>
                </a:lnTo>
                <a:lnTo>
                  <a:pt x="736702" y="5713568"/>
                </a:lnTo>
                <a:lnTo>
                  <a:pt x="689671" y="5709327"/>
                </a:lnTo>
                <a:lnTo>
                  <a:pt x="643478" y="5702360"/>
                </a:lnTo>
                <a:lnTo>
                  <a:pt x="598207" y="5692749"/>
                </a:lnTo>
                <a:lnTo>
                  <a:pt x="553940" y="5680574"/>
                </a:lnTo>
                <a:lnTo>
                  <a:pt x="510758" y="5665920"/>
                </a:lnTo>
                <a:lnTo>
                  <a:pt x="468743" y="5648866"/>
                </a:lnTo>
                <a:lnTo>
                  <a:pt x="427978" y="5629497"/>
                </a:lnTo>
                <a:lnTo>
                  <a:pt x="388544" y="5607893"/>
                </a:lnTo>
                <a:lnTo>
                  <a:pt x="350524" y="5584137"/>
                </a:lnTo>
                <a:lnTo>
                  <a:pt x="314000" y="5558311"/>
                </a:lnTo>
                <a:lnTo>
                  <a:pt x="279054" y="5530497"/>
                </a:lnTo>
                <a:lnTo>
                  <a:pt x="245768" y="5500777"/>
                </a:lnTo>
                <a:lnTo>
                  <a:pt x="214223" y="5469233"/>
                </a:lnTo>
                <a:lnTo>
                  <a:pt x="184503" y="5435947"/>
                </a:lnTo>
                <a:lnTo>
                  <a:pt x="156688" y="5401001"/>
                </a:lnTo>
                <a:lnTo>
                  <a:pt x="130862" y="5364478"/>
                </a:lnTo>
                <a:lnTo>
                  <a:pt x="107106" y="5326459"/>
                </a:lnTo>
                <a:lnTo>
                  <a:pt x="85502" y="5287026"/>
                </a:lnTo>
                <a:lnTo>
                  <a:pt x="66133" y="5246261"/>
                </a:lnTo>
                <a:lnTo>
                  <a:pt x="49080" y="5204247"/>
                </a:lnTo>
                <a:lnTo>
                  <a:pt x="34425" y="5161066"/>
                </a:lnTo>
                <a:lnTo>
                  <a:pt x="22251" y="5116799"/>
                </a:lnTo>
                <a:lnTo>
                  <a:pt x="12639" y="5071529"/>
                </a:lnTo>
                <a:lnTo>
                  <a:pt x="5672" y="5025338"/>
                </a:lnTo>
                <a:lnTo>
                  <a:pt x="1431" y="4978308"/>
                </a:lnTo>
                <a:lnTo>
                  <a:pt x="0" y="4930521"/>
                </a:lnTo>
                <a:lnTo>
                  <a:pt x="0" y="784478"/>
                </a:lnTo>
                <a:close/>
              </a:path>
            </a:pathLst>
          </a:custGeom>
          <a:noFill/>
          <a:ln cap="flat" cmpd="sng" w="50800">
            <a:solidFill>
              <a:srgbClr val="66999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 name="Google Shape;11;p112"/>
          <p:cNvSpPr/>
          <p:nvPr/>
        </p:nvSpPr>
        <p:spPr>
          <a:xfrm>
            <a:off x="0" y="152400"/>
            <a:ext cx="8534400" cy="1219200"/>
          </a:xfrm>
          <a:custGeom>
            <a:rect b="b" l="l" r="r" t="t"/>
            <a:pathLst>
              <a:path extrusionOk="0" h="1219200" w="8534400">
                <a:moveTo>
                  <a:pt x="7923530" y="0"/>
                </a:moveTo>
                <a:lnTo>
                  <a:pt x="0" y="0"/>
                </a:lnTo>
                <a:lnTo>
                  <a:pt x="0" y="1219200"/>
                </a:lnTo>
                <a:lnTo>
                  <a:pt x="7924800" y="1219200"/>
                </a:lnTo>
                <a:lnTo>
                  <a:pt x="7972423" y="1217200"/>
                </a:lnTo>
                <a:lnTo>
                  <a:pt x="8019048" y="1211654"/>
                </a:lnTo>
                <a:lnTo>
                  <a:pt x="8064537" y="1202693"/>
                </a:lnTo>
                <a:lnTo>
                  <a:pt x="8108754" y="1190452"/>
                </a:lnTo>
                <a:lnTo>
                  <a:pt x="8151565" y="1175064"/>
                </a:lnTo>
                <a:lnTo>
                  <a:pt x="8192832" y="1156662"/>
                </a:lnTo>
                <a:lnTo>
                  <a:pt x="8232422" y="1135379"/>
                </a:lnTo>
                <a:lnTo>
                  <a:pt x="8270197" y="1111349"/>
                </a:lnTo>
                <a:lnTo>
                  <a:pt x="8306022" y="1084705"/>
                </a:lnTo>
                <a:lnTo>
                  <a:pt x="8339761" y="1055581"/>
                </a:lnTo>
                <a:lnTo>
                  <a:pt x="8371278" y="1024108"/>
                </a:lnTo>
                <a:lnTo>
                  <a:pt x="8400439" y="990422"/>
                </a:lnTo>
                <a:lnTo>
                  <a:pt x="8427106" y="954654"/>
                </a:lnTo>
                <a:lnTo>
                  <a:pt x="8451144" y="916939"/>
                </a:lnTo>
                <a:lnTo>
                  <a:pt x="8472418" y="877410"/>
                </a:lnTo>
                <a:lnTo>
                  <a:pt x="8490791" y="836200"/>
                </a:lnTo>
                <a:lnTo>
                  <a:pt x="8506128" y="793442"/>
                </a:lnTo>
                <a:lnTo>
                  <a:pt x="8518293" y="749270"/>
                </a:lnTo>
                <a:lnTo>
                  <a:pt x="8527151" y="703816"/>
                </a:lnTo>
                <a:lnTo>
                  <a:pt x="8532565" y="657215"/>
                </a:lnTo>
                <a:lnTo>
                  <a:pt x="8534400" y="609600"/>
                </a:lnTo>
                <a:lnTo>
                  <a:pt x="8532565" y="561827"/>
                </a:lnTo>
                <a:lnTo>
                  <a:pt x="8527149" y="515084"/>
                </a:lnTo>
                <a:lnTo>
                  <a:pt x="8518289" y="469503"/>
                </a:lnTo>
                <a:lnTo>
                  <a:pt x="8506119" y="425217"/>
                </a:lnTo>
                <a:lnTo>
                  <a:pt x="8490774" y="382360"/>
                </a:lnTo>
                <a:lnTo>
                  <a:pt x="8472388" y="341067"/>
                </a:lnTo>
                <a:lnTo>
                  <a:pt x="8451097" y="301469"/>
                </a:lnTo>
                <a:lnTo>
                  <a:pt x="8427035" y="263702"/>
                </a:lnTo>
                <a:lnTo>
                  <a:pt x="8400339" y="227897"/>
                </a:lnTo>
                <a:lnTo>
                  <a:pt x="8371141" y="194190"/>
                </a:lnTo>
                <a:lnTo>
                  <a:pt x="8339578" y="162713"/>
                </a:lnTo>
                <a:lnTo>
                  <a:pt x="8305785" y="133601"/>
                </a:lnTo>
                <a:lnTo>
                  <a:pt x="8269895" y="106985"/>
                </a:lnTo>
                <a:lnTo>
                  <a:pt x="8232045" y="83001"/>
                </a:lnTo>
                <a:lnTo>
                  <a:pt x="8192370" y="61781"/>
                </a:lnTo>
                <a:lnTo>
                  <a:pt x="8151003" y="43460"/>
                </a:lnTo>
                <a:lnTo>
                  <a:pt x="8108080" y="28170"/>
                </a:lnTo>
                <a:lnTo>
                  <a:pt x="8063737" y="16046"/>
                </a:lnTo>
                <a:lnTo>
                  <a:pt x="8018107" y="7220"/>
                </a:lnTo>
                <a:lnTo>
                  <a:pt x="7971326" y="1827"/>
                </a:lnTo>
                <a:lnTo>
                  <a:pt x="7923530" y="0"/>
                </a:lnTo>
                <a:close/>
              </a:path>
            </a:pathLst>
          </a:custGeom>
          <a:solidFill>
            <a:srgbClr val="6666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 name="Google Shape;12;p112"/>
          <p:cNvSpPr/>
          <p:nvPr/>
        </p:nvSpPr>
        <p:spPr>
          <a:xfrm>
            <a:off x="0" y="1219200"/>
            <a:ext cx="8077200" cy="0"/>
          </a:xfrm>
          <a:custGeom>
            <a:rect b="b" l="l" r="r" t="t"/>
            <a:pathLst>
              <a:path extrusionOk="0" h="120000" w="8077200">
                <a:moveTo>
                  <a:pt x="0" y="0"/>
                </a:moveTo>
                <a:lnTo>
                  <a:pt x="8077200" y="0"/>
                </a:lnTo>
              </a:path>
            </a:pathLst>
          </a:custGeom>
          <a:noFill/>
          <a:ln cap="flat" cmpd="sng" w="381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12"/>
          <p:cNvSpPr txBox="1"/>
          <p:nvPr>
            <p:ph type="title"/>
          </p:nvPr>
        </p:nvSpPr>
        <p:spPr>
          <a:xfrm>
            <a:off x="688340" y="1539062"/>
            <a:ext cx="7531100" cy="14763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12"/>
          <p:cNvSpPr txBox="1"/>
          <p:nvPr>
            <p:ph idx="1" type="body"/>
          </p:nvPr>
        </p:nvSpPr>
        <p:spPr>
          <a:xfrm>
            <a:off x="1011732" y="1905126"/>
            <a:ext cx="7433309" cy="338582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3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5" name="Google Shape;15;p112"/>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12"/>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11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b="0" u="non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sp>
        <p:nvSpPr>
          <p:cNvPr id="53" name="Google Shape;53;p118"/>
          <p:cNvSpPr/>
          <p:nvPr/>
        </p:nvSpPr>
        <p:spPr>
          <a:xfrm>
            <a:off x="0" y="6400800"/>
            <a:ext cx="9144001"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8"/>
          <p:cNvSpPr/>
          <p:nvPr/>
        </p:nvSpPr>
        <p:spPr>
          <a:xfrm>
            <a:off x="0" y="6334315"/>
            <a:ext cx="9144001" cy="6599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1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6" name="Google Shape;56;p118"/>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57" name="Google Shape;57;p11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11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cap="non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11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cxnSp>
        <p:nvCxnSpPr>
          <p:cNvPr id="60" name="Google Shape;60;p118"/>
          <p:cNvCxnSpPr/>
          <p:nvPr/>
        </p:nvCxnSpPr>
        <p:spPr>
          <a:xfrm>
            <a:off x="895149" y="1737845"/>
            <a:ext cx="747522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 Id="rId3" Type="http://schemas.openxmlformats.org/officeDocument/2006/relationships/image" Target="../media/image2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image" Target="../media/image2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 Id="rId3" Type="http://schemas.openxmlformats.org/officeDocument/2006/relationships/image" Target="../media/image2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1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0.xml"/><Relationship Id="rId3" Type="http://schemas.openxmlformats.org/officeDocument/2006/relationships/image" Target="../media/image1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hyperlink" Target="http://www.mcozden.com/"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hyperlink" Target="http://www.mcozden.com/"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1" Type="http://schemas.openxmlformats.org/officeDocument/2006/relationships/hyperlink" Target="https://it.bilgi.edu.tr/tr/bilgi/google-arama-ipuclari/" TargetMode="External"/><Relationship Id="rId10" Type="http://schemas.openxmlformats.org/officeDocument/2006/relationships/hyperlink" Target="https://it.bilgi.edu.tr/tr/bilgi/google-arama-ipuclari/" TargetMode="External"/><Relationship Id="rId13" Type="http://schemas.openxmlformats.org/officeDocument/2006/relationships/hyperlink" Target="https://www.teknoblog.com/google-arama-ipuclari/" TargetMode="External"/><Relationship Id="rId12" Type="http://schemas.openxmlformats.org/officeDocument/2006/relationships/hyperlink" Target="https://www.enago.com.tr/academy/google-akademik-ile-nasil-arastirma-yapilir/" TargetMode="External"/><Relationship Id="rId1" Type="http://schemas.openxmlformats.org/officeDocument/2006/relationships/slideLayout" Target="../slideLayouts/slideLayout5.xml"/><Relationship Id="rId2" Type="http://schemas.openxmlformats.org/officeDocument/2006/relationships/notesSlide" Target="../notesSlides/notesSlide91.xml"/><Relationship Id="rId3" Type="http://schemas.openxmlformats.org/officeDocument/2006/relationships/hyperlink" Target="https://it.bilgi.edu.tr/tr/bilgi/google-arama-ipuclari/" TargetMode="External"/><Relationship Id="rId4" Type="http://schemas.openxmlformats.org/officeDocument/2006/relationships/hyperlink" Target="https://it.bilgi.edu.tr/tr/bilgi/google-arama-ipuclari/" TargetMode="External"/><Relationship Id="rId9" Type="http://schemas.openxmlformats.org/officeDocument/2006/relationships/hyperlink" Target="https://it.bilgi.edu.tr/tr/bilgi/google-arama-ipuclari/" TargetMode="External"/><Relationship Id="rId5" Type="http://schemas.openxmlformats.org/officeDocument/2006/relationships/hyperlink" Target="https://it.bilgi.edu.tr/tr/bilgi/google-arama-ipuclari/" TargetMode="External"/><Relationship Id="rId6" Type="http://schemas.openxmlformats.org/officeDocument/2006/relationships/hyperlink" Target="https://it.bilgi.edu.tr/tr/bilgi/google-arama-ipuclari/" TargetMode="External"/><Relationship Id="rId7" Type="http://schemas.openxmlformats.org/officeDocument/2006/relationships/hyperlink" Target="https://it.bilgi.edu.tr/tr/bilgi/google-arama-ipuclari/" TargetMode="External"/><Relationship Id="rId8" Type="http://schemas.openxmlformats.org/officeDocument/2006/relationships/hyperlink" Target="https://it.bilgi.edu.tr/tr/bilgi/google-arama-ipuclari/"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2.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3.xml"/><Relationship Id="rId3" Type="http://schemas.openxmlformats.org/officeDocument/2006/relationships/image" Target="../media/image2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4.xml"/><Relationship Id="rId3" Type="http://schemas.openxmlformats.org/officeDocument/2006/relationships/image" Target="../media/image27.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 Id="rId3" Type="http://schemas.openxmlformats.org/officeDocument/2006/relationships/image" Target="../media/image16.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6.xml"/><Relationship Id="rId3" Type="http://schemas.openxmlformats.org/officeDocument/2006/relationships/image" Target="../media/image2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1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hyperlink" Target="http://www.pdrciyiz.biz/arastirma-arastirma-turleri-t2021.html" TargetMode="External"/><Relationship Id="rId4" Type="http://schemas.openxmlformats.org/officeDocument/2006/relationships/hyperlink" Target="http://www.pdrciyiz.biz/arastirma-arastirma-turleri-t2021.html" TargetMode="External"/><Relationship Id="rId5" Type="http://schemas.openxmlformats.org/officeDocument/2006/relationships/hyperlink" Target="http://tekniksosyoloji.wordpress.com/2010/04/26/arastirma-konusu-seciminde-ve-arastirma-problemi-belirlemede-dikkat-edilecek-baslica-hususlar/" TargetMode="External"/><Relationship Id="rId6" Type="http://schemas.openxmlformats.org/officeDocument/2006/relationships/hyperlink" Target="http://tekniksosyoloji.wordpress.com/2010/04/26/arastirma-konusu-seciminde-ve-arastirma-problemi-belirlemede-dikkat-edilecek-baslica-hususlar/" TargetMode="External"/><Relationship Id="rId7" Type="http://schemas.openxmlformats.org/officeDocument/2006/relationships/hyperlink" Target="http://tekniksosyoloji.wordpress.com/2010/04/26/arastirma-konusu-seciminde-ve-arastirma-problemi-belirlemede-dikkat-edilecek-baslica-hususla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49" name="Google Shape;149;p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
        <p:nvSpPr>
          <p:cNvPr id="150" name="Google Shape;150;p1"/>
          <p:cNvSpPr txBox="1"/>
          <p:nvPr>
            <p:ph type="ctrTitle"/>
          </p:nvPr>
        </p:nvSpPr>
        <p:spPr>
          <a:xfrm>
            <a:off x="685800" y="2125980"/>
            <a:ext cx="7772400" cy="144018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tr-TR"/>
              <a:t>Bilimsel Araştırma ve Sunum Teknikleri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
          <p:cNvSpPr txBox="1"/>
          <p:nvPr>
            <p:ph type="title"/>
          </p:nvPr>
        </p:nvSpPr>
        <p:spPr>
          <a:xfrm>
            <a:off x="274116" y="337769"/>
            <a:ext cx="2752090" cy="6661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tr-TR" sz="4200">
                <a:solidFill>
                  <a:srgbClr val="FFFFFF"/>
                </a:solidFill>
              </a:rPr>
              <a:t>Felsefi Bilgi</a:t>
            </a:r>
            <a:endParaRPr sz="4200"/>
          </a:p>
        </p:txBody>
      </p:sp>
      <p:sp>
        <p:nvSpPr>
          <p:cNvPr id="156" name="Google Shape;156;p2"/>
          <p:cNvSpPr txBox="1"/>
          <p:nvPr/>
        </p:nvSpPr>
        <p:spPr>
          <a:xfrm>
            <a:off x="688340" y="1539062"/>
            <a:ext cx="6545580" cy="3866515"/>
          </a:xfrm>
          <a:prstGeom prst="rect">
            <a:avLst/>
          </a:prstGeom>
          <a:noFill/>
          <a:ln>
            <a:noFill/>
          </a:ln>
        </p:spPr>
        <p:txBody>
          <a:bodyPr anchorCtr="0" anchor="t" bIns="0" lIns="0" spcFirstLastPara="1" rIns="0" wrap="square" tIns="12050">
            <a:spAutoFit/>
          </a:bodyPr>
          <a:lstStyle/>
          <a:p>
            <a:pPr indent="-343535" lvl="0" marL="355600"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İnsanın anlama isteğinden kaynaklanır.</a:t>
            </a:r>
            <a:endParaRPr sz="28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Akla dayanır.</a:t>
            </a:r>
            <a:endParaRPr sz="28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Evrenseldir.</a:t>
            </a:r>
            <a:endParaRPr sz="2800">
              <a:solidFill>
                <a:schemeClr val="dk1"/>
              </a:solidFill>
              <a:latin typeface="Arial"/>
              <a:ea typeface="Arial"/>
              <a:cs typeface="Arial"/>
              <a:sym typeface="Arial"/>
            </a:endParaRPr>
          </a:p>
          <a:p>
            <a:pPr indent="-343535" lvl="0" marL="355600" marR="0" rtl="0" algn="l">
              <a:lnSpc>
                <a:spcPct val="100000"/>
              </a:lnSpc>
              <a:spcBef>
                <a:spcPts val="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Sistemlidir.</a:t>
            </a:r>
            <a:endParaRPr sz="28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Eleştireldir.</a:t>
            </a:r>
            <a:endParaRPr sz="28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Özneldir (subjektif).</a:t>
            </a:r>
            <a:endParaRPr sz="28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Sonuçları kesin değildir.</a:t>
            </a:r>
            <a:endParaRPr sz="28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Yığılan (biriken) bilgidir.</a:t>
            </a:r>
            <a:endParaRPr sz="28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Sınırlı bir alanın bilgisi değildir.</a:t>
            </a:r>
            <a:endParaRPr sz="2800">
              <a:solidFill>
                <a:schemeClr val="dk1"/>
              </a:solidFill>
              <a:latin typeface="Arial"/>
              <a:ea typeface="Arial"/>
              <a:cs typeface="Arial"/>
              <a:sym typeface="Arial"/>
            </a:endParaRPr>
          </a:p>
        </p:txBody>
      </p:sp>
      <p:pic>
        <p:nvPicPr>
          <p:cNvPr id="157" name="Google Shape;157;p2"/>
          <p:cNvPicPr preferRelativeResize="0"/>
          <p:nvPr/>
        </p:nvPicPr>
        <p:blipFill rotWithShape="1">
          <a:blip r:embed="rId3">
            <a:alphaModFix/>
          </a:blip>
          <a:srcRect b="0" l="0" r="0" t="0"/>
          <a:stretch/>
        </p:blipFill>
        <p:spPr>
          <a:xfrm>
            <a:off x="5508625" y="2060575"/>
            <a:ext cx="3384550" cy="2305050"/>
          </a:xfrm>
          <a:prstGeom prst="rect">
            <a:avLst/>
          </a:prstGeom>
          <a:noFill/>
          <a:ln>
            <a:noFill/>
          </a:ln>
        </p:spPr>
      </p:pic>
      <p:sp>
        <p:nvSpPr>
          <p:cNvPr id="158" name="Google Shape;158;p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
          <p:cNvSpPr txBox="1"/>
          <p:nvPr>
            <p:ph type="title"/>
          </p:nvPr>
        </p:nvSpPr>
        <p:spPr>
          <a:xfrm>
            <a:off x="274116" y="337769"/>
            <a:ext cx="3020060" cy="6661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tr-TR" sz="4200">
                <a:solidFill>
                  <a:srgbClr val="FFFFFF"/>
                </a:solidFill>
              </a:rPr>
              <a:t>Bilimsel Bilgi</a:t>
            </a:r>
            <a:endParaRPr sz="4200"/>
          </a:p>
        </p:txBody>
      </p:sp>
      <p:sp>
        <p:nvSpPr>
          <p:cNvPr id="164" name="Google Shape;164;p3"/>
          <p:cNvSpPr txBox="1"/>
          <p:nvPr/>
        </p:nvSpPr>
        <p:spPr>
          <a:xfrm>
            <a:off x="688340" y="1621358"/>
            <a:ext cx="7451725" cy="3343275"/>
          </a:xfrm>
          <a:prstGeom prst="rect">
            <a:avLst/>
          </a:prstGeom>
          <a:noFill/>
          <a:ln>
            <a:noFill/>
          </a:ln>
        </p:spPr>
        <p:txBody>
          <a:bodyPr anchorCtr="0" anchor="t" bIns="0" lIns="0" spcFirstLastPara="1" rIns="0" wrap="square" tIns="13325">
            <a:spAutoFit/>
          </a:bodyPr>
          <a:lstStyle/>
          <a:p>
            <a:pPr indent="0" lvl="0" marL="316865" marR="0" rtl="0" algn="ctr">
              <a:lnSpc>
                <a:spcPct val="100000"/>
              </a:lnSpc>
              <a:spcBef>
                <a:spcPts val="0"/>
              </a:spcBef>
              <a:spcAft>
                <a:spcPts val="0"/>
              </a:spcAft>
              <a:buNone/>
            </a:pPr>
            <a:r>
              <a:rPr lang="tr-TR" sz="3200">
                <a:solidFill>
                  <a:schemeClr val="dk1"/>
                </a:solidFill>
                <a:latin typeface="Arial"/>
                <a:ea typeface="Arial"/>
                <a:cs typeface="Arial"/>
                <a:sym typeface="Arial"/>
              </a:rPr>
              <a:t>Bilimsel bilgi türleri aşağıdaki maddeleri</a:t>
            </a:r>
            <a:endParaRPr sz="3200">
              <a:solidFill>
                <a:schemeClr val="dk1"/>
              </a:solidFill>
              <a:latin typeface="Arial"/>
              <a:ea typeface="Arial"/>
              <a:cs typeface="Arial"/>
              <a:sym typeface="Arial"/>
            </a:endParaRPr>
          </a:p>
          <a:p>
            <a:pPr indent="0" lvl="0" marL="659130" marR="0" rtl="0" algn="ctr">
              <a:lnSpc>
                <a:spcPct val="100000"/>
              </a:lnSpc>
              <a:spcBef>
                <a:spcPts val="0"/>
              </a:spcBef>
              <a:spcAft>
                <a:spcPts val="0"/>
              </a:spcAft>
              <a:buNone/>
            </a:pPr>
            <a:r>
              <a:rPr lang="tr-TR" sz="3200">
                <a:solidFill>
                  <a:schemeClr val="dk1"/>
                </a:solidFill>
                <a:latin typeface="Arial"/>
                <a:ea typeface="Arial"/>
                <a:cs typeface="Arial"/>
                <a:sym typeface="Arial"/>
              </a:rPr>
              <a:t>içermektedir:</a:t>
            </a:r>
            <a:endParaRPr sz="3200">
              <a:solidFill>
                <a:schemeClr val="dk1"/>
              </a:solidFill>
              <a:latin typeface="Arial"/>
              <a:ea typeface="Arial"/>
              <a:cs typeface="Arial"/>
              <a:sym typeface="Arial"/>
            </a:endParaRPr>
          </a:p>
          <a:p>
            <a:pPr indent="0" lvl="0" marL="0" marR="0" rtl="0" algn="l">
              <a:lnSpc>
                <a:spcPct val="100000"/>
              </a:lnSpc>
              <a:spcBef>
                <a:spcPts val="30"/>
              </a:spcBef>
              <a:spcAft>
                <a:spcPts val="0"/>
              </a:spcAft>
              <a:buNone/>
            </a:pPr>
            <a:r>
              <a:t/>
            </a:r>
            <a:endParaRPr sz="465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Formel (İdeal) Bilimler</a:t>
            </a:r>
            <a:endParaRPr sz="3200">
              <a:solidFill>
                <a:schemeClr val="dk1"/>
              </a:solidFill>
              <a:latin typeface="Arial"/>
              <a:ea typeface="Arial"/>
              <a:cs typeface="Arial"/>
              <a:sym typeface="Arial"/>
            </a:endParaRPr>
          </a:p>
          <a:p>
            <a:pPr indent="-343535" lvl="0" marL="355600" marR="0" rtl="0" algn="l">
              <a:lnSpc>
                <a:spcPct val="100000"/>
              </a:lnSpc>
              <a:spcBef>
                <a:spcPts val="77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Doğa Bilimleri</a:t>
            </a:r>
            <a:endParaRPr sz="3200">
              <a:solidFill>
                <a:schemeClr val="dk1"/>
              </a:solidFill>
              <a:latin typeface="Arial"/>
              <a:ea typeface="Arial"/>
              <a:cs typeface="Arial"/>
              <a:sym typeface="Arial"/>
            </a:endParaRPr>
          </a:p>
          <a:p>
            <a:pPr indent="-343535" lvl="0" marL="355600" marR="0" rtl="0" algn="l">
              <a:lnSpc>
                <a:spcPct val="100000"/>
              </a:lnSpc>
              <a:spcBef>
                <a:spcPts val="77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İnsan Bilimleri</a:t>
            </a:r>
            <a:endParaRPr sz="3200">
              <a:solidFill>
                <a:schemeClr val="dk1"/>
              </a:solidFill>
              <a:latin typeface="Arial"/>
              <a:ea typeface="Arial"/>
              <a:cs typeface="Arial"/>
              <a:sym typeface="Arial"/>
            </a:endParaRPr>
          </a:p>
        </p:txBody>
      </p:sp>
      <p:pic>
        <p:nvPicPr>
          <p:cNvPr id="165" name="Google Shape;165;p3"/>
          <p:cNvPicPr preferRelativeResize="0"/>
          <p:nvPr/>
        </p:nvPicPr>
        <p:blipFill rotWithShape="1">
          <a:blip r:embed="rId3">
            <a:alphaModFix/>
          </a:blip>
          <a:srcRect b="0" l="0" r="0" t="0"/>
          <a:stretch/>
        </p:blipFill>
        <p:spPr>
          <a:xfrm>
            <a:off x="5796026" y="2997200"/>
            <a:ext cx="3048000" cy="3600450"/>
          </a:xfrm>
          <a:prstGeom prst="rect">
            <a:avLst/>
          </a:prstGeom>
          <a:noFill/>
          <a:ln>
            <a:noFill/>
          </a:ln>
        </p:spPr>
      </p:pic>
      <p:sp>
        <p:nvSpPr>
          <p:cNvPr id="166" name="Google Shape;166;p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4"/>
          <p:cNvSpPr txBox="1"/>
          <p:nvPr>
            <p:ph type="title"/>
          </p:nvPr>
        </p:nvSpPr>
        <p:spPr>
          <a:xfrm>
            <a:off x="274116" y="441401"/>
            <a:ext cx="1029969" cy="4686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tr-TR" sz="2900">
                <a:solidFill>
                  <a:srgbClr val="FFFFFF"/>
                </a:solidFill>
                <a:latin typeface="Arial"/>
                <a:ea typeface="Arial"/>
                <a:cs typeface="Arial"/>
                <a:sym typeface="Arial"/>
              </a:rPr>
              <a:t>BİLİM</a:t>
            </a:r>
            <a:endParaRPr sz="2900">
              <a:latin typeface="Arial"/>
              <a:ea typeface="Arial"/>
              <a:cs typeface="Arial"/>
              <a:sym typeface="Arial"/>
            </a:endParaRPr>
          </a:p>
        </p:txBody>
      </p:sp>
      <p:sp>
        <p:nvSpPr>
          <p:cNvPr id="172" name="Google Shape;172;p4"/>
          <p:cNvSpPr txBox="1"/>
          <p:nvPr/>
        </p:nvSpPr>
        <p:spPr>
          <a:xfrm>
            <a:off x="871219" y="1610690"/>
            <a:ext cx="7586345" cy="3763645"/>
          </a:xfrm>
          <a:prstGeom prst="rect">
            <a:avLst/>
          </a:prstGeom>
          <a:noFill/>
          <a:ln>
            <a:noFill/>
          </a:ln>
        </p:spPr>
        <p:txBody>
          <a:bodyPr anchorCtr="0" anchor="t" bIns="0" lIns="0" spcFirstLastPara="1" rIns="0" wrap="square" tIns="48875">
            <a:spAutoFit/>
          </a:bodyPr>
          <a:lstStyle/>
          <a:p>
            <a:pPr indent="-160655" lvl="0" marL="172720" marR="5080" rtl="0" algn="just">
              <a:lnSpc>
                <a:spcPct val="90200"/>
              </a:lnSpc>
              <a:spcBef>
                <a:spcPts val="0"/>
              </a:spcBef>
              <a:spcAft>
                <a:spcPts val="0"/>
              </a:spcAft>
              <a:buNone/>
            </a:pPr>
            <a:r>
              <a:rPr lang="tr-TR" sz="2400">
                <a:solidFill>
                  <a:schemeClr val="dk1"/>
                </a:solidFill>
                <a:latin typeface="Arial"/>
                <a:ea typeface="Arial"/>
                <a:cs typeface="Arial"/>
                <a:sym typeface="Arial"/>
              </a:rPr>
              <a:t>“Bilim nedir” sorusunu bilim adamları değişik biçimlerde  tanımlamışlardır. Bunlara, </a:t>
            </a:r>
            <a:r>
              <a:rPr b="1" i="1" lang="tr-TR" sz="2400">
                <a:solidFill>
                  <a:schemeClr val="dk1"/>
                </a:solidFill>
                <a:latin typeface="Arial"/>
                <a:ea typeface="Arial"/>
                <a:cs typeface="Arial"/>
                <a:sym typeface="Arial"/>
              </a:rPr>
              <a:t>“....nesnel sağlamlığı olan  bilgiler bütünü”, “neden-sonuç ilişkilerinin ifade  edildiği sistematik bilgiler birikimi”</a:t>
            </a:r>
            <a:r>
              <a:rPr b="1" lang="tr-TR" sz="2400">
                <a:solidFill>
                  <a:schemeClr val="dk1"/>
                </a:solidFill>
                <a:latin typeface="Arial"/>
                <a:ea typeface="Arial"/>
                <a:cs typeface="Arial"/>
                <a:sym typeface="Arial"/>
              </a:rPr>
              <a:t>, </a:t>
            </a:r>
            <a:r>
              <a:rPr b="1" i="1" lang="tr-TR" sz="2400">
                <a:solidFill>
                  <a:schemeClr val="dk1"/>
                </a:solidFill>
                <a:latin typeface="Arial"/>
                <a:ea typeface="Arial"/>
                <a:cs typeface="Arial"/>
                <a:sym typeface="Arial"/>
              </a:rPr>
              <a:t>“insanoğlunun  biriktirdiği kaydedilmiş sistematik bilgi”,  “kanıtlanmış ve sistemli hale getirilmiş bilgiler...”  </a:t>
            </a:r>
            <a:r>
              <a:rPr lang="tr-TR" sz="2400">
                <a:solidFill>
                  <a:schemeClr val="dk1"/>
                </a:solidFill>
                <a:latin typeface="Arial"/>
                <a:ea typeface="Arial"/>
                <a:cs typeface="Arial"/>
                <a:sym typeface="Arial"/>
              </a:rPr>
              <a:t>biçiminde yapılmış tanımları örnek olarak  gösterebiliriz.</a:t>
            </a:r>
            <a:endParaRPr sz="2400">
              <a:solidFill>
                <a:schemeClr val="dk1"/>
              </a:solidFill>
              <a:latin typeface="Arial"/>
              <a:ea typeface="Arial"/>
              <a:cs typeface="Arial"/>
              <a:sym typeface="Arial"/>
            </a:endParaRPr>
          </a:p>
          <a:p>
            <a:pPr indent="-5080" lvl="0" marL="172720" marR="5715" rtl="0" algn="just">
              <a:lnSpc>
                <a:spcPct val="107916"/>
              </a:lnSpc>
              <a:spcBef>
                <a:spcPts val="615"/>
              </a:spcBef>
              <a:spcAft>
                <a:spcPts val="0"/>
              </a:spcAft>
              <a:buNone/>
            </a:pPr>
            <a:r>
              <a:rPr lang="tr-TR" sz="2400">
                <a:solidFill>
                  <a:schemeClr val="dk1"/>
                </a:solidFill>
                <a:latin typeface="Arial"/>
                <a:ea typeface="Arial"/>
                <a:cs typeface="Arial"/>
                <a:sym typeface="Arial"/>
              </a:rPr>
              <a:t>Bilim, her türlü düzenden yoksun duyu verileri (algılar)  ile mantıksal olarak düzenli düşünme arasında  uygunluk sağlama çabasıdır. (Albert Einstein)</a:t>
            </a:r>
            <a:endParaRPr sz="2400">
              <a:solidFill>
                <a:schemeClr val="dk1"/>
              </a:solidFill>
              <a:latin typeface="Arial"/>
              <a:ea typeface="Arial"/>
              <a:cs typeface="Arial"/>
              <a:sym typeface="Arial"/>
            </a:endParaRPr>
          </a:p>
        </p:txBody>
      </p:sp>
      <p:sp>
        <p:nvSpPr>
          <p:cNvPr id="173" name="Google Shape;173;p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5"/>
          <p:cNvSpPr txBox="1"/>
          <p:nvPr/>
        </p:nvSpPr>
        <p:spPr>
          <a:xfrm>
            <a:off x="984300" y="1673174"/>
            <a:ext cx="7367270" cy="3964304"/>
          </a:xfrm>
          <a:prstGeom prst="rect">
            <a:avLst/>
          </a:prstGeom>
          <a:noFill/>
          <a:ln>
            <a:noFill/>
          </a:ln>
        </p:spPr>
        <p:txBody>
          <a:bodyPr anchorCtr="0" anchor="t" bIns="0" lIns="0" spcFirstLastPara="1" rIns="0" wrap="square" tIns="6350">
            <a:spAutoFit/>
          </a:bodyPr>
          <a:lstStyle/>
          <a:p>
            <a:pPr indent="-5079" lvl="0" marL="59689" marR="142875" rtl="0" algn="just">
              <a:lnSpc>
                <a:spcPct val="101400"/>
              </a:lnSpc>
              <a:spcBef>
                <a:spcPts val="0"/>
              </a:spcBef>
              <a:spcAft>
                <a:spcPts val="0"/>
              </a:spcAft>
              <a:buNone/>
            </a:pPr>
            <a:r>
              <a:rPr lang="tr-TR" sz="2800">
                <a:solidFill>
                  <a:schemeClr val="dk1"/>
                </a:solidFill>
                <a:latin typeface="Arial"/>
                <a:ea typeface="Arial"/>
                <a:cs typeface="Arial"/>
                <a:sym typeface="Arial"/>
              </a:rPr>
              <a:t>Bilim; araştırma sonucu kanıtlanmış, geçerliği  kabul edilmiş, nesnel, mantıklı, genellenebilir,  düzenli ya da sistematik bilgilerin bütünüdür.</a:t>
            </a:r>
            <a:endParaRPr sz="2800">
              <a:solidFill>
                <a:schemeClr val="dk1"/>
              </a:solidFill>
              <a:latin typeface="Arial"/>
              <a:ea typeface="Arial"/>
              <a:cs typeface="Arial"/>
              <a:sym typeface="Arial"/>
            </a:endParaRPr>
          </a:p>
          <a:p>
            <a:pPr indent="-47624" lvl="0" marL="59689" marR="5080" rtl="0" algn="l">
              <a:lnSpc>
                <a:spcPct val="100000"/>
              </a:lnSpc>
              <a:spcBef>
                <a:spcPts val="675"/>
              </a:spcBef>
              <a:spcAft>
                <a:spcPts val="0"/>
              </a:spcAft>
              <a:buNone/>
            </a:pPr>
            <a:r>
              <a:rPr lang="tr-TR" sz="2800">
                <a:solidFill>
                  <a:schemeClr val="dk1"/>
                </a:solidFill>
                <a:latin typeface="Arial"/>
                <a:ea typeface="Arial"/>
                <a:cs typeface="Arial"/>
                <a:sym typeface="Arial"/>
              </a:rPr>
              <a:t>Bilim; doğal dünyayla ilgili soruları cevaplamak  üzere bilimsel araştırma yöntemlerini  kullanarak herkesin irdelemesine açık geçerli  ve güvenilir genellemeler ve açıklamalar</a:t>
            </a:r>
            <a:endParaRPr sz="2800">
              <a:solidFill>
                <a:schemeClr val="dk1"/>
              </a:solidFill>
              <a:latin typeface="Arial"/>
              <a:ea typeface="Arial"/>
              <a:cs typeface="Arial"/>
              <a:sym typeface="Arial"/>
            </a:endParaRPr>
          </a:p>
          <a:p>
            <a:pPr indent="0" lvl="0" marL="59689" marR="1604010" rtl="0" algn="l">
              <a:lnSpc>
                <a:spcPct val="100000"/>
              </a:lnSpc>
              <a:spcBef>
                <a:spcPts val="0"/>
              </a:spcBef>
              <a:spcAft>
                <a:spcPts val="0"/>
              </a:spcAft>
              <a:buNone/>
            </a:pPr>
            <a:r>
              <a:rPr lang="tr-TR" sz="2800">
                <a:solidFill>
                  <a:schemeClr val="dk1"/>
                </a:solidFill>
                <a:latin typeface="Arial"/>
                <a:ea typeface="Arial"/>
                <a:cs typeface="Arial"/>
                <a:sym typeface="Arial"/>
              </a:rPr>
              <a:t>ortaya koyma etkinliğidir. (William F.  McComas).</a:t>
            </a:r>
            <a:endParaRPr sz="2800">
              <a:solidFill>
                <a:schemeClr val="dk1"/>
              </a:solidFill>
              <a:latin typeface="Arial"/>
              <a:ea typeface="Arial"/>
              <a:cs typeface="Arial"/>
              <a:sym typeface="Arial"/>
            </a:endParaRPr>
          </a:p>
        </p:txBody>
      </p:sp>
      <p:sp>
        <p:nvSpPr>
          <p:cNvPr id="179" name="Google Shape;179;p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6"/>
          <p:cNvSpPr txBox="1"/>
          <p:nvPr>
            <p:ph type="title"/>
          </p:nvPr>
        </p:nvSpPr>
        <p:spPr>
          <a:xfrm>
            <a:off x="274116" y="337769"/>
            <a:ext cx="3942079" cy="6661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tr-TR" sz="4200">
                <a:solidFill>
                  <a:srgbClr val="FFFFFF"/>
                </a:solidFill>
              </a:rPr>
              <a:t>Bilimin özellikleri</a:t>
            </a:r>
            <a:endParaRPr sz="4200"/>
          </a:p>
        </p:txBody>
      </p:sp>
      <p:sp>
        <p:nvSpPr>
          <p:cNvPr id="185" name="Google Shape;185;p6"/>
          <p:cNvSpPr txBox="1"/>
          <p:nvPr/>
        </p:nvSpPr>
        <p:spPr>
          <a:xfrm>
            <a:off x="688340" y="1538476"/>
            <a:ext cx="7157720" cy="5104765"/>
          </a:xfrm>
          <a:prstGeom prst="rect">
            <a:avLst/>
          </a:prstGeom>
          <a:noFill/>
          <a:ln>
            <a:noFill/>
          </a:ln>
        </p:spPr>
        <p:txBody>
          <a:bodyPr anchorCtr="0" anchor="t" bIns="0" lIns="0" spcFirstLastPara="1" rIns="0" wrap="square" tIns="55875">
            <a:spAutoFit/>
          </a:bodyPr>
          <a:lstStyle/>
          <a:p>
            <a:pPr indent="-343535" lvl="0" marL="355600"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Tümevarım yöntemini kullanırlar.</a:t>
            </a:r>
            <a:endParaRPr sz="2800">
              <a:solidFill>
                <a:schemeClr val="dk1"/>
              </a:solidFill>
              <a:latin typeface="Arial"/>
              <a:ea typeface="Arial"/>
              <a:cs typeface="Arial"/>
              <a:sym typeface="Arial"/>
            </a:endParaRPr>
          </a:p>
          <a:p>
            <a:pPr indent="-343535" lvl="0" marL="355600" marR="0" rtl="0" algn="l">
              <a:lnSpc>
                <a:spcPct val="100000"/>
              </a:lnSpc>
              <a:spcBef>
                <a:spcPts val="33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Yasa ve genellemelere ulaşmaya çalışırlar.</a:t>
            </a:r>
            <a:endParaRPr sz="2800">
              <a:solidFill>
                <a:schemeClr val="dk1"/>
              </a:solidFill>
              <a:latin typeface="Arial"/>
              <a:ea typeface="Arial"/>
              <a:cs typeface="Arial"/>
              <a:sym typeface="Arial"/>
            </a:endParaRPr>
          </a:p>
          <a:p>
            <a:pPr indent="-343535" lvl="0" marL="355600" marR="0" rtl="0" algn="l">
              <a:lnSpc>
                <a:spcPct val="100000"/>
              </a:lnSpc>
              <a:spcBef>
                <a:spcPts val="33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Evrenseldir.</a:t>
            </a:r>
            <a:endParaRPr sz="2800">
              <a:solidFill>
                <a:schemeClr val="dk1"/>
              </a:solidFill>
              <a:latin typeface="Arial"/>
              <a:ea typeface="Arial"/>
              <a:cs typeface="Arial"/>
              <a:sym typeface="Arial"/>
            </a:endParaRPr>
          </a:p>
          <a:p>
            <a:pPr indent="-343535" lvl="0" marL="355600" marR="0" rtl="0" algn="l">
              <a:lnSpc>
                <a:spcPct val="100000"/>
              </a:lnSpc>
              <a:spcBef>
                <a:spcPts val="34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Nesneldir.</a:t>
            </a:r>
            <a:endParaRPr sz="2800">
              <a:solidFill>
                <a:schemeClr val="dk1"/>
              </a:solidFill>
              <a:latin typeface="Arial"/>
              <a:ea typeface="Arial"/>
              <a:cs typeface="Arial"/>
              <a:sym typeface="Arial"/>
            </a:endParaRPr>
          </a:p>
          <a:p>
            <a:pPr indent="-343535" lvl="0" marL="355600" marR="0" rtl="0" algn="l">
              <a:lnSpc>
                <a:spcPct val="100000"/>
              </a:lnSpc>
              <a:spcBef>
                <a:spcPts val="33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Kesindir, doğrulanabilme özelliği vardır.</a:t>
            </a:r>
            <a:endParaRPr sz="2800">
              <a:solidFill>
                <a:schemeClr val="dk1"/>
              </a:solidFill>
              <a:latin typeface="Arial"/>
              <a:ea typeface="Arial"/>
              <a:cs typeface="Arial"/>
              <a:sym typeface="Arial"/>
            </a:endParaRPr>
          </a:p>
          <a:p>
            <a:pPr indent="-343535" lvl="0" marL="355600" marR="0" rtl="0" algn="l">
              <a:lnSpc>
                <a:spcPct val="100000"/>
              </a:lnSpc>
              <a:spcBef>
                <a:spcPts val="33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Birikimli olarak ilerler.</a:t>
            </a:r>
            <a:endParaRPr sz="2800">
              <a:solidFill>
                <a:schemeClr val="dk1"/>
              </a:solidFill>
              <a:latin typeface="Arial"/>
              <a:ea typeface="Arial"/>
              <a:cs typeface="Arial"/>
              <a:sym typeface="Arial"/>
            </a:endParaRPr>
          </a:p>
          <a:p>
            <a:pPr indent="-343535" lvl="0" marL="355600" marR="0" rtl="0" algn="l">
              <a:lnSpc>
                <a:spcPct val="100000"/>
              </a:lnSpc>
              <a:spcBef>
                <a:spcPts val="34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Akıl ve mantık ilkelerini kullanır.</a:t>
            </a:r>
            <a:endParaRPr sz="2800">
              <a:solidFill>
                <a:schemeClr val="dk1"/>
              </a:solidFill>
              <a:latin typeface="Arial"/>
              <a:ea typeface="Arial"/>
              <a:cs typeface="Arial"/>
              <a:sym typeface="Arial"/>
            </a:endParaRPr>
          </a:p>
          <a:p>
            <a:pPr indent="-343535" lvl="0" marL="355600" marR="0" rtl="0" algn="l">
              <a:lnSpc>
                <a:spcPct val="100000"/>
              </a:lnSpc>
              <a:spcBef>
                <a:spcPts val="33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Uygulanabilir.</a:t>
            </a:r>
            <a:endParaRPr sz="2800">
              <a:solidFill>
                <a:schemeClr val="dk1"/>
              </a:solidFill>
              <a:latin typeface="Arial"/>
              <a:ea typeface="Arial"/>
              <a:cs typeface="Arial"/>
              <a:sym typeface="Arial"/>
            </a:endParaRPr>
          </a:p>
          <a:p>
            <a:pPr indent="-343535" lvl="0" marL="355600" marR="23495" rtl="0" algn="l">
              <a:lnSpc>
                <a:spcPct val="107857"/>
              </a:lnSpc>
              <a:spcBef>
                <a:spcPts val="72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Değişebilme ve kendini yenileme özelliğine  sahiptir.</a:t>
            </a:r>
            <a:endParaRPr sz="2800">
              <a:solidFill>
                <a:schemeClr val="dk1"/>
              </a:solidFill>
              <a:latin typeface="Arial"/>
              <a:ea typeface="Arial"/>
              <a:cs typeface="Arial"/>
              <a:sym typeface="Arial"/>
            </a:endParaRPr>
          </a:p>
          <a:p>
            <a:pPr indent="-343535" lvl="0" marL="355600" marR="0" rtl="0" algn="l">
              <a:lnSpc>
                <a:spcPct val="100000"/>
              </a:lnSpc>
              <a:spcBef>
                <a:spcPts val="30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Olgusaldır.</a:t>
            </a:r>
            <a:endParaRPr sz="2800">
              <a:solidFill>
                <a:schemeClr val="dk1"/>
              </a:solidFill>
              <a:latin typeface="Arial"/>
              <a:ea typeface="Arial"/>
              <a:cs typeface="Arial"/>
              <a:sym typeface="Arial"/>
            </a:endParaRPr>
          </a:p>
        </p:txBody>
      </p:sp>
      <p:sp>
        <p:nvSpPr>
          <p:cNvPr id="186" name="Google Shape;186;p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7"/>
          <p:cNvPicPr preferRelativeResize="0"/>
          <p:nvPr/>
        </p:nvPicPr>
        <p:blipFill rotWithShape="1">
          <a:blip r:embed="rId3">
            <a:alphaModFix/>
          </a:blip>
          <a:srcRect b="0" l="0" r="0" t="0"/>
          <a:stretch/>
        </p:blipFill>
        <p:spPr>
          <a:xfrm>
            <a:off x="1543050" y="1138237"/>
            <a:ext cx="6059424" cy="4581525"/>
          </a:xfrm>
          <a:prstGeom prst="rect">
            <a:avLst/>
          </a:prstGeom>
          <a:noFill/>
          <a:ln>
            <a:noFill/>
          </a:ln>
        </p:spPr>
      </p:pic>
      <p:sp>
        <p:nvSpPr>
          <p:cNvPr id="192" name="Google Shape;192;p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8"/>
          <p:cNvPicPr preferRelativeResize="0"/>
          <p:nvPr/>
        </p:nvPicPr>
        <p:blipFill rotWithShape="1">
          <a:blip r:embed="rId3">
            <a:alphaModFix/>
          </a:blip>
          <a:srcRect b="0" l="0" r="0" t="0"/>
          <a:stretch/>
        </p:blipFill>
        <p:spPr>
          <a:xfrm>
            <a:off x="1552575" y="1162050"/>
            <a:ext cx="6040501" cy="4533900"/>
          </a:xfrm>
          <a:prstGeom prst="rect">
            <a:avLst/>
          </a:prstGeom>
          <a:noFill/>
          <a:ln>
            <a:noFill/>
          </a:ln>
        </p:spPr>
      </p:pic>
      <p:sp>
        <p:nvSpPr>
          <p:cNvPr id="198" name="Google Shape;198;p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9"/>
          <p:cNvPicPr preferRelativeResize="0"/>
          <p:nvPr/>
        </p:nvPicPr>
        <p:blipFill rotWithShape="1">
          <a:blip r:embed="rId3">
            <a:alphaModFix/>
          </a:blip>
          <a:srcRect b="0" l="0" r="0" t="0"/>
          <a:stretch/>
        </p:blipFill>
        <p:spPr>
          <a:xfrm>
            <a:off x="1258887" y="742950"/>
            <a:ext cx="6627749" cy="5372100"/>
          </a:xfrm>
          <a:prstGeom prst="rect">
            <a:avLst/>
          </a:prstGeom>
          <a:noFill/>
          <a:ln>
            <a:noFill/>
          </a:ln>
        </p:spPr>
      </p:pic>
      <p:sp>
        <p:nvSpPr>
          <p:cNvPr id="204" name="Google Shape;204;p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0"/>
          <p:cNvSpPr txBox="1"/>
          <p:nvPr>
            <p:ph type="title"/>
          </p:nvPr>
        </p:nvSpPr>
        <p:spPr>
          <a:xfrm>
            <a:off x="274116" y="474929"/>
            <a:ext cx="1926589" cy="4064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tr-TR" sz="2500">
                <a:solidFill>
                  <a:srgbClr val="FFFFFF"/>
                </a:solidFill>
                <a:latin typeface="Arial"/>
                <a:ea typeface="Arial"/>
                <a:cs typeface="Arial"/>
                <a:sym typeface="Arial"/>
              </a:rPr>
              <a:t>ARAŞTIRMA</a:t>
            </a:r>
            <a:endParaRPr sz="2500">
              <a:latin typeface="Arial"/>
              <a:ea typeface="Arial"/>
              <a:cs typeface="Arial"/>
              <a:sym typeface="Arial"/>
            </a:endParaRPr>
          </a:p>
        </p:txBody>
      </p:sp>
      <p:sp>
        <p:nvSpPr>
          <p:cNvPr id="210" name="Google Shape;210;p10"/>
          <p:cNvSpPr txBox="1"/>
          <p:nvPr/>
        </p:nvSpPr>
        <p:spPr>
          <a:xfrm>
            <a:off x="874267" y="1719148"/>
            <a:ext cx="7609205" cy="2657475"/>
          </a:xfrm>
          <a:prstGeom prst="rect">
            <a:avLst/>
          </a:prstGeom>
          <a:noFill/>
          <a:ln>
            <a:noFill/>
          </a:ln>
        </p:spPr>
        <p:txBody>
          <a:bodyPr anchorCtr="0" anchor="t" bIns="0" lIns="0" spcFirstLastPara="1" rIns="0" wrap="square" tIns="10150">
            <a:spAutoFit/>
          </a:bodyPr>
          <a:lstStyle/>
          <a:p>
            <a:pPr indent="-5080" lvl="0" marL="17145" marR="5080" rtl="0" algn="l">
              <a:lnSpc>
                <a:spcPct val="100499"/>
              </a:lnSpc>
              <a:spcBef>
                <a:spcPts val="0"/>
              </a:spcBef>
              <a:spcAft>
                <a:spcPts val="0"/>
              </a:spcAft>
              <a:buNone/>
            </a:pPr>
            <a:r>
              <a:rPr b="1" i="1" lang="tr-TR" sz="2800">
                <a:solidFill>
                  <a:schemeClr val="dk1"/>
                </a:solidFill>
                <a:latin typeface="Arial"/>
                <a:ea typeface="Arial"/>
                <a:cs typeface="Arial"/>
                <a:sym typeface="Arial"/>
              </a:rPr>
              <a:t>Araştırma</a:t>
            </a:r>
            <a:r>
              <a:rPr lang="tr-TR" sz="2800">
                <a:solidFill>
                  <a:schemeClr val="dk1"/>
                </a:solidFill>
                <a:latin typeface="Arial"/>
                <a:ea typeface="Arial"/>
                <a:cs typeface="Arial"/>
                <a:sym typeface="Arial"/>
              </a:rPr>
              <a:t>; Bir konuyla ilgili iyileştirme yapmak,  bilinmeyenleri ortaya çıkarmak veya problemleri  çözmek amacıyla bilimsel yöntem çerçevesinde  planlı ve sistemli olarak veri toplanması, elde  edilen verilerin çözümlenmesi, yorumlanması ve  sonucun raporlaştırılması sürecidir</a:t>
            </a:r>
            <a:r>
              <a:rPr lang="tr-TR" sz="3200">
                <a:solidFill>
                  <a:schemeClr val="dk1"/>
                </a:solidFill>
                <a:latin typeface="Arial"/>
                <a:ea typeface="Arial"/>
                <a:cs typeface="Arial"/>
                <a:sym typeface="Arial"/>
              </a:rPr>
              <a:t>.</a:t>
            </a:r>
            <a:endParaRPr/>
          </a:p>
        </p:txBody>
      </p:sp>
      <p:sp>
        <p:nvSpPr>
          <p:cNvPr id="211" name="Google Shape;211;p1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1"/>
          <p:cNvSpPr txBox="1"/>
          <p:nvPr/>
        </p:nvSpPr>
        <p:spPr>
          <a:xfrm>
            <a:off x="1026972" y="1673174"/>
            <a:ext cx="7428230" cy="1317625"/>
          </a:xfrm>
          <a:prstGeom prst="rect">
            <a:avLst/>
          </a:prstGeom>
          <a:noFill/>
          <a:ln>
            <a:noFill/>
          </a:ln>
        </p:spPr>
        <p:txBody>
          <a:bodyPr anchorCtr="0" anchor="t" bIns="0" lIns="0" spcFirstLastPara="1" rIns="0" wrap="square" tIns="6350">
            <a:spAutoFit/>
          </a:bodyPr>
          <a:lstStyle/>
          <a:p>
            <a:pPr indent="-5080" lvl="0" marL="17145" marR="5080" rtl="0" algn="just">
              <a:lnSpc>
                <a:spcPct val="101400"/>
              </a:lnSpc>
              <a:spcBef>
                <a:spcPts val="0"/>
              </a:spcBef>
              <a:spcAft>
                <a:spcPts val="0"/>
              </a:spcAft>
              <a:buNone/>
            </a:pPr>
            <a:r>
              <a:rPr lang="tr-TR" sz="2800">
                <a:solidFill>
                  <a:schemeClr val="dk1"/>
                </a:solidFill>
                <a:latin typeface="Arial"/>
                <a:ea typeface="Arial"/>
                <a:cs typeface="Arial"/>
                <a:sym typeface="Arial"/>
              </a:rPr>
              <a:t>Araştırma yapabilmek için belirli bir düzeyde  uzmanlık ve yapılan araştırmaları  anlayabilmek ve uygulayabilmek ise belirli bir</a:t>
            </a:r>
            <a:endParaRPr sz="2800">
              <a:solidFill>
                <a:schemeClr val="dk1"/>
              </a:solidFill>
              <a:latin typeface="Arial"/>
              <a:ea typeface="Arial"/>
              <a:cs typeface="Arial"/>
              <a:sym typeface="Arial"/>
            </a:endParaRPr>
          </a:p>
        </p:txBody>
      </p:sp>
      <p:sp>
        <p:nvSpPr>
          <p:cNvPr id="217" name="Google Shape;217;p11"/>
          <p:cNvSpPr txBox="1"/>
          <p:nvPr/>
        </p:nvSpPr>
        <p:spPr>
          <a:xfrm>
            <a:off x="2861817" y="2965780"/>
            <a:ext cx="1740535" cy="878840"/>
          </a:xfrm>
          <a:prstGeom prst="rect">
            <a:avLst/>
          </a:prstGeom>
          <a:noFill/>
          <a:ln>
            <a:noFill/>
          </a:ln>
        </p:spPr>
        <p:txBody>
          <a:bodyPr anchorCtr="0" anchor="t" bIns="0" lIns="0" spcFirstLastPara="1" rIns="0" wrap="square" tIns="12050">
            <a:spAutoFit/>
          </a:bodyPr>
          <a:lstStyle/>
          <a:p>
            <a:pPr indent="48895" lvl="0" marL="12700" marR="5080" rtl="0" algn="l">
              <a:lnSpc>
                <a:spcPct val="100000"/>
              </a:lnSpc>
              <a:spcBef>
                <a:spcPts val="0"/>
              </a:spcBef>
              <a:spcAft>
                <a:spcPts val="0"/>
              </a:spcAft>
              <a:buNone/>
            </a:pPr>
            <a:r>
              <a:rPr lang="tr-TR" sz="2800">
                <a:solidFill>
                  <a:schemeClr val="dk1"/>
                </a:solidFill>
                <a:latin typeface="Arial"/>
                <a:ea typeface="Arial"/>
                <a:cs typeface="Arial"/>
                <a:sym typeface="Arial"/>
              </a:rPr>
              <a:t>araştırma  eğitimi	bu</a:t>
            </a:r>
            <a:endParaRPr/>
          </a:p>
        </p:txBody>
      </p:sp>
      <p:sp>
        <p:nvSpPr>
          <p:cNvPr id="218" name="Google Shape;218;p11"/>
          <p:cNvSpPr txBox="1"/>
          <p:nvPr/>
        </p:nvSpPr>
        <p:spPr>
          <a:xfrm>
            <a:off x="6695313" y="2965780"/>
            <a:ext cx="1760220" cy="878840"/>
          </a:xfrm>
          <a:prstGeom prst="rect">
            <a:avLst/>
          </a:prstGeom>
          <a:noFill/>
          <a:ln>
            <a:noFill/>
          </a:ln>
        </p:spPr>
        <p:txBody>
          <a:bodyPr anchorCtr="0" anchor="t" bIns="0" lIns="0" spcFirstLastPara="1" rIns="0" wrap="square" tIns="12050">
            <a:spAutoFit/>
          </a:bodyPr>
          <a:lstStyle/>
          <a:p>
            <a:pPr indent="248284" lvl="0" marL="12700" marR="5080" rtl="0" algn="l">
              <a:lnSpc>
                <a:spcPct val="100000"/>
              </a:lnSpc>
              <a:spcBef>
                <a:spcPts val="0"/>
              </a:spcBef>
              <a:spcAft>
                <a:spcPts val="0"/>
              </a:spcAft>
              <a:buNone/>
            </a:pPr>
            <a:r>
              <a:rPr lang="tr-TR" sz="2800">
                <a:solidFill>
                  <a:schemeClr val="dk1"/>
                </a:solidFill>
                <a:latin typeface="Arial"/>
                <a:ea typeface="Arial"/>
                <a:cs typeface="Arial"/>
                <a:sym typeface="Arial"/>
              </a:rPr>
              <a:t>gerektirir.  ve	kültürü</a:t>
            </a:r>
            <a:endParaRPr sz="2800">
              <a:solidFill>
                <a:schemeClr val="dk1"/>
              </a:solidFill>
              <a:latin typeface="Arial"/>
              <a:ea typeface="Arial"/>
              <a:cs typeface="Arial"/>
              <a:sym typeface="Arial"/>
            </a:endParaRPr>
          </a:p>
        </p:txBody>
      </p:sp>
      <p:sp>
        <p:nvSpPr>
          <p:cNvPr id="219" name="Google Shape;219;p11"/>
          <p:cNvSpPr txBox="1"/>
          <p:nvPr/>
        </p:nvSpPr>
        <p:spPr>
          <a:xfrm>
            <a:off x="3282822" y="3819525"/>
            <a:ext cx="1132840"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tr-TR" sz="2800">
                <a:solidFill>
                  <a:schemeClr val="dk1"/>
                </a:solidFill>
                <a:latin typeface="Arial"/>
                <a:ea typeface="Arial"/>
                <a:cs typeface="Arial"/>
                <a:sym typeface="Arial"/>
              </a:rPr>
              <a:t>yönelik</a:t>
            </a:r>
            <a:endParaRPr sz="2800">
              <a:solidFill>
                <a:schemeClr val="dk1"/>
              </a:solidFill>
              <a:latin typeface="Arial"/>
              <a:ea typeface="Arial"/>
              <a:cs typeface="Arial"/>
              <a:sym typeface="Arial"/>
            </a:endParaRPr>
          </a:p>
        </p:txBody>
      </p:sp>
      <p:sp>
        <p:nvSpPr>
          <p:cNvPr id="220" name="Google Shape;220;p11"/>
          <p:cNvSpPr txBox="1"/>
          <p:nvPr/>
        </p:nvSpPr>
        <p:spPr>
          <a:xfrm>
            <a:off x="4864989" y="2965780"/>
            <a:ext cx="1570990" cy="1305560"/>
          </a:xfrm>
          <a:prstGeom prst="rect">
            <a:avLst/>
          </a:prstGeom>
          <a:noFill/>
          <a:ln>
            <a:noFill/>
          </a:ln>
        </p:spPr>
        <p:txBody>
          <a:bodyPr anchorCtr="0" anchor="t" bIns="0" lIns="0" spcFirstLastPara="1" rIns="0" wrap="square" tIns="12050">
            <a:spAutoFit/>
          </a:bodyPr>
          <a:lstStyle/>
          <a:p>
            <a:pPr indent="80645" lvl="0" marL="12700" marR="5080" rtl="0" algn="just">
              <a:lnSpc>
                <a:spcPct val="100000"/>
              </a:lnSpc>
              <a:spcBef>
                <a:spcPts val="0"/>
              </a:spcBef>
              <a:spcAft>
                <a:spcPts val="0"/>
              </a:spcAft>
              <a:buNone/>
            </a:pPr>
            <a:r>
              <a:rPr lang="tr-TR" sz="2800">
                <a:solidFill>
                  <a:schemeClr val="dk1"/>
                </a:solidFill>
                <a:latin typeface="Arial"/>
                <a:ea typeface="Arial"/>
                <a:cs typeface="Arial"/>
                <a:sym typeface="Arial"/>
              </a:rPr>
              <a:t>kültürünü  uzmanlığı  bilimsel</a:t>
            </a:r>
            <a:endParaRPr sz="2800">
              <a:solidFill>
                <a:schemeClr val="dk1"/>
              </a:solidFill>
              <a:latin typeface="Arial"/>
              <a:ea typeface="Arial"/>
              <a:cs typeface="Arial"/>
              <a:sym typeface="Arial"/>
            </a:endParaRPr>
          </a:p>
        </p:txBody>
      </p:sp>
      <p:sp>
        <p:nvSpPr>
          <p:cNvPr id="221" name="Google Shape;221;p11"/>
          <p:cNvSpPr txBox="1"/>
          <p:nvPr/>
        </p:nvSpPr>
        <p:spPr>
          <a:xfrm>
            <a:off x="6634353" y="3819525"/>
            <a:ext cx="915035"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tr-TR" sz="2800">
                <a:solidFill>
                  <a:schemeClr val="dk1"/>
                </a:solidFill>
                <a:latin typeface="Arial"/>
                <a:ea typeface="Arial"/>
                <a:cs typeface="Arial"/>
                <a:sym typeface="Arial"/>
              </a:rPr>
              <a:t>tutum</a:t>
            </a:r>
            <a:endParaRPr sz="2800">
              <a:solidFill>
                <a:schemeClr val="dk1"/>
              </a:solidFill>
              <a:latin typeface="Arial"/>
              <a:ea typeface="Arial"/>
              <a:cs typeface="Arial"/>
              <a:sym typeface="Arial"/>
            </a:endParaRPr>
          </a:p>
        </p:txBody>
      </p:sp>
      <p:sp>
        <p:nvSpPr>
          <p:cNvPr id="222" name="Google Shape;222;p11"/>
          <p:cNvSpPr txBox="1"/>
          <p:nvPr/>
        </p:nvSpPr>
        <p:spPr>
          <a:xfrm>
            <a:off x="1031544" y="2965780"/>
            <a:ext cx="1786889" cy="1732914"/>
          </a:xfrm>
          <a:prstGeom prst="rect">
            <a:avLst/>
          </a:prstGeom>
          <a:noFill/>
          <a:ln>
            <a:noFill/>
          </a:ln>
        </p:spPr>
        <p:txBody>
          <a:bodyPr anchorCtr="0" anchor="t" bIns="0" lIns="0" spcFirstLastPara="1" rIns="0" wrap="square" tIns="12050">
            <a:spAutoFit/>
          </a:bodyPr>
          <a:lstStyle/>
          <a:p>
            <a:pPr indent="0" lvl="0" marL="12700" marR="224790" rtl="0" algn="l">
              <a:lnSpc>
                <a:spcPct val="100000"/>
              </a:lnSpc>
              <a:spcBef>
                <a:spcPts val="0"/>
              </a:spcBef>
              <a:spcAft>
                <a:spcPts val="0"/>
              </a:spcAft>
              <a:buNone/>
            </a:pPr>
            <a:r>
              <a:rPr lang="tr-TR" sz="2800">
                <a:solidFill>
                  <a:schemeClr val="dk1"/>
                </a:solidFill>
                <a:latin typeface="Arial"/>
                <a:ea typeface="Arial"/>
                <a:cs typeface="Arial"/>
                <a:sym typeface="Arial"/>
              </a:rPr>
              <a:t>düzeyde </a:t>
            </a:r>
            <a:endParaRPr sz="2800">
              <a:solidFill>
                <a:schemeClr val="dk1"/>
              </a:solidFill>
              <a:latin typeface="Arial"/>
              <a:ea typeface="Arial"/>
              <a:cs typeface="Arial"/>
              <a:sym typeface="Arial"/>
            </a:endParaRPr>
          </a:p>
          <a:p>
            <a:pPr indent="0" lvl="0" marL="12700" marR="224790" rtl="0" algn="l">
              <a:lnSpc>
                <a:spcPct val="100000"/>
              </a:lnSpc>
              <a:spcBef>
                <a:spcPts val="95"/>
              </a:spcBef>
              <a:spcAft>
                <a:spcPts val="0"/>
              </a:spcAft>
              <a:buNone/>
            </a:pPr>
            <a:r>
              <a:rPr lang="tr-TR" sz="2800">
                <a:solidFill>
                  <a:schemeClr val="dk1"/>
                </a:solidFill>
                <a:latin typeface="Arial"/>
                <a:ea typeface="Arial"/>
                <a:cs typeface="Arial"/>
                <a:sym typeface="Arial"/>
              </a:rPr>
              <a:t>Araştırma</a:t>
            </a:r>
            <a:endParaRPr sz="2800">
              <a:solidFill>
                <a:schemeClr val="dk1"/>
              </a:solidFill>
              <a:latin typeface="Arial"/>
              <a:ea typeface="Arial"/>
              <a:cs typeface="Arial"/>
              <a:sym typeface="Arial"/>
            </a:endParaRPr>
          </a:p>
          <a:p>
            <a:pPr indent="0" lvl="0" marL="12700" marR="5080" rtl="0" algn="l">
              <a:lnSpc>
                <a:spcPct val="100000"/>
              </a:lnSpc>
              <a:spcBef>
                <a:spcPts val="0"/>
              </a:spcBef>
              <a:spcAft>
                <a:spcPts val="0"/>
              </a:spcAft>
              <a:buNone/>
            </a:pPr>
            <a:r>
              <a:rPr lang="tr-TR" sz="2800">
                <a:solidFill>
                  <a:schemeClr val="dk1"/>
                </a:solidFill>
                <a:latin typeface="Arial"/>
                <a:ea typeface="Arial"/>
                <a:cs typeface="Arial"/>
                <a:sym typeface="Arial"/>
              </a:rPr>
              <a:t>sağlamaya  davranışlar</a:t>
            </a:r>
            <a:endParaRPr sz="2800">
              <a:solidFill>
                <a:schemeClr val="dk1"/>
              </a:solidFill>
              <a:latin typeface="Arial"/>
              <a:ea typeface="Arial"/>
              <a:cs typeface="Arial"/>
              <a:sym typeface="Arial"/>
            </a:endParaRPr>
          </a:p>
        </p:txBody>
      </p:sp>
      <p:sp>
        <p:nvSpPr>
          <p:cNvPr id="223" name="Google Shape;223;p11"/>
          <p:cNvSpPr txBox="1"/>
          <p:nvPr/>
        </p:nvSpPr>
        <p:spPr>
          <a:xfrm>
            <a:off x="3163951" y="3819525"/>
            <a:ext cx="5290185" cy="878840"/>
          </a:xfrm>
          <a:prstGeom prst="rect">
            <a:avLst/>
          </a:prstGeom>
          <a:noFill/>
          <a:ln>
            <a:noFill/>
          </a:ln>
        </p:spPr>
        <p:txBody>
          <a:bodyPr anchorCtr="0" anchor="t" bIns="0" lIns="0" spcFirstLastPara="1" rIns="0" wrap="square" tIns="12050">
            <a:spAutoFit/>
          </a:bodyPr>
          <a:lstStyle/>
          <a:p>
            <a:pPr indent="4887595" lvl="0" marL="12700" marR="5080" rtl="0" algn="l">
              <a:lnSpc>
                <a:spcPct val="100000"/>
              </a:lnSpc>
              <a:spcBef>
                <a:spcPts val="0"/>
              </a:spcBef>
              <a:spcAft>
                <a:spcPts val="0"/>
              </a:spcAft>
              <a:buNone/>
            </a:pPr>
            <a:r>
              <a:rPr lang="tr-TR" sz="2800">
                <a:solidFill>
                  <a:schemeClr val="dk1"/>
                </a:solidFill>
                <a:latin typeface="Arial"/>
                <a:ea typeface="Arial"/>
                <a:cs typeface="Arial"/>
                <a:sym typeface="Arial"/>
              </a:rPr>
              <a:t>ve  ile	araştırma	tekniğine	ilişkin</a:t>
            </a:r>
            <a:endParaRPr sz="2800">
              <a:solidFill>
                <a:schemeClr val="dk1"/>
              </a:solidFill>
              <a:latin typeface="Arial"/>
              <a:ea typeface="Arial"/>
              <a:cs typeface="Arial"/>
              <a:sym typeface="Arial"/>
            </a:endParaRPr>
          </a:p>
        </p:txBody>
      </p:sp>
      <p:sp>
        <p:nvSpPr>
          <p:cNvPr id="224" name="Google Shape;224;p11"/>
          <p:cNvSpPr txBox="1"/>
          <p:nvPr/>
        </p:nvSpPr>
        <p:spPr>
          <a:xfrm>
            <a:off x="1031544" y="4673346"/>
            <a:ext cx="5135880"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tr-TR" sz="2800">
                <a:solidFill>
                  <a:schemeClr val="dk1"/>
                </a:solidFill>
                <a:latin typeface="Arial"/>
                <a:ea typeface="Arial"/>
                <a:cs typeface="Arial"/>
                <a:sym typeface="Arial"/>
              </a:rPr>
              <a:t>yeterlikleri kazandırma sürecidir.</a:t>
            </a:r>
            <a:endParaRPr sz="2800">
              <a:solidFill>
                <a:schemeClr val="dk1"/>
              </a:solidFill>
              <a:latin typeface="Arial"/>
              <a:ea typeface="Arial"/>
              <a:cs typeface="Arial"/>
              <a:sym typeface="Arial"/>
            </a:endParaRPr>
          </a:p>
        </p:txBody>
      </p:sp>
      <p:sp>
        <p:nvSpPr>
          <p:cNvPr id="225" name="Google Shape;225;p1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2"/>
          <p:cNvSpPr txBox="1"/>
          <p:nvPr/>
        </p:nvSpPr>
        <p:spPr>
          <a:xfrm>
            <a:off x="984300" y="2197735"/>
            <a:ext cx="3820160" cy="1988185"/>
          </a:xfrm>
          <a:prstGeom prst="rect">
            <a:avLst/>
          </a:prstGeom>
          <a:noFill/>
          <a:ln>
            <a:noFill/>
          </a:ln>
        </p:spPr>
        <p:txBody>
          <a:bodyPr anchorCtr="0" anchor="t" bIns="0" lIns="0" spcFirstLastPara="1" rIns="0" wrap="square" tIns="12050">
            <a:spAutoFit/>
          </a:bodyPr>
          <a:lstStyle/>
          <a:p>
            <a:pPr indent="0" lvl="0" marL="208915" marR="0" rtl="0" algn="l">
              <a:lnSpc>
                <a:spcPct val="100000"/>
              </a:lnSpc>
              <a:spcBef>
                <a:spcPts val="0"/>
              </a:spcBef>
              <a:spcAft>
                <a:spcPts val="0"/>
              </a:spcAft>
              <a:buNone/>
            </a:pPr>
            <a:r>
              <a:rPr lang="tr-TR" sz="2800">
                <a:solidFill>
                  <a:schemeClr val="dk1"/>
                </a:solidFill>
                <a:latin typeface="Arial"/>
                <a:ea typeface="Arial"/>
                <a:cs typeface="Arial"/>
                <a:sym typeface="Arial"/>
              </a:rPr>
              <a:t>Araştırma Yaklaşımları</a:t>
            </a:r>
            <a:endParaRPr sz="2800">
              <a:solidFill>
                <a:schemeClr val="dk1"/>
              </a:solidFill>
              <a:latin typeface="Arial"/>
              <a:ea typeface="Arial"/>
              <a:cs typeface="Arial"/>
              <a:sym typeface="Arial"/>
            </a:endParaRPr>
          </a:p>
          <a:p>
            <a:pPr indent="0" lvl="0" marL="0" marR="0" rtl="0" algn="l">
              <a:lnSpc>
                <a:spcPct val="100000"/>
              </a:lnSpc>
              <a:spcBef>
                <a:spcPts val="45"/>
              </a:spcBef>
              <a:spcAft>
                <a:spcPts val="0"/>
              </a:spcAft>
              <a:buNone/>
            </a:pPr>
            <a:r>
              <a:t/>
            </a:r>
            <a:endParaRPr sz="4050">
              <a:solidFill>
                <a:schemeClr val="dk1"/>
              </a:solidFill>
              <a:latin typeface="Arial"/>
              <a:ea typeface="Arial"/>
              <a:cs typeface="Arial"/>
              <a:sym typeface="Arial"/>
            </a:endParaRPr>
          </a:p>
          <a:p>
            <a:pPr indent="0" lvl="0" marL="12700" marR="0" rtl="0" algn="l">
              <a:lnSpc>
                <a:spcPct val="100000"/>
              </a:lnSpc>
              <a:spcBef>
                <a:spcPts val="5"/>
              </a:spcBef>
              <a:spcAft>
                <a:spcPts val="0"/>
              </a:spcAft>
              <a:buNone/>
            </a:pPr>
            <a:r>
              <a:rPr lang="tr-TR" sz="2800">
                <a:solidFill>
                  <a:schemeClr val="dk1"/>
                </a:solidFill>
                <a:latin typeface="Arial"/>
                <a:ea typeface="Arial"/>
                <a:cs typeface="Arial"/>
                <a:sym typeface="Arial"/>
              </a:rPr>
              <a:t>–Niceliksel yaklaşım</a:t>
            </a:r>
            <a:endParaRPr sz="2800">
              <a:solidFill>
                <a:schemeClr val="dk1"/>
              </a:solidFill>
              <a:latin typeface="Arial"/>
              <a:ea typeface="Arial"/>
              <a:cs typeface="Arial"/>
              <a:sym typeface="Arial"/>
            </a:endParaRPr>
          </a:p>
          <a:p>
            <a:pPr indent="0" lvl="0" marL="12700" marR="0" rtl="0" algn="l">
              <a:lnSpc>
                <a:spcPct val="100000"/>
              </a:lnSpc>
              <a:spcBef>
                <a:spcPts val="670"/>
              </a:spcBef>
              <a:spcAft>
                <a:spcPts val="0"/>
              </a:spcAft>
              <a:buNone/>
            </a:pPr>
            <a:r>
              <a:rPr lang="tr-TR" sz="2800">
                <a:solidFill>
                  <a:schemeClr val="dk1"/>
                </a:solidFill>
                <a:latin typeface="Arial"/>
                <a:ea typeface="Arial"/>
                <a:cs typeface="Arial"/>
                <a:sym typeface="Arial"/>
              </a:rPr>
              <a:t>–Niteliksel yaklaşım</a:t>
            </a:r>
            <a:endParaRPr sz="2800">
              <a:solidFill>
                <a:schemeClr val="dk1"/>
              </a:solidFill>
              <a:latin typeface="Arial"/>
              <a:ea typeface="Arial"/>
              <a:cs typeface="Arial"/>
              <a:sym typeface="Arial"/>
            </a:endParaRPr>
          </a:p>
        </p:txBody>
      </p:sp>
      <p:sp>
        <p:nvSpPr>
          <p:cNvPr id="231" name="Google Shape;231;p1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pic>
        <p:nvPicPr>
          <p:cNvPr id="232" name="Google Shape;232;p12"/>
          <p:cNvPicPr preferRelativeResize="0"/>
          <p:nvPr/>
        </p:nvPicPr>
        <p:blipFill rotWithShape="1">
          <a:blip r:embed="rId3">
            <a:alphaModFix/>
          </a:blip>
          <a:srcRect b="0" l="0" r="0" t="0"/>
          <a:stretch/>
        </p:blipFill>
        <p:spPr>
          <a:xfrm>
            <a:off x="5029200" y="2218250"/>
            <a:ext cx="3560593" cy="172329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3"/>
          <p:cNvSpPr txBox="1"/>
          <p:nvPr/>
        </p:nvSpPr>
        <p:spPr>
          <a:xfrm>
            <a:off x="984300" y="2258694"/>
            <a:ext cx="7313930" cy="3992631"/>
          </a:xfrm>
          <a:prstGeom prst="rect">
            <a:avLst/>
          </a:prstGeom>
          <a:noFill/>
          <a:ln>
            <a:noFill/>
          </a:ln>
        </p:spPr>
        <p:txBody>
          <a:bodyPr anchorCtr="0" anchor="t" bIns="0" lIns="0" spcFirstLastPara="1" rIns="0" wrap="square" tIns="7600">
            <a:spAutoFit/>
          </a:bodyPr>
          <a:lstStyle/>
          <a:p>
            <a:pPr indent="-5079" lvl="0" marL="59689" marR="5080" rtl="0" algn="l">
              <a:lnSpc>
                <a:spcPct val="101000"/>
              </a:lnSpc>
              <a:spcBef>
                <a:spcPts val="0"/>
              </a:spcBef>
              <a:spcAft>
                <a:spcPts val="0"/>
              </a:spcAft>
              <a:buNone/>
            </a:pPr>
            <a:r>
              <a:rPr b="1" lang="tr-TR" sz="2800">
                <a:solidFill>
                  <a:schemeClr val="dk1"/>
                </a:solidFill>
                <a:latin typeface="Arial"/>
                <a:ea typeface="Arial"/>
                <a:cs typeface="Arial"/>
                <a:sym typeface="Arial"/>
              </a:rPr>
              <a:t>Nicel Araştırma,</a:t>
            </a:r>
            <a:r>
              <a:rPr lang="tr-TR" sz="2800">
                <a:solidFill>
                  <a:schemeClr val="dk1"/>
                </a:solidFill>
                <a:latin typeface="Arial"/>
                <a:ea typeface="Arial"/>
                <a:cs typeface="Arial"/>
                <a:sym typeface="Arial"/>
              </a:rPr>
              <a:t>olgu ve olayları  nesnelleştirerek gözlemlenebilir, ölçülebilir ve  sayısal olarak ifade edilebilir bir şekilde ortaya  koyan bir araştırma türleridir.</a:t>
            </a:r>
            <a:endParaRPr sz="2800">
              <a:solidFill>
                <a:schemeClr val="dk1"/>
              </a:solidFill>
              <a:latin typeface="Arial"/>
              <a:ea typeface="Arial"/>
              <a:cs typeface="Arial"/>
              <a:sym typeface="Arial"/>
            </a:endParaRPr>
          </a:p>
          <a:p>
            <a:pPr indent="-47624" lvl="0" marL="59689" marR="923289" rtl="0" algn="l">
              <a:lnSpc>
                <a:spcPct val="100000"/>
              </a:lnSpc>
              <a:spcBef>
                <a:spcPts val="675"/>
              </a:spcBef>
              <a:spcAft>
                <a:spcPts val="0"/>
              </a:spcAft>
              <a:buNone/>
            </a:pPr>
            <a:r>
              <a:rPr b="1" lang="tr-TR" sz="2800">
                <a:solidFill>
                  <a:schemeClr val="dk1"/>
                </a:solidFill>
                <a:latin typeface="Arial"/>
                <a:ea typeface="Arial"/>
                <a:cs typeface="Arial"/>
                <a:sym typeface="Arial"/>
              </a:rPr>
              <a:t>Amaç</a:t>
            </a:r>
            <a:r>
              <a:rPr lang="tr-TR" sz="2800">
                <a:solidFill>
                  <a:schemeClr val="dk1"/>
                </a:solidFill>
                <a:latin typeface="Arial"/>
                <a:ea typeface="Arial"/>
                <a:cs typeface="Arial"/>
                <a:sym typeface="Arial"/>
              </a:rPr>
              <a:t>:Bireylerin toplumsal davranışlarını  gözlem, deney ve test yoluyla nesnel bir  şekilde ölçmek ve sayısal verilerle</a:t>
            </a:r>
            <a:endParaRPr sz="2800">
              <a:solidFill>
                <a:schemeClr val="dk1"/>
              </a:solidFill>
              <a:latin typeface="Arial"/>
              <a:ea typeface="Arial"/>
              <a:cs typeface="Arial"/>
              <a:sym typeface="Arial"/>
            </a:endParaRPr>
          </a:p>
          <a:p>
            <a:pPr indent="0" lvl="0" marL="59689" marR="0" rtl="0" algn="l">
              <a:lnSpc>
                <a:spcPct val="100000"/>
              </a:lnSpc>
              <a:spcBef>
                <a:spcPts val="5"/>
              </a:spcBef>
              <a:spcAft>
                <a:spcPts val="0"/>
              </a:spcAft>
              <a:buNone/>
            </a:pPr>
            <a:r>
              <a:rPr lang="tr-TR" sz="2800">
                <a:solidFill>
                  <a:schemeClr val="dk1"/>
                </a:solidFill>
                <a:latin typeface="Arial"/>
                <a:ea typeface="Arial"/>
                <a:cs typeface="Arial"/>
                <a:sym typeface="Arial"/>
              </a:rPr>
              <a:t>açıklamaktır.</a:t>
            </a:r>
            <a:endParaRPr sz="2800">
              <a:solidFill>
                <a:schemeClr val="dk1"/>
              </a:solidFill>
              <a:latin typeface="Arial"/>
              <a:ea typeface="Arial"/>
              <a:cs typeface="Arial"/>
              <a:sym typeface="Arial"/>
            </a:endParaRPr>
          </a:p>
        </p:txBody>
      </p:sp>
      <p:sp>
        <p:nvSpPr>
          <p:cNvPr id="238" name="Google Shape;238;p1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4"/>
          <p:cNvSpPr txBox="1"/>
          <p:nvPr/>
        </p:nvSpPr>
        <p:spPr>
          <a:xfrm>
            <a:off x="1031544" y="2008758"/>
            <a:ext cx="7327900" cy="3951604"/>
          </a:xfrm>
          <a:prstGeom prst="rect">
            <a:avLst/>
          </a:prstGeom>
          <a:noFill/>
          <a:ln>
            <a:noFill/>
          </a:ln>
        </p:spPr>
        <p:txBody>
          <a:bodyPr anchorCtr="0" anchor="t" bIns="0" lIns="0" spcFirstLastPara="1" rIns="0" wrap="square" tIns="97150">
            <a:spAutoFit/>
          </a:bodyPr>
          <a:lstStyle/>
          <a:p>
            <a:pPr indent="50164" lvl="0" marL="12700" marR="5080" rtl="0" algn="l">
              <a:lnSpc>
                <a:spcPct val="80000"/>
              </a:lnSpc>
              <a:spcBef>
                <a:spcPts val="0"/>
              </a:spcBef>
              <a:spcAft>
                <a:spcPts val="0"/>
              </a:spcAft>
              <a:buNone/>
            </a:pPr>
            <a:r>
              <a:rPr b="1" lang="tr-TR" sz="2800">
                <a:solidFill>
                  <a:schemeClr val="dk1"/>
                </a:solidFill>
                <a:latin typeface="Arial"/>
                <a:ea typeface="Arial"/>
                <a:cs typeface="Arial"/>
                <a:sym typeface="Arial"/>
              </a:rPr>
              <a:t>Nitel Araştırma</a:t>
            </a:r>
            <a:r>
              <a:rPr lang="tr-TR" sz="2800">
                <a:solidFill>
                  <a:schemeClr val="dk1"/>
                </a:solidFill>
                <a:latin typeface="Arial"/>
                <a:ea typeface="Arial"/>
                <a:cs typeface="Arial"/>
                <a:sym typeface="Arial"/>
              </a:rPr>
              <a:t>, gözlem, görüşme ve  doküman analizi gibi nitel veri toplama  yöntemlerinin kullanıldığı, algıların ve olayların  doğal ortamda gerçekçi ve bütüncül bir  biçimde ortaya konmasına yönelik bir sürecin  izlendiği araştırma türüdür.</a:t>
            </a:r>
            <a:endParaRPr sz="2800">
              <a:solidFill>
                <a:schemeClr val="dk1"/>
              </a:solidFill>
              <a:latin typeface="Arial"/>
              <a:ea typeface="Arial"/>
              <a:cs typeface="Arial"/>
              <a:sym typeface="Arial"/>
            </a:endParaRPr>
          </a:p>
          <a:p>
            <a:pPr indent="50164" lvl="0" marL="12700" marR="251459" rtl="0" algn="l">
              <a:lnSpc>
                <a:spcPct val="80000"/>
              </a:lnSpc>
              <a:spcBef>
                <a:spcPts val="675"/>
              </a:spcBef>
              <a:spcAft>
                <a:spcPts val="0"/>
              </a:spcAft>
              <a:buNone/>
            </a:pPr>
            <a:r>
              <a:rPr b="1" lang="tr-TR" sz="2800">
                <a:solidFill>
                  <a:schemeClr val="dk1"/>
                </a:solidFill>
                <a:latin typeface="Arial"/>
                <a:ea typeface="Arial"/>
                <a:cs typeface="Arial"/>
                <a:sym typeface="Arial"/>
              </a:rPr>
              <a:t>Amaç</a:t>
            </a:r>
            <a:r>
              <a:rPr lang="tr-TR" sz="2800">
                <a:solidFill>
                  <a:schemeClr val="dk1"/>
                </a:solidFill>
                <a:latin typeface="Arial"/>
                <a:ea typeface="Arial"/>
                <a:cs typeface="Arial"/>
                <a:sym typeface="Arial"/>
              </a:rPr>
              <a:t>:İnsanların kendi toplumsal dünyalarını  nasıl kurmakta,oluşturmakta olduğunu  anlamak ve içinde yaşadıkları toplumsal  dünyayı nasıl algıladıklarını yorumlamaya  çalışmaktır.</a:t>
            </a:r>
            <a:endParaRPr sz="2800">
              <a:solidFill>
                <a:schemeClr val="dk1"/>
              </a:solidFill>
              <a:latin typeface="Arial"/>
              <a:ea typeface="Arial"/>
              <a:cs typeface="Arial"/>
              <a:sym typeface="Arial"/>
            </a:endParaRPr>
          </a:p>
        </p:txBody>
      </p:sp>
      <p:sp>
        <p:nvSpPr>
          <p:cNvPr id="244" name="Google Shape;244;p1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5"/>
          <p:cNvSpPr txBox="1"/>
          <p:nvPr>
            <p:ph type="title"/>
          </p:nvPr>
        </p:nvSpPr>
        <p:spPr>
          <a:xfrm>
            <a:off x="984300" y="2642742"/>
            <a:ext cx="625221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tr-TR"/>
              <a:t>İki Yaklaşım Arasındaki Temel Farklılık:</a:t>
            </a:r>
            <a:endParaRPr/>
          </a:p>
        </p:txBody>
      </p:sp>
      <p:sp>
        <p:nvSpPr>
          <p:cNvPr id="250" name="Google Shape;250;p15"/>
          <p:cNvSpPr txBox="1"/>
          <p:nvPr/>
        </p:nvSpPr>
        <p:spPr>
          <a:xfrm>
            <a:off x="984300" y="3581780"/>
            <a:ext cx="7088505" cy="2126615"/>
          </a:xfrm>
          <a:prstGeom prst="rect">
            <a:avLst/>
          </a:prstGeom>
          <a:noFill/>
          <a:ln>
            <a:noFill/>
          </a:ln>
        </p:spPr>
        <p:txBody>
          <a:bodyPr anchorCtr="0" anchor="t" bIns="0" lIns="0" spcFirstLastPara="1" rIns="0" wrap="square" tIns="60950">
            <a:spAutoFit/>
          </a:bodyPr>
          <a:lstStyle/>
          <a:p>
            <a:pPr indent="-47624" lvl="0" marL="59689" marR="736600" rtl="0" algn="just">
              <a:lnSpc>
                <a:spcPct val="107857"/>
              </a:lnSpc>
              <a:spcBef>
                <a:spcPts val="0"/>
              </a:spcBef>
              <a:spcAft>
                <a:spcPts val="0"/>
              </a:spcAft>
              <a:buNone/>
            </a:pPr>
            <a:r>
              <a:rPr b="1" lang="tr-TR" sz="2800">
                <a:solidFill>
                  <a:schemeClr val="dk1"/>
                </a:solidFill>
                <a:latin typeface="Arial"/>
                <a:ea typeface="Arial"/>
                <a:cs typeface="Arial"/>
                <a:sym typeface="Arial"/>
              </a:rPr>
              <a:t>Nitel araştırma</a:t>
            </a:r>
            <a:r>
              <a:rPr lang="tr-TR" sz="2800">
                <a:solidFill>
                  <a:schemeClr val="dk1"/>
                </a:solidFill>
                <a:latin typeface="Arial"/>
                <a:ea typeface="Arial"/>
                <a:cs typeface="Arial"/>
                <a:sym typeface="Arial"/>
              </a:rPr>
              <a:t>Niçin? Nasıl? Ne şekilde  sorularına yanıt arar.</a:t>
            </a:r>
            <a:endParaRPr sz="2800">
              <a:solidFill>
                <a:schemeClr val="dk1"/>
              </a:solidFill>
              <a:latin typeface="Arial"/>
              <a:ea typeface="Arial"/>
              <a:cs typeface="Arial"/>
              <a:sym typeface="Arial"/>
            </a:endParaRPr>
          </a:p>
          <a:p>
            <a:pPr indent="50164" lvl="0" marL="59689" marR="5080" rtl="0" algn="just">
              <a:lnSpc>
                <a:spcPct val="89700"/>
              </a:lnSpc>
              <a:spcBef>
                <a:spcPts val="645"/>
              </a:spcBef>
              <a:spcAft>
                <a:spcPts val="0"/>
              </a:spcAft>
              <a:buNone/>
            </a:pPr>
            <a:r>
              <a:rPr b="1" lang="tr-TR" sz="2800">
                <a:solidFill>
                  <a:schemeClr val="dk1"/>
                </a:solidFill>
                <a:latin typeface="Arial"/>
                <a:ea typeface="Arial"/>
                <a:cs typeface="Arial"/>
                <a:sym typeface="Arial"/>
              </a:rPr>
              <a:t>Nicel araştırma</a:t>
            </a:r>
            <a:r>
              <a:rPr lang="tr-TR" sz="2800">
                <a:solidFill>
                  <a:schemeClr val="dk1"/>
                </a:solidFill>
                <a:latin typeface="Arial"/>
                <a:ea typeface="Arial"/>
                <a:cs typeface="Arial"/>
                <a:sym typeface="Arial"/>
              </a:rPr>
              <a:t>Ne kadar? Ne miktarda? Ne  kadar sık, Ne kadar yaygın? sorularına yanıt  arar</a:t>
            </a:r>
            <a:r>
              <a:rPr lang="tr-TR" sz="3200">
                <a:solidFill>
                  <a:schemeClr val="dk1"/>
                </a:solidFill>
                <a:latin typeface="Arial"/>
                <a:ea typeface="Arial"/>
                <a:cs typeface="Arial"/>
                <a:sym typeface="Arial"/>
              </a:rPr>
              <a:t>.</a:t>
            </a:r>
            <a:endParaRPr/>
          </a:p>
        </p:txBody>
      </p:sp>
      <p:sp>
        <p:nvSpPr>
          <p:cNvPr id="251" name="Google Shape;251;p1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6"/>
          <p:cNvSpPr txBox="1"/>
          <p:nvPr/>
        </p:nvSpPr>
        <p:spPr>
          <a:xfrm>
            <a:off x="984300" y="2520823"/>
            <a:ext cx="5086350" cy="326897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tr-TR" sz="2800">
                <a:solidFill>
                  <a:schemeClr val="dk1"/>
                </a:solidFill>
                <a:latin typeface="Arial"/>
                <a:ea typeface="Arial"/>
                <a:cs typeface="Arial"/>
                <a:sym typeface="Arial"/>
              </a:rPr>
              <a:t>Niceliksel Araştırma Modelleri</a:t>
            </a:r>
            <a:endParaRPr sz="2800">
              <a:solidFill>
                <a:schemeClr val="dk1"/>
              </a:solidFill>
              <a:latin typeface="Arial"/>
              <a:ea typeface="Arial"/>
              <a:cs typeface="Arial"/>
              <a:sym typeface="Arial"/>
            </a:endParaRPr>
          </a:p>
          <a:p>
            <a:pPr indent="0" lvl="0" marL="0" marR="0" rtl="0" algn="l">
              <a:lnSpc>
                <a:spcPct val="100000"/>
              </a:lnSpc>
              <a:spcBef>
                <a:spcPts val="10"/>
              </a:spcBef>
              <a:spcAft>
                <a:spcPts val="0"/>
              </a:spcAft>
              <a:buNone/>
            </a:pPr>
            <a:r>
              <a:t/>
            </a:r>
            <a:endParaRPr sz="350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lang="tr-TR" sz="2800">
                <a:solidFill>
                  <a:schemeClr val="dk1"/>
                </a:solidFill>
                <a:latin typeface="Arial"/>
                <a:ea typeface="Arial"/>
                <a:cs typeface="Arial"/>
                <a:sym typeface="Arial"/>
              </a:rPr>
              <a:t>•Deneysel model</a:t>
            </a:r>
            <a:endParaRPr sz="2800">
              <a:solidFill>
                <a:schemeClr val="dk1"/>
              </a:solidFill>
              <a:latin typeface="Arial"/>
              <a:ea typeface="Arial"/>
              <a:cs typeface="Arial"/>
              <a:sym typeface="Arial"/>
            </a:endParaRPr>
          </a:p>
          <a:p>
            <a:pPr indent="0" lvl="0" marL="12700" marR="0" rtl="0" algn="l">
              <a:lnSpc>
                <a:spcPct val="100000"/>
              </a:lnSpc>
              <a:spcBef>
                <a:spcPts val="335"/>
              </a:spcBef>
              <a:spcAft>
                <a:spcPts val="0"/>
              </a:spcAft>
              <a:buNone/>
            </a:pPr>
            <a:r>
              <a:rPr lang="tr-TR" sz="2800">
                <a:solidFill>
                  <a:schemeClr val="dk1"/>
                </a:solidFill>
                <a:latin typeface="Arial"/>
                <a:ea typeface="Arial"/>
                <a:cs typeface="Arial"/>
                <a:sym typeface="Arial"/>
              </a:rPr>
              <a:t>•Betimsel model</a:t>
            </a:r>
            <a:endParaRPr sz="2800">
              <a:solidFill>
                <a:schemeClr val="dk1"/>
              </a:solidFill>
              <a:latin typeface="Arial"/>
              <a:ea typeface="Arial"/>
              <a:cs typeface="Arial"/>
              <a:sym typeface="Arial"/>
            </a:endParaRPr>
          </a:p>
          <a:p>
            <a:pPr indent="0" lvl="0" marL="12700" marR="0" rtl="0" algn="l">
              <a:lnSpc>
                <a:spcPct val="100000"/>
              </a:lnSpc>
              <a:spcBef>
                <a:spcPts val="340"/>
              </a:spcBef>
              <a:spcAft>
                <a:spcPts val="0"/>
              </a:spcAft>
              <a:buNone/>
            </a:pPr>
            <a:r>
              <a:rPr lang="tr-TR" sz="2800">
                <a:solidFill>
                  <a:schemeClr val="dk1"/>
                </a:solidFill>
                <a:latin typeface="Arial"/>
                <a:ea typeface="Arial"/>
                <a:cs typeface="Arial"/>
                <a:sym typeface="Arial"/>
              </a:rPr>
              <a:t>•Bağıntısal model</a:t>
            </a:r>
            <a:endParaRPr sz="2800">
              <a:solidFill>
                <a:schemeClr val="dk1"/>
              </a:solidFill>
              <a:latin typeface="Arial"/>
              <a:ea typeface="Arial"/>
              <a:cs typeface="Arial"/>
              <a:sym typeface="Arial"/>
            </a:endParaRPr>
          </a:p>
          <a:p>
            <a:pPr indent="0" lvl="0" marL="12700" marR="0" rtl="0" algn="l">
              <a:lnSpc>
                <a:spcPct val="100000"/>
              </a:lnSpc>
              <a:spcBef>
                <a:spcPts val="335"/>
              </a:spcBef>
              <a:spcAft>
                <a:spcPts val="0"/>
              </a:spcAft>
              <a:buNone/>
            </a:pPr>
            <a:r>
              <a:rPr lang="tr-TR" sz="2800">
                <a:solidFill>
                  <a:schemeClr val="dk1"/>
                </a:solidFill>
                <a:latin typeface="Arial"/>
                <a:ea typeface="Arial"/>
                <a:cs typeface="Arial"/>
                <a:sym typeface="Arial"/>
              </a:rPr>
              <a:t>•Nedensel-Karşılaştırma modeli</a:t>
            </a:r>
            <a:endParaRPr sz="2800">
              <a:solidFill>
                <a:schemeClr val="dk1"/>
              </a:solidFill>
              <a:latin typeface="Arial"/>
              <a:ea typeface="Arial"/>
              <a:cs typeface="Arial"/>
              <a:sym typeface="Arial"/>
            </a:endParaRPr>
          </a:p>
          <a:p>
            <a:pPr indent="0" lvl="0" marL="12700" marR="0" rtl="0" algn="l">
              <a:lnSpc>
                <a:spcPct val="100000"/>
              </a:lnSpc>
              <a:spcBef>
                <a:spcPts val="340"/>
              </a:spcBef>
              <a:spcAft>
                <a:spcPts val="0"/>
              </a:spcAft>
              <a:buNone/>
            </a:pPr>
            <a:r>
              <a:rPr lang="tr-TR" sz="2800">
                <a:solidFill>
                  <a:schemeClr val="dk1"/>
                </a:solidFill>
                <a:latin typeface="Arial"/>
                <a:ea typeface="Arial"/>
                <a:cs typeface="Arial"/>
                <a:sym typeface="Arial"/>
              </a:rPr>
              <a:t>•Tarihsel Yöntem</a:t>
            </a:r>
            <a:endParaRPr sz="2800">
              <a:solidFill>
                <a:schemeClr val="dk1"/>
              </a:solidFill>
              <a:latin typeface="Arial"/>
              <a:ea typeface="Arial"/>
              <a:cs typeface="Arial"/>
              <a:sym typeface="Arial"/>
            </a:endParaRPr>
          </a:p>
        </p:txBody>
      </p:sp>
      <p:sp>
        <p:nvSpPr>
          <p:cNvPr id="257" name="Google Shape;257;p1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7"/>
          <p:cNvSpPr txBox="1"/>
          <p:nvPr/>
        </p:nvSpPr>
        <p:spPr>
          <a:xfrm>
            <a:off x="688340" y="2392806"/>
            <a:ext cx="6859270" cy="3395160"/>
          </a:xfrm>
          <a:prstGeom prst="rect">
            <a:avLst/>
          </a:prstGeom>
          <a:noFill/>
          <a:ln>
            <a:noFill/>
          </a:ln>
        </p:spPr>
        <p:txBody>
          <a:bodyPr anchorCtr="0" anchor="t" bIns="0" lIns="0" spcFirstLastPara="1" rIns="0" wrap="square" tIns="12050">
            <a:spAutoFit/>
          </a:bodyPr>
          <a:lstStyle/>
          <a:p>
            <a:pPr indent="0" lvl="0" marL="405765" marR="0" rtl="0" algn="l">
              <a:lnSpc>
                <a:spcPct val="100000"/>
              </a:lnSpc>
              <a:spcBef>
                <a:spcPts val="0"/>
              </a:spcBef>
              <a:spcAft>
                <a:spcPts val="0"/>
              </a:spcAft>
              <a:buNone/>
            </a:pPr>
            <a:r>
              <a:rPr b="1" lang="tr-TR" sz="2800">
                <a:solidFill>
                  <a:schemeClr val="dk1"/>
                </a:solidFill>
                <a:latin typeface="Arial"/>
                <a:ea typeface="Arial"/>
                <a:cs typeface="Arial"/>
                <a:sym typeface="Arial"/>
              </a:rPr>
              <a:t>Niteliksel Araştırma Modelleri</a:t>
            </a:r>
            <a:endParaRPr sz="2800">
              <a:solidFill>
                <a:schemeClr val="dk1"/>
              </a:solidFill>
              <a:latin typeface="Arial"/>
              <a:ea typeface="Arial"/>
              <a:cs typeface="Arial"/>
              <a:sym typeface="Arial"/>
            </a:endParaRPr>
          </a:p>
          <a:p>
            <a:pPr indent="0" lvl="0" marL="0" marR="0" rtl="0" algn="l">
              <a:lnSpc>
                <a:spcPct val="100000"/>
              </a:lnSpc>
              <a:spcBef>
                <a:spcPts val="25"/>
              </a:spcBef>
              <a:spcAft>
                <a:spcPts val="0"/>
              </a:spcAft>
              <a:buNone/>
            </a:pPr>
            <a:r>
              <a:t/>
            </a:r>
            <a:endParaRPr sz="29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Fenomenoloji</a:t>
            </a:r>
            <a:endParaRPr sz="2800">
              <a:solidFill>
                <a:schemeClr val="dk1"/>
              </a:solidFill>
              <a:latin typeface="Arial"/>
              <a:ea typeface="Arial"/>
              <a:cs typeface="Arial"/>
              <a:sym typeface="Arial"/>
            </a:endParaRPr>
          </a:p>
          <a:p>
            <a:pPr indent="-442595" lvl="0" marL="454659"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Etnografi</a:t>
            </a:r>
            <a:endParaRPr sz="2800">
              <a:solidFill>
                <a:schemeClr val="dk1"/>
              </a:solidFill>
              <a:latin typeface="Arial"/>
              <a:ea typeface="Arial"/>
              <a:cs typeface="Arial"/>
              <a:sym typeface="Arial"/>
            </a:endParaRPr>
          </a:p>
          <a:p>
            <a:pPr indent="-343535" lvl="0" marL="355600" marR="0" rtl="0" algn="l">
              <a:lnSpc>
                <a:spcPct val="100000"/>
              </a:lnSpc>
              <a:spcBef>
                <a:spcPts val="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Gömülü teori</a:t>
            </a:r>
            <a:endParaRPr sz="28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Örnek olay</a:t>
            </a:r>
            <a:endParaRPr sz="2800">
              <a:solidFill>
                <a:schemeClr val="dk1"/>
              </a:solidFill>
              <a:latin typeface="Arial"/>
              <a:ea typeface="Arial"/>
              <a:cs typeface="Arial"/>
              <a:sym typeface="Arial"/>
            </a:endParaRPr>
          </a:p>
          <a:p>
            <a:pPr indent="-343535" lvl="0" marL="355600" marR="5080" rtl="0" algn="l">
              <a:lnSpc>
                <a:spcPct val="96071"/>
              </a:lnSpc>
              <a:spcBef>
                <a:spcPts val="65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Saha Taraması(Niteliksel ya da niceliksel  olabilir)</a:t>
            </a:r>
            <a:endParaRPr/>
          </a:p>
        </p:txBody>
      </p:sp>
      <p:sp>
        <p:nvSpPr>
          <p:cNvPr id="263" name="Google Shape;263;p1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8"/>
          <p:cNvSpPr txBox="1"/>
          <p:nvPr>
            <p:ph type="title"/>
          </p:nvPr>
        </p:nvSpPr>
        <p:spPr>
          <a:xfrm>
            <a:off x="274116" y="337769"/>
            <a:ext cx="3763010" cy="6661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tr-TR" sz="4200">
                <a:solidFill>
                  <a:srgbClr val="FFFFFF"/>
                </a:solidFill>
              </a:rPr>
              <a:t>Bilimsel yöntem</a:t>
            </a:r>
            <a:endParaRPr sz="4200"/>
          </a:p>
        </p:txBody>
      </p:sp>
      <p:sp>
        <p:nvSpPr>
          <p:cNvPr id="269" name="Google Shape;269;p18"/>
          <p:cNvSpPr txBox="1"/>
          <p:nvPr/>
        </p:nvSpPr>
        <p:spPr>
          <a:xfrm>
            <a:off x="984300" y="1581734"/>
            <a:ext cx="7394575" cy="3695700"/>
          </a:xfrm>
          <a:prstGeom prst="rect">
            <a:avLst/>
          </a:prstGeom>
          <a:noFill/>
          <a:ln>
            <a:noFill/>
          </a:ln>
        </p:spPr>
        <p:txBody>
          <a:bodyPr anchorCtr="0" anchor="t" bIns="0" lIns="0" spcFirstLastPara="1" rIns="0" wrap="square" tIns="60950">
            <a:spAutoFit/>
          </a:bodyPr>
          <a:lstStyle/>
          <a:p>
            <a:pPr indent="50164" lvl="0" marL="59689" marR="5080" rtl="0" algn="l">
              <a:lnSpc>
                <a:spcPct val="107857"/>
              </a:lnSpc>
              <a:spcBef>
                <a:spcPts val="0"/>
              </a:spcBef>
              <a:spcAft>
                <a:spcPts val="0"/>
              </a:spcAft>
              <a:buNone/>
            </a:pPr>
            <a:r>
              <a:rPr lang="tr-TR" sz="2800">
                <a:solidFill>
                  <a:schemeClr val="dk1"/>
                </a:solidFill>
                <a:latin typeface="Arial"/>
                <a:ea typeface="Arial"/>
                <a:cs typeface="Arial"/>
                <a:sym typeface="Arial"/>
              </a:rPr>
              <a:t>Bilimsel bilgi elde etmek için izlenen yol/süreç  ya da problem çözmek için izlenen düzenli yol.</a:t>
            </a:r>
            <a:endParaRPr sz="2800">
              <a:solidFill>
                <a:schemeClr val="dk1"/>
              </a:solidFill>
              <a:latin typeface="Arial"/>
              <a:ea typeface="Arial"/>
              <a:cs typeface="Arial"/>
              <a:sym typeface="Arial"/>
            </a:endParaRPr>
          </a:p>
          <a:p>
            <a:pPr indent="-47624" lvl="0" marL="59689" marR="621030" rtl="0" algn="l">
              <a:lnSpc>
                <a:spcPct val="90000"/>
              </a:lnSpc>
              <a:spcBef>
                <a:spcPts val="635"/>
              </a:spcBef>
              <a:spcAft>
                <a:spcPts val="0"/>
              </a:spcAft>
              <a:buNone/>
            </a:pPr>
            <a:r>
              <a:rPr lang="tr-TR" sz="2800">
                <a:solidFill>
                  <a:schemeClr val="dk1"/>
                </a:solidFill>
                <a:latin typeface="Arial"/>
                <a:ea typeface="Arial"/>
                <a:cs typeface="Arial"/>
                <a:sym typeface="Arial"/>
              </a:rPr>
              <a:t>Temel nitelikleri; açık seçik, denetlenebilir,  yansız, seçici (gelişigüzel değil), deneyici,  duyarlığı yüksek, güvenilir, tekrar edilebilir,  geçerli ve inandırıcı olmasıdır.</a:t>
            </a:r>
            <a:endParaRPr sz="2800">
              <a:solidFill>
                <a:schemeClr val="dk1"/>
              </a:solidFill>
              <a:latin typeface="Arial"/>
              <a:ea typeface="Arial"/>
              <a:cs typeface="Arial"/>
              <a:sym typeface="Arial"/>
            </a:endParaRPr>
          </a:p>
          <a:p>
            <a:pPr indent="50164" lvl="0" marL="59689" marR="614045" rtl="0" algn="l">
              <a:lnSpc>
                <a:spcPct val="90000"/>
              </a:lnSpc>
              <a:spcBef>
                <a:spcPts val="670"/>
              </a:spcBef>
              <a:spcAft>
                <a:spcPts val="0"/>
              </a:spcAft>
              <a:buNone/>
            </a:pPr>
            <a:r>
              <a:rPr lang="tr-TR" sz="2800">
                <a:solidFill>
                  <a:schemeClr val="dk1"/>
                </a:solidFill>
                <a:latin typeface="Arial"/>
                <a:ea typeface="Arial"/>
                <a:cs typeface="Arial"/>
                <a:sym typeface="Arial"/>
              </a:rPr>
              <a:t>Bilimsel yöntemin bugünkü anlamda  biçimlendirilişini </a:t>
            </a:r>
            <a:r>
              <a:rPr i="1" lang="tr-TR" sz="2800">
                <a:solidFill>
                  <a:schemeClr val="dk1"/>
                </a:solidFill>
                <a:latin typeface="Arial"/>
                <a:ea typeface="Arial"/>
                <a:cs typeface="Arial"/>
                <a:sym typeface="Arial"/>
              </a:rPr>
              <a:t>John Dewey </a:t>
            </a:r>
            <a:r>
              <a:rPr lang="tr-TR" sz="2800">
                <a:solidFill>
                  <a:schemeClr val="dk1"/>
                </a:solidFill>
                <a:latin typeface="Arial"/>
                <a:ea typeface="Arial"/>
                <a:cs typeface="Arial"/>
                <a:sym typeface="Arial"/>
              </a:rPr>
              <a:t>ile başlatmak  mümkündür.</a:t>
            </a:r>
            <a:endParaRPr sz="2800">
              <a:solidFill>
                <a:schemeClr val="dk1"/>
              </a:solidFill>
              <a:latin typeface="Arial"/>
              <a:ea typeface="Arial"/>
              <a:cs typeface="Arial"/>
              <a:sym typeface="Arial"/>
            </a:endParaRPr>
          </a:p>
        </p:txBody>
      </p:sp>
      <p:sp>
        <p:nvSpPr>
          <p:cNvPr id="270" name="Google Shape;270;p1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19"/>
          <p:cNvPicPr preferRelativeResize="0"/>
          <p:nvPr/>
        </p:nvPicPr>
        <p:blipFill rotWithShape="1">
          <a:blip r:embed="rId3">
            <a:alphaModFix/>
          </a:blip>
          <a:srcRect b="0" l="0" r="0" t="0"/>
          <a:stretch/>
        </p:blipFill>
        <p:spPr>
          <a:xfrm>
            <a:off x="228600" y="1752600"/>
            <a:ext cx="4191000" cy="4267200"/>
          </a:xfrm>
          <a:prstGeom prst="rect">
            <a:avLst/>
          </a:prstGeom>
          <a:noFill/>
          <a:ln>
            <a:noFill/>
          </a:ln>
        </p:spPr>
      </p:pic>
      <p:pic>
        <p:nvPicPr>
          <p:cNvPr id="276" name="Google Shape;276;p19"/>
          <p:cNvPicPr preferRelativeResize="0"/>
          <p:nvPr/>
        </p:nvPicPr>
        <p:blipFill rotWithShape="1">
          <a:blip r:embed="rId4">
            <a:alphaModFix/>
          </a:blip>
          <a:srcRect b="0" l="0" r="0" t="0"/>
          <a:stretch/>
        </p:blipFill>
        <p:spPr>
          <a:xfrm>
            <a:off x="4648200" y="1828800"/>
            <a:ext cx="4038600" cy="4302125"/>
          </a:xfrm>
          <a:prstGeom prst="rect">
            <a:avLst/>
          </a:prstGeom>
          <a:noFill/>
          <a:ln>
            <a:noFill/>
          </a:ln>
        </p:spPr>
      </p:pic>
      <p:sp>
        <p:nvSpPr>
          <p:cNvPr id="277" name="Google Shape;277;p1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0"/>
          <p:cNvSpPr txBox="1"/>
          <p:nvPr>
            <p:ph type="title"/>
          </p:nvPr>
        </p:nvSpPr>
        <p:spPr>
          <a:xfrm>
            <a:off x="274116" y="441401"/>
            <a:ext cx="4821555" cy="4686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tr-TR" sz="2900">
                <a:solidFill>
                  <a:srgbClr val="FFFFFF"/>
                </a:solidFill>
              </a:rPr>
              <a:t>Bilimsel Yöntem Basamakları</a:t>
            </a:r>
            <a:endParaRPr sz="2900"/>
          </a:p>
        </p:txBody>
      </p:sp>
      <p:sp>
        <p:nvSpPr>
          <p:cNvPr id="283" name="Google Shape;283;p20"/>
          <p:cNvSpPr txBox="1"/>
          <p:nvPr/>
        </p:nvSpPr>
        <p:spPr>
          <a:xfrm>
            <a:off x="688340" y="1564589"/>
            <a:ext cx="7631430" cy="3624579"/>
          </a:xfrm>
          <a:prstGeom prst="rect">
            <a:avLst/>
          </a:prstGeom>
          <a:noFill/>
          <a:ln>
            <a:noFill/>
          </a:ln>
        </p:spPr>
        <p:txBody>
          <a:bodyPr anchorCtr="0" anchor="t" bIns="0" lIns="0" spcFirstLastPara="1" rIns="0" wrap="square" tIns="74275">
            <a:spAutoFit/>
          </a:bodyPr>
          <a:lstStyle/>
          <a:p>
            <a:pPr indent="-309245" lvl="0" marL="309245" marR="629285" rtl="0" algn="l">
              <a:lnSpc>
                <a:spcPct val="80100"/>
              </a:lnSpc>
              <a:spcBef>
                <a:spcPts val="0"/>
              </a:spcBef>
              <a:spcAft>
                <a:spcPts val="0"/>
              </a:spcAft>
              <a:buClr>
                <a:schemeClr val="dk1"/>
              </a:buClr>
              <a:buSzPts val="2000"/>
              <a:buFont typeface="Arial"/>
              <a:buAutoNum type="arabicPlain"/>
            </a:pPr>
            <a:r>
              <a:rPr lang="tr-TR" sz="2000">
                <a:solidFill>
                  <a:schemeClr val="dk1"/>
                </a:solidFill>
                <a:latin typeface="Arial"/>
                <a:ea typeface="Arial"/>
                <a:cs typeface="Arial"/>
                <a:sym typeface="Arial"/>
              </a:rPr>
              <a:t>Problemin Belirlenmesi:Öncelikle problemin iyi anlaşılması  gerekiyor. "Problemi anlamak, problemi yarı-yarıya çözmek  demektir.“</a:t>
            </a:r>
            <a:endParaRPr sz="2000">
              <a:solidFill>
                <a:schemeClr val="dk1"/>
              </a:solidFill>
              <a:latin typeface="Arial"/>
              <a:ea typeface="Arial"/>
              <a:cs typeface="Arial"/>
              <a:sym typeface="Arial"/>
            </a:endParaRPr>
          </a:p>
          <a:p>
            <a:pPr indent="-296544" lvl="0" marL="308610" marR="0" rtl="0" algn="l">
              <a:lnSpc>
                <a:spcPct val="100000"/>
              </a:lnSpc>
              <a:spcBef>
                <a:spcPts val="0"/>
              </a:spcBef>
              <a:spcAft>
                <a:spcPts val="0"/>
              </a:spcAft>
              <a:buClr>
                <a:schemeClr val="dk1"/>
              </a:buClr>
              <a:buSzPts val="2000"/>
              <a:buFont typeface="Arial"/>
              <a:buAutoNum type="arabicPlain"/>
            </a:pPr>
            <a:r>
              <a:rPr lang="tr-TR" sz="2000">
                <a:solidFill>
                  <a:schemeClr val="dk1"/>
                </a:solidFill>
                <a:latin typeface="Arial"/>
                <a:ea typeface="Arial"/>
                <a:cs typeface="Arial"/>
                <a:sym typeface="Arial"/>
              </a:rPr>
              <a:t>Gözlem:Nitel ve Nicel olmak üzere iki çeşit gözlem vardır.</a:t>
            </a:r>
            <a:endParaRPr sz="2000">
              <a:solidFill>
                <a:schemeClr val="dk1"/>
              </a:solidFill>
              <a:latin typeface="Arial"/>
              <a:ea typeface="Arial"/>
              <a:cs typeface="Arial"/>
              <a:sym typeface="Arial"/>
            </a:endParaRPr>
          </a:p>
          <a:p>
            <a:pPr indent="0" lvl="0" marL="0" marR="0" rtl="0" algn="l">
              <a:lnSpc>
                <a:spcPct val="100000"/>
              </a:lnSpc>
              <a:spcBef>
                <a:spcPts val="40"/>
              </a:spcBef>
              <a:spcAft>
                <a:spcPts val="0"/>
              </a:spcAft>
              <a:buNone/>
            </a:pPr>
            <a:r>
              <a:t/>
            </a:r>
            <a:endParaRPr sz="2050">
              <a:solidFill>
                <a:schemeClr val="dk1"/>
              </a:solidFill>
              <a:latin typeface="Arial"/>
              <a:ea typeface="Arial"/>
              <a:cs typeface="Arial"/>
              <a:sym typeface="Arial"/>
            </a:endParaRPr>
          </a:p>
          <a:p>
            <a:pPr indent="5715" lvl="0" marL="355600" marR="5080" rtl="0" algn="l">
              <a:lnSpc>
                <a:spcPct val="80000"/>
              </a:lnSpc>
              <a:spcBef>
                <a:spcPts val="0"/>
              </a:spcBef>
              <a:spcAft>
                <a:spcPts val="0"/>
              </a:spcAft>
              <a:buNone/>
            </a:pPr>
            <a:r>
              <a:rPr b="1" lang="tr-TR" sz="2000">
                <a:solidFill>
                  <a:schemeClr val="dk1"/>
                </a:solidFill>
                <a:latin typeface="Arial"/>
                <a:ea typeface="Arial"/>
                <a:cs typeface="Arial"/>
                <a:sym typeface="Arial"/>
              </a:rPr>
              <a:t>Nitel Gözlem </a:t>
            </a:r>
            <a:r>
              <a:rPr lang="tr-TR" sz="2000">
                <a:solidFill>
                  <a:schemeClr val="dk1"/>
                </a:solidFill>
                <a:latin typeface="Arial"/>
                <a:ea typeface="Arial"/>
                <a:cs typeface="Arial"/>
                <a:sym typeface="Arial"/>
              </a:rPr>
              <a:t>: Beş duyumuzu kullanarak yaptığımız  gözlemlerdir.Örneğin "çaydanlıktaki su sıcaktır".Buradaki gözlem  nitel bir gözlemdir.Bunu, suya dokunarak veya sudan çıkan  buharı gözlemleyerek karar veririz.</a:t>
            </a:r>
            <a:endParaRPr/>
          </a:p>
          <a:p>
            <a:pPr indent="0" lvl="0" marL="355600" marR="420369" rtl="0" algn="l">
              <a:lnSpc>
                <a:spcPct val="80000"/>
              </a:lnSpc>
              <a:spcBef>
                <a:spcPts val="1925"/>
              </a:spcBef>
              <a:spcAft>
                <a:spcPts val="0"/>
              </a:spcAft>
              <a:buNone/>
            </a:pPr>
            <a:r>
              <a:rPr b="1" lang="tr-TR" sz="2000">
                <a:solidFill>
                  <a:schemeClr val="dk1"/>
                </a:solidFill>
                <a:latin typeface="Arial"/>
                <a:ea typeface="Arial"/>
                <a:cs typeface="Arial"/>
                <a:sym typeface="Arial"/>
              </a:rPr>
              <a:t>Nicel Gözlem </a:t>
            </a:r>
            <a:r>
              <a:rPr lang="tr-TR" sz="2000">
                <a:solidFill>
                  <a:schemeClr val="dk1"/>
                </a:solidFill>
                <a:latin typeface="Arial"/>
                <a:ea typeface="Arial"/>
                <a:cs typeface="Arial"/>
                <a:sym typeface="Arial"/>
              </a:rPr>
              <a:t>: Ölçü aletleri kullanılarak yapılan gözlemlerdir.  Örneğin "çaydanlıktaki su 80ºC dir".Buradaki gözlem nicel bir  gözlemdir.Burada termometre aleti kullanılarak bir gözlem  yapılmıştır.</a:t>
            </a:r>
            <a:endParaRPr sz="2000">
              <a:solidFill>
                <a:schemeClr val="dk1"/>
              </a:solidFill>
              <a:latin typeface="Arial"/>
              <a:ea typeface="Arial"/>
              <a:cs typeface="Arial"/>
              <a:sym typeface="Arial"/>
            </a:endParaRPr>
          </a:p>
        </p:txBody>
      </p:sp>
      <p:sp>
        <p:nvSpPr>
          <p:cNvPr id="284" name="Google Shape;284;p2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1"/>
          <p:cNvSpPr txBox="1"/>
          <p:nvPr/>
        </p:nvSpPr>
        <p:spPr>
          <a:xfrm>
            <a:off x="688340" y="1589354"/>
            <a:ext cx="7724775" cy="4086225"/>
          </a:xfrm>
          <a:prstGeom prst="rect">
            <a:avLst/>
          </a:prstGeom>
          <a:noFill/>
          <a:ln>
            <a:noFill/>
          </a:ln>
        </p:spPr>
        <p:txBody>
          <a:bodyPr anchorCtr="0" anchor="t" bIns="0" lIns="0" spcFirstLastPara="1" rIns="0" wrap="square" tIns="54600">
            <a:spAutoFit/>
          </a:bodyPr>
          <a:lstStyle/>
          <a:p>
            <a:pPr indent="-343535" lvl="0" marL="355600" marR="5080" rtl="0" algn="l">
              <a:lnSpc>
                <a:spcPct val="107916"/>
              </a:lnSpc>
              <a:spcBef>
                <a:spcPts val="0"/>
              </a:spcBef>
              <a:spcAft>
                <a:spcPts val="0"/>
              </a:spcAft>
              <a:buClr>
                <a:schemeClr val="dk1"/>
              </a:buClr>
              <a:buSzPts val="2400"/>
              <a:buFont typeface="Arial"/>
              <a:buAutoNum type="arabicPlain" startAt="3"/>
            </a:pPr>
            <a:r>
              <a:rPr lang="tr-TR" sz="2400">
                <a:solidFill>
                  <a:schemeClr val="dk1"/>
                </a:solidFill>
                <a:latin typeface="Arial"/>
                <a:ea typeface="Arial"/>
                <a:cs typeface="Arial"/>
                <a:sym typeface="Arial"/>
              </a:rPr>
              <a:t>Verilerin Toplanması:Veriler problem ile ilgili gerçekleri  içerir.Gözlemler sonucu elde edilen veriler toplanıp,  düzenlenir.</a:t>
            </a:r>
            <a:endParaRPr sz="2400">
              <a:solidFill>
                <a:schemeClr val="dk1"/>
              </a:solidFill>
              <a:latin typeface="Arial"/>
              <a:ea typeface="Arial"/>
              <a:cs typeface="Arial"/>
              <a:sym typeface="Arial"/>
            </a:endParaRPr>
          </a:p>
          <a:p>
            <a:pPr indent="-343535" lvl="0" marL="355600" marR="443865" rtl="0" algn="l">
              <a:lnSpc>
                <a:spcPct val="90000"/>
              </a:lnSpc>
              <a:spcBef>
                <a:spcPts val="540"/>
              </a:spcBef>
              <a:spcAft>
                <a:spcPts val="0"/>
              </a:spcAft>
              <a:buClr>
                <a:schemeClr val="dk1"/>
              </a:buClr>
              <a:buSzPts val="2400"/>
              <a:buFont typeface="Arial"/>
              <a:buAutoNum type="arabicPlain" startAt="3"/>
            </a:pPr>
            <a:r>
              <a:rPr lang="tr-TR" sz="2400">
                <a:solidFill>
                  <a:schemeClr val="dk1"/>
                </a:solidFill>
                <a:latin typeface="Arial"/>
                <a:ea typeface="Arial"/>
                <a:cs typeface="Arial"/>
                <a:sym typeface="Arial"/>
              </a:rPr>
              <a:t>Hipotezin Kurulması:Hipotez , probleme geçici bir  çözümdür.Bu çözüm yapılan gözlemler ve toplanan  veriler ışığında kurulmuştur.İyi bir hipotez;</a:t>
            </a:r>
            <a:endParaRPr sz="2400">
              <a:solidFill>
                <a:schemeClr val="dk1"/>
              </a:solidFill>
              <a:latin typeface="Arial"/>
              <a:ea typeface="Arial"/>
              <a:cs typeface="Arial"/>
              <a:sym typeface="Arial"/>
            </a:endParaRPr>
          </a:p>
          <a:p>
            <a:pPr indent="-186690" lvl="1" marL="541655" marR="0" rtl="0" algn="l">
              <a:lnSpc>
                <a:spcPct val="100000"/>
              </a:lnSpc>
              <a:spcBef>
                <a:spcPts val="2305"/>
              </a:spcBef>
              <a:spcAft>
                <a:spcPts val="0"/>
              </a:spcAft>
              <a:buClr>
                <a:schemeClr val="dk1"/>
              </a:buClr>
              <a:buSzPts val="2400"/>
              <a:buFont typeface="Arial"/>
              <a:buChar char="-"/>
            </a:pPr>
            <a:r>
              <a:rPr b="0" i="0" lang="tr-TR" sz="2400" u="none" cap="none" strike="noStrike">
                <a:solidFill>
                  <a:schemeClr val="dk1"/>
                </a:solidFill>
                <a:latin typeface="Arial"/>
                <a:ea typeface="Arial"/>
                <a:cs typeface="Arial"/>
                <a:sym typeface="Arial"/>
              </a:rPr>
              <a:t>probleme iyi bir çözüm önermeli,</a:t>
            </a:r>
            <a:endParaRPr b="0" i="0" sz="2400" u="none" cap="none" strike="noStrike">
              <a:solidFill>
                <a:schemeClr val="dk1"/>
              </a:solidFill>
              <a:latin typeface="Arial"/>
              <a:ea typeface="Arial"/>
              <a:cs typeface="Arial"/>
              <a:sym typeface="Arial"/>
            </a:endParaRPr>
          </a:p>
          <a:p>
            <a:pPr indent="-186690" lvl="1" marL="541655" marR="0" rtl="0" algn="l">
              <a:lnSpc>
                <a:spcPct val="100000"/>
              </a:lnSpc>
              <a:spcBef>
                <a:spcPts val="2305"/>
              </a:spcBef>
              <a:spcAft>
                <a:spcPts val="0"/>
              </a:spcAft>
              <a:buClr>
                <a:schemeClr val="dk1"/>
              </a:buClr>
              <a:buSzPts val="2400"/>
              <a:buFont typeface="Arial"/>
              <a:buChar char="-"/>
            </a:pPr>
            <a:r>
              <a:rPr b="0" i="0" lang="tr-TR" sz="2400" u="none" cap="none" strike="noStrike">
                <a:solidFill>
                  <a:schemeClr val="dk1"/>
                </a:solidFill>
                <a:latin typeface="Arial"/>
                <a:ea typeface="Arial"/>
                <a:cs typeface="Arial"/>
                <a:sym typeface="Arial"/>
              </a:rPr>
              <a:t>deney ve gözlemlere açık olmalı,</a:t>
            </a:r>
            <a:endParaRPr b="0" i="0" sz="2400" u="none" cap="none" strike="noStrike">
              <a:solidFill>
                <a:schemeClr val="dk1"/>
              </a:solidFill>
              <a:latin typeface="Arial"/>
              <a:ea typeface="Arial"/>
              <a:cs typeface="Arial"/>
              <a:sym typeface="Arial"/>
            </a:endParaRPr>
          </a:p>
          <a:p>
            <a:pPr indent="-186690" lvl="1" marL="541655" marR="0" rtl="0" algn="l">
              <a:lnSpc>
                <a:spcPct val="100000"/>
              </a:lnSpc>
              <a:spcBef>
                <a:spcPts val="2305"/>
              </a:spcBef>
              <a:spcAft>
                <a:spcPts val="0"/>
              </a:spcAft>
              <a:buClr>
                <a:schemeClr val="dk1"/>
              </a:buClr>
              <a:buSzPts val="2400"/>
              <a:buFont typeface="Arial"/>
              <a:buChar char="-"/>
            </a:pPr>
            <a:r>
              <a:rPr b="0" i="0" lang="tr-TR" sz="2400" u="none" cap="none" strike="noStrike">
                <a:solidFill>
                  <a:schemeClr val="dk1"/>
                </a:solidFill>
                <a:latin typeface="Arial"/>
                <a:ea typeface="Arial"/>
                <a:cs typeface="Arial"/>
                <a:sym typeface="Arial"/>
              </a:rPr>
              <a:t>toplanan tüm verilere uygun olmalıdır.</a:t>
            </a:r>
            <a:endParaRPr b="0" i="0" sz="2400" u="none" cap="none" strike="noStrike">
              <a:solidFill>
                <a:schemeClr val="dk1"/>
              </a:solidFill>
              <a:latin typeface="Arial"/>
              <a:ea typeface="Arial"/>
              <a:cs typeface="Arial"/>
              <a:sym typeface="Arial"/>
            </a:endParaRPr>
          </a:p>
        </p:txBody>
      </p:sp>
      <p:sp>
        <p:nvSpPr>
          <p:cNvPr id="290" name="Google Shape;290;p2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2"/>
          <p:cNvSpPr txBox="1"/>
          <p:nvPr/>
        </p:nvSpPr>
        <p:spPr>
          <a:xfrm>
            <a:off x="688340" y="1552397"/>
            <a:ext cx="7417434" cy="4814010"/>
          </a:xfrm>
          <a:prstGeom prst="rect">
            <a:avLst/>
          </a:prstGeom>
          <a:noFill/>
          <a:ln>
            <a:noFill/>
          </a:ln>
        </p:spPr>
        <p:txBody>
          <a:bodyPr anchorCtr="0" anchor="t" bIns="0" lIns="0" spcFirstLastPara="1" rIns="0" wrap="square" tIns="85725">
            <a:spAutoFit/>
          </a:bodyPr>
          <a:lstStyle/>
          <a:p>
            <a:pPr indent="-343535" lvl="0" marL="355600" marR="72390" rtl="0" algn="l">
              <a:lnSpc>
                <a:spcPct val="80100"/>
              </a:lnSpc>
              <a:spcBef>
                <a:spcPts val="0"/>
              </a:spcBef>
              <a:spcAft>
                <a:spcPts val="0"/>
              </a:spcAft>
              <a:buNone/>
            </a:pPr>
            <a:r>
              <a:rPr lang="tr-TR" sz="2400">
                <a:solidFill>
                  <a:schemeClr val="dk1"/>
                </a:solidFill>
                <a:latin typeface="Arial"/>
                <a:ea typeface="Arial"/>
                <a:cs typeface="Arial"/>
                <a:sym typeface="Arial"/>
              </a:rPr>
              <a:t>5- </a:t>
            </a:r>
            <a:r>
              <a:rPr b="1" lang="tr-TR" sz="2400">
                <a:solidFill>
                  <a:schemeClr val="dk1"/>
                </a:solidFill>
                <a:latin typeface="Arial"/>
                <a:ea typeface="Arial"/>
                <a:cs typeface="Arial"/>
                <a:sym typeface="Arial"/>
              </a:rPr>
              <a:t>Tahminlerde Bulunma</a:t>
            </a:r>
            <a:r>
              <a:rPr lang="tr-TR" sz="2400">
                <a:solidFill>
                  <a:schemeClr val="dk1"/>
                </a:solidFill>
                <a:latin typeface="Arial"/>
                <a:ea typeface="Arial"/>
                <a:cs typeface="Arial"/>
                <a:sym typeface="Arial"/>
              </a:rPr>
              <a:t>: Kurulan hipotezler  doğrultusunda mantıklı sonuçların çıkartılmasıdır ve  bu sonuçlar ile hipotezler test edilir.Tahminler,</a:t>
            </a:r>
            <a:endParaRPr sz="2400">
              <a:solidFill>
                <a:schemeClr val="dk1"/>
              </a:solidFill>
              <a:latin typeface="Arial"/>
              <a:ea typeface="Arial"/>
              <a:cs typeface="Arial"/>
              <a:sym typeface="Arial"/>
            </a:endParaRPr>
          </a:p>
          <a:p>
            <a:pPr indent="0" lvl="0" marL="355600" marR="661670" rtl="0" algn="l">
              <a:lnSpc>
                <a:spcPct val="80000"/>
              </a:lnSpc>
              <a:spcBef>
                <a:spcPts val="0"/>
              </a:spcBef>
              <a:spcAft>
                <a:spcPts val="0"/>
              </a:spcAft>
              <a:buNone/>
            </a:pPr>
            <a:r>
              <a:rPr lang="tr-TR" sz="2400">
                <a:solidFill>
                  <a:schemeClr val="dk1"/>
                </a:solidFill>
                <a:latin typeface="Arial"/>
                <a:ea typeface="Arial"/>
                <a:cs typeface="Arial"/>
                <a:sym typeface="Arial"/>
              </a:rPr>
              <a:t>"Eğer.................... ise ................. dır" şeklindeki  cümlelerle ifade edilir.Tahminler genellikle</a:t>
            </a:r>
            <a:endParaRPr sz="2400">
              <a:solidFill>
                <a:schemeClr val="dk1"/>
              </a:solidFill>
              <a:latin typeface="Arial"/>
              <a:ea typeface="Arial"/>
              <a:cs typeface="Arial"/>
              <a:sym typeface="Arial"/>
            </a:endParaRPr>
          </a:p>
          <a:p>
            <a:pPr indent="0" lvl="0" marL="355600" marR="119379" rtl="0" algn="l">
              <a:lnSpc>
                <a:spcPct val="80000"/>
              </a:lnSpc>
              <a:spcBef>
                <a:spcPts val="0"/>
              </a:spcBef>
              <a:spcAft>
                <a:spcPts val="0"/>
              </a:spcAft>
              <a:buNone/>
            </a:pPr>
            <a:r>
              <a:rPr lang="tr-TR" sz="2400">
                <a:solidFill>
                  <a:schemeClr val="dk1"/>
                </a:solidFill>
                <a:latin typeface="Arial"/>
                <a:ea typeface="Arial"/>
                <a:cs typeface="Arial"/>
                <a:sym typeface="Arial"/>
              </a:rPr>
              <a:t>"Tümdengelim" ve "Tümevarım" yöntemleri ile  gerçekleştirilir.</a:t>
            </a:r>
            <a:endParaRPr sz="2400">
              <a:solidFill>
                <a:schemeClr val="dk1"/>
              </a:solidFill>
              <a:latin typeface="Arial"/>
              <a:ea typeface="Arial"/>
              <a:cs typeface="Arial"/>
              <a:sym typeface="Arial"/>
            </a:endParaRPr>
          </a:p>
          <a:p>
            <a:pPr indent="-342900" lvl="0" marL="698500" marR="119379" rtl="0" algn="l">
              <a:lnSpc>
                <a:spcPct val="80000"/>
              </a:lnSpc>
              <a:spcBef>
                <a:spcPts val="0"/>
              </a:spcBef>
              <a:spcAft>
                <a:spcPts val="0"/>
              </a:spcAft>
              <a:buClr>
                <a:schemeClr val="dk1"/>
              </a:buClr>
              <a:buSzPts val="2400"/>
              <a:buFont typeface="Arial"/>
              <a:buChar char="•"/>
            </a:pPr>
            <a:r>
              <a:rPr lang="tr-TR" sz="2400">
                <a:solidFill>
                  <a:schemeClr val="dk1"/>
                </a:solidFill>
                <a:latin typeface="Arial"/>
                <a:ea typeface="Arial"/>
                <a:cs typeface="Arial"/>
                <a:sym typeface="Arial"/>
              </a:rPr>
              <a:t>Tümdengelim yönteminde bir ön bilgi  kullanılarak genelleme yapılır. Örnek : Eğer bütün  canlılar hücrelerden meydana gelmiş ise ,insanda  hücrelerden meydana gelmiştir.</a:t>
            </a:r>
            <a:endParaRPr sz="2400">
              <a:solidFill>
                <a:schemeClr val="dk1"/>
              </a:solidFill>
              <a:latin typeface="Arial"/>
              <a:ea typeface="Arial"/>
              <a:cs typeface="Arial"/>
              <a:sym typeface="Arial"/>
            </a:endParaRPr>
          </a:p>
          <a:p>
            <a:pPr indent="-190500" lvl="0" marL="698500" marR="119379" rtl="0" algn="l">
              <a:lnSpc>
                <a:spcPct val="80000"/>
              </a:lnSpc>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342900" lvl="0" marL="698500" marR="119379" rtl="0" algn="l">
              <a:lnSpc>
                <a:spcPct val="80000"/>
              </a:lnSpc>
              <a:spcBef>
                <a:spcPts val="0"/>
              </a:spcBef>
              <a:spcAft>
                <a:spcPts val="0"/>
              </a:spcAft>
              <a:buClr>
                <a:schemeClr val="dk1"/>
              </a:buClr>
              <a:buSzPts val="2400"/>
              <a:buFont typeface="Arial"/>
              <a:buChar char="•"/>
            </a:pPr>
            <a:r>
              <a:rPr lang="tr-TR" sz="2400">
                <a:solidFill>
                  <a:schemeClr val="dk1"/>
                </a:solidFill>
                <a:latin typeface="Arial"/>
                <a:ea typeface="Arial"/>
                <a:cs typeface="Arial"/>
                <a:sym typeface="Arial"/>
              </a:rPr>
              <a:t>Tümevarım yönteminde ise özel gözlemler yapılarak  bir sonuca varılır.Örnek : Eğer insanlar, hayvanlar,  bitkiler hücrelerden meydana gelmiş ise bütün  canlıların yapı birimi hücredir.</a:t>
            </a:r>
            <a:endParaRPr sz="2400">
              <a:solidFill>
                <a:schemeClr val="dk1"/>
              </a:solidFill>
              <a:latin typeface="Arial"/>
              <a:ea typeface="Arial"/>
              <a:cs typeface="Arial"/>
              <a:sym typeface="Arial"/>
            </a:endParaRPr>
          </a:p>
        </p:txBody>
      </p:sp>
      <p:sp>
        <p:nvSpPr>
          <p:cNvPr id="296" name="Google Shape;296;p2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3"/>
          <p:cNvSpPr txBox="1"/>
          <p:nvPr/>
        </p:nvSpPr>
        <p:spPr>
          <a:xfrm>
            <a:off x="688340" y="1552397"/>
            <a:ext cx="7532370" cy="3453766"/>
          </a:xfrm>
          <a:prstGeom prst="rect">
            <a:avLst/>
          </a:prstGeom>
          <a:noFill/>
          <a:ln>
            <a:noFill/>
          </a:ln>
        </p:spPr>
        <p:txBody>
          <a:bodyPr anchorCtr="0" anchor="t" bIns="0" lIns="0" spcFirstLastPara="1" rIns="0" wrap="square" tIns="12700">
            <a:spAutoFit/>
          </a:bodyPr>
          <a:lstStyle/>
          <a:p>
            <a:pPr indent="0" lvl="0" marL="12700" marR="0" rtl="0" algn="l">
              <a:lnSpc>
                <a:spcPct val="108124"/>
              </a:lnSpc>
              <a:spcBef>
                <a:spcPts val="0"/>
              </a:spcBef>
              <a:spcAft>
                <a:spcPts val="0"/>
              </a:spcAft>
              <a:buNone/>
            </a:pPr>
            <a:r>
              <a:rPr lang="tr-TR" sz="2400">
                <a:solidFill>
                  <a:schemeClr val="dk1"/>
                </a:solidFill>
                <a:latin typeface="Arial"/>
                <a:ea typeface="Arial"/>
                <a:cs typeface="Arial"/>
                <a:sym typeface="Arial"/>
              </a:rPr>
              <a:t>6- </a:t>
            </a:r>
            <a:r>
              <a:rPr b="1" lang="tr-TR" sz="2400">
                <a:solidFill>
                  <a:schemeClr val="dk1"/>
                </a:solidFill>
                <a:latin typeface="Arial"/>
                <a:ea typeface="Arial"/>
                <a:cs typeface="Arial"/>
                <a:sym typeface="Arial"/>
              </a:rPr>
              <a:t>Kontrollü Deney</a:t>
            </a:r>
            <a:r>
              <a:rPr lang="tr-TR" sz="2400">
                <a:solidFill>
                  <a:schemeClr val="dk1"/>
                </a:solidFill>
                <a:latin typeface="Arial"/>
                <a:ea typeface="Arial"/>
                <a:cs typeface="Arial"/>
                <a:sym typeface="Arial"/>
              </a:rPr>
              <a:t>: Yapılan tahminlerin geçerli olup</a:t>
            </a:r>
            <a:endParaRPr sz="2400">
              <a:solidFill>
                <a:schemeClr val="dk1"/>
              </a:solidFill>
              <a:latin typeface="Arial"/>
              <a:ea typeface="Arial"/>
              <a:cs typeface="Arial"/>
              <a:sym typeface="Arial"/>
            </a:endParaRPr>
          </a:p>
          <a:p>
            <a:pPr indent="0" lvl="0" marL="355600" marR="0" rtl="0" algn="l">
              <a:lnSpc>
                <a:spcPct val="96041"/>
              </a:lnSpc>
              <a:spcBef>
                <a:spcPts val="0"/>
              </a:spcBef>
              <a:spcAft>
                <a:spcPts val="0"/>
              </a:spcAft>
              <a:buNone/>
            </a:pPr>
            <a:r>
              <a:rPr lang="tr-TR" sz="2400">
                <a:solidFill>
                  <a:schemeClr val="dk1"/>
                </a:solidFill>
                <a:latin typeface="Arial"/>
                <a:ea typeface="Arial"/>
                <a:cs typeface="Arial"/>
                <a:sym typeface="Arial"/>
              </a:rPr>
              <a:t>olmadığı kontrollü deneyler sonucu tespit</a:t>
            </a:r>
            <a:endParaRPr/>
          </a:p>
          <a:p>
            <a:pPr indent="0" lvl="0" marL="355600" marR="0" rtl="0" algn="l">
              <a:lnSpc>
                <a:spcPct val="96041"/>
              </a:lnSpc>
              <a:spcBef>
                <a:spcPts val="0"/>
              </a:spcBef>
              <a:spcAft>
                <a:spcPts val="0"/>
              </a:spcAft>
              <a:buNone/>
            </a:pPr>
            <a:r>
              <a:rPr lang="tr-TR" sz="2400">
                <a:solidFill>
                  <a:schemeClr val="dk1"/>
                </a:solidFill>
                <a:latin typeface="Arial"/>
                <a:ea typeface="Arial"/>
                <a:cs typeface="Arial"/>
                <a:sym typeface="Arial"/>
              </a:rPr>
              <a:t>edilir.Kontrollü deneylerde iki deney grubu vardır:</a:t>
            </a:r>
            <a:endParaRPr sz="2400">
              <a:solidFill>
                <a:schemeClr val="dk1"/>
              </a:solidFill>
              <a:latin typeface="Arial"/>
              <a:ea typeface="Arial"/>
              <a:cs typeface="Arial"/>
              <a:sym typeface="Arial"/>
            </a:endParaRPr>
          </a:p>
          <a:p>
            <a:pPr indent="0" lvl="0" marL="355600" marR="5080" rtl="0" algn="l">
              <a:lnSpc>
                <a:spcPct val="80000"/>
              </a:lnSpc>
              <a:spcBef>
                <a:spcPts val="290"/>
              </a:spcBef>
              <a:spcAft>
                <a:spcPts val="0"/>
              </a:spcAft>
              <a:buNone/>
            </a:pPr>
            <a:r>
              <a:rPr lang="tr-TR" sz="2400">
                <a:solidFill>
                  <a:schemeClr val="dk1"/>
                </a:solidFill>
                <a:latin typeface="Arial"/>
                <a:ea typeface="Arial"/>
                <a:cs typeface="Arial"/>
                <a:sym typeface="Arial"/>
              </a:rPr>
              <a:t>Birine kontrol grubu , diğerine ise deney grubu  denir.</a:t>
            </a:r>
            <a:endParaRPr sz="2400">
              <a:solidFill>
                <a:schemeClr val="dk1"/>
              </a:solidFill>
              <a:latin typeface="Arial"/>
              <a:ea typeface="Arial"/>
              <a:cs typeface="Arial"/>
              <a:sym typeface="Arial"/>
            </a:endParaRPr>
          </a:p>
          <a:p>
            <a:pPr indent="0" lvl="0" marL="355600" marR="5080" rtl="0" algn="l">
              <a:lnSpc>
                <a:spcPct val="80000"/>
              </a:lnSpc>
              <a:spcBef>
                <a:spcPts val="290"/>
              </a:spcBef>
              <a:spcAft>
                <a:spcPts val="0"/>
              </a:spcAft>
              <a:buNone/>
            </a:pPr>
            <a:r>
              <a:rPr lang="tr-TR" sz="2400">
                <a:solidFill>
                  <a:schemeClr val="dk1"/>
                </a:solidFill>
                <a:latin typeface="Arial"/>
                <a:ea typeface="Arial"/>
                <a:cs typeface="Arial"/>
                <a:sym typeface="Arial"/>
              </a:rPr>
              <a:t>Her iki grupta da aynı deney aynı şartlar altında  yapılır iken sadece araştırılan faktör gruplar arasında  farklı tutulur.</a:t>
            </a:r>
            <a:endParaRPr sz="2400">
              <a:solidFill>
                <a:schemeClr val="dk1"/>
              </a:solidFill>
              <a:latin typeface="Arial"/>
              <a:ea typeface="Arial"/>
              <a:cs typeface="Arial"/>
              <a:sym typeface="Arial"/>
            </a:endParaRPr>
          </a:p>
          <a:p>
            <a:pPr indent="0" lvl="0" marL="355600" marR="5080" rtl="0" algn="l">
              <a:lnSpc>
                <a:spcPct val="80000"/>
              </a:lnSpc>
              <a:spcBef>
                <a:spcPts val="290"/>
              </a:spcBef>
              <a:spcAft>
                <a:spcPts val="0"/>
              </a:spcAft>
              <a:buNone/>
            </a:pPr>
            <a:r>
              <a:rPr lang="tr-TR" sz="2400">
                <a:solidFill>
                  <a:schemeClr val="dk1"/>
                </a:solidFill>
                <a:latin typeface="Arial"/>
                <a:ea typeface="Arial"/>
                <a:cs typeface="Arial"/>
                <a:sym typeface="Arial"/>
              </a:rPr>
              <a:t>Deney sonuçları tahminleri doğrular ise  hipotez geçerlilik kazanır.</a:t>
            </a:r>
            <a:endParaRPr sz="2400">
              <a:solidFill>
                <a:schemeClr val="dk1"/>
              </a:solidFill>
              <a:latin typeface="Arial"/>
              <a:ea typeface="Arial"/>
              <a:cs typeface="Arial"/>
              <a:sym typeface="Arial"/>
            </a:endParaRPr>
          </a:p>
          <a:p>
            <a:pPr indent="0" lvl="0" marL="355600" marR="5080" rtl="0" algn="l">
              <a:lnSpc>
                <a:spcPct val="80000"/>
              </a:lnSpc>
              <a:spcBef>
                <a:spcPts val="290"/>
              </a:spcBef>
              <a:spcAft>
                <a:spcPts val="0"/>
              </a:spcAft>
              <a:buNone/>
            </a:pPr>
            <a:r>
              <a:rPr lang="tr-TR" sz="2400">
                <a:solidFill>
                  <a:schemeClr val="dk1"/>
                </a:solidFill>
                <a:latin typeface="Arial"/>
                <a:ea typeface="Arial"/>
                <a:cs typeface="Arial"/>
                <a:sym typeface="Arial"/>
              </a:rPr>
              <a:t>Aksi durumda ise eldeki  verilerle yeni hipotezler kurularak bilimsel çalışmaya  devam edilir.</a:t>
            </a:r>
            <a:endParaRPr sz="2400">
              <a:solidFill>
                <a:schemeClr val="dk1"/>
              </a:solidFill>
              <a:latin typeface="Arial"/>
              <a:ea typeface="Arial"/>
              <a:cs typeface="Arial"/>
              <a:sym typeface="Arial"/>
            </a:endParaRPr>
          </a:p>
        </p:txBody>
      </p:sp>
      <p:sp>
        <p:nvSpPr>
          <p:cNvPr id="302" name="Google Shape;302;p2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4"/>
          <p:cNvSpPr txBox="1"/>
          <p:nvPr/>
        </p:nvSpPr>
        <p:spPr>
          <a:xfrm>
            <a:off x="688340" y="1581734"/>
            <a:ext cx="7573009" cy="4079875"/>
          </a:xfrm>
          <a:prstGeom prst="rect">
            <a:avLst/>
          </a:prstGeom>
          <a:noFill/>
          <a:ln>
            <a:noFill/>
          </a:ln>
        </p:spPr>
        <p:txBody>
          <a:bodyPr anchorCtr="0" anchor="t" bIns="0" lIns="0" spcFirstLastPara="1" rIns="0" wrap="square" tIns="60950">
            <a:spAutoFit/>
          </a:bodyPr>
          <a:lstStyle/>
          <a:p>
            <a:pPr indent="-343535" lvl="0" marL="355600" marR="805180" rtl="0" algn="l">
              <a:lnSpc>
                <a:spcPct val="107857"/>
              </a:lnSpc>
              <a:spcBef>
                <a:spcPts val="0"/>
              </a:spcBef>
              <a:spcAft>
                <a:spcPts val="0"/>
              </a:spcAft>
              <a:buClr>
                <a:schemeClr val="dk1"/>
              </a:buClr>
              <a:buSzPts val="1800"/>
              <a:buFont typeface="Arial"/>
              <a:buAutoNum type="arabicPlain" startAt="7"/>
            </a:pPr>
            <a:r>
              <a:rPr lang="tr-TR" sz="1800">
                <a:solidFill>
                  <a:schemeClr val="dk1"/>
                </a:solidFill>
                <a:latin typeface="Calibri"/>
                <a:ea typeface="Calibri"/>
                <a:cs typeface="Calibri"/>
                <a:sym typeface="Calibri"/>
              </a:rPr>
              <a:t>	</a:t>
            </a:r>
            <a:r>
              <a:rPr lang="tr-TR" sz="2800">
                <a:solidFill>
                  <a:schemeClr val="dk1"/>
                </a:solidFill>
                <a:latin typeface="Arial"/>
                <a:ea typeface="Arial"/>
                <a:cs typeface="Arial"/>
                <a:sym typeface="Arial"/>
              </a:rPr>
              <a:t>Gerçek:Deneyler ile kanıtlanmış bilimsel  doğrulardır.</a:t>
            </a:r>
            <a:endParaRPr sz="2800">
              <a:solidFill>
                <a:schemeClr val="dk1"/>
              </a:solidFill>
              <a:latin typeface="Arial"/>
              <a:ea typeface="Arial"/>
              <a:cs typeface="Arial"/>
              <a:sym typeface="Arial"/>
            </a:endParaRPr>
          </a:p>
          <a:p>
            <a:pPr indent="-343535" lvl="0" marL="355600" marR="143510" rtl="0" algn="l">
              <a:lnSpc>
                <a:spcPct val="90000"/>
              </a:lnSpc>
              <a:spcBef>
                <a:spcPts val="635"/>
              </a:spcBef>
              <a:spcAft>
                <a:spcPts val="0"/>
              </a:spcAft>
              <a:buClr>
                <a:schemeClr val="dk1"/>
              </a:buClr>
              <a:buSzPts val="1800"/>
              <a:buFont typeface="Arial"/>
              <a:buAutoNum type="arabicPlain" startAt="7"/>
            </a:pPr>
            <a:r>
              <a:rPr lang="tr-TR" sz="1800">
                <a:solidFill>
                  <a:schemeClr val="dk1"/>
                </a:solidFill>
                <a:latin typeface="Calibri"/>
                <a:ea typeface="Calibri"/>
                <a:cs typeface="Calibri"/>
                <a:sym typeface="Calibri"/>
              </a:rPr>
              <a:t>	</a:t>
            </a:r>
            <a:r>
              <a:rPr lang="tr-TR" sz="2800">
                <a:solidFill>
                  <a:schemeClr val="dk1"/>
                </a:solidFill>
                <a:latin typeface="Arial"/>
                <a:ea typeface="Arial"/>
                <a:cs typeface="Arial"/>
                <a:sym typeface="Arial"/>
              </a:rPr>
              <a:t>Teori:Tekrarlanan deneylerle doğruluğu tam  olarak değil, ama büyük ölçüde kabul edilmiş  hipotezlerdir.Teorilerin çürütülme ihtimalleri  vardır.</a:t>
            </a:r>
            <a:endParaRPr sz="2800">
              <a:solidFill>
                <a:schemeClr val="dk1"/>
              </a:solidFill>
              <a:latin typeface="Arial"/>
              <a:ea typeface="Arial"/>
              <a:cs typeface="Arial"/>
              <a:sym typeface="Arial"/>
            </a:endParaRPr>
          </a:p>
          <a:p>
            <a:pPr indent="-416558" lvl="0" marL="428625" marR="0" rtl="0" algn="l">
              <a:lnSpc>
                <a:spcPct val="114107"/>
              </a:lnSpc>
              <a:spcBef>
                <a:spcPts val="335"/>
              </a:spcBef>
              <a:spcAft>
                <a:spcPts val="0"/>
              </a:spcAft>
              <a:buClr>
                <a:schemeClr val="dk1"/>
              </a:buClr>
              <a:buSzPts val="2800"/>
              <a:buFont typeface="Arial"/>
              <a:buAutoNum type="arabicPlain" startAt="7"/>
            </a:pPr>
            <a:r>
              <a:rPr lang="tr-TR" sz="2800">
                <a:solidFill>
                  <a:schemeClr val="dk1"/>
                </a:solidFill>
                <a:latin typeface="Arial"/>
                <a:ea typeface="Arial"/>
                <a:cs typeface="Arial"/>
                <a:sym typeface="Arial"/>
              </a:rPr>
              <a:t>Kanun:Bir teori veya hipotez , doğruluğu</a:t>
            </a:r>
            <a:endParaRPr sz="2800">
              <a:solidFill>
                <a:schemeClr val="dk1"/>
              </a:solidFill>
              <a:latin typeface="Arial"/>
              <a:ea typeface="Arial"/>
              <a:cs typeface="Arial"/>
              <a:sym typeface="Arial"/>
            </a:endParaRPr>
          </a:p>
          <a:p>
            <a:pPr indent="0" lvl="0" marL="355600" marR="5080" rtl="0" algn="l">
              <a:lnSpc>
                <a:spcPct val="107857"/>
              </a:lnSpc>
              <a:spcBef>
                <a:spcPts val="215"/>
              </a:spcBef>
              <a:spcAft>
                <a:spcPts val="0"/>
              </a:spcAft>
              <a:buNone/>
            </a:pPr>
            <a:r>
              <a:rPr lang="tr-TR" sz="2800">
                <a:solidFill>
                  <a:schemeClr val="dk1"/>
                </a:solidFill>
                <a:latin typeface="Arial"/>
                <a:ea typeface="Arial"/>
                <a:cs typeface="Arial"/>
                <a:sym typeface="Arial"/>
              </a:rPr>
              <a:t>bütün bilimlerce kabul edilmiş ise kanun halini  alır.Örnek : Yerçekimi kanunu, Mendel</a:t>
            </a:r>
            <a:endParaRPr sz="2800">
              <a:solidFill>
                <a:schemeClr val="dk1"/>
              </a:solidFill>
              <a:latin typeface="Arial"/>
              <a:ea typeface="Arial"/>
              <a:cs typeface="Arial"/>
              <a:sym typeface="Arial"/>
            </a:endParaRPr>
          </a:p>
          <a:p>
            <a:pPr indent="0" lvl="0" marL="355600" marR="0" rtl="0" algn="l">
              <a:lnSpc>
                <a:spcPct val="106607"/>
              </a:lnSpc>
              <a:spcBef>
                <a:spcPts val="0"/>
              </a:spcBef>
              <a:spcAft>
                <a:spcPts val="0"/>
              </a:spcAft>
              <a:buNone/>
            </a:pPr>
            <a:r>
              <a:rPr lang="tr-TR" sz="2800">
                <a:solidFill>
                  <a:schemeClr val="dk1"/>
                </a:solidFill>
                <a:latin typeface="Arial"/>
                <a:ea typeface="Arial"/>
                <a:cs typeface="Arial"/>
                <a:sym typeface="Arial"/>
              </a:rPr>
              <a:t>Kanunları</a:t>
            </a:r>
            <a:endParaRPr sz="2800">
              <a:solidFill>
                <a:schemeClr val="dk1"/>
              </a:solidFill>
              <a:latin typeface="Arial"/>
              <a:ea typeface="Arial"/>
              <a:cs typeface="Arial"/>
              <a:sym typeface="Arial"/>
            </a:endParaRPr>
          </a:p>
        </p:txBody>
      </p:sp>
      <p:sp>
        <p:nvSpPr>
          <p:cNvPr id="308" name="Google Shape;308;p2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5"/>
          <p:cNvSpPr txBox="1"/>
          <p:nvPr>
            <p:ph type="title"/>
          </p:nvPr>
        </p:nvSpPr>
        <p:spPr>
          <a:xfrm>
            <a:off x="274116" y="337769"/>
            <a:ext cx="4267200" cy="6661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tr-TR" sz="4200">
                <a:solidFill>
                  <a:srgbClr val="FFFFFF"/>
                </a:solidFill>
              </a:rPr>
              <a:t>Bilimsel araştırma</a:t>
            </a:r>
            <a:endParaRPr sz="4200"/>
          </a:p>
        </p:txBody>
      </p:sp>
      <p:sp>
        <p:nvSpPr>
          <p:cNvPr id="314" name="Google Shape;314;p25"/>
          <p:cNvSpPr/>
          <p:nvPr/>
        </p:nvSpPr>
        <p:spPr>
          <a:xfrm>
            <a:off x="701040" y="3822191"/>
            <a:ext cx="7641590" cy="36830"/>
          </a:xfrm>
          <a:custGeom>
            <a:rect b="b" l="l" r="r" t="t"/>
            <a:pathLst>
              <a:path extrusionOk="0" h="36829" w="7641590">
                <a:moveTo>
                  <a:pt x="7641335" y="0"/>
                </a:moveTo>
                <a:lnTo>
                  <a:pt x="0" y="0"/>
                </a:lnTo>
                <a:lnTo>
                  <a:pt x="0" y="36575"/>
                </a:lnTo>
                <a:lnTo>
                  <a:pt x="7641335" y="36575"/>
                </a:lnTo>
                <a:lnTo>
                  <a:pt x="7641335"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25"/>
          <p:cNvSpPr txBox="1"/>
          <p:nvPr/>
        </p:nvSpPr>
        <p:spPr>
          <a:xfrm>
            <a:off x="688340" y="1624406"/>
            <a:ext cx="7767320" cy="4805680"/>
          </a:xfrm>
          <a:prstGeom prst="rect">
            <a:avLst/>
          </a:prstGeom>
          <a:noFill/>
          <a:ln>
            <a:noFill/>
          </a:ln>
        </p:spPr>
        <p:txBody>
          <a:bodyPr anchorCtr="0" anchor="t" bIns="0" lIns="0" spcFirstLastPara="1" rIns="0" wrap="square" tIns="12050">
            <a:spAutoFit/>
          </a:bodyPr>
          <a:lstStyle/>
          <a:p>
            <a:pPr indent="-47625" lvl="0" marL="355600" marR="857250" rtl="0" algn="l">
              <a:lnSpc>
                <a:spcPct val="100000"/>
              </a:lnSpc>
              <a:spcBef>
                <a:spcPts val="0"/>
              </a:spcBef>
              <a:spcAft>
                <a:spcPts val="0"/>
              </a:spcAft>
              <a:buNone/>
            </a:pPr>
            <a:r>
              <a:rPr lang="tr-TR" sz="2800">
                <a:solidFill>
                  <a:schemeClr val="dk1"/>
                </a:solidFill>
                <a:latin typeface="Arial"/>
                <a:ea typeface="Arial"/>
                <a:cs typeface="Arial"/>
                <a:sym typeface="Arial"/>
              </a:rPr>
              <a:t>Problemlere güvenilir çözümler bulmak  amacıyla planlı ve sistemli olarak verilerin</a:t>
            </a:r>
            <a:endParaRPr sz="2800">
              <a:solidFill>
                <a:schemeClr val="dk1"/>
              </a:solidFill>
              <a:latin typeface="Arial"/>
              <a:ea typeface="Arial"/>
              <a:cs typeface="Arial"/>
              <a:sym typeface="Arial"/>
            </a:endParaRPr>
          </a:p>
          <a:p>
            <a:pPr indent="0" lvl="0" marL="355600" marR="354330" rtl="0" algn="l">
              <a:lnSpc>
                <a:spcPct val="100000"/>
              </a:lnSpc>
              <a:spcBef>
                <a:spcPts val="0"/>
              </a:spcBef>
              <a:spcAft>
                <a:spcPts val="0"/>
              </a:spcAft>
              <a:buNone/>
            </a:pPr>
            <a:r>
              <a:rPr lang="tr-TR" sz="2800">
                <a:solidFill>
                  <a:schemeClr val="dk1"/>
                </a:solidFill>
                <a:latin typeface="Arial"/>
                <a:ea typeface="Arial"/>
                <a:cs typeface="Arial"/>
                <a:sym typeface="Arial"/>
              </a:rPr>
              <a:t>toplanması, çözümlenmesi, yorumlanması,  değerlendirilmesi ve rapor edilmesi sürecidir.</a:t>
            </a:r>
            <a:endParaRPr sz="2800">
              <a:solidFill>
                <a:schemeClr val="dk1"/>
              </a:solidFill>
              <a:latin typeface="Arial"/>
              <a:ea typeface="Arial"/>
              <a:cs typeface="Arial"/>
              <a:sym typeface="Arial"/>
            </a:endParaRPr>
          </a:p>
          <a:p>
            <a:pPr indent="-343535" lvl="0" marL="355600" marR="5080" rtl="0" algn="just">
              <a:lnSpc>
                <a:spcPct val="100000"/>
              </a:lnSpc>
              <a:spcBef>
                <a:spcPts val="675"/>
              </a:spcBef>
              <a:spcAft>
                <a:spcPts val="0"/>
              </a:spcAft>
              <a:buNone/>
            </a:pPr>
            <a:r>
              <a:rPr b="1" lang="tr-TR" sz="2800">
                <a:solidFill>
                  <a:schemeClr val="dk1"/>
                </a:solidFill>
                <a:latin typeface="Arial"/>
                <a:ea typeface="Arial"/>
                <a:cs typeface="Arial"/>
                <a:sym typeface="Arial"/>
              </a:rPr>
              <a:t>Bilimsel araştırmaların temel amacı</a:t>
            </a:r>
            <a:r>
              <a:rPr lang="tr-TR" sz="2800">
                <a:solidFill>
                  <a:schemeClr val="dk1"/>
                </a:solidFill>
                <a:latin typeface="Arial"/>
                <a:ea typeface="Arial"/>
                <a:cs typeface="Arial"/>
                <a:sym typeface="Arial"/>
              </a:rPr>
              <a:t>,  bilinenlerden yola çıkarak bilinmeyenlere  doğru yol almak ve bu doğrultuda bilgi  üretmektir. Bilimsel araştırma kuram  geliştirmekle başlar ve o bilim alanı için geçerli  olan evrensel düzeyde bilimsel yasalar ortaya  koyar.</a:t>
            </a:r>
            <a:endParaRPr sz="2800">
              <a:solidFill>
                <a:schemeClr val="dk1"/>
              </a:solidFill>
              <a:latin typeface="Arial"/>
              <a:ea typeface="Arial"/>
              <a:cs typeface="Arial"/>
              <a:sym typeface="Arial"/>
            </a:endParaRPr>
          </a:p>
        </p:txBody>
      </p:sp>
      <p:sp>
        <p:nvSpPr>
          <p:cNvPr id="316" name="Google Shape;316;p2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p26"/>
          <p:cNvPicPr preferRelativeResize="0"/>
          <p:nvPr/>
        </p:nvPicPr>
        <p:blipFill rotWithShape="1">
          <a:blip r:embed="rId3">
            <a:alphaModFix/>
          </a:blip>
          <a:srcRect b="0" l="0" r="0" t="0"/>
          <a:stretch/>
        </p:blipFill>
        <p:spPr>
          <a:xfrm>
            <a:off x="592137" y="704850"/>
            <a:ext cx="7961249" cy="5448300"/>
          </a:xfrm>
          <a:prstGeom prst="rect">
            <a:avLst/>
          </a:prstGeom>
          <a:noFill/>
          <a:ln>
            <a:noFill/>
          </a:ln>
        </p:spPr>
      </p:pic>
      <p:sp>
        <p:nvSpPr>
          <p:cNvPr id="322" name="Google Shape;322;p2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7"/>
          <p:cNvSpPr txBox="1"/>
          <p:nvPr>
            <p:ph type="title"/>
          </p:nvPr>
        </p:nvSpPr>
        <p:spPr>
          <a:xfrm>
            <a:off x="274116" y="474929"/>
            <a:ext cx="4518025" cy="4064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tr-TR" sz="2500">
                <a:solidFill>
                  <a:srgbClr val="FFFFFF"/>
                </a:solidFill>
                <a:latin typeface="Arial"/>
                <a:ea typeface="Arial"/>
                <a:cs typeface="Arial"/>
                <a:sym typeface="Arial"/>
              </a:rPr>
              <a:t>ARAŞTIRMANIN NİTELİKLERİ</a:t>
            </a:r>
            <a:endParaRPr sz="2500">
              <a:latin typeface="Arial"/>
              <a:ea typeface="Arial"/>
              <a:cs typeface="Arial"/>
              <a:sym typeface="Arial"/>
            </a:endParaRPr>
          </a:p>
        </p:txBody>
      </p:sp>
      <p:sp>
        <p:nvSpPr>
          <p:cNvPr id="328" name="Google Shape;328;p27"/>
          <p:cNvSpPr txBox="1"/>
          <p:nvPr>
            <p:ph idx="1" type="body"/>
          </p:nvPr>
        </p:nvSpPr>
        <p:spPr>
          <a:xfrm>
            <a:off x="1011732" y="1905126"/>
            <a:ext cx="7433309" cy="3334374"/>
          </a:xfrm>
          <a:prstGeom prst="rect">
            <a:avLst/>
          </a:prstGeom>
          <a:noFill/>
          <a:ln>
            <a:noFill/>
          </a:ln>
        </p:spPr>
        <p:txBody>
          <a:bodyPr anchorCtr="0" anchor="t" bIns="0" lIns="0" spcFirstLastPara="1" rIns="0" wrap="square" tIns="124575">
            <a:spAutoFit/>
          </a:bodyPr>
          <a:lstStyle/>
          <a:p>
            <a:pPr indent="0" lvl="0" marL="32384" marR="113029" rtl="0" algn="l">
              <a:lnSpc>
                <a:spcPct val="80000"/>
              </a:lnSpc>
              <a:spcBef>
                <a:spcPts val="0"/>
              </a:spcBef>
              <a:spcAft>
                <a:spcPts val="0"/>
              </a:spcAft>
              <a:buNone/>
            </a:pPr>
            <a:r>
              <a:rPr lang="tr-TR" sz="2000"/>
              <a:t>Araştırmanın nitelikleri üzerinde durulması onu daha iyi anlamayı  sağlayacaktır. Karasar (2005) araştırmanın temel niteliklerinden  bazılarını şöyle sıralamıştır:</a:t>
            </a:r>
            <a:endParaRPr sz="2000"/>
          </a:p>
          <a:p>
            <a:pPr indent="-92709" lvl="0" marL="245109" rtl="0" algn="l">
              <a:lnSpc>
                <a:spcPct val="84000"/>
              </a:lnSpc>
              <a:spcBef>
                <a:spcPts val="0"/>
              </a:spcBef>
              <a:spcAft>
                <a:spcPts val="0"/>
              </a:spcAft>
              <a:buClr>
                <a:schemeClr val="dk1"/>
              </a:buClr>
              <a:buSzPts val="1900"/>
              <a:buFont typeface="Arial"/>
              <a:buNone/>
            </a:pPr>
            <a:r>
              <a:t/>
            </a:r>
            <a:endParaRPr sz="2000"/>
          </a:p>
          <a:p>
            <a:pPr indent="-213359" lvl="0" marL="245109" rtl="0" algn="l">
              <a:lnSpc>
                <a:spcPct val="84000"/>
              </a:lnSpc>
              <a:spcBef>
                <a:spcPts val="0"/>
              </a:spcBef>
              <a:spcAft>
                <a:spcPts val="0"/>
              </a:spcAft>
              <a:buClr>
                <a:schemeClr val="dk1"/>
              </a:buClr>
              <a:buSzPts val="1900"/>
              <a:buFont typeface="Arial"/>
              <a:buAutoNum type="arabicPeriod"/>
            </a:pPr>
            <a:r>
              <a:rPr lang="tr-TR" sz="2000"/>
              <a:t>Araştırma, literatürde (alanyazında) bulunmayan “yeni bilgi”</a:t>
            </a:r>
            <a:endParaRPr sz="2000"/>
          </a:p>
          <a:p>
            <a:pPr indent="0" lvl="0" marL="32384" marR="35560" rtl="0" algn="l">
              <a:lnSpc>
                <a:spcPct val="96000"/>
              </a:lnSpc>
              <a:spcBef>
                <a:spcPts val="225"/>
              </a:spcBef>
              <a:spcAft>
                <a:spcPts val="0"/>
              </a:spcAft>
              <a:buNone/>
            </a:pPr>
            <a:r>
              <a:rPr lang="tr-TR" sz="2000"/>
              <a:t>toplar. Bu yeni bilginin türü ve düzeyi, bireyin bilmediği bir konuda  aydınlanmasından, en üst düzeyde, bilime katkı anlamına gelen  yeni kuramların bulunmasına varan ölçüde değişebilir.</a:t>
            </a:r>
            <a:endParaRPr sz="2000"/>
          </a:p>
          <a:p>
            <a:pPr indent="0" lvl="0" marL="32384" marR="35560" rtl="0" algn="l">
              <a:lnSpc>
                <a:spcPct val="96000"/>
              </a:lnSpc>
              <a:spcBef>
                <a:spcPts val="225"/>
              </a:spcBef>
              <a:spcAft>
                <a:spcPts val="0"/>
              </a:spcAft>
              <a:buNone/>
            </a:pPr>
            <a:r>
              <a:t/>
            </a:r>
            <a:endParaRPr sz="2000"/>
          </a:p>
          <a:p>
            <a:pPr indent="0" lvl="0" marL="32384" marR="35560" rtl="0" algn="l">
              <a:lnSpc>
                <a:spcPct val="96000"/>
              </a:lnSpc>
              <a:spcBef>
                <a:spcPts val="225"/>
              </a:spcBef>
              <a:spcAft>
                <a:spcPts val="0"/>
              </a:spcAft>
              <a:buNone/>
            </a:pPr>
            <a:r>
              <a:t/>
            </a:r>
            <a:endParaRPr sz="2000"/>
          </a:p>
          <a:p>
            <a:pPr indent="-120650" lvl="0" marL="32384" marR="5080" rtl="0" algn="l">
              <a:lnSpc>
                <a:spcPct val="80100"/>
              </a:lnSpc>
              <a:spcBef>
                <a:spcPts val="10"/>
              </a:spcBef>
              <a:spcAft>
                <a:spcPts val="0"/>
              </a:spcAft>
              <a:buClr>
                <a:schemeClr val="dk1"/>
              </a:buClr>
              <a:buSzPts val="1900"/>
              <a:buFont typeface="Arial"/>
              <a:buAutoNum type="arabicPeriod" startAt="2"/>
            </a:pPr>
            <a:r>
              <a:rPr lang="tr-TR" sz="2000"/>
              <a:t>Araştırma, problem çözmeye yönelik, yansız ve sistemli bir  süreçtir. Bir şeyi empoze etmeyi değil, onu tanımlamayı, sınamayı  amaçlar.</a:t>
            </a:r>
            <a:endParaRPr sz="2000"/>
          </a:p>
        </p:txBody>
      </p:sp>
      <p:sp>
        <p:nvSpPr>
          <p:cNvPr id="329" name="Google Shape;329;p2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8"/>
          <p:cNvSpPr txBox="1"/>
          <p:nvPr/>
        </p:nvSpPr>
        <p:spPr>
          <a:xfrm>
            <a:off x="1026972" y="1589354"/>
            <a:ext cx="7300595" cy="3684270"/>
          </a:xfrm>
          <a:prstGeom prst="rect">
            <a:avLst/>
          </a:prstGeom>
          <a:noFill/>
          <a:ln>
            <a:noFill/>
          </a:ln>
        </p:spPr>
        <p:txBody>
          <a:bodyPr anchorCtr="0" anchor="t" bIns="0" lIns="0" spcFirstLastPara="1" rIns="0" wrap="square" tIns="12700">
            <a:spAutoFit/>
          </a:bodyPr>
          <a:lstStyle/>
          <a:p>
            <a:pPr indent="-337185" lvl="0" marL="349250" marR="0" rtl="0" algn="l">
              <a:lnSpc>
                <a:spcPct val="113958"/>
              </a:lnSpc>
              <a:spcBef>
                <a:spcPts val="0"/>
              </a:spcBef>
              <a:spcAft>
                <a:spcPts val="0"/>
              </a:spcAft>
              <a:buClr>
                <a:schemeClr val="dk1"/>
              </a:buClr>
              <a:buSzPts val="2400"/>
              <a:buFont typeface="Arial"/>
              <a:buAutoNum type="arabicPeriod" startAt="3"/>
            </a:pPr>
            <a:r>
              <a:rPr lang="tr-TR" sz="2400">
                <a:solidFill>
                  <a:schemeClr val="dk1"/>
                </a:solidFill>
                <a:latin typeface="Arial"/>
                <a:ea typeface="Arial"/>
                <a:cs typeface="Arial"/>
                <a:sym typeface="Arial"/>
              </a:rPr>
              <a:t>Araştırma, bir uzmanlık işidir; araştırma yöntem ve</a:t>
            </a:r>
            <a:endParaRPr/>
          </a:p>
          <a:p>
            <a:pPr indent="0" lvl="0" marL="17145" marR="0" rtl="0" algn="l">
              <a:lnSpc>
                <a:spcPct val="107916"/>
              </a:lnSpc>
              <a:spcBef>
                <a:spcPts val="0"/>
              </a:spcBef>
              <a:spcAft>
                <a:spcPts val="0"/>
              </a:spcAft>
              <a:buNone/>
            </a:pPr>
            <a:r>
              <a:rPr lang="tr-TR" sz="2400">
                <a:solidFill>
                  <a:schemeClr val="dk1"/>
                </a:solidFill>
                <a:latin typeface="Arial"/>
                <a:ea typeface="Arial"/>
                <a:cs typeface="Arial"/>
                <a:sym typeface="Arial"/>
              </a:rPr>
              <a:t>tekniklerinde yetişmişliği gerektirir.</a:t>
            </a:r>
            <a:endParaRPr sz="2400">
              <a:solidFill>
                <a:schemeClr val="dk1"/>
              </a:solidFill>
              <a:latin typeface="Arial"/>
              <a:ea typeface="Arial"/>
              <a:cs typeface="Arial"/>
              <a:sym typeface="Arial"/>
            </a:endParaRPr>
          </a:p>
          <a:p>
            <a:pPr indent="-152400" lvl="0" marL="17145" marR="5080" rtl="0" algn="l">
              <a:lnSpc>
                <a:spcPct val="90000"/>
              </a:lnSpc>
              <a:spcBef>
                <a:spcPts val="145"/>
              </a:spcBef>
              <a:spcAft>
                <a:spcPts val="0"/>
              </a:spcAft>
              <a:buClr>
                <a:schemeClr val="dk1"/>
              </a:buClr>
              <a:buSzPts val="2400"/>
              <a:buFont typeface="Arial"/>
              <a:buAutoNum type="arabicPeriod" startAt="4"/>
            </a:pPr>
            <a:r>
              <a:rPr lang="tr-TR" sz="2400">
                <a:solidFill>
                  <a:schemeClr val="dk1"/>
                </a:solidFill>
                <a:latin typeface="Arial"/>
                <a:ea typeface="Arial"/>
                <a:cs typeface="Arial"/>
                <a:sym typeface="Arial"/>
              </a:rPr>
              <a:t>Araştırma ile, araştırmacının ya da bir başkasının  istediği değil, olası tüm eleştiriler karşısında dayanıklı  (yıkılmayacak) bir sonuca varmak amaçlanır.  5.Araştırmada, olabildiğince, sayılarla ifade edilebilen  veriler toplanır ve sonuçlar da sayılarla ifade edilmeye  çalışılır.</a:t>
            </a:r>
            <a:endParaRPr sz="2400">
              <a:solidFill>
                <a:schemeClr val="dk1"/>
              </a:solidFill>
              <a:latin typeface="Arial"/>
              <a:ea typeface="Arial"/>
              <a:cs typeface="Arial"/>
              <a:sym typeface="Arial"/>
            </a:endParaRPr>
          </a:p>
          <a:p>
            <a:pPr indent="0" lvl="0" marL="17145" marR="113029" rtl="0" algn="l">
              <a:lnSpc>
                <a:spcPct val="107916"/>
              </a:lnSpc>
              <a:spcBef>
                <a:spcPts val="45"/>
              </a:spcBef>
              <a:spcAft>
                <a:spcPts val="0"/>
              </a:spcAft>
              <a:buNone/>
            </a:pPr>
            <a:r>
              <a:rPr lang="tr-TR" sz="2400">
                <a:solidFill>
                  <a:schemeClr val="dk1"/>
                </a:solidFill>
                <a:latin typeface="Arial"/>
                <a:ea typeface="Arial"/>
                <a:cs typeface="Arial"/>
                <a:sym typeface="Arial"/>
              </a:rPr>
              <a:t>6. Araştırmanın dayanakları, kişisel kanılar, beğeniler  değil, ortak ölçütlere göre herkesçe gözlenebilir ve  böylece de sınanabilir (yanlışlanabilir) verilerdir</a:t>
            </a:r>
            <a:endParaRPr sz="2400">
              <a:solidFill>
                <a:schemeClr val="dk1"/>
              </a:solidFill>
              <a:latin typeface="Arial"/>
              <a:ea typeface="Arial"/>
              <a:cs typeface="Arial"/>
              <a:sym typeface="Arial"/>
            </a:endParaRPr>
          </a:p>
        </p:txBody>
      </p:sp>
      <p:sp>
        <p:nvSpPr>
          <p:cNvPr id="335" name="Google Shape;335;p2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9"/>
          <p:cNvSpPr txBox="1"/>
          <p:nvPr/>
        </p:nvSpPr>
        <p:spPr>
          <a:xfrm>
            <a:off x="941628" y="1589354"/>
            <a:ext cx="7483475" cy="3684270"/>
          </a:xfrm>
          <a:prstGeom prst="rect">
            <a:avLst/>
          </a:prstGeom>
          <a:noFill/>
          <a:ln>
            <a:noFill/>
          </a:ln>
        </p:spPr>
        <p:txBody>
          <a:bodyPr anchorCtr="0" anchor="t" bIns="0" lIns="0" spcFirstLastPara="1" rIns="0" wrap="square" tIns="54600">
            <a:spAutoFit/>
          </a:bodyPr>
          <a:lstStyle/>
          <a:p>
            <a:pPr indent="-146049" lvl="0" marL="102235" marR="5080" rtl="0" algn="l">
              <a:lnSpc>
                <a:spcPct val="107916"/>
              </a:lnSpc>
              <a:spcBef>
                <a:spcPts val="0"/>
              </a:spcBef>
              <a:spcAft>
                <a:spcPts val="0"/>
              </a:spcAft>
              <a:buClr>
                <a:schemeClr val="dk1"/>
              </a:buClr>
              <a:buSzPts val="2300"/>
              <a:buFont typeface="Arial"/>
              <a:buAutoNum type="arabicPeriod" startAt="7"/>
            </a:pPr>
            <a:r>
              <a:rPr lang="tr-TR" sz="2400">
                <a:solidFill>
                  <a:schemeClr val="dk1"/>
                </a:solidFill>
                <a:latin typeface="Arial"/>
                <a:ea typeface="Arial"/>
                <a:cs typeface="Arial"/>
                <a:sym typeface="Arial"/>
              </a:rPr>
              <a:t>Araştırma yorumsuz olmaz. Toplanan veriler belirli bir  sistem bütünlüğünde yorumlanmadan, kendi  başlarına, probleme çözüm getirmezler. Yorum ise,</a:t>
            </a:r>
            <a:endParaRPr sz="2400">
              <a:solidFill>
                <a:schemeClr val="dk1"/>
              </a:solidFill>
              <a:latin typeface="Arial"/>
              <a:ea typeface="Arial"/>
              <a:cs typeface="Arial"/>
              <a:sym typeface="Arial"/>
            </a:endParaRPr>
          </a:p>
          <a:p>
            <a:pPr indent="0" lvl="0" marL="102235" marR="0" rtl="0" algn="l">
              <a:lnSpc>
                <a:spcPct val="100625"/>
              </a:lnSpc>
              <a:spcBef>
                <a:spcPts val="0"/>
              </a:spcBef>
              <a:spcAft>
                <a:spcPts val="0"/>
              </a:spcAft>
              <a:buNone/>
            </a:pPr>
            <a:r>
              <a:rPr lang="tr-TR" sz="2400">
                <a:solidFill>
                  <a:schemeClr val="dk1"/>
                </a:solidFill>
                <a:latin typeface="Arial"/>
                <a:ea typeface="Arial"/>
                <a:cs typeface="Arial"/>
                <a:sym typeface="Arial"/>
              </a:rPr>
              <a:t>temelde, öznel bir süreçtir.</a:t>
            </a:r>
            <a:endParaRPr sz="2400">
              <a:solidFill>
                <a:schemeClr val="dk1"/>
              </a:solidFill>
              <a:latin typeface="Arial"/>
              <a:ea typeface="Arial"/>
              <a:cs typeface="Arial"/>
              <a:sym typeface="Arial"/>
            </a:endParaRPr>
          </a:p>
          <a:p>
            <a:pPr indent="-146049" lvl="0" marL="102235" marR="1357630" rtl="0" algn="l">
              <a:lnSpc>
                <a:spcPct val="107916"/>
              </a:lnSpc>
              <a:spcBef>
                <a:spcPts val="185"/>
              </a:spcBef>
              <a:spcAft>
                <a:spcPts val="0"/>
              </a:spcAft>
              <a:buClr>
                <a:schemeClr val="dk1"/>
              </a:buClr>
              <a:buSzPts val="2300"/>
              <a:buFont typeface="Arial"/>
              <a:buAutoNum type="arabicPeriod" startAt="8"/>
            </a:pPr>
            <a:r>
              <a:rPr lang="tr-TR" sz="2400">
                <a:solidFill>
                  <a:schemeClr val="dk1"/>
                </a:solidFill>
                <a:latin typeface="Arial"/>
                <a:ea typeface="Arial"/>
                <a:cs typeface="Arial"/>
                <a:sym typeface="Arial"/>
              </a:rPr>
              <a:t>Araştırma, başkalarınca da tekrarlanabilir  niteliktedir. Süreçleri bellidir ve bir başkasına  tanıtılabilir.</a:t>
            </a:r>
            <a:endParaRPr sz="2400">
              <a:solidFill>
                <a:schemeClr val="dk1"/>
              </a:solidFill>
              <a:latin typeface="Arial"/>
              <a:ea typeface="Arial"/>
              <a:cs typeface="Arial"/>
              <a:sym typeface="Arial"/>
            </a:endParaRPr>
          </a:p>
          <a:p>
            <a:pPr indent="-146049" lvl="0" marL="102235" marR="22225" rtl="0" algn="l">
              <a:lnSpc>
                <a:spcPct val="107916"/>
              </a:lnSpc>
              <a:spcBef>
                <a:spcPts val="5"/>
              </a:spcBef>
              <a:spcAft>
                <a:spcPts val="0"/>
              </a:spcAft>
              <a:buClr>
                <a:schemeClr val="dk1"/>
              </a:buClr>
              <a:buSzPts val="2300"/>
              <a:buFont typeface="Arial"/>
              <a:buAutoNum type="arabicPeriod" startAt="8"/>
            </a:pPr>
            <a:r>
              <a:rPr lang="tr-TR" sz="2400">
                <a:solidFill>
                  <a:schemeClr val="dk1"/>
                </a:solidFill>
                <a:latin typeface="Arial"/>
                <a:ea typeface="Arial"/>
                <a:cs typeface="Arial"/>
                <a:sym typeface="Arial"/>
              </a:rPr>
              <a:t>Araştırma, öteki araştırmacı ve bilim adamları için de  bir anlam taşır.</a:t>
            </a:r>
            <a:endParaRPr sz="2400">
              <a:solidFill>
                <a:schemeClr val="dk1"/>
              </a:solidFill>
              <a:latin typeface="Arial"/>
              <a:ea typeface="Arial"/>
              <a:cs typeface="Arial"/>
              <a:sym typeface="Arial"/>
            </a:endParaRPr>
          </a:p>
          <a:p>
            <a:pPr indent="-146049" lvl="0" marL="102235" marR="223520" rtl="0" algn="l">
              <a:lnSpc>
                <a:spcPct val="107916"/>
              </a:lnSpc>
              <a:spcBef>
                <a:spcPts val="5"/>
              </a:spcBef>
              <a:spcAft>
                <a:spcPts val="0"/>
              </a:spcAft>
              <a:buClr>
                <a:schemeClr val="dk1"/>
              </a:buClr>
              <a:buSzPts val="2300"/>
              <a:buFont typeface="Arial"/>
              <a:buAutoNum type="arabicPeriod" startAt="8"/>
            </a:pPr>
            <a:r>
              <a:rPr lang="tr-TR" sz="2400">
                <a:solidFill>
                  <a:schemeClr val="dk1"/>
                </a:solidFill>
                <a:latin typeface="Arial"/>
                <a:ea typeface="Arial"/>
                <a:cs typeface="Arial"/>
                <a:sym typeface="Arial"/>
              </a:rPr>
              <a:t>Araştırma, önemli tüm süreç ve sonuçları ile rapor  edilen bir çalışma bütünüdür.</a:t>
            </a:r>
            <a:endParaRPr sz="2400">
              <a:solidFill>
                <a:schemeClr val="dk1"/>
              </a:solidFill>
              <a:latin typeface="Arial"/>
              <a:ea typeface="Arial"/>
              <a:cs typeface="Arial"/>
              <a:sym typeface="Arial"/>
            </a:endParaRPr>
          </a:p>
        </p:txBody>
      </p:sp>
      <p:sp>
        <p:nvSpPr>
          <p:cNvPr id="341" name="Google Shape;341;p2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0"/>
          <p:cNvSpPr txBox="1"/>
          <p:nvPr>
            <p:ph type="title"/>
          </p:nvPr>
        </p:nvSpPr>
        <p:spPr>
          <a:xfrm>
            <a:off x="274116" y="441401"/>
            <a:ext cx="3811270" cy="4686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tr-TR" sz="2900">
                <a:solidFill>
                  <a:srgbClr val="FFFFFF"/>
                </a:solidFill>
              </a:rPr>
              <a:t>Bilimsel Araştırma Etiği</a:t>
            </a:r>
            <a:endParaRPr sz="2900"/>
          </a:p>
        </p:txBody>
      </p:sp>
      <p:sp>
        <p:nvSpPr>
          <p:cNvPr id="347" name="Google Shape;347;p30"/>
          <p:cNvSpPr txBox="1"/>
          <p:nvPr/>
        </p:nvSpPr>
        <p:spPr>
          <a:xfrm>
            <a:off x="688340" y="1539062"/>
            <a:ext cx="7729855" cy="3866515"/>
          </a:xfrm>
          <a:prstGeom prst="rect">
            <a:avLst/>
          </a:prstGeom>
          <a:noFill/>
          <a:ln>
            <a:noFill/>
          </a:ln>
        </p:spPr>
        <p:txBody>
          <a:bodyPr anchorCtr="0" anchor="t" bIns="0" lIns="0" spcFirstLastPara="1" rIns="0" wrap="square" tIns="97775">
            <a:spAutoFit/>
          </a:bodyPr>
          <a:lstStyle/>
          <a:p>
            <a:pPr indent="-47625" lvl="0" marL="355600" marR="5080" rtl="0" algn="l">
              <a:lnSpc>
                <a:spcPct val="80000"/>
              </a:lnSpc>
              <a:spcBef>
                <a:spcPts val="0"/>
              </a:spcBef>
              <a:spcAft>
                <a:spcPts val="0"/>
              </a:spcAft>
              <a:buNone/>
            </a:pPr>
            <a:r>
              <a:rPr lang="tr-TR" sz="2800">
                <a:solidFill>
                  <a:schemeClr val="dk1"/>
                </a:solidFill>
                <a:latin typeface="Arial"/>
                <a:ea typeface="Arial"/>
                <a:cs typeface="Arial"/>
                <a:sym typeface="Arial"/>
              </a:rPr>
              <a:t>Bir araştırma projesinin hazırlanma, önerilme,  yürütülme, sonuçlandırılma ve sonuçların  yayımlanması aşamasında görülen etiğe aykırı  kabul edilecek davranışlar şunlardır:</a:t>
            </a:r>
            <a:endParaRPr sz="2800">
              <a:solidFill>
                <a:schemeClr val="dk1"/>
              </a:solidFill>
              <a:latin typeface="Arial"/>
              <a:ea typeface="Arial"/>
              <a:cs typeface="Arial"/>
              <a:sym typeface="Arial"/>
            </a:endParaRPr>
          </a:p>
          <a:p>
            <a:pPr indent="-330200" lvl="0" marL="330200" marR="31115" rtl="0" algn="l">
              <a:lnSpc>
                <a:spcPct val="80000"/>
              </a:lnSpc>
              <a:spcBef>
                <a:spcPts val="0"/>
              </a:spcBef>
              <a:spcAft>
                <a:spcPts val="0"/>
              </a:spcAft>
              <a:buClr>
                <a:schemeClr val="dk1"/>
              </a:buClr>
              <a:buSzPts val="2700"/>
              <a:buFont typeface="Arial"/>
              <a:buAutoNum type="arabicPlain"/>
            </a:pPr>
            <a:r>
              <a:rPr b="1" lang="tr-TR" sz="2800">
                <a:solidFill>
                  <a:schemeClr val="dk1"/>
                </a:solidFill>
                <a:latin typeface="Arial"/>
                <a:ea typeface="Arial"/>
                <a:cs typeface="Arial"/>
                <a:sym typeface="Arial"/>
              </a:rPr>
              <a:t>Uydurma (Fictitious): </a:t>
            </a:r>
            <a:r>
              <a:rPr lang="tr-TR" sz="2800">
                <a:solidFill>
                  <a:schemeClr val="dk1"/>
                </a:solidFill>
                <a:latin typeface="Arial"/>
                <a:ea typeface="Arial"/>
                <a:cs typeface="Arial"/>
                <a:sym typeface="Arial"/>
              </a:rPr>
              <a:t>Araştırmada bulunmayan  verileri üretmek, bunları rapor etmek veya  yayımlamak.</a:t>
            </a:r>
            <a:endParaRPr/>
          </a:p>
          <a:p>
            <a:pPr indent="-343535" lvl="0" marL="355600" marR="0" rtl="0" algn="l">
              <a:lnSpc>
                <a:spcPct val="84107"/>
              </a:lnSpc>
              <a:spcBef>
                <a:spcPts val="0"/>
              </a:spcBef>
              <a:spcAft>
                <a:spcPts val="0"/>
              </a:spcAft>
              <a:buClr>
                <a:schemeClr val="dk1"/>
              </a:buClr>
              <a:buSzPts val="2700"/>
              <a:buFont typeface="Arial"/>
              <a:buAutoNum type="arabicPlain"/>
            </a:pPr>
            <a:r>
              <a:rPr b="1" lang="tr-TR" sz="2800">
                <a:solidFill>
                  <a:schemeClr val="dk1"/>
                </a:solidFill>
                <a:latin typeface="Arial"/>
                <a:ea typeface="Arial"/>
                <a:cs typeface="Arial"/>
                <a:sym typeface="Arial"/>
              </a:rPr>
              <a:t>Çarpıtma (Falsification): </a:t>
            </a:r>
            <a:r>
              <a:rPr lang="tr-TR" sz="2800">
                <a:solidFill>
                  <a:schemeClr val="dk1"/>
                </a:solidFill>
                <a:latin typeface="Arial"/>
                <a:ea typeface="Arial"/>
                <a:cs typeface="Arial"/>
                <a:sym typeface="Arial"/>
              </a:rPr>
              <a:t>Değişik sonuç</a:t>
            </a:r>
            <a:endParaRPr sz="2800">
              <a:solidFill>
                <a:schemeClr val="dk1"/>
              </a:solidFill>
              <a:latin typeface="Arial"/>
              <a:ea typeface="Arial"/>
              <a:cs typeface="Arial"/>
              <a:sym typeface="Arial"/>
            </a:endParaRPr>
          </a:p>
          <a:p>
            <a:pPr indent="0" lvl="0" marL="355600" marR="266065" rtl="0" algn="l">
              <a:lnSpc>
                <a:spcPct val="96071"/>
              </a:lnSpc>
              <a:spcBef>
                <a:spcPts val="315"/>
              </a:spcBef>
              <a:spcAft>
                <a:spcPts val="0"/>
              </a:spcAft>
              <a:buNone/>
            </a:pPr>
            <a:r>
              <a:rPr lang="tr-TR" sz="2800">
                <a:solidFill>
                  <a:schemeClr val="dk1"/>
                </a:solidFill>
                <a:latin typeface="Arial"/>
                <a:ea typeface="Arial"/>
                <a:cs typeface="Arial"/>
                <a:sym typeface="Arial"/>
              </a:rPr>
              <a:t>verebilecek şekilde araştırma materyalleri,  cihazlar, işlemler ve araştırma kayıtlarında  değişiklik yapmak veya sonuçları değiştirmek</a:t>
            </a:r>
            <a:endParaRPr sz="2800">
              <a:solidFill>
                <a:schemeClr val="dk1"/>
              </a:solidFill>
              <a:latin typeface="Arial"/>
              <a:ea typeface="Arial"/>
              <a:cs typeface="Arial"/>
              <a:sym typeface="Arial"/>
            </a:endParaRPr>
          </a:p>
        </p:txBody>
      </p:sp>
      <p:sp>
        <p:nvSpPr>
          <p:cNvPr id="348" name="Google Shape;348;p3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1"/>
          <p:cNvSpPr txBox="1"/>
          <p:nvPr/>
        </p:nvSpPr>
        <p:spPr>
          <a:xfrm>
            <a:off x="688340" y="1589354"/>
            <a:ext cx="7667625" cy="3647440"/>
          </a:xfrm>
          <a:prstGeom prst="rect">
            <a:avLst/>
          </a:prstGeom>
          <a:noFill/>
          <a:ln>
            <a:noFill/>
          </a:ln>
        </p:spPr>
        <p:txBody>
          <a:bodyPr anchorCtr="0" anchor="t" bIns="0" lIns="0" spcFirstLastPara="1" rIns="0" wrap="square" tIns="54600">
            <a:spAutoFit/>
          </a:bodyPr>
          <a:lstStyle/>
          <a:p>
            <a:pPr indent="-284480" lvl="0" marL="284480" marR="866775" rtl="0" algn="l">
              <a:lnSpc>
                <a:spcPct val="107916"/>
              </a:lnSpc>
              <a:spcBef>
                <a:spcPts val="0"/>
              </a:spcBef>
              <a:spcAft>
                <a:spcPts val="0"/>
              </a:spcAft>
              <a:buClr>
                <a:schemeClr val="dk1"/>
              </a:buClr>
              <a:buSzPts val="2300"/>
              <a:buFont typeface="Arial"/>
              <a:buAutoNum type="arabicPlain" startAt="3"/>
            </a:pPr>
            <a:r>
              <a:rPr lang="tr-TR" sz="2400">
                <a:solidFill>
                  <a:schemeClr val="dk1"/>
                </a:solidFill>
                <a:latin typeface="Arial"/>
                <a:ea typeface="Arial"/>
                <a:cs typeface="Arial"/>
                <a:sym typeface="Arial"/>
              </a:rPr>
              <a:t>Uydurma, Yalan Yazma veya Yoktan Var Etme :  Verilerin "saptırılması" veya var olmayan  bilgilerin/verilerin "yoktan var edilmesi“</a:t>
            </a:r>
            <a:endParaRPr sz="2400">
              <a:solidFill>
                <a:schemeClr val="dk1"/>
              </a:solidFill>
              <a:latin typeface="Arial"/>
              <a:ea typeface="Arial"/>
              <a:cs typeface="Arial"/>
              <a:sym typeface="Arial"/>
            </a:endParaRPr>
          </a:p>
          <a:p>
            <a:pPr indent="-343535" lvl="0" marL="355600" marR="0" rtl="0" algn="l">
              <a:lnSpc>
                <a:spcPct val="100000"/>
              </a:lnSpc>
              <a:spcBef>
                <a:spcPts val="254"/>
              </a:spcBef>
              <a:spcAft>
                <a:spcPts val="0"/>
              </a:spcAft>
              <a:buClr>
                <a:schemeClr val="dk1"/>
              </a:buClr>
              <a:buSzPts val="2300"/>
              <a:buFont typeface="Arial"/>
              <a:buAutoNum type="arabicPlain" startAt="3"/>
            </a:pPr>
            <a:r>
              <a:rPr b="1" lang="tr-TR" sz="2400">
                <a:solidFill>
                  <a:schemeClr val="dk1"/>
                </a:solidFill>
                <a:latin typeface="Arial"/>
                <a:ea typeface="Arial"/>
                <a:cs typeface="Arial"/>
                <a:sym typeface="Arial"/>
              </a:rPr>
              <a:t>Aşırma (Plagiarism):</a:t>
            </a:r>
            <a:endParaRPr b="1" sz="2400">
              <a:solidFill>
                <a:schemeClr val="dk1"/>
              </a:solidFill>
              <a:latin typeface="Arial"/>
              <a:ea typeface="Arial"/>
              <a:cs typeface="Arial"/>
              <a:sym typeface="Arial"/>
            </a:endParaRPr>
          </a:p>
          <a:p>
            <a:pPr indent="0" lvl="0" marL="355600" marR="0" rtl="0" algn="l">
              <a:lnSpc>
                <a:spcPct val="113958"/>
              </a:lnSpc>
              <a:spcBef>
                <a:spcPts val="290"/>
              </a:spcBef>
              <a:spcAft>
                <a:spcPts val="0"/>
              </a:spcAft>
              <a:buNone/>
            </a:pPr>
            <a:r>
              <a:rPr lang="tr-TR" sz="2400">
                <a:solidFill>
                  <a:schemeClr val="dk1"/>
                </a:solidFill>
                <a:latin typeface="Arial"/>
                <a:ea typeface="Arial"/>
                <a:cs typeface="Arial"/>
                <a:sym typeface="Arial"/>
              </a:rPr>
              <a:t>Başkalarının fikirlerini, metodlarını, verilerini, yazılarını</a:t>
            </a:r>
            <a:endParaRPr sz="2400">
              <a:solidFill>
                <a:schemeClr val="dk1"/>
              </a:solidFill>
              <a:latin typeface="Arial"/>
              <a:ea typeface="Arial"/>
              <a:cs typeface="Arial"/>
              <a:sym typeface="Arial"/>
            </a:endParaRPr>
          </a:p>
          <a:p>
            <a:pPr indent="0" lvl="0" marL="355600" marR="0" rtl="0" algn="l">
              <a:lnSpc>
                <a:spcPct val="113958"/>
              </a:lnSpc>
              <a:spcBef>
                <a:spcPts val="0"/>
              </a:spcBef>
              <a:spcAft>
                <a:spcPts val="0"/>
              </a:spcAft>
              <a:buNone/>
            </a:pPr>
            <a:r>
              <a:rPr lang="tr-TR" sz="2400">
                <a:solidFill>
                  <a:schemeClr val="dk1"/>
                </a:solidFill>
                <a:latin typeface="Arial"/>
                <a:ea typeface="Arial"/>
                <a:cs typeface="Arial"/>
                <a:sym typeface="Arial"/>
              </a:rPr>
              <a:t>ve şekillerini sahiplerine atıf yapmadan kullanmak</a:t>
            </a:r>
            <a:endParaRPr sz="2400">
              <a:solidFill>
                <a:schemeClr val="dk1"/>
              </a:solidFill>
              <a:latin typeface="Arial"/>
              <a:ea typeface="Arial"/>
              <a:cs typeface="Arial"/>
              <a:sym typeface="Arial"/>
            </a:endParaRPr>
          </a:p>
          <a:p>
            <a:pPr indent="-343535" lvl="0" marL="355600" marR="0" rtl="0" algn="l">
              <a:lnSpc>
                <a:spcPct val="100000"/>
              </a:lnSpc>
              <a:spcBef>
                <a:spcPts val="285"/>
              </a:spcBef>
              <a:spcAft>
                <a:spcPts val="0"/>
              </a:spcAft>
              <a:buClr>
                <a:schemeClr val="dk1"/>
              </a:buClr>
              <a:buSzPts val="2300"/>
              <a:buFont typeface="Arial"/>
              <a:buAutoNum type="arabicPlain" startAt="5"/>
            </a:pPr>
            <a:r>
              <a:rPr b="1" lang="tr-TR" sz="2400">
                <a:solidFill>
                  <a:schemeClr val="dk1"/>
                </a:solidFill>
                <a:latin typeface="Arial"/>
                <a:ea typeface="Arial"/>
                <a:cs typeface="Arial"/>
                <a:sym typeface="Arial"/>
              </a:rPr>
              <a:t>Bilimsel korsanlık (scientific piracy) :</a:t>
            </a:r>
            <a:endParaRPr/>
          </a:p>
          <a:p>
            <a:pPr indent="0" lvl="0" marL="355600" marR="173355" rtl="0" algn="l">
              <a:lnSpc>
                <a:spcPct val="107916"/>
              </a:lnSpc>
              <a:spcBef>
                <a:spcPts val="620"/>
              </a:spcBef>
              <a:spcAft>
                <a:spcPts val="0"/>
              </a:spcAft>
              <a:buNone/>
            </a:pPr>
            <a:r>
              <a:rPr lang="tr-TR" sz="2400">
                <a:solidFill>
                  <a:schemeClr val="dk1"/>
                </a:solidFill>
                <a:latin typeface="Arial"/>
                <a:ea typeface="Arial"/>
                <a:cs typeface="Arial"/>
                <a:sym typeface="Arial"/>
              </a:rPr>
              <a:t>Başka araştırıcıların verilerini (yazı, şekil, grafik, v.b.)  kendi izni olmadan almak, ve kişinin kendi  çalışmasının herhangi bir bölümüne yerleştirmek.</a:t>
            </a:r>
            <a:endParaRPr sz="2400">
              <a:solidFill>
                <a:schemeClr val="dk1"/>
              </a:solidFill>
              <a:latin typeface="Arial"/>
              <a:ea typeface="Arial"/>
              <a:cs typeface="Arial"/>
              <a:sym typeface="Arial"/>
            </a:endParaRPr>
          </a:p>
        </p:txBody>
      </p:sp>
      <p:sp>
        <p:nvSpPr>
          <p:cNvPr id="354" name="Google Shape;354;p3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2"/>
          <p:cNvSpPr txBox="1"/>
          <p:nvPr/>
        </p:nvSpPr>
        <p:spPr>
          <a:xfrm>
            <a:off x="688340" y="1552802"/>
            <a:ext cx="7567930" cy="3830320"/>
          </a:xfrm>
          <a:prstGeom prst="rect">
            <a:avLst/>
          </a:prstGeom>
          <a:noFill/>
          <a:ln>
            <a:noFill/>
          </a:ln>
        </p:spPr>
        <p:txBody>
          <a:bodyPr anchorCtr="0" anchor="t" bIns="0" lIns="0" spcFirstLastPara="1" rIns="0" wrap="square" tIns="49525">
            <a:spAutoFit/>
          </a:bodyPr>
          <a:lstStyle/>
          <a:p>
            <a:pPr indent="-355600" lvl="0" marL="367665" marR="0" rtl="0" algn="l">
              <a:lnSpc>
                <a:spcPct val="100000"/>
              </a:lnSpc>
              <a:spcBef>
                <a:spcPts val="0"/>
              </a:spcBef>
              <a:spcAft>
                <a:spcPts val="0"/>
              </a:spcAft>
              <a:buClr>
                <a:schemeClr val="dk1"/>
              </a:buClr>
              <a:buSzPts val="2400"/>
              <a:buFont typeface="Arial"/>
              <a:buAutoNum type="arabicPlain" startAt="6"/>
            </a:pPr>
            <a:r>
              <a:rPr b="1" lang="tr-TR" sz="2400">
                <a:solidFill>
                  <a:schemeClr val="dk1"/>
                </a:solidFill>
                <a:latin typeface="Arial"/>
                <a:ea typeface="Arial"/>
                <a:cs typeface="Arial"/>
                <a:sym typeface="Arial"/>
              </a:rPr>
              <a:t>Duplikasyon (Duplication):</a:t>
            </a:r>
            <a:endParaRPr b="1" sz="2400">
              <a:solidFill>
                <a:schemeClr val="dk1"/>
              </a:solidFill>
              <a:latin typeface="Arial"/>
              <a:ea typeface="Arial"/>
              <a:cs typeface="Arial"/>
              <a:sym typeface="Arial"/>
            </a:endParaRPr>
          </a:p>
          <a:p>
            <a:pPr indent="0" lvl="0" marL="355600" marR="5080" rtl="0" algn="l">
              <a:lnSpc>
                <a:spcPct val="107916"/>
              </a:lnSpc>
              <a:spcBef>
                <a:spcPts val="615"/>
              </a:spcBef>
              <a:spcAft>
                <a:spcPts val="0"/>
              </a:spcAft>
              <a:buNone/>
            </a:pPr>
            <a:r>
              <a:rPr lang="tr-TR" sz="2400">
                <a:solidFill>
                  <a:schemeClr val="dk1"/>
                </a:solidFill>
                <a:latin typeface="Arial"/>
                <a:ea typeface="Arial"/>
                <a:cs typeface="Arial"/>
                <a:sym typeface="Arial"/>
              </a:rPr>
              <a:t>Aynı araştırma sonuçlarını birden fazla dergiye yayım  için göndermek veya yayımlamak.</a:t>
            </a:r>
            <a:endParaRPr sz="2400">
              <a:solidFill>
                <a:schemeClr val="dk1"/>
              </a:solidFill>
              <a:latin typeface="Arial"/>
              <a:ea typeface="Arial"/>
              <a:cs typeface="Arial"/>
              <a:sym typeface="Arial"/>
            </a:endParaRPr>
          </a:p>
          <a:p>
            <a:pPr indent="-343535" lvl="0" marL="355600" marR="69215" rtl="0" algn="just">
              <a:lnSpc>
                <a:spcPct val="107916"/>
              </a:lnSpc>
              <a:spcBef>
                <a:spcPts val="1445"/>
              </a:spcBef>
              <a:spcAft>
                <a:spcPts val="0"/>
              </a:spcAft>
              <a:buClr>
                <a:schemeClr val="dk1"/>
              </a:buClr>
              <a:buSzPts val="2400"/>
              <a:buFont typeface="Arial"/>
              <a:buAutoNum type="arabicPlain" startAt="7"/>
            </a:pPr>
            <a:r>
              <a:rPr lang="tr-TR" sz="2400">
                <a:solidFill>
                  <a:schemeClr val="dk1"/>
                </a:solidFill>
                <a:latin typeface="Arial"/>
                <a:ea typeface="Arial"/>
                <a:cs typeface="Arial"/>
                <a:sym typeface="Arial"/>
              </a:rPr>
              <a:t>Araştırıcı ve ekibi beklediği değil, gözlediği sonuçlara  olabildiğince objektif olarak yaklaşmayı bilmelidir.</a:t>
            </a:r>
            <a:endParaRPr sz="2400">
              <a:solidFill>
                <a:schemeClr val="dk1"/>
              </a:solidFill>
              <a:latin typeface="Arial"/>
              <a:ea typeface="Arial"/>
              <a:cs typeface="Arial"/>
              <a:sym typeface="Arial"/>
            </a:endParaRPr>
          </a:p>
          <a:p>
            <a:pPr indent="0" lvl="0" marL="355600" marR="651510" rtl="0" algn="l">
              <a:lnSpc>
                <a:spcPct val="107916"/>
              </a:lnSpc>
              <a:spcBef>
                <a:spcPts val="5"/>
              </a:spcBef>
              <a:spcAft>
                <a:spcPts val="0"/>
              </a:spcAft>
              <a:buNone/>
            </a:pPr>
            <a:r>
              <a:rPr lang="tr-TR" sz="2400">
                <a:solidFill>
                  <a:schemeClr val="dk1"/>
                </a:solidFill>
                <a:latin typeface="Arial"/>
                <a:ea typeface="Arial"/>
                <a:cs typeface="Arial"/>
                <a:sym typeface="Arial"/>
              </a:rPr>
              <a:t>Kendi yanlılığını çürütecek tüm karşı düşünceleri  araştırmalarında kullanmalıdır.</a:t>
            </a:r>
            <a:endParaRPr sz="2400">
              <a:solidFill>
                <a:schemeClr val="dk1"/>
              </a:solidFill>
              <a:latin typeface="Arial"/>
              <a:ea typeface="Arial"/>
              <a:cs typeface="Arial"/>
              <a:sym typeface="Arial"/>
            </a:endParaRPr>
          </a:p>
          <a:p>
            <a:pPr indent="-343535" lvl="0" marL="355600" marR="232409" rtl="0" algn="just">
              <a:lnSpc>
                <a:spcPct val="107916"/>
              </a:lnSpc>
              <a:spcBef>
                <a:spcPts val="1445"/>
              </a:spcBef>
              <a:spcAft>
                <a:spcPts val="0"/>
              </a:spcAft>
              <a:buClr>
                <a:schemeClr val="dk1"/>
              </a:buClr>
              <a:buSzPts val="2400"/>
              <a:buFont typeface="Arial"/>
              <a:buAutoNum type="arabicPlain" startAt="8"/>
            </a:pPr>
            <a:r>
              <a:rPr lang="tr-TR" sz="2400">
                <a:solidFill>
                  <a:schemeClr val="dk1"/>
                </a:solidFill>
                <a:latin typeface="Arial"/>
                <a:ea typeface="Arial"/>
                <a:cs typeface="Arial"/>
                <a:sym typeface="Arial"/>
              </a:rPr>
              <a:t>Kontrol ve deney gruplarından elde edilen veriler ve  kayıtlar dokümanları çok iyi bir şekilde korunmalı ve  saklanmalıdır (en az 5 yıl).</a:t>
            </a:r>
            <a:endParaRPr sz="2400">
              <a:solidFill>
                <a:schemeClr val="dk1"/>
              </a:solidFill>
              <a:latin typeface="Arial"/>
              <a:ea typeface="Arial"/>
              <a:cs typeface="Arial"/>
              <a:sym typeface="Arial"/>
            </a:endParaRPr>
          </a:p>
        </p:txBody>
      </p:sp>
      <p:sp>
        <p:nvSpPr>
          <p:cNvPr id="360" name="Google Shape;360;p3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3"/>
          <p:cNvSpPr txBox="1"/>
          <p:nvPr>
            <p:ph type="title"/>
          </p:nvPr>
        </p:nvSpPr>
        <p:spPr>
          <a:xfrm>
            <a:off x="274116" y="337769"/>
            <a:ext cx="6221730" cy="6661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tr-TR" sz="4200">
                <a:solidFill>
                  <a:srgbClr val="FFFFFF"/>
                </a:solidFill>
              </a:rPr>
              <a:t>Bilimsel araştırma çeşitleri</a:t>
            </a:r>
            <a:endParaRPr sz="4200"/>
          </a:p>
        </p:txBody>
      </p:sp>
      <p:sp>
        <p:nvSpPr>
          <p:cNvPr id="366" name="Google Shape;366;p33"/>
          <p:cNvSpPr txBox="1"/>
          <p:nvPr/>
        </p:nvSpPr>
        <p:spPr>
          <a:xfrm>
            <a:off x="688340" y="1539062"/>
            <a:ext cx="7769860" cy="4277453"/>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tr-TR" sz="2400">
                <a:solidFill>
                  <a:schemeClr val="dk1"/>
                </a:solidFill>
                <a:latin typeface="Arial"/>
                <a:ea typeface="Arial"/>
                <a:cs typeface="Arial"/>
                <a:sym typeface="Arial"/>
              </a:rPr>
              <a:t>1.Araştırmanın amaca göre sınıflandırılması:  </a:t>
            </a:r>
            <a:r>
              <a:rPr b="1" lang="tr-TR" sz="2400">
                <a:solidFill>
                  <a:schemeClr val="dk1"/>
                </a:solidFill>
                <a:latin typeface="Arial"/>
                <a:ea typeface="Arial"/>
                <a:cs typeface="Arial"/>
                <a:sym typeface="Arial"/>
              </a:rPr>
              <a:t>a.Keşfedici araştırma</a:t>
            </a:r>
            <a:r>
              <a:rPr lang="tr-TR" sz="2400">
                <a:solidFill>
                  <a:schemeClr val="dk1"/>
                </a:solidFill>
                <a:latin typeface="Arial"/>
                <a:ea typeface="Arial"/>
                <a:cs typeface="Arial"/>
                <a:sym typeface="Arial"/>
              </a:rPr>
              <a:t>: Varlığı bilinmeyen birşeyi ortaya çıkarma niteliğindeki araştırmadır.</a:t>
            </a:r>
            <a:endParaRPr sz="2400">
              <a:solidFill>
                <a:schemeClr val="dk1"/>
              </a:solidFill>
              <a:latin typeface="Arial"/>
              <a:ea typeface="Arial"/>
              <a:cs typeface="Arial"/>
              <a:sym typeface="Arial"/>
            </a:endParaRPr>
          </a:p>
          <a:p>
            <a:pPr indent="-343535" lvl="0" marL="355600" marR="52705" rtl="0" algn="l">
              <a:lnSpc>
                <a:spcPct val="80000"/>
              </a:lnSpc>
              <a:spcBef>
                <a:spcPts val="675"/>
              </a:spcBef>
              <a:spcAft>
                <a:spcPts val="0"/>
              </a:spcAft>
              <a:buNone/>
            </a:pPr>
            <a:r>
              <a:rPr b="1" lang="tr-TR" sz="2400">
                <a:solidFill>
                  <a:schemeClr val="dk1"/>
                </a:solidFill>
                <a:latin typeface="Arial"/>
                <a:ea typeface="Arial"/>
                <a:cs typeface="Arial"/>
                <a:sym typeface="Arial"/>
              </a:rPr>
              <a:t>b.Tamamlayıcı ve betimleyici ya da durum  saptayıcı araştırma</a:t>
            </a:r>
            <a:r>
              <a:rPr lang="tr-TR"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a:p>
            <a:pPr indent="-343535" lvl="0" marL="355600" marR="52705" rtl="0" algn="l">
              <a:lnSpc>
                <a:spcPct val="80000"/>
              </a:lnSpc>
              <a:spcBef>
                <a:spcPts val="675"/>
              </a:spcBef>
              <a:spcAft>
                <a:spcPts val="0"/>
              </a:spcAft>
              <a:buNone/>
            </a:pPr>
            <a:r>
              <a:rPr lang="tr-TR" sz="2400">
                <a:solidFill>
                  <a:schemeClr val="dk1"/>
                </a:solidFill>
                <a:latin typeface="Arial"/>
                <a:ea typeface="Arial"/>
                <a:cs typeface="Arial"/>
                <a:sym typeface="Arial"/>
              </a:rPr>
              <a:t> Bireyin,toplumun ya da  olayların özelliklerini tanımlamak için yapılan  araştırmadır (Sümbüloğlu, 2002).</a:t>
            </a:r>
            <a:endParaRPr sz="2400">
              <a:solidFill>
                <a:schemeClr val="dk1"/>
              </a:solidFill>
              <a:latin typeface="Arial"/>
              <a:ea typeface="Arial"/>
              <a:cs typeface="Arial"/>
              <a:sym typeface="Arial"/>
            </a:endParaRPr>
          </a:p>
          <a:p>
            <a:pPr indent="0" lvl="0" marL="12700" marR="0" rtl="0" algn="l">
              <a:lnSpc>
                <a:spcPct val="126041"/>
              </a:lnSpc>
              <a:spcBef>
                <a:spcPts val="0"/>
              </a:spcBef>
              <a:spcAft>
                <a:spcPts val="0"/>
              </a:spcAft>
              <a:buNone/>
            </a:pPr>
            <a:r>
              <a:rPr b="1" lang="tr-TR" sz="2400">
                <a:solidFill>
                  <a:schemeClr val="dk1"/>
                </a:solidFill>
                <a:latin typeface="Arial"/>
                <a:ea typeface="Arial"/>
                <a:cs typeface="Arial"/>
                <a:sym typeface="Arial"/>
              </a:rPr>
              <a:t>c.Nedensellik ilişkilerini araştırıcı</a:t>
            </a:r>
            <a:endParaRPr/>
          </a:p>
          <a:p>
            <a:pPr indent="0" lvl="0" marL="355600" marR="289560" rtl="0" algn="just">
              <a:lnSpc>
                <a:spcPct val="112083"/>
              </a:lnSpc>
              <a:spcBef>
                <a:spcPts val="315"/>
              </a:spcBef>
              <a:spcAft>
                <a:spcPts val="0"/>
              </a:spcAft>
              <a:buNone/>
            </a:pPr>
            <a:r>
              <a:rPr b="1" lang="tr-TR" sz="2400">
                <a:solidFill>
                  <a:schemeClr val="dk1"/>
                </a:solidFill>
                <a:latin typeface="Arial"/>
                <a:ea typeface="Arial"/>
                <a:cs typeface="Arial"/>
                <a:sym typeface="Arial"/>
              </a:rPr>
              <a:t>Araştırma: </a:t>
            </a:r>
            <a:endParaRPr/>
          </a:p>
          <a:p>
            <a:pPr indent="0" lvl="0" marL="355600" marR="289560" rtl="0" algn="just">
              <a:lnSpc>
                <a:spcPct val="112083"/>
              </a:lnSpc>
              <a:spcBef>
                <a:spcPts val="315"/>
              </a:spcBef>
              <a:spcAft>
                <a:spcPts val="0"/>
              </a:spcAft>
              <a:buNone/>
            </a:pPr>
            <a:r>
              <a:rPr lang="tr-TR" sz="2400">
                <a:solidFill>
                  <a:schemeClr val="dk1"/>
                </a:solidFill>
                <a:latin typeface="Arial"/>
                <a:ea typeface="Arial"/>
                <a:cs typeface="Arial"/>
                <a:sym typeface="Arial"/>
              </a:rPr>
              <a:t>Değişkenler arasındaki nedensel  ilişkileri incelemek için yapılan araştırmadır  (Sümbüloğlu,2002).</a:t>
            </a:r>
            <a:endParaRPr sz="2400">
              <a:solidFill>
                <a:schemeClr val="dk1"/>
              </a:solidFill>
              <a:latin typeface="Arial"/>
              <a:ea typeface="Arial"/>
              <a:cs typeface="Arial"/>
              <a:sym typeface="Arial"/>
            </a:endParaRPr>
          </a:p>
        </p:txBody>
      </p:sp>
      <p:sp>
        <p:nvSpPr>
          <p:cNvPr id="367" name="Google Shape;367;p3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4"/>
          <p:cNvSpPr txBox="1"/>
          <p:nvPr/>
        </p:nvSpPr>
        <p:spPr>
          <a:xfrm>
            <a:off x="688340" y="1581734"/>
            <a:ext cx="7584440" cy="4464050"/>
          </a:xfrm>
          <a:prstGeom prst="rect">
            <a:avLst/>
          </a:prstGeom>
          <a:noFill/>
          <a:ln>
            <a:noFill/>
          </a:ln>
        </p:spPr>
        <p:txBody>
          <a:bodyPr anchorCtr="0" anchor="t" bIns="0" lIns="0" spcFirstLastPara="1" rIns="0" wrap="square" tIns="60950">
            <a:spAutoFit/>
          </a:bodyPr>
          <a:lstStyle/>
          <a:p>
            <a:pPr indent="-343535" lvl="0" marL="355600" marR="1410335" rtl="0" algn="l">
              <a:lnSpc>
                <a:spcPct val="107857"/>
              </a:lnSpc>
              <a:spcBef>
                <a:spcPts val="0"/>
              </a:spcBef>
              <a:spcAft>
                <a:spcPts val="0"/>
              </a:spcAft>
              <a:buNone/>
            </a:pPr>
            <a:r>
              <a:rPr lang="tr-TR" sz="2800">
                <a:solidFill>
                  <a:schemeClr val="dk1"/>
                </a:solidFill>
                <a:latin typeface="Arial"/>
                <a:ea typeface="Arial"/>
                <a:cs typeface="Arial"/>
                <a:sym typeface="Arial"/>
              </a:rPr>
              <a:t>2.Araştırmanın kapsadığı zamana göre  sınıflandırılması:</a:t>
            </a:r>
            <a:endParaRPr sz="2800">
              <a:solidFill>
                <a:schemeClr val="dk1"/>
              </a:solidFill>
              <a:latin typeface="Arial"/>
              <a:ea typeface="Arial"/>
              <a:cs typeface="Arial"/>
              <a:sym typeface="Arial"/>
            </a:endParaRPr>
          </a:p>
          <a:p>
            <a:pPr indent="-343535" lvl="0" marL="355600" marR="5080" rtl="0" algn="l">
              <a:lnSpc>
                <a:spcPct val="108214"/>
              </a:lnSpc>
              <a:spcBef>
                <a:spcPts val="675"/>
              </a:spcBef>
              <a:spcAft>
                <a:spcPts val="0"/>
              </a:spcAft>
              <a:buNone/>
            </a:pPr>
            <a:r>
              <a:rPr b="1" lang="tr-TR" sz="2800">
                <a:solidFill>
                  <a:schemeClr val="dk1"/>
                </a:solidFill>
                <a:latin typeface="Arial"/>
                <a:ea typeface="Arial"/>
                <a:cs typeface="Arial"/>
                <a:sym typeface="Arial"/>
              </a:rPr>
              <a:t>a.Kesitsel araştırmalar: </a:t>
            </a:r>
            <a:r>
              <a:rPr lang="tr-TR" sz="2800">
                <a:solidFill>
                  <a:schemeClr val="dk1"/>
                </a:solidFill>
                <a:latin typeface="Arial"/>
                <a:ea typeface="Arial"/>
                <a:cs typeface="Arial"/>
                <a:sym typeface="Arial"/>
              </a:rPr>
              <a:t>Herhangi bir olayın belirli  bir zaman kesiti içinde</a:t>
            </a:r>
            <a:endParaRPr sz="2800">
              <a:solidFill>
                <a:schemeClr val="dk1"/>
              </a:solidFill>
              <a:latin typeface="Arial"/>
              <a:ea typeface="Arial"/>
              <a:cs typeface="Arial"/>
              <a:sym typeface="Arial"/>
            </a:endParaRPr>
          </a:p>
          <a:p>
            <a:pPr indent="0" lvl="0" marL="355600" marR="0" rtl="0" algn="l">
              <a:lnSpc>
                <a:spcPct val="100178"/>
              </a:lnSpc>
              <a:spcBef>
                <a:spcPts val="0"/>
              </a:spcBef>
              <a:spcAft>
                <a:spcPts val="0"/>
              </a:spcAft>
              <a:buNone/>
            </a:pPr>
            <a:r>
              <a:rPr lang="tr-TR" sz="2800">
                <a:solidFill>
                  <a:schemeClr val="dk1"/>
                </a:solidFill>
                <a:latin typeface="Arial"/>
                <a:ea typeface="Arial"/>
                <a:cs typeface="Arial"/>
                <a:sym typeface="Arial"/>
              </a:rPr>
              <a:t>araştırılmasıdır.Sayım,durum saptama ve</a:t>
            </a:r>
            <a:endParaRPr sz="2800">
              <a:solidFill>
                <a:schemeClr val="dk1"/>
              </a:solidFill>
              <a:latin typeface="Arial"/>
              <a:ea typeface="Arial"/>
              <a:cs typeface="Arial"/>
              <a:sym typeface="Arial"/>
            </a:endParaRPr>
          </a:p>
          <a:p>
            <a:pPr indent="0" lvl="0" marL="355600" marR="453390" rtl="0" algn="l">
              <a:lnSpc>
                <a:spcPct val="107857"/>
              </a:lnSpc>
              <a:spcBef>
                <a:spcPts val="215"/>
              </a:spcBef>
              <a:spcAft>
                <a:spcPts val="0"/>
              </a:spcAft>
              <a:buNone/>
            </a:pPr>
            <a:r>
              <a:rPr lang="tr-TR" sz="2800">
                <a:solidFill>
                  <a:schemeClr val="dk1"/>
                </a:solidFill>
                <a:latin typeface="Arial"/>
                <a:ea typeface="Arial"/>
                <a:cs typeface="Arial"/>
                <a:sym typeface="Arial"/>
              </a:rPr>
              <a:t>tarama araştırmaları bu gruptandır (Gökçe,  2004).</a:t>
            </a:r>
            <a:endParaRPr sz="2800">
              <a:solidFill>
                <a:schemeClr val="dk1"/>
              </a:solidFill>
              <a:latin typeface="Arial"/>
              <a:ea typeface="Arial"/>
              <a:cs typeface="Arial"/>
              <a:sym typeface="Arial"/>
            </a:endParaRPr>
          </a:p>
          <a:p>
            <a:pPr indent="-343535" lvl="0" marL="355600" marR="320675" rtl="0" algn="l">
              <a:lnSpc>
                <a:spcPct val="107857"/>
              </a:lnSpc>
              <a:spcBef>
                <a:spcPts val="680"/>
              </a:spcBef>
              <a:spcAft>
                <a:spcPts val="0"/>
              </a:spcAft>
              <a:buNone/>
            </a:pPr>
            <a:r>
              <a:rPr b="1" lang="tr-TR" sz="2800">
                <a:solidFill>
                  <a:schemeClr val="dk1"/>
                </a:solidFill>
                <a:latin typeface="Arial"/>
                <a:ea typeface="Arial"/>
                <a:cs typeface="Arial"/>
                <a:sym typeface="Arial"/>
              </a:rPr>
              <a:t>b.Dönemsel araştırmalar: </a:t>
            </a:r>
            <a:r>
              <a:rPr lang="tr-TR" sz="2800">
                <a:solidFill>
                  <a:schemeClr val="dk1"/>
                </a:solidFill>
                <a:latin typeface="Arial"/>
                <a:ea typeface="Arial"/>
                <a:cs typeface="Arial"/>
                <a:sym typeface="Arial"/>
              </a:rPr>
              <a:t>Bu araştırmalar ikiye  ayrılmıştır:Geçmişe yönelik yapılan</a:t>
            </a:r>
            <a:endParaRPr sz="2800">
              <a:solidFill>
                <a:schemeClr val="dk1"/>
              </a:solidFill>
              <a:latin typeface="Arial"/>
              <a:ea typeface="Arial"/>
              <a:cs typeface="Arial"/>
              <a:sym typeface="Arial"/>
            </a:endParaRPr>
          </a:p>
          <a:p>
            <a:pPr indent="0" lvl="0" marL="355600" marR="849630" rtl="0" algn="l">
              <a:lnSpc>
                <a:spcPct val="108214"/>
              </a:lnSpc>
              <a:spcBef>
                <a:spcPts val="0"/>
              </a:spcBef>
              <a:spcAft>
                <a:spcPts val="0"/>
              </a:spcAft>
              <a:buNone/>
            </a:pPr>
            <a:r>
              <a:rPr lang="tr-TR" sz="2800">
                <a:solidFill>
                  <a:schemeClr val="dk1"/>
                </a:solidFill>
                <a:latin typeface="Arial"/>
                <a:ea typeface="Arial"/>
                <a:cs typeface="Arial"/>
                <a:sym typeface="Arial"/>
              </a:rPr>
              <a:t>araştırmalar ve geleceğe yönelik yapılan  araştırmalar</a:t>
            </a:r>
            <a:endParaRPr sz="2800">
              <a:solidFill>
                <a:schemeClr val="dk1"/>
              </a:solidFill>
              <a:latin typeface="Arial"/>
              <a:ea typeface="Arial"/>
              <a:cs typeface="Arial"/>
              <a:sym typeface="Arial"/>
            </a:endParaRPr>
          </a:p>
        </p:txBody>
      </p:sp>
      <p:sp>
        <p:nvSpPr>
          <p:cNvPr id="373" name="Google Shape;373;p3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5"/>
          <p:cNvSpPr txBox="1"/>
          <p:nvPr/>
        </p:nvSpPr>
        <p:spPr>
          <a:xfrm>
            <a:off x="688340" y="1552397"/>
            <a:ext cx="7671434" cy="4686924"/>
          </a:xfrm>
          <a:prstGeom prst="rect">
            <a:avLst/>
          </a:prstGeom>
          <a:noFill/>
          <a:ln>
            <a:noFill/>
          </a:ln>
        </p:spPr>
        <p:txBody>
          <a:bodyPr anchorCtr="0" anchor="t" bIns="0" lIns="0" spcFirstLastPara="1" rIns="0" wrap="square" tIns="12700">
            <a:spAutoFit/>
          </a:bodyPr>
          <a:lstStyle/>
          <a:p>
            <a:pPr indent="0" lvl="0" marL="12700" marR="0" rtl="0" algn="l">
              <a:lnSpc>
                <a:spcPct val="108124"/>
              </a:lnSpc>
              <a:spcBef>
                <a:spcPts val="0"/>
              </a:spcBef>
              <a:spcAft>
                <a:spcPts val="0"/>
              </a:spcAft>
              <a:buNone/>
            </a:pPr>
            <a:r>
              <a:rPr lang="tr-TR" sz="2400">
                <a:solidFill>
                  <a:schemeClr val="dk1"/>
                </a:solidFill>
                <a:latin typeface="Arial"/>
                <a:ea typeface="Arial"/>
                <a:cs typeface="Arial"/>
                <a:sym typeface="Arial"/>
              </a:rPr>
              <a:t>3.Araştırmanın kullanılan teknikler açısından</a:t>
            </a:r>
            <a:endParaRPr sz="2400">
              <a:solidFill>
                <a:schemeClr val="dk1"/>
              </a:solidFill>
              <a:latin typeface="Arial"/>
              <a:ea typeface="Arial"/>
              <a:cs typeface="Arial"/>
              <a:sym typeface="Arial"/>
            </a:endParaRPr>
          </a:p>
          <a:p>
            <a:pPr indent="0" lvl="0" marL="355600" marR="0" rtl="0" algn="l">
              <a:lnSpc>
                <a:spcPct val="108124"/>
              </a:lnSpc>
              <a:spcBef>
                <a:spcPts val="0"/>
              </a:spcBef>
              <a:spcAft>
                <a:spcPts val="0"/>
              </a:spcAft>
              <a:buNone/>
            </a:pPr>
            <a:r>
              <a:rPr lang="tr-TR" sz="2400">
                <a:solidFill>
                  <a:schemeClr val="dk1"/>
                </a:solidFill>
                <a:latin typeface="Arial"/>
                <a:ea typeface="Arial"/>
                <a:cs typeface="Arial"/>
                <a:sym typeface="Arial"/>
              </a:rPr>
              <a:t>sınıflandırılması:</a:t>
            </a:r>
            <a:endParaRPr sz="2400">
              <a:solidFill>
                <a:schemeClr val="dk1"/>
              </a:solidFill>
              <a:latin typeface="Arial"/>
              <a:ea typeface="Arial"/>
              <a:cs typeface="Arial"/>
              <a:sym typeface="Arial"/>
            </a:endParaRPr>
          </a:p>
          <a:p>
            <a:pPr indent="-343535" lvl="0" marL="355600" marR="183515" rtl="0" algn="l">
              <a:lnSpc>
                <a:spcPct val="80000"/>
              </a:lnSpc>
              <a:spcBef>
                <a:spcPts val="575"/>
              </a:spcBef>
              <a:spcAft>
                <a:spcPts val="0"/>
              </a:spcAft>
              <a:buNone/>
            </a:pPr>
            <a:r>
              <a:rPr b="1" lang="tr-TR" sz="2400">
                <a:solidFill>
                  <a:schemeClr val="dk1"/>
                </a:solidFill>
                <a:latin typeface="Arial"/>
                <a:ea typeface="Arial"/>
                <a:cs typeface="Arial"/>
                <a:sym typeface="Arial"/>
              </a:rPr>
              <a:t>a.Temel araştırmalar</a:t>
            </a:r>
            <a:r>
              <a:rPr lang="tr-TR" sz="2400">
                <a:solidFill>
                  <a:schemeClr val="dk1"/>
                </a:solidFill>
                <a:latin typeface="Arial"/>
                <a:ea typeface="Arial"/>
                <a:cs typeface="Arial"/>
                <a:sym typeface="Arial"/>
              </a:rPr>
              <a:t>: Kuramlara dayanarak,varsayımlar  geliştirerek,bunları test ederek,sonuçlarını bilimsel  olarak yorumlayarak ve ortaya çıkararak yapılan  araştırmalardır. (Gökçe, 2004).</a:t>
            </a:r>
            <a:endParaRPr sz="2400">
              <a:solidFill>
                <a:schemeClr val="dk1"/>
              </a:solidFill>
              <a:latin typeface="Arial"/>
              <a:ea typeface="Arial"/>
              <a:cs typeface="Arial"/>
              <a:sym typeface="Arial"/>
            </a:endParaRPr>
          </a:p>
          <a:p>
            <a:pPr indent="0" lvl="0" marL="0" marR="0" rtl="0" algn="l">
              <a:lnSpc>
                <a:spcPct val="100000"/>
              </a:lnSpc>
              <a:spcBef>
                <a:spcPts val="5"/>
              </a:spcBef>
              <a:spcAft>
                <a:spcPts val="0"/>
              </a:spcAft>
              <a:buNone/>
            </a:pPr>
            <a:r>
              <a:t/>
            </a:r>
            <a:endParaRPr b="1" sz="2500">
              <a:solidFill>
                <a:schemeClr val="dk1"/>
              </a:solidFill>
              <a:latin typeface="Arial"/>
              <a:ea typeface="Arial"/>
              <a:cs typeface="Arial"/>
              <a:sym typeface="Arial"/>
            </a:endParaRPr>
          </a:p>
          <a:p>
            <a:pPr indent="-343535" lvl="0" marL="355600" marR="5080" rtl="0" algn="l">
              <a:lnSpc>
                <a:spcPct val="80000"/>
              </a:lnSpc>
              <a:spcBef>
                <a:spcPts val="0"/>
              </a:spcBef>
              <a:spcAft>
                <a:spcPts val="0"/>
              </a:spcAft>
              <a:buNone/>
            </a:pPr>
            <a:r>
              <a:rPr b="1" lang="tr-TR" sz="2400">
                <a:solidFill>
                  <a:schemeClr val="dk1"/>
                </a:solidFill>
                <a:latin typeface="Arial"/>
                <a:ea typeface="Arial"/>
                <a:cs typeface="Arial"/>
                <a:sym typeface="Arial"/>
              </a:rPr>
              <a:t>b.Uygulamalı araştırmalar</a:t>
            </a:r>
            <a:r>
              <a:rPr lang="tr-TR" sz="2400">
                <a:solidFill>
                  <a:schemeClr val="dk1"/>
                </a:solidFill>
                <a:latin typeface="Arial"/>
                <a:ea typeface="Arial"/>
                <a:cs typeface="Arial"/>
                <a:sym typeface="Arial"/>
              </a:rPr>
              <a:t>: Çoğu zaman temel  araştırmaların tamamlayıcısıdır. Temel bilim  araştırmaları olaylar arasındaki genel ilişkileri ve  kanunları keşfederken uygulamalı araştırmalar  bunların özel durumlara uygulanmasını ve geçerliğinin  uygulama araştırmalarıyla ortaya çıkarılmasını sağlar  (Kaptan, 1973).</a:t>
            </a:r>
            <a:endParaRPr sz="2400">
              <a:solidFill>
                <a:schemeClr val="dk1"/>
              </a:solidFill>
              <a:latin typeface="Arial"/>
              <a:ea typeface="Arial"/>
              <a:cs typeface="Arial"/>
              <a:sym typeface="Arial"/>
            </a:endParaRPr>
          </a:p>
        </p:txBody>
      </p:sp>
      <p:sp>
        <p:nvSpPr>
          <p:cNvPr id="379" name="Google Shape;379;p3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6"/>
          <p:cNvSpPr txBox="1"/>
          <p:nvPr/>
        </p:nvSpPr>
        <p:spPr>
          <a:xfrm>
            <a:off x="688340" y="1552397"/>
            <a:ext cx="7633970" cy="4123690"/>
          </a:xfrm>
          <a:prstGeom prst="rect">
            <a:avLst/>
          </a:prstGeom>
          <a:noFill/>
          <a:ln>
            <a:noFill/>
          </a:ln>
        </p:spPr>
        <p:txBody>
          <a:bodyPr anchorCtr="0" anchor="t" bIns="0" lIns="0" spcFirstLastPara="1" rIns="0" wrap="square" tIns="12700">
            <a:spAutoFit/>
          </a:bodyPr>
          <a:lstStyle/>
          <a:p>
            <a:pPr indent="0" lvl="0" marL="12700" marR="0" rtl="0" algn="l">
              <a:lnSpc>
                <a:spcPct val="108124"/>
              </a:lnSpc>
              <a:spcBef>
                <a:spcPts val="0"/>
              </a:spcBef>
              <a:spcAft>
                <a:spcPts val="0"/>
              </a:spcAft>
              <a:buNone/>
            </a:pPr>
            <a:r>
              <a:rPr lang="tr-TR" sz="2400">
                <a:solidFill>
                  <a:schemeClr val="dk1"/>
                </a:solidFill>
                <a:latin typeface="Arial"/>
                <a:ea typeface="Arial"/>
                <a:cs typeface="Arial"/>
                <a:sym typeface="Arial"/>
              </a:rPr>
              <a:t>4.Araştırmanın veri toplama biçimine göre</a:t>
            </a:r>
            <a:endParaRPr sz="2400">
              <a:solidFill>
                <a:schemeClr val="dk1"/>
              </a:solidFill>
              <a:latin typeface="Arial"/>
              <a:ea typeface="Arial"/>
              <a:cs typeface="Arial"/>
              <a:sym typeface="Arial"/>
            </a:endParaRPr>
          </a:p>
          <a:p>
            <a:pPr indent="0" lvl="0" marL="355600" marR="0" rtl="0" algn="l">
              <a:lnSpc>
                <a:spcPct val="108124"/>
              </a:lnSpc>
              <a:spcBef>
                <a:spcPts val="0"/>
              </a:spcBef>
              <a:spcAft>
                <a:spcPts val="0"/>
              </a:spcAft>
              <a:buNone/>
            </a:pPr>
            <a:r>
              <a:rPr lang="tr-TR" sz="2400">
                <a:solidFill>
                  <a:schemeClr val="dk1"/>
                </a:solidFill>
                <a:latin typeface="Arial"/>
                <a:ea typeface="Arial"/>
                <a:cs typeface="Arial"/>
                <a:sym typeface="Arial"/>
              </a:rPr>
              <a:t>sınıflandırılması:</a:t>
            </a:r>
            <a:endParaRPr sz="2400">
              <a:solidFill>
                <a:schemeClr val="dk1"/>
              </a:solidFill>
              <a:latin typeface="Arial"/>
              <a:ea typeface="Arial"/>
              <a:cs typeface="Arial"/>
              <a:sym typeface="Arial"/>
            </a:endParaRPr>
          </a:p>
          <a:p>
            <a:pPr indent="-343535" lvl="0" marL="355600" marR="650875" rtl="0" algn="just">
              <a:lnSpc>
                <a:spcPct val="95833"/>
              </a:lnSpc>
              <a:spcBef>
                <a:spcPts val="560"/>
              </a:spcBef>
              <a:spcAft>
                <a:spcPts val="0"/>
              </a:spcAft>
              <a:buNone/>
            </a:pPr>
            <a:r>
              <a:rPr b="1" lang="tr-TR" sz="2400">
                <a:solidFill>
                  <a:schemeClr val="dk1"/>
                </a:solidFill>
                <a:latin typeface="Arial"/>
                <a:ea typeface="Arial"/>
                <a:cs typeface="Arial"/>
                <a:sym typeface="Arial"/>
              </a:rPr>
              <a:t>a.Kayıt araştırmaları</a:t>
            </a:r>
            <a:r>
              <a:rPr lang="tr-TR" sz="2400">
                <a:solidFill>
                  <a:schemeClr val="dk1"/>
                </a:solidFill>
                <a:latin typeface="Arial"/>
                <a:ea typeface="Arial"/>
                <a:cs typeface="Arial"/>
                <a:sym typeface="Arial"/>
              </a:rPr>
              <a:t>: Herhangi bir olayın kayıtlardan  incelenmesidir.</a:t>
            </a:r>
            <a:endParaRPr sz="2400">
              <a:solidFill>
                <a:schemeClr val="dk1"/>
              </a:solidFill>
              <a:latin typeface="Arial"/>
              <a:ea typeface="Arial"/>
              <a:cs typeface="Arial"/>
              <a:sym typeface="Arial"/>
            </a:endParaRPr>
          </a:p>
          <a:p>
            <a:pPr indent="-343535" lvl="0" marL="355600" marR="807085" rtl="0" algn="just">
              <a:lnSpc>
                <a:spcPct val="95833"/>
              </a:lnSpc>
              <a:spcBef>
                <a:spcPts val="585"/>
              </a:spcBef>
              <a:spcAft>
                <a:spcPts val="0"/>
              </a:spcAft>
              <a:buNone/>
            </a:pPr>
            <a:r>
              <a:rPr b="1" lang="tr-TR" sz="2400">
                <a:solidFill>
                  <a:schemeClr val="dk1"/>
                </a:solidFill>
                <a:latin typeface="Arial"/>
                <a:ea typeface="Arial"/>
                <a:cs typeface="Arial"/>
                <a:sym typeface="Arial"/>
              </a:rPr>
              <a:t>b.Anket yöntemi ile araştırma: </a:t>
            </a:r>
            <a:r>
              <a:rPr lang="tr-TR" sz="2400">
                <a:solidFill>
                  <a:schemeClr val="dk1"/>
                </a:solidFill>
                <a:latin typeface="Arial"/>
                <a:ea typeface="Arial"/>
                <a:cs typeface="Arial"/>
                <a:sym typeface="Arial"/>
              </a:rPr>
              <a:t>Posta ile soru kağıdı  gönderilerek ya da kişilere gidilerek herhangi bir  konuda görüşlerinin saptanmasıdır.</a:t>
            </a:r>
            <a:endParaRPr sz="2400">
              <a:solidFill>
                <a:schemeClr val="dk1"/>
              </a:solidFill>
              <a:latin typeface="Arial"/>
              <a:ea typeface="Arial"/>
              <a:cs typeface="Arial"/>
              <a:sym typeface="Arial"/>
            </a:endParaRPr>
          </a:p>
          <a:p>
            <a:pPr indent="-343535" lvl="0" marL="355600" marR="5080" rtl="0" algn="l">
              <a:lnSpc>
                <a:spcPct val="80000"/>
              </a:lnSpc>
              <a:spcBef>
                <a:spcPts val="605"/>
              </a:spcBef>
              <a:spcAft>
                <a:spcPts val="0"/>
              </a:spcAft>
              <a:buNone/>
            </a:pPr>
            <a:r>
              <a:rPr b="1" lang="tr-TR" sz="2400">
                <a:solidFill>
                  <a:schemeClr val="dk1"/>
                </a:solidFill>
                <a:latin typeface="Arial"/>
                <a:ea typeface="Arial"/>
                <a:cs typeface="Arial"/>
                <a:sym typeface="Arial"/>
              </a:rPr>
              <a:t>c.Deneysel araştırma</a:t>
            </a:r>
            <a:r>
              <a:rPr lang="tr-TR" sz="2400">
                <a:solidFill>
                  <a:schemeClr val="dk1"/>
                </a:solidFill>
                <a:latin typeface="Arial"/>
                <a:ea typeface="Arial"/>
                <a:cs typeface="Arial"/>
                <a:sym typeface="Arial"/>
              </a:rPr>
              <a:t>: Deneysel araştırmalar etkisi  ölçülecek etkenin (muamelenin), belirli kurallar ve  koşullar altında deneklere uygulanması, deneklerin  etkene verdiği yanıtların ölçümü ve elde edilen  sonuçların karşılaştırılarak karara varılması işlemlerini  içeren bir araştırma türüdür.</a:t>
            </a:r>
            <a:endParaRPr/>
          </a:p>
        </p:txBody>
      </p:sp>
      <p:sp>
        <p:nvSpPr>
          <p:cNvPr id="385" name="Google Shape;385;p3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7"/>
          <p:cNvSpPr txBox="1"/>
          <p:nvPr/>
        </p:nvSpPr>
        <p:spPr>
          <a:xfrm>
            <a:off x="688340" y="1581734"/>
            <a:ext cx="7155815" cy="4562788"/>
          </a:xfrm>
          <a:prstGeom prst="rect">
            <a:avLst/>
          </a:prstGeom>
          <a:noFill/>
          <a:ln>
            <a:noFill/>
          </a:ln>
        </p:spPr>
        <p:txBody>
          <a:bodyPr anchorCtr="0" anchor="t" bIns="0" lIns="0" spcFirstLastPara="1" rIns="0" wrap="square" tIns="60950">
            <a:spAutoFit/>
          </a:bodyPr>
          <a:lstStyle/>
          <a:p>
            <a:pPr indent="-343535" lvl="0" marL="355600" marR="309880" rtl="0" algn="l">
              <a:lnSpc>
                <a:spcPct val="107857"/>
              </a:lnSpc>
              <a:spcBef>
                <a:spcPts val="0"/>
              </a:spcBef>
              <a:spcAft>
                <a:spcPts val="0"/>
              </a:spcAft>
              <a:buNone/>
            </a:pPr>
            <a:r>
              <a:rPr b="1" lang="tr-TR" sz="2800">
                <a:solidFill>
                  <a:schemeClr val="dk1"/>
                </a:solidFill>
                <a:latin typeface="Arial"/>
                <a:ea typeface="Arial"/>
                <a:cs typeface="Arial"/>
                <a:sym typeface="Arial"/>
              </a:rPr>
              <a:t>d.Gözlem: </a:t>
            </a:r>
            <a:r>
              <a:rPr lang="tr-TR" sz="2800">
                <a:solidFill>
                  <a:schemeClr val="dk1"/>
                </a:solidFill>
                <a:latin typeface="Arial"/>
                <a:ea typeface="Arial"/>
                <a:cs typeface="Arial"/>
                <a:sym typeface="Arial"/>
              </a:rPr>
              <a:t>Belirli koşullar altında deneklerin  gözlenerek davranışların incelenmesi  yöntemidir.</a:t>
            </a:r>
            <a:endParaRPr sz="2800">
              <a:solidFill>
                <a:schemeClr val="dk1"/>
              </a:solidFill>
              <a:latin typeface="Arial"/>
              <a:ea typeface="Arial"/>
              <a:cs typeface="Arial"/>
              <a:sym typeface="Arial"/>
            </a:endParaRPr>
          </a:p>
          <a:p>
            <a:pPr indent="-343535" lvl="0" marL="355600" marR="5080" rtl="0" algn="l">
              <a:lnSpc>
                <a:spcPct val="107857"/>
              </a:lnSpc>
              <a:spcBef>
                <a:spcPts val="685"/>
              </a:spcBef>
              <a:spcAft>
                <a:spcPts val="0"/>
              </a:spcAft>
              <a:buNone/>
            </a:pPr>
            <a:r>
              <a:rPr b="1" lang="tr-TR" sz="2800">
                <a:solidFill>
                  <a:srgbClr val="0070C0"/>
                </a:solidFill>
                <a:latin typeface="Arial"/>
                <a:ea typeface="Arial"/>
                <a:cs typeface="Arial"/>
                <a:sym typeface="Arial"/>
              </a:rPr>
              <a:t>e.Kitaplık araştırması: </a:t>
            </a:r>
            <a:r>
              <a:rPr lang="tr-TR" sz="2800">
                <a:solidFill>
                  <a:srgbClr val="0070C0"/>
                </a:solidFill>
                <a:latin typeface="Arial"/>
                <a:ea typeface="Arial"/>
                <a:cs typeface="Arial"/>
                <a:sym typeface="Arial"/>
              </a:rPr>
              <a:t>Daha önce yapılan  araştırmalardan ilgilenilen konunun  incelenmesi ya da konuyla ilgili kaynakların  taranmasıdır.(Sümbüloğlu, 2002)</a:t>
            </a:r>
            <a:endParaRPr sz="2800">
              <a:solidFill>
                <a:srgbClr val="0070C0"/>
              </a:solidFill>
              <a:latin typeface="Arial"/>
              <a:ea typeface="Arial"/>
              <a:cs typeface="Arial"/>
              <a:sym typeface="Arial"/>
            </a:endParaRPr>
          </a:p>
          <a:p>
            <a:pPr indent="-343535" lvl="0" marL="355600" marR="5080" rtl="0" algn="l">
              <a:lnSpc>
                <a:spcPct val="107857"/>
              </a:lnSpc>
              <a:spcBef>
                <a:spcPts val="685"/>
              </a:spcBef>
              <a:spcAft>
                <a:spcPts val="0"/>
              </a:spcAft>
              <a:buNone/>
            </a:pPr>
            <a:r>
              <a:t/>
            </a:r>
            <a:endParaRPr b="1" sz="2800">
              <a:solidFill>
                <a:srgbClr val="0070C0"/>
              </a:solidFill>
              <a:latin typeface="Arial"/>
              <a:ea typeface="Arial"/>
              <a:cs typeface="Arial"/>
              <a:sym typeface="Arial"/>
            </a:endParaRPr>
          </a:p>
          <a:p>
            <a:pPr indent="-457200" lvl="0" marL="469265" marR="5080" rtl="0" algn="l">
              <a:lnSpc>
                <a:spcPct val="107857"/>
              </a:lnSpc>
              <a:spcBef>
                <a:spcPts val="685"/>
              </a:spcBef>
              <a:spcAft>
                <a:spcPts val="0"/>
              </a:spcAft>
              <a:buClr>
                <a:srgbClr val="0070C0"/>
              </a:buClr>
              <a:buSzPts val="2800"/>
              <a:buFont typeface="Arial"/>
              <a:buChar char="•"/>
            </a:pPr>
            <a:r>
              <a:rPr b="1" lang="tr-TR" sz="2800">
                <a:solidFill>
                  <a:srgbClr val="0070C0"/>
                </a:solidFill>
                <a:latin typeface="Arial"/>
                <a:ea typeface="Arial"/>
                <a:cs typeface="Arial"/>
                <a:sym typeface="Arial"/>
              </a:rPr>
              <a:t>Bu yöntem sistematik literatür araştırması olarak ayrıca detaylı bir şekilde incelenecektir.</a:t>
            </a:r>
            <a:endParaRPr b="1" sz="2800">
              <a:solidFill>
                <a:srgbClr val="0070C0"/>
              </a:solidFill>
              <a:latin typeface="Arial"/>
              <a:ea typeface="Arial"/>
              <a:cs typeface="Arial"/>
              <a:sym typeface="Arial"/>
            </a:endParaRPr>
          </a:p>
        </p:txBody>
      </p:sp>
      <p:sp>
        <p:nvSpPr>
          <p:cNvPr id="391" name="Google Shape;391;p3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8"/>
          <p:cNvSpPr txBox="1"/>
          <p:nvPr/>
        </p:nvSpPr>
        <p:spPr>
          <a:xfrm>
            <a:off x="688340" y="1624406"/>
            <a:ext cx="7619365" cy="3638817"/>
          </a:xfrm>
          <a:prstGeom prst="rect">
            <a:avLst/>
          </a:prstGeom>
          <a:noFill/>
          <a:ln>
            <a:noFill/>
          </a:ln>
        </p:spPr>
        <p:txBody>
          <a:bodyPr anchorCtr="0" anchor="t" bIns="0" lIns="0" spcFirstLastPara="1" rIns="0" wrap="square" tIns="12050">
            <a:spAutoFit/>
          </a:bodyPr>
          <a:lstStyle/>
          <a:p>
            <a:pPr indent="-343535" lvl="0" marL="355600" marR="2217420" rtl="0" algn="l">
              <a:lnSpc>
                <a:spcPct val="100000"/>
              </a:lnSpc>
              <a:spcBef>
                <a:spcPts val="0"/>
              </a:spcBef>
              <a:spcAft>
                <a:spcPts val="0"/>
              </a:spcAft>
              <a:buNone/>
            </a:pPr>
            <a:r>
              <a:rPr lang="tr-TR" sz="2800">
                <a:solidFill>
                  <a:schemeClr val="dk1"/>
                </a:solidFill>
                <a:latin typeface="Arial"/>
                <a:ea typeface="Arial"/>
                <a:cs typeface="Arial"/>
                <a:sym typeface="Arial"/>
              </a:rPr>
              <a:t>5.Araştırmanın yapıldığı yere göre  sınıflandırılması:</a:t>
            </a:r>
            <a:endParaRPr sz="2800">
              <a:solidFill>
                <a:schemeClr val="dk1"/>
              </a:solidFill>
              <a:latin typeface="Arial"/>
              <a:ea typeface="Arial"/>
              <a:cs typeface="Arial"/>
              <a:sym typeface="Arial"/>
            </a:endParaRPr>
          </a:p>
          <a:p>
            <a:pPr indent="-343535" lvl="0" marL="355600" marR="1085850" rtl="0" algn="l">
              <a:lnSpc>
                <a:spcPct val="100000"/>
              </a:lnSpc>
              <a:spcBef>
                <a:spcPts val="675"/>
              </a:spcBef>
              <a:spcAft>
                <a:spcPts val="0"/>
              </a:spcAft>
              <a:buNone/>
            </a:pPr>
            <a:r>
              <a:rPr b="1" lang="tr-TR" sz="2800">
                <a:solidFill>
                  <a:schemeClr val="dk1"/>
                </a:solidFill>
                <a:latin typeface="Arial"/>
                <a:ea typeface="Arial"/>
                <a:cs typeface="Arial"/>
                <a:sym typeface="Arial"/>
              </a:rPr>
              <a:t>a.Laboratuar araştırması:Laboratuarlarda  yapılan araştırmalardır </a:t>
            </a:r>
            <a:r>
              <a:rPr lang="tr-TR" sz="2800">
                <a:solidFill>
                  <a:schemeClr val="dk1"/>
                </a:solidFill>
                <a:latin typeface="Arial"/>
                <a:ea typeface="Arial"/>
                <a:cs typeface="Arial"/>
                <a:sym typeface="Arial"/>
              </a:rPr>
              <a:t>(Kaptan, 1973).</a:t>
            </a:r>
            <a:endParaRPr sz="2800">
              <a:solidFill>
                <a:schemeClr val="dk1"/>
              </a:solidFill>
              <a:latin typeface="Arial"/>
              <a:ea typeface="Arial"/>
              <a:cs typeface="Arial"/>
              <a:sym typeface="Arial"/>
            </a:endParaRPr>
          </a:p>
          <a:p>
            <a:pPr indent="-343535" lvl="0" marL="355600" marR="5080" rtl="0" algn="l">
              <a:lnSpc>
                <a:spcPct val="100000"/>
              </a:lnSpc>
              <a:spcBef>
                <a:spcPts val="675"/>
              </a:spcBef>
              <a:spcAft>
                <a:spcPts val="0"/>
              </a:spcAft>
              <a:buNone/>
            </a:pPr>
            <a:r>
              <a:rPr lang="tr-TR" sz="2800">
                <a:solidFill>
                  <a:schemeClr val="dk1"/>
                </a:solidFill>
                <a:latin typeface="Arial"/>
                <a:ea typeface="Arial"/>
                <a:cs typeface="Arial"/>
                <a:sym typeface="Arial"/>
              </a:rPr>
              <a:t>b.Saha Araştırması: Saha araştırması gerçek ve  her günkü hayatın içinde yer almaktadır  (Kaptan, 1973).</a:t>
            </a:r>
            <a:endParaRPr/>
          </a:p>
        </p:txBody>
      </p:sp>
      <p:sp>
        <p:nvSpPr>
          <p:cNvPr id="397" name="Google Shape;397;p3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9"/>
          <p:cNvSpPr txBox="1"/>
          <p:nvPr>
            <p:ph type="title"/>
          </p:nvPr>
        </p:nvSpPr>
        <p:spPr>
          <a:xfrm>
            <a:off x="274116" y="474929"/>
            <a:ext cx="3742690" cy="4064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tr-TR" sz="2500">
                <a:solidFill>
                  <a:srgbClr val="FFFFFF"/>
                </a:solidFill>
                <a:latin typeface="Arial"/>
                <a:ea typeface="Arial"/>
                <a:cs typeface="Arial"/>
                <a:sym typeface="Arial"/>
              </a:rPr>
              <a:t>TEMEL ARAŞTIRMALAR</a:t>
            </a:r>
            <a:endParaRPr sz="2500">
              <a:latin typeface="Arial"/>
              <a:ea typeface="Arial"/>
              <a:cs typeface="Arial"/>
              <a:sym typeface="Arial"/>
            </a:endParaRPr>
          </a:p>
        </p:txBody>
      </p:sp>
      <p:sp>
        <p:nvSpPr>
          <p:cNvPr id="403" name="Google Shape;403;p39"/>
          <p:cNvSpPr txBox="1"/>
          <p:nvPr/>
        </p:nvSpPr>
        <p:spPr>
          <a:xfrm>
            <a:off x="685800" y="1295400"/>
            <a:ext cx="7397750" cy="4698081"/>
          </a:xfrm>
          <a:prstGeom prst="rect">
            <a:avLst/>
          </a:prstGeom>
          <a:noFill/>
          <a:ln>
            <a:noFill/>
          </a:ln>
        </p:spPr>
        <p:txBody>
          <a:bodyPr anchorCtr="0" anchor="t" bIns="0" lIns="0" spcFirstLastPara="1" rIns="0" wrap="square" tIns="85725">
            <a:spAutoFit/>
          </a:bodyPr>
          <a:lstStyle/>
          <a:p>
            <a:pPr indent="-5080" lvl="0" marL="17145" marR="53975" rtl="0" algn="l">
              <a:lnSpc>
                <a:spcPct val="80000"/>
              </a:lnSpc>
              <a:spcBef>
                <a:spcPts val="0"/>
              </a:spcBef>
              <a:spcAft>
                <a:spcPts val="0"/>
              </a:spcAft>
              <a:buNone/>
            </a:pPr>
            <a:r>
              <a:rPr b="1" lang="tr-TR" sz="2400">
                <a:solidFill>
                  <a:schemeClr val="dk1"/>
                </a:solidFill>
                <a:latin typeface="Arial"/>
                <a:ea typeface="Arial"/>
                <a:cs typeface="Arial"/>
                <a:sym typeface="Arial"/>
              </a:rPr>
              <a:t>Temel Araştırmalar </a:t>
            </a:r>
            <a:r>
              <a:rPr lang="tr-TR" sz="2400">
                <a:solidFill>
                  <a:schemeClr val="dk1"/>
                </a:solidFill>
                <a:latin typeface="Arial"/>
                <a:ea typeface="Arial"/>
                <a:cs typeface="Arial"/>
                <a:sym typeface="Arial"/>
              </a:rPr>
              <a:t>(Bilimsel, Kuramsal, Basic  Research): Kuramlara dayanarak, varsayımlar  geliştirerek, bunları test ederek, sonuçlarını bilimsel  olarak yorumlayarak ve ortaya çıkararak yapılan  araştırmalardır. </a:t>
            </a:r>
            <a:endParaRPr sz="2400">
              <a:solidFill>
                <a:schemeClr val="dk1"/>
              </a:solidFill>
              <a:latin typeface="Arial"/>
              <a:ea typeface="Arial"/>
              <a:cs typeface="Arial"/>
              <a:sym typeface="Arial"/>
            </a:endParaRPr>
          </a:p>
          <a:p>
            <a:pPr indent="-5080" lvl="0" marL="17145" marR="53975" rtl="0" algn="l">
              <a:lnSpc>
                <a:spcPct val="80000"/>
              </a:lnSpc>
              <a:spcBef>
                <a:spcPts val="675"/>
              </a:spcBef>
              <a:spcAft>
                <a:spcPts val="0"/>
              </a:spcAft>
              <a:buNone/>
            </a:pPr>
            <a:r>
              <a:rPr lang="tr-TR" sz="2400">
                <a:solidFill>
                  <a:schemeClr val="dk1"/>
                </a:solidFill>
                <a:latin typeface="Arial"/>
                <a:ea typeface="Arial"/>
                <a:cs typeface="Arial"/>
                <a:sym typeface="Arial"/>
              </a:rPr>
              <a:t>Kuramsal ya da temel  araştırmalar uygulamalı araştırmaların hareket noktası  ve yönlendiricisi olduğu için de önemlidir. </a:t>
            </a:r>
            <a:endParaRPr sz="2400">
              <a:solidFill>
                <a:schemeClr val="dk1"/>
              </a:solidFill>
              <a:latin typeface="Arial"/>
              <a:ea typeface="Arial"/>
              <a:cs typeface="Arial"/>
              <a:sym typeface="Arial"/>
            </a:endParaRPr>
          </a:p>
          <a:p>
            <a:pPr indent="-5080" lvl="0" marL="17145" marR="53975" rtl="0" algn="l">
              <a:lnSpc>
                <a:spcPct val="80000"/>
              </a:lnSpc>
              <a:spcBef>
                <a:spcPts val="675"/>
              </a:spcBef>
              <a:spcAft>
                <a:spcPts val="0"/>
              </a:spcAft>
              <a:buNone/>
            </a:pPr>
            <a:r>
              <a:rPr lang="tr-TR" sz="2400">
                <a:solidFill>
                  <a:schemeClr val="dk1"/>
                </a:solidFill>
                <a:latin typeface="Arial"/>
                <a:ea typeface="Arial"/>
                <a:cs typeface="Arial"/>
                <a:sym typeface="Arial"/>
              </a:rPr>
              <a:t>Kültürler  arası farklılıklardan, insan ve zamandan bağımsız  doğruları bularak evrensel yasa kurgulamak amacını</a:t>
            </a:r>
            <a:endParaRPr sz="2400">
              <a:solidFill>
                <a:schemeClr val="dk1"/>
              </a:solidFill>
              <a:latin typeface="Arial"/>
              <a:ea typeface="Arial"/>
              <a:cs typeface="Arial"/>
              <a:sym typeface="Arial"/>
            </a:endParaRPr>
          </a:p>
          <a:p>
            <a:pPr indent="0" lvl="0" marL="17145" marR="5080" rtl="0" algn="just">
              <a:lnSpc>
                <a:spcPct val="80000"/>
              </a:lnSpc>
              <a:spcBef>
                <a:spcPts val="0"/>
              </a:spcBef>
              <a:spcAft>
                <a:spcPts val="0"/>
              </a:spcAft>
              <a:buNone/>
            </a:pPr>
            <a:r>
              <a:rPr lang="tr-TR" sz="2400">
                <a:solidFill>
                  <a:schemeClr val="dk1"/>
                </a:solidFill>
                <a:latin typeface="Arial"/>
                <a:ea typeface="Arial"/>
                <a:cs typeface="Arial"/>
                <a:sym typeface="Arial"/>
              </a:rPr>
              <a:t>taşır. </a:t>
            </a:r>
            <a:endParaRPr sz="2400">
              <a:solidFill>
                <a:schemeClr val="dk1"/>
              </a:solidFill>
              <a:latin typeface="Arial"/>
              <a:ea typeface="Arial"/>
              <a:cs typeface="Arial"/>
              <a:sym typeface="Arial"/>
            </a:endParaRPr>
          </a:p>
          <a:p>
            <a:pPr indent="0" lvl="0" marL="17145" marR="5080" rtl="0" algn="just">
              <a:lnSpc>
                <a:spcPct val="80000"/>
              </a:lnSpc>
              <a:spcBef>
                <a:spcPts val="0"/>
              </a:spcBef>
              <a:spcAft>
                <a:spcPts val="0"/>
              </a:spcAft>
              <a:buNone/>
            </a:pPr>
            <a:r>
              <a:rPr lang="tr-TR" sz="2400">
                <a:solidFill>
                  <a:schemeClr val="dk1"/>
                </a:solidFill>
                <a:latin typeface="Arial"/>
                <a:ea typeface="Arial"/>
                <a:cs typeface="Arial"/>
                <a:sym typeface="Arial"/>
              </a:rPr>
              <a:t>Çevresel koşulları aşan genellemelere ulaşır. Bu  araştırmalar keşfedici, betimleyici ve açıklayıcı nitelikte  olabilirler (Gökçe, 2004).</a:t>
            </a:r>
            <a:endParaRPr sz="2400">
              <a:solidFill>
                <a:schemeClr val="dk1"/>
              </a:solidFill>
              <a:latin typeface="Arial"/>
              <a:ea typeface="Arial"/>
              <a:cs typeface="Arial"/>
              <a:sym typeface="Arial"/>
            </a:endParaRPr>
          </a:p>
        </p:txBody>
      </p:sp>
      <p:sp>
        <p:nvSpPr>
          <p:cNvPr id="404" name="Google Shape;404;p3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0"/>
          <p:cNvSpPr txBox="1"/>
          <p:nvPr/>
        </p:nvSpPr>
        <p:spPr>
          <a:xfrm>
            <a:off x="1031544" y="1564589"/>
            <a:ext cx="7419340" cy="3624579"/>
          </a:xfrm>
          <a:prstGeom prst="rect">
            <a:avLst/>
          </a:prstGeom>
          <a:noFill/>
          <a:ln>
            <a:noFill/>
          </a:ln>
        </p:spPr>
        <p:txBody>
          <a:bodyPr anchorCtr="0" anchor="t" bIns="0" lIns="0" spcFirstLastPara="1" rIns="0" wrap="square" tIns="74275">
            <a:spAutoFit/>
          </a:bodyPr>
          <a:lstStyle/>
          <a:p>
            <a:pPr indent="5715" lvl="0" marL="12700" marR="78740" rtl="0" algn="l">
              <a:lnSpc>
                <a:spcPct val="80000"/>
              </a:lnSpc>
              <a:spcBef>
                <a:spcPts val="0"/>
              </a:spcBef>
              <a:spcAft>
                <a:spcPts val="0"/>
              </a:spcAft>
              <a:buNone/>
            </a:pPr>
            <a:r>
              <a:rPr b="1" lang="tr-TR" sz="2000">
                <a:solidFill>
                  <a:schemeClr val="dk1"/>
                </a:solidFill>
                <a:latin typeface="Arial"/>
                <a:ea typeface="Arial"/>
                <a:cs typeface="Arial"/>
                <a:sym typeface="Arial"/>
              </a:rPr>
              <a:t>Temel araştırmalar</a:t>
            </a:r>
            <a:r>
              <a:rPr lang="tr-TR" sz="2000">
                <a:solidFill>
                  <a:schemeClr val="dk1"/>
                </a:solidFill>
                <a:latin typeface="Arial"/>
                <a:ea typeface="Arial"/>
                <a:cs typeface="Arial"/>
                <a:sym typeface="Arial"/>
              </a:rPr>
              <a:t>, bilgileri derleyerek, seçilen olguyu açıklama  ve yorumlama amacı güden çalışmalardır. </a:t>
            </a:r>
            <a:r>
              <a:rPr b="1" lang="tr-TR" sz="2000">
                <a:solidFill>
                  <a:schemeClr val="dk1"/>
                </a:solidFill>
                <a:latin typeface="Arial"/>
                <a:ea typeface="Arial"/>
                <a:cs typeface="Arial"/>
                <a:sym typeface="Arial"/>
              </a:rPr>
              <a:t>Bu uygulamada yazar,  daha önce işlenmiş bilgileri değişik bileşenlerle yeniden üreterek  yeni teoriler geliştirmeye çalışır.</a:t>
            </a:r>
            <a:endParaRPr b="1" sz="2000">
              <a:solidFill>
                <a:schemeClr val="dk1"/>
              </a:solidFill>
              <a:latin typeface="Arial"/>
              <a:ea typeface="Arial"/>
              <a:cs typeface="Arial"/>
              <a:sym typeface="Arial"/>
            </a:endParaRPr>
          </a:p>
          <a:p>
            <a:pPr indent="0" lvl="0" marL="0" marR="0" rtl="0" algn="l">
              <a:lnSpc>
                <a:spcPct val="100000"/>
              </a:lnSpc>
              <a:spcBef>
                <a:spcPts val="5"/>
              </a:spcBef>
              <a:spcAft>
                <a:spcPts val="0"/>
              </a:spcAft>
              <a:buNone/>
            </a:pPr>
            <a:r>
              <a:t/>
            </a:r>
            <a:endParaRPr sz="2500">
              <a:solidFill>
                <a:schemeClr val="dk1"/>
              </a:solidFill>
              <a:latin typeface="Arial"/>
              <a:ea typeface="Arial"/>
              <a:cs typeface="Arial"/>
              <a:sym typeface="Arial"/>
            </a:endParaRPr>
          </a:p>
          <a:p>
            <a:pPr indent="5715" lvl="0" marL="12700" marR="5080" rtl="0" algn="l">
              <a:lnSpc>
                <a:spcPct val="80000"/>
              </a:lnSpc>
              <a:spcBef>
                <a:spcPts val="0"/>
              </a:spcBef>
              <a:spcAft>
                <a:spcPts val="0"/>
              </a:spcAft>
              <a:buNone/>
            </a:pPr>
            <a:r>
              <a:rPr lang="tr-TR" sz="2000">
                <a:solidFill>
                  <a:schemeClr val="dk1"/>
                </a:solidFill>
                <a:latin typeface="Arial"/>
                <a:ea typeface="Arial"/>
                <a:cs typeface="Arial"/>
                <a:sym typeface="Arial"/>
              </a:rPr>
              <a:t>Bu yöntemde araştırmacının amacı, pratik bir uygulama yapmak,  incelendiği konuya pratik bir çözüm getirmek değil, tersine konuyu  daha iyi bir biçimde anlamak, bilgisini tamamlamaya çalışmak  veya yeni bir kuram geliştirmektir.</a:t>
            </a:r>
            <a:endParaRPr/>
          </a:p>
          <a:p>
            <a:pPr indent="0" lvl="0" marL="12700" marR="80010" rtl="0" algn="l">
              <a:lnSpc>
                <a:spcPct val="80000"/>
              </a:lnSpc>
              <a:spcBef>
                <a:spcPts val="1925"/>
              </a:spcBef>
              <a:spcAft>
                <a:spcPts val="0"/>
              </a:spcAft>
              <a:buNone/>
            </a:pPr>
            <a:r>
              <a:rPr lang="tr-TR" sz="2000">
                <a:solidFill>
                  <a:schemeClr val="dk1"/>
                </a:solidFill>
                <a:latin typeface="Arial"/>
                <a:ea typeface="Arial"/>
                <a:cs typeface="Arial"/>
                <a:sym typeface="Arial"/>
              </a:rPr>
              <a:t>Bu yöntemde başlıca sorun, seçilen yorum ve yönelim tarzının  “değerli” ve “ geçerli olduğunu belirlemeye yarayacak bir  yöntemin bulunmamasıdır. Bir diğer sakınca getirilen yorumun ne  ölçüde “ tutarlı” olduğu konusunda ortaya çıkar.</a:t>
            </a:r>
            <a:endParaRPr/>
          </a:p>
        </p:txBody>
      </p:sp>
      <p:sp>
        <p:nvSpPr>
          <p:cNvPr id="410" name="Google Shape;410;p4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1"/>
          <p:cNvSpPr txBox="1"/>
          <p:nvPr/>
        </p:nvSpPr>
        <p:spPr>
          <a:xfrm>
            <a:off x="274116" y="474929"/>
            <a:ext cx="4779645" cy="406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tr-TR" sz="2500">
                <a:solidFill>
                  <a:srgbClr val="FFFFFF"/>
                </a:solidFill>
                <a:latin typeface="Arial"/>
                <a:ea typeface="Arial"/>
                <a:cs typeface="Arial"/>
                <a:sym typeface="Arial"/>
              </a:rPr>
              <a:t>UYGULAMALI ARAŞTIRMALAR</a:t>
            </a:r>
            <a:endParaRPr sz="2500">
              <a:solidFill>
                <a:schemeClr val="dk1"/>
              </a:solidFill>
              <a:latin typeface="Arial"/>
              <a:ea typeface="Arial"/>
              <a:cs typeface="Arial"/>
              <a:sym typeface="Arial"/>
            </a:endParaRPr>
          </a:p>
        </p:txBody>
      </p:sp>
      <p:sp>
        <p:nvSpPr>
          <p:cNvPr id="416" name="Google Shape;416;p41"/>
          <p:cNvSpPr txBox="1"/>
          <p:nvPr>
            <p:ph type="title"/>
          </p:nvPr>
        </p:nvSpPr>
        <p:spPr>
          <a:xfrm>
            <a:off x="914400" y="1524000"/>
            <a:ext cx="7374890" cy="3089948"/>
          </a:xfrm>
          <a:prstGeom prst="rect">
            <a:avLst/>
          </a:prstGeom>
          <a:noFill/>
          <a:ln>
            <a:noFill/>
          </a:ln>
        </p:spPr>
        <p:txBody>
          <a:bodyPr anchorCtr="0" anchor="t" bIns="0" lIns="0" spcFirstLastPara="1" rIns="0" wrap="square" tIns="12050">
            <a:spAutoFit/>
          </a:bodyPr>
          <a:lstStyle/>
          <a:p>
            <a:pPr indent="-457200" lvl="0" marL="469900" rtl="0" algn="l">
              <a:lnSpc>
                <a:spcPct val="108035"/>
              </a:lnSpc>
              <a:spcBef>
                <a:spcPts val="0"/>
              </a:spcBef>
              <a:spcAft>
                <a:spcPts val="0"/>
              </a:spcAft>
              <a:buClr>
                <a:schemeClr val="dk1"/>
              </a:buClr>
              <a:buSzPts val="2800"/>
              <a:buFont typeface="Arial"/>
              <a:buChar char="•"/>
            </a:pPr>
            <a:r>
              <a:rPr lang="tr-TR"/>
              <a:t>Çoğu zaman temel araştırmaların tamamlayıcısıdır. </a:t>
            </a:r>
            <a:br>
              <a:rPr lang="tr-TR"/>
            </a:br>
            <a:r>
              <a:rPr lang="tr-TR"/>
              <a:t>Temel bilim araştırmaları  olaylar arasındaki genel ilişkileri ve kanunları  keşfederken uygulamalı araştırmalar bunların  özel durumlara uygulanmasını ve geçerliğinin  uygulama araştırmalarıyla ortaya çıkarılmasını  sağlar.</a:t>
            </a:r>
            <a:endParaRPr/>
          </a:p>
        </p:txBody>
      </p:sp>
      <p:sp>
        <p:nvSpPr>
          <p:cNvPr id="417" name="Google Shape;417;p4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2"/>
          <p:cNvSpPr txBox="1"/>
          <p:nvPr/>
        </p:nvSpPr>
        <p:spPr>
          <a:xfrm>
            <a:off x="984300" y="1539062"/>
            <a:ext cx="6939280" cy="3751027"/>
          </a:xfrm>
          <a:prstGeom prst="rect">
            <a:avLst/>
          </a:prstGeom>
          <a:noFill/>
          <a:ln>
            <a:noFill/>
          </a:ln>
        </p:spPr>
        <p:txBody>
          <a:bodyPr anchorCtr="0" anchor="t" bIns="0" lIns="0" spcFirstLastPara="1" rIns="0" wrap="square" tIns="97775">
            <a:spAutoFit/>
          </a:bodyPr>
          <a:lstStyle/>
          <a:p>
            <a:pPr indent="-457200" lvl="0" marL="469265" marR="5080" rtl="0" algn="l">
              <a:lnSpc>
                <a:spcPct val="80000"/>
              </a:lnSpc>
              <a:spcBef>
                <a:spcPts val="0"/>
              </a:spcBef>
              <a:spcAft>
                <a:spcPts val="0"/>
              </a:spcAft>
              <a:buClr>
                <a:schemeClr val="dk1"/>
              </a:buClr>
              <a:buSzPts val="2800"/>
              <a:buFont typeface="Arial"/>
              <a:buChar char="•"/>
            </a:pPr>
            <a:r>
              <a:rPr b="1" lang="tr-TR" sz="2800">
                <a:solidFill>
                  <a:schemeClr val="dk1"/>
                </a:solidFill>
                <a:latin typeface="Arial"/>
                <a:ea typeface="Arial"/>
                <a:cs typeface="Arial"/>
                <a:sym typeface="Arial"/>
              </a:rPr>
              <a:t>Uygulamalı araştırmada </a:t>
            </a:r>
            <a:r>
              <a:rPr lang="tr-TR" sz="2800">
                <a:solidFill>
                  <a:schemeClr val="dk1"/>
                </a:solidFill>
                <a:latin typeface="Arial"/>
                <a:ea typeface="Arial"/>
                <a:cs typeface="Arial"/>
                <a:sym typeface="Arial"/>
              </a:rPr>
              <a:t>genel ilkeler özel  problemlere uygulanır. </a:t>
            </a:r>
            <a:endParaRPr sz="2800">
              <a:solidFill>
                <a:schemeClr val="dk1"/>
              </a:solidFill>
              <a:latin typeface="Arial"/>
              <a:ea typeface="Arial"/>
              <a:cs typeface="Arial"/>
              <a:sym typeface="Arial"/>
            </a:endParaRPr>
          </a:p>
          <a:p>
            <a:pPr indent="-457200" lvl="0" marL="469265" marR="5080" rtl="0" algn="l">
              <a:lnSpc>
                <a:spcPct val="80000"/>
              </a:lnSpc>
              <a:spcBef>
                <a:spcPts val="770"/>
              </a:spcBef>
              <a:spcAft>
                <a:spcPts val="0"/>
              </a:spcAft>
              <a:buClr>
                <a:schemeClr val="dk1"/>
              </a:buClr>
              <a:buSzPts val="2800"/>
              <a:buFont typeface="Arial"/>
              <a:buChar char="•"/>
            </a:pPr>
            <a:r>
              <a:rPr lang="tr-TR" sz="2800">
                <a:solidFill>
                  <a:schemeClr val="dk1"/>
                </a:solidFill>
                <a:latin typeface="Arial"/>
                <a:ea typeface="Arial"/>
                <a:cs typeface="Arial"/>
                <a:sym typeface="Arial"/>
              </a:rPr>
              <a:t>Örneğin, atomun  bölünmesi hakkındaki bilgiler insana atomla  çalışacak bir uçağın nasıl yapılabileceğini  göstermemektedir </a:t>
            </a:r>
            <a:endParaRPr sz="2800">
              <a:solidFill>
                <a:schemeClr val="dk1"/>
              </a:solidFill>
              <a:latin typeface="Arial"/>
              <a:ea typeface="Arial"/>
              <a:cs typeface="Arial"/>
              <a:sym typeface="Arial"/>
            </a:endParaRPr>
          </a:p>
          <a:p>
            <a:pPr indent="-457200" lvl="0" marL="469265" marR="5080" rtl="0" algn="l">
              <a:lnSpc>
                <a:spcPct val="80000"/>
              </a:lnSpc>
              <a:spcBef>
                <a:spcPts val="770"/>
              </a:spcBef>
              <a:spcAft>
                <a:spcPts val="0"/>
              </a:spcAft>
              <a:buClr>
                <a:schemeClr val="dk1"/>
              </a:buClr>
              <a:buSzPts val="2800"/>
              <a:buFont typeface="Arial"/>
              <a:buChar char="•"/>
            </a:pPr>
            <a:r>
              <a:rPr lang="tr-TR" sz="2800">
                <a:solidFill>
                  <a:schemeClr val="dk1"/>
                </a:solidFill>
                <a:latin typeface="Arial"/>
                <a:ea typeface="Arial"/>
                <a:cs typeface="Arial"/>
                <a:sym typeface="Arial"/>
              </a:rPr>
              <a:t>Uçağın  nasıl yapılabileceğini gösteren uygulamalı  araştırmalardır. Uygulamalı araştırmalar  üretilmiş ya da üretilmekte olan bilginin  denemeli uygulamasıdır.</a:t>
            </a:r>
            <a:endParaRPr sz="2800">
              <a:solidFill>
                <a:schemeClr val="dk1"/>
              </a:solidFill>
              <a:latin typeface="Arial"/>
              <a:ea typeface="Arial"/>
              <a:cs typeface="Arial"/>
              <a:sym typeface="Arial"/>
            </a:endParaRPr>
          </a:p>
        </p:txBody>
      </p:sp>
      <p:sp>
        <p:nvSpPr>
          <p:cNvPr id="423" name="Google Shape;423;p4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3"/>
          <p:cNvSpPr txBox="1"/>
          <p:nvPr/>
        </p:nvSpPr>
        <p:spPr>
          <a:xfrm>
            <a:off x="967536" y="1564589"/>
            <a:ext cx="7345680" cy="3599062"/>
          </a:xfrm>
          <a:prstGeom prst="rect">
            <a:avLst/>
          </a:prstGeom>
          <a:noFill/>
          <a:ln>
            <a:noFill/>
          </a:ln>
        </p:spPr>
        <p:txBody>
          <a:bodyPr anchorCtr="0" anchor="t" bIns="0" lIns="0" spcFirstLastPara="1" rIns="0" wrap="square" tIns="13325">
            <a:spAutoFit/>
          </a:bodyPr>
          <a:lstStyle/>
          <a:p>
            <a:pPr indent="0" lvl="0" marL="12700" marR="0" rtl="0" algn="l">
              <a:lnSpc>
                <a:spcPct val="108000"/>
              </a:lnSpc>
              <a:spcBef>
                <a:spcPts val="0"/>
              </a:spcBef>
              <a:spcAft>
                <a:spcPts val="0"/>
              </a:spcAft>
              <a:buNone/>
            </a:pPr>
            <a:r>
              <a:rPr lang="tr-TR" sz="2000">
                <a:solidFill>
                  <a:schemeClr val="dk1"/>
                </a:solidFill>
                <a:latin typeface="Arial"/>
                <a:ea typeface="Arial"/>
                <a:cs typeface="Arial"/>
                <a:sym typeface="Arial"/>
              </a:rPr>
              <a:t>Uygulamalı araştırmaların 5 türü vardır:</a:t>
            </a:r>
            <a:endParaRPr sz="2000">
              <a:solidFill>
                <a:schemeClr val="dk1"/>
              </a:solidFill>
              <a:latin typeface="Arial"/>
              <a:ea typeface="Arial"/>
              <a:cs typeface="Arial"/>
              <a:sym typeface="Arial"/>
            </a:endParaRPr>
          </a:p>
          <a:p>
            <a:pPr indent="0" lvl="0" marL="76200" marR="5080" rtl="0" algn="l">
              <a:lnSpc>
                <a:spcPct val="80000"/>
              </a:lnSpc>
              <a:spcBef>
                <a:spcPts val="240"/>
              </a:spcBef>
              <a:spcAft>
                <a:spcPts val="0"/>
              </a:spcAft>
              <a:buNone/>
            </a:pPr>
            <a:r>
              <a:rPr b="1" lang="tr-TR" sz="2000">
                <a:solidFill>
                  <a:schemeClr val="dk1"/>
                </a:solidFill>
                <a:latin typeface="Arial"/>
                <a:ea typeface="Arial"/>
                <a:cs typeface="Arial"/>
                <a:sym typeface="Arial"/>
              </a:rPr>
              <a:t>a)Eyleme yönelik araştırma (Aksiyon, Action Oriented</a:t>
            </a:r>
            <a:r>
              <a:rPr lang="tr-TR" sz="2000">
                <a:solidFill>
                  <a:schemeClr val="dk1"/>
                </a:solidFill>
                <a:latin typeface="Arial"/>
                <a:ea typeface="Arial"/>
                <a:cs typeface="Arial"/>
                <a:sym typeface="Arial"/>
              </a:rPr>
              <a:t>): Aksiyon  araştırmaları uzman araştırmacıların yürüttüğü uygulayıcıların ve  probleme taraf olanların katıldığı, var olan uygulamanın eleştirel  bir değerlendirmesinin yapıldığı ve bunun sonucunda durum  iyileştirmek için alınması gereken önlemleri belirlemeyi  amaçlayan araştırmalardır. </a:t>
            </a:r>
            <a:endParaRPr sz="2000">
              <a:solidFill>
                <a:schemeClr val="dk1"/>
              </a:solidFill>
              <a:latin typeface="Arial"/>
              <a:ea typeface="Arial"/>
              <a:cs typeface="Arial"/>
              <a:sym typeface="Arial"/>
            </a:endParaRPr>
          </a:p>
          <a:p>
            <a:pPr indent="0" lvl="0" marL="76200" marR="5080" rtl="0" algn="l">
              <a:lnSpc>
                <a:spcPct val="80000"/>
              </a:lnSpc>
              <a:spcBef>
                <a:spcPts val="240"/>
              </a:spcBef>
              <a:spcAft>
                <a:spcPts val="0"/>
              </a:spcAft>
              <a:buNone/>
            </a:pPr>
            <a:r>
              <a:rPr lang="tr-TR" sz="2000">
                <a:solidFill>
                  <a:schemeClr val="dk1"/>
                </a:solidFill>
                <a:latin typeface="Arial"/>
                <a:ea typeface="Arial"/>
                <a:cs typeface="Arial"/>
                <a:sym typeface="Arial"/>
              </a:rPr>
              <a:t>Bu araştırmalarda çok yönlü katılımla  görüş birliği ya da ona yakın bir anlaşma sağlayabilen önlemler  ortaya çıkartılır (Karasar, 2005). </a:t>
            </a:r>
            <a:endParaRPr sz="2000">
              <a:solidFill>
                <a:schemeClr val="dk1"/>
              </a:solidFill>
              <a:latin typeface="Arial"/>
              <a:ea typeface="Arial"/>
              <a:cs typeface="Arial"/>
              <a:sym typeface="Arial"/>
            </a:endParaRPr>
          </a:p>
          <a:p>
            <a:pPr indent="0" lvl="0" marL="76200" marR="5080" rtl="0" algn="l">
              <a:lnSpc>
                <a:spcPct val="80000"/>
              </a:lnSpc>
              <a:spcBef>
                <a:spcPts val="240"/>
              </a:spcBef>
              <a:spcAft>
                <a:spcPts val="0"/>
              </a:spcAft>
              <a:buNone/>
            </a:pPr>
            <a:r>
              <a:rPr lang="tr-TR" sz="2000">
                <a:solidFill>
                  <a:schemeClr val="dk1"/>
                </a:solidFill>
                <a:latin typeface="Arial"/>
                <a:ea typeface="Arial"/>
                <a:cs typeface="Arial"/>
                <a:sym typeface="Arial"/>
              </a:rPr>
              <a:t>Belirli bir konuda toplumsal  değişme yaratmaya yönelik konulardır. </a:t>
            </a:r>
            <a:endParaRPr sz="2000">
              <a:solidFill>
                <a:schemeClr val="dk1"/>
              </a:solidFill>
              <a:latin typeface="Arial"/>
              <a:ea typeface="Arial"/>
              <a:cs typeface="Arial"/>
              <a:sym typeface="Arial"/>
            </a:endParaRPr>
          </a:p>
          <a:p>
            <a:pPr indent="0" lvl="0" marL="76200" marR="5080" rtl="0" algn="l">
              <a:lnSpc>
                <a:spcPct val="80000"/>
              </a:lnSpc>
              <a:spcBef>
                <a:spcPts val="240"/>
              </a:spcBef>
              <a:spcAft>
                <a:spcPts val="0"/>
              </a:spcAft>
              <a:buNone/>
            </a:pPr>
            <a:r>
              <a:rPr lang="tr-TR" sz="2000">
                <a:solidFill>
                  <a:schemeClr val="dk1"/>
                </a:solidFill>
                <a:latin typeface="Arial"/>
                <a:ea typeface="Arial"/>
                <a:cs typeface="Arial"/>
                <a:sym typeface="Arial"/>
              </a:rPr>
              <a:t>Kadın hakları, çevre  korunması vb. gibi. Belirli bir yer ve katılanlarla sınırlıdır; bu  yüzden de sonuçlar yerel niteliklidir.</a:t>
            </a:r>
            <a:endParaRPr sz="2000">
              <a:solidFill>
                <a:schemeClr val="dk1"/>
              </a:solidFill>
              <a:latin typeface="Arial"/>
              <a:ea typeface="Arial"/>
              <a:cs typeface="Arial"/>
              <a:sym typeface="Arial"/>
            </a:endParaRPr>
          </a:p>
        </p:txBody>
      </p:sp>
      <p:sp>
        <p:nvSpPr>
          <p:cNvPr id="429" name="Google Shape;429;p4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4"/>
          <p:cNvSpPr txBox="1"/>
          <p:nvPr/>
        </p:nvSpPr>
        <p:spPr>
          <a:xfrm>
            <a:off x="1066800" y="2381250"/>
            <a:ext cx="7173595" cy="3924921"/>
          </a:xfrm>
          <a:prstGeom prst="rect">
            <a:avLst/>
          </a:prstGeom>
          <a:noFill/>
          <a:ln>
            <a:noFill/>
          </a:ln>
        </p:spPr>
        <p:txBody>
          <a:bodyPr anchorCtr="0" anchor="t" bIns="0" lIns="0" spcFirstLastPara="1" rIns="0" wrap="square" tIns="9525">
            <a:spAutoFit/>
          </a:bodyPr>
          <a:lstStyle/>
          <a:p>
            <a:pPr indent="107950" lvl="0" marL="12700" marR="5080" rtl="0" algn="l">
              <a:lnSpc>
                <a:spcPct val="100600"/>
              </a:lnSpc>
              <a:spcBef>
                <a:spcPts val="0"/>
              </a:spcBef>
              <a:spcAft>
                <a:spcPts val="0"/>
              </a:spcAft>
              <a:buNone/>
            </a:pPr>
            <a:r>
              <a:rPr b="1" lang="tr-TR" sz="2800">
                <a:solidFill>
                  <a:schemeClr val="dk1"/>
                </a:solidFill>
                <a:latin typeface="Arial"/>
                <a:ea typeface="Arial"/>
                <a:cs typeface="Arial"/>
                <a:sym typeface="Arial"/>
              </a:rPr>
              <a:t>b)AR-GE Araştırmaları</a:t>
            </a:r>
            <a:r>
              <a:rPr lang="tr-TR" sz="2800">
                <a:solidFill>
                  <a:schemeClr val="dk1"/>
                </a:solidFill>
                <a:latin typeface="Arial"/>
                <a:ea typeface="Arial"/>
                <a:cs typeface="Arial"/>
                <a:sym typeface="Arial"/>
              </a:rPr>
              <a:t>: Araştırma-Geliştirme  türündeki araştırmalardır. Üretilmiş bilginin  denemeli uygulaması ile problemin  çözümünde etkili olabilecek nitelikte geçerliği  denenmiş somut ürünler geliştirmeyi  amaçlayan araştırmalardır (Karasar, 2005).</a:t>
            </a:r>
            <a:endParaRPr sz="2800">
              <a:solidFill>
                <a:schemeClr val="dk1"/>
              </a:solidFill>
              <a:latin typeface="Arial"/>
              <a:ea typeface="Arial"/>
              <a:cs typeface="Arial"/>
              <a:sym typeface="Arial"/>
            </a:endParaRPr>
          </a:p>
          <a:p>
            <a:pPr indent="107950" lvl="0" marL="12700" marR="5080" rtl="0" algn="l">
              <a:lnSpc>
                <a:spcPct val="100600"/>
              </a:lnSpc>
              <a:spcBef>
                <a:spcPts val="75"/>
              </a:spcBef>
              <a:spcAft>
                <a:spcPts val="0"/>
              </a:spcAft>
              <a:buNone/>
            </a:pPr>
            <a:r>
              <a:t/>
            </a:r>
            <a:endParaRPr sz="2800">
              <a:solidFill>
                <a:schemeClr val="dk1"/>
              </a:solidFill>
              <a:latin typeface="Arial"/>
              <a:ea typeface="Arial"/>
              <a:cs typeface="Arial"/>
              <a:sym typeface="Arial"/>
            </a:endParaRPr>
          </a:p>
          <a:p>
            <a:pPr indent="107950" lvl="0" marL="12700" marR="5080" rtl="0" algn="l">
              <a:lnSpc>
                <a:spcPct val="100600"/>
              </a:lnSpc>
              <a:spcBef>
                <a:spcPts val="75"/>
              </a:spcBef>
              <a:spcAft>
                <a:spcPts val="0"/>
              </a:spcAft>
              <a:buNone/>
            </a:pPr>
            <a:r>
              <a:rPr lang="tr-TR" sz="2800">
                <a:solidFill>
                  <a:schemeClr val="dk1"/>
                </a:solidFill>
                <a:latin typeface="Arial"/>
                <a:ea typeface="Arial"/>
                <a:cs typeface="Arial"/>
                <a:sym typeface="Arial"/>
              </a:rPr>
              <a:t>Kuramlar “araştırma-geliştirme” yoluyla  uygulamaya aktarılmışlardır.</a:t>
            </a:r>
            <a:endParaRPr sz="2800">
              <a:solidFill>
                <a:schemeClr val="dk1"/>
              </a:solidFill>
              <a:latin typeface="Arial"/>
              <a:ea typeface="Arial"/>
              <a:cs typeface="Arial"/>
              <a:sym typeface="Arial"/>
            </a:endParaRPr>
          </a:p>
        </p:txBody>
      </p:sp>
      <p:sp>
        <p:nvSpPr>
          <p:cNvPr id="435" name="Google Shape;435;p4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pic>
        <p:nvPicPr>
          <p:cNvPr id="436" name="Google Shape;436;p44"/>
          <p:cNvPicPr preferRelativeResize="0"/>
          <p:nvPr/>
        </p:nvPicPr>
        <p:blipFill rotWithShape="1">
          <a:blip r:embed="rId3">
            <a:alphaModFix/>
          </a:blip>
          <a:srcRect b="0" l="0" r="0" t="0"/>
          <a:stretch/>
        </p:blipFill>
        <p:spPr>
          <a:xfrm>
            <a:off x="5029200" y="76200"/>
            <a:ext cx="4041381" cy="21336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5"/>
          <p:cNvSpPr txBox="1"/>
          <p:nvPr/>
        </p:nvSpPr>
        <p:spPr>
          <a:xfrm>
            <a:off x="990600" y="1853544"/>
            <a:ext cx="7418705" cy="4337726"/>
          </a:xfrm>
          <a:prstGeom prst="rect">
            <a:avLst/>
          </a:prstGeom>
          <a:noFill/>
          <a:ln>
            <a:noFill/>
          </a:ln>
        </p:spPr>
        <p:txBody>
          <a:bodyPr anchorCtr="0" anchor="t" bIns="0" lIns="0" spcFirstLastPara="1" rIns="0" wrap="square" tIns="74275">
            <a:spAutoFit/>
          </a:bodyPr>
          <a:lstStyle/>
          <a:p>
            <a:pPr indent="-64135" lvl="0" marL="76200" marR="407034" rtl="0" algn="l">
              <a:lnSpc>
                <a:spcPct val="80000"/>
              </a:lnSpc>
              <a:spcBef>
                <a:spcPts val="0"/>
              </a:spcBef>
              <a:spcAft>
                <a:spcPts val="0"/>
              </a:spcAft>
              <a:buNone/>
            </a:pPr>
            <a:r>
              <a:rPr b="1" lang="tr-TR" sz="2000">
                <a:solidFill>
                  <a:schemeClr val="dk1"/>
                </a:solidFill>
                <a:latin typeface="Arial"/>
                <a:ea typeface="Arial"/>
                <a:cs typeface="Arial"/>
                <a:sym typeface="Arial"/>
              </a:rPr>
              <a:t>c)Tarama Araştırması (Survey): </a:t>
            </a:r>
            <a:r>
              <a:rPr lang="tr-TR" sz="2000">
                <a:solidFill>
                  <a:schemeClr val="dk1"/>
                </a:solidFill>
                <a:latin typeface="Arial"/>
                <a:ea typeface="Arial"/>
                <a:cs typeface="Arial"/>
                <a:sym typeface="Arial"/>
              </a:rPr>
              <a:t>Tarama araştırması toplumsal  bilimlere çalışma olanağı getirmiştir. Tarama araştırması  istatistiksel ölçümlerle temellendirilmiştir. Genellikle bu tür  araştırmalarda soru kağıdı (anket) ya da görüşme tekniği kullanılır.</a:t>
            </a:r>
            <a:endParaRPr sz="2000">
              <a:solidFill>
                <a:schemeClr val="dk1"/>
              </a:solidFill>
              <a:latin typeface="Arial"/>
              <a:ea typeface="Arial"/>
              <a:cs typeface="Arial"/>
              <a:sym typeface="Arial"/>
            </a:endParaRPr>
          </a:p>
          <a:p>
            <a:pPr indent="-64135" lvl="0" marL="76200" marR="407034" rtl="0" algn="l">
              <a:lnSpc>
                <a:spcPct val="80000"/>
              </a:lnSpc>
              <a:spcBef>
                <a:spcPts val="585"/>
              </a:spcBef>
              <a:spcAft>
                <a:spcPts val="0"/>
              </a:spcAft>
              <a:buNone/>
            </a:pPr>
            <a:r>
              <a:t/>
            </a:r>
            <a:endParaRPr sz="2000">
              <a:solidFill>
                <a:schemeClr val="dk1"/>
              </a:solidFill>
              <a:latin typeface="Arial"/>
              <a:ea typeface="Arial"/>
              <a:cs typeface="Arial"/>
              <a:sym typeface="Arial"/>
            </a:endParaRPr>
          </a:p>
          <a:p>
            <a:pPr indent="0" lvl="0" marL="76200" marR="5080" rtl="0" algn="l">
              <a:lnSpc>
                <a:spcPct val="80000"/>
              </a:lnSpc>
              <a:spcBef>
                <a:spcPts val="0"/>
              </a:spcBef>
              <a:spcAft>
                <a:spcPts val="0"/>
              </a:spcAft>
              <a:buNone/>
            </a:pPr>
            <a:r>
              <a:rPr lang="tr-TR" sz="2000">
                <a:solidFill>
                  <a:schemeClr val="dk1"/>
                </a:solidFill>
                <a:latin typeface="Arial"/>
                <a:ea typeface="Arial"/>
                <a:cs typeface="Arial"/>
                <a:sym typeface="Arial"/>
              </a:rPr>
              <a:t> Kamuoyu yoklamaları bu türdendir. Tarama araştırması  alan araştırmasına benzemektedir. </a:t>
            </a:r>
            <a:endParaRPr sz="2000">
              <a:solidFill>
                <a:schemeClr val="dk1"/>
              </a:solidFill>
              <a:latin typeface="Arial"/>
              <a:ea typeface="Arial"/>
              <a:cs typeface="Arial"/>
              <a:sym typeface="Arial"/>
            </a:endParaRPr>
          </a:p>
          <a:p>
            <a:pPr indent="0" lvl="0" marL="76200" marR="5080" rtl="0" algn="l">
              <a:lnSpc>
                <a:spcPct val="80000"/>
              </a:lnSpc>
              <a:spcBef>
                <a:spcPts val="0"/>
              </a:spcBef>
              <a:spcAft>
                <a:spcPts val="0"/>
              </a:spcAft>
              <a:buNone/>
            </a:pPr>
            <a:r>
              <a:t/>
            </a:r>
            <a:endParaRPr sz="2000">
              <a:solidFill>
                <a:schemeClr val="dk1"/>
              </a:solidFill>
              <a:latin typeface="Arial"/>
              <a:ea typeface="Arial"/>
              <a:cs typeface="Arial"/>
              <a:sym typeface="Arial"/>
            </a:endParaRPr>
          </a:p>
          <a:p>
            <a:pPr indent="0" lvl="0" marL="76200" marR="5080" rtl="0" algn="l">
              <a:lnSpc>
                <a:spcPct val="80000"/>
              </a:lnSpc>
              <a:spcBef>
                <a:spcPts val="0"/>
              </a:spcBef>
              <a:spcAft>
                <a:spcPts val="0"/>
              </a:spcAft>
              <a:buNone/>
            </a:pPr>
            <a:r>
              <a:rPr lang="tr-TR" sz="2000">
                <a:solidFill>
                  <a:schemeClr val="dk1"/>
                </a:solidFill>
                <a:latin typeface="Arial"/>
                <a:ea typeface="Arial"/>
                <a:cs typeface="Arial"/>
                <a:sym typeface="Arial"/>
              </a:rPr>
              <a:t>Tarama araştırması alan  araştırmasına göre daha geneldir. Tarama araştırmasında verileri  toplayanların konu hakkında genel bir bilgi sahibi olmaları  yeterlidir; alan araştırmasında ise araştırıcının alanda çalışması  ve alanın özelliklerini iyice tanıması gerekir (Gökçe, 2004).</a:t>
            </a:r>
            <a:endParaRPr sz="2000">
              <a:solidFill>
                <a:schemeClr val="dk1"/>
              </a:solidFill>
              <a:latin typeface="Arial"/>
              <a:ea typeface="Arial"/>
              <a:cs typeface="Arial"/>
              <a:sym typeface="Arial"/>
            </a:endParaRPr>
          </a:p>
          <a:p>
            <a:pPr indent="0" lvl="0" marL="76200" marR="5080" rtl="0" algn="l">
              <a:lnSpc>
                <a:spcPct val="80000"/>
              </a:lnSpc>
              <a:spcBef>
                <a:spcPts val="0"/>
              </a:spcBef>
              <a:spcAft>
                <a:spcPts val="0"/>
              </a:spcAft>
              <a:buNone/>
            </a:pPr>
            <a:r>
              <a:t/>
            </a:r>
            <a:endParaRPr sz="2000">
              <a:solidFill>
                <a:schemeClr val="dk1"/>
              </a:solidFill>
              <a:latin typeface="Arial"/>
              <a:ea typeface="Arial"/>
              <a:cs typeface="Arial"/>
              <a:sym typeface="Arial"/>
            </a:endParaRPr>
          </a:p>
          <a:p>
            <a:pPr indent="0" lvl="0" marL="76200" marR="5080" rtl="0" algn="l">
              <a:lnSpc>
                <a:spcPct val="80000"/>
              </a:lnSpc>
              <a:spcBef>
                <a:spcPts val="0"/>
              </a:spcBef>
              <a:spcAft>
                <a:spcPts val="0"/>
              </a:spcAft>
              <a:buNone/>
            </a:pPr>
            <a:r>
              <a:rPr lang="tr-TR" sz="2000">
                <a:solidFill>
                  <a:schemeClr val="dk1"/>
                </a:solidFill>
                <a:latin typeface="Arial"/>
                <a:ea typeface="Arial"/>
                <a:cs typeface="Arial"/>
                <a:sym typeface="Arial"/>
              </a:rPr>
              <a:t> Bazı  kaynaklarda bu araştırma betimsel araştırmanın içinde yer  almaktadır.</a:t>
            </a:r>
            <a:endParaRPr sz="2000">
              <a:solidFill>
                <a:schemeClr val="dk1"/>
              </a:solidFill>
              <a:latin typeface="Arial"/>
              <a:ea typeface="Arial"/>
              <a:cs typeface="Arial"/>
              <a:sym typeface="Arial"/>
            </a:endParaRPr>
          </a:p>
        </p:txBody>
      </p:sp>
      <p:sp>
        <p:nvSpPr>
          <p:cNvPr id="442" name="Google Shape;442;p4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pic>
        <p:nvPicPr>
          <p:cNvPr id="443" name="Google Shape;443;p45"/>
          <p:cNvPicPr preferRelativeResize="0"/>
          <p:nvPr/>
        </p:nvPicPr>
        <p:blipFill rotWithShape="1">
          <a:blip r:embed="rId3">
            <a:alphaModFix/>
          </a:blip>
          <a:srcRect b="0" l="0" r="0" t="0"/>
          <a:stretch/>
        </p:blipFill>
        <p:spPr>
          <a:xfrm>
            <a:off x="5867400" y="0"/>
            <a:ext cx="2952750" cy="16668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6"/>
          <p:cNvSpPr txBox="1"/>
          <p:nvPr/>
        </p:nvSpPr>
        <p:spPr>
          <a:xfrm>
            <a:off x="838200" y="1524000"/>
            <a:ext cx="7151370" cy="4787849"/>
          </a:xfrm>
          <a:prstGeom prst="rect">
            <a:avLst/>
          </a:prstGeom>
          <a:noFill/>
          <a:ln>
            <a:noFill/>
          </a:ln>
        </p:spPr>
        <p:txBody>
          <a:bodyPr anchorCtr="0" anchor="t" bIns="0" lIns="0" spcFirstLastPara="1" rIns="0" wrap="square" tIns="85725">
            <a:spAutoFit/>
          </a:bodyPr>
          <a:lstStyle/>
          <a:p>
            <a:pPr indent="-5080" lvl="0" marL="17145" marR="5080" rtl="0" algn="l">
              <a:lnSpc>
                <a:spcPct val="80000"/>
              </a:lnSpc>
              <a:spcBef>
                <a:spcPts val="0"/>
              </a:spcBef>
              <a:spcAft>
                <a:spcPts val="0"/>
              </a:spcAft>
              <a:buNone/>
            </a:pPr>
            <a:r>
              <a:rPr b="1" lang="tr-TR" sz="2400">
                <a:solidFill>
                  <a:schemeClr val="dk1"/>
                </a:solidFill>
                <a:latin typeface="Arial"/>
                <a:ea typeface="Arial"/>
                <a:cs typeface="Arial"/>
                <a:sym typeface="Arial"/>
              </a:rPr>
              <a:t>d)Alan Araştırması: </a:t>
            </a:r>
            <a:r>
              <a:rPr lang="tr-TR" sz="2400">
                <a:solidFill>
                  <a:schemeClr val="dk1"/>
                </a:solidFill>
                <a:latin typeface="Arial"/>
                <a:ea typeface="Arial"/>
                <a:cs typeface="Arial"/>
                <a:sym typeface="Arial"/>
              </a:rPr>
              <a:t>Tarama araştırmalarıyla alan  araştırmaları arasında nitelikleri itibariyle ayrım  yapmak zordur. </a:t>
            </a:r>
            <a:endParaRPr sz="2400">
              <a:solidFill>
                <a:schemeClr val="dk1"/>
              </a:solidFill>
              <a:latin typeface="Arial"/>
              <a:ea typeface="Arial"/>
              <a:cs typeface="Arial"/>
              <a:sym typeface="Arial"/>
            </a:endParaRPr>
          </a:p>
          <a:p>
            <a:pPr indent="-5080" lvl="0" marL="17145" marR="5080" rtl="0" algn="l">
              <a:lnSpc>
                <a:spcPct val="80000"/>
              </a:lnSpc>
              <a:spcBef>
                <a:spcPts val="675"/>
              </a:spcBef>
              <a:spcAft>
                <a:spcPts val="0"/>
              </a:spcAft>
              <a:buNone/>
            </a:pPr>
            <a:r>
              <a:rPr lang="tr-TR" sz="2400">
                <a:solidFill>
                  <a:schemeClr val="dk1"/>
                </a:solidFill>
                <a:latin typeface="Arial"/>
                <a:ea typeface="Arial"/>
                <a:cs typeface="Arial"/>
                <a:sym typeface="Arial"/>
              </a:rPr>
              <a:t>Birincisi genişlemesine bir alan  araştırması, diğeri ise derinlemesine bir alan  araştırmasıdır. Bu nedenle tarama araştırmalarında  uygulanan model, seçilen örneklerin evreni temsil  etme amacına yöneliktir. </a:t>
            </a:r>
            <a:endParaRPr sz="2400">
              <a:solidFill>
                <a:schemeClr val="dk1"/>
              </a:solidFill>
              <a:latin typeface="Arial"/>
              <a:ea typeface="Arial"/>
              <a:cs typeface="Arial"/>
              <a:sym typeface="Arial"/>
            </a:endParaRPr>
          </a:p>
          <a:p>
            <a:pPr indent="-5080" lvl="0" marL="17145" marR="5080" rtl="0" algn="l">
              <a:lnSpc>
                <a:spcPct val="80000"/>
              </a:lnSpc>
              <a:spcBef>
                <a:spcPts val="675"/>
              </a:spcBef>
              <a:spcAft>
                <a:spcPts val="0"/>
              </a:spcAft>
              <a:buNone/>
            </a:pPr>
            <a:r>
              <a:rPr lang="tr-TR" sz="2400">
                <a:solidFill>
                  <a:schemeClr val="dk1"/>
                </a:solidFill>
                <a:latin typeface="Arial"/>
                <a:ea typeface="Arial"/>
                <a:cs typeface="Arial"/>
                <a:sym typeface="Arial"/>
              </a:rPr>
              <a:t>Alan araştırmasında ise örneklem  değil, belirli bir olayın çok boyutlu olarak incelenip  ayrıntıların ortaya çıkması önemlidir. </a:t>
            </a:r>
            <a:endParaRPr sz="2400">
              <a:solidFill>
                <a:schemeClr val="dk1"/>
              </a:solidFill>
              <a:latin typeface="Arial"/>
              <a:ea typeface="Arial"/>
              <a:cs typeface="Arial"/>
              <a:sym typeface="Arial"/>
            </a:endParaRPr>
          </a:p>
          <a:p>
            <a:pPr indent="-5080" lvl="0" marL="17145" marR="5080" rtl="0" algn="l">
              <a:lnSpc>
                <a:spcPct val="80000"/>
              </a:lnSpc>
              <a:spcBef>
                <a:spcPts val="675"/>
              </a:spcBef>
              <a:spcAft>
                <a:spcPts val="0"/>
              </a:spcAft>
              <a:buNone/>
            </a:pPr>
            <a:r>
              <a:rPr lang="tr-TR" sz="2400">
                <a:solidFill>
                  <a:schemeClr val="dk1"/>
                </a:solidFill>
                <a:latin typeface="Arial"/>
                <a:ea typeface="Arial"/>
                <a:cs typeface="Arial"/>
                <a:sym typeface="Arial"/>
              </a:rPr>
              <a:t>Bu tür alan  araştırmalarında genellikle bir toplumun, bir kurumun  yapısı ya da küçük bir grup içindeki etkileşim  mekanizması gibi konular ele alınır (Gökçe, 2004).</a:t>
            </a:r>
            <a:endParaRPr sz="2400">
              <a:solidFill>
                <a:schemeClr val="dk1"/>
              </a:solidFill>
              <a:latin typeface="Arial"/>
              <a:ea typeface="Arial"/>
              <a:cs typeface="Arial"/>
              <a:sym typeface="Arial"/>
            </a:endParaRPr>
          </a:p>
        </p:txBody>
      </p:sp>
      <p:sp>
        <p:nvSpPr>
          <p:cNvPr id="449" name="Google Shape;449;p4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7"/>
          <p:cNvSpPr txBox="1"/>
          <p:nvPr/>
        </p:nvSpPr>
        <p:spPr>
          <a:xfrm>
            <a:off x="984300" y="1539062"/>
            <a:ext cx="7412990" cy="3012363"/>
          </a:xfrm>
          <a:prstGeom prst="rect">
            <a:avLst/>
          </a:prstGeom>
          <a:noFill/>
          <a:ln>
            <a:noFill/>
          </a:ln>
        </p:spPr>
        <p:txBody>
          <a:bodyPr anchorCtr="0" anchor="t" bIns="0" lIns="0" spcFirstLastPara="1" rIns="0" wrap="square" tIns="97775">
            <a:spAutoFit/>
          </a:bodyPr>
          <a:lstStyle/>
          <a:p>
            <a:pPr indent="-47624" lvl="0" marL="59689" marR="5080" rtl="0" algn="l">
              <a:lnSpc>
                <a:spcPct val="80000"/>
              </a:lnSpc>
              <a:spcBef>
                <a:spcPts val="0"/>
              </a:spcBef>
              <a:spcAft>
                <a:spcPts val="0"/>
              </a:spcAft>
              <a:buNone/>
            </a:pPr>
            <a:r>
              <a:rPr b="1" lang="tr-TR" sz="2800">
                <a:solidFill>
                  <a:schemeClr val="dk1"/>
                </a:solidFill>
                <a:latin typeface="Arial"/>
                <a:ea typeface="Arial"/>
                <a:cs typeface="Arial"/>
                <a:sym typeface="Arial"/>
              </a:rPr>
              <a:t>e)Deneysel Araştırma</a:t>
            </a:r>
            <a:r>
              <a:rPr lang="tr-TR" sz="2800">
                <a:solidFill>
                  <a:schemeClr val="dk1"/>
                </a:solidFill>
                <a:latin typeface="Arial"/>
                <a:ea typeface="Arial"/>
                <a:cs typeface="Arial"/>
                <a:sym typeface="Arial"/>
              </a:rPr>
              <a:t>: </a:t>
            </a:r>
            <a:r>
              <a:rPr lang="tr-TR" sz="2400">
                <a:solidFill>
                  <a:schemeClr val="dk1"/>
                </a:solidFill>
                <a:latin typeface="Arial"/>
                <a:ea typeface="Arial"/>
                <a:cs typeface="Arial"/>
                <a:sym typeface="Arial"/>
              </a:rPr>
              <a:t>Sistemli ve mantıki bir  araştırma yolu olan deneysel yöntem,  “…dikkatle kontrol edilmiş şartlar altında, belirli  bir etkiye(harekete) karşılık nasıl bir tepki(davranış) </a:t>
            </a:r>
            <a:endParaRPr sz="2400">
              <a:solidFill>
                <a:schemeClr val="dk1"/>
              </a:solidFill>
              <a:latin typeface="Arial"/>
              <a:ea typeface="Arial"/>
              <a:cs typeface="Arial"/>
              <a:sym typeface="Arial"/>
            </a:endParaRPr>
          </a:p>
          <a:p>
            <a:pPr indent="-47624" lvl="0" marL="59689" marR="5080" rtl="0" algn="l">
              <a:lnSpc>
                <a:spcPct val="80000"/>
              </a:lnSpc>
              <a:spcBef>
                <a:spcPts val="770"/>
              </a:spcBef>
              <a:spcAft>
                <a:spcPts val="0"/>
              </a:spcAft>
              <a:buNone/>
            </a:pPr>
            <a:r>
              <a:t/>
            </a:r>
            <a:endParaRPr sz="2400">
              <a:solidFill>
                <a:schemeClr val="dk1"/>
              </a:solidFill>
              <a:latin typeface="Arial"/>
              <a:ea typeface="Arial"/>
              <a:cs typeface="Arial"/>
              <a:sym typeface="Arial"/>
            </a:endParaRPr>
          </a:p>
          <a:p>
            <a:pPr indent="-47624" lvl="0" marL="59689" marR="5080" rtl="0" algn="l">
              <a:lnSpc>
                <a:spcPct val="80000"/>
              </a:lnSpc>
              <a:spcBef>
                <a:spcPts val="770"/>
              </a:spcBef>
              <a:spcAft>
                <a:spcPts val="0"/>
              </a:spcAft>
              <a:buNone/>
            </a:pPr>
            <a:r>
              <a:rPr lang="tr-TR" sz="2400">
                <a:solidFill>
                  <a:schemeClr val="dk1"/>
                </a:solidFill>
                <a:latin typeface="Arial"/>
                <a:ea typeface="Arial"/>
                <a:cs typeface="Arial"/>
                <a:sym typeface="Arial"/>
              </a:rPr>
              <a:t>Araştırmacı belirli etkileri, yolları veya çevresel  şartları değiştirerek, ayarlayarak, kontrol  ederek, objelerin, bireylerin davranışlarının  nasıl etkilendiğini, değiştiğini gözler ve  anlamaya çalışır (Kaptan, 1973).</a:t>
            </a:r>
            <a:endParaRPr sz="2400">
              <a:solidFill>
                <a:schemeClr val="dk1"/>
              </a:solidFill>
              <a:latin typeface="Arial"/>
              <a:ea typeface="Arial"/>
              <a:cs typeface="Arial"/>
              <a:sym typeface="Arial"/>
            </a:endParaRPr>
          </a:p>
        </p:txBody>
      </p:sp>
      <p:sp>
        <p:nvSpPr>
          <p:cNvPr id="455" name="Google Shape;455;p4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48"/>
          <p:cNvSpPr txBox="1"/>
          <p:nvPr>
            <p:ph type="title"/>
          </p:nvPr>
        </p:nvSpPr>
        <p:spPr>
          <a:xfrm>
            <a:off x="274116" y="474929"/>
            <a:ext cx="2140585" cy="4064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tr-TR" sz="2500">
                <a:solidFill>
                  <a:srgbClr val="FFFFFF"/>
                </a:solidFill>
                <a:latin typeface="Arial"/>
                <a:ea typeface="Arial"/>
                <a:cs typeface="Arial"/>
                <a:sym typeface="Arial"/>
              </a:rPr>
              <a:t>KONU SEÇİMİ</a:t>
            </a:r>
            <a:endParaRPr sz="2500">
              <a:latin typeface="Arial"/>
              <a:ea typeface="Arial"/>
              <a:cs typeface="Arial"/>
              <a:sym typeface="Arial"/>
            </a:endParaRPr>
          </a:p>
        </p:txBody>
      </p:sp>
      <p:sp>
        <p:nvSpPr>
          <p:cNvPr id="461" name="Google Shape;461;p48"/>
          <p:cNvSpPr txBox="1"/>
          <p:nvPr/>
        </p:nvSpPr>
        <p:spPr>
          <a:xfrm>
            <a:off x="445390" y="1371600"/>
            <a:ext cx="8264856" cy="4095737"/>
          </a:xfrm>
          <a:prstGeom prst="rect">
            <a:avLst/>
          </a:prstGeom>
          <a:noFill/>
          <a:ln>
            <a:noFill/>
          </a:ln>
        </p:spPr>
        <p:txBody>
          <a:bodyPr anchorCtr="0" anchor="t" bIns="0" lIns="0" spcFirstLastPara="1" rIns="0" wrap="square" tIns="97775">
            <a:spAutoFit/>
          </a:bodyPr>
          <a:lstStyle/>
          <a:p>
            <a:pPr indent="-457200" lvl="0" marL="469900" marR="785495" rtl="0" algn="l">
              <a:lnSpc>
                <a:spcPct val="80000"/>
              </a:lnSpc>
              <a:spcBef>
                <a:spcPts val="0"/>
              </a:spcBef>
              <a:spcAft>
                <a:spcPts val="0"/>
              </a:spcAft>
              <a:buClr>
                <a:schemeClr val="dk1"/>
              </a:buClr>
              <a:buSzPts val="2800"/>
              <a:buFont typeface="Arial"/>
              <a:buChar char="•"/>
            </a:pPr>
            <a:r>
              <a:rPr lang="tr-TR" sz="2800">
                <a:solidFill>
                  <a:schemeClr val="dk1"/>
                </a:solidFill>
                <a:latin typeface="Arial"/>
                <a:ea typeface="Arial"/>
                <a:cs typeface="Arial"/>
                <a:sym typeface="Arial"/>
              </a:rPr>
              <a:t>Konu seçimi deneyimli ya da deneyimsiz  araştırıcıların sıklıkla karşılaştıkları bir  sorundur. Uygun bir konu bulamama araştırıcıyı kaygıya düşürebilir. </a:t>
            </a:r>
            <a:endParaRPr sz="2800">
              <a:solidFill>
                <a:schemeClr val="dk1"/>
              </a:solidFill>
              <a:latin typeface="Arial"/>
              <a:ea typeface="Arial"/>
              <a:cs typeface="Arial"/>
              <a:sym typeface="Arial"/>
            </a:endParaRPr>
          </a:p>
          <a:p>
            <a:pPr indent="-457200" lvl="0" marL="469900" marR="785495" rtl="0" algn="l">
              <a:lnSpc>
                <a:spcPct val="80000"/>
              </a:lnSpc>
              <a:spcBef>
                <a:spcPts val="770"/>
              </a:spcBef>
              <a:spcAft>
                <a:spcPts val="0"/>
              </a:spcAft>
              <a:buClr>
                <a:schemeClr val="dk1"/>
              </a:buClr>
              <a:buSzPts val="2800"/>
              <a:buFont typeface="Arial"/>
              <a:buChar char="•"/>
            </a:pPr>
            <a:r>
              <a:rPr lang="tr-TR" sz="2800">
                <a:solidFill>
                  <a:schemeClr val="dk1"/>
                </a:solidFill>
                <a:latin typeface="Arial"/>
                <a:ea typeface="Arial"/>
                <a:cs typeface="Arial"/>
                <a:sym typeface="Arial"/>
              </a:rPr>
              <a:t>Aynı şekilde geniş kapsamlı bir konu da araştırıcıyı güçlük  içinde bırakabilir.</a:t>
            </a:r>
            <a:endParaRPr sz="2800">
              <a:solidFill>
                <a:schemeClr val="dk1"/>
              </a:solidFill>
              <a:latin typeface="Arial"/>
              <a:ea typeface="Arial"/>
              <a:cs typeface="Arial"/>
              <a:sym typeface="Arial"/>
            </a:endParaRPr>
          </a:p>
          <a:p>
            <a:pPr indent="-457200" lvl="0" marL="469900" marR="785495" rtl="0" algn="l">
              <a:lnSpc>
                <a:spcPct val="80000"/>
              </a:lnSpc>
              <a:spcBef>
                <a:spcPts val="770"/>
              </a:spcBef>
              <a:spcAft>
                <a:spcPts val="0"/>
              </a:spcAft>
              <a:buClr>
                <a:schemeClr val="dk1"/>
              </a:buClr>
              <a:buSzPts val="2800"/>
              <a:buFont typeface="Arial"/>
              <a:buChar char="•"/>
            </a:pPr>
            <a:r>
              <a:rPr lang="tr-TR" sz="2800">
                <a:solidFill>
                  <a:schemeClr val="dk1"/>
                </a:solidFill>
                <a:latin typeface="Arial"/>
                <a:ea typeface="Arial"/>
                <a:cs typeface="Arial"/>
                <a:sym typeface="Arial"/>
              </a:rPr>
              <a:t>Çok sınırlı bir konu seçmek, araştırmayı çok  dar çerçevede bırakabileceği gibi, geniş  kapsamlı bir konuyu incelemek de araştırmanın sonuçta anlaşılmaz bir biçime sokulmasına neden  olabilir.</a:t>
            </a:r>
            <a:endParaRPr/>
          </a:p>
        </p:txBody>
      </p:sp>
      <p:sp>
        <p:nvSpPr>
          <p:cNvPr id="462" name="Google Shape;462;p4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9"/>
          <p:cNvSpPr txBox="1"/>
          <p:nvPr/>
        </p:nvSpPr>
        <p:spPr>
          <a:xfrm>
            <a:off x="984300" y="1539062"/>
            <a:ext cx="6815455" cy="3524885"/>
          </a:xfrm>
          <a:prstGeom prst="rect">
            <a:avLst/>
          </a:prstGeom>
          <a:noFill/>
          <a:ln>
            <a:noFill/>
          </a:ln>
        </p:spPr>
        <p:txBody>
          <a:bodyPr anchorCtr="0" anchor="t" bIns="0" lIns="0" spcFirstLastPara="1" rIns="0" wrap="square" tIns="97775">
            <a:spAutoFit/>
          </a:bodyPr>
          <a:lstStyle/>
          <a:p>
            <a:pPr indent="-47624" lvl="0" marL="59689" marR="817880" rtl="0" algn="l">
              <a:lnSpc>
                <a:spcPct val="80000"/>
              </a:lnSpc>
              <a:spcBef>
                <a:spcPts val="0"/>
              </a:spcBef>
              <a:spcAft>
                <a:spcPts val="0"/>
              </a:spcAft>
              <a:buNone/>
            </a:pPr>
            <a:r>
              <a:rPr lang="tr-TR" sz="2800">
                <a:solidFill>
                  <a:schemeClr val="dk1"/>
                </a:solidFill>
                <a:latin typeface="Arial"/>
                <a:ea typeface="Arial"/>
                <a:cs typeface="Arial"/>
                <a:sym typeface="Arial"/>
              </a:rPr>
              <a:t>Konu seçiminde aşağıdaki kaynaklara  başvurmak yararlı olabilir.</a:t>
            </a:r>
            <a:endParaRPr sz="2800">
              <a:solidFill>
                <a:schemeClr val="dk1"/>
              </a:solidFill>
              <a:latin typeface="Arial"/>
              <a:ea typeface="Arial"/>
              <a:cs typeface="Arial"/>
              <a:sym typeface="Arial"/>
            </a:endParaRPr>
          </a:p>
          <a:p>
            <a:pPr indent="-394970" lvl="0" marL="454025" marR="0" rtl="0" algn="l">
              <a:lnSpc>
                <a:spcPct val="83928"/>
              </a:lnSpc>
              <a:spcBef>
                <a:spcPts val="0"/>
              </a:spcBef>
              <a:spcAft>
                <a:spcPts val="0"/>
              </a:spcAft>
              <a:buClr>
                <a:schemeClr val="dk1"/>
              </a:buClr>
              <a:buSzPts val="2800"/>
              <a:buFont typeface="Arial"/>
              <a:buAutoNum type="arabicPeriod"/>
            </a:pPr>
            <a:r>
              <a:rPr lang="tr-TR" sz="2800">
                <a:solidFill>
                  <a:schemeClr val="dk1"/>
                </a:solidFill>
                <a:latin typeface="Arial"/>
                <a:ea typeface="Arial"/>
                <a:cs typeface="Arial"/>
                <a:sym typeface="Arial"/>
              </a:rPr>
              <a:t>Araştırma kurumları</a:t>
            </a:r>
            <a:endParaRPr sz="2800">
              <a:solidFill>
                <a:schemeClr val="dk1"/>
              </a:solidFill>
              <a:latin typeface="Arial"/>
              <a:ea typeface="Arial"/>
              <a:cs typeface="Arial"/>
              <a:sym typeface="Arial"/>
            </a:endParaRPr>
          </a:p>
          <a:p>
            <a:pPr indent="-394970" lvl="0" marL="454025" marR="0" rtl="0" algn="l">
              <a:lnSpc>
                <a:spcPct val="96071"/>
              </a:lnSpc>
              <a:spcBef>
                <a:spcPts val="0"/>
              </a:spcBef>
              <a:spcAft>
                <a:spcPts val="0"/>
              </a:spcAft>
              <a:buClr>
                <a:schemeClr val="dk1"/>
              </a:buClr>
              <a:buSzPts val="2800"/>
              <a:buFont typeface="Arial"/>
              <a:buAutoNum type="arabicPeriod"/>
            </a:pPr>
            <a:r>
              <a:rPr lang="tr-TR" sz="2800">
                <a:solidFill>
                  <a:schemeClr val="dk1"/>
                </a:solidFill>
                <a:latin typeface="Arial"/>
                <a:ea typeface="Arial"/>
                <a:cs typeface="Arial"/>
                <a:sym typeface="Arial"/>
              </a:rPr>
              <a:t>Araştırma raporları</a:t>
            </a:r>
            <a:endParaRPr sz="2800">
              <a:solidFill>
                <a:schemeClr val="dk1"/>
              </a:solidFill>
              <a:latin typeface="Arial"/>
              <a:ea typeface="Arial"/>
              <a:cs typeface="Arial"/>
              <a:sym typeface="Arial"/>
            </a:endParaRPr>
          </a:p>
          <a:p>
            <a:pPr indent="-395605" lvl="0" marL="454659" marR="0" rtl="0" algn="l">
              <a:lnSpc>
                <a:spcPct val="96071"/>
              </a:lnSpc>
              <a:spcBef>
                <a:spcPts val="0"/>
              </a:spcBef>
              <a:spcAft>
                <a:spcPts val="0"/>
              </a:spcAft>
              <a:buClr>
                <a:schemeClr val="dk1"/>
              </a:buClr>
              <a:buSzPts val="2800"/>
              <a:buFont typeface="Arial"/>
              <a:buAutoNum type="arabicPeriod"/>
            </a:pPr>
            <a:r>
              <a:rPr lang="tr-TR" sz="2800">
                <a:solidFill>
                  <a:schemeClr val="dk1"/>
                </a:solidFill>
                <a:latin typeface="Arial"/>
                <a:ea typeface="Arial"/>
                <a:cs typeface="Arial"/>
                <a:sym typeface="Arial"/>
              </a:rPr>
              <a:t>Her düzeydeki tezler</a:t>
            </a:r>
            <a:endParaRPr sz="2800">
              <a:solidFill>
                <a:schemeClr val="dk1"/>
              </a:solidFill>
              <a:latin typeface="Arial"/>
              <a:ea typeface="Arial"/>
              <a:cs typeface="Arial"/>
              <a:sym typeface="Arial"/>
            </a:endParaRPr>
          </a:p>
          <a:p>
            <a:pPr indent="-394970" lvl="0" marL="454025" marR="0" rtl="0" algn="l">
              <a:lnSpc>
                <a:spcPct val="96071"/>
              </a:lnSpc>
              <a:spcBef>
                <a:spcPts val="0"/>
              </a:spcBef>
              <a:spcAft>
                <a:spcPts val="0"/>
              </a:spcAft>
              <a:buClr>
                <a:schemeClr val="dk1"/>
              </a:buClr>
              <a:buSzPts val="2800"/>
              <a:buFont typeface="Arial"/>
              <a:buAutoNum type="arabicPeriod"/>
            </a:pPr>
            <a:r>
              <a:rPr lang="tr-TR" sz="2800">
                <a:solidFill>
                  <a:schemeClr val="dk1"/>
                </a:solidFill>
                <a:latin typeface="Arial"/>
                <a:ea typeface="Arial"/>
                <a:cs typeface="Arial"/>
                <a:sym typeface="Arial"/>
              </a:rPr>
              <a:t>Araştırma kaynakçaları</a:t>
            </a:r>
            <a:endParaRPr sz="2800">
              <a:solidFill>
                <a:schemeClr val="dk1"/>
              </a:solidFill>
              <a:latin typeface="Arial"/>
              <a:ea typeface="Arial"/>
              <a:cs typeface="Arial"/>
              <a:sym typeface="Arial"/>
            </a:endParaRPr>
          </a:p>
          <a:p>
            <a:pPr indent="-394970" lvl="0" marL="454025" marR="0" rtl="0" algn="l">
              <a:lnSpc>
                <a:spcPct val="96071"/>
              </a:lnSpc>
              <a:spcBef>
                <a:spcPts val="0"/>
              </a:spcBef>
              <a:spcAft>
                <a:spcPts val="0"/>
              </a:spcAft>
              <a:buClr>
                <a:schemeClr val="dk1"/>
              </a:buClr>
              <a:buSzPts val="2800"/>
              <a:buFont typeface="Arial"/>
              <a:buAutoNum type="arabicPeriod"/>
            </a:pPr>
            <a:r>
              <a:rPr lang="tr-TR" sz="2800">
                <a:solidFill>
                  <a:schemeClr val="dk1"/>
                </a:solidFill>
                <a:latin typeface="Arial"/>
                <a:ea typeface="Arial"/>
                <a:cs typeface="Arial"/>
                <a:sym typeface="Arial"/>
              </a:rPr>
              <a:t>Bilimsel yayınlar: Kitap, dergi, broşür vb.</a:t>
            </a:r>
            <a:endParaRPr sz="2800">
              <a:solidFill>
                <a:schemeClr val="dk1"/>
              </a:solidFill>
              <a:latin typeface="Arial"/>
              <a:ea typeface="Arial"/>
              <a:cs typeface="Arial"/>
              <a:sym typeface="Arial"/>
            </a:endParaRPr>
          </a:p>
          <a:p>
            <a:pPr indent="-394970" lvl="0" marL="454025" marR="0" rtl="0" algn="l">
              <a:lnSpc>
                <a:spcPct val="96071"/>
              </a:lnSpc>
              <a:spcBef>
                <a:spcPts val="0"/>
              </a:spcBef>
              <a:spcAft>
                <a:spcPts val="0"/>
              </a:spcAft>
              <a:buClr>
                <a:schemeClr val="dk1"/>
              </a:buClr>
              <a:buSzPts val="2800"/>
              <a:buFont typeface="Arial"/>
              <a:buAutoNum type="arabicPeriod"/>
            </a:pPr>
            <a:r>
              <a:rPr lang="tr-TR" sz="2800">
                <a:solidFill>
                  <a:schemeClr val="dk1"/>
                </a:solidFill>
                <a:latin typeface="Arial"/>
                <a:ea typeface="Arial"/>
                <a:cs typeface="Arial"/>
                <a:sym typeface="Arial"/>
              </a:rPr>
              <a:t>Bilimsel toplantılar</a:t>
            </a:r>
            <a:endParaRPr sz="2800">
              <a:solidFill>
                <a:schemeClr val="dk1"/>
              </a:solidFill>
              <a:latin typeface="Arial"/>
              <a:ea typeface="Arial"/>
              <a:cs typeface="Arial"/>
              <a:sym typeface="Arial"/>
            </a:endParaRPr>
          </a:p>
          <a:p>
            <a:pPr indent="-394970" lvl="0" marL="454025" marR="0" rtl="0" algn="l">
              <a:lnSpc>
                <a:spcPct val="96071"/>
              </a:lnSpc>
              <a:spcBef>
                <a:spcPts val="0"/>
              </a:spcBef>
              <a:spcAft>
                <a:spcPts val="0"/>
              </a:spcAft>
              <a:buClr>
                <a:schemeClr val="dk1"/>
              </a:buClr>
              <a:buSzPts val="2800"/>
              <a:buFont typeface="Arial"/>
              <a:buAutoNum type="arabicPeriod"/>
            </a:pPr>
            <a:r>
              <a:rPr lang="tr-TR" sz="2800">
                <a:solidFill>
                  <a:schemeClr val="dk1"/>
                </a:solidFill>
                <a:latin typeface="Arial"/>
                <a:ea typeface="Arial"/>
                <a:cs typeface="Arial"/>
                <a:sym typeface="Arial"/>
              </a:rPr>
              <a:t>Öğretim üyeleri, uzmanlarla tartışmalar</a:t>
            </a:r>
            <a:endParaRPr sz="2800">
              <a:solidFill>
                <a:schemeClr val="dk1"/>
              </a:solidFill>
              <a:latin typeface="Arial"/>
              <a:ea typeface="Arial"/>
              <a:cs typeface="Arial"/>
              <a:sym typeface="Arial"/>
            </a:endParaRPr>
          </a:p>
          <a:p>
            <a:pPr indent="-395605" lvl="0" marL="454659" marR="0" rtl="0" algn="l">
              <a:lnSpc>
                <a:spcPct val="108035"/>
              </a:lnSpc>
              <a:spcBef>
                <a:spcPts val="0"/>
              </a:spcBef>
              <a:spcAft>
                <a:spcPts val="0"/>
              </a:spcAft>
              <a:buClr>
                <a:schemeClr val="dk1"/>
              </a:buClr>
              <a:buSzPts val="2800"/>
              <a:buFont typeface="Arial"/>
              <a:buAutoNum type="arabicPeriod"/>
            </a:pPr>
            <a:r>
              <a:rPr lang="tr-TR" sz="2800">
                <a:solidFill>
                  <a:schemeClr val="dk1"/>
                </a:solidFill>
                <a:latin typeface="Arial"/>
                <a:ea typeface="Arial"/>
                <a:cs typeface="Arial"/>
                <a:sym typeface="Arial"/>
              </a:rPr>
              <a:t>Toplum ve tabiat</a:t>
            </a:r>
            <a:endParaRPr sz="2800">
              <a:solidFill>
                <a:schemeClr val="dk1"/>
              </a:solidFill>
              <a:latin typeface="Arial"/>
              <a:ea typeface="Arial"/>
              <a:cs typeface="Arial"/>
              <a:sym typeface="Arial"/>
            </a:endParaRPr>
          </a:p>
        </p:txBody>
      </p:sp>
      <p:sp>
        <p:nvSpPr>
          <p:cNvPr id="468" name="Google Shape;468;p4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0"/>
          <p:cNvSpPr txBox="1"/>
          <p:nvPr/>
        </p:nvSpPr>
        <p:spPr>
          <a:xfrm>
            <a:off x="967536" y="1564589"/>
            <a:ext cx="7310120" cy="3746500"/>
          </a:xfrm>
          <a:prstGeom prst="rect">
            <a:avLst/>
          </a:prstGeom>
          <a:noFill/>
          <a:ln>
            <a:noFill/>
          </a:ln>
        </p:spPr>
        <p:txBody>
          <a:bodyPr anchorCtr="0" anchor="t" bIns="0" lIns="0" spcFirstLastPara="1" rIns="0" wrap="square" tIns="74275">
            <a:spAutoFit/>
          </a:bodyPr>
          <a:lstStyle/>
          <a:p>
            <a:pPr indent="-64135" lvl="0" marL="76200" marR="5080" rtl="0" algn="l">
              <a:lnSpc>
                <a:spcPct val="80100"/>
              </a:lnSpc>
              <a:spcBef>
                <a:spcPts val="0"/>
              </a:spcBef>
              <a:spcAft>
                <a:spcPts val="0"/>
              </a:spcAft>
              <a:buNone/>
            </a:pPr>
            <a:r>
              <a:rPr lang="tr-TR" sz="2000">
                <a:solidFill>
                  <a:schemeClr val="dk1"/>
                </a:solidFill>
                <a:latin typeface="Arial"/>
                <a:ea typeface="Arial"/>
                <a:cs typeface="Arial"/>
                <a:sym typeface="Arial"/>
              </a:rPr>
              <a:t>İster araştırıcı tarafından seçilsin, isterse araştırıcıya incelenmesi  için verilsin, konu seçiminde aşağıdaki noktalara dikkat  edilmelidir.</a:t>
            </a:r>
            <a:endParaRPr sz="2000">
              <a:solidFill>
                <a:schemeClr val="dk1"/>
              </a:solidFill>
              <a:latin typeface="Arial"/>
              <a:ea typeface="Arial"/>
              <a:cs typeface="Arial"/>
              <a:sym typeface="Arial"/>
            </a:endParaRPr>
          </a:p>
          <a:p>
            <a:pPr indent="0" lvl="0" marL="76200" marR="294005" rtl="0" algn="l">
              <a:lnSpc>
                <a:spcPct val="80000"/>
              </a:lnSpc>
              <a:spcBef>
                <a:spcPts val="0"/>
              </a:spcBef>
              <a:spcAft>
                <a:spcPts val="0"/>
              </a:spcAft>
              <a:buNone/>
            </a:pPr>
            <a:r>
              <a:rPr lang="tr-TR" sz="2000">
                <a:solidFill>
                  <a:schemeClr val="dk1"/>
                </a:solidFill>
                <a:latin typeface="Arial"/>
                <a:ea typeface="Arial"/>
                <a:cs typeface="Arial"/>
                <a:sym typeface="Arial"/>
              </a:rPr>
              <a:t>Araştırıcının bilimsel bilgi düzeyi konuyu çözebilecek düzeyde  olmalıdır.</a:t>
            </a:r>
            <a:endParaRPr sz="2000">
              <a:solidFill>
                <a:schemeClr val="dk1"/>
              </a:solidFill>
              <a:latin typeface="Arial"/>
              <a:ea typeface="Arial"/>
              <a:cs typeface="Arial"/>
              <a:sym typeface="Arial"/>
            </a:endParaRPr>
          </a:p>
          <a:p>
            <a:pPr indent="0" lvl="0" marL="76200" marR="0" rtl="0" algn="l">
              <a:lnSpc>
                <a:spcPct val="84000"/>
              </a:lnSpc>
              <a:spcBef>
                <a:spcPts val="0"/>
              </a:spcBef>
              <a:spcAft>
                <a:spcPts val="0"/>
              </a:spcAft>
              <a:buNone/>
            </a:pPr>
            <a:r>
              <a:rPr lang="tr-TR" sz="2000">
                <a:solidFill>
                  <a:schemeClr val="dk1"/>
                </a:solidFill>
                <a:latin typeface="Arial"/>
                <a:ea typeface="Arial"/>
                <a:cs typeface="Arial"/>
                <a:sym typeface="Arial"/>
              </a:rPr>
              <a:t>Araştırma için gerekli malzeme, laboratuar ve diğer olanaklar</a:t>
            </a:r>
            <a:endParaRPr sz="2000">
              <a:solidFill>
                <a:schemeClr val="dk1"/>
              </a:solidFill>
              <a:latin typeface="Arial"/>
              <a:ea typeface="Arial"/>
              <a:cs typeface="Arial"/>
              <a:sym typeface="Arial"/>
            </a:endParaRPr>
          </a:p>
          <a:p>
            <a:pPr indent="0" lvl="0" marL="76200" marR="0" rtl="0" algn="l">
              <a:lnSpc>
                <a:spcPct val="96000"/>
              </a:lnSpc>
              <a:spcBef>
                <a:spcPts val="0"/>
              </a:spcBef>
              <a:spcAft>
                <a:spcPts val="0"/>
              </a:spcAft>
              <a:buNone/>
            </a:pPr>
            <a:r>
              <a:rPr lang="tr-TR" sz="2000">
                <a:solidFill>
                  <a:schemeClr val="dk1"/>
                </a:solidFill>
                <a:latin typeface="Arial"/>
                <a:ea typeface="Arial"/>
                <a:cs typeface="Arial"/>
                <a:sym typeface="Arial"/>
              </a:rPr>
              <a:t>nitelik ve nicelik yönünden yeterli olmalıdır.</a:t>
            </a:r>
            <a:endParaRPr sz="2000">
              <a:solidFill>
                <a:schemeClr val="dk1"/>
              </a:solidFill>
              <a:latin typeface="Arial"/>
              <a:ea typeface="Arial"/>
              <a:cs typeface="Arial"/>
              <a:sym typeface="Arial"/>
            </a:endParaRPr>
          </a:p>
          <a:p>
            <a:pPr indent="-159385" lvl="0" marL="234950" marR="0" rtl="0" algn="l">
              <a:lnSpc>
                <a:spcPct val="96000"/>
              </a:lnSpc>
              <a:spcBef>
                <a:spcPts val="0"/>
              </a:spcBef>
              <a:spcAft>
                <a:spcPts val="0"/>
              </a:spcAft>
              <a:buClr>
                <a:schemeClr val="dk1"/>
              </a:buClr>
              <a:buSzPts val="2000"/>
              <a:buFont typeface="Arial"/>
              <a:buChar char="•"/>
            </a:pPr>
            <a:r>
              <a:rPr lang="tr-TR" sz="2000">
                <a:solidFill>
                  <a:schemeClr val="dk1"/>
                </a:solidFill>
                <a:latin typeface="Arial"/>
                <a:ea typeface="Arial"/>
                <a:cs typeface="Arial"/>
                <a:sym typeface="Arial"/>
              </a:rPr>
              <a:t>Konu sınırlı olmalıdır.</a:t>
            </a:r>
            <a:endParaRPr sz="2000">
              <a:solidFill>
                <a:schemeClr val="dk1"/>
              </a:solidFill>
              <a:latin typeface="Arial"/>
              <a:ea typeface="Arial"/>
              <a:cs typeface="Arial"/>
              <a:sym typeface="Arial"/>
            </a:endParaRPr>
          </a:p>
          <a:p>
            <a:pPr indent="-127000" lvl="0" marL="76200" marR="666750" rtl="0" algn="l">
              <a:lnSpc>
                <a:spcPct val="80000"/>
              </a:lnSpc>
              <a:spcBef>
                <a:spcPts val="240"/>
              </a:spcBef>
              <a:spcAft>
                <a:spcPts val="0"/>
              </a:spcAft>
              <a:buClr>
                <a:schemeClr val="dk1"/>
              </a:buClr>
              <a:buSzPts val="2000"/>
              <a:buFont typeface="Arial"/>
              <a:buChar char="•"/>
            </a:pPr>
            <a:r>
              <a:rPr lang="tr-TR" sz="2000">
                <a:solidFill>
                  <a:schemeClr val="dk1"/>
                </a:solidFill>
                <a:latin typeface="Arial"/>
                <a:ea typeface="Arial"/>
                <a:cs typeface="Arial"/>
                <a:sym typeface="Arial"/>
              </a:rPr>
              <a:t>Konu ile ilgili verinin bulunup bulunamayacağı göz önüne  alınmalıdır.</a:t>
            </a:r>
            <a:endParaRPr sz="2000">
              <a:solidFill>
                <a:schemeClr val="dk1"/>
              </a:solidFill>
              <a:latin typeface="Arial"/>
              <a:ea typeface="Arial"/>
              <a:cs typeface="Arial"/>
              <a:sym typeface="Arial"/>
            </a:endParaRPr>
          </a:p>
          <a:p>
            <a:pPr indent="-159385" lvl="0" marL="234950" marR="0" rtl="0" algn="l">
              <a:lnSpc>
                <a:spcPct val="84000"/>
              </a:lnSpc>
              <a:spcBef>
                <a:spcPts val="0"/>
              </a:spcBef>
              <a:spcAft>
                <a:spcPts val="0"/>
              </a:spcAft>
              <a:buClr>
                <a:schemeClr val="dk1"/>
              </a:buClr>
              <a:buSzPts val="2000"/>
              <a:buFont typeface="Arial"/>
              <a:buChar char="•"/>
            </a:pPr>
            <a:r>
              <a:rPr lang="tr-TR" sz="2000">
                <a:solidFill>
                  <a:schemeClr val="dk1"/>
                </a:solidFill>
                <a:latin typeface="Arial"/>
                <a:ea typeface="Arial"/>
                <a:cs typeface="Arial"/>
                <a:sym typeface="Arial"/>
              </a:rPr>
              <a:t>Mali olanaklar ve zaman yeterli olmalıdır.</a:t>
            </a:r>
            <a:endParaRPr sz="2000">
              <a:solidFill>
                <a:schemeClr val="dk1"/>
              </a:solidFill>
              <a:latin typeface="Arial"/>
              <a:ea typeface="Arial"/>
              <a:cs typeface="Arial"/>
              <a:sym typeface="Arial"/>
            </a:endParaRPr>
          </a:p>
          <a:p>
            <a:pPr indent="-160020" lvl="0" marL="235584" marR="0" rtl="0" algn="l">
              <a:lnSpc>
                <a:spcPct val="96000"/>
              </a:lnSpc>
              <a:spcBef>
                <a:spcPts val="0"/>
              </a:spcBef>
              <a:spcAft>
                <a:spcPts val="0"/>
              </a:spcAft>
              <a:buClr>
                <a:schemeClr val="dk1"/>
              </a:buClr>
              <a:buSzPts val="2000"/>
              <a:buFont typeface="Arial"/>
              <a:buChar char="•"/>
            </a:pPr>
            <a:r>
              <a:rPr lang="tr-TR" sz="2000">
                <a:solidFill>
                  <a:schemeClr val="dk1"/>
                </a:solidFill>
                <a:latin typeface="Arial"/>
                <a:ea typeface="Arial"/>
                <a:cs typeface="Arial"/>
                <a:sym typeface="Arial"/>
              </a:rPr>
              <a:t>Konu bir yenilik getirmelidir.</a:t>
            </a:r>
            <a:endParaRPr sz="2000">
              <a:solidFill>
                <a:schemeClr val="dk1"/>
              </a:solidFill>
              <a:latin typeface="Arial"/>
              <a:ea typeface="Arial"/>
              <a:cs typeface="Arial"/>
              <a:sym typeface="Arial"/>
            </a:endParaRPr>
          </a:p>
          <a:p>
            <a:pPr indent="-159385" lvl="0" marL="234950" marR="0" rtl="0" algn="l">
              <a:lnSpc>
                <a:spcPct val="96000"/>
              </a:lnSpc>
              <a:spcBef>
                <a:spcPts val="0"/>
              </a:spcBef>
              <a:spcAft>
                <a:spcPts val="0"/>
              </a:spcAft>
              <a:buClr>
                <a:schemeClr val="dk1"/>
              </a:buClr>
              <a:buSzPts val="2000"/>
              <a:buFont typeface="Arial"/>
              <a:buChar char="•"/>
            </a:pPr>
            <a:r>
              <a:rPr lang="tr-TR" sz="2000">
                <a:solidFill>
                  <a:schemeClr val="dk1"/>
                </a:solidFill>
                <a:latin typeface="Arial"/>
                <a:ea typeface="Arial"/>
                <a:cs typeface="Arial"/>
                <a:sym typeface="Arial"/>
              </a:rPr>
              <a:t>Konu ilgi çekici olmalıdır.</a:t>
            </a:r>
            <a:endParaRPr sz="2000">
              <a:solidFill>
                <a:schemeClr val="dk1"/>
              </a:solidFill>
              <a:latin typeface="Arial"/>
              <a:ea typeface="Arial"/>
              <a:cs typeface="Arial"/>
              <a:sym typeface="Arial"/>
            </a:endParaRPr>
          </a:p>
          <a:p>
            <a:pPr indent="-127000" lvl="0" marL="76200" marR="888364" rtl="0" algn="l">
              <a:lnSpc>
                <a:spcPct val="80000"/>
              </a:lnSpc>
              <a:spcBef>
                <a:spcPts val="240"/>
              </a:spcBef>
              <a:spcAft>
                <a:spcPts val="0"/>
              </a:spcAft>
              <a:buClr>
                <a:schemeClr val="dk1"/>
              </a:buClr>
              <a:buSzPts val="2000"/>
              <a:buFont typeface="Arial"/>
              <a:buChar char="•"/>
            </a:pPr>
            <a:r>
              <a:rPr lang="tr-TR" sz="2000">
                <a:solidFill>
                  <a:schemeClr val="dk1"/>
                </a:solidFill>
                <a:latin typeface="Arial"/>
                <a:ea typeface="Arial"/>
                <a:cs typeface="Arial"/>
                <a:sym typeface="Arial"/>
              </a:rPr>
              <a:t>Konu bir bilim dalı için önemli olmalı ve bir soruya yanıt  verebilmelidir (Sümbüloğlu, 2002).</a:t>
            </a:r>
            <a:endParaRPr sz="2000">
              <a:solidFill>
                <a:schemeClr val="dk1"/>
              </a:solidFill>
              <a:latin typeface="Arial"/>
              <a:ea typeface="Arial"/>
              <a:cs typeface="Arial"/>
              <a:sym typeface="Arial"/>
            </a:endParaRPr>
          </a:p>
        </p:txBody>
      </p:sp>
      <p:sp>
        <p:nvSpPr>
          <p:cNvPr id="474" name="Google Shape;474;p5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1"/>
          <p:cNvSpPr txBox="1"/>
          <p:nvPr/>
        </p:nvSpPr>
        <p:spPr>
          <a:xfrm>
            <a:off x="274116" y="474929"/>
            <a:ext cx="5397500" cy="406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tr-TR" sz="2500">
                <a:solidFill>
                  <a:srgbClr val="FFFFFF"/>
                </a:solidFill>
                <a:latin typeface="Arial"/>
                <a:ea typeface="Arial"/>
                <a:cs typeface="Arial"/>
                <a:sym typeface="Arial"/>
              </a:rPr>
              <a:t>DEĞİŞKEN VE DEĞİŞKEN TÜRLERİ</a:t>
            </a:r>
            <a:endParaRPr sz="2500">
              <a:solidFill>
                <a:schemeClr val="dk1"/>
              </a:solidFill>
              <a:latin typeface="Arial"/>
              <a:ea typeface="Arial"/>
              <a:cs typeface="Arial"/>
              <a:sym typeface="Arial"/>
            </a:endParaRPr>
          </a:p>
        </p:txBody>
      </p:sp>
      <p:sp>
        <p:nvSpPr>
          <p:cNvPr id="480" name="Google Shape;480;p51"/>
          <p:cNvSpPr txBox="1"/>
          <p:nvPr>
            <p:ph type="title"/>
          </p:nvPr>
        </p:nvSpPr>
        <p:spPr>
          <a:xfrm>
            <a:off x="688340" y="1539062"/>
            <a:ext cx="7531100" cy="1476375"/>
          </a:xfrm>
          <a:prstGeom prst="rect">
            <a:avLst/>
          </a:prstGeom>
          <a:noFill/>
          <a:ln>
            <a:noFill/>
          </a:ln>
        </p:spPr>
        <p:txBody>
          <a:bodyPr anchorCtr="0" anchor="t" bIns="0" lIns="0" spcFirstLastPara="1" rIns="0" wrap="square" tIns="140450">
            <a:spAutoFit/>
          </a:bodyPr>
          <a:lstStyle/>
          <a:p>
            <a:pPr indent="-118109" lvl="0" marL="355600" marR="5080" rtl="0" algn="l">
              <a:lnSpc>
                <a:spcPct val="101400"/>
              </a:lnSpc>
              <a:spcBef>
                <a:spcPts val="0"/>
              </a:spcBef>
              <a:spcAft>
                <a:spcPts val="0"/>
              </a:spcAft>
              <a:buNone/>
            </a:pPr>
            <a:r>
              <a:rPr lang="tr-TR"/>
              <a:t>Bir değişken ;farklı değer alabilen  bişeydir.Değişkenler aynı obje için farklı  zamanlarda farklı değer alabilir.</a:t>
            </a:r>
            <a:endParaRPr/>
          </a:p>
        </p:txBody>
      </p:sp>
      <p:sp>
        <p:nvSpPr>
          <p:cNvPr id="481" name="Google Shape;481;p51"/>
          <p:cNvSpPr txBox="1"/>
          <p:nvPr/>
        </p:nvSpPr>
        <p:spPr>
          <a:xfrm>
            <a:off x="884936" y="2965158"/>
            <a:ext cx="7292340" cy="1903730"/>
          </a:xfrm>
          <a:prstGeom prst="rect">
            <a:avLst/>
          </a:prstGeom>
          <a:noFill/>
          <a:ln>
            <a:noFill/>
          </a:ln>
        </p:spPr>
        <p:txBody>
          <a:bodyPr anchorCtr="0" anchor="t" bIns="0" lIns="0" spcFirstLastPara="1" rIns="0" wrap="square" tIns="98425">
            <a:spAutoFit/>
          </a:bodyPr>
          <a:lstStyle/>
          <a:p>
            <a:pPr indent="0" lvl="0" marL="12700" marR="0" rtl="0" algn="l">
              <a:lnSpc>
                <a:spcPct val="100000"/>
              </a:lnSpc>
              <a:spcBef>
                <a:spcPts val="0"/>
              </a:spcBef>
              <a:spcAft>
                <a:spcPts val="0"/>
              </a:spcAft>
              <a:buNone/>
            </a:pPr>
            <a:r>
              <a:rPr lang="tr-TR" sz="2800">
                <a:solidFill>
                  <a:schemeClr val="dk1"/>
                </a:solidFill>
                <a:latin typeface="Arial"/>
                <a:ea typeface="Arial"/>
                <a:cs typeface="Arial"/>
                <a:sym typeface="Arial"/>
              </a:rPr>
              <a:t>Birçok farklı değişken örneği verilebilir:</a:t>
            </a:r>
            <a:endParaRPr sz="2800">
              <a:solidFill>
                <a:schemeClr val="dk1"/>
              </a:solidFill>
              <a:latin typeface="Arial"/>
              <a:ea typeface="Arial"/>
              <a:cs typeface="Arial"/>
              <a:sym typeface="Arial"/>
            </a:endParaRPr>
          </a:p>
          <a:p>
            <a:pPr indent="0" lvl="0" marL="111760" marR="0" rtl="0" algn="l">
              <a:lnSpc>
                <a:spcPct val="100000"/>
              </a:lnSpc>
              <a:spcBef>
                <a:spcPts val="670"/>
              </a:spcBef>
              <a:spcAft>
                <a:spcPts val="0"/>
              </a:spcAft>
              <a:buNone/>
            </a:pPr>
            <a:r>
              <a:rPr lang="tr-TR" sz="2800">
                <a:solidFill>
                  <a:schemeClr val="dk1"/>
                </a:solidFill>
                <a:latin typeface="Arial"/>
                <a:ea typeface="Arial"/>
                <a:cs typeface="Arial"/>
                <a:sym typeface="Arial"/>
              </a:rPr>
              <a:t>Sınav sonuçları,işe</a:t>
            </a:r>
            <a:endParaRPr sz="2800">
              <a:solidFill>
                <a:schemeClr val="dk1"/>
              </a:solidFill>
              <a:latin typeface="Arial"/>
              <a:ea typeface="Arial"/>
              <a:cs typeface="Arial"/>
              <a:sym typeface="Arial"/>
            </a:endParaRPr>
          </a:p>
          <a:p>
            <a:pPr indent="0" lvl="0" marL="158750" marR="5080" rtl="0" algn="l">
              <a:lnSpc>
                <a:spcPct val="100000"/>
              </a:lnSpc>
              <a:spcBef>
                <a:spcPts val="0"/>
              </a:spcBef>
              <a:spcAft>
                <a:spcPts val="0"/>
              </a:spcAft>
              <a:buNone/>
            </a:pPr>
            <a:r>
              <a:rPr lang="tr-TR" sz="2800">
                <a:solidFill>
                  <a:schemeClr val="dk1"/>
                </a:solidFill>
                <a:latin typeface="Arial"/>
                <a:ea typeface="Arial"/>
                <a:cs typeface="Arial"/>
                <a:sym typeface="Arial"/>
              </a:rPr>
              <a:t>devamsızlık,motivasyon,öğrenim durumu,saç  rengi,cinsiyet…</a:t>
            </a:r>
            <a:endParaRPr sz="2800">
              <a:solidFill>
                <a:schemeClr val="dk1"/>
              </a:solidFill>
              <a:latin typeface="Arial"/>
              <a:ea typeface="Arial"/>
              <a:cs typeface="Arial"/>
              <a:sym typeface="Arial"/>
            </a:endParaRPr>
          </a:p>
        </p:txBody>
      </p:sp>
      <p:sp>
        <p:nvSpPr>
          <p:cNvPr id="482" name="Google Shape;482;p5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2"/>
          <p:cNvSpPr txBox="1"/>
          <p:nvPr>
            <p:ph type="title"/>
          </p:nvPr>
        </p:nvSpPr>
        <p:spPr>
          <a:xfrm>
            <a:off x="274116" y="337769"/>
            <a:ext cx="3734435" cy="6661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tr-TR" sz="4200">
                <a:solidFill>
                  <a:srgbClr val="FFFFFF"/>
                </a:solidFill>
              </a:rPr>
              <a:t>Değişken türleri</a:t>
            </a:r>
            <a:endParaRPr sz="4200"/>
          </a:p>
        </p:txBody>
      </p:sp>
      <p:sp>
        <p:nvSpPr>
          <p:cNvPr id="488" name="Google Shape;488;p52"/>
          <p:cNvSpPr txBox="1"/>
          <p:nvPr/>
        </p:nvSpPr>
        <p:spPr>
          <a:xfrm>
            <a:off x="688340" y="1524420"/>
            <a:ext cx="4184015" cy="2367280"/>
          </a:xfrm>
          <a:prstGeom prst="rect">
            <a:avLst/>
          </a:prstGeom>
          <a:noFill/>
          <a:ln>
            <a:noFill/>
          </a:ln>
        </p:spPr>
        <p:txBody>
          <a:bodyPr anchorCtr="0" anchor="t" bIns="0" lIns="0" spcFirstLastPara="1" rIns="0" wrap="square" tIns="110475">
            <a:spAutoFit/>
          </a:bodyPr>
          <a:lstStyle/>
          <a:p>
            <a:pPr indent="-343535" lvl="0" marL="355600" marR="0" rtl="0" algn="l">
              <a:lnSpc>
                <a:spcPct val="100000"/>
              </a:lnSpc>
              <a:spcBef>
                <a:spcPts val="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Bağımlı değişken</a:t>
            </a:r>
            <a:endParaRPr sz="3200">
              <a:solidFill>
                <a:schemeClr val="dk1"/>
              </a:solidFill>
              <a:latin typeface="Arial"/>
              <a:ea typeface="Arial"/>
              <a:cs typeface="Arial"/>
              <a:sym typeface="Arial"/>
            </a:endParaRPr>
          </a:p>
          <a:p>
            <a:pPr indent="-343535" lvl="0" marL="355600" marR="0" rtl="0" algn="l">
              <a:lnSpc>
                <a:spcPct val="100000"/>
              </a:lnSpc>
              <a:spcBef>
                <a:spcPts val="765"/>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Bağımsız değişken</a:t>
            </a:r>
            <a:endParaRPr sz="3200">
              <a:solidFill>
                <a:schemeClr val="dk1"/>
              </a:solidFill>
              <a:latin typeface="Arial"/>
              <a:ea typeface="Arial"/>
              <a:cs typeface="Arial"/>
              <a:sym typeface="Arial"/>
            </a:endParaRPr>
          </a:p>
          <a:p>
            <a:pPr indent="-343535" lvl="0" marL="355600" marR="0" rtl="0" algn="l">
              <a:lnSpc>
                <a:spcPct val="100000"/>
              </a:lnSpc>
              <a:spcBef>
                <a:spcPts val="77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Ilımlaştırıcı değişken</a:t>
            </a:r>
            <a:endParaRPr sz="3200">
              <a:solidFill>
                <a:schemeClr val="dk1"/>
              </a:solidFill>
              <a:latin typeface="Arial"/>
              <a:ea typeface="Arial"/>
              <a:cs typeface="Arial"/>
              <a:sym typeface="Arial"/>
            </a:endParaRPr>
          </a:p>
          <a:p>
            <a:pPr indent="-343535" lvl="0" marL="355600" marR="0" rtl="0" algn="l">
              <a:lnSpc>
                <a:spcPct val="100000"/>
              </a:lnSpc>
              <a:spcBef>
                <a:spcPts val="77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Müdahaleci değişken</a:t>
            </a:r>
            <a:endParaRPr sz="3200">
              <a:solidFill>
                <a:schemeClr val="dk1"/>
              </a:solidFill>
              <a:latin typeface="Arial"/>
              <a:ea typeface="Arial"/>
              <a:cs typeface="Arial"/>
              <a:sym typeface="Arial"/>
            </a:endParaRPr>
          </a:p>
        </p:txBody>
      </p:sp>
      <p:sp>
        <p:nvSpPr>
          <p:cNvPr id="489" name="Google Shape;489;p5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pic>
        <p:nvPicPr>
          <p:cNvPr id="490" name="Google Shape;490;p52"/>
          <p:cNvPicPr preferRelativeResize="0"/>
          <p:nvPr/>
        </p:nvPicPr>
        <p:blipFill rotWithShape="1">
          <a:blip r:embed="rId3">
            <a:alphaModFix/>
          </a:blip>
          <a:srcRect b="0" l="0" r="0" t="0"/>
          <a:stretch/>
        </p:blipFill>
        <p:spPr>
          <a:xfrm>
            <a:off x="5181600" y="3048000"/>
            <a:ext cx="3727832" cy="21861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3"/>
          <p:cNvSpPr txBox="1"/>
          <p:nvPr/>
        </p:nvSpPr>
        <p:spPr>
          <a:xfrm>
            <a:off x="1026972" y="1673174"/>
            <a:ext cx="7388859" cy="3914533"/>
          </a:xfrm>
          <a:prstGeom prst="rect">
            <a:avLst/>
          </a:prstGeom>
          <a:noFill/>
          <a:ln>
            <a:noFill/>
          </a:ln>
        </p:spPr>
        <p:txBody>
          <a:bodyPr anchorCtr="0" anchor="t" bIns="0" lIns="0" spcFirstLastPara="1" rIns="0" wrap="square" tIns="10775">
            <a:spAutoFit/>
          </a:bodyPr>
          <a:lstStyle/>
          <a:p>
            <a:pPr indent="-5080" lvl="0" marL="17145" marR="5080" rtl="0" algn="l">
              <a:lnSpc>
                <a:spcPct val="100400"/>
              </a:lnSpc>
              <a:spcBef>
                <a:spcPts val="0"/>
              </a:spcBef>
              <a:spcAft>
                <a:spcPts val="0"/>
              </a:spcAft>
              <a:buNone/>
            </a:pPr>
            <a:r>
              <a:rPr b="1" lang="tr-TR" sz="2800">
                <a:solidFill>
                  <a:schemeClr val="dk1"/>
                </a:solidFill>
                <a:latin typeface="Arial"/>
                <a:ea typeface="Arial"/>
                <a:cs typeface="Arial"/>
                <a:sym typeface="Arial"/>
              </a:rPr>
              <a:t>Bağımlı değişken: </a:t>
            </a:r>
            <a:r>
              <a:rPr lang="tr-TR" sz="2800">
                <a:solidFill>
                  <a:schemeClr val="dk1"/>
                </a:solidFill>
                <a:latin typeface="Arial"/>
                <a:ea typeface="Arial"/>
                <a:cs typeface="Arial"/>
                <a:sym typeface="Arial"/>
              </a:rPr>
              <a:t>Araştırmacının temel ilgi  alanı olan değişkendir.Araştırmanın odağında  yer alır.Araştırmanın amacı bağımlı değişkenin  değişkenliğini (neye bağlı olarak değiştiğini)  açıklamak veya öngörmektir.</a:t>
            </a:r>
            <a:endParaRPr sz="2800">
              <a:solidFill>
                <a:schemeClr val="dk1"/>
              </a:solidFill>
              <a:latin typeface="Arial"/>
              <a:ea typeface="Arial"/>
              <a:cs typeface="Arial"/>
              <a:sym typeface="Arial"/>
            </a:endParaRPr>
          </a:p>
          <a:p>
            <a:pPr indent="-5080" lvl="0" marL="17145" marR="5080" rtl="0" algn="l">
              <a:lnSpc>
                <a:spcPct val="100400"/>
              </a:lnSpc>
              <a:spcBef>
                <a:spcPts val="85"/>
              </a:spcBef>
              <a:spcAft>
                <a:spcPts val="0"/>
              </a:spcAft>
              <a:buNone/>
            </a:pPr>
            <a:r>
              <a:t/>
            </a:r>
            <a:endParaRPr sz="2800">
              <a:solidFill>
                <a:schemeClr val="dk1"/>
              </a:solidFill>
              <a:latin typeface="Arial"/>
              <a:ea typeface="Arial"/>
              <a:cs typeface="Arial"/>
              <a:sym typeface="Arial"/>
            </a:endParaRPr>
          </a:p>
          <a:p>
            <a:pPr indent="-5080" lvl="0" marL="17145" marR="5080" rtl="0" algn="l">
              <a:lnSpc>
                <a:spcPct val="100400"/>
              </a:lnSpc>
              <a:spcBef>
                <a:spcPts val="85"/>
              </a:spcBef>
              <a:spcAft>
                <a:spcPts val="0"/>
              </a:spcAft>
              <a:buNone/>
            </a:pPr>
            <a:r>
              <a:rPr lang="tr-TR" sz="2800">
                <a:solidFill>
                  <a:schemeClr val="dk1"/>
                </a:solidFill>
                <a:latin typeface="Arial"/>
                <a:ea typeface="Arial"/>
                <a:cs typeface="Arial"/>
                <a:sym typeface="Arial"/>
              </a:rPr>
              <a:t>Bağımlı  değişkene etki eden diğer değişkenlerin analiz  edilmesi ile araştırma sorusuna yanıt  bulunmuş olur.</a:t>
            </a:r>
            <a:endParaRPr sz="2800">
              <a:solidFill>
                <a:schemeClr val="dk1"/>
              </a:solidFill>
              <a:latin typeface="Arial"/>
              <a:ea typeface="Arial"/>
              <a:cs typeface="Arial"/>
              <a:sym typeface="Arial"/>
            </a:endParaRPr>
          </a:p>
        </p:txBody>
      </p:sp>
      <p:sp>
        <p:nvSpPr>
          <p:cNvPr id="496" name="Google Shape;496;p5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4"/>
          <p:cNvSpPr txBox="1"/>
          <p:nvPr/>
        </p:nvSpPr>
        <p:spPr>
          <a:xfrm>
            <a:off x="1031544" y="1538440"/>
            <a:ext cx="7101205" cy="3696335"/>
          </a:xfrm>
          <a:prstGeom prst="rect">
            <a:avLst/>
          </a:prstGeom>
          <a:noFill/>
          <a:ln>
            <a:noFill/>
          </a:ln>
        </p:spPr>
        <p:txBody>
          <a:bodyPr anchorCtr="0" anchor="t" bIns="0" lIns="0" spcFirstLastPara="1" rIns="0" wrap="square" tIns="98425">
            <a:spAutoFit/>
          </a:bodyPr>
          <a:lstStyle/>
          <a:p>
            <a:pPr indent="0" lvl="0" marL="62864" marR="0" rtl="0" algn="l">
              <a:lnSpc>
                <a:spcPct val="100000"/>
              </a:lnSpc>
              <a:spcBef>
                <a:spcPts val="0"/>
              </a:spcBef>
              <a:spcAft>
                <a:spcPts val="0"/>
              </a:spcAft>
              <a:buNone/>
            </a:pPr>
            <a:r>
              <a:rPr lang="tr-TR" sz="2800">
                <a:solidFill>
                  <a:schemeClr val="dk1"/>
                </a:solidFill>
                <a:latin typeface="Arial"/>
                <a:ea typeface="Arial"/>
                <a:cs typeface="Arial"/>
                <a:sym typeface="Arial"/>
              </a:rPr>
              <a:t>Bağımlı değişken örnekleri:</a:t>
            </a:r>
            <a:endParaRPr sz="2800">
              <a:solidFill>
                <a:schemeClr val="dk1"/>
              </a:solidFill>
              <a:latin typeface="Arial"/>
              <a:ea typeface="Arial"/>
              <a:cs typeface="Arial"/>
              <a:sym typeface="Arial"/>
            </a:endParaRPr>
          </a:p>
          <a:p>
            <a:pPr indent="50164" lvl="0" marL="12700" marR="5080" rtl="0" algn="l">
              <a:lnSpc>
                <a:spcPct val="100000"/>
              </a:lnSpc>
              <a:spcBef>
                <a:spcPts val="670"/>
              </a:spcBef>
              <a:spcAft>
                <a:spcPts val="0"/>
              </a:spcAft>
              <a:buNone/>
            </a:pPr>
            <a:r>
              <a:rPr lang="tr-TR" sz="2800">
                <a:solidFill>
                  <a:schemeClr val="dk1"/>
                </a:solidFill>
                <a:latin typeface="Arial"/>
                <a:ea typeface="Arial"/>
                <a:cs typeface="Arial"/>
                <a:sym typeface="Arial"/>
              </a:rPr>
              <a:t>Yeni bir ürünün satış grafiği istenen düzeyde  değildir.Burada satış rakamları bağımlı  değişken olabilir.</a:t>
            </a:r>
            <a:endParaRPr sz="2800">
              <a:solidFill>
                <a:schemeClr val="dk1"/>
              </a:solidFill>
              <a:latin typeface="Arial"/>
              <a:ea typeface="Arial"/>
              <a:cs typeface="Arial"/>
              <a:sym typeface="Arial"/>
            </a:endParaRPr>
          </a:p>
          <a:p>
            <a:pPr indent="50164" lvl="0" marL="12700" marR="196850" rtl="0" algn="l">
              <a:lnSpc>
                <a:spcPct val="100000"/>
              </a:lnSpc>
              <a:spcBef>
                <a:spcPts val="675"/>
              </a:spcBef>
              <a:spcAft>
                <a:spcPts val="0"/>
              </a:spcAft>
              <a:buNone/>
            </a:pPr>
            <a:r>
              <a:rPr lang="tr-TR" sz="2800">
                <a:solidFill>
                  <a:schemeClr val="dk1"/>
                </a:solidFill>
                <a:latin typeface="Arial"/>
                <a:ea typeface="Arial"/>
                <a:cs typeface="Arial"/>
                <a:sym typeface="Arial"/>
              </a:rPr>
              <a:t>Bir işletmede çalışanların firma aidiyetlerini  etkileyen faktörler araştırılmak istenebilir.Bu  durumda firma aidiyeti bağımlı değişken  olacaktır.</a:t>
            </a:r>
            <a:endParaRPr sz="2800">
              <a:solidFill>
                <a:schemeClr val="dk1"/>
              </a:solidFill>
              <a:latin typeface="Arial"/>
              <a:ea typeface="Arial"/>
              <a:cs typeface="Arial"/>
              <a:sym typeface="Arial"/>
            </a:endParaRPr>
          </a:p>
        </p:txBody>
      </p:sp>
      <p:sp>
        <p:nvSpPr>
          <p:cNvPr id="502" name="Google Shape;502;p5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5"/>
          <p:cNvSpPr txBox="1"/>
          <p:nvPr>
            <p:ph type="title"/>
          </p:nvPr>
        </p:nvSpPr>
        <p:spPr>
          <a:xfrm>
            <a:off x="1026972" y="1673174"/>
            <a:ext cx="7230109" cy="3462807"/>
          </a:xfrm>
          <a:prstGeom prst="rect">
            <a:avLst/>
          </a:prstGeom>
          <a:noFill/>
          <a:ln>
            <a:noFill/>
          </a:ln>
        </p:spPr>
        <p:txBody>
          <a:bodyPr anchorCtr="0" anchor="t" bIns="0" lIns="0" spcFirstLastPara="1" rIns="0" wrap="square" tIns="8250">
            <a:spAutoFit/>
          </a:bodyPr>
          <a:lstStyle/>
          <a:p>
            <a:pPr indent="-5080" lvl="0" marL="17145" marR="264795" rtl="0" algn="l">
              <a:lnSpc>
                <a:spcPct val="101000"/>
              </a:lnSpc>
              <a:spcBef>
                <a:spcPts val="0"/>
              </a:spcBef>
              <a:spcAft>
                <a:spcPts val="0"/>
              </a:spcAft>
              <a:buNone/>
            </a:pPr>
            <a:r>
              <a:rPr b="1" lang="tr-TR"/>
              <a:t>Bağımsız değişken</a:t>
            </a:r>
            <a:r>
              <a:rPr lang="tr-TR"/>
              <a:t>: Bağımlı değişkeni pozitif  veya negatif yönde etkileyen  değişkendir.</a:t>
            </a:r>
            <a:br>
              <a:rPr lang="tr-TR"/>
            </a:br>
            <a:br>
              <a:rPr lang="tr-TR"/>
            </a:br>
            <a:r>
              <a:rPr lang="tr-TR"/>
              <a:t>Bağımsız değişken var  olduğunda,bağımlı değişken de var olacaktır.</a:t>
            </a:r>
            <a:br>
              <a:rPr lang="tr-TR"/>
            </a:br>
            <a:r>
              <a:rPr lang="tr-TR"/>
              <a:t>Bir başka deyişle bağımlı değişkenin  değişkenliği bağımsız değişkene tabiidir.</a:t>
            </a:r>
            <a:endParaRPr/>
          </a:p>
        </p:txBody>
      </p:sp>
      <p:sp>
        <p:nvSpPr>
          <p:cNvPr id="508" name="Google Shape;508;p5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6"/>
          <p:cNvSpPr txBox="1"/>
          <p:nvPr/>
        </p:nvSpPr>
        <p:spPr>
          <a:xfrm>
            <a:off x="1026972" y="1673174"/>
            <a:ext cx="6793865" cy="3907801"/>
          </a:xfrm>
          <a:prstGeom prst="rect">
            <a:avLst/>
          </a:prstGeom>
          <a:noFill/>
          <a:ln>
            <a:noFill/>
          </a:ln>
        </p:spPr>
        <p:txBody>
          <a:bodyPr anchorCtr="0" anchor="t" bIns="0" lIns="0" spcFirstLastPara="1" rIns="0" wrap="square" tIns="8250">
            <a:spAutoFit/>
          </a:bodyPr>
          <a:lstStyle/>
          <a:p>
            <a:pPr indent="-5080" lvl="0" marL="17145" marR="362585" rtl="0" algn="l">
              <a:lnSpc>
                <a:spcPct val="101000"/>
              </a:lnSpc>
              <a:spcBef>
                <a:spcPts val="0"/>
              </a:spcBef>
              <a:spcAft>
                <a:spcPts val="0"/>
              </a:spcAft>
              <a:buNone/>
            </a:pPr>
            <a:r>
              <a:rPr b="1" lang="tr-TR" sz="2800">
                <a:solidFill>
                  <a:schemeClr val="dk1"/>
                </a:solidFill>
                <a:latin typeface="Arial"/>
                <a:ea typeface="Arial"/>
                <a:cs typeface="Arial"/>
                <a:sym typeface="Arial"/>
              </a:rPr>
              <a:t>Bağımsız değişken örneği: </a:t>
            </a:r>
            <a:r>
              <a:rPr lang="tr-TR" sz="2800">
                <a:solidFill>
                  <a:schemeClr val="dk1"/>
                </a:solidFill>
                <a:latin typeface="Arial"/>
                <a:ea typeface="Arial"/>
                <a:cs typeface="Arial"/>
                <a:sym typeface="Arial"/>
              </a:rPr>
              <a:t>Kültürler arası  yapılan araştırmalara göre;yönetsel  değerlerin,astlar ile üstler arasındaki güç  mesafesinde belirleyici rol oynamaktadır.</a:t>
            </a:r>
            <a:endParaRPr sz="2800">
              <a:solidFill>
                <a:schemeClr val="dk1"/>
              </a:solidFill>
              <a:latin typeface="Arial"/>
              <a:ea typeface="Arial"/>
              <a:cs typeface="Arial"/>
              <a:sym typeface="Arial"/>
            </a:endParaRPr>
          </a:p>
          <a:p>
            <a:pPr indent="0" lvl="0" marL="17145" marR="0" rtl="0" algn="l">
              <a:lnSpc>
                <a:spcPct val="100000"/>
              </a:lnSpc>
              <a:spcBef>
                <a:spcPts val="0"/>
              </a:spcBef>
              <a:spcAft>
                <a:spcPts val="0"/>
              </a:spcAft>
              <a:buNone/>
            </a:pPr>
            <a:r>
              <a:rPr lang="tr-TR" sz="2800">
                <a:solidFill>
                  <a:schemeClr val="dk1"/>
                </a:solidFill>
                <a:latin typeface="Arial"/>
                <a:ea typeface="Arial"/>
                <a:cs typeface="Arial"/>
                <a:sym typeface="Arial"/>
              </a:rPr>
              <a:t>Burada güç mesafesi araştırmanın temel ilgi odağı dolayısıyla da  bağımlı değişkendir.Yönetsel değerler ise  bağımsız değişken olarak tanımlanabilir.</a:t>
            </a:r>
            <a:endParaRPr sz="2800">
              <a:solidFill>
                <a:schemeClr val="dk1"/>
              </a:solidFill>
              <a:latin typeface="Arial"/>
              <a:ea typeface="Arial"/>
              <a:cs typeface="Arial"/>
              <a:sym typeface="Arial"/>
            </a:endParaRPr>
          </a:p>
        </p:txBody>
      </p:sp>
      <p:sp>
        <p:nvSpPr>
          <p:cNvPr id="514" name="Google Shape;514;p5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7"/>
          <p:cNvSpPr txBox="1"/>
          <p:nvPr>
            <p:ph idx="4294967295" type="title"/>
          </p:nvPr>
        </p:nvSpPr>
        <p:spPr>
          <a:xfrm>
            <a:off x="457200" y="76200"/>
            <a:ext cx="8229600" cy="868363"/>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None/>
            </a:pPr>
            <a:r>
              <a:rPr b="1" i="0" lang="tr-TR" sz="2800" u="none" cap="none" strike="noStrike">
                <a:solidFill>
                  <a:schemeClr val="dk1"/>
                </a:solidFill>
                <a:latin typeface="Tahoma"/>
                <a:ea typeface="Tahoma"/>
                <a:cs typeface="Tahoma"/>
                <a:sym typeface="Tahoma"/>
              </a:rPr>
              <a:t>Bağımsız Değişken</a:t>
            </a:r>
            <a:endParaRPr/>
          </a:p>
        </p:txBody>
      </p:sp>
      <p:sp>
        <p:nvSpPr>
          <p:cNvPr id="520" name="Google Shape;520;p57"/>
          <p:cNvSpPr txBox="1"/>
          <p:nvPr>
            <p:ph idx="4294967295" type="body"/>
          </p:nvPr>
        </p:nvSpPr>
        <p:spPr>
          <a:xfrm>
            <a:off x="465992" y="1447799"/>
            <a:ext cx="7458808" cy="5378817"/>
          </a:xfrm>
          <a:prstGeom prst="rect">
            <a:avLst/>
          </a:prstGeom>
          <a:noFill/>
          <a:ln>
            <a:noFill/>
          </a:ln>
        </p:spPr>
        <p:txBody>
          <a:bodyPr anchorCtr="0" anchor="t" bIns="0" lIns="0" spcFirstLastPara="1" rIns="0" wrap="square" tIns="0">
            <a:normAutofit/>
          </a:bodyPr>
          <a:lstStyle/>
          <a:p>
            <a:pPr indent="0" lvl="0" marL="0" rtl="0" algn="just">
              <a:spcBef>
                <a:spcPts val="0"/>
              </a:spcBef>
              <a:spcAft>
                <a:spcPts val="0"/>
              </a:spcAft>
              <a:buNone/>
            </a:pPr>
            <a:r>
              <a:rPr lang="tr-TR" sz="2400">
                <a:latin typeface="Arial"/>
                <a:ea typeface="Arial"/>
                <a:cs typeface="Arial"/>
                <a:sym typeface="Arial"/>
              </a:rPr>
              <a:t>Bağımsız değişken, bağımlı değişkeni pozitif veya negatif yönde etkileyen değişkene denir.</a:t>
            </a:r>
            <a:endParaRPr/>
          </a:p>
          <a:p>
            <a:pPr indent="0" lvl="0" marL="0" rtl="0" algn="just">
              <a:spcBef>
                <a:spcPts val="0"/>
              </a:spcBef>
              <a:spcAft>
                <a:spcPts val="0"/>
              </a:spcAft>
              <a:buClr>
                <a:schemeClr val="dk1"/>
              </a:buClr>
              <a:buSzPts val="2400"/>
              <a:buFont typeface="Arial"/>
              <a:buNone/>
            </a:pPr>
            <a:r>
              <a:t/>
            </a:r>
            <a:endParaRPr sz="2400">
              <a:latin typeface="Arial"/>
              <a:ea typeface="Arial"/>
              <a:cs typeface="Arial"/>
              <a:sym typeface="Arial"/>
            </a:endParaRPr>
          </a:p>
          <a:p>
            <a:pPr indent="0" lvl="0" marL="0" rtl="0" algn="just">
              <a:spcBef>
                <a:spcPts val="0"/>
              </a:spcBef>
              <a:spcAft>
                <a:spcPts val="0"/>
              </a:spcAft>
              <a:buNone/>
            </a:pPr>
            <a:r>
              <a:rPr lang="tr-TR" sz="2400">
                <a:latin typeface="Arial"/>
                <a:ea typeface="Arial"/>
                <a:cs typeface="Arial"/>
                <a:sym typeface="Arial"/>
              </a:rPr>
              <a:t>Bağımsız değişkendeki 1 birimlik bir artış veya azalış, bağımlı değişkende belirli bir oranda artış veya azalışa neden olur. Bağımlı değişkendeki değişim (varyans) bağımsız değişken tarafından açıklanır</a:t>
            </a:r>
            <a:r>
              <a:rPr b="1" lang="tr-TR" sz="4000">
                <a:solidFill>
                  <a:srgbClr val="0033CC"/>
                </a:solidFill>
                <a:latin typeface="Arial Narrow"/>
                <a:ea typeface="Arial Narrow"/>
                <a:cs typeface="Arial Narrow"/>
                <a:sym typeface="Arial Narrow"/>
              </a:rPr>
              <a:t>.</a:t>
            </a:r>
            <a:endParaRPr/>
          </a:p>
        </p:txBody>
      </p:sp>
      <p:sp>
        <p:nvSpPr>
          <p:cNvPr id="521" name="Google Shape;521;p57"/>
          <p:cNvSpPr txBox="1"/>
          <p:nvPr>
            <p:ph idx="4294967295" type="dt"/>
          </p:nvPr>
        </p:nvSpPr>
        <p:spPr>
          <a:xfrm>
            <a:off x="457200" y="6377940"/>
            <a:ext cx="2103120" cy="34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22" name="Google Shape;522;p57"/>
          <p:cNvSpPr txBox="1"/>
          <p:nvPr>
            <p:ph idx="4294967295"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pic>
        <p:nvPicPr>
          <p:cNvPr id="523" name="Google Shape;523;p57"/>
          <p:cNvPicPr preferRelativeResize="0"/>
          <p:nvPr/>
        </p:nvPicPr>
        <p:blipFill rotWithShape="1">
          <a:blip r:embed="rId3">
            <a:alphaModFix/>
          </a:blip>
          <a:srcRect b="0" l="0" r="0" t="0"/>
          <a:stretch/>
        </p:blipFill>
        <p:spPr>
          <a:xfrm>
            <a:off x="5029200" y="4343400"/>
            <a:ext cx="2809875" cy="21050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8"/>
          <p:cNvSpPr txBox="1"/>
          <p:nvPr>
            <p:ph idx="4294967295" type="title"/>
          </p:nvPr>
        </p:nvSpPr>
        <p:spPr>
          <a:xfrm>
            <a:off x="685800" y="2125980"/>
            <a:ext cx="7772400" cy="14401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b="0" i="0" sz="2800" u="none" cap="none" strike="noStrike">
              <a:solidFill>
                <a:schemeClr val="dk1"/>
              </a:solidFill>
              <a:latin typeface="Arial"/>
              <a:ea typeface="Arial"/>
              <a:cs typeface="Arial"/>
              <a:sym typeface="Arial"/>
            </a:endParaRPr>
          </a:p>
        </p:txBody>
      </p:sp>
      <p:sp>
        <p:nvSpPr>
          <p:cNvPr id="529" name="Google Shape;529;p58"/>
          <p:cNvSpPr txBox="1"/>
          <p:nvPr>
            <p:ph idx="4294967295" type="body"/>
          </p:nvPr>
        </p:nvSpPr>
        <p:spPr>
          <a:xfrm>
            <a:off x="1011732" y="1905126"/>
            <a:ext cx="7433309" cy="338582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530" name="Google Shape;530;p58"/>
          <p:cNvPicPr preferRelativeResize="0"/>
          <p:nvPr/>
        </p:nvPicPr>
        <p:blipFill rotWithShape="1">
          <a:blip r:embed="rId3">
            <a:alphaModFix/>
          </a:blip>
          <a:srcRect b="0" l="0" r="0" t="0"/>
          <a:stretch/>
        </p:blipFill>
        <p:spPr>
          <a:xfrm>
            <a:off x="1527555" y="1471475"/>
            <a:ext cx="6522169" cy="3824817"/>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9"/>
          <p:cNvSpPr txBox="1"/>
          <p:nvPr>
            <p:ph idx="4294967295" type="title"/>
          </p:nvPr>
        </p:nvSpPr>
        <p:spPr>
          <a:xfrm>
            <a:off x="762000" y="381000"/>
            <a:ext cx="8229600" cy="868363"/>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None/>
            </a:pPr>
            <a:r>
              <a:rPr b="1" i="0" lang="tr-TR" sz="2800" u="none" cap="none" strike="noStrike">
                <a:solidFill>
                  <a:schemeClr val="dk1"/>
                </a:solidFill>
                <a:latin typeface="Tahoma"/>
                <a:ea typeface="Tahoma"/>
                <a:cs typeface="Tahoma"/>
                <a:sym typeface="Tahoma"/>
              </a:rPr>
              <a:t>Bağımlı Değişken</a:t>
            </a:r>
            <a:endParaRPr b="1" i="0" sz="2800" u="none" cap="none" strike="noStrike">
              <a:solidFill>
                <a:schemeClr val="dk1"/>
              </a:solidFill>
              <a:latin typeface="Tahoma"/>
              <a:ea typeface="Tahoma"/>
              <a:cs typeface="Tahoma"/>
              <a:sym typeface="Tahoma"/>
            </a:endParaRPr>
          </a:p>
        </p:txBody>
      </p:sp>
      <p:sp>
        <p:nvSpPr>
          <p:cNvPr id="536" name="Google Shape;536;p59"/>
          <p:cNvSpPr txBox="1"/>
          <p:nvPr>
            <p:ph idx="4294967295" type="body"/>
          </p:nvPr>
        </p:nvSpPr>
        <p:spPr>
          <a:xfrm>
            <a:off x="685800" y="1828800"/>
            <a:ext cx="7391400" cy="5334000"/>
          </a:xfrm>
          <a:prstGeom prst="rect">
            <a:avLst/>
          </a:prstGeom>
          <a:noFill/>
          <a:ln>
            <a:noFill/>
          </a:ln>
        </p:spPr>
        <p:txBody>
          <a:bodyPr anchorCtr="0" anchor="t" bIns="0" lIns="0" spcFirstLastPara="1" rIns="0" wrap="square" tIns="0">
            <a:normAutofit/>
          </a:bodyPr>
          <a:lstStyle/>
          <a:p>
            <a:pPr indent="0" lvl="0" marL="0" rtl="0" algn="just">
              <a:spcBef>
                <a:spcPts val="0"/>
              </a:spcBef>
              <a:spcAft>
                <a:spcPts val="0"/>
              </a:spcAft>
              <a:buNone/>
            </a:pPr>
            <a:r>
              <a:rPr lang="tr-TR" sz="2400">
                <a:latin typeface="Arial"/>
                <a:ea typeface="Arial"/>
                <a:cs typeface="Arial"/>
                <a:sym typeface="Arial"/>
              </a:rPr>
              <a:t>Araştırmacının ilgilendiği temel değişkendir.</a:t>
            </a:r>
            <a:endParaRPr/>
          </a:p>
          <a:p>
            <a:pPr indent="0" lvl="0" marL="0" rtl="0" algn="just">
              <a:spcBef>
                <a:spcPts val="0"/>
              </a:spcBef>
              <a:spcAft>
                <a:spcPts val="0"/>
              </a:spcAft>
              <a:buNone/>
            </a:pPr>
            <a:r>
              <a:rPr lang="tr-TR" sz="2400">
                <a:latin typeface="Arial"/>
                <a:ea typeface="Arial"/>
                <a:cs typeface="Arial"/>
                <a:sym typeface="Arial"/>
              </a:rPr>
              <a:t>Araştırmacının amacı</a:t>
            </a:r>
            <a:endParaRPr/>
          </a:p>
          <a:p>
            <a:pPr indent="0" lvl="1" marL="457200" rtl="0" algn="just">
              <a:spcBef>
                <a:spcPts val="0"/>
              </a:spcBef>
              <a:spcAft>
                <a:spcPts val="0"/>
              </a:spcAft>
              <a:buNone/>
            </a:pPr>
            <a:r>
              <a:rPr lang="tr-TR" sz="2400">
                <a:latin typeface="Arial"/>
                <a:ea typeface="Arial"/>
                <a:cs typeface="Arial"/>
                <a:sym typeface="Arial"/>
              </a:rPr>
              <a:t>Bağımlı değişkeni tanımlamak ve anlamak</a:t>
            </a:r>
            <a:endParaRPr/>
          </a:p>
          <a:p>
            <a:pPr indent="0" lvl="1" marL="457200" rtl="0" algn="just">
              <a:spcBef>
                <a:spcPts val="0"/>
              </a:spcBef>
              <a:spcAft>
                <a:spcPts val="0"/>
              </a:spcAft>
              <a:buNone/>
            </a:pPr>
            <a:r>
              <a:rPr lang="tr-TR" sz="2400">
                <a:latin typeface="Arial"/>
                <a:ea typeface="Arial"/>
                <a:cs typeface="Arial"/>
                <a:sym typeface="Arial"/>
              </a:rPr>
              <a:t>Değişkenliğini açıklamak</a:t>
            </a:r>
            <a:endParaRPr/>
          </a:p>
          <a:p>
            <a:pPr indent="0" lvl="1" marL="457200" rtl="0" algn="just">
              <a:spcBef>
                <a:spcPts val="0"/>
              </a:spcBef>
              <a:spcAft>
                <a:spcPts val="0"/>
              </a:spcAft>
              <a:buNone/>
            </a:pPr>
            <a:r>
              <a:rPr lang="tr-TR" sz="2400">
                <a:latin typeface="Arial"/>
                <a:ea typeface="Arial"/>
                <a:cs typeface="Arial"/>
                <a:sym typeface="Arial"/>
              </a:rPr>
              <a:t>Tahmin etmektir</a:t>
            </a:r>
            <a:endParaRPr/>
          </a:p>
          <a:p>
            <a:pPr indent="0" lvl="0" marL="0" rtl="0" algn="just">
              <a:spcBef>
                <a:spcPts val="0"/>
              </a:spcBef>
              <a:spcAft>
                <a:spcPts val="0"/>
              </a:spcAft>
              <a:buNone/>
            </a:pPr>
            <a:r>
              <a:rPr lang="tr-TR" sz="2400">
                <a:latin typeface="Arial"/>
                <a:ea typeface="Arial"/>
                <a:cs typeface="Arial"/>
                <a:sym typeface="Arial"/>
              </a:rPr>
              <a:t>Bağımlı değişkenin analizi sonucunda, incelenilen probleme bir çözüm bulunulmaya çalışılır.</a:t>
            </a:r>
            <a:endParaRPr/>
          </a:p>
          <a:p>
            <a:pPr indent="0" lvl="0" marL="0" rtl="0" algn="just">
              <a:spcBef>
                <a:spcPts val="0"/>
              </a:spcBef>
              <a:spcAft>
                <a:spcPts val="0"/>
              </a:spcAft>
              <a:buNone/>
            </a:pPr>
            <a:r>
              <a:rPr lang="tr-TR" sz="2400">
                <a:latin typeface="Arial"/>
                <a:ea typeface="Arial"/>
                <a:cs typeface="Arial"/>
                <a:sym typeface="Arial"/>
              </a:rPr>
              <a:t>Bütün değişkenlerde olduğu gibi bu değişkeninde sayısallaştırılması veya ölçülmesi gerekmektedir.</a:t>
            </a:r>
            <a:endParaRPr/>
          </a:p>
        </p:txBody>
      </p:sp>
      <p:sp>
        <p:nvSpPr>
          <p:cNvPr id="537" name="Google Shape;537;p59"/>
          <p:cNvSpPr txBox="1"/>
          <p:nvPr>
            <p:ph idx="4294967295"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0"/>
          <p:cNvSpPr txBox="1"/>
          <p:nvPr>
            <p:ph idx="4294967295" type="title"/>
          </p:nvPr>
        </p:nvSpPr>
        <p:spPr>
          <a:xfrm>
            <a:off x="685800" y="2125980"/>
            <a:ext cx="7772400" cy="14401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b="0" i="0" sz="2800" u="none" cap="none" strike="noStrike">
              <a:solidFill>
                <a:schemeClr val="dk1"/>
              </a:solidFill>
              <a:latin typeface="Arial"/>
              <a:ea typeface="Arial"/>
              <a:cs typeface="Arial"/>
              <a:sym typeface="Arial"/>
            </a:endParaRPr>
          </a:p>
        </p:txBody>
      </p:sp>
      <p:sp>
        <p:nvSpPr>
          <p:cNvPr id="543" name="Google Shape;543;p60"/>
          <p:cNvSpPr txBox="1"/>
          <p:nvPr>
            <p:ph idx="4294967295" type="body"/>
          </p:nvPr>
        </p:nvSpPr>
        <p:spPr>
          <a:xfrm>
            <a:off x="1011732" y="1905126"/>
            <a:ext cx="7433309" cy="338582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544" name="Google Shape;544;p60"/>
          <p:cNvPicPr preferRelativeResize="0"/>
          <p:nvPr/>
        </p:nvPicPr>
        <p:blipFill rotWithShape="1">
          <a:blip r:embed="rId3">
            <a:alphaModFix/>
          </a:blip>
          <a:srcRect b="0" l="0" r="0" t="0"/>
          <a:stretch/>
        </p:blipFill>
        <p:spPr>
          <a:xfrm>
            <a:off x="919597" y="1600199"/>
            <a:ext cx="6476565" cy="4193931"/>
          </a:xfrm>
          <a:prstGeom prst="rect">
            <a:avLst/>
          </a:prstGeom>
          <a:noFill/>
          <a:ln>
            <a:noFill/>
          </a:ln>
        </p:spPr>
      </p:pic>
      <p:sp>
        <p:nvSpPr>
          <p:cNvPr id="545" name="Google Shape;545;p6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1"/>
          <p:cNvSpPr txBox="1"/>
          <p:nvPr/>
        </p:nvSpPr>
        <p:spPr>
          <a:xfrm>
            <a:off x="984300" y="1624406"/>
            <a:ext cx="7174865" cy="4378960"/>
          </a:xfrm>
          <a:prstGeom prst="rect">
            <a:avLst/>
          </a:prstGeom>
          <a:noFill/>
          <a:ln>
            <a:noFill/>
          </a:ln>
        </p:spPr>
        <p:txBody>
          <a:bodyPr anchorCtr="0" anchor="t" bIns="0" lIns="0" spcFirstLastPara="1" rIns="0" wrap="square" tIns="12050">
            <a:spAutoFit/>
          </a:bodyPr>
          <a:lstStyle/>
          <a:p>
            <a:pPr indent="-47624" lvl="0" marL="59689" marR="591185" rtl="0" algn="just">
              <a:lnSpc>
                <a:spcPct val="100000"/>
              </a:lnSpc>
              <a:spcBef>
                <a:spcPts val="0"/>
              </a:spcBef>
              <a:spcAft>
                <a:spcPts val="0"/>
              </a:spcAft>
              <a:buNone/>
            </a:pPr>
            <a:r>
              <a:rPr b="1" lang="tr-TR" sz="2800">
                <a:solidFill>
                  <a:schemeClr val="dk1"/>
                </a:solidFill>
                <a:latin typeface="Arial"/>
                <a:ea typeface="Arial"/>
                <a:cs typeface="Arial"/>
                <a:sym typeface="Arial"/>
              </a:rPr>
              <a:t>Ilımlaştırıcı değişken</a:t>
            </a:r>
            <a:r>
              <a:rPr lang="tr-TR" sz="2800">
                <a:solidFill>
                  <a:schemeClr val="dk1"/>
                </a:solidFill>
                <a:latin typeface="Arial"/>
                <a:ea typeface="Arial"/>
                <a:cs typeface="Arial"/>
                <a:sym typeface="Arial"/>
              </a:rPr>
              <a:t>: Bağımlı ve bağımsız  değişken arasındaki ilişkide önemli bir rol  oynar.</a:t>
            </a:r>
            <a:endParaRPr/>
          </a:p>
          <a:p>
            <a:pPr indent="-47624" lvl="0" marL="59689" marR="5080" rtl="0" algn="l">
              <a:lnSpc>
                <a:spcPct val="100000"/>
              </a:lnSpc>
              <a:spcBef>
                <a:spcPts val="675"/>
              </a:spcBef>
              <a:spcAft>
                <a:spcPts val="0"/>
              </a:spcAft>
              <a:buNone/>
            </a:pPr>
            <a:r>
              <a:rPr lang="tr-TR" sz="2800">
                <a:solidFill>
                  <a:schemeClr val="dk1"/>
                </a:solidFill>
                <a:latin typeface="Arial"/>
                <a:ea typeface="Arial"/>
                <a:cs typeface="Arial"/>
                <a:sym typeface="Arial"/>
              </a:rPr>
              <a:t>Örnek:5 ve 6 yaşındaki çocukların evlerinde  erişebildikleri kitap sayısı ile okuma becerileri  arasında bir ilişki olduğu tespit</a:t>
            </a:r>
            <a:endParaRPr/>
          </a:p>
          <a:p>
            <a:pPr indent="0" lvl="0" marL="59689" marR="1210310" rtl="0" algn="l">
              <a:lnSpc>
                <a:spcPct val="100000"/>
              </a:lnSpc>
              <a:spcBef>
                <a:spcPts val="5"/>
              </a:spcBef>
              <a:spcAft>
                <a:spcPts val="0"/>
              </a:spcAft>
              <a:buNone/>
            </a:pPr>
            <a:r>
              <a:rPr lang="tr-TR" sz="2800">
                <a:solidFill>
                  <a:schemeClr val="dk1"/>
                </a:solidFill>
                <a:latin typeface="Arial"/>
                <a:ea typeface="Arial"/>
                <a:cs typeface="Arial"/>
                <a:sym typeface="Arial"/>
              </a:rPr>
              <a:t>edilmiştir.Çocukların yaşadıkları evde  erişebildikleri çocuk kitabı sayısı</a:t>
            </a:r>
            <a:endParaRPr sz="2800">
              <a:solidFill>
                <a:schemeClr val="dk1"/>
              </a:solidFill>
              <a:latin typeface="Arial"/>
              <a:ea typeface="Arial"/>
              <a:cs typeface="Arial"/>
              <a:sym typeface="Arial"/>
            </a:endParaRPr>
          </a:p>
          <a:p>
            <a:pPr indent="0" lvl="0" marL="59689" marR="102235" rtl="0" algn="l">
              <a:lnSpc>
                <a:spcPct val="100000"/>
              </a:lnSpc>
              <a:spcBef>
                <a:spcPts val="0"/>
              </a:spcBef>
              <a:spcAft>
                <a:spcPts val="0"/>
              </a:spcAft>
              <a:buNone/>
            </a:pPr>
            <a:r>
              <a:rPr lang="tr-TR" sz="2800">
                <a:solidFill>
                  <a:schemeClr val="dk1"/>
                </a:solidFill>
                <a:latin typeface="Arial"/>
                <a:ea typeface="Arial"/>
                <a:cs typeface="Arial"/>
                <a:sym typeface="Arial"/>
              </a:rPr>
              <a:t>arttıkça,okuma becerilerinin artmakta olduğu  gözlemlenmiştir.</a:t>
            </a:r>
            <a:endParaRPr sz="2800">
              <a:solidFill>
                <a:schemeClr val="dk1"/>
              </a:solidFill>
              <a:latin typeface="Arial"/>
              <a:ea typeface="Arial"/>
              <a:cs typeface="Arial"/>
              <a:sym typeface="Arial"/>
            </a:endParaRPr>
          </a:p>
        </p:txBody>
      </p:sp>
      <p:sp>
        <p:nvSpPr>
          <p:cNvPr id="551" name="Google Shape;551;p6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2"/>
          <p:cNvSpPr txBox="1"/>
          <p:nvPr/>
        </p:nvSpPr>
        <p:spPr>
          <a:xfrm>
            <a:off x="1026972" y="1673174"/>
            <a:ext cx="6935470" cy="3878579"/>
          </a:xfrm>
          <a:prstGeom prst="rect">
            <a:avLst/>
          </a:prstGeom>
          <a:noFill/>
          <a:ln>
            <a:noFill/>
          </a:ln>
        </p:spPr>
        <p:txBody>
          <a:bodyPr anchorCtr="0" anchor="t" bIns="0" lIns="0" spcFirstLastPara="1" rIns="0" wrap="square" tIns="9525">
            <a:spAutoFit/>
          </a:bodyPr>
          <a:lstStyle/>
          <a:p>
            <a:pPr indent="-5080" lvl="0" marL="17145" marR="5080" rtl="0" algn="l">
              <a:lnSpc>
                <a:spcPct val="100699"/>
              </a:lnSpc>
              <a:spcBef>
                <a:spcPts val="0"/>
              </a:spcBef>
              <a:spcAft>
                <a:spcPts val="0"/>
              </a:spcAft>
              <a:buNone/>
            </a:pPr>
            <a:r>
              <a:rPr lang="tr-TR" sz="2800">
                <a:solidFill>
                  <a:schemeClr val="dk1"/>
                </a:solidFill>
                <a:latin typeface="Arial"/>
                <a:ea typeface="Arial"/>
                <a:cs typeface="Arial"/>
                <a:sym typeface="Arial"/>
              </a:rPr>
              <a:t>Bu durumda ; evde bulunan kitap sayısı  bağımsız değişken,okuma becerisi bağımlı  olacaktır.Bu ilişki genellenebilir nitelikte olsa  dahi,ebeveynlerin okur-yazarlığı tarafından  etkilenir durumdadır.Okur-yazar olmayan</a:t>
            </a:r>
            <a:endParaRPr sz="2800">
              <a:solidFill>
                <a:schemeClr val="dk1"/>
              </a:solidFill>
              <a:latin typeface="Arial"/>
              <a:ea typeface="Arial"/>
              <a:cs typeface="Arial"/>
              <a:sym typeface="Arial"/>
            </a:endParaRPr>
          </a:p>
          <a:p>
            <a:pPr indent="0" lvl="0" marL="17145" marR="470534" rtl="0" algn="just">
              <a:lnSpc>
                <a:spcPct val="100000"/>
              </a:lnSpc>
              <a:spcBef>
                <a:spcPts val="0"/>
              </a:spcBef>
              <a:spcAft>
                <a:spcPts val="0"/>
              </a:spcAft>
              <a:buNone/>
            </a:pPr>
            <a:r>
              <a:rPr lang="tr-TR" sz="2800">
                <a:solidFill>
                  <a:schemeClr val="dk1"/>
                </a:solidFill>
                <a:latin typeface="Arial"/>
                <a:ea typeface="Arial"/>
                <a:cs typeface="Arial"/>
                <a:sym typeface="Arial"/>
              </a:rPr>
              <a:t>ebeveynlerin olduğu bir evde kitap sayısı  çocukların okuma becerisini geliştirmeye  yetmeyecektir.Ebeveyn okur-yazarlığı</a:t>
            </a:r>
            <a:endParaRPr sz="2800">
              <a:solidFill>
                <a:schemeClr val="dk1"/>
              </a:solidFill>
              <a:latin typeface="Arial"/>
              <a:ea typeface="Arial"/>
              <a:cs typeface="Arial"/>
              <a:sym typeface="Arial"/>
            </a:endParaRPr>
          </a:p>
          <a:p>
            <a:pPr indent="0" lvl="0" marL="17145" marR="0" rtl="0" algn="just">
              <a:lnSpc>
                <a:spcPct val="100000"/>
              </a:lnSpc>
              <a:spcBef>
                <a:spcPts val="0"/>
              </a:spcBef>
              <a:spcAft>
                <a:spcPts val="0"/>
              </a:spcAft>
              <a:buNone/>
            </a:pPr>
            <a:r>
              <a:rPr lang="tr-TR" sz="2800">
                <a:solidFill>
                  <a:schemeClr val="dk1"/>
                </a:solidFill>
                <a:latin typeface="Arial"/>
                <a:ea typeface="Arial"/>
                <a:cs typeface="Arial"/>
                <a:sym typeface="Arial"/>
              </a:rPr>
              <a:t>ılımlaştırıcı değişken olacaktır.</a:t>
            </a:r>
            <a:endParaRPr sz="2800">
              <a:solidFill>
                <a:schemeClr val="dk1"/>
              </a:solidFill>
              <a:latin typeface="Arial"/>
              <a:ea typeface="Arial"/>
              <a:cs typeface="Arial"/>
              <a:sym typeface="Arial"/>
            </a:endParaRPr>
          </a:p>
        </p:txBody>
      </p:sp>
      <p:sp>
        <p:nvSpPr>
          <p:cNvPr id="557" name="Google Shape;557;p6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pic>
        <p:nvPicPr>
          <p:cNvPr id="562" name="Google Shape;562;p63"/>
          <p:cNvPicPr preferRelativeResize="0"/>
          <p:nvPr/>
        </p:nvPicPr>
        <p:blipFill rotWithShape="1">
          <a:blip r:embed="rId3">
            <a:alphaModFix/>
          </a:blip>
          <a:srcRect b="0" l="0" r="0" t="0"/>
          <a:stretch/>
        </p:blipFill>
        <p:spPr>
          <a:xfrm>
            <a:off x="609433" y="214678"/>
            <a:ext cx="7611375" cy="566804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pic>
        <p:nvPicPr>
          <p:cNvPr id="567" name="Google Shape;567;p64"/>
          <p:cNvPicPr preferRelativeResize="0"/>
          <p:nvPr/>
        </p:nvPicPr>
        <p:blipFill rotWithShape="1">
          <a:blip r:embed="rId3">
            <a:alphaModFix/>
          </a:blip>
          <a:srcRect b="0" l="0" r="0" t="0"/>
          <a:stretch/>
        </p:blipFill>
        <p:spPr>
          <a:xfrm>
            <a:off x="1619141" y="1811947"/>
            <a:ext cx="5427527" cy="3032613"/>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pic>
        <p:nvPicPr>
          <p:cNvPr id="572" name="Google Shape;572;p65"/>
          <p:cNvPicPr preferRelativeResize="0"/>
          <p:nvPr/>
        </p:nvPicPr>
        <p:blipFill rotWithShape="1">
          <a:blip r:embed="rId3">
            <a:alphaModFix/>
          </a:blip>
          <a:srcRect b="0" l="0" r="0" t="0"/>
          <a:stretch/>
        </p:blipFill>
        <p:spPr>
          <a:xfrm>
            <a:off x="1691420" y="2092202"/>
            <a:ext cx="5861172" cy="4055662"/>
          </a:xfrm>
          <a:prstGeom prst="rect">
            <a:avLst/>
          </a:prstGeom>
          <a:noFill/>
          <a:ln>
            <a:noFill/>
          </a:ln>
        </p:spPr>
      </p:pic>
      <p:sp>
        <p:nvSpPr>
          <p:cNvPr id="573" name="Google Shape;573;p65"/>
          <p:cNvSpPr txBox="1"/>
          <p:nvPr/>
        </p:nvSpPr>
        <p:spPr>
          <a:xfrm>
            <a:off x="1978269" y="800100"/>
            <a:ext cx="21980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alibri"/>
                <a:ea typeface="Calibri"/>
                <a:cs typeface="Calibri"/>
                <a:sym typeface="Calibri"/>
              </a:rPr>
              <a:t>Ilımlaştırıcı Değişken</a:t>
            </a:r>
            <a:endParaRPr sz="1800">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66"/>
          <p:cNvSpPr txBox="1"/>
          <p:nvPr/>
        </p:nvSpPr>
        <p:spPr>
          <a:xfrm>
            <a:off x="1026972" y="1673174"/>
            <a:ext cx="7659828" cy="3903889"/>
          </a:xfrm>
          <a:prstGeom prst="rect">
            <a:avLst/>
          </a:prstGeom>
          <a:noFill/>
          <a:ln>
            <a:noFill/>
          </a:ln>
        </p:spPr>
        <p:txBody>
          <a:bodyPr anchorCtr="0" anchor="t" bIns="0" lIns="0" spcFirstLastPara="1" rIns="0" wrap="square" tIns="0">
            <a:spAutoFit/>
          </a:bodyPr>
          <a:lstStyle/>
          <a:p>
            <a:pPr indent="-5080" lvl="0" marL="17145" marR="1055370" rtl="0" algn="l">
              <a:lnSpc>
                <a:spcPct val="102899"/>
              </a:lnSpc>
              <a:spcBef>
                <a:spcPts val="0"/>
              </a:spcBef>
              <a:spcAft>
                <a:spcPts val="0"/>
              </a:spcAft>
              <a:buNone/>
            </a:pPr>
            <a:r>
              <a:rPr b="1" lang="tr-TR" sz="2800">
                <a:solidFill>
                  <a:schemeClr val="dk1"/>
                </a:solidFill>
                <a:latin typeface="Arial"/>
                <a:ea typeface="Arial"/>
                <a:cs typeface="Arial"/>
                <a:sym typeface="Arial"/>
              </a:rPr>
              <a:t>Başka bir örnek </a:t>
            </a:r>
            <a:r>
              <a:rPr lang="tr-TR" sz="2800">
                <a:solidFill>
                  <a:schemeClr val="dk1"/>
                </a:solidFill>
                <a:latin typeface="Arial"/>
                <a:ea typeface="Arial"/>
                <a:cs typeface="Arial"/>
                <a:sym typeface="Arial"/>
              </a:rPr>
              <a:t>:Farklılıkların yönetimi  konusunda öne çıkan teorilerinden</a:t>
            </a:r>
            <a:endParaRPr/>
          </a:p>
          <a:p>
            <a:pPr indent="0" lvl="0" marL="17145" marR="5080" rtl="0" algn="l">
              <a:lnSpc>
                <a:spcPct val="100000"/>
              </a:lnSpc>
              <a:spcBef>
                <a:spcPts val="0"/>
              </a:spcBef>
              <a:spcAft>
                <a:spcPts val="0"/>
              </a:spcAft>
              <a:buNone/>
            </a:pPr>
            <a:r>
              <a:rPr lang="tr-TR" sz="2800">
                <a:solidFill>
                  <a:schemeClr val="dk1"/>
                </a:solidFill>
                <a:latin typeface="Arial"/>
                <a:ea typeface="Arial"/>
                <a:cs typeface="Arial"/>
                <a:sym typeface="Arial"/>
              </a:rPr>
              <a:t>biri;farklılıklara sahip işgücü potansiyelinin  örgütün etkinliğine daha çok fayda  sağlayacağını öngörür.</a:t>
            </a:r>
            <a:endParaRPr sz="2800">
              <a:solidFill>
                <a:schemeClr val="dk1"/>
              </a:solidFill>
              <a:latin typeface="Arial"/>
              <a:ea typeface="Arial"/>
              <a:cs typeface="Arial"/>
              <a:sym typeface="Arial"/>
            </a:endParaRPr>
          </a:p>
          <a:p>
            <a:pPr indent="0" lvl="0" marL="17145" marR="5080" rtl="0" algn="l">
              <a:lnSpc>
                <a:spcPct val="100000"/>
              </a:lnSpc>
              <a:spcBef>
                <a:spcPts val="0"/>
              </a:spcBef>
              <a:spcAft>
                <a:spcPts val="0"/>
              </a:spcAft>
              <a:buNone/>
            </a:pPr>
            <a:r>
              <a:rPr lang="tr-TR" sz="2800">
                <a:solidFill>
                  <a:schemeClr val="dk1"/>
                </a:solidFill>
                <a:latin typeface="Arial"/>
                <a:ea typeface="Arial"/>
                <a:cs typeface="Arial"/>
                <a:sym typeface="Arial"/>
              </a:rPr>
              <a:t>Çünkü her farklı  birey/grup olaylara kendi açısından  bakabilecek,farklı fikirler daha kolay ortaya  çıkacaktır.Yaratılan bu sinerji işletmeye yarar  sağlayacaktır.</a:t>
            </a:r>
            <a:endParaRPr sz="2800">
              <a:solidFill>
                <a:schemeClr val="dk1"/>
              </a:solidFill>
              <a:latin typeface="Arial"/>
              <a:ea typeface="Arial"/>
              <a:cs typeface="Arial"/>
              <a:sym typeface="Arial"/>
            </a:endParaRPr>
          </a:p>
        </p:txBody>
      </p:sp>
      <p:sp>
        <p:nvSpPr>
          <p:cNvPr id="579" name="Google Shape;579;p6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67"/>
          <p:cNvSpPr txBox="1"/>
          <p:nvPr/>
        </p:nvSpPr>
        <p:spPr>
          <a:xfrm>
            <a:off x="1031544" y="1539062"/>
            <a:ext cx="6952615" cy="3951604"/>
          </a:xfrm>
          <a:prstGeom prst="rect">
            <a:avLst/>
          </a:prstGeom>
          <a:noFill/>
          <a:ln>
            <a:noFill/>
          </a:ln>
        </p:spPr>
        <p:txBody>
          <a:bodyPr anchorCtr="0" anchor="t" bIns="0" lIns="0" spcFirstLastPara="1" rIns="0" wrap="square" tIns="97775">
            <a:spAutoFit/>
          </a:bodyPr>
          <a:lstStyle/>
          <a:p>
            <a:pPr indent="50164" lvl="0" marL="12700" marR="167005" rtl="0" algn="l">
              <a:lnSpc>
                <a:spcPct val="80000"/>
              </a:lnSpc>
              <a:spcBef>
                <a:spcPts val="0"/>
              </a:spcBef>
              <a:spcAft>
                <a:spcPts val="0"/>
              </a:spcAft>
              <a:buNone/>
            </a:pPr>
            <a:r>
              <a:rPr lang="tr-TR" sz="2800">
                <a:solidFill>
                  <a:schemeClr val="dk1"/>
                </a:solidFill>
                <a:latin typeface="Arial"/>
                <a:ea typeface="Arial"/>
                <a:cs typeface="Arial"/>
                <a:sym typeface="Arial"/>
              </a:rPr>
              <a:t>Burada işgücünün farklılıkları bağımsız  değişken,örgütsel etkinlik bağımlı değişken  olacaktır.</a:t>
            </a:r>
            <a:endParaRPr sz="2800">
              <a:solidFill>
                <a:schemeClr val="dk1"/>
              </a:solidFill>
              <a:latin typeface="Arial"/>
              <a:ea typeface="Arial"/>
              <a:cs typeface="Arial"/>
              <a:sym typeface="Arial"/>
            </a:endParaRPr>
          </a:p>
          <a:p>
            <a:pPr indent="50164" lvl="0" marL="12700" marR="9525" rtl="0" algn="just">
              <a:lnSpc>
                <a:spcPct val="96071"/>
              </a:lnSpc>
              <a:spcBef>
                <a:spcPts val="645"/>
              </a:spcBef>
              <a:spcAft>
                <a:spcPts val="0"/>
              </a:spcAft>
              <a:buNone/>
            </a:pPr>
            <a:r>
              <a:rPr lang="tr-TR" sz="2800">
                <a:solidFill>
                  <a:schemeClr val="dk1"/>
                </a:solidFill>
                <a:latin typeface="Arial"/>
                <a:ea typeface="Arial"/>
                <a:cs typeface="Arial"/>
                <a:sym typeface="Arial"/>
              </a:rPr>
              <a:t>Bu ilişkinin varlığından şüphe edilmesi dahi  söz konusu işletmedeki farklı birey/grupların  kendine özgü özelliklerini,farklı bakış</a:t>
            </a:r>
            <a:endParaRPr sz="2800">
              <a:solidFill>
                <a:schemeClr val="dk1"/>
              </a:solidFill>
              <a:latin typeface="Arial"/>
              <a:ea typeface="Arial"/>
              <a:cs typeface="Arial"/>
              <a:sym typeface="Arial"/>
            </a:endParaRPr>
          </a:p>
          <a:p>
            <a:pPr indent="0" lvl="0" marL="12700" marR="5080" rtl="0" algn="l">
              <a:lnSpc>
                <a:spcPct val="80000"/>
              </a:lnSpc>
              <a:spcBef>
                <a:spcPts val="20"/>
              </a:spcBef>
              <a:spcAft>
                <a:spcPts val="0"/>
              </a:spcAft>
              <a:buNone/>
            </a:pPr>
            <a:r>
              <a:rPr lang="tr-TR" sz="2800">
                <a:solidFill>
                  <a:schemeClr val="dk1"/>
                </a:solidFill>
                <a:latin typeface="Arial"/>
                <a:ea typeface="Arial"/>
                <a:cs typeface="Arial"/>
                <a:sym typeface="Arial"/>
              </a:rPr>
              <a:t>açılarını,kontrol edilemeyen çatışmalara  dönüşmeden,sentezleyebilecek bir yönetim  anlayışının ve uzmanlığının önemi de  unutulmamalıdır.Yönetim anlayışı/uzmanlığı  ılımlaştırıcı değişkendir.</a:t>
            </a:r>
            <a:endParaRPr sz="2800">
              <a:solidFill>
                <a:schemeClr val="dk1"/>
              </a:solidFill>
              <a:latin typeface="Arial"/>
              <a:ea typeface="Arial"/>
              <a:cs typeface="Arial"/>
              <a:sym typeface="Arial"/>
            </a:endParaRPr>
          </a:p>
        </p:txBody>
      </p:sp>
      <p:sp>
        <p:nvSpPr>
          <p:cNvPr id="585" name="Google Shape;585;p6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68"/>
          <p:cNvSpPr txBox="1"/>
          <p:nvPr/>
        </p:nvSpPr>
        <p:spPr>
          <a:xfrm>
            <a:off x="984300" y="1673174"/>
            <a:ext cx="7192645" cy="2155334"/>
          </a:xfrm>
          <a:prstGeom prst="rect">
            <a:avLst/>
          </a:prstGeom>
          <a:noFill/>
          <a:ln>
            <a:noFill/>
          </a:ln>
        </p:spPr>
        <p:txBody>
          <a:bodyPr anchorCtr="0" anchor="t" bIns="0" lIns="0" spcFirstLastPara="1" rIns="0" wrap="square" tIns="6350">
            <a:spAutoFit/>
          </a:bodyPr>
          <a:lstStyle/>
          <a:p>
            <a:pPr indent="-5079" lvl="0" marL="59689" marR="5080" rtl="0" algn="l">
              <a:lnSpc>
                <a:spcPct val="101400"/>
              </a:lnSpc>
              <a:spcBef>
                <a:spcPts val="0"/>
              </a:spcBef>
              <a:spcAft>
                <a:spcPts val="0"/>
              </a:spcAft>
              <a:buNone/>
            </a:pPr>
            <a:r>
              <a:rPr b="1" lang="tr-TR" sz="2800">
                <a:solidFill>
                  <a:schemeClr val="dk1"/>
                </a:solidFill>
                <a:latin typeface="Arial"/>
                <a:ea typeface="Arial"/>
                <a:cs typeface="Arial"/>
                <a:sym typeface="Arial"/>
              </a:rPr>
              <a:t>Müdahaleci değişken: </a:t>
            </a:r>
            <a:r>
              <a:rPr lang="tr-TR" sz="2800">
                <a:solidFill>
                  <a:schemeClr val="dk1"/>
                </a:solidFill>
                <a:latin typeface="Arial"/>
                <a:ea typeface="Arial"/>
                <a:cs typeface="Arial"/>
                <a:sym typeface="Arial"/>
              </a:rPr>
              <a:t>Bağımsız değişkenlerin  bir fonksiyonu olarak,bağımsız değişkenin  bağımlı değişken üzerindeki etkisini tanımlamaya yardımcı olan değişkendir.</a:t>
            </a:r>
            <a:endParaRPr sz="2800">
              <a:solidFill>
                <a:schemeClr val="dk1"/>
              </a:solidFill>
              <a:latin typeface="Arial"/>
              <a:ea typeface="Arial"/>
              <a:cs typeface="Arial"/>
              <a:sym typeface="Arial"/>
            </a:endParaRPr>
          </a:p>
        </p:txBody>
      </p:sp>
      <p:sp>
        <p:nvSpPr>
          <p:cNvPr id="591" name="Google Shape;591;p6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9"/>
          <p:cNvSpPr txBox="1"/>
          <p:nvPr>
            <p:ph type="title"/>
          </p:nvPr>
        </p:nvSpPr>
        <p:spPr>
          <a:xfrm>
            <a:off x="822959" y="286604"/>
            <a:ext cx="7543801" cy="1665288"/>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2800"/>
              <a:buFont typeface="Calibri"/>
              <a:buNone/>
            </a:pPr>
            <a:r>
              <a:rPr b="1" lang="tr-TR" sz="2800"/>
              <a:t>Müdahaleci Değişken -intervening variable</a:t>
            </a:r>
            <a:br>
              <a:rPr b="1" lang="tr-TR" sz="2800"/>
            </a:br>
            <a:endParaRPr b="1" sz="2800"/>
          </a:p>
        </p:txBody>
      </p:sp>
      <p:sp>
        <p:nvSpPr>
          <p:cNvPr id="597" name="Google Shape;597;p69"/>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tr-TR"/>
              <a:t>Bağımsız ve bağımlı bir değişken arasındaki ilişkiyi etkileyen değişkendir. </a:t>
            </a:r>
            <a:endParaRPr/>
          </a:p>
          <a:p>
            <a:pPr indent="-127000" lvl="0" marL="91440" rtl="0" algn="l">
              <a:lnSpc>
                <a:spcPct val="90000"/>
              </a:lnSpc>
              <a:spcBef>
                <a:spcPts val="1400"/>
              </a:spcBef>
              <a:spcAft>
                <a:spcPts val="0"/>
              </a:spcAft>
              <a:buSzPts val="2000"/>
              <a:buFont typeface="Noto Sans Symbols"/>
              <a:buChar char="▪"/>
            </a:pPr>
            <a:r>
              <a:rPr b="1" lang="tr-TR"/>
              <a:t>Genellikle, araya giren değişken bağımsız değişkenden kaynaklanır ve kendisi de bağımlı değişkenin bir nedenidir. </a:t>
            </a:r>
            <a:endParaRPr b="1"/>
          </a:p>
          <a:p>
            <a:pPr indent="-127000" lvl="0" marL="91440" rtl="0" algn="l">
              <a:lnSpc>
                <a:spcPct val="90000"/>
              </a:lnSpc>
              <a:spcBef>
                <a:spcPts val="1400"/>
              </a:spcBef>
              <a:spcAft>
                <a:spcPts val="0"/>
              </a:spcAft>
              <a:buSzPts val="2000"/>
              <a:buFont typeface="Noto Sans Symbols"/>
              <a:buChar char="▪"/>
            </a:pPr>
            <a:r>
              <a:rPr lang="tr-TR"/>
              <a:t>Örneğin, eğitim seviyesi ile gelir seviyesi arasında pozitif bir korelasyon gözlemlenmiştir, öyle ki, daha yüksek eğitim seviyelerine sahip insanlar daha yüksek gelir seviyeleri kazanma eğilimindedir. </a:t>
            </a:r>
            <a:endParaRPr/>
          </a:p>
          <a:p>
            <a:pPr indent="-127000" lvl="0" marL="91440" rtl="0" algn="l">
              <a:lnSpc>
                <a:spcPct val="90000"/>
              </a:lnSpc>
              <a:spcBef>
                <a:spcPts val="1400"/>
              </a:spcBef>
              <a:spcAft>
                <a:spcPts val="0"/>
              </a:spcAft>
              <a:buSzPts val="2000"/>
              <a:buFont typeface="Noto Sans Symbols"/>
              <a:buChar char="▪"/>
            </a:pPr>
            <a:r>
              <a:rPr lang="tr-TR"/>
              <a:t>Ancak bu gözlemlenebilir eğilim, doğada doğrudan nedensel değildir. </a:t>
            </a:r>
            <a:endParaRPr/>
          </a:p>
        </p:txBody>
      </p:sp>
      <p:pic>
        <p:nvPicPr>
          <p:cNvPr id="598" name="Google Shape;598;p69"/>
          <p:cNvPicPr preferRelativeResize="0"/>
          <p:nvPr/>
        </p:nvPicPr>
        <p:blipFill rotWithShape="1">
          <a:blip r:embed="rId3">
            <a:alphaModFix/>
          </a:blip>
          <a:srcRect b="0" l="0" r="0" t="0"/>
          <a:stretch/>
        </p:blipFill>
        <p:spPr>
          <a:xfrm>
            <a:off x="1518284" y="4724400"/>
            <a:ext cx="6153150" cy="86677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70"/>
          <p:cNvSpPr txBox="1"/>
          <p:nvPr>
            <p:ph type="title"/>
          </p:nvPr>
        </p:nvSpPr>
        <p:spPr>
          <a:xfrm>
            <a:off x="754380" y="-363423"/>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tr-TR"/>
              <a:t>Nedenselliklerine göre</a:t>
            </a:r>
            <a:endParaRPr/>
          </a:p>
        </p:txBody>
      </p:sp>
      <p:sp>
        <p:nvSpPr>
          <p:cNvPr id="604" name="Google Shape;604;p70"/>
          <p:cNvSpPr txBox="1"/>
          <p:nvPr>
            <p:ph idx="1" type="body"/>
          </p:nvPr>
        </p:nvSpPr>
        <p:spPr>
          <a:xfrm>
            <a:off x="742657" y="1185761"/>
            <a:ext cx="3703320" cy="7362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tr-TR"/>
              <a:t>NEDEN-SONUÇ ILIŞKISI</a:t>
            </a:r>
            <a:endParaRPr/>
          </a:p>
        </p:txBody>
      </p:sp>
      <p:sp>
        <p:nvSpPr>
          <p:cNvPr id="605" name="Google Shape;605;p70"/>
          <p:cNvSpPr txBox="1"/>
          <p:nvPr>
            <p:ph idx="2" type="body"/>
          </p:nvPr>
        </p:nvSpPr>
        <p:spPr>
          <a:xfrm>
            <a:off x="35169" y="1752600"/>
            <a:ext cx="3703320" cy="32867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tr-TR"/>
              <a:t>Bağımlı ( Y, yordanan-sonuç)</a:t>
            </a:r>
            <a:endParaRPr/>
          </a:p>
          <a:p>
            <a:pPr indent="-127000" lvl="0" marL="91440" rtl="0" algn="l">
              <a:lnSpc>
                <a:spcPct val="90000"/>
              </a:lnSpc>
              <a:spcBef>
                <a:spcPts val="1400"/>
              </a:spcBef>
              <a:spcAft>
                <a:spcPts val="0"/>
              </a:spcAft>
              <a:buSzPts val="2000"/>
              <a:buChar char=" "/>
            </a:pPr>
            <a:r>
              <a:rPr lang="tr-TR"/>
              <a:t>Bağımsız ( X, yordayan-tahmini)</a:t>
            </a:r>
            <a:endParaRPr/>
          </a:p>
          <a:p>
            <a:pPr indent="-127000" lvl="0" marL="91440" rtl="0" algn="l">
              <a:lnSpc>
                <a:spcPct val="90000"/>
              </a:lnSpc>
              <a:spcBef>
                <a:spcPts val="1400"/>
              </a:spcBef>
              <a:spcAft>
                <a:spcPts val="0"/>
              </a:spcAft>
              <a:buSzPts val="2000"/>
              <a:buChar char=" "/>
            </a:pPr>
            <a:r>
              <a:rPr lang="tr-TR"/>
              <a:t> Bağımsız bağımlıyı açıklama etkisine sahiptir. </a:t>
            </a:r>
            <a:endParaRPr/>
          </a:p>
          <a:p>
            <a:pPr indent="0" lvl="0" marL="0" rtl="0" algn="l">
              <a:lnSpc>
                <a:spcPct val="90000"/>
              </a:lnSpc>
              <a:spcBef>
                <a:spcPts val="1400"/>
              </a:spcBef>
              <a:spcAft>
                <a:spcPts val="0"/>
              </a:spcAft>
              <a:buSzPts val="2000"/>
              <a:buNone/>
            </a:pPr>
            <a:r>
              <a:t/>
            </a:r>
            <a:endParaRPr/>
          </a:p>
        </p:txBody>
      </p:sp>
      <p:pic>
        <p:nvPicPr>
          <p:cNvPr id="606" name="Google Shape;606;p70"/>
          <p:cNvPicPr preferRelativeResize="0"/>
          <p:nvPr/>
        </p:nvPicPr>
        <p:blipFill rotWithShape="1">
          <a:blip r:embed="rId3">
            <a:alphaModFix/>
          </a:blip>
          <a:srcRect b="0" l="0" r="0" t="0"/>
          <a:stretch/>
        </p:blipFill>
        <p:spPr>
          <a:xfrm>
            <a:off x="3352800" y="2590800"/>
            <a:ext cx="5715000" cy="37623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7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tr-TR"/>
              <a:t>Bağımsız değişken türleri</a:t>
            </a:r>
            <a:endParaRPr/>
          </a:p>
        </p:txBody>
      </p:sp>
      <p:sp>
        <p:nvSpPr>
          <p:cNvPr id="612" name="Google Shape;612;p71"/>
          <p:cNvSpPr txBox="1"/>
          <p:nvPr>
            <p:ph idx="1" type="body"/>
          </p:nvPr>
        </p:nvSpPr>
        <p:spPr>
          <a:xfrm>
            <a:off x="822960" y="1846052"/>
            <a:ext cx="3703320" cy="7362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tr-TR"/>
              <a:t>DÜZENLEYICI  (MODERATOR) DEĞIŞKEN</a:t>
            </a:r>
            <a:endParaRPr/>
          </a:p>
        </p:txBody>
      </p:sp>
      <p:sp>
        <p:nvSpPr>
          <p:cNvPr id="613" name="Google Shape;613;p71"/>
          <p:cNvSpPr txBox="1"/>
          <p:nvPr>
            <p:ph idx="2" type="body"/>
          </p:nvPr>
        </p:nvSpPr>
        <p:spPr>
          <a:xfrm>
            <a:off x="822960" y="2582334"/>
            <a:ext cx="3703320" cy="3286760"/>
          </a:xfrm>
          <a:prstGeom prst="rect">
            <a:avLst/>
          </a:prstGeom>
          <a:noFill/>
          <a:ln>
            <a:noFill/>
          </a:ln>
        </p:spPr>
        <p:txBody>
          <a:bodyPr anchorCtr="0" anchor="t" bIns="45700" lIns="0" spcFirstLastPara="1" rIns="0" wrap="square" tIns="45700">
            <a:normAutofit/>
          </a:bodyPr>
          <a:lstStyle/>
          <a:p>
            <a:pPr indent="-101600" lvl="0" marL="91440" rtl="0" algn="l">
              <a:lnSpc>
                <a:spcPct val="90000"/>
              </a:lnSpc>
              <a:spcBef>
                <a:spcPts val="0"/>
              </a:spcBef>
              <a:spcAft>
                <a:spcPts val="0"/>
              </a:spcAft>
              <a:buSzPts val="1600"/>
              <a:buChar char=" "/>
            </a:pPr>
            <a:r>
              <a:rPr lang="tr-TR" sz="1600"/>
              <a:t>Bağımlı değişken ile bağımsız değişken arasındaki ilişkinin yönünü ve şiddetini etkileyen nicel ya da nitel değişkendir. Düzenleyici değişken değiştikçe, bağımsız-bağımlı değişkenler arasındaki ilişkiler de etklienebilir.  Durumsal bir etkiye sahip değişkendir. </a:t>
            </a:r>
            <a:endParaRPr sz="1600"/>
          </a:p>
        </p:txBody>
      </p:sp>
      <p:sp>
        <p:nvSpPr>
          <p:cNvPr id="614" name="Google Shape;614;p71"/>
          <p:cNvSpPr txBox="1"/>
          <p:nvPr>
            <p:ph idx="3" type="body"/>
          </p:nvPr>
        </p:nvSpPr>
        <p:spPr>
          <a:xfrm>
            <a:off x="4663440" y="1846052"/>
            <a:ext cx="3703320" cy="7362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tr-TR"/>
              <a:t>ARACI (MÜDAHALECI) DEĞIŞKEN</a:t>
            </a:r>
            <a:endParaRPr/>
          </a:p>
        </p:txBody>
      </p:sp>
      <p:sp>
        <p:nvSpPr>
          <p:cNvPr id="615" name="Google Shape;615;p71"/>
          <p:cNvSpPr txBox="1"/>
          <p:nvPr>
            <p:ph idx="4" type="body"/>
          </p:nvPr>
        </p:nvSpPr>
        <p:spPr>
          <a:xfrm>
            <a:off x="4663440" y="2582334"/>
            <a:ext cx="3703320" cy="3286760"/>
          </a:xfrm>
          <a:prstGeom prst="rect">
            <a:avLst/>
          </a:prstGeom>
          <a:noFill/>
          <a:ln>
            <a:noFill/>
          </a:ln>
        </p:spPr>
        <p:txBody>
          <a:bodyPr anchorCtr="0" anchor="t" bIns="45700" lIns="0" spcFirstLastPara="1" rIns="0" wrap="square" tIns="45700">
            <a:normAutofit/>
          </a:bodyPr>
          <a:lstStyle/>
          <a:p>
            <a:pPr indent="-114300" lvl="0" marL="91440" rtl="0" algn="l">
              <a:lnSpc>
                <a:spcPct val="90000"/>
              </a:lnSpc>
              <a:spcBef>
                <a:spcPts val="0"/>
              </a:spcBef>
              <a:spcAft>
                <a:spcPts val="0"/>
              </a:spcAft>
              <a:buSzPts val="1800"/>
              <a:buChar char=" "/>
            </a:pPr>
            <a:r>
              <a:rPr lang="tr-TR" sz="1800"/>
              <a:t>Bağımsız değişkenin etkisini bağımlı değişkene ileten değişkendir. Bağımsız değişkenin bağımlı değişken üzerindeki etkisini açıklar.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72"/>
          <p:cNvSpPr txBox="1"/>
          <p:nvPr>
            <p:ph type="title"/>
          </p:nvPr>
        </p:nvSpPr>
        <p:spPr>
          <a:xfrm>
            <a:off x="274116" y="337769"/>
            <a:ext cx="5746115" cy="6661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tr-TR" sz="4200">
                <a:solidFill>
                  <a:srgbClr val="FFFFFF"/>
                </a:solidFill>
              </a:rPr>
              <a:t>Araştırma problemi (AP)</a:t>
            </a:r>
            <a:endParaRPr sz="4200"/>
          </a:p>
        </p:txBody>
      </p:sp>
      <p:sp>
        <p:nvSpPr>
          <p:cNvPr id="621" name="Google Shape;621;p72"/>
          <p:cNvSpPr txBox="1"/>
          <p:nvPr/>
        </p:nvSpPr>
        <p:spPr>
          <a:xfrm>
            <a:off x="688340" y="1552397"/>
            <a:ext cx="7745730" cy="3245485"/>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rgbClr val="996666"/>
              </a:buClr>
              <a:buSzPts val="1900"/>
              <a:buFont typeface="Noto Sans Symbols"/>
              <a:buChar char="●"/>
            </a:pPr>
            <a:r>
              <a:rPr lang="tr-TR" sz="2400">
                <a:solidFill>
                  <a:schemeClr val="dk1"/>
                </a:solidFill>
                <a:latin typeface="Arial"/>
                <a:ea typeface="Arial"/>
                <a:cs typeface="Arial"/>
                <a:sym typeface="Arial"/>
              </a:rPr>
              <a:t>Araştırma problemi, araştırmanın amacını yansıtır.</a:t>
            </a:r>
            <a:endParaRPr sz="2400">
              <a:solidFill>
                <a:schemeClr val="dk1"/>
              </a:solidFill>
              <a:latin typeface="Arial"/>
              <a:ea typeface="Arial"/>
              <a:cs typeface="Arial"/>
              <a:sym typeface="Arial"/>
            </a:endParaRPr>
          </a:p>
          <a:p>
            <a:pPr indent="-343535" lvl="0" marL="355600" marR="97155" rtl="0" algn="l">
              <a:lnSpc>
                <a:spcPct val="95833"/>
              </a:lnSpc>
              <a:spcBef>
                <a:spcPts val="565"/>
              </a:spcBef>
              <a:spcAft>
                <a:spcPts val="0"/>
              </a:spcAft>
              <a:buClr>
                <a:srgbClr val="996666"/>
              </a:buClr>
              <a:buSzPts val="1900"/>
              <a:buFont typeface="Noto Sans Symbols"/>
              <a:buChar char="●"/>
            </a:pPr>
            <a:r>
              <a:rPr lang="tr-TR" sz="2400">
                <a:solidFill>
                  <a:schemeClr val="dk1"/>
                </a:solidFill>
                <a:latin typeface="Arial"/>
                <a:ea typeface="Arial"/>
                <a:cs typeface="Arial"/>
                <a:sym typeface="Arial"/>
              </a:rPr>
              <a:t>Her bilimsel araştırmada başlangıç olarak bir  problemle işe başlanır ancak, her problem bir  araştırma konusu olamaz veya araştırma gerektirmez.</a:t>
            </a:r>
            <a:endParaRPr sz="2400">
              <a:solidFill>
                <a:schemeClr val="dk1"/>
              </a:solidFill>
              <a:latin typeface="Arial"/>
              <a:ea typeface="Arial"/>
              <a:cs typeface="Arial"/>
              <a:sym typeface="Arial"/>
            </a:endParaRPr>
          </a:p>
          <a:p>
            <a:pPr indent="-343535" lvl="0" marL="355600" marR="0" rtl="0" algn="l">
              <a:lnSpc>
                <a:spcPct val="107916"/>
              </a:lnSpc>
              <a:spcBef>
                <a:spcPts val="30"/>
              </a:spcBef>
              <a:spcAft>
                <a:spcPts val="0"/>
              </a:spcAft>
              <a:buClr>
                <a:srgbClr val="996666"/>
              </a:buClr>
              <a:buSzPts val="1900"/>
              <a:buFont typeface="Noto Sans Symbols"/>
              <a:buChar char="●"/>
            </a:pPr>
            <a:r>
              <a:rPr lang="tr-TR" sz="2400">
                <a:solidFill>
                  <a:schemeClr val="dk1"/>
                </a:solidFill>
                <a:latin typeface="Arial"/>
                <a:ea typeface="Arial"/>
                <a:cs typeface="Arial"/>
                <a:sym typeface="Arial"/>
              </a:rPr>
              <a:t>Araştırmanın yapılacağı alanla ilgili kavramsal esaslar,</a:t>
            </a:r>
            <a:endParaRPr sz="2400">
              <a:solidFill>
                <a:schemeClr val="dk1"/>
              </a:solidFill>
              <a:latin typeface="Arial"/>
              <a:ea typeface="Arial"/>
              <a:cs typeface="Arial"/>
              <a:sym typeface="Arial"/>
            </a:endParaRPr>
          </a:p>
          <a:p>
            <a:pPr indent="0" lvl="0" marL="355600" marR="1062355" rtl="0" algn="l">
              <a:lnSpc>
                <a:spcPct val="95833"/>
              </a:lnSpc>
              <a:spcBef>
                <a:spcPts val="270"/>
              </a:spcBef>
              <a:spcAft>
                <a:spcPts val="0"/>
              </a:spcAft>
              <a:buNone/>
            </a:pPr>
            <a:r>
              <a:rPr lang="tr-TR" sz="2400">
                <a:solidFill>
                  <a:schemeClr val="dk1"/>
                </a:solidFill>
                <a:latin typeface="Arial"/>
                <a:ea typeface="Arial"/>
                <a:cs typeface="Arial"/>
                <a:sym typeface="Arial"/>
              </a:rPr>
              <a:t>araştırmacının deneyimi ve mevcut sorunlar ve  literatür taraması yardımıyla AP belirlenir.</a:t>
            </a:r>
            <a:endParaRPr sz="2400">
              <a:solidFill>
                <a:schemeClr val="dk1"/>
              </a:solidFill>
              <a:latin typeface="Arial"/>
              <a:ea typeface="Arial"/>
              <a:cs typeface="Arial"/>
              <a:sym typeface="Arial"/>
            </a:endParaRPr>
          </a:p>
          <a:p>
            <a:pPr indent="-343535" lvl="0" marL="355600" marR="5080" rtl="0" algn="l">
              <a:lnSpc>
                <a:spcPct val="80100"/>
              </a:lnSpc>
              <a:spcBef>
                <a:spcPts val="600"/>
              </a:spcBef>
              <a:spcAft>
                <a:spcPts val="0"/>
              </a:spcAft>
              <a:buClr>
                <a:srgbClr val="996666"/>
              </a:buClr>
              <a:buSzPts val="1900"/>
              <a:buFont typeface="Noto Sans Symbols"/>
              <a:buChar char="●"/>
            </a:pPr>
            <a:r>
              <a:rPr lang="tr-TR" sz="2400">
                <a:solidFill>
                  <a:schemeClr val="dk1"/>
                </a:solidFill>
                <a:latin typeface="Arial"/>
                <a:ea typeface="Arial"/>
                <a:cs typeface="Arial"/>
                <a:sym typeface="Arial"/>
              </a:rPr>
              <a:t>Nicel araştırmalarda AP çalışmanın başında  belirlenebildiği halde, nitel araştırmalarda AP başta net  olarak belirlenmeyebilir.</a:t>
            </a:r>
            <a:endParaRPr sz="2400">
              <a:solidFill>
                <a:schemeClr val="dk1"/>
              </a:solidFill>
              <a:latin typeface="Arial"/>
              <a:ea typeface="Arial"/>
              <a:cs typeface="Arial"/>
              <a:sym typeface="Arial"/>
            </a:endParaRPr>
          </a:p>
        </p:txBody>
      </p:sp>
      <p:sp>
        <p:nvSpPr>
          <p:cNvPr id="622" name="Google Shape;622;p7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73"/>
          <p:cNvSpPr txBox="1"/>
          <p:nvPr/>
        </p:nvSpPr>
        <p:spPr>
          <a:xfrm>
            <a:off x="688340" y="1624406"/>
            <a:ext cx="7611109" cy="4378960"/>
          </a:xfrm>
          <a:prstGeom prst="rect">
            <a:avLst/>
          </a:prstGeom>
          <a:noFill/>
          <a:ln>
            <a:noFill/>
          </a:ln>
        </p:spPr>
        <p:txBody>
          <a:bodyPr anchorCtr="0" anchor="t" bIns="0" lIns="0" spcFirstLastPara="1" rIns="0" wrap="square" tIns="12050">
            <a:spAutoFit/>
          </a:bodyPr>
          <a:lstStyle/>
          <a:p>
            <a:pPr indent="-343535" lvl="0" marL="355600" marR="4572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AP belirlenmesinde konunun önemi ve  yapılabilirlik iki temel husustur. İlgili literatürde  var olan boşluk veya uygulamadaki bir</a:t>
            </a:r>
            <a:endParaRPr sz="2800">
              <a:solidFill>
                <a:schemeClr val="dk1"/>
              </a:solidFill>
              <a:latin typeface="Arial"/>
              <a:ea typeface="Arial"/>
              <a:cs typeface="Arial"/>
              <a:sym typeface="Arial"/>
            </a:endParaRPr>
          </a:p>
          <a:p>
            <a:pPr indent="0" lvl="0" marL="355600" marR="5080" rtl="0" algn="l">
              <a:lnSpc>
                <a:spcPct val="100000"/>
              </a:lnSpc>
              <a:spcBef>
                <a:spcPts val="5"/>
              </a:spcBef>
              <a:spcAft>
                <a:spcPts val="0"/>
              </a:spcAft>
              <a:buNone/>
            </a:pPr>
            <a:r>
              <a:rPr lang="tr-TR" sz="2800">
                <a:solidFill>
                  <a:schemeClr val="dk1"/>
                </a:solidFill>
                <a:latin typeface="Arial"/>
                <a:ea typeface="Arial"/>
                <a:cs typeface="Arial"/>
                <a:sym typeface="Arial"/>
              </a:rPr>
              <a:t>sorunun Anlaşılmasına / çözümüne yardımcı  olmak araştırmanın önemiyle ilgilidir. Ayrıca  var olan kaynaklar da yapılabilirlikle ile ilgilidir.</a:t>
            </a:r>
            <a:endParaRPr sz="2800">
              <a:solidFill>
                <a:schemeClr val="dk1"/>
              </a:solidFill>
              <a:latin typeface="Arial"/>
              <a:ea typeface="Arial"/>
              <a:cs typeface="Arial"/>
              <a:sym typeface="Arial"/>
            </a:endParaRPr>
          </a:p>
          <a:p>
            <a:pPr indent="-343535" lvl="0" marL="355600" marR="0" rtl="0" algn="l">
              <a:lnSpc>
                <a:spcPct val="100000"/>
              </a:lnSpc>
              <a:spcBef>
                <a:spcPts val="67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Çalışmanın amacını, hangi bilgilerin</a:t>
            </a:r>
            <a:endParaRPr sz="2800">
              <a:solidFill>
                <a:schemeClr val="dk1"/>
              </a:solidFill>
              <a:latin typeface="Arial"/>
              <a:ea typeface="Arial"/>
              <a:cs typeface="Arial"/>
              <a:sym typeface="Arial"/>
            </a:endParaRPr>
          </a:p>
          <a:p>
            <a:pPr indent="0" lvl="0" marL="355600" marR="439419" rtl="0" algn="l">
              <a:lnSpc>
                <a:spcPct val="100000"/>
              </a:lnSpc>
              <a:spcBef>
                <a:spcPts val="0"/>
              </a:spcBef>
              <a:spcAft>
                <a:spcPts val="0"/>
              </a:spcAft>
              <a:buNone/>
            </a:pPr>
            <a:r>
              <a:rPr lang="tr-TR" sz="2800">
                <a:solidFill>
                  <a:schemeClr val="dk1"/>
                </a:solidFill>
                <a:latin typeface="Arial"/>
                <a:ea typeface="Arial"/>
                <a:cs typeface="Arial"/>
                <a:sym typeface="Arial"/>
              </a:rPr>
              <a:t>toplanması gerektiğini ve toplanan bilgilerin  nasıl / nerede kullanılacağı konusunda  araştırma problemi kolaylık sağlar.</a:t>
            </a:r>
            <a:endParaRPr sz="2800">
              <a:solidFill>
                <a:schemeClr val="dk1"/>
              </a:solidFill>
              <a:latin typeface="Arial"/>
              <a:ea typeface="Arial"/>
              <a:cs typeface="Arial"/>
              <a:sym typeface="Arial"/>
            </a:endParaRPr>
          </a:p>
        </p:txBody>
      </p:sp>
      <p:sp>
        <p:nvSpPr>
          <p:cNvPr id="628" name="Google Shape;628;p7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4"/>
          <p:cNvSpPr txBox="1"/>
          <p:nvPr/>
        </p:nvSpPr>
        <p:spPr>
          <a:xfrm>
            <a:off x="688340" y="1371600"/>
            <a:ext cx="8455660" cy="4648708"/>
          </a:xfrm>
          <a:prstGeom prst="rect">
            <a:avLst/>
          </a:prstGeom>
          <a:noFill/>
          <a:ln>
            <a:noFill/>
          </a:ln>
        </p:spPr>
        <p:txBody>
          <a:bodyPr anchorCtr="0" anchor="t" bIns="0" lIns="0" spcFirstLastPara="1" rIns="0" wrap="square" tIns="97775">
            <a:spAutoFit/>
          </a:bodyPr>
          <a:lstStyle/>
          <a:p>
            <a:pPr indent="-343535" lvl="0" marL="355600" marR="5080" rtl="0" algn="l">
              <a:lnSpc>
                <a:spcPct val="8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Problemin belirlenmesi her zaman kolay  olmayabilir. Problemin ne olduğunun kolay  anlaşılabilmesi için en basit yollardan biri,  problemin ortaya çıkmadan önce durumun ne  olduğunun saptanması, yani bu dönemde  hangi değişmelerin ortaya çıktığının  bilinmesidir. </a:t>
            </a:r>
            <a:endParaRPr sz="2800">
              <a:solidFill>
                <a:schemeClr val="dk1"/>
              </a:solidFill>
              <a:latin typeface="Arial"/>
              <a:ea typeface="Arial"/>
              <a:cs typeface="Arial"/>
              <a:sym typeface="Arial"/>
            </a:endParaRPr>
          </a:p>
          <a:p>
            <a:pPr indent="-343535" lvl="0" marL="355600" marR="5080" rtl="0" algn="l">
              <a:lnSpc>
                <a:spcPct val="80000"/>
              </a:lnSpc>
              <a:spcBef>
                <a:spcPts val="77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Araştırmacılar çoğu kez problemin  belirlenmesine değil de, daha çok problemin  çözümüne odaklandıkları için gerçek problemi  ortaya koymakta fazla zaman</a:t>
            </a:r>
            <a:endParaRPr sz="2800">
              <a:solidFill>
                <a:schemeClr val="dk1"/>
              </a:solidFill>
              <a:latin typeface="Arial"/>
              <a:ea typeface="Arial"/>
              <a:cs typeface="Arial"/>
              <a:sym typeface="Arial"/>
            </a:endParaRPr>
          </a:p>
          <a:p>
            <a:pPr indent="0" lvl="0" marL="355600" marR="0" rtl="0" algn="l">
              <a:lnSpc>
                <a:spcPct val="84107"/>
              </a:lnSpc>
              <a:spcBef>
                <a:spcPts val="0"/>
              </a:spcBef>
              <a:spcAft>
                <a:spcPts val="0"/>
              </a:spcAft>
              <a:buNone/>
            </a:pPr>
            <a:r>
              <a:rPr lang="tr-TR" sz="2800">
                <a:solidFill>
                  <a:schemeClr val="dk1"/>
                </a:solidFill>
                <a:latin typeface="Arial"/>
                <a:ea typeface="Arial"/>
                <a:cs typeface="Arial"/>
                <a:sym typeface="Arial"/>
              </a:rPr>
              <a:t>harcamamaktadırlar. </a:t>
            </a:r>
            <a:endParaRPr sz="2800">
              <a:solidFill>
                <a:schemeClr val="dk1"/>
              </a:solidFill>
              <a:latin typeface="Arial"/>
              <a:ea typeface="Arial"/>
              <a:cs typeface="Arial"/>
              <a:sym typeface="Arial"/>
            </a:endParaRPr>
          </a:p>
          <a:p>
            <a:pPr indent="0" lvl="0" marL="355600" marR="0" rtl="0" algn="l">
              <a:lnSpc>
                <a:spcPct val="84107"/>
              </a:lnSpc>
              <a:spcBef>
                <a:spcPts val="0"/>
              </a:spcBef>
              <a:spcAft>
                <a:spcPts val="0"/>
              </a:spcAft>
              <a:buNone/>
            </a:pPr>
            <a:r>
              <a:rPr lang="tr-TR" sz="2800">
                <a:solidFill>
                  <a:schemeClr val="dk1"/>
                </a:solidFill>
                <a:latin typeface="Arial"/>
                <a:ea typeface="Arial"/>
                <a:cs typeface="Arial"/>
                <a:sym typeface="Arial"/>
              </a:rPr>
              <a:t>Halbuki araştırma</a:t>
            </a:r>
            <a:endParaRPr sz="2800">
              <a:solidFill>
                <a:schemeClr val="dk1"/>
              </a:solidFill>
              <a:latin typeface="Arial"/>
              <a:ea typeface="Arial"/>
              <a:cs typeface="Arial"/>
              <a:sym typeface="Arial"/>
            </a:endParaRPr>
          </a:p>
          <a:p>
            <a:pPr indent="0" lvl="0" marL="355600" marR="0" rtl="0" algn="l">
              <a:lnSpc>
                <a:spcPct val="108035"/>
              </a:lnSpc>
              <a:spcBef>
                <a:spcPts val="0"/>
              </a:spcBef>
              <a:spcAft>
                <a:spcPts val="0"/>
              </a:spcAft>
              <a:buNone/>
            </a:pPr>
            <a:r>
              <a:rPr lang="tr-TR" sz="2800">
                <a:solidFill>
                  <a:schemeClr val="dk1"/>
                </a:solidFill>
                <a:latin typeface="Arial"/>
                <a:ea typeface="Arial"/>
                <a:cs typeface="Arial"/>
                <a:sym typeface="Arial"/>
              </a:rPr>
              <a:t>problemi araştırmacıya yol gösterir.</a:t>
            </a:r>
            <a:endParaRPr sz="2800">
              <a:solidFill>
                <a:schemeClr val="dk1"/>
              </a:solidFill>
              <a:latin typeface="Arial"/>
              <a:ea typeface="Arial"/>
              <a:cs typeface="Arial"/>
              <a:sym typeface="Arial"/>
            </a:endParaRPr>
          </a:p>
        </p:txBody>
      </p:sp>
      <p:sp>
        <p:nvSpPr>
          <p:cNvPr id="634" name="Google Shape;634;p7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75"/>
          <p:cNvSpPr txBox="1"/>
          <p:nvPr/>
        </p:nvSpPr>
        <p:spPr>
          <a:xfrm>
            <a:off x="688340" y="1624406"/>
            <a:ext cx="7429500" cy="3695700"/>
          </a:xfrm>
          <a:prstGeom prst="rect">
            <a:avLst/>
          </a:prstGeom>
          <a:noFill/>
          <a:ln>
            <a:noFill/>
          </a:ln>
        </p:spPr>
        <p:txBody>
          <a:bodyPr anchorCtr="0" anchor="t" bIns="0" lIns="0" spcFirstLastPara="1" rIns="0" wrap="square" tIns="12050">
            <a:spAutoFit/>
          </a:bodyPr>
          <a:lstStyle/>
          <a:p>
            <a:pPr indent="-343535" lvl="0" marL="355600" marR="35560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Araştırma konusu sınırlandırılarak, bir  probleme dönüşmüş olması sağlanmalıdır.</a:t>
            </a:r>
            <a:endParaRPr sz="2800">
              <a:solidFill>
                <a:schemeClr val="dk1"/>
              </a:solidFill>
              <a:latin typeface="Arial"/>
              <a:ea typeface="Arial"/>
              <a:cs typeface="Arial"/>
              <a:sym typeface="Arial"/>
            </a:endParaRPr>
          </a:p>
          <a:p>
            <a:pPr indent="-343535" lvl="0" marL="355600" marR="300355" rtl="0" algn="l">
              <a:lnSpc>
                <a:spcPct val="100000"/>
              </a:lnSpc>
              <a:spcBef>
                <a:spcPts val="67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Kavramsal ve kuramsal çerçeve, bileşenler  analizi, kuram-uygulama ilişkisi, AP’nin  belirlenmesinde en temel üç husustur.</a:t>
            </a:r>
            <a:endParaRPr sz="2800">
              <a:solidFill>
                <a:schemeClr val="dk1"/>
              </a:solidFill>
              <a:latin typeface="Arial"/>
              <a:ea typeface="Arial"/>
              <a:cs typeface="Arial"/>
              <a:sym typeface="Arial"/>
            </a:endParaRPr>
          </a:p>
          <a:p>
            <a:pPr indent="-343535" lvl="0" marL="355600" marR="798195" rtl="0" algn="l">
              <a:lnSpc>
                <a:spcPct val="100000"/>
              </a:lnSpc>
              <a:spcBef>
                <a:spcPts val="67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AP araştırmanın odak noktasıdır ve tüm  çabalar onun etrafında döner.</a:t>
            </a:r>
            <a:endParaRPr sz="2800">
              <a:solidFill>
                <a:schemeClr val="dk1"/>
              </a:solidFill>
              <a:latin typeface="Arial"/>
              <a:ea typeface="Arial"/>
              <a:cs typeface="Arial"/>
              <a:sym typeface="Arial"/>
            </a:endParaRPr>
          </a:p>
          <a:p>
            <a:pPr indent="-343535" lvl="0" marL="355600" marR="0" rtl="0" algn="l">
              <a:lnSpc>
                <a:spcPct val="100000"/>
              </a:lnSpc>
              <a:spcBef>
                <a:spcPts val="67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Araştırmanın tüm aşamaları AP’den etkilenir.</a:t>
            </a:r>
            <a:endParaRPr sz="2800">
              <a:solidFill>
                <a:schemeClr val="dk1"/>
              </a:solidFill>
              <a:latin typeface="Arial"/>
              <a:ea typeface="Arial"/>
              <a:cs typeface="Arial"/>
              <a:sym typeface="Arial"/>
            </a:endParaRPr>
          </a:p>
        </p:txBody>
      </p:sp>
      <p:sp>
        <p:nvSpPr>
          <p:cNvPr id="640" name="Google Shape;640;p7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76"/>
          <p:cNvSpPr txBox="1"/>
          <p:nvPr/>
        </p:nvSpPr>
        <p:spPr>
          <a:xfrm>
            <a:off x="688340" y="1581734"/>
            <a:ext cx="7689850" cy="3994785"/>
          </a:xfrm>
          <a:prstGeom prst="rect">
            <a:avLst/>
          </a:prstGeom>
          <a:noFill/>
          <a:ln>
            <a:noFill/>
          </a:ln>
        </p:spPr>
        <p:txBody>
          <a:bodyPr anchorCtr="0" anchor="t" bIns="0" lIns="0" spcFirstLastPara="1" rIns="0" wrap="square" tIns="55225">
            <a:spAutoFit/>
          </a:bodyPr>
          <a:lstStyle/>
          <a:p>
            <a:pPr indent="-343535" lvl="0" marL="355600" marR="102235" rtl="0" algn="l">
              <a:lnSpc>
                <a:spcPct val="9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Araştırma alanı ve AP farklı şeylerdir. İşe  araştırma alanı ile başlanır, her alan hakkında  sorular üretilir ve bu sorular daraltılarak AP  özelleştirilir. Araştırma konusu aynı zamanda;  araştırma sorusu, problemi veya amacı  anlamına da gelmektedir.</a:t>
            </a:r>
            <a:endParaRPr sz="2800">
              <a:solidFill>
                <a:schemeClr val="dk1"/>
              </a:solidFill>
              <a:latin typeface="Arial"/>
              <a:ea typeface="Arial"/>
              <a:cs typeface="Arial"/>
              <a:sym typeface="Arial"/>
            </a:endParaRPr>
          </a:p>
          <a:p>
            <a:pPr indent="-343535" lvl="0" marL="355600" marR="5080" rtl="0" algn="l">
              <a:lnSpc>
                <a:spcPct val="90000"/>
              </a:lnSpc>
              <a:spcBef>
                <a:spcPts val="67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Araştırma problemi fen bilimlerinde metin  halinde veya maddeler halinde yazılmalı,  sosyal bilimlerde ise genellikle soru cümlesi ile  yazılmalıdır.</a:t>
            </a:r>
            <a:endParaRPr sz="2800">
              <a:solidFill>
                <a:schemeClr val="dk1"/>
              </a:solidFill>
              <a:latin typeface="Arial"/>
              <a:ea typeface="Arial"/>
              <a:cs typeface="Arial"/>
              <a:sym typeface="Arial"/>
            </a:endParaRPr>
          </a:p>
        </p:txBody>
      </p:sp>
      <p:sp>
        <p:nvSpPr>
          <p:cNvPr id="646" name="Google Shape;646;p7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77"/>
          <p:cNvSpPr txBox="1"/>
          <p:nvPr/>
        </p:nvSpPr>
        <p:spPr>
          <a:xfrm>
            <a:off x="688340" y="1524420"/>
            <a:ext cx="7336790" cy="4025900"/>
          </a:xfrm>
          <a:prstGeom prst="rect">
            <a:avLst/>
          </a:prstGeom>
          <a:noFill/>
          <a:ln>
            <a:noFill/>
          </a:ln>
        </p:spPr>
        <p:txBody>
          <a:bodyPr anchorCtr="0" anchor="t" bIns="0" lIns="0" spcFirstLastPara="1" rIns="0" wrap="square" tIns="110475">
            <a:spAutoFit/>
          </a:bodyPr>
          <a:lstStyle/>
          <a:p>
            <a:pPr indent="-343535" lvl="0" marL="355600" marR="0" rtl="0" algn="l">
              <a:lnSpc>
                <a:spcPct val="100000"/>
              </a:lnSpc>
              <a:spcBef>
                <a:spcPts val="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AP belirlemek için;</a:t>
            </a:r>
            <a:endParaRPr sz="3200">
              <a:solidFill>
                <a:schemeClr val="dk1"/>
              </a:solidFill>
              <a:latin typeface="Arial"/>
              <a:ea typeface="Arial"/>
              <a:cs typeface="Arial"/>
              <a:sym typeface="Arial"/>
            </a:endParaRPr>
          </a:p>
          <a:p>
            <a:pPr indent="-247650" lvl="0" marL="259715" marR="0" rtl="0" algn="l">
              <a:lnSpc>
                <a:spcPct val="100000"/>
              </a:lnSpc>
              <a:spcBef>
                <a:spcPts val="765"/>
              </a:spcBef>
              <a:spcAft>
                <a:spcPts val="0"/>
              </a:spcAft>
              <a:buClr>
                <a:schemeClr val="dk1"/>
              </a:buClr>
              <a:buSzPts val="3200"/>
              <a:buFont typeface="Arial"/>
              <a:buChar char="-"/>
            </a:pPr>
            <a:r>
              <a:rPr lang="tr-TR" sz="3200">
                <a:solidFill>
                  <a:schemeClr val="dk1"/>
                </a:solidFill>
                <a:latin typeface="Arial"/>
                <a:ea typeface="Arial"/>
                <a:cs typeface="Arial"/>
                <a:sym typeface="Arial"/>
              </a:rPr>
              <a:t>Literatürü okumak</a:t>
            </a:r>
            <a:endParaRPr sz="3200">
              <a:solidFill>
                <a:schemeClr val="dk1"/>
              </a:solidFill>
              <a:latin typeface="Arial"/>
              <a:ea typeface="Arial"/>
              <a:cs typeface="Arial"/>
              <a:sym typeface="Arial"/>
            </a:endParaRPr>
          </a:p>
          <a:p>
            <a:pPr indent="-247650" lvl="0" marL="259715" marR="0" rtl="0" algn="l">
              <a:lnSpc>
                <a:spcPct val="100000"/>
              </a:lnSpc>
              <a:spcBef>
                <a:spcPts val="770"/>
              </a:spcBef>
              <a:spcAft>
                <a:spcPts val="0"/>
              </a:spcAft>
              <a:buClr>
                <a:schemeClr val="dk1"/>
              </a:buClr>
              <a:buSzPts val="3200"/>
              <a:buFont typeface="Arial"/>
              <a:buChar char="-"/>
            </a:pPr>
            <a:r>
              <a:rPr lang="tr-TR" sz="3200">
                <a:solidFill>
                  <a:schemeClr val="dk1"/>
                </a:solidFill>
                <a:latin typeface="Arial"/>
                <a:ea typeface="Arial"/>
                <a:cs typeface="Arial"/>
                <a:sym typeface="Arial"/>
              </a:rPr>
              <a:t>İlgili konferanslara katılmak</a:t>
            </a:r>
            <a:endParaRPr sz="3200">
              <a:solidFill>
                <a:schemeClr val="dk1"/>
              </a:solidFill>
              <a:latin typeface="Arial"/>
              <a:ea typeface="Arial"/>
              <a:cs typeface="Arial"/>
              <a:sym typeface="Arial"/>
            </a:endParaRPr>
          </a:p>
          <a:p>
            <a:pPr indent="-247650" lvl="0" marL="259715" marR="0" rtl="0" algn="l">
              <a:lnSpc>
                <a:spcPct val="100000"/>
              </a:lnSpc>
              <a:spcBef>
                <a:spcPts val="770"/>
              </a:spcBef>
              <a:spcAft>
                <a:spcPts val="0"/>
              </a:spcAft>
              <a:buClr>
                <a:schemeClr val="dk1"/>
              </a:buClr>
              <a:buSzPts val="3200"/>
              <a:buFont typeface="Arial"/>
              <a:buChar char="-"/>
            </a:pPr>
            <a:r>
              <a:rPr lang="tr-TR" sz="3200">
                <a:solidFill>
                  <a:schemeClr val="dk1"/>
                </a:solidFill>
                <a:latin typeface="Arial"/>
                <a:ea typeface="Arial"/>
                <a:cs typeface="Arial"/>
                <a:sym typeface="Arial"/>
              </a:rPr>
              <a:t>Uzman önerileri almak</a:t>
            </a:r>
            <a:endParaRPr sz="3200">
              <a:solidFill>
                <a:schemeClr val="dk1"/>
              </a:solidFill>
              <a:latin typeface="Arial"/>
              <a:ea typeface="Arial"/>
              <a:cs typeface="Arial"/>
              <a:sym typeface="Arial"/>
            </a:endParaRPr>
          </a:p>
          <a:p>
            <a:pPr indent="-247650" lvl="0" marL="259715" marR="0" rtl="0" algn="l">
              <a:lnSpc>
                <a:spcPct val="100000"/>
              </a:lnSpc>
              <a:spcBef>
                <a:spcPts val="770"/>
              </a:spcBef>
              <a:spcAft>
                <a:spcPts val="0"/>
              </a:spcAft>
              <a:buClr>
                <a:schemeClr val="dk1"/>
              </a:buClr>
              <a:buSzPts val="3200"/>
              <a:buFont typeface="Arial"/>
              <a:buChar char="-"/>
            </a:pPr>
            <a:r>
              <a:rPr lang="tr-TR" sz="3200">
                <a:solidFill>
                  <a:schemeClr val="dk1"/>
                </a:solidFill>
                <a:latin typeface="Arial"/>
                <a:ea typeface="Arial"/>
                <a:cs typeface="Arial"/>
                <a:sym typeface="Arial"/>
              </a:rPr>
              <a:t>Çevreyi ve etrafı dikkatle gözlemlemek,</a:t>
            </a:r>
            <a:endParaRPr sz="3200">
              <a:solidFill>
                <a:schemeClr val="dk1"/>
              </a:solidFill>
              <a:latin typeface="Arial"/>
              <a:ea typeface="Arial"/>
              <a:cs typeface="Arial"/>
              <a:sym typeface="Arial"/>
            </a:endParaRPr>
          </a:p>
          <a:p>
            <a:pPr indent="-260350" lvl="0" marL="260350" marR="120650" rtl="0" algn="l">
              <a:lnSpc>
                <a:spcPct val="100000"/>
              </a:lnSpc>
              <a:spcBef>
                <a:spcPts val="770"/>
              </a:spcBef>
              <a:spcAft>
                <a:spcPts val="0"/>
              </a:spcAft>
              <a:buClr>
                <a:schemeClr val="dk1"/>
              </a:buClr>
              <a:buSzPts val="3200"/>
              <a:buFont typeface="Arial"/>
              <a:buChar char="-"/>
            </a:pPr>
            <a:r>
              <a:rPr lang="tr-TR" sz="3200">
                <a:solidFill>
                  <a:schemeClr val="dk1"/>
                </a:solidFill>
                <a:latin typeface="Arial"/>
                <a:ea typeface="Arial"/>
                <a:cs typeface="Arial"/>
                <a:sym typeface="Arial"/>
              </a:rPr>
              <a:t>İlginizi çeken konuları tercih etmek gibi  pratik öneriler sıralanmaktadır.</a:t>
            </a:r>
            <a:endParaRPr sz="3200">
              <a:solidFill>
                <a:schemeClr val="dk1"/>
              </a:solidFill>
              <a:latin typeface="Arial"/>
              <a:ea typeface="Arial"/>
              <a:cs typeface="Arial"/>
              <a:sym typeface="Arial"/>
            </a:endParaRPr>
          </a:p>
        </p:txBody>
      </p:sp>
      <p:sp>
        <p:nvSpPr>
          <p:cNvPr id="652" name="Google Shape;652;p7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8"/>
          <p:cNvSpPr txBox="1"/>
          <p:nvPr/>
        </p:nvSpPr>
        <p:spPr>
          <a:xfrm>
            <a:off x="688340" y="1621358"/>
            <a:ext cx="7449820" cy="4319270"/>
          </a:xfrm>
          <a:prstGeom prst="rect">
            <a:avLst/>
          </a:prstGeom>
          <a:noFill/>
          <a:ln>
            <a:noFill/>
          </a:ln>
        </p:spPr>
        <p:txBody>
          <a:bodyPr anchorCtr="0" anchor="t" bIns="0" lIns="0" spcFirstLastPara="1" rIns="0" wrap="square" tIns="13325">
            <a:spAutoFit/>
          </a:bodyPr>
          <a:lstStyle/>
          <a:p>
            <a:pPr indent="-343535" lvl="0" marL="355600" marR="1106805" rtl="0" algn="l">
              <a:lnSpc>
                <a:spcPct val="100000"/>
              </a:lnSpc>
              <a:spcBef>
                <a:spcPts val="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Araştırma problemi belirlenirken  aşağıdaki sorular yanıtlanmalıdır;</a:t>
            </a:r>
            <a:endParaRPr sz="3200">
              <a:solidFill>
                <a:schemeClr val="dk1"/>
              </a:solidFill>
              <a:latin typeface="Arial"/>
              <a:ea typeface="Arial"/>
              <a:cs typeface="Arial"/>
              <a:sym typeface="Arial"/>
            </a:endParaRPr>
          </a:p>
          <a:p>
            <a:pPr indent="-247650" lvl="0" marL="259715" marR="0" rtl="0" algn="l">
              <a:lnSpc>
                <a:spcPct val="100000"/>
              </a:lnSpc>
              <a:spcBef>
                <a:spcPts val="770"/>
              </a:spcBef>
              <a:spcAft>
                <a:spcPts val="0"/>
              </a:spcAft>
              <a:buClr>
                <a:schemeClr val="dk1"/>
              </a:buClr>
              <a:buSzPts val="3200"/>
              <a:buFont typeface="Arial"/>
              <a:buChar char="-"/>
            </a:pPr>
            <a:r>
              <a:rPr lang="tr-TR" sz="3200">
                <a:solidFill>
                  <a:schemeClr val="dk1"/>
                </a:solidFill>
                <a:latin typeface="Arial"/>
                <a:ea typeface="Arial"/>
                <a:cs typeface="Arial"/>
                <a:sym typeface="Arial"/>
              </a:rPr>
              <a:t>Bu problemin önemi nedir?</a:t>
            </a:r>
            <a:endParaRPr sz="3200">
              <a:solidFill>
                <a:schemeClr val="dk1"/>
              </a:solidFill>
              <a:latin typeface="Arial"/>
              <a:ea typeface="Arial"/>
              <a:cs typeface="Arial"/>
              <a:sym typeface="Arial"/>
            </a:endParaRPr>
          </a:p>
          <a:p>
            <a:pPr indent="-247650" lvl="0" marL="259715" marR="0" rtl="0" algn="l">
              <a:lnSpc>
                <a:spcPct val="100000"/>
              </a:lnSpc>
              <a:spcBef>
                <a:spcPts val="770"/>
              </a:spcBef>
              <a:spcAft>
                <a:spcPts val="0"/>
              </a:spcAft>
              <a:buClr>
                <a:schemeClr val="dk1"/>
              </a:buClr>
              <a:buSzPts val="3200"/>
              <a:buFont typeface="Arial"/>
              <a:buChar char="-"/>
            </a:pPr>
            <a:r>
              <a:rPr lang="tr-TR" sz="3200">
                <a:solidFill>
                  <a:schemeClr val="dk1"/>
                </a:solidFill>
                <a:latin typeface="Arial"/>
                <a:ea typeface="Arial"/>
                <a:cs typeface="Arial"/>
                <a:sym typeface="Arial"/>
              </a:rPr>
              <a:t>Geçmişi ve bağlantıları nelerdir?</a:t>
            </a:r>
            <a:endParaRPr sz="3200">
              <a:solidFill>
                <a:schemeClr val="dk1"/>
              </a:solidFill>
              <a:latin typeface="Arial"/>
              <a:ea typeface="Arial"/>
              <a:cs typeface="Arial"/>
              <a:sym typeface="Arial"/>
            </a:endParaRPr>
          </a:p>
          <a:p>
            <a:pPr indent="-247650" lvl="0" marL="259715" marR="0" rtl="0" algn="l">
              <a:lnSpc>
                <a:spcPct val="100000"/>
              </a:lnSpc>
              <a:spcBef>
                <a:spcPts val="765"/>
              </a:spcBef>
              <a:spcAft>
                <a:spcPts val="0"/>
              </a:spcAft>
              <a:buClr>
                <a:schemeClr val="dk1"/>
              </a:buClr>
              <a:buSzPts val="3200"/>
              <a:buFont typeface="Arial"/>
              <a:buChar char="-"/>
            </a:pPr>
            <a:r>
              <a:rPr lang="tr-TR" sz="3200">
                <a:solidFill>
                  <a:schemeClr val="dk1"/>
                </a:solidFill>
                <a:latin typeface="Arial"/>
                <a:ea typeface="Arial"/>
                <a:cs typeface="Arial"/>
                <a:sym typeface="Arial"/>
              </a:rPr>
              <a:t>Niçin araştırmaya gerek duyulmaktadır?</a:t>
            </a:r>
            <a:endParaRPr sz="3200">
              <a:solidFill>
                <a:schemeClr val="dk1"/>
              </a:solidFill>
              <a:latin typeface="Arial"/>
              <a:ea typeface="Arial"/>
              <a:cs typeface="Arial"/>
              <a:sym typeface="Arial"/>
            </a:endParaRPr>
          </a:p>
          <a:p>
            <a:pPr indent="-230504" lvl="0" marL="355600" marR="455930" rtl="0" algn="l">
              <a:lnSpc>
                <a:spcPct val="100000"/>
              </a:lnSpc>
              <a:spcBef>
                <a:spcPts val="770"/>
              </a:spcBef>
              <a:spcAft>
                <a:spcPts val="0"/>
              </a:spcAft>
              <a:buNone/>
            </a:pPr>
            <a:r>
              <a:rPr lang="tr-TR" sz="3200">
                <a:solidFill>
                  <a:schemeClr val="dk1"/>
                </a:solidFill>
                <a:latin typeface="Arial"/>
                <a:ea typeface="Arial"/>
                <a:cs typeface="Arial"/>
                <a:sym typeface="Arial"/>
              </a:rPr>
              <a:t>- Araştırmanın türü betimleme</a:t>
            </a:r>
            <a:r>
              <a:rPr lang="tr-TR" sz="2800">
                <a:solidFill>
                  <a:schemeClr val="dk1"/>
                </a:solidFill>
                <a:latin typeface="Arial"/>
                <a:ea typeface="Arial"/>
                <a:cs typeface="Arial"/>
                <a:sym typeface="Arial"/>
              </a:rPr>
              <a:t>, ölçme,  geliştirme, analiz veya değerlendirme </a:t>
            </a:r>
            <a:r>
              <a:rPr lang="tr-TR" sz="3200">
                <a:solidFill>
                  <a:schemeClr val="dk1"/>
                </a:solidFill>
                <a:latin typeface="Arial"/>
                <a:ea typeface="Arial"/>
                <a:cs typeface="Arial"/>
                <a:sym typeface="Arial"/>
              </a:rPr>
              <a:t>gibi  amaçlardan hangisine yöneliktir?</a:t>
            </a:r>
            <a:endParaRPr sz="3200">
              <a:solidFill>
                <a:schemeClr val="dk1"/>
              </a:solidFill>
              <a:latin typeface="Arial"/>
              <a:ea typeface="Arial"/>
              <a:cs typeface="Arial"/>
              <a:sym typeface="Arial"/>
            </a:endParaRPr>
          </a:p>
        </p:txBody>
      </p:sp>
      <p:sp>
        <p:nvSpPr>
          <p:cNvPr id="658" name="Google Shape;658;p7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79"/>
          <p:cNvSpPr txBox="1"/>
          <p:nvPr/>
        </p:nvSpPr>
        <p:spPr>
          <a:xfrm>
            <a:off x="688340" y="1581734"/>
            <a:ext cx="7402195" cy="4164965"/>
          </a:xfrm>
          <a:prstGeom prst="rect">
            <a:avLst/>
          </a:prstGeom>
          <a:noFill/>
          <a:ln>
            <a:noFill/>
          </a:ln>
        </p:spPr>
        <p:txBody>
          <a:bodyPr anchorCtr="0" anchor="t" bIns="0" lIns="0" spcFirstLastPara="1" rIns="0" wrap="square" tIns="60950">
            <a:spAutoFit/>
          </a:bodyPr>
          <a:lstStyle/>
          <a:p>
            <a:pPr indent="-231140" lvl="0" marL="231140" marR="141605" rtl="0" algn="l">
              <a:lnSpc>
                <a:spcPct val="107857"/>
              </a:lnSpc>
              <a:spcBef>
                <a:spcPts val="0"/>
              </a:spcBef>
              <a:spcAft>
                <a:spcPts val="0"/>
              </a:spcAft>
              <a:buClr>
                <a:schemeClr val="dk1"/>
              </a:buClr>
              <a:buSzPts val="2800"/>
              <a:buFont typeface="Arial"/>
              <a:buChar char="-"/>
            </a:pPr>
            <a:r>
              <a:rPr lang="tr-TR" sz="2800">
                <a:solidFill>
                  <a:schemeClr val="dk1"/>
                </a:solidFill>
                <a:latin typeface="Arial"/>
                <a:ea typeface="Arial"/>
                <a:cs typeface="Arial"/>
                <a:sym typeface="Arial"/>
              </a:rPr>
              <a:t>Gelitiştirilecek çözüm önerisinin araştırma ile  ilgisi nasıldır?</a:t>
            </a:r>
            <a:endParaRPr sz="2800">
              <a:solidFill>
                <a:schemeClr val="dk1"/>
              </a:solidFill>
              <a:latin typeface="Arial"/>
              <a:ea typeface="Arial"/>
              <a:cs typeface="Arial"/>
              <a:sym typeface="Arial"/>
            </a:endParaRPr>
          </a:p>
          <a:p>
            <a:pPr indent="-231140" lvl="0" marL="231140" marR="992505" rtl="0" algn="l">
              <a:lnSpc>
                <a:spcPct val="108214"/>
              </a:lnSpc>
              <a:spcBef>
                <a:spcPts val="675"/>
              </a:spcBef>
              <a:spcAft>
                <a:spcPts val="0"/>
              </a:spcAft>
              <a:buClr>
                <a:schemeClr val="dk1"/>
              </a:buClr>
              <a:buSzPts val="2800"/>
              <a:buFont typeface="Arial"/>
              <a:buChar char="-"/>
            </a:pPr>
            <a:r>
              <a:rPr lang="tr-TR" sz="2800">
                <a:solidFill>
                  <a:schemeClr val="dk1"/>
                </a:solidFill>
                <a:latin typeface="Arial"/>
                <a:ea typeface="Arial"/>
                <a:cs typeface="Arial"/>
                <a:sym typeface="Arial"/>
              </a:rPr>
              <a:t>Araştırma hangi hedef kitleyi ne derece  ilgilendirmektedir?</a:t>
            </a:r>
            <a:endParaRPr sz="2800">
              <a:solidFill>
                <a:schemeClr val="dk1"/>
              </a:solidFill>
              <a:latin typeface="Arial"/>
              <a:ea typeface="Arial"/>
              <a:cs typeface="Arial"/>
              <a:sym typeface="Arial"/>
            </a:endParaRPr>
          </a:p>
          <a:p>
            <a:pPr indent="-231140" lvl="0" marL="231140" marR="5080" rtl="0" algn="l">
              <a:lnSpc>
                <a:spcPct val="107857"/>
              </a:lnSpc>
              <a:spcBef>
                <a:spcPts val="670"/>
              </a:spcBef>
              <a:spcAft>
                <a:spcPts val="0"/>
              </a:spcAft>
              <a:buClr>
                <a:schemeClr val="dk1"/>
              </a:buClr>
              <a:buSzPts val="2800"/>
              <a:buFont typeface="Arial"/>
              <a:buChar char="-"/>
            </a:pPr>
            <a:r>
              <a:rPr lang="tr-TR" sz="2800">
                <a:solidFill>
                  <a:schemeClr val="dk1"/>
                </a:solidFill>
                <a:latin typeface="Arial"/>
                <a:ea typeface="Arial"/>
                <a:cs typeface="Arial"/>
                <a:sym typeface="Arial"/>
              </a:rPr>
              <a:t>AP ele almak ve araştırmak için doğru zaman  mı? (konunun güncelliği, eskimişliği veya</a:t>
            </a:r>
            <a:endParaRPr sz="2800">
              <a:solidFill>
                <a:schemeClr val="dk1"/>
              </a:solidFill>
              <a:latin typeface="Arial"/>
              <a:ea typeface="Arial"/>
              <a:cs typeface="Arial"/>
              <a:sym typeface="Arial"/>
            </a:endParaRPr>
          </a:p>
          <a:p>
            <a:pPr indent="0" lvl="0" marL="355600" marR="0" rtl="0" algn="l">
              <a:lnSpc>
                <a:spcPct val="106607"/>
              </a:lnSpc>
              <a:spcBef>
                <a:spcPts val="0"/>
              </a:spcBef>
              <a:spcAft>
                <a:spcPts val="0"/>
              </a:spcAft>
              <a:buNone/>
            </a:pPr>
            <a:r>
              <a:rPr lang="tr-TR" sz="2800">
                <a:solidFill>
                  <a:schemeClr val="dk1"/>
                </a:solidFill>
                <a:latin typeface="Arial"/>
                <a:ea typeface="Arial"/>
                <a:cs typeface="Arial"/>
                <a:sym typeface="Arial"/>
              </a:rPr>
              <a:t>doğacak tepkiler v.b.)</a:t>
            </a:r>
            <a:endParaRPr sz="2800">
              <a:solidFill>
                <a:schemeClr val="dk1"/>
              </a:solidFill>
              <a:latin typeface="Arial"/>
              <a:ea typeface="Arial"/>
              <a:cs typeface="Arial"/>
              <a:sym typeface="Arial"/>
            </a:endParaRPr>
          </a:p>
          <a:p>
            <a:pPr indent="-231140" lvl="0" marL="231140" marR="253365" rtl="0" algn="l">
              <a:lnSpc>
                <a:spcPct val="107857"/>
              </a:lnSpc>
              <a:spcBef>
                <a:spcPts val="720"/>
              </a:spcBef>
              <a:spcAft>
                <a:spcPts val="0"/>
              </a:spcAft>
              <a:buClr>
                <a:schemeClr val="dk1"/>
              </a:buClr>
              <a:buSzPts val="2800"/>
              <a:buFont typeface="Arial"/>
              <a:buChar char="-"/>
            </a:pPr>
            <a:r>
              <a:rPr lang="tr-TR" sz="2800">
                <a:solidFill>
                  <a:schemeClr val="dk1"/>
                </a:solidFill>
                <a:latin typeface="Arial"/>
                <a:ea typeface="Arial"/>
                <a:cs typeface="Arial"/>
                <a:sym typeface="Arial"/>
              </a:rPr>
              <a:t>Çalışmanın sağlayacağı katkılar nelerdir,  bu	katkılar teorik veya uygulamaya yönelik  midir?</a:t>
            </a:r>
            <a:endParaRPr sz="2800">
              <a:solidFill>
                <a:schemeClr val="dk1"/>
              </a:solidFill>
              <a:latin typeface="Arial"/>
              <a:ea typeface="Arial"/>
              <a:cs typeface="Arial"/>
              <a:sym typeface="Arial"/>
            </a:endParaRPr>
          </a:p>
        </p:txBody>
      </p:sp>
      <p:sp>
        <p:nvSpPr>
          <p:cNvPr id="664" name="Google Shape;664;p7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80"/>
          <p:cNvSpPr txBox="1"/>
          <p:nvPr/>
        </p:nvSpPr>
        <p:spPr>
          <a:xfrm>
            <a:off x="688340" y="1524420"/>
            <a:ext cx="4311650" cy="2952750"/>
          </a:xfrm>
          <a:prstGeom prst="rect">
            <a:avLst/>
          </a:prstGeom>
          <a:noFill/>
          <a:ln>
            <a:noFill/>
          </a:ln>
        </p:spPr>
        <p:txBody>
          <a:bodyPr anchorCtr="0" anchor="t" bIns="0" lIns="0" spcFirstLastPara="1" rIns="0" wrap="square" tIns="110475">
            <a:spAutoFit/>
          </a:bodyPr>
          <a:lstStyle/>
          <a:p>
            <a:pPr indent="-247650" lvl="0" marL="259715" marR="0" rtl="0" algn="l">
              <a:lnSpc>
                <a:spcPct val="100000"/>
              </a:lnSpc>
              <a:spcBef>
                <a:spcPts val="0"/>
              </a:spcBef>
              <a:spcAft>
                <a:spcPts val="0"/>
              </a:spcAft>
              <a:buClr>
                <a:schemeClr val="dk1"/>
              </a:buClr>
              <a:buSzPts val="3200"/>
              <a:buFont typeface="Arial"/>
              <a:buChar char="-"/>
            </a:pPr>
            <a:r>
              <a:rPr lang="tr-TR" sz="3200">
                <a:solidFill>
                  <a:schemeClr val="dk1"/>
                </a:solidFill>
                <a:latin typeface="Arial"/>
                <a:ea typeface="Arial"/>
                <a:cs typeface="Arial"/>
                <a:sym typeface="Arial"/>
              </a:rPr>
              <a:t>Konu ilginç mi?</a:t>
            </a:r>
            <a:endParaRPr sz="3200">
              <a:solidFill>
                <a:schemeClr val="dk1"/>
              </a:solidFill>
              <a:latin typeface="Arial"/>
              <a:ea typeface="Arial"/>
              <a:cs typeface="Arial"/>
              <a:sym typeface="Arial"/>
            </a:endParaRPr>
          </a:p>
          <a:p>
            <a:pPr indent="-247650" lvl="0" marL="259715" marR="0" rtl="0" algn="l">
              <a:lnSpc>
                <a:spcPct val="100000"/>
              </a:lnSpc>
              <a:spcBef>
                <a:spcPts val="765"/>
              </a:spcBef>
              <a:spcAft>
                <a:spcPts val="0"/>
              </a:spcAft>
              <a:buClr>
                <a:schemeClr val="dk1"/>
              </a:buClr>
              <a:buSzPts val="3200"/>
              <a:buFont typeface="Arial"/>
              <a:buChar char="-"/>
            </a:pPr>
            <a:r>
              <a:rPr lang="tr-TR" sz="3200">
                <a:solidFill>
                  <a:schemeClr val="dk1"/>
                </a:solidFill>
                <a:latin typeface="Arial"/>
                <a:ea typeface="Arial"/>
                <a:cs typeface="Arial"/>
                <a:sym typeface="Arial"/>
              </a:rPr>
              <a:t>Konu araştırılabilir mi?</a:t>
            </a:r>
            <a:endParaRPr sz="3200">
              <a:solidFill>
                <a:schemeClr val="dk1"/>
              </a:solidFill>
              <a:latin typeface="Arial"/>
              <a:ea typeface="Arial"/>
              <a:cs typeface="Arial"/>
              <a:sym typeface="Arial"/>
            </a:endParaRPr>
          </a:p>
          <a:p>
            <a:pPr indent="-247650" lvl="0" marL="259715" marR="0" rtl="0" algn="l">
              <a:lnSpc>
                <a:spcPct val="100000"/>
              </a:lnSpc>
              <a:spcBef>
                <a:spcPts val="770"/>
              </a:spcBef>
              <a:spcAft>
                <a:spcPts val="0"/>
              </a:spcAft>
              <a:buClr>
                <a:schemeClr val="dk1"/>
              </a:buClr>
              <a:buSzPts val="3200"/>
              <a:buFont typeface="Arial"/>
              <a:buChar char="-"/>
            </a:pPr>
            <a:r>
              <a:rPr lang="tr-TR" sz="3200">
                <a:solidFill>
                  <a:schemeClr val="dk1"/>
                </a:solidFill>
                <a:latin typeface="Arial"/>
                <a:ea typeface="Arial"/>
                <a:cs typeface="Arial"/>
                <a:sym typeface="Arial"/>
              </a:rPr>
              <a:t>Konu önemli mi?</a:t>
            </a:r>
            <a:endParaRPr sz="3200">
              <a:solidFill>
                <a:schemeClr val="dk1"/>
              </a:solidFill>
              <a:latin typeface="Arial"/>
              <a:ea typeface="Arial"/>
              <a:cs typeface="Arial"/>
              <a:sym typeface="Arial"/>
            </a:endParaRPr>
          </a:p>
          <a:p>
            <a:pPr indent="-247650" lvl="0" marL="259715" marR="0" rtl="0" algn="l">
              <a:lnSpc>
                <a:spcPct val="100000"/>
              </a:lnSpc>
              <a:spcBef>
                <a:spcPts val="770"/>
              </a:spcBef>
              <a:spcAft>
                <a:spcPts val="0"/>
              </a:spcAft>
              <a:buClr>
                <a:schemeClr val="dk1"/>
              </a:buClr>
              <a:buSzPts val="3200"/>
              <a:buFont typeface="Arial"/>
              <a:buChar char="-"/>
            </a:pPr>
            <a:r>
              <a:rPr lang="tr-TR" sz="3200">
                <a:solidFill>
                  <a:schemeClr val="dk1"/>
                </a:solidFill>
                <a:latin typeface="Arial"/>
                <a:ea typeface="Arial"/>
                <a:cs typeface="Arial"/>
                <a:sym typeface="Arial"/>
              </a:rPr>
              <a:t>Kaynaklar yeterli mi?</a:t>
            </a:r>
            <a:endParaRPr sz="3200">
              <a:solidFill>
                <a:schemeClr val="dk1"/>
              </a:solidFill>
              <a:latin typeface="Arial"/>
              <a:ea typeface="Arial"/>
              <a:cs typeface="Arial"/>
              <a:sym typeface="Arial"/>
            </a:endParaRPr>
          </a:p>
          <a:p>
            <a:pPr indent="-247650" lvl="0" marL="259715" marR="0" rtl="0" algn="l">
              <a:lnSpc>
                <a:spcPct val="100000"/>
              </a:lnSpc>
              <a:spcBef>
                <a:spcPts val="770"/>
              </a:spcBef>
              <a:spcAft>
                <a:spcPts val="0"/>
              </a:spcAft>
              <a:buClr>
                <a:schemeClr val="dk1"/>
              </a:buClr>
              <a:buSzPts val="3200"/>
              <a:buFont typeface="Arial"/>
              <a:buChar char="-"/>
            </a:pPr>
            <a:r>
              <a:rPr lang="tr-TR" sz="3200">
                <a:solidFill>
                  <a:schemeClr val="dk1"/>
                </a:solidFill>
                <a:latin typeface="Arial"/>
                <a:ea typeface="Arial"/>
                <a:cs typeface="Arial"/>
                <a:sym typeface="Arial"/>
              </a:rPr>
              <a:t>Konu etik mi?</a:t>
            </a:r>
            <a:endParaRPr sz="3200">
              <a:solidFill>
                <a:schemeClr val="dk1"/>
              </a:solidFill>
              <a:latin typeface="Arial"/>
              <a:ea typeface="Arial"/>
              <a:cs typeface="Arial"/>
              <a:sym typeface="Arial"/>
            </a:endParaRPr>
          </a:p>
        </p:txBody>
      </p:sp>
      <p:sp>
        <p:nvSpPr>
          <p:cNvPr id="670" name="Google Shape;670;p8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81"/>
          <p:cNvSpPr txBox="1"/>
          <p:nvPr/>
        </p:nvSpPr>
        <p:spPr>
          <a:xfrm>
            <a:off x="688340" y="1572590"/>
            <a:ext cx="7476490" cy="4123690"/>
          </a:xfrm>
          <a:prstGeom prst="rect">
            <a:avLst/>
          </a:prstGeom>
          <a:noFill/>
          <a:ln>
            <a:noFill/>
          </a:ln>
        </p:spPr>
        <p:txBody>
          <a:bodyPr anchorCtr="0" anchor="t" bIns="0" lIns="0" spcFirstLastPara="1" rIns="0" wrap="square" tIns="67925">
            <a:spAutoFit/>
          </a:bodyPr>
          <a:lstStyle/>
          <a:p>
            <a:pPr indent="-343535" lvl="0" marL="355600" marR="523875" rtl="0" algn="l">
              <a:lnSpc>
                <a:spcPct val="108124"/>
              </a:lnSpc>
              <a:spcBef>
                <a:spcPts val="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Problem cümlesi yeterince açık,  değişkenler arası ilişkiyi belirten, test  edilebilir olmalı, metafizik, felsefi ve</a:t>
            </a:r>
            <a:endParaRPr sz="3200">
              <a:solidFill>
                <a:schemeClr val="dk1"/>
              </a:solidFill>
              <a:latin typeface="Arial"/>
              <a:ea typeface="Arial"/>
              <a:cs typeface="Arial"/>
              <a:sym typeface="Arial"/>
            </a:endParaRPr>
          </a:p>
          <a:p>
            <a:pPr indent="0" lvl="0" marL="355600" marR="0" rtl="0" algn="l">
              <a:lnSpc>
                <a:spcPct val="106250"/>
              </a:lnSpc>
              <a:spcBef>
                <a:spcPts val="0"/>
              </a:spcBef>
              <a:spcAft>
                <a:spcPts val="0"/>
              </a:spcAft>
              <a:buNone/>
            </a:pPr>
            <a:r>
              <a:rPr lang="tr-TR" sz="3200">
                <a:solidFill>
                  <a:schemeClr val="dk1"/>
                </a:solidFill>
                <a:latin typeface="Arial"/>
                <a:ea typeface="Arial"/>
                <a:cs typeface="Arial"/>
                <a:sym typeface="Arial"/>
              </a:rPr>
              <a:t>teolojik olmamalıdır.</a:t>
            </a:r>
            <a:endParaRPr sz="3200">
              <a:solidFill>
                <a:schemeClr val="dk1"/>
              </a:solidFill>
              <a:latin typeface="Arial"/>
              <a:ea typeface="Arial"/>
              <a:cs typeface="Arial"/>
              <a:sym typeface="Arial"/>
            </a:endParaRPr>
          </a:p>
          <a:p>
            <a:pPr indent="-343535" lvl="0" marL="355600" marR="5080" rtl="0" algn="l">
              <a:lnSpc>
                <a:spcPct val="90000"/>
              </a:lnSpc>
              <a:spcBef>
                <a:spcPts val="77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Problem cümlesi sadece bilgi toplayıcı /  bilgilendirici olmamalı, sadece iki veri  setini iki birbiriyle karşılaştırmayı  amaçlamamalı, sonucu evet hayır  şeklinde olmamalıdır.</a:t>
            </a:r>
            <a:endParaRPr sz="3200">
              <a:solidFill>
                <a:schemeClr val="dk1"/>
              </a:solidFill>
              <a:latin typeface="Arial"/>
              <a:ea typeface="Arial"/>
              <a:cs typeface="Arial"/>
              <a:sym typeface="Arial"/>
            </a:endParaRPr>
          </a:p>
        </p:txBody>
      </p:sp>
      <p:sp>
        <p:nvSpPr>
          <p:cNvPr id="676" name="Google Shape;676;p8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82"/>
          <p:cNvSpPr txBox="1"/>
          <p:nvPr/>
        </p:nvSpPr>
        <p:spPr>
          <a:xfrm>
            <a:off x="688340" y="1581734"/>
            <a:ext cx="7613650" cy="3781425"/>
          </a:xfrm>
          <a:prstGeom prst="rect">
            <a:avLst/>
          </a:prstGeom>
          <a:noFill/>
          <a:ln>
            <a:noFill/>
          </a:ln>
        </p:spPr>
        <p:txBody>
          <a:bodyPr anchorCtr="0" anchor="t" bIns="0" lIns="0" spcFirstLastPara="1" rIns="0" wrap="square" tIns="60950">
            <a:spAutoFit/>
          </a:bodyPr>
          <a:lstStyle/>
          <a:p>
            <a:pPr indent="-343535" lvl="0" marL="355600" marR="264160" rtl="0" algn="l">
              <a:lnSpc>
                <a:spcPct val="107857"/>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Konuyu ve AP’ni alt problemler halinde ifade  etmek gerekli mi?</a:t>
            </a:r>
            <a:endParaRPr sz="2800">
              <a:solidFill>
                <a:schemeClr val="dk1"/>
              </a:solidFill>
              <a:latin typeface="Arial"/>
              <a:ea typeface="Arial"/>
              <a:cs typeface="Arial"/>
              <a:sym typeface="Arial"/>
            </a:endParaRPr>
          </a:p>
          <a:p>
            <a:pPr indent="-343535" lvl="0" marL="355600" marR="5080" rtl="0" algn="l">
              <a:lnSpc>
                <a:spcPct val="108214"/>
              </a:lnSpc>
              <a:spcBef>
                <a:spcPts val="67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Konu geniş ve karmaşık ise ve birden çok  amaç içeriyorsa alt problemlere başvurulabilir.</a:t>
            </a:r>
            <a:endParaRPr sz="2800">
              <a:solidFill>
                <a:schemeClr val="dk1"/>
              </a:solidFill>
              <a:latin typeface="Arial"/>
              <a:ea typeface="Arial"/>
              <a:cs typeface="Arial"/>
              <a:sym typeface="Arial"/>
            </a:endParaRPr>
          </a:p>
          <a:p>
            <a:pPr indent="-343535" lvl="0" marL="355600" marR="779780" rtl="0" algn="l">
              <a:lnSpc>
                <a:spcPct val="90000"/>
              </a:lnSpc>
              <a:spcBef>
                <a:spcPts val="62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AP, çözümü kolaylaştırmak için temel  problemin ayrıldığı alt birimleri belirlemek  demektir.</a:t>
            </a:r>
            <a:endParaRPr sz="2800">
              <a:solidFill>
                <a:schemeClr val="dk1"/>
              </a:solidFill>
              <a:latin typeface="Arial"/>
              <a:ea typeface="Arial"/>
              <a:cs typeface="Arial"/>
              <a:sym typeface="Arial"/>
            </a:endParaRPr>
          </a:p>
          <a:p>
            <a:pPr indent="-343535" lvl="0" marL="355600" marR="818514" rtl="0" algn="l">
              <a:lnSpc>
                <a:spcPct val="107857"/>
              </a:lnSpc>
              <a:spcBef>
                <a:spcPts val="72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Alt problemler kolaylıkla ele alınabilen ve  çözülebilen yardımcı cümlelerdir.</a:t>
            </a:r>
            <a:endParaRPr sz="2800">
              <a:solidFill>
                <a:schemeClr val="dk1"/>
              </a:solidFill>
              <a:latin typeface="Arial"/>
              <a:ea typeface="Arial"/>
              <a:cs typeface="Arial"/>
              <a:sym typeface="Arial"/>
            </a:endParaRPr>
          </a:p>
        </p:txBody>
      </p:sp>
      <p:sp>
        <p:nvSpPr>
          <p:cNvPr id="682" name="Google Shape;682;p8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83"/>
          <p:cNvSpPr txBox="1"/>
          <p:nvPr/>
        </p:nvSpPr>
        <p:spPr>
          <a:xfrm>
            <a:off x="688340" y="1624406"/>
            <a:ext cx="7591425" cy="4037329"/>
          </a:xfrm>
          <a:prstGeom prst="rect">
            <a:avLst/>
          </a:prstGeom>
          <a:noFill/>
          <a:ln>
            <a:noFill/>
          </a:ln>
        </p:spPr>
        <p:txBody>
          <a:bodyPr anchorCtr="0" anchor="t" bIns="0" lIns="0" spcFirstLastPara="1" rIns="0" wrap="square" tIns="12050">
            <a:spAutoFit/>
          </a:bodyPr>
          <a:lstStyle/>
          <a:p>
            <a:pPr indent="-343535" lvl="0" marL="355600" marR="0" rtl="0" algn="l">
              <a:lnSpc>
                <a:spcPct val="100000"/>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Alt problemler araştırmanın çerçevesini</a:t>
            </a:r>
            <a:endParaRPr sz="2800">
              <a:solidFill>
                <a:schemeClr val="dk1"/>
              </a:solidFill>
              <a:latin typeface="Arial"/>
              <a:ea typeface="Arial"/>
              <a:cs typeface="Arial"/>
              <a:sym typeface="Arial"/>
            </a:endParaRPr>
          </a:p>
          <a:p>
            <a:pPr indent="0" lvl="0" marL="355600" marR="322580" rtl="0" algn="l">
              <a:lnSpc>
                <a:spcPct val="100000"/>
              </a:lnSpc>
              <a:spcBef>
                <a:spcPts val="0"/>
              </a:spcBef>
              <a:spcAft>
                <a:spcPts val="0"/>
              </a:spcAft>
              <a:buNone/>
            </a:pPr>
            <a:r>
              <a:rPr lang="tr-TR" sz="2800">
                <a:solidFill>
                  <a:schemeClr val="dk1"/>
                </a:solidFill>
                <a:latin typeface="Arial"/>
                <a:ea typeface="Arial"/>
                <a:cs typeface="Arial"/>
                <a:sym typeface="Arial"/>
              </a:rPr>
              <a:t>netleştirir ve araştırmacının ilgili değişkenler  üzerinde yoğunlaşmasını sağlar.</a:t>
            </a:r>
            <a:endParaRPr sz="2800">
              <a:solidFill>
                <a:schemeClr val="dk1"/>
              </a:solidFill>
              <a:latin typeface="Arial"/>
              <a:ea typeface="Arial"/>
              <a:cs typeface="Arial"/>
              <a:sym typeface="Arial"/>
            </a:endParaRPr>
          </a:p>
          <a:p>
            <a:pPr indent="-343535" lvl="0" marL="355600" marR="1114425" rtl="0" algn="l">
              <a:lnSpc>
                <a:spcPct val="100000"/>
              </a:lnSpc>
              <a:spcBef>
                <a:spcPts val="67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Alt problemler, araştırmayı yönlendiren  yardımcı cümlelerdir.</a:t>
            </a:r>
            <a:endParaRPr sz="2800">
              <a:solidFill>
                <a:schemeClr val="dk1"/>
              </a:solidFill>
              <a:latin typeface="Arial"/>
              <a:ea typeface="Arial"/>
              <a:cs typeface="Arial"/>
              <a:sym typeface="Arial"/>
            </a:endParaRPr>
          </a:p>
          <a:p>
            <a:pPr indent="-343535" lvl="0" marL="355600" marR="5080" rtl="0" algn="l">
              <a:lnSpc>
                <a:spcPct val="100000"/>
              </a:lnSpc>
              <a:spcBef>
                <a:spcPts val="675"/>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Her alt problem, bir bütün olarak araştırılabilir,  bir birim olmalı, ne tür verilerle  yorumlanabileceği açık olmalı, genellikle 2-6  adet arasında olmalıdır.</a:t>
            </a:r>
            <a:endParaRPr sz="2800">
              <a:solidFill>
                <a:schemeClr val="dk1"/>
              </a:solidFill>
              <a:latin typeface="Arial"/>
              <a:ea typeface="Arial"/>
              <a:cs typeface="Arial"/>
              <a:sym typeface="Arial"/>
            </a:endParaRPr>
          </a:p>
        </p:txBody>
      </p:sp>
      <p:sp>
        <p:nvSpPr>
          <p:cNvPr id="688" name="Google Shape;688;p8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84"/>
          <p:cNvSpPr txBox="1"/>
          <p:nvPr/>
        </p:nvSpPr>
        <p:spPr>
          <a:xfrm>
            <a:off x="274116" y="474929"/>
            <a:ext cx="3140710" cy="406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tr-TR" sz="2500">
                <a:solidFill>
                  <a:srgbClr val="FFFFFF"/>
                </a:solidFill>
                <a:latin typeface="Arial"/>
                <a:ea typeface="Arial"/>
                <a:cs typeface="Arial"/>
                <a:sym typeface="Arial"/>
              </a:rPr>
              <a:t>KAYNAK TARAMASI</a:t>
            </a:r>
            <a:endParaRPr sz="2500">
              <a:solidFill>
                <a:schemeClr val="dk1"/>
              </a:solidFill>
              <a:latin typeface="Arial"/>
              <a:ea typeface="Arial"/>
              <a:cs typeface="Arial"/>
              <a:sym typeface="Arial"/>
            </a:endParaRPr>
          </a:p>
        </p:txBody>
      </p:sp>
      <p:sp>
        <p:nvSpPr>
          <p:cNvPr id="694" name="Google Shape;694;p84"/>
          <p:cNvSpPr txBox="1"/>
          <p:nvPr>
            <p:ph type="title"/>
          </p:nvPr>
        </p:nvSpPr>
        <p:spPr>
          <a:xfrm>
            <a:off x="984300" y="1539062"/>
            <a:ext cx="7071359" cy="1818005"/>
          </a:xfrm>
          <a:prstGeom prst="rect">
            <a:avLst/>
          </a:prstGeom>
          <a:noFill/>
          <a:ln>
            <a:noFill/>
          </a:ln>
        </p:spPr>
        <p:txBody>
          <a:bodyPr anchorCtr="0" anchor="t" bIns="0" lIns="0" spcFirstLastPara="1" rIns="0" wrap="square" tIns="97775">
            <a:spAutoFit/>
          </a:bodyPr>
          <a:lstStyle/>
          <a:p>
            <a:pPr indent="-47624" lvl="0" marL="59689" marR="5080" rtl="0" algn="just">
              <a:lnSpc>
                <a:spcPct val="80000"/>
              </a:lnSpc>
              <a:spcBef>
                <a:spcPts val="0"/>
              </a:spcBef>
              <a:spcAft>
                <a:spcPts val="0"/>
              </a:spcAft>
              <a:buNone/>
            </a:pPr>
            <a:r>
              <a:rPr lang="tr-TR"/>
              <a:t>Var olan kaynak ve belgeleri inceleyerek veri  toplamaya literatür tarama denir. Literatür</a:t>
            </a:r>
            <a:endParaRPr/>
          </a:p>
          <a:p>
            <a:pPr indent="0" lvl="0" marL="59689" marR="471805" rtl="0" algn="just">
              <a:lnSpc>
                <a:spcPct val="80000"/>
              </a:lnSpc>
              <a:spcBef>
                <a:spcPts val="0"/>
              </a:spcBef>
              <a:spcAft>
                <a:spcPts val="0"/>
              </a:spcAft>
              <a:buNone/>
            </a:pPr>
            <a:r>
              <a:rPr lang="tr-TR"/>
              <a:t>taraması, araştırma probleminin seçilerek  anlaşılmasına ve araştırmanın tarihsel bir  perspektife oturtulmasına yardımcı olur</a:t>
            </a:r>
            <a:endParaRPr/>
          </a:p>
        </p:txBody>
      </p:sp>
      <p:sp>
        <p:nvSpPr>
          <p:cNvPr id="695" name="Google Shape;695;p84"/>
          <p:cNvSpPr txBox="1"/>
          <p:nvPr/>
        </p:nvSpPr>
        <p:spPr>
          <a:xfrm>
            <a:off x="1031544" y="3246500"/>
            <a:ext cx="7345045" cy="2159000"/>
          </a:xfrm>
          <a:prstGeom prst="rect">
            <a:avLst/>
          </a:prstGeom>
          <a:noFill/>
          <a:ln>
            <a:noFill/>
          </a:ln>
        </p:spPr>
        <p:txBody>
          <a:bodyPr anchorCtr="0" anchor="t" bIns="0" lIns="0" spcFirstLastPara="1" rIns="0" wrap="square" tIns="93975">
            <a:spAutoFit/>
          </a:bodyPr>
          <a:lstStyle/>
          <a:p>
            <a:pPr indent="0" lvl="0" marL="12700" marR="476884" rtl="0" algn="l">
              <a:lnSpc>
                <a:spcPct val="96071"/>
              </a:lnSpc>
              <a:spcBef>
                <a:spcPts val="0"/>
              </a:spcBef>
              <a:spcAft>
                <a:spcPts val="0"/>
              </a:spcAft>
              <a:buNone/>
            </a:pPr>
            <a:r>
              <a:rPr lang="tr-TR" sz="2800">
                <a:solidFill>
                  <a:schemeClr val="dk1"/>
                </a:solidFill>
                <a:latin typeface="Arial"/>
                <a:ea typeface="Arial"/>
                <a:cs typeface="Arial"/>
                <a:sym typeface="Arial"/>
              </a:rPr>
              <a:t>(Karasar, 2005, 183). Literatür taramasında  birincil kaynakların vurgulanması asıldır.</a:t>
            </a:r>
            <a:endParaRPr sz="2800">
              <a:solidFill>
                <a:schemeClr val="dk1"/>
              </a:solidFill>
              <a:latin typeface="Arial"/>
              <a:ea typeface="Arial"/>
              <a:cs typeface="Arial"/>
              <a:sym typeface="Arial"/>
            </a:endParaRPr>
          </a:p>
          <a:p>
            <a:pPr indent="0" lvl="0" marL="12700" marR="5080" rtl="0" algn="l">
              <a:lnSpc>
                <a:spcPct val="80100"/>
              </a:lnSpc>
              <a:spcBef>
                <a:spcPts val="20"/>
              </a:spcBef>
              <a:spcAft>
                <a:spcPts val="0"/>
              </a:spcAft>
              <a:buNone/>
            </a:pPr>
            <a:r>
              <a:rPr lang="tr-TR" sz="2800">
                <a:solidFill>
                  <a:schemeClr val="dk1"/>
                </a:solidFill>
                <a:latin typeface="Arial"/>
                <a:ea typeface="Arial"/>
                <a:cs typeface="Arial"/>
                <a:sym typeface="Arial"/>
              </a:rPr>
              <a:t>Birincil kaynaklar; orijinal araştırma çalışmaları  ya da yazılarıdır. Bunlar bir kuramcı,</a:t>
            </a:r>
            <a:endParaRPr sz="2800">
              <a:solidFill>
                <a:schemeClr val="dk1"/>
              </a:solidFill>
              <a:latin typeface="Arial"/>
              <a:ea typeface="Arial"/>
              <a:cs typeface="Arial"/>
              <a:sym typeface="Arial"/>
            </a:endParaRPr>
          </a:p>
          <a:p>
            <a:pPr indent="0" lvl="0" marL="12700" marR="657860" rtl="0" algn="l">
              <a:lnSpc>
                <a:spcPct val="80000"/>
              </a:lnSpc>
              <a:spcBef>
                <a:spcPts val="0"/>
              </a:spcBef>
              <a:spcAft>
                <a:spcPts val="0"/>
              </a:spcAft>
              <a:buNone/>
            </a:pPr>
            <a:r>
              <a:rPr lang="tr-TR" sz="2800">
                <a:solidFill>
                  <a:schemeClr val="dk1"/>
                </a:solidFill>
                <a:latin typeface="Arial"/>
                <a:ea typeface="Arial"/>
                <a:cs typeface="Arial"/>
                <a:sym typeface="Arial"/>
              </a:rPr>
              <a:t>araştırmacı ya da tarihsel olaya katılan biri  tarafından yazılırlar.</a:t>
            </a:r>
            <a:endParaRPr sz="2800">
              <a:solidFill>
                <a:schemeClr val="dk1"/>
              </a:solidFill>
              <a:latin typeface="Arial"/>
              <a:ea typeface="Arial"/>
              <a:cs typeface="Arial"/>
              <a:sym typeface="Arial"/>
            </a:endParaRPr>
          </a:p>
        </p:txBody>
      </p:sp>
      <p:sp>
        <p:nvSpPr>
          <p:cNvPr id="696" name="Google Shape;696;p8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85"/>
          <p:cNvSpPr txBox="1"/>
          <p:nvPr/>
        </p:nvSpPr>
        <p:spPr>
          <a:xfrm>
            <a:off x="1026972" y="1572590"/>
            <a:ext cx="6909434" cy="4904105"/>
          </a:xfrm>
          <a:prstGeom prst="rect">
            <a:avLst/>
          </a:prstGeom>
          <a:noFill/>
          <a:ln>
            <a:noFill/>
          </a:ln>
        </p:spPr>
        <p:txBody>
          <a:bodyPr anchorCtr="0" anchor="t" bIns="0" lIns="0" spcFirstLastPara="1" rIns="0" wrap="square" tIns="67925">
            <a:spAutoFit/>
          </a:bodyPr>
          <a:lstStyle/>
          <a:p>
            <a:pPr indent="-5080" lvl="0" marL="17145" marR="234315" rtl="0" algn="l">
              <a:lnSpc>
                <a:spcPct val="108124"/>
              </a:lnSpc>
              <a:spcBef>
                <a:spcPts val="0"/>
              </a:spcBef>
              <a:spcAft>
                <a:spcPts val="0"/>
              </a:spcAft>
              <a:buNone/>
            </a:pPr>
            <a:r>
              <a:rPr lang="tr-TR" sz="3200">
                <a:solidFill>
                  <a:schemeClr val="dk1"/>
                </a:solidFill>
                <a:latin typeface="Arial"/>
                <a:ea typeface="Arial"/>
                <a:cs typeface="Arial"/>
                <a:sym typeface="Arial"/>
              </a:rPr>
              <a:t>Bunlar bir kuramcı, araştırmacı ya da  tarihsel olaya katılan biri tarafından  yazılırlar. Asıl raporlar bir araştırma</a:t>
            </a:r>
            <a:endParaRPr sz="3200">
              <a:solidFill>
                <a:schemeClr val="dk1"/>
              </a:solidFill>
              <a:latin typeface="Arial"/>
              <a:ea typeface="Arial"/>
              <a:cs typeface="Arial"/>
              <a:sym typeface="Arial"/>
            </a:endParaRPr>
          </a:p>
          <a:p>
            <a:pPr indent="0" lvl="0" marL="17145" marR="0" rtl="0" algn="l">
              <a:lnSpc>
                <a:spcPct val="100125"/>
              </a:lnSpc>
              <a:spcBef>
                <a:spcPts val="0"/>
              </a:spcBef>
              <a:spcAft>
                <a:spcPts val="0"/>
              </a:spcAft>
              <a:buNone/>
            </a:pPr>
            <a:r>
              <a:rPr lang="tr-TR" sz="3200">
                <a:solidFill>
                  <a:schemeClr val="dk1"/>
                </a:solidFill>
                <a:latin typeface="Arial"/>
                <a:ea typeface="Arial"/>
                <a:cs typeface="Arial"/>
                <a:sym typeface="Arial"/>
              </a:rPr>
              <a:t>raporunun tamamını içerir, bu nedenle</a:t>
            </a:r>
            <a:endParaRPr sz="3200">
              <a:solidFill>
                <a:schemeClr val="dk1"/>
              </a:solidFill>
              <a:latin typeface="Arial"/>
              <a:ea typeface="Arial"/>
              <a:cs typeface="Arial"/>
              <a:sym typeface="Arial"/>
            </a:endParaRPr>
          </a:p>
          <a:p>
            <a:pPr indent="0" lvl="0" marL="17145" marR="182880" rtl="0" algn="l">
              <a:lnSpc>
                <a:spcPct val="90000"/>
              </a:lnSpc>
              <a:spcBef>
                <a:spcPts val="195"/>
              </a:spcBef>
              <a:spcAft>
                <a:spcPts val="0"/>
              </a:spcAft>
              <a:buNone/>
            </a:pPr>
            <a:r>
              <a:rPr lang="tr-TR" sz="3200">
                <a:solidFill>
                  <a:schemeClr val="dk1"/>
                </a:solidFill>
                <a:latin typeface="Arial"/>
                <a:ea typeface="Arial"/>
                <a:cs typeface="Arial"/>
                <a:sym typeface="Arial"/>
              </a:rPr>
              <a:t>de oldukça tekniktirler. Bilimsel  dergilerde yer alan deneye dayalı  araştırmalar, bilimsel monograflar,  araştırma raporları ve tezler böyledir.  Birincil kaynaklarda; asıl araştırma ile  okuyucu arasında herhangi bir aracı  yoktur (Balcı, 2005, 57).</a:t>
            </a:r>
            <a:endParaRPr sz="3200">
              <a:solidFill>
                <a:schemeClr val="dk1"/>
              </a:solidFill>
              <a:latin typeface="Arial"/>
              <a:ea typeface="Arial"/>
              <a:cs typeface="Arial"/>
              <a:sym typeface="Arial"/>
            </a:endParaRPr>
          </a:p>
        </p:txBody>
      </p:sp>
      <p:sp>
        <p:nvSpPr>
          <p:cNvPr id="702" name="Google Shape;702;p8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86"/>
          <p:cNvSpPr txBox="1"/>
          <p:nvPr/>
        </p:nvSpPr>
        <p:spPr>
          <a:xfrm>
            <a:off x="688340" y="1539062"/>
            <a:ext cx="7693025" cy="3866515"/>
          </a:xfrm>
          <a:prstGeom prst="rect">
            <a:avLst/>
          </a:prstGeom>
          <a:noFill/>
          <a:ln>
            <a:noFill/>
          </a:ln>
        </p:spPr>
        <p:txBody>
          <a:bodyPr anchorCtr="0" anchor="t" bIns="0" lIns="0" spcFirstLastPara="1" rIns="0" wrap="square" tIns="97775">
            <a:spAutoFit/>
          </a:bodyPr>
          <a:lstStyle/>
          <a:p>
            <a:pPr indent="-343535" lvl="0" marL="355600" marR="5080" rtl="0" algn="l">
              <a:lnSpc>
                <a:spcPct val="80000"/>
              </a:lnSpc>
              <a:spcBef>
                <a:spcPts val="0"/>
              </a:spcBef>
              <a:spcAft>
                <a:spcPts val="0"/>
              </a:spcAft>
              <a:buNone/>
            </a:pPr>
            <a:r>
              <a:rPr lang="tr-TR" sz="2800">
                <a:solidFill>
                  <a:schemeClr val="dk1"/>
                </a:solidFill>
                <a:latin typeface="Arial"/>
                <a:ea typeface="Arial"/>
                <a:cs typeface="Arial"/>
                <a:sym typeface="Arial"/>
              </a:rPr>
              <a:t>İkincil kaynaklar, kuramsal ve ampirik (deneysel  çalışma) niteliğindeki önceki birincil  kaynakların bir sentezidir. Bunlar orijinal bir  araştırmayı özetleyen ve tartışan ansiklopedi  veya dergilerde yer alan makalelerdir. Hatta  bu, pek çok birincil kaynağı belli bir çerçevede  birleştiren bir ders kitabı da olabilir. İkincil  kaynaklar, bir konudaki araştırma gelişmelerini  hızla gözden geçirme imkânı verir. Bunlarda</a:t>
            </a:r>
            <a:endParaRPr sz="2800">
              <a:solidFill>
                <a:schemeClr val="dk1"/>
              </a:solidFill>
              <a:latin typeface="Arial"/>
              <a:ea typeface="Arial"/>
              <a:cs typeface="Arial"/>
              <a:sym typeface="Arial"/>
            </a:endParaRPr>
          </a:p>
          <a:p>
            <a:pPr indent="0" lvl="0" marL="355600" marR="403225" rtl="0" algn="l">
              <a:lnSpc>
                <a:spcPct val="80000"/>
              </a:lnSpc>
              <a:spcBef>
                <a:spcPts val="0"/>
              </a:spcBef>
              <a:spcAft>
                <a:spcPts val="0"/>
              </a:spcAft>
              <a:buNone/>
            </a:pPr>
            <a:r>
              <a:rPr lang="tr-TR" sz="2800">
                <a:solidFill>
                  <a:schemeClr val="dk1"/>
                </a:solidFill>
                <a:latin typeface="Arial"/>
                <a:ea typeface="Arial"/>
                <a:cs typeface="Arial"/>
                <a:sym typeface="Arial"/>
              </a:rPr>
              <a:t>teknik bilgi genelde ihmal edilir (Balcı, 2005,  57).</a:t>
            </a:r>
            <a:endParaRPr sz="2800">
              <a:solidFill>
                <a:schemeClr val="dk1"/>
              </a:solidFill>
              <a:latin typeface="Arial"/>
              <a:ea typeface="Arial"/>
              <a:cs typeface="Arial"/>
              <a:sym typeface="Arial"/>
            </a:endParaRPr>
          </a:p>
        </p:txBody>
      </p:sp>
      <p:sp>
        <p:nvSpPr>
          <p:cNvPr id="708" name="Google Shape;708;p8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87"/>
          <p:cNvSpPr txBox="1"/>
          <p:nvPr/>
        </p:nvSpPr>
        <p:spPr>
          <a:xfrm>
            <a:off x="688340" y="1564589"/>
            <a:ext cx="7545070" cy="2831465"/>
          </a:xfrm>
          <a:prstGeom prst="rect">
            <a:avLst/>
          </a:prstGeom>
          <a:noFill/>
          <a:ln>
            <a:noFill/>
          </a:ln>
        </p:spPr>
        <p:txBody>
          <a:bodyPr anchorCtr="0" anchor="t" bIns="0" lIns="0" spcFirstLastPara="1" rIns="0" wrap="square" tIns="74275">
            <a:spAutoFit/>
          </a:bodyPr>
          <a:lstStyle/>
          <a:p>
            <a:pPr indent="-343535" lvl="0" marL="355600" marR="79375" rtl="0" algn="l">
              <a:lnSpc>
                <a:spcPct val="80000"/>
              </a:lnSpc>
              <a:spcBef>
                <a:spcPts val="0"/>
              </a:spcBef>
              <a:spcAft>
                <a:spcPts val="0"/>
              </a:spcAft>
              <a:buClr>
                <a:srgbClr val="996666"/>
              </a:buClr>
              <a:buSzPts val="1600"/>
              <a:buFont typeface="Noto Sans Symbols"/>
              <a:buChar char="●"/>
            </a:pPr>
            <a:r>
              <a:rPr lang="tr-TR" sz="2000">
                <a:solidFill>
                  <a:schemeClr val="dk1"/>
                </a:solidFill>
                <a:latin typeface="Arial"/>
                <a:ea typeface="Arial"/>
                <a:cs typeface="Arial"/>
                <a:sym typeface="Arial"/>
              </a:rPr>
              <a:t>Literatür taraması problemin önemini gösterme, araştırmanın  desenini geliştirme ve araştırma bulgularını önceki bilgiyle  ilişkilendirme amacıyla yapılır. Literatür taramasının bu  doğrultudaki işlevlerini Balcı aşağıdaki şekilde ifade etmektedir:</a:t>
            </a:r>
            <a:endParaRPr sz="20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1600"/>
              <a:buFont typeface="Noto Sans Symbols"/>
              <a:buChar char="●"/>
            </a:pPr>
            <a:r>
              <a:rPr lang="tr-TR" sz="2000">
                <a:solidFill>
                  <a:schemeClr val="dk1"/>
                </a:solidFill>
                <a:latin typeface="Arial"/>
                <a:ea typeface="Arial"/>
                <a:cs typeface="Arial"/>
                <a:sym typeface="Arial"/>
              </a:rPr>
              <a:t>1. Problemin tanımlanma ve sınırlandırılmasına yardımcı olmak,</a:t>
            </a:r>
            <a:endParaRPr sz="20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1600"/>
              <a:buFont typeface="Noto Sans Symbols"/>
              <a:buChar char="●"/>
            </a:pPr>
            <a:r>
              <a:rPr lang="tr-TR" sz="2000">
                <a:solidFill>
                  <a:schemeClr val="dk1"/>
                </a:solidFill>
                <a:latin typeface="Arial"/>
                <a:ea typeface="Arial"/>
                <a:cs typeface="Arial"/>
                <a:sym typeface="Arial"/>
              </a:rPr>
              <a:t>2. Araştırmayı tarihsel bir perspektife yerleştirmek,</a:t>
            </a:r>
            <a:endParaRPr sz="20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1600"/>
              <a:buFont typeface="Noto Sans Symbols"/>
              <a:buChar char="●"/>
            </a:pPr>
            <a:r>
              <a:rPr lang="tr-TR" sz="2000">
                <a:solidFill>
                  <a:schemeClr val="dk1"/>
                </a:solidFill>
                <a:latin typeface="Arial"/>
                <a:ea typeface="Arial"/>
                <a:cs typeface="Arial"/>
                <a:sym typeface="Arial"/>
              </a:rPr>
              <a:t>3. Araştırmada istenmeyen tekrarları önlemek,</a:t>
            </a:r>
            <a:endParaRPr sz="20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1600"/>
              <a:buFont typeface="Noto Sans Symbols"/>
              <a:buChar char="●"/>
            </a:pPr>
            <a:r>
              <a:rPr lang="tr-TR" sz="2000">
                <a:solidFill>
                  <a:schemeClr val="dk1"/>
                </a:solidFill>
                <a:latin typeface="Arial"/>
                <a:ea typeface="Arial"/>
                <a:cs typeface="Arial"/>
                <a:sym typeface="Arial"/>
              </a:rPr>
              <a:t>4. Uygun yöntem ve ölçülerin seçilmesinde yardımcı olmak,</a:t>
            </a:r>
            <a:endParaRPr sz="2000">
              <a:solidFill>
                <a:schemeClr val="dk1"/>
              </a:solidFill>
              <a:latin typeface="Arial"/>
              <a:ea typeface="Arial"/>
              <a:cs typeface="Arial"/>
              <a:sym typeface="Arial"/>
            </a:endParaRPr>
          </a:p>
          <a:p>
            <a:pPr indent="-343535" lvl="0" marL="355600" marR="0" rtl="0" algn="l">
              <a:lnSpc>
                <a:spcPct val="108000"/>
              </a:lnSpc>
              <a:spcBef>
                <a:spcPts val="0"/>
              </a:spcBef>
              <a:spcAft>
                <a:spcPts val="0"/>
              </a:spcAft>
              <a:buClr>
                <a:srgbClr val="996666"/>
              </a:buClr>
              <a:buSzPts val="1600"/>
              <a:buFont typeface="Noto Sans Symbols"/>
              <a:buChar char="●"/>
            </a:pPr>
            <a:r>
              <a:rPr lang="tr-TR" sz="2000">
                <a:solidFill>
                  <a:schemeClr val="dk1"/>
                </a:solidFill>
                <a:latin typeface="Arial"/>
                <a:ea typeface="Arial"/>
                <a:cs typeface="Arial"/>
                <a:sym typeface="Arial"/>
              </a:rPr>
              <a:t>5. Bilgilerin önceki bilgiyle ilişkilendirilmesine yardımcı olmak ve</a:t>
            </a:r>
            <a:endParaRPr sz="2000">
              <a:solidFill>
                <a:schemeClr val="dk1"/>
              </a:solidFill>
              <a:latin typeface="Arial"/>
              <a:ea typeface="Arial"/>
              <a:cs typeface="Arial"/>
              <a:sym typeface="Arial"/>
            </a:endParaRPr>
          </a:p>
          <a:p>
            <a:pPr indent="0" lvl="0" marL="355600" marR="0" rtl="0" algn="l">
              <a:lnSpc>
                <a:spcPct val="108000"/>
              </a:lnSpc>
              <a:spcBef>
                <a:spcPts val="0"/>
              </a:spcBef>
              <a:spcAft>
                <a:spcPts val="0"/>
              </a:spcAft>
              <a:buNone/>
            </a:pPr>
            <a:r>
              <a:rPr lang="tr-TR" sz="2000">
                <a:solidFill>
                  <a:schemeClr val="dk1"/>
                </a:solidFill>
                <a:latin typeface="Arial"/>
                <a:ea typeface="Arial"/>
                <a:cs typeface="Arial"/>
                <a:sym typeface="Arial"/>
              </a:rPr>
              <a:t>araştırmalara imkân vermek (Balcı, 2005, 57).</a:t>
            </a:r>
            <a:endParaRPr sz="2000">
              <a:solidFill>
                <a:schemeClr val="dk1"/>
              </a:solidFill>
              <a:latin typeface="Arial"/>
              <a:ea typeface="Arial"/>
              <a:cs typeface="Arial"/>
              <a:sym typeface="Arial"/>
            </a:endParaRPr>
          </a:p>
        </p:txBody>
      </p:sp>
      <p:sp>
        <p:nvSpPr>
          <p:cNvPr id="714" name="Google Shape;714;p8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88"/>
          <p:cNvSpPr txBox="1"/>
          <p:nvPr>
            <p:ph type="title"/>
          </p:nvPr>
        </p:nvSpPr>
        <p:spPr>
          <a:xfrm>
            <a:off x="274116" y="337769"/>
            <a:ext cx="4416425" cy="6661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tr-TR" sz="4200">
                <a:solidFill>
                  <a:srgbClr val="FFFFFF"/>
                </a:solidFill>
                <a:latin typeface="Arial"/>
                <a:ea typeface="Arial"/>
                <a:cs typeface="Arial"/>
                <a:sym typeface="Arial"/>
              </a:rPr>
              <a:t>Kaynak Taraması</a:t>
            </a:r>
            <a:endParaRPr sz="4200">
              <a:latin typeface="Arial"/>
              <a:ea typeface="Arial"/>
              <a:cs typeface="Arial"/>
              <a:sym typeface="Arial"/>
            </a:endParaRPr>
          </a:p>
        </p:txBody>
      </p:sp>
      <p:sp>
        <p:nvSpPr>
          <p:cNvPr id="720" name="Google Shape;720;p88"/>
          <p:cNvSpPr txBox="1"/>
          <p:nvPr/>
        </p:nvSpPr>
        <p:spPr>
          <a:xfrm>
            <a:off x="688340" y="1918842"/>
            <a:ext cx="7708900" cy="3757295"/>
          </a:xfrm>
          <a:prstGeom prst="rect">
            <a:avLst/>
          </a:prstGeom>
          <a:noFill/>
          <a:ln>
            <a:noFill/>
          </a:ln>
        </p:spPr>
        <p:txBody>
          <a:bodyPr anchorCtr="0" anchor="t" bIns="0" lIns="0" spcFirstLastPara="1" rIns="0" wrap="square" tIns="85725">
            <a:spAutoFit/>
          </a:bodyPr>
          <a:lstStyle/>
          <a:p>
            <a:pPr indent="-5079" lvl="0" marL="355600" marR="147320" rtl="0" algn="l">
              <a:lnSpc>
                <a:spcPct val="80000"/>
              </a:lnSpc>
              <a:spcBef>
                <a:spcPts val="0"/>
              </a:spcBef>
              <a:spcAft>
                <a:spcPts val="0"/>
              </a:spcAft>
              <a:buNone/>
            </a:pPr>
            <a:r>
              <a:rPr lang="tr-TR" sz="2400">
                <a:solidFill>
                  <a:schemeClr val="dk1"/>
                </a:solidFill>
                <a:latin typeface="Arial"/>
                <a:ea typeface="Arial"/>
                <a:cs typeface="Arial"/>
                <a:sym typeface="Arial"/>
              </a:rPr>
              <a:t>Kaynak taraması “ön kaynak taraması” ve “detaylı  kaynak taraması” olmak üzere ikiye ayrılır. İki kaynak  taramasının da amacı ve yöntemi birbirinden farklıdır.  (</a:t>
            </a:r>
            <a:r>
              <a:rPr lang="tr-TR" sz="2400" u="sng">
                <a:solidFill>
                  <a:srgbClr val="996666"/>
                </a:solidFill>
                <a:latin typeface="Arial"/>
                <a:ea typeface="Arial"/>
                <a:cs typeface="Arial"/>
                <a:sym typeface="Arial"/>
                <a:hlinkClick r:id="rId3">
                  <a:extLst>
                    <a:ext uri="{A12FA001-AC4F-418D-AE19-62706E023703}">
                      <ahyp:hlinkClr val="tx"/>
                    </a:ext>
                  </a:extLst>
                </a:hlinkClick>
              </a:rPr>
              <a:t>www.mcozden.com</a:t>
            </a:r>
            <a:r>
              <a:rPr lang="tr-TR"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a:p>
            <a:pPr indent="-343535" lvl="0" marL="355600" marR="0" rtl="0" algn="l">
              <a:lnSpc>
                <a:spcPct val="100000"/>
              </a:lnSpc>
              <a:spcBef>
                <a:spcPts val="0"/>
              </a:spcBef>
              <a:spcAft>
                <a:spcPts val="0"/>
              </a:spcAft>
              <a:buClr>
                <a:srgbClr val="996666"/>
              </a:buClr>
              <a:buSzPts val="1900"/>
              <a:buFont typeface="Noto Sans Symbols"/>
              <a:buChar char="●"/>
            </a:pPr>
            <a:r>
              <a:rPr b="1" lang="tr-TR" sz="2400">
                <a:solidFill>
                  <a:schemeClr val="dk1"/>
                </a:solidFill>
                <a:latin typeface="Arial"/>
                <a:ea typeface="Arial"/>
                <a:cs typeface="Arial"/>
                <a:sym typeface="Arial"/>
              </a:rPr>
              <a:t>Ön Kaynak Taraması</a:t>
            </a:r>
            <a:endParaRPr sz="2400">
              <a:solidFill>
                <a:schemeClr val="dk1"/>
              </a:solidFill>
              <a:latin typeface="Arial"/>
              <a:ea typeface="Arial"/>
              <a:cs typeface="Arial"/>
              <a:sym typeface="Arial"/>
            </a:endParaRPr>
          </a:p>
          <a:p>
            <a:pPr indent="-343535" lvl="0" marL="355600" marR="191770" rtl="0" algn="l">
              <a:lnSpc>
                <a:spcPct val="80000"/>
              </a:lnSpc>
              <a:spcBef>
                <a:spcPts val="580"/>
              </a:spcBef>
              <a:spcAft>
                <a:spcPts val="0"/>
              </a:spcAft>
              <a:buClr>
                <a:srgbClr val="996666"/>
              </a:buClr>
              <a:buSzPts val="1900"/>
              <a:buFont typeface="Noto Sans Symbols"/>
              <a:buChar char="●"/>
            </a:pPr>
            <a:r>
              <a:rPr lang="tr-TR" sz="2400">
                <a:solidFill>
                  <a:schemeClr val="dk1"/>
                </a:solidFill>
                <a:latin typeface="Arial"/>
                <a:ea typeface="Arial"/>
                <a:cs typeface="Arial"/>
                <a:sym typeface="Arial"/>
              </a:rPr>
              <a:t>Ana amacı; detaylı konu başlıklarının belirlenmesi,  yöntemi de; ana konu başlığına göre yapılan rasgele  taramadır. Yani herhangi bir araştırma konusunun  detaylı konu başlıklarını belirleyebilmek için, az çok o</a:t>
            </a:r>
            <a:endParaRPr sz="2400">
              <a:solidFill>
                <a:schemeClr val="dk1"/>
              </a:solidFill>
              <a:latin typeface="Arial"/>
              <a:ea typeface="Arial"/>
              <a:cs typeface="Arial"/>
              <a:sym typeface="Arial"/>
            </a:endParaRPr>
          </a:p>
          <a:p>
            <a:pPr indent="0" lvl="0" marL="355600" marR="5080" rtl="0" algn="l">
              <a:lnSpc>
                <a:spcPct val="80000"/>
              </a:lnSpc>
              <a:spcBef>
                <a:spcPts val="0"/>
              </a:spcBef>
              <a:spcAft>
                <a:spcPts val="0"/>
              </a:spcAft>
              <a:buNone/>
            </a:pPr>
            <a:r>
              <a:rPr lang="tr-TR" sz="2400">
                <a:solidFill>
                  <a:schemeClr val="dk1"/>
                </a:solidFill>
                <a:latin typeface="Arial"/>
                <a:ea typeface="Arial"/>
                <a:cs typeface="Arial"/>
                <a:sym typeface="Arial"/>
              </a:rPr>
              <a:t>konu hakkında bir fikir sahibi olmak gerekmektedir. Ön  kaynak taraması, genellikle konulara göre yapılabilir.  (www.mcozden.com).</a:t>
            </a:r>
            <a:endParaRPr sz="2400">
              <a:solidFill>
                <a:schemeClr val="dk1"/>
              </a:solidFill>
              <a:latin typeface="Arial"/>
              <a:ea typeface="Arial"/>
              <a:cs typeface="Arial"/>
              <a:sym typeface="Arial"/>
            </a:endParaRPr>
          </a:p>
        </p:txBody>
      </p:sp>
      <p:sp>
        <p:nvSpPr>
          <p:cNvPr id="721" name="Google Shape;721;p8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89"/>
          <p:cNvSpPr txBox="1"/>
          <p:nvPr/>
        </p:nvSpPr>
        <p:spPr>
          <a:xfrm>
            <a:off x="688340" y="1552397"/>
            <a:ext cx="7722234" cy="4855210"/>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rgbClr val="996666"/>
              </a:buClr>
              <a:buSzPts val="1900"/>
              <a:buFont typeface="Noto Sans Symbols"/>
              <a:buChar char="●"/>
            </a:pPr>
            <a:r>
              <a:rPr b="1" lang="tr-TR" sz="2400">
                <a:solidFill>
                  <a:schemeClr val="dk1"/>
                </a:solidFill>
                <a:latin typeface="Arial"/>
                <a:ea typeface="Arial"/>
                <a:cs typeface="Arial"/>
                <a:sym typeface="Arial"/>
              </a:rPr>
              <a:t>Detaylı Kaynak Taraması</a:t>
            </a:r>
            <a:endParaRPr sz="2400">
              <a:solidFill>
                <a:schemeClr val="dk1"/>
              </a:solidFill>
              <a:latin typeface="Arial"/>
              <a:ea typeface="Arial"/>
              <a:cs typeface="Arial"/>
              <a:sym typeface="Arial"/>
            </a:endParaRPr>
          </a:p>
          <a:p>
            <a:pPr indent="-343535" lvl="0" marL="355600" marR="140335" rtl="0" algn="l">
              <a:lnSpc>
                <a:spcPct val="80000"/>
              </a:lnSpc>
              <a:spcBef>
                <a:spcPts val="580"/>
              </a:spcBef>
              <a:spcAft>
                <a:spcPts val="0"/>
              </a:spcAft>
              <a:buClr>
                <a:srgbClr val="996666"/>
              </a:buClr>
              <a:buSzPts val="1900"/>
              <a:buFont typeface="Noto Sans Symbols"/>
              <a:buChar char="●"/>
            </a:pPr>
            <a:r>
              <a:rPr lang="tr-TR" sz="2400">
                <a:solidFill>
                  <a:schemeClr val="dk1"/>
                </a:solidFill>
                <a:latin typeface="Arial"/>
                <a:ea typeface="Arial"/>
                <a:cs typeface="Arial"/>
                <a:sym typeface="Arial"/>
              </a:rPr>
              <a:t>Ana amacı, yapacağınız araştırma ile ilgili tüm ana ve  önemli kaynaklar ile araştırmanızı destekleyebilecek  yardımcı kaynaklara ulaşmaktır. Yöntemi ise belirli  kaynakları araştırmaktır. Ön kaynak taraması ile hem  detaylı konu başlıkları, hem de ana konu başlığı  itibariyle önemli kaynaklar belirlenir. Bu aşamada  detaylı konu başlıklarına göre kütüphaneler ve</a:t>
            </a:r>
            <a:endParaRPr sz="2400">
              <a:solidFill>
                <a:schemeClr val="dk1"/>
              </a:solidFill>
              <a:latin typeface="Arial"/>
              <a:ea typeface="Arial"/>
              <a:cs typeface="Arial"/>
              <a:sym typeface="Arial"/>
            </a:endParaRPr>
          </a:p>
          <a:p>
            <a:pPr indent="0" lvl="0" marL="355600" marR="0" rtl="0" algn="l">
              <a:lnSpc>
                <a:spcPct val="83916"/>
              </a:lnSpc>
              <a:spcBef>
                <a:spcPts val="0"/>
              </a:spcBef>
              <a:spcAft>
                <a:spcPts val="0"/>
              </a:spcAft>
              <a:buNone/>
            </a:pPr>
            <a:r>
              <a:rPr lang="tr-TR" sz="2400">
                <a:solidFill>
                  <a:schemeClr val="dk1"/>
                </a:solidFill>
                <a:latin typeface="Arial"/>
                <a:ea typeface="Arial"/>
                <a:cs typeface="Arial"/>
                <a:sym typeface="Arial"/>
              </a:rPr>
              <a:t>internetten kaynak taraması yapılabilir. Ayrıca, sıklık</a:t>
            </a:r>
            <a:endParaRPr sz="2400">
              <a:solidFill>
                <a:schemeClr val="dk1"/>
              </a:solidFill>
              <a:latin typeface="Arial"/>
              <a:ea typeface="Arial"/>
              <a:cs typeface="Arial"/>
              <a:sym typeface="Arial"/>
            </a:endParaRPr>
          </a:p>
          <a:p>
            <a:pPr indent="0" lvl="0" marL="355600" marR="33020" rtl="0" algn="l">
              <a:lnSpc>
                <a:spcPct val="80000"/>
              </a:lnSpc>
              <a:spcBef>
                <a:spcPts val="290"/>
              </a:spcBef>
              <a:spcAft>
                <a:spcPts val="0"/>
              </a:spcAft>
              <a:buNone/>
            </a:pPr>
            <a:r>
              <a:rPr lang="tr-TR" sz="2400">
                <a:solidFill>
                  <a:schemeClr val="dk1"/>
                </a:solidFill>
                <a:latin typeface="Arial"/>
                <a:ea typeface="Arial"/>
                <a:cs typeface="Arial"/>
                <a:sym typeface="Arial"/>
              </a:rPr>
              <a:t>analizine göre en önemli kaynakların nerelerde olduğu  ve bunlara nasıl ulaşılabileceğinin belirlenmesi de  detaylı kaynak taraması sırasında yapılan</a:t>
            </a:r>
            <a:endParaRPr sz="2400">
              <a:solidFill>
                <a:schemeClr val="dk1"/>
              </a:solidFill>
              <a:latin typeface="Arial"/>
              <a:ea typeface="Arial"/>
              <a:cs typeface="Arial"/>
              <a:sym typeface="Arial"/>
            </a:endParaRPr>
          </a:p>
          <a:p>
            <a:pPr indent="0" lvl="0" marL="355600" marR="0" rtl="0" algn="l">
              <a:lnSpc>
                <a:spcPct val="83916"/>
              </a:lnSpc>
              <a:spcBef>
                <a:spcPts val="0"/>
              </a:spcBef>
              <a:spcAft>
                <a:spcPts val="0"/>
              </a:spcAft>
              <a:buNone/>
            </a:pPr>
            <a:r>
              <a:rPr lang="tr-TR" sz="2400">
                <a:solidFill>
                  <a:schemeClr val="dk1"/>
                </a:solidFill>
                <a:latin typeface="Arial"/>
                <a:ea typeface="Arial"/>
                <a:cs typeface="Arial"/>
                <a:sym typeface="Arial"/>
              </a:rPr>
              <a:t>faaliyetlerdendir. Yazar adına göre tarama ise, ancak</a:t>
            </a:r>
            <a:endParaRPr sz="2400">
              <a:solidFill>
                <a:schemeClr val="dk1"/>
              </a:solidFill>
              <a:latin typeface="Arial"/>
              <a:ea typeface="Arial"/>
              <a:cs typeface="Arial"/>
              <a:sym typeface="Arial"/>
            </a:endParaRPr>
          </a:p>
          <a:p>
            <a:pPr indent="0" lvl="0" marL="355600" marR="5080" rtl="0" algn="l">
              <a:lnSpc>
                <a:spcPct val="95833"/>
              </a:lnSpc>
              <a:spcBef>
                <a:spcPts val="270"/>
              </a:spcBef>
              <a:spcAft>
                <a:spcPts val="0"/>
              </a:spcAft>
              <a:buNone/>
            </a:pPr>
            <a:r>
              <a:rPr lang="tr-TR" sz="2400">
                <a:solidFill>
                  <a:schemeClr val="dk1"/>
                </a:solidFill>
                <a:latin typeface="Arial"/>
                <a:ea typeface="Arial"/>
                <a:cs typeface="Arial"/>
                <a:sym typeface="Arial"/>
              </a:rPr>
              <a:t>detaylı kaynak taraması aşamasında, belirli bir yazarın  belirli bir kaynağına ya da diğer eserlerine ulaşmak  için yapılabilir (</a:t>
            </a:r>
            <a:r>
              <a:rPr lang="tr-TR" sz="2400" u="sng">
                <a:solidFill>
                  <a:srgbClr val="996666"/>
                </a:solidFill>
                <a:latin typeface="Arial"/>
                <a:ea typeface="Arial"/>
                <a:cs typeface="Arial"/>
                <a:sym typeface="Arial"/>
                <a:hlinkClick r:id="rId3">
                  <a:extLst>
                    <a:ext uri="{A12FA001-AC4F-418D-AE19-62706E023703}">
                      <ahyp:hlinkClr val="tx"/>
                    </a:ext>
                  </a:extLst>
                </a:hlinkClick>
              </a:rPr>
              <a:t>www.mcozden.com</a:t>
            </a:r>
            <a:r>
              <a:rPr lang="tr-TR"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sp>
        <p:nvSpPr>
          <p:cNvPr id="727" name="Google Shape;727;p8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90"/>
          <p:cNvSpPr txBox="1"/>
          <p:nvPr>
            <p:ph type="title"/>
          </p:nvPr>
        </p:nvSpPr>
        <p:spPr>
          <a:xfrm>
            <a:off x="274116" y="474929"/>
            <a:ext cx="5276215" cy="4064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tr-TR" sz="2500">
                <a:solidFill>
                  <a:srgbClr val="FFFFFF"/>
                </a:solidFill>
                <a:latin typeface="Arial"/>
                <a:ea typeface="Arial"/>
                <a:cs typeface="Arial"/>
                <a:sym typeface="Arial"/>
              </a:rPr>
              <a:t>LİTERATÜR TARAMA SİSTEMLERİ</a:t>
            </a:r>
            <a:endParaRPr sz="2500">
              <a:latin typeface="Arial"/>
              <a:ea typeface="Arial"/>
              <a:cs typeface="Arial"/>
              <a:sym typeface="Arial"/>
            </a:endParaRPr>
          </a:p>
        </p:txBody>
      </p:sp>
      <p:sp>
        <p:nvSpPr>
          <p:cNvPr id="733" name="Google Shape;733;p90"/>
          <p:cNvSpPr txBox="1"/>
          <p:nvPr/>
        </p:nvSpPr>
        <p:spPr>
          <a:xfrm>
            <a:off x="688340" y="1538476"/>
            <a:ext cx="5045710" cy="4251325"/>
          </a:xfrm>
          <a:prstGeom prst="rect">
            <a:avLst/>
          </a:prstGeom>
          <a:noFill/>
          <a:ln>
            <a:noFill/>
          </a:ln>
        </p:spPr>
        <p:txBody>
          <a:bodyPr anchorCtr="0" anchor="t" bIns="0" lIns="0" spcFirstLastPara="1" rIns="0" wrap="square" tIns="55875">
            <a:spAutoFit/>
          </a:bodyPr>
          <a:lstStyle/>
          <a:p>
            <a:pPr indent="-610235" lvl="0" marL="622300" marR="0" rtl="0" algn="l">
              <a:lnSpc>
                <a:spcPct val="100000"/>
              </a:lnSpc>
              <a:spcBef>
                <a:spcPts val="0"/>
              </a:spcBef>
              <a:spcAft>
                <a:spcPts val="0"/>
              </a:spcAft>
              <a:buClr>
                <a:srgbClr val="996666"/>
              </a:buClr>
              <a:buSzPts val="2250"/>
              <a:buFont typeface="Arial"/>
              <a:buAutoNum type="arabicPeriod"/>
            </a:pPr>
            <a:r>
              <a:rPr lang="tr-TR" sz="2800">
                <a:solidFill>
                  <a:schemeClr val="dk1"/>
                </a:solidFill>
                <a:latin typeface="Arial"/>
                <a:ea typeface="Arial"/>
                <a:cs typeface="Arial"/>
                <a:sym typeface="Arial"/>
              </a:rPr>
              <a:t>Uzmanlar</a:t>
            </a:r>
            <a:endParaRPr sz="2800">
              <a:solidFill>
                <a:schemeClr val="dk1"/>
              </a:solidFill>
              <a:latin typeface="Arial"/>
              <a:ea typeface="Arial"/>
              <a:cs typeface="Arial"/>
              <a:sym typeface="Arial"/>
            </a:endParaRPr>
          </a:p>
          <a:p>
            <a:pPr indent="-610235" lvl="0" marL="622300" marR="0" rtl="0" algn="l">
              <a:lnSpc>
                <a:spcPct val="100000"/>
              </a:lnSpc>
              <a:spcBef>
                <a:spcPts val="335"/>
              </a:spcBef>
              <a:spcAft>
                <a:spcPts val="0"/>
              </a:spcAft>
              <a:buClr>
                <a:srgbClr val="996666"/>
              </a:buClr>
              <a:buSzPts val="2250"/>
              <a:buFont typeface="Arial"/>
              <a:buAutoNum type="arabicPeriod"/>
            </a:pPr>
            <a:r>
              <a:rPr lang="tr-TR" sz="2800">
                <a:solidFill>
                  <a:schemeClr val="dk1"/>
                </a:solidFill>
                <a:latin typeface="Arial"/>
                <a:ea typeface="Arial"/>
                <a:cs typeface="Arial"/>
                <a:sym typeface="Arial"/>
              </a:rPr>
              <a:t>Kütüphaneler/kitaplıklar</a:t>
            </a:r>
            <a:endParaRPr sz="2800">
              <a:solidFill>
                <a:schemeClr val="dk1"/>
              </a:solidFill>
              <a:latin typeface="Arial"/>
              <a:ea typeface="Arial"/>
              <a:cs typeface="Arial"/>
              <a:sym typeface="Arial"/>
            </a:endParaRPr>
          </a:p>
          <a:p>
            <a:pPr indent="-610235" lvl="0" marL="622300" marR="0" rtl="0" algn="l">
              <a:lnSpc>
                <a:spcPct val="100000"/>
              </a:lnSpc>
              <a:spcBef>
                <a:spcPts val="335"/>
              </a:spcBef>
              <a:spcAft>
                <a:spcPts val="0"/>
              </a:spcAft>
              <a:buClr>
                <a:srgbClr val="996666"/>
              </a:buClr>
              <a:buSzPts val="2250"/>
              <a:buFont typeface="Arial"/>
              <a:buAutoNum type="arabicPeriod"/>
            </a:pPr>
            <a:r>
              <a:rPr lang="tr-TR" sz="2800">
                <a:solidFill>
                  <a:schemeClr val="dk1"/>
                </a:solidFill>
                <a:latin typeface="Arial"/>
                <a:ea typeface="Arial"/>
                <a:cs typeface="Arial"/>
                <a:sym typeface="Arial"/>
              </a:rPr>
              <a:t>Belgelikler (arşivler)</a:t>
            </a:r>
            <a:endParaRPr sz="2800">
              <a:solidFill>
                <a:schemeClr val="dk1"/>
              </a:solidFill>
              <a:latin typeface="Arial"/>
              <a:ea typeface="Arial"/>
              <a:cs typeface="Arial"/>
              <a:sym typeface="Arial"/>
            </a:endParaRPr>
          </a:p>
          <a:p>
            <a:pPr indent="-610235" lvl="0" marL="622300" marR="0" rtl="0" algn="l">
              <a:lnSpc>
                <a:spcPct val="100000"/>
              </a:lnSpc>
              <a:spcBef>
                <a:spcPts val="340"/>
              </a:spcBef>
              <a:spcAft>
                <a:spcPts val="0"/>
              </a:spcAft>
              <a:buClr>
                <a:srgbClr val="996666"/>
              </a:buClr>
              <a:buSzPts val="2250"/>
              <a:buFont typeface="Arial"/>
              <a:buAutoNum type="arabicPeriod"/>
            </a:pPr>
            <a:r>
              <a:rPr lang="tr-TR" sz="2800">
                <a:solidFill>
                  <a:schemeClr val="dk1"/>
                </a:solidFill>
                <a:latin typeface="Arial"/>
                <a:ea typeface="Arial"/>
                <a:cs typeface="Arial"/>
                <a:sym typeface="Arial"/>
              </a:rPr>
              <a:t>Kitaplar</a:t>
            </a:r>
            <a:endParaRPr sz="2800">
              <a:solidFill>
                <a:schemeClr val="dk1"/>
              </a:solidFill>
              <a:latin typeface="Arial"/>
              <a:ea typeface="Arial"/>
              <a:cs typeface="Arial"/>
              <a:sym typeface="Arial"/>
            </a:endParaRPr>
          </a:p>
          <a:p>
            <a:pPr indent="-610235" lvl="0" marL="622300" marR="0" rtl="0" algn="l">
              <a:lnSpc>
                <a:spcPct val="100000"/>
              </a:lnSpc>
              <a:spcBef>
                <a:spcPts val="335"/>
              </a:spcBef>
              <a:spcAft>
                <a:spcPts val="0"/>
              </a:spcAft>
              <a:buClr>
                <a:srgbClr val="996666"/>
              </a:buClr>
              <a:buSzPts val="2250"/>
              <a:buFont typeface="Arial"/>
              <a:buAutoNum type="arabicPeriod"/>
            </a:pPr>
            <a:r>
              <a:rPr lang="tr-TR" sz="2800">
                <a:solidFill>
                  <a:schemeClr val="dk1"/>
                </a:solidFill>
                <a:latin typeface="Arial"/>
                <a:ea typeface="Arial"/>
                <a:cs typeface="Arial"/>
                <a:sym typeface="Arial"/>
              </a:rPr>
              <a:t>Dergiler</a:t>
            </a:r>
            <a:endParaRPr sz="2800">
              <a:solidFill>
                <a:schemeClr val="dk1"/>
              </a:solidFill>
              <a:latin typeface="Arial"/>
              <a:ea typeface="Arial"/>
              <a:cs typeface="Arial"/>
              <a:sym typeface="Arial"/>
            </a:endParaRPr>
          </a:p>
          <a:p>
            <a:pPr indent="-610235" lvl="0" marL="622300" marR="0" rtl="0" algn="l">
              <a:lnSpc>
                <a:spcPct val="100000"/>
              </a:lnSpc>
              <a:spcBef>
                <a:spcPts val="335"/>
              </a:spcBef>
              <a:spcAft>
                <a:spcPts val="0"/>
              </a:spcAft>
              <a:buClr>
                <a:srgbClr val="996666"/>
              </a:buClr>
              <a:buSzPts val="2250"/>
              <a:buFont typeface="Arial"/>
              <a:buAutoNum type="arabicPeriod"/>
            </a:pPr>
            <a:r>
              <a:rPr lang="tr-TR" sz="2800">
                <a:solidFill>
                  <a:schemeClr val="dk1"/>
                </a:solidFill>
                <a:latin typeface="Arial"/>
                <a:ea typeface="Arial"/>
                <a:cs typeface="Arial"/>
                <a:sym typeface="Arial"/>
              </a:rPr>
              <a:t>Tezler</a:t>
            </a:r>
            <a:endParaRPr sz="2800">
              <a:solidFill>
                <a:schemeClr val="dk1"/>
              </a:solidFill>
              <a:latin typeface="Arial"/>
              <a:ea typeface="Arial"/>
              <a:cs typeface="Arial"/>
              <a:sym typeface="Arial"/>
            </a:endParaRPr>
          </a:p>
          <a:p>
            <a:pPr indent="-610235" lvl="0" marL="622300" marR="0" rtl="0" algn="l">
              <a:lnSpc>
                <a:spcPct val="100000"/>
              </a:lnSpc>
              <a:spcBef>
                <a:spcPts val="340"/>
              </a:spcBef>
              <a:spcAft>
                <a:spcPts val="0"/>
              </a:spcAft>
              <a:buClr>
                <a:srgbClr val="996666"/>
              </a:buClr>
              <a:buSzPts val="2250"/>
              <a:buFont typeface="Arial"/>
              <a:buAutoNum type="arabicPeriod"/>
            </a:pPr>
            <a:r>
              <a:rPr lang="tr-TR" sz="2800">
                <a:solidFill>
                  <a:schemeClr val="dk1"/>
                </a:solidFill>
                <a:latin typeface="Arial"/>
                <a:ea typeface="Arial"/>
                <a:cs typeface="Arial"/>
                <a:sym typeface="Arial"/>
              </a:rPr>
              <a:t>Konferans dokümanları</a:t>
            </a:r>
            <a:endParaRPr sz="2800">
              <a:solidFill>
                <a:schemeClr val="dk1"/>
              </a:solidFill>
              <a:latin typeface="Arial"/>
              <a:ea typeface="Arial"/>
              <a:cs typeface="Arial"/>
              <a:sym typeface="Arial"/>
            </a:endParaRPr>
          </a:p>
          <a:p>
            <a:pPr indent="-610235" lvl="0" marL="622300" marR="0" rtl="0" algn="l">
              <a:lnSpc>
                <a:spcPct val="100000"/>
              </a:lnSpc>
              <a:spcBef>
                <a:spcPts val="335"/>
              </a:spcBef>
              <a:spcAft>
                <a:spcPts val="0"/>
              </a:spcAft>
              <a:buClr>
                <a:srgbClr val="996666"/>
              </a:buClr>
              <a:buSzPts val="2250"/>
              <a:buFont typeface="Arial"/>
              <a:buAutoNum type="arabicPeriod"/>
            </a:pPr>
            <a:r>
              <a:rPr lang="tr-TR" sz="2800">
                <a:solidFill>
                  <a:schemeClr val="dk1"/>
                </a:solidFill>
                <a:latin typeface="Arial"/>
                <a:ea typeface="Arial"/>
                <a:cs typeface="Arial"/>
                <a:sym typeface="Arial"/>
              </a:rPr>
              <a:t>Önceki araştırma taramaları</a:t>
            </a:r>
            <a:endParaRPr sz="2800">
              <a:solidFill>
                <a:schemeClr val="dk1"/>
              </a:solidFill>
              <a:latin typeface="Arial"/>
              <a:ea typeface="Arial"/>
              <a:cs typeface="Arial"/>
              <a:sym typeface="Arial"/>
            </a:endParaRPr>
          </a:p>
          <a:p>
            <a:pPr indent="-610235" lvl="0" marL="622300" marR="0" rtl="0" algn="l">
              <a:lnSpc>
                <a:spcPct val="100000"/>
              </a:lnSpc>
              <a:spcBef>
                <a:spcPts val="340"/>
              </a:spcBef>
              <a:spcAft>
                <a:spcPts val="0"/>
              </a:spcAft>
              <a:buClr>
                <a:srgbClr val="996666"/>
              </a:buClr>
              <a:buSzPts val="2250"/>
              <a:buFont typeface="Arial"/>
              <a:buAutoNum type="arabicPeriod"/>
            </a:pPr>
            <a:r>
              <a:rPr lang="tr-TR" sz="2800">
                <a:solidFill>
                  <a:schemeClr val="dk1"/>
                </a:solidFill>
                <a:latin typeface="Arial"/>
                <a:ea typeface="Arial"/>
                <a:cs typeface="Arial"/>
                <a:sym typeface="Arial"/>
              </a:rPr>
              <a:t>Belgesel tarama süreci</a:t>
            </a:r>
            <a:endParaRPr sz="2800">
              <a:solidFill>
                <a:schemeClr val="dk1"/>
              </a:solidFill>
              <a:latin typeface="Arial"/>
              <a:ea typeface="Arial"/>
              <a:cs typeface="Arial"/>
              <a:sym typeface="Arial"/>
            </a:endParaRPr>
          </a:p>
        </p:txBody>
      </p:sp>
      <p:sp>
        <p:nvSpPr>
          <p:cNvPr id="734" name="Google Shape;734;p9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91"/>
          <p:cNvSpPr txBox="1"/>
          <p:nvPr/>
        </p:nvSpPr>
        <p:spPr>
          <a:xfrm>
            <a:off x="1066800" y="1371600"/>
            <a:ext cx="6304085" cy="480131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tr-TR" sz="1800" u="sng">
                <a:solidFill>
                  <a:schemeClr val="dk1"/>
                </a:solidFill>
                <a:latin typeface="Calibri"/>
                <a:ea typeface="Calibri"/>
                <a:cs typeface="Calibri"/>
                <a:sym typeface="Calibri"/>
                <a:hlinkClick r:id="rId3">
                  <a:extLst>
                    <a:ext uri="{A12FA001-AC4F-418D-AE19-62706E023703}">
                      <ahyp:hlinkClr val="tx"/>
                    </a:ext>
                  </a:extLst>
                </a:hlinkClick>
              </a:rPr>
              <a:t>https://www.otago.ac.nz/library/pdf/Google_Scholar_Tips.pdf</a:t>
            </a:r>
            <a:endParaRPr sz="1800" u="sng">
              <a:solidFill>
                <a:schemeClr val="dk1"/>
              </a:solidFill>
              <a:latin typeface="Calibri"/>
              <a:ea typeface="Calibri"/>
              <a:cs typeface="Calibri"/>
              <a:sym typeface="Calibri"/>
              <a:hlinkClick r:id="rId4">
                <a:extLst>
                  <a:ext uri="{A12FA001-AC4F-418D-AE19-62706E023703}">
                    <ahyp:hlinkClr val="tx"/>
                  </a:ext>
                </a:extLst>
              </a:hlinkClick>
            </a:endParaRPr>
          </a:p>
          <a:p>
            <a:pPr indent="-171450" lvl="0" marL="285750" marR="0" rtl="0" algn="l">
              <a:spcBef>
                <a:spcPts val="0"/>
              </a:spcBef>
              <a:spcAft>
                <a:spcPts val="0"/>
              </a:spcAft>
              <a:buClr>
                <a:schemeClr val="dk1"/>
              </a:buClr>
              <a:buSzPts val="1800"/>
              <a:buFont typeface="Arial"/>
              <a:buNone/>
            </a:pPr>
            <a:r>
              <a:t/>
            </a:r>
            <a:endParaRPr sz="1800" u="sng">
              <a:solidFill>
                <a:schemeClr val="dk1"/>
              </a:solidFill>
              <a:latin typeface="Calibri"/>
              <a:ea typeface="Calibri"/>
              <a:cs typeface="Calibri"/>
              <a:sym typeface="Calibri"/>
              <a:hlinkClick r:id="rId5">
                <a:extLst>
                  <a:ext uri="{A12FA001-AC4F-418D-AE19-62706E023703}">
                    <ahyp:hlinkClr val="tx"/>
                  </a:ext>
                </a:extLst>
              </a:hlinkClick>
            </a:endParaRPr>
          </a:p>
          <a:p>
            <a:pPr indent="-171450" lvl="0" marL="285750" marR="0" rtl="0" algn="l">
              <a:spcBef>
                <a:spcPts val="0"/>
              </a:spcBef>
              <a:spcAft>
                <a:spcPts val="0"/>
              </a:spcAft>
              <a:buClr>
                <a:schemeClr val="dk1"/>
              </a:buClr>
              <a:buSzPts val="1800"/>
              <a:buFont typeface="Arial"/>
              <a:buNone/>
            </a:pPr>
            <a:r>
              <a:t/>
            </a:r>
            <a:endParaRPr sz="1800" u="sng">
              <a:solidFill>
                <a:schemeClr val="dk1"/>
              </a:solidFill>
              <a:latin typeface="Calibri"/>
              <a:ea typeface="Calibri"/>
              <a:cs typeface="Calibri"/>
              <a:sym typeface="Calibri"/>
              <a:hlinkClick r:id="rId6">
                <a:extLst>
                  <a:ext uri="{A12FA001-AC4F-418D-AE19-62706E023703}">
                    <ahyp:hlinkClr val="tx"/>
                  </a:ext>
                </a:extLst>
              </a:hlinkClick>
            </a:endParaRPr>
          </a:p>
          <a:p>
            <a:pPr indent="-285750" lvl="0" marL="285750" marR="0" rtl="0" algn="l">
              <a:spcBef>
                <a:spcPts val="0"/>
              </a:spcBef>
              <a:spcAft>
                <a:spcPts val="0"/>
              </a:spcAft>
              <a:buClr>
                <a:schemeClr val="dk1"/>
              </a:buClr>
              <a:buSzPts val="1800"/>
              <a:buFont typeface="Arial"/>
              <a:buChar char="•"/>
            </a:pPr>
            <a:r>
              <a:rPr lang="tr-TR" sz="1800" u="sng">
                <a:solidFill>
                  <a:schemeClr val="dk1"/>
                </a:solidFill>
                <a:latin typeface="Calibri"/>
                <a:ea typeface="Calibri"/>
                <a:cs typeface="Calibri"/>
                <a:sym typeface="Calibri"/>
                <a:hlinkClick r:id="rId7">
                  <a:extLst>
                    <a:ext uri="{A12FA001-AC4F-418D-AE19-62706E023703}">
                      <ahyp:hlinkClr val="tx"/>
                    </a:ext>
                  </a:extLst>
                </a:hlinkClick>
              </a:rPr>
              <a:t>https://www.egitimpedia.com/googleda-arastirma-yapan-ogrencilerin-bilmesi-gereken-5-ipucu</a:t>
            </a:r>
            <a:endParaRPr/>
          </a:p>
          <a:p>
            <a:pPr indent="-171450" lvl="0" marL="285750" marR="0" rtl="0" algn="l">
              <a:spcBef>
                <a:spcPts val="0"/>
              </a:spcBef>
              <a:spcAft>
                <a:spcPts val="0"/>
              </a:spcAft>
              <a:buClr>
                <a:schemeClr val="dk1"/>
              </a:buClr>
              <a:buSzPts val="1800"/>
              <a:buFont typeface="Arial"/>
              <a:buNone/>
            </a:pPr>
            <a:r>
              <a:t/>
            </a:r>
            <a:endParaRPr sz="1800" u="sng">
              <a:solidFill>
                <a:schemeClr val="dk1"/>
              </a:solidFill>
              <a:latin typeface="Calibri"/>
              <a:ea typeface="Calibri"/>
              <a:cs typeface="Calibri"/>
              <a:sym typeface="Calibri"/>
              <a:hlinkClick r:id="rId8">
                <a:extLst>
                  <a:ext uri="{A12FA001-AC4F-418D-AE19-62706E023703}">
                    <ahyp:hlinkClr val="tx"/>
                  </a:ext>
                </a:extLst>
              </a:hlinkClick>
            </a:endParaRPr>
          </a:p>
          <a:p>
            <a:pPr indent="-171450" lvl="0" marL="285750" marR="0" rtl="0" algn="l">
              <a:spcBef>
                <a:spcPts val="0"/>
              </a:spcBef>
              <a:spcAft>
                <a:spcPts val="0"/>
              </a:spcAft>
              <a:buClr>
                <a:schemeClr val="dk1"/>
              </a:buClr>
              <a:buSzPts val="1800"/>
              <a:buFont typeface="Arial"/>
              <a:buNone/>
            </a:pPr>
            <a:r>
              <a:t/>
            </a:r>
            <a:endParaRPr sz="1800" u="sng">
              <a:solidFill>
                <a:schemeClr val="dk1"/>
              </a:solidFill>
              <a:latin typeface="Calibri"/>
              <a:ea typeface="Calibri"/>
              <a:cs typeface="Calibri"/>
              <a:sym typeface="Calibri"/>
              <a:hlinkClick r:id="rId9">
                <a:extLst>
                  <a:ext uri="{A12FA001-AC4F-418D-AE19-62706E023703}">
                    <ahyp:hlinkClr val="tx"/>
                  </a:ext>
                </a:extLst>
              </a:hlinkClick>
            </a:endParaRPr>
          </a:p>
          <a:p>
            <a:pPr indent="-171450" lvl="0" marL="285750" marR="0" rtl="0" algn="l">
              <a:spcBef>
                <a:spcPts val="0"/>
              </a:spcBef>
              <a:spcAft>
                <a:spcPts val="0"/>
              </a:spcAft>
              <a:buClr>
                <a:schemeClr val="dk1"/>
              </a:buClr>
              <a:buSzPts val="1800"/>
              <a:buFont typeface="Arial"/>
              <a:buNone/>
            </a:pPr>
            <a:r>
              <a:t/>
            </a:r>
            <a:endParaRPr sz="1800" u="sng">
              <a:solidFill>
                <a:schemeClr val="dk1"/>
              </a:solidFill>
              <a:latin typeface="Calibri"/>
              <a:ea typeface="Calibri"/>
              <a:cs typeface="Calibri"/>
              <a:sym typeface="Calibri"/>
              <a:hlinkClick r:id="rId10">
                <a:extLst>
                  <a:ext uri="{A12FA001-AC4F-418D-AE19-62706E023703}">
                    <ahyp:hlinkClr val="tx"/>
                  </a:ext>
                </a:extLst>
              </a:hlinkClick>
            </a:endParaRPr>
          </a:p>
          <a:p>
            <a:pPr indent="-285750" lvl="0" marL="285750" marR="0" rtl="0" algn="l">
              <a:spcBef>
                <a:spcPts val="0"/>
              </a:spcBef>
              <a:spcAft>
                <a:spcPts val="0"/>
              </a:spcAft>
              <a:buClr>
                <a:schemeClr val="dk1"/>
              </a:buClr>
              <a:buSzPts val="1800"/>
              <a:buFont typeface="Arial"/>
              <a:buChar char="•"/>
            </a:pPr>
            <a:r>
              <a:rPr lang="tr-TR" sz="1800" u="sng">
                <a:solidFill>
                  <a:schemeClr val="dk1"/>
                </a:solidFill>
                <a:latin typeface="Calibri"/>
                <a:ea typeface="Calibri"/>
                <a:cs typeface="Calibri"/>
                <a:sym typeface="Calibri"/>
                <a:hlinkClick r:id="rId11">
                  <a:extLst>
                    <a:ext uri="{A12FA001-AC4F-418D-AE19-62706E023703}">
                      <ahyp:hlinkClr val="tx"/>
                    </a:ext>
                  </a:extLst>
                </a:hlinkClick>
              </a:rPr>
              <a:t>https://it.bilgi.edu.tr/tr/bilgi/google-arama-ipuclari/</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tr-TR" sz="1800" u="sng">
                <a:solidFill>
                  <a:schemeClr val="dk1"/>
                </a:solidFill>
                <a:latin typeface="Calibri"/>
                <a:ea typeface="Calibri"/>
                <a:cs typeface="Calibri"/>
                <a:sym typeface="Calibri"/>
                <a:hlinkClick r:id="rId12">
                  <a:extLst>
                    <a:ext uri="{A12FA001-AC4F-418D-AE19-62706E023703}">
                      <ahyp:hlinkClr val="tx"/>
                    </a:ext>
                  </a:extLst>
                </a:hlinkClick>
              </a:rPr>
              <a:t>https://www.enago.com.tr/academy/google-akademik-ile-nasil-arastirma-yapilir/</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tr-TR" sz="1800" u="sng">
                <a:solidFill>
                  <a:schemeClr val="dk1"/>
                </a:solidFill>
                <a:latin typeface="Calibri"/>
                <a:ea typeface="Calibri"/>
                <a:cs typeface="Calibri"/>
                <a:sym typeface="Calibri"/>
                <a:hlinkClick r:id="rId13">
                  <a:extLst>
                    <a:ext uri="{A12FA001-AC4F-418D-AE19-62706E023703}">
                      <ahyp:hlinkClr val="tx"/>
                    </a:ext>
                  </a:extLst>
                </a:hlinkClick>
              </a:rPr>
              <a:t>https://www.teknoblog.com/google-arama-ipuclari/</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0" name="Google Shape;740;p91"/>
          <p:cNvSpPr txBox="1"/>
          <p:nvPr/>
        </p:nvSpPr>
        <p:spPr>
          <a:xfrm>
            <a:off x="1362807" y="501162"/>
            <a:ext cx="4440115"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tr-TR" sz="4000">
                <a:solidFill>
                  <a:srgbClr val="0070C0"/>
                </a:solidFill>
                <a:latin typeface="Calibri"/>
                <a:ea typeface="Calibri"/>
                <a:cs typeface="Calibri"/>
                <a:sym typeface="Calibri"/>
              </a:rPr>
              <a:t>Okuyalım Lütfen !</a:t>
            </a:r>
            <a:endParaRPr b="1" sz="4000">
              <a:solidFill>
                <a:srgbClr val="0070C0"/>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pic>
        <p:nvPicPr>
          <p:cNvPr id="745" name="Google Shape;745;p92"/>
          <p:cNvPicPr preferRelativeResize="0"/>
          <p:nvPr/>
        </p:nvPicPr>
        <p:blipFill rotWithShape="1">
          <a:blip r:embed="rId3">
            <a:alphaModFix/>
          </a:blip>
          <a:srcRect b="0" l="0" r="0" t="0"/>
          <a:stretch/>
        </p:blipFill>
        <p:spPr>
          <a:xfrm>
            <a:off x="1143000" y="990600"/>
            <a:ext cx="6629400" cy="4724400"/>
          </a:xfrm>
          <a:prstGeom prst="rect">
            <a:avLst/>
          </a:prstGeom>
          <a:noFill/>
          <a:ln>
            <a:noFill/>
          </a:ln>
        </p:spPr>
      </p:pic>
      <p:sp>
        <p:nvSpPr>
          <p:cNvPr id="746" name="Google Shape;746;p9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p93"/>
          <p:cNvPicPr preferRelativeResize="0"/>
          <p:nvPr/>
        </p:nvPicPr>
        <p:blipFill rotWithShape="1">
          <a:blip r:embed="rId3">
            <a:alphaModFix/>
          </a:blip>
          <a:srcRect b="0" l="0" r="0" t="0"/>
          <a:stretch/>
        </p:blipFill>
        <p:spPr>
          <a:xfrm>
            <a:off x="511181" y="526676"/>
            <a:ext cx="8632819" cy="490593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p94"/>
          <p:cNvPicPr preferRelativeResize="0"/>
          <p:nvPr/>
        </p:nvPicPr>
        <p:blipFill rotWithShape="1">
          <a:blip r:embed="rId3">
            <a:alphaModFix/>
          </a:blip>
          <a:srcRect b="0" l="0" r="0" t="0"/>
          <a:stretch/>
        </p:blipFill>
        <p:spPr>
          <a:xfrm>
            <a:off x="300789" y="1178314"/>
            <a:ext cx="8229599" cy="5009902"/>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pic>
        <p:nvPicPr>
          <p:cNvPr id="761" name="Google Shape;761;p95"/>
          <p:cNvPicPr preferRelativeResize="0"/>
          <p:nvPr/>
        </p:nvPicPr>
        <p:blipFill rotWithShape="1">
          <a:blip r:embed="rId3">
            <a:alphaModFix/>
          </a:blip>
          <a:srcRect b="0" l="0" r="0" t="0"/>
          <a:stretch/>
        </p:blipFill>
        <p:spPr>
          <a:xfrm>
            <a:off x="166687" y="981075"/>
            <a:ext cx="8810625" cy="489585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pic>
        <p:nvPicPr>
          <p:cNvPr id="766" name="Google Shape;766;p96"/>
          <p:cNvPicPr preferRelativeResize="0"/>
          <p:nvPr/>
        </p:nvPicPr>
        <p:blipFill rotWithShape="1">
          <a:blip r:embed="rId3">
            <a:alphaModFix/>
          </a:blip>
          <a:srcRect b="0" l="0" r="0" t="0"/>
          <a:stretch/>
        </p:blipFill>
        <p:spPr>
          <a:xfrm>
            <a:off x="85725" y="666750"/>
            <a:ext cx="8972550" cy="552450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97"/>
          <p:cNvSpPr txBox="1"/>
          <p:nvPr/>
        </p:nvSpPr>
        <p:spPr>
          <a:xfrm>
            <a:off x="274116" y="24995"/>
            <a:ext cx="7142480" cy="1108075"/>
          </a:xfrm>
          <a:prstGeom prst="rect">
            <a:avLst/>
          </a:prstGeom>
          <a:noFill/>
          <a:ln>
            <a:noFill/>
          </a:ln>
        </p:spPr>
        <p:txBody>
          <a:bodyPr anchorCtr="0" anchor="t" bIns="0" lIns="0" spcFirstLastPara="1" rIns="0" wrap="square" tIns="12050">
            <a:spAutoFit/>
          </a:bodyPr>
          <a:lstStyle/>
          <a:p>
            <a:pPr indent="0" lvl="0" marL="12700" marR="5080" rtl="0" algn="l">
              <a:lnSpc>
                <a:spcPct val="142100"/>
              </a:lnSpc>
              <a:spcBef>
                <a:spcPts val="0"/>
              </a:spcBef>
              <a:spcAft>
                <a:spcPts val="0"/>
              </a:spcAft>
              <a:buNone/>
            </a:pPr>
            <a:r>
              <a:rPr b="1" lang="tr-TR" sz="2500">
                <a:solidFill>
                  <a:srgbClr val="FFFFFF"/>
                </a:solidFill>
                <a:latin typeface="Arial"/>
                <a:ea typeface="Arial"/>
                <a:cs typeface="Arial"/>
                <a:sym typeface="Arial"/>
              </a:rPr>
              <a:t>ELEKTRONİK ORTAMDA LİTERATÜR TARAMA  YÖNTEMİ</a:t>
            </a:r>
            <a:endParaRPr sz="2500">
              <a:solidFill>
                <a:schemeClr val="dk1"/>
              </a:solidFill>
              <a:latin typeface="Arial"/>
              <a:ea typeface="Arial"/>
              <a:cs typeface="Arial"/>
              <a:sym typeface="Arial"/>
            </a:endParaRPr>
          </a:p>
        </p:txBody>
      </p:sp>
      <p:sp>
        <p:nvSpPr>
          <p:cNvPr id="772" name="Google Shape;772;p97"/>
          <p:cNvSpPr txBox="1"/>
          <p:nvPr>
            <p:ph type="title"/>
          </p:nvPr>
        </p:nvSpPr>
        <p:spPr>
          <a:xfrm>
            <a:off x="688340" y="1621358"/>
            <a:ext cx="357124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tr-TR" sz="2550">
                <a:solidFill>
                  <a:srgbClr val="996666"/>
                </a:solidFill>
              </a:rPr>
              <a:t>1.	</a:t>
            </a:r>
            <a:r>
              <a:rPr lang="tr-TR" sz="3200"/>
              <a:t>Konu katalogları</a:t>
            </a:r>
            <a:endParaRPr sz="3200"/>
          </a:p>
        </p:txBody>
      </p:sp>
      <p:sp>
        <p:nvSpPr>
          <p:cNvPr id="773" name="Google Shape;773;p97"/>
          <p:cNvSpPr txBox="1"/>
          <p:nvPr/>
        </p:nvSpPr>
        <p:spPr>
          <a:xfrm>
            <a:off x="688340" y="2110075"/>
            <a:ext cx="5779770" cy="1684020"/>
          </a:xfrm>
          <a:prstGeom prst="rect">
            <a:avLst/>
          </a:prstGeom>
          <a:noFill/>
          <a:ln>
            <a:noFill/>
          </a:ln>
        </p:spPr>
        <p:txBody>
          <a:bodyPr anchorCtr="0" anchor="t" bIns="0" lIns="0" spcFirstLastPara="1" rIns="0" wrap="square" tIns="109850">
            <a:spAutoFit/>
          </a:bodyPr>
          <a:lstStyle/>
          <a:p>
            <a:pPr indent="-610235" lvl="0" marL="622300" marR="0" rtl="0" algn="l">
              <a:lnSpc>
                <a:spcPct val="100000"/>
              </a:lnSpc>
              <a:spcBef>
                <a:spcPts val="0"/>
              </a:spcBef>
              <a:spcAft>
                <a:spcPts val="0"/>
              </a:spcAft>
              <a:buClr>
                <a:srgbClr val="996666"/>
              </a:buClr>
              <a:buSzPts val="2550"/>
              <a:buFont typeface="Arial"/>
              <a:buAutoNum type="arabicPeriod" startAt="2"/>
            </a:pPr>
            <a:r>
              <a:rPr lang="tr-TR" sz="3200">
                <a:solidFill>
                  <a:schemeClr val="dk1"/>
                </a:solidFill>
                <a:latin typeface="Arial"/>
                <a:ea typeface="Arial"/>
                <a:cs typeface="Arial"/>
                <a:sym typeface="Arial"/>
              </a:rPr>
              <a:t>Arama motoru</a:t>
            </a:r>
            <a:endParaRPr sz="3200">
              <a:solidFill>
                <a:schemeClr val="dk1"/>
              </a:solidFill>
              <a:latin typeface="Arial"/>
              <a:ea typeface="Arial"/>
              <a:cs typeface="Arial"/>
              <a:sym typeface="Arial"/>
            </a:endParaRPr>
          </a:p>
          <a:p>
            <a:pPr indent="-610235" lvl="0" marL="622300" marR="0" rtl="0" algn="l">
              <a:lnSpc>
                <a:spcPct val="100000"/>
              </a:lnSpc>
              <a:spcBef>
                <a:spcPts val="770"/>
              </a:spcBef>
              <a:spcAft>
                <a:spcPts val="0"/>
              </a:spcAft>
              <a:buClr>
                <a:srgbClr val="996666"/>
              </a:buClr>
              <a:buSzPts val="2550"/>
              <a:buFont typeface="Arial"/>
              <a:buAutoNum type="arabicPeriod" startAt="2"/>
            </a:pPr>
            <a:r>
              <a:rPr lang="tr-TR" sz="3200">
                <a:solidFill>
                  <a:schemeClr val="dk1"/>
                </a:solidFill>
                <a:latin typeface="Arial"/>
                <a:ea typeface="Arial"/>
                <a:cs typeface="Arial"/>
                <a:sym typeface="Arial"/>
              </a:rPr>
              <a:t>Sanal kütüphaneler</a:t>
            </a:r>
            <a:endParaRPr sz="3200">
              <a:solidFill>
                <a:schemeClr val="dk1"/>
              </a:solidFill>
              <a:latin typeface="Arial"/>
              <a:ea typeface="Arial"/>
              <a:cs typeface="Arial"/>
              <a:sym typeface="Arial"/>
            </a:endParaRPr>
          </a:p>
          <a:p>
            <a:pPr indent="0" lvl="0" marL="622300" marR="0" rtl="0" algn="l">
              <a:lnSpc>
                <a:spcPct val="100000"/>
              </a:lnSpc>
              <a:spcBef>
                <a:spcPts val="0"/>
              </a:spcBef>
              <a:spcAft>
                <a:spcPts val="0"/>
              </a:spcAft>
              <a:buNone/>
            </a:pPr>
            <a:r>
              <a:rPr b="1" lang="tr-TR" sz="3200">
                <a:solidFill>
                  <a:schemeClr val="dk1"/>
                </a:solidFill>
                <a:latin typeface="Arial"/>
                <a:ea typeface="Arial"/>
                <a:cs typeface="Arial"/>
                <a:sym typeface="Arial"/>
              </a:rPr>
              <a:t>(www.sanalkutuphane.net)</a:t>
            </a:r>
            <a:endParaRPr sz="3200">
              <a:solidFill>
                <a:schemeClr val="dk1"/>
              </a:solidFill>
              <a:latin typeface="Arial"/>
              <a:ea typeface="Arial"/>
              <a:cs typeface="Arial"/>
              <a:sym typeface="Arial"/>
            </a:endParaRPr>
          </a:p>
        </p:txBody>
      </p:sp>
      <p:sp>
        <p:nvSpPr>
          <p:cNvPr id="774" name="Google Shape;774;p9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9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pic>
        <p:nvPicPr>
          <p:cNvPr id="780" name="Google Shape;780;p98"/>
          <p:cNvPicPr preferRelativeResize="0"/>
          <p:nvPr/>
        </p:nvPicPr>
        <p:blipFill rotWithShape="1">
          <a:blip r:embed="rId3">
            <a:alphaModFix/>
          </a:blip>
          <a:srcRect b="0" l="0" r="0" t="0"/>
          <a:stretch/>
        </p:blipFill>
        <p:spPr>
          <a:xfrm>
            <a:off x="33867" y="1447800"/>
            <a:ext cx="9110133" cy="4426044"/>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99"/>
          <p:cNvSpPr txBox="1"/>
          <p:nvPr/>
        </p:nvSpPr>
        <p:spPr>
          <a:xfrm>
            <a:off x="274116" y="185419"/>
            <a:ext cx="6664959" cy="406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tr-TR" sz="2500">
                <a:solidFill>
                  <a:srgbClr val="FFFFFF"/>
                </a:solidFill>
                <a:latin typeface="Arial"/>
                <a:ea typeface="Arial"/>
                <a:cs typeface="Arial"/>
                <a:sym typeface="Arial"/>
              </a:rPr>
              <a:t>ARAŞTIRMALARDA HİPOOTEZ BELİRLEME</a:t>
            </a:r>
            <a:endParaRPr sz="2500">
              <a:solidFill>
                <a:schemeClr val="dk1"/>
              </a:solidFill>
              <a:latin typeface="Arial"/>
              <a:ea typeface="Arial"/>
              <a:cs typeface="Arial"/>
              <a:sym typeface="Arial"/>
            </a:endParaRPr>
          </a:p>
        </p:txBody>
      </p:sp>
      <p:sp>
        <p:nvSpPr>
          <p:cNvPr id="786" name="Google Shape;786;p99"/>
          <p:cNvSpPr txBox="1"/>
          <p:nvPr/>
        </p:nvSpPr>
        <p:spPr>
          <a:xfrm>
            <a:off x="688340" y="1621358"/>
            <a:ext cx="7679690" cy="4026535"/>
          </a:xfrm>
          <a:prstGeom prst="rect">
            <a:avLst/>
          </a:prstGeom>
          <a:noFill/>
          <a:ln>
            <a:noFill/>
          </a:ln>
        </p:spPr>
        <p:txBody>
          <a:bodyPr anchorCtr="0" anchor="t" bIns="0" lIns="0" spcFirstLastPara="1" rIns="0" wrap="square" tIns="13325">
            <a:spAutoFit/>
          </a:bodyPr>
          <a:lstStyle/>
          <a:p>
            <a:pPr indent="-343535" lvl="0" marL="355600" marR="5080" rtl="0" algn="l">
              <a:lnSpc>
                <a:spcPct val="100000"/>
              </a:lnSpc>
              <a:spcBef>
                <a:spcPts val="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Hipotez	bir yargı cümlesi veya önermesi  olup, araştırmanın başlangıcında sahip  olduğumuz ön kanaati ya da inancı  yansıtır.</a:t>
            </a:r>
            <a:endParaRPr sz="3200">
              <a:solidFill>
                <a:schemeClr val="dk1"/>
              </a:solidFill>
              <a:latin typeface="Arial"/>
              <a:ea typeface="Arial"/>
              <a:cs typeface="Arial"/>
              <a:sym typeface="Arial"/>
            </a:endParaRPr>
          </a:p>
          <a:p>
            <a:pPr indent="-343535" lvl="0" marL="355600" marR="704850" rtl="0" algn="l">
              <a:lnSpc>
                <a:spcPct val="100000"/>
              </a:lnSpc>
              <a:spcBef>
                <a:spcPts val="77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Hipotezler araştırmanın ispatlanması  gereken önermeleridir. Hipotezler</a:t>
            </a:r>
            <a:endParaRPr sz="3200">
              <a:solidFill>
                <a:schemeClr val="dk1"/>
              </a:solidFill>
              <a:latin typeface="Arial"/>
              <a:ea typeface="Arial"/>
              <a:cs typeface="Arial"/>
              <a:sym typeface="Arial"/>
            </a:endParaRPr>
          </a:p>
          <a:p>
            <a:pPr indent="0" lvl="0" marL="355600" marR="457200" rtl="0" algn="l">
              <a:lnSpc>
                <a:spcPct val="100000"/>
              </a:lnSpc>
              <a:spcBef>
                <a:spcPts val="5"/>
              </a:spcBef>
              <a:spcAft>
                <a:spcPts val="0"/>
              </a:spcAft>
              <a:buNone/>
            </a:pPr>
            <a:r>
              <a:rPr lang="tr-TR" sz="3200">
                <a:solidFill>
                  <a:schemeClr val="dk1"/>
                </a:solidFill>
                <a:latin typeface="Arial"/>
                <a:ea typeface="Arial"/>
                <a:cs typeface="Arial"/>
                <a:sym typeface="Arial"/>
              </a:rPr>
              <a:t>toplanan veriler yardımıyla irdelenir ve  ispatlanır.</a:t>
            </a:r>
            <a:endParaRPr sz="3200">
              <a:solidFill>
                <a:schemeClr val="dk1"/>
              </a:solidFill>
              <a:latin typeface="Arial"/>
              <a:ea typeface="Arial"/>
              <a:cs typeface="Arial"/>
              <a:sym typeface="Arial"/>
            </a:endParaRPr>
          </a:p>
        </p:txBody>
      </p:sp>
      <p:sp>
        <p:nvSpPr>
          <p:cNvPr id="787" name="Google Shape;787;p9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00"/>
          <p:cNvSpPr txBox="1"/>
          <p:nvPr/>
        </p:nvSpPr>
        <p:spPr>
          <a:xfrm>
            <a:off x="688340" y="1621358"/>
            <a:ext cx="7722870" cy="4026535"/>
          </a:xfrm>
          <a:prstGeom prst="rect">
            <a:avLst/>
          </a:prstGeom>
          <a:noFill/>
          <a:ln>
            <a:noFill/>
          </a:ln>
        </p:spPr>
        <p:txBody>
          <a:bodyPr anchorCtr="0" anchor="t" bIns="0" lIns="0" spcFirstLastPara="1" rIns="0" wrap="square" tIns="13325">
            <a:spAutoFit/>
          </a:bodyPr>
          <a:lstStyle/>
          <a:p>
            <a:pPr indent="-343535" lvl="0" marL="355600" marR="5080" rtl="0" algn="l">
              <a:lnSpc>
                <a:spcPct val="100000"/>
              </a:lnSpc>
              <a:spcBef>
                <a:spcPts val="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Alt problemler veya hipotezler, problemin  daha net belirlenmesini sağlar.</a:t>
            </a:r>
            <a:endParaRPr sz="3200">
              <a:solidFill>
                <a:schemeClr val="dk1"/>
              </a:solidFill>
              <a:latin typeface="Arial"/>
              <a:ea typeface="Arial"/>
              <a:cs typeface="Arial"/>
              <a:sym typeface="Arial"/>
            </a:endParaRPr>
          </a:p>
          <a:p>
            <a:pPr indent="-343535" lvl="0" marL="355600" marR="432434" rtl="0" algn="l">
              <a:lnSpc>
                <a:spcPct val="100000"/>
              </a:lnSpc>
              <a:spcBef>
                <a:spcPts val="770"/>
              </a:spcBef>
              <a:spcAft>
                <a:spcPts val="0"/>
              </a:spcAft>
              <a:buClr>
                <a:srgbClr val="996666"/>
              </a:buClr>
              <a:buSzPts val="2550"/>
              <a:buFont typeface="Noto Sans Symbols"/>
              <a:buChar char="●"/>
            </a:pPr>
            <a:r>
              <a:rPr lang="tr-TR" sz="3200">
                <a:solidFill>
                  <a:schemeClr val="dk1"/>
                </a:solidFill>
                <a:latin typeface="Arial"/>
                <a:ea typeface="Arial"/>
                <a:cs typeface="Arial"/>
                <a:sym typeface="Arial"/>
              </a:rPr>
              <a:t>Ancak alt problem mi yoksa hipotez mi  oluşturulacağı önemlidir. Belirli bir  araştırma sorusu, neyi bulmaya  çalıştığımızı belirtir. Hipotez ise, bu  soruya önceden verilmiş yanıt ya da  kanaat cümlesidir.</a:t>
            </a:r>
            <a:endParaRPr sz="3200">
              <a:solidFill>
                <a:schemeClr val="dk1"/>
              </a:solidFill>
              <a:latin typeface="Arial"/>
              <a:ea typeface="Arial"/>
              <a:cs typeface="Arial"/>
              <a:sym typeface="Arial"/>
            </a:endParaRPr>
          </a:p>
        </p:txBody>
      </p:sp>
      <p:sp>
        <p:nvSpPr>
          <p:cNvPr id="793" name="Google Shape;793;p10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01"/>
          <p:cNvSpPr txBox="1"/>
          <p:nvPr/>
        </p:nvSpPr>
        <p:spPr>
          <a:xfrm>
            <a:off x="688340" y="1581734"/>
            <a:ext cx="7313295" cy="3909060"/>
          </a:xfrm>
          <a:prstGeom prst="rect">
            <a:avLst/>
          </a:prstGeom>
          <a:noFill/>
          <a:ln>
            <a:noFill/>
          </a:ln>
        </p:spPr>
        <p:txBody>
          <a:bodyPr anchorCtr="0" anchor="t" bIns="0" lIns="0" spcFirstLastPara="1" rIns="0" wrap="square" tIns="12050">
            <a:spAutoFit/>
          </a:bodyPr>
          <a:lstStyle/>
          <a:p>
            <a:pPr indent="-343535" lvl="0" marL="355600" marR="0" rtl="0" algn="l">
              <a:lnSpc>
                <a:spcPct val="113928"/>
              </a:lnSpc>
              <a:spcBef>
                <a:spcPts val="0"/>
              </a:spcBef>
              <a:spcAft>
                <a:spcPts val="0"/>
              </a:spcAft>
              <a:buClr>
                <a:srgbClr val="996666"/>
              </a:buClr>
              <a:buSzPts val="2250"/>
              <a:buFont typeface="Noto Sans Symbols"/>
              <a:buChar char="●"/>
            </a:pPr>
            <a:r>
              <a:rPr lang="tr-TR" sz="2800">
                <a:solidFill>
                  <a:schemeClr val="dk1"/>
                </a:solidFill>
                <a:latin typeface="Arial"/>
                <a:ea typeface="Arial"/>
                <a:cs typeface="Arial"/>
                <a:sym typeface="Arial"/>
              </a:rPr>
              <a:t>Hipotezler önceki deneyimlere ve</a:t>
            </a:r>
            <a:endParaRPr sz="2800">
              <a:solidFill>
                <a:schemeClr val="dk1"/>
              </a:solidFill>
              <a:latin typeface="Arial"/>
              <a:ea typeface="Arial"/>
              <a:cs typeface="Arial"/>
              <a:sym typeface="Arial"/>
            </a:endParaRPr>
          </a:p>
          <a:p>
            <a:pPr indent="0" lvl="0" marL="355600" marR="360680" rtl="0" algn="l">
              <a:lnSpc>
                <a:spcPct val="107857"/>
              </a:lnSpc>
              <a:spcBef>
                <a:spcPts val="219"/>
              </a:spcBef>
              <a:spcAft>
                <a:spcPts val="0"/>
              </a:spcAft>
              <a:buNone/>
            </a:pPr>
            <a:r>
              <a:rPr lang="tr-TR" sz="2800">
                <a:solidFill>
                  <a:schemeClr val="dk1"/>
                </a:solidFill>
                <a:latin typeface="Arial"/>
                <a:ea typeface="Arial"/>
                <a:cs typeface="Arial"/>
                <a:sym typeface="Arial"/>
              </a:rPr>
              <a:t>araştırmalara dayanır. Her alt araştırma  sorusuna verilecek güvenli yanıtlar yoksa,  hipotez yerine araştırma soruları ile</a:t>
            </a:r>
            <a:endParaRPr sz="2800">
              <a:solidFill>
                <a:schemeClr val="dk1"/>
              </a:solidFill>
              <a:latin typeface="Arial"/>
              <a:ea typeface="Arial"/>
              <a:cs typeface="Arial"/>
              <a:sym typeface="Arial"/>
            </a:endParaRPr>
          </a:p>
          <a:p>
            <a:pPr indent="0" lvl="0" marL="355600" marR="86360" rtl="0" algn="l">
              <a:lnSpc>
                <a:spcPct val="107857"/>
              </a:lnSpc>
              <a:spcBef>
                <a:spcPts val="10"/>
              </a:spcBef>
              <a:spcAft>
                <a:spcPts val="0"/>
              </a:spcAft>
              <a:buNone/>
            </a:pPr>
            <a:r>
              <a:rPr lang="tr-TR" sz="2800">
                <a:solidFill>
                  <a:schemeClr val="dk1"/>
                </a:solidFill>
                <a:latin typeface="Arial"/>
                <a:ea typeface="Arial"/>
                <a:cs typeface="Arial"/>
                <a:sym typeface="Arial"/>
              </a:rPr>
              <a:t>yetinebiliriz. Tümüyle tanıtıcı amaca yönelik  (betimsel) araştırmaların hipotezi olmaz.</a:t>
            </a:r>
            <a:endParaRPr sz="2800">
              <a:solidFill>
                <a:schemeClr val="dk1"/>
              </a:solidFill>
              <a:latin typeface="Arial"/>
              <a:ea typeface="Arial"/>
              <a:cs typeface="Arial"/>
              <a:sym typeface="Arial"/>
            </a:endParaRPr>
          </a:p>
          <a:p>
            <a:pPr indent="0" lvl="0" marL="355600" marR="0" rtl="0" algn="l">
              <a:lnSpc>
                <a:spcPct val="100535"/>
              </a:lnSpc>
              <a:spcBef>
                <a:spcPts val="0"/>
              </a:spcBef>
              <a:spcAft>
                <a:spcPts val="0"/>
              </a:spcAft>
              <a:buNone/>
            </a:pPr>
            <a:r>
              <a:rPr lang="tr-TR" sz="2800">
                <a:solidFill>
                  <a:schemeClr val="dk1"/>
                </a:solidFill>
                <a:latin typeface="Arial"/>
                <a:ea typeface="Arial"/>
                <a:cs typeface="Arial"/>
                <a:sym typeface="Arial"/>
              </a:rPr>
              <a:t>Analitik (açıklayıcı, nedensellik)</a:t>
            </a:r>
            <a:endParaRPr sz="2800">
              <a:solidFill>
                <a:schemeClr val="dk1"/>
              </a:solidFill>
              <a:latin typeface="Arial"/>
              <a:ea typeface="Arial"/>
              <a:cs typeface="Arial"/>
              <a:sym typeface="Arial"/>
            </a:endParaRPr>
          </a:p>
          <a:p>
            <a:pPr indent="0" lvl="0" marL="355600" marR="5080" rtl="0" algn="l">
              <a:lnSpc>
                <a:spcPct val="107857"/>
              </a:lnSpc>
              <a:spcBef>
                <a:spcPts val="220"/>
              </a:spcBef>
              <a:spcAft>
                <a:spcPts val="0"/>
              </a:spcAft>
              <a:buNone/>
            </a:pPr>
            <a:r>
              <a:rPr lang="tr-TR" sz="2800">
                <a:solidFill>
                  <a:schemeClr val="dk1"/>
                </a:solidFill>
                <a:latin typeface="Arial"/>
                <a:ea typeface="Arial"/>
                <a:cs typeface="Arial"/>
                <a:sym typeface="Arial"/>
              </a:rPr>
              <a:t>araştırmalarında hipotez teşkil edilir. Neden,  niçin, nasıl, ne zaman tipte düzenlenmiş  araştırmalarda hipotez teşkil yoluna gidilir.</a:t>
            </a:r>
            <a:endParaRPr sz="2800">
              <a:solidFill>
                <a:schemeClr val="dk1"/>
              </a:solidFill>
              <a:latin typeface="Arial"/>
              <a:ea typeface="Arial"/>
              <a:cs typeface="Arial"/>
              <a:sym typeface="Arial"/>
            </a:endParaRPr>
          </a:p>
        </p:txBody>
      </p:sp>
      <p:sp>
        <p:nvSpPr>
          <p:cNvPr id="799" name="Google Shape;799;p10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02"/>
          <p:cNvSpPr txBox="1"/>
          <p:nvPr>
            <p:ph type="title"/>
          </p:nvPr>
        </p:nvSpPr>
        <p:spPr>
          <a:xfrm>
            <a:off x="1095552" y="1496008"/>
            <a:ext cx="4552315" cy="4686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tr-TR" sz="2900"/>
              <a:t>Hipotezin başlıca özellikleri:</a:t>
            </a:r>
            <a:endParaRPr sz="2900"/>
          </a:p>
        </p:txBody>
      </p:sp>
      <p:sp>
        <p:nvSpPr>
          <p:cNvPr id="805" name="Google Shape;805;p102"/>
          <p:cNvSpPr txBox="1"/>
          <p:nvPr>
            <p:ph idx="1" type="body"/>
          </p:nvPr>
        </p:nvSpPr>
        <p:spPr>
          <a:xfrm>
            <a:off x="1011732" y="1905126"/>
            <a:ext cx="7433309" cy="3385820"/>
          </a:xfrm>
          <a:prstGeom prst="rect">
            <a:avLst/>
          </a:prstGeom>
          <a:noFill/>
          <a:ln>
            <a:noFill/>
          </a:ln>
        </p:spPr>
        <p:txBody>
          <a:bodyPr anchorCtr="0" anchor="t" bIns="0" lIns="0" spcFirstLastPara="1" rIns="0" wrap="square" tIns="13325">
            <a:spAutoFit/>
          </a:bodyPr>
          <a:lstStyle/>
          <a:p>
            <a:pPr indent="0" lvl="0" marL="12700" rtl="0" algn="l">
              <a:lnSpc>
                <a:spcPct val="101956"/>
              </a:lnSpc>
              <a:spcBef>
                <a:spcPts val="0"/>
              </a:spcBef>
              <a:spcAft>
                <a:spcPts val="0"/>
              </a:spcAft>
              <a:buNone/>
            </a:pPr>
            <a:r>
              <a:rPr lang="tr-TR"/>
              <a:t>-Eldeki bütün verilere uygun olmalı ve onları açıklamalıdır</a:t>
            </a:r>
            <a:endParaRPr/>
          </a:p>
          <a:p>
            <a:pPr indent="0" lvl="0" marL="32384" rtl="0" algn="l">
              <a:lnSpc>
                <a:spcPct val="83913"/>
              </a:lnSpc>
              <a:spcBef>
                <a:spcPts val="0"/>
              </a:spcBef>
              <a:spcAft>
                <a:spcPts val="0"/>
              </a:spcAft>
              <a:buNone/>
            </a:pPr>
            <a:r>
              <a:rPr lang="tr-TR"/>
              <a:t>-Yeni gerçeklerin tahminine olanak sağlamalıdır.</a:t>
            </a:r>
            <a:endParaRPr/>
          </a:p>
          <a:p>
            <a:pPr indent="0" lvl="0" marL="32384" rtl="0" algn="l">
              <a:lnSpc>
                <a:spcPct val="83913"/>
              </a:lnSpc>
              <a:spcBef>
                <a:spcPts val="0"/>
              </a:spcBef>
              <a:spcAft>
                <a:spcPts val="0"/>
              </a:spcAft>
              <a:buNone/>
            </a:pPr>
            <a:r>
              <a:rPr lang="tr-TR"/>
              <a:t>-Probleme çözüm önermelidir.</a:t>
            </a:r>
            <a:endParaRPr/>
          </a:p>
          <a:p>
            <a:pPr indent="0" lvl="0" marL="32384" rtl="0" algn="l">
              <a:lnSpc>
                <a:spcPct val="84130"/>
              </a:lnSpc>
              <a:spcBef>
                <a:spcPts val="0"/>
              </a:spcBef>
              <a:spcAft>
                <a:spcPts val="0"/>
              </a:spcAft>
              <a:buNone/>
            </a:pPr>
            <a:r>
              <a:rPr lang="tr-TR"/>
              <a:t>-Deney ve gözlemlere açık olmalıdır.</a:t>
            </a:r>
            <a:endParaRPr/>
          </a:p>
          <a:p>
            <a:pPr indent="0" lvl="0" marL="32384" rtl="0" algn="l">
              <a:lnSpc>
                <a:spcPct val="101956"/>
              </a:lnSpc>
              <a:spcBef>
                <a:spcPts val="0"/>
              </a:spcBef>
              <a:spcAft>
                <a:spcPts val="0"/>
              </a:spcAft>
              <a:buNone/>
            </a:pPr>
            <a:r>
              <a:rPr lang="tr-TR"/>
              <a:t>-Yeni deney ve gözlemlerle denenebilir olmalıdır.</a:t>
            </a:r>
            <a:endParaRPr/>
          </a:p>
          <a:p>
            <a:pPr indent="0" lvl="0" marL="32384" rtl="0" algn="l">
              <a:lnSpc>
                <a:spcPct val="105862"/>
              </a:lnSpc>
              <a:spcBef>
                <a:spcPts val="875"/>
              </a:spcBef>
              <a:spcAft>
                <a:spcPts val="0"/>
              </a:spcAft>
              <a:buNone/>
            </a:pPr>
            <a:r>
              <a:rPr lang="tr-TR"/>
              <a:t>H</a:t>
            </a:r>
            <a:r>
              <a:rPr lang="tr-TR" sz="2900"/>
              <a:t>ipotezin muhtemel üç sonucu vardır</a:t>
            </a:r>
            <a:r>
              <a:rPr lang="tr-TR"/>
              <a:t>:</a:t>
            </a:r>
            <a:endParaRPr sz="2900"/>
          </a:p>
          <a:p>
            <a:pPr indent="-261620" lvl="0" marL="293370" rtl="0" algn="l">
              <a:lnSpc>
                <a:spcPct val="84304"/>
              </a:lnSpc>
              <a:spcBef>
                <a:spcPts val="0"/>
              </a:spcBef>
              <a:spcAft>
                <a:spcPts val="0"/>
              </a:spcAft>
              <a:buClr>
                <a:schemeClr val="dk1"/>
              </a:buClr>
              <a:buSzPts val="2200"/>
              <a:buFont typeface="Arial"/>
              <a:buAutoNum type="arabicPlain"/>
            </a:pPr>
            <a:r>
              <a:rPr lang="tr-TR"/>
              <a:t>Doğrudan kanıtlanıp doğrudan geçerli haline gelebilir</a:t>
            </a:r>
            <a:endParaRPr/>
          </a:p>
          <a:p>
            <a:pPr indent="0" lvl="0" marL="32384" rtl="0" algn="l">
              <a:lnSpc>
                <a:spcPct val="84130"/>
              </a:lnSpc>
              <a:spcBef>
                <a:spcPts val="0"/>
              </a:spcBef>
              <a:spcAft>
                <a:spcPts val="0"/>
              </a:spcAft>
              <a:buNone/>
            </a:pPr>
            <a:r>
              <a:rPr lang="tr-TR"/>
              <a:t>bir hipotez, gözlem</a:t>
            </a:r>
            <a:r>
              <a:rPr lang="tr-TR" u="sng"/>
              <a:t> </a:t>
            </a:r>
            <a:r>
              <a:rPr lang="tr-TR"/>
              <a:t>ve deneylerle doğrulanırsa teori değil</a:t>
            </a:r>
            <a:endParaRPr/>
          </a:p>
          <a:p>
            <a:pPr indent="0" lvl="0" marL="32384" rtl="0" algn="l">
              <a:lnSpc>
                <a:spcPct val="84130"/>
              </a:lnSpc>
              <a:spcBef>
                <a:spcPts val="0"/>
              </a:spcBef>
              <a:spcAft>
                <a:spcPts val="0"/>
              </a:spcAft>
              <a:buNone/>
            </a:pPr>
            <a:r>
              <a:rPr lang="tr-TR"/>
              <a:t>gerçektir.</a:t>
            </a:r>
            <a:endParaRPr/>
          </a:p>
          <a:p>
            <a:pPr indent="-261620" lvl="0" marL="293370" rtl="0" algn="l">
              <a:lnSpc>
                <a:spcPct val="83913"/>
              </a:lnSpc>
              <a:spcBef>
                <a:spcPts val="0"/>
              </a:spcBef>
              <a:spcAft>
                <a:spcPts val="0"/>
              </a:spcAft>
              <a:buClr>
                <a:schemeClr val="dk1"/>
              </a:buClr>
              <a:buSzPts val="2200"/>
              <a:buFont typeface="Arial"/>
              <a:buAutoNum type="arabicPlain" startAt="2"/>
            </a:pPr>
            <a:r>
              <a:rPr lang="tr-TR"/>
              <a:t>Yeni gerçeklerle desteklenerek teori veya kanun haline</a:t>
            </a:r>
            <a:endParaRPr/>
          </a:p>
          <a:p>
            <a:pPr indent="0" lvl="0" marL="32384" rtl="0" algn="l">
              <a:lnSpc>
                <a:spcPct val="83913"/>
              </a:lnSpc>
              <a:spcBef>
                <a:spcPts val="0"/>
              </a:spcBef>
              <a:spcAft>
                <a:spcPts val="0"/>
              </a:spcAft>
              <a:buNone/>
            </a:pPr>
            <a:r>
              <a:rPr lang="tr-TR"/>
              <a:t>gelebilir.</a:t>
            </a:r>
            <a:endParaRPr/>
          </a:p>
          <a:p>
            <a:pPr indent="-261620" lvl="0" marL="293370" rtl="0" algn="l">
              <a:lnSpc>
                <a:spcPct val="101956"/>
              </a:lnSpc>
              <a:spcBef>
                <a:spcPts val="0"/>
              </a:spcBef>
              <a:spcAft>
                <a:spcPts val="0"/>
              </a:spcAft>
              <a:buClr>
                <a:schemeClr val="dk1"/>
              </a:buClr>
              <a:buSzPts val="2200"/>
              <a:buFont typeface="Arial"/>
              <a:buAutoNum type="arabicPlain" startAt="3"/>
            </a:pPr>
            <a:r>
              <a:rPr lang="tr-TR"/>
              <a:t>Çürütülüp terkedilir.</a:t>
            </a:r>
            <a:endParaRPr/>
          </a:p>
        </p:txBody>
      </p:sp>
      <p:sp>
        <p:nvSpPr>
          <p:cNvPr id="806" name="Google Shape;806;p10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103"/>
          <p:cNvSpPr txBox="1"/>
          <p:nvPr/>
        </p:nvSpPr>
        <p:spPr>
          <a:xfrm>
            <a:off x="688340" y="1552397"/>
            <a:ext cx="7768590" cy="4123690"/>
          </a:xfrm>
          <a:prstGeom prst="rect">
            <a:avLst/>
          </a:prstGeom>
          <a:noFill/>
          <a:ln>
            <a:noFill/>
          </a:ln>
        </p:spPr>
        <p:txBody>
          <a:bodyPr anchorCtr="0" anchor="t" bIns="0" lIns="0" spcFirstLastPara="1" rIns="0" wrap="square" tIns="85725">
            <a:spAutoFit/>
          </a:bodyPr>
          <a:lstStyle/>
          <a:p>
            <a:pPr indent="-343535" lvl="0" marL="355600" marR="6985" rtl="0" algn="just">
              <a:lnSpc>
                <a:spcPct val="80100"/>
              </a:lnSpc>
              <a:spcBef>
                <a:spcPts val="0"/>
              </a:spcBef>
              <a:spcAft>
                <a:spcPts val="0"/>
              </a:spcAft>
              <a:buNone/>
            </a:pPr>
            <a:r>
              <a:rPr b="1" lang="tr-TR" sz="2400">
                <a:solidFill>
                  <a:schemeClr val="dk1"/>
                </a:solidFill>
                <a:latin typeface="Arial"/>
                <a:ea typeface="Arial"/>
                <a:cs typeface="Arial"/>
                <a:sym typeface="Arial"/>
              </a:rPr>
              <a:t>Araştırmanın Amacı: </a:t>
            </a:r>
            <a:r>
              <a:rPr lang="tr-TR" sz="2400">
                <a:solidFill>
                  <a:schemeClr val="dk1"/>
                </a:solidFill>
                <a:latin typeface="Arial"/>
                <a:ea typeface="Arial"/>
                <a:cs typeface="Arial"/>
                <a:sym typeface="Arial"/>
              </a:rPr>
              <a:t>Araştırma probleminin  somutlaştırıldığı ifadedir ve araştırma için yön tayin  eder.</a:t>
            </a:r>
            <a:endParaRPr sz="2400">
              <a:solidFill>
                <a:schemeClr val="dk1"/>
              </a:solidFill>
              <a:latin typeface="Arial"/>
              <a:ea typeface="Arial"/>
              <a:cs typeface="Arial"/>
              <a:sym typeface="Arial"/>
            </a:endParaRPr>
          </a:p>
          <a:p>
            <a:pPr indent="-343535" lvl="0" marL="355600" marR="9525" rtl="0" algn="just">
              <a:lnSpc>
                <a:spcPct val="80000"/>
              </a:lnSpc>
              <a:spcBef>
                <a:spcPts val="575"/>
              </a:spcBef>
              <a:spcAft>
                <a:spcPts val="0"/>
              </a:spcAft>
              <a:buClr>
                <a:srgbClr val="996666"/>
              </a:buClr>
              <a:buSzPts val="1900"/>
              <a:buFont typeface="Noto Sans Symbols"/>
              <a:buChar char="●"/>
            </a:pPr>
            <a:r>
              <a:rPr lang="tr-TR" sz="2400">
                <a:solidFill>
                  <a:schemeClr val="dk1"/>
                </a:solidFill>
                <a:latin typeface="Arial"/>
                <a:ea typeface="Arial"/>
                <a:cs typeface="Arial"/>
                <a:sym typeface="Arial"/>
              </a:rPr>
              <a:t>Yanıt aranan soruları ve toplanacak verileri açıklar  nitelikte olmalıdır.</a:t>
            </a:r>
            <a:endParaRPr sz="2400">
              <a:solidFill>
                <a:schemeClr val="dk1"/>
              </a:solidFill>
              <a:latin typeface="Arial"/>
              <a:ea typeface="Arial"/>
              <a:cs typeface="Arial"/>
              <a:sym typeface="Arial"/>
            </a:endParaRPr>
          </a:p>
          <a:p>
            <a:pPr indent="-343535" lvl="0" marL="355600" marR="5080" rtl="0" algn="just">
              <a:lnSpc>
                <a:spcPct val="80000"/>
              </a:lnSpc>
              <a:spcBef>
                <a:spcPts val="580"/>
              </a:spcBef>
              <a:spcAft>
                <a:spcPts val="0"/>
              </a:spcAft>
              <a:buClr>
                <a:srgbClr val="996666"/>
              </a:buClr>
              <a:buSzPts val="1900"/>
              <a:buFont typeface="Noto Sans Symbols"/>
              <a:buChar char="●"/>
            </a:pPr>
            <a:r>
              <a:rPr lang="tr-TR" sz="2400">
                <a:solidFill>
                  <a:schemeClr val="dk1"/>
                </a:solidFill>
                <a:latin typeface="Arial"/>
                <a:ea typeface="Arial"/>
                <a:cs typeface="Arial"/>
                <a:sym typeface="Arial"/>
              </a:rPr>
              <a:t>Önce genel ifade edilir (Türkiye’de okullaşma  durumunun bugünkü düzeyini saptamak), daha sonra  alt amaçlar sıralanır (Okullaşma oranının cinsiyete,  yerleşim merkezine göre saptanması gibi).</a:t>
            </a:r>
            <a:endParaRPr sz="2400">
              <a:solidFill>
                <a:schemeClr val="dk1"/>
              </a:solidFill>
              <a:latin typeface="Arial"/>
              <a:ea typeface="Arial"/>
              <a:cs typeface="Arial"/>
              <a:sym typeface="Arial"/>
            </a:endParaRPr>
          </a:p>
          <a:p>
            <a:pPr indent="-343535" lvl="0" marL="355600" marR="5080" rtl="0" algn="just">
              <a:lnSpc>
                <a:spcPct val="80000"/>
              </a:lnSpc>
              <a:spcBef>
                <a:spcPts val="575"/>
              </a:spcBef>
              <a:spcAft>
                <a:spcPts val="0"/>
              </a:spcAft>
              <a:buClr>
                <a:srgbClr val="996666"/>
              </a:buClr>
              <a:buSzPts val="1425"/>
              <a:buFont typeface="Noto Sans Symbols"/>
              <a:buChar char="●"/>
            </a:pPr>
            <a:r>
              <a:rPr lang="tr-TR" sz="1800">
                <a:solidFill>
                  <a:schemeClr val="dk1"/>
                </a:solidFill>
                <a:latin typeface="Calibri"/>
                <a:ea typeface="Calibri"/>
                <a:cs typeface="Calibri"/>
                <a:sym typeface="Calibri"/>
              </a:rPr>
              <a:t>	</a:t>
            </a:r>
            <a:r>
              <a:rPr lang="tr-TR" sz="2400">
                <a:solidFill>
                  <a:schemeClr val="dk1"/>
                </a:solidFill>
                <a:latin typeface="Arial"/>
                <a:ea typeface="Arial"/>
                <a:cs typeface="Arial"/>
                <a:sym typeface="Arial"/>
              </a:rPr>
              <a:t>Araştırmanın ayrıntılı amaçları soru cümleleri (Banka  çalışanlarının eğitim düzeyi nedir?) ya da denenceler  (Eğitim düzeyi yükseldikçe statü yükselmektedir gibi)  biçiminde de ifade edilebilir</a:t>
            </a:r>
            <a:endParaRPr sz="2400">
              <a:solidFill>
                <a:schemeClr val="dk1"/>
              </a:solidFill>
              <a:latin typeface="Arial"/>
              <a:ea typeface="Arial"/>
              <a:cs typeface="Arial"/>
              <a:sym typeface="Arial"/>
            </a:endParaRPr>
          </a:p>
        </p:txBody>
      </p:sp>
      <p:sp>
        <p:nvSpPr>
          <p:cNvPr id="812" name="Google Shape;812;p10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04"/>
          <p:cNvSpPr txBox="1"/>
          <p:nvPr/>
        </p:nvSpPr>
        <p:spPr>
          <a:xfrm>
            <a:off x="274116" y="474929"/>
            <a:ext cx="977900" cy="406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tr-TR" sz="2500">
                <a:solidFill>
                  <a:srgbClr val="FFFFFF"/>
                </a:solidFill>
                <a:latin typeface="Arial"/>
                <a:ea typeface="Arial"/>
                <a:cs typeface="Arial"/>
                <a:sym typeface="Arial"/>
              </a:rPr>
              <a:t>ÖNEM</a:t>
            </a:r>
            <a:endParaRPr sz="2500">
              <a:solidFill>
                <a:schemeClr val="dk1"/>
              </a:solidFill>
              <a:latin typeface="Arial"/>
              <a:ea typeface="Arial"/>
              <a:cs typeface="Arial"/>
              <a:sym typeface="Arial"/>
            </a:endParaRPr>
          </a:p>
        </p:txBody>
      </p:sp>
      <p:sp>
        <p:nvSpPr>
          <p:cNvPr id="818" name="Google Shape;818;p104"/>
          <p:cNvSpPr txBox="1"/>
          <p:nvPr>
            <p:ph type="title"/>
          </p:nvPr>
        </p:nvSpPr>
        <p:spPr>
          <a:xfrm>
            <a:off x="688340" y="1539062"/>
            <a:ext cx="7531100" cy="1476375"/>
          </a:xfrm>
          <a:prstGeom prst="rect">
            <a:avLst/>
          </a:prstGeom>
          <a:noFill/>
          <a:ln>
            <a:noFill/>
          </a:ln>
        </p:spPr>
        <p:txBody>
          <a:bodyPr anchorCtr="0" anchor="t" bIns="0" lIns="0" spcFirstLastPara="1" rIns="0" wrap="square" tIns="97775">
            <a:spAutoFit/>
          </a:bodyPr>
          <a:lstStyle/>
          <a:p>
            <a:pPr indent="-343535" lvl="0" marL="355600" marR="81915" rtl="0" algn="l">
              <a:lnSpc>
                <a:spcPct val="80000"/>
              </a:lnSpc>
              <a:spcBef>
                <a:spcPts val="0"/>
              </a:spcBef>
              <a:spcAft>
                <a:spcPts val="0"/>
              </a:spcAft>
              <a:buNone/>
            </a:pPr>
            <a:r>
              <a:rPr lang="tr-TR"/>
              <a:t>Araştırmanın amaçlarında belirlenip toplanan  verilerin hangi kuramsal ya da pratik sorunun  çözümünde ve nasıl kullanılabileceğinin</a:t>
            </a:r>
            <a:endParaRPr/>
          </a:p>
          <a:p>
            <a:pPr indent="0" lvl="0" marL="355600" rtl="0" algn="l">
              <a:lnSpc>
                <a:spcPct val="96071"/>
              </a:lnSpc>
              <a:spcBef>
                <a:spcPts val="0"/>
              </a:spcBef>
              <a:spcAft>
                <a:spcPts val="0"/>
              </a:spcAft>
              <a:buNone/>
            </a:pPr>
            <a:r>
              <a:rPr lang="tr-TR"/>
              <a:t>açıklanması araştırmanın öneminin ifadesidir.</a:t>
            </a:r>
            <a:endParaRPr/>
          </a:p>
        </p:txBody>
      </p:sp>
      <p:sp>
        <p:nvSpPr>
          <p:cNvPr id="819" name="Google Shape;819;p104"/>
          <p:cNvSpPr txBox="1"/>
          <p:nvPr/>
        </p:nvSpPr>
        <p:spPr>
          <a:xfrm>
            <a:off x="688340" y="2991688"/>
            <a:ext cx="7686040" cy="2474595"/>
          </a:xfrm>
          <a:prstGeom prst="rect">
            <a:avLst/>
          </a:prstGeom>
          <a:noFill/>
          <a:ln>
            <a:noFill/>
          </a:ln>
        </p:spPr>
        <p:txBody>
          <a:bodyPr anchorCtr="0" anchor="t" bIns="0" lIns="0" spcFirstLastPara="1" rIns="0" wrap="square" tIns="12700">
            <a:spAutoFit/>
          </a:bodyPr>
          <a:lstStyle/>
          <a:p>
            <a:pPr indent="0" lvl="0" marL="469900" marR="0" rtl="0" algn="l">
              <a:lnSpc>
                <a:spcPct val="107916"/>
              </a:lnSpc>
              <a:spcBef>
                <a:spcPts val="0"/>
              </a:spcBef>
              <a:spcAft>
                <a:spcPts val="0"/>
              </a:spcAft>
              <a:buNone/>
            </a:pPr>
            <a:r>
              <a:rPr lang="tr-TR" sz="2400">
                <a:solidFill>
                  <a:schemeClr val="dk1"/>
                </a:solidFill>
                <a:latin typeface="Arial"/>
                <a:ea typeface="Arial"/>
                <a:cs typeface="Arial"/>
                <a:sym typeface="Arial"/>
              </a:rPr>
              <a:t>-Araştırmanın önemi, araştırmacının araştırmayı</a:t>
            </a:r>
            <a:endParaRPr sz="2400">
              <a:solidFill>
                <a:schemeClr val="dk1"/>
              </a:solidFill>
              <a:latin typeface="Arial"/>
              <a:ea typeface="Arial"/>
              <a:cs typeface="Arial"/>
              <a:sym typeface="Arial"/>
            </a:endParaRPr>
          </a:p>
          <a:p>
            <a:pPr indent="0" lvl="0" marL="756285" marR="0" rtl="0" algn="l">
              <a:lnSpc>
                <a:spcPct val="107916"/>
              </a:lnSpc>
              <a:spcBef>
                <a:spcPts val="0"/>
              </a:spcBef>
              <a:spcAft>
                <a:spcPts val="0"/>
              </a:spcAft>
              <a:buNone/>
            </a:pPr>
            <a:r>
              <a:rPr lang="tr-TR" sz="2400">
                <a:solidFill>
                  <a:schemeClr val="dk1"/>
                </a:solidFill>
                <a:latin typeface="Arial"/>
                <a:ea typeface="Arial"/>
                <a:cs typeface="Arial"/>
                <a:sym typeface="Arial"/>
              </a:rPr>
              <a:t>yapmadaki kendi amacını ortaya koymasıdır.</a:t>
            </a:r>
            <a:endParaRPr sz="2400">
              <a:solidFill>
                <a:schemeClr val="dk1"/>
              </a:solidFill>
              <a:latin typeface="Arial"/>
              <a:ea typeface="Arial"/>
              <a:cs typeface="Arial"/>
              <a:sym typeface="Arial"/>
            </a:endParaRPr>
          </a:p>
          <a:p>
            <a:pPr indent="0" lvl="0" marL="469900" marR="0" rtl="0" algn="l">
              <a:lnSpc>
                <a:spcPct val="100000"/>
              </a:lnSpc>
              <a:spcBef>
                <a:spcPts val="0"/>
              </a:spcBef>
              <a:spcAft>
                <a:spcPts val="0"/>
              </a:spcAft>
              <a:buNone/>
            </a:pPr>
            <a:r>
              <a:rPr lang="tr-TR" sz="2400">
                <a:solidFill>
                  <a:schemeClr val="dk1"/>
                </a:solidFill>
                <a:latin typeface="Arial"/>
                <a:ea typeface="Arial"/>
                <a:cs typeface="Arial"/>
                <a:sym typeface="Arial"/>
              </a:rPr>
              <a:t>-Araştırmanın amacı nesneldir.</a:t>
            </a:r>
            <a:endParaRPr sz="2400">
              <a:solidFill>
                <a:schemeClr val="dk1"/>
              </a:solidFill>
              <a:latin typeface="Arial"/>
              <a:ea typeface="Arial"/>
              <a:cs typeface="Arial"/>
              <a:sym typeface="Arial"/>
            </a:endParaRPr>
          </a:p>
          <a:p>
            <a:pPr indent="-287019" lvl="0" marL="756285" marR="1024255" rtl="0" algn="l">
              <a:lnSpc>
                <a:spcPct val="96250"/>
              </a:lnSpc>
              <a:spcBef>
                <a:spcPts val="555"/>
              </a:spcBef>
              <a:spcAft>
                <a:spcPts val="0"/>
              </a:spcAft>
              <a:buNone/>
            </a:pPr>
            <a:r>
              <a:rPr lang="tr-TR" sz="2400">
                <a:solidFill>
                  <a:schemeClr val="dk1"/>
                </a:solidFill>
                <a:latin typeface="Arial"/>
                <a:ea typeface="Arial"/>
                <a:cs typeface="Arial"/>
                <a:sym typeface="Arial"/>
              </a:rPr>
              <a:t>-Araştırmacının amacı özneldir.Yani yorum ve  tartışmaya açıktır.</a:t>
            </a:r>
            <a:endParaRPr sz="2400">
              <a:solidFill>
                <a:schemeClr val="dk1"/>
              </a:solidFill>
              <a:latin typeface="Arial"/>
              <a:ea typeface="Arial"/>
              <a:cs typeface="Arial"/>
              <a:sym typeface="Arial"/>
            </a:endParaRPr>
          </a:p>
          <a:p>
            <a:pPr indent="-343535" lvl="0" marL="355600" marR="5080" rtl="0" algn="l">
              <a:lnSpc>
                <a:spcPct val="80000"/>
              </a:lnSpc>
              <a:spcBef>
                <a:spcPts val="670"/>
              </a:spcBef>
              <a:spcAft>
                <a:spcPts val="0"/>
              </a:spcAft>
              <a:buNone/>
            </a:pPr>
            <a:r>
              <a:rPr lang="tr-TR" sz="2800">
                <a:solidFill>
                  <a:schemeClr val="dk1"/>
                </a:solidFill>
                <a:latin typeface="Arial"/>
                <a:ea typeface="Arial"/>
                <a:cs typeface="Arial"/>
                <a:sym typeface="Arial"/>
              </a:rPr>
              <a:t>Önem problem durumuyla iç içedir. Genelde ayrı  bir bölümde yer alır.</a:t>
            </a:r>
            <a:endParaRPr sz="2800">
              <a:solidFill>
                <a:schemeClr val="dk1"/>
              </a:solidFill>
              <a:latin typeface="Arial"/>
              <a:ea typeface="Arial"/>
              <a:cs typeface="Arial"/>
              <a:sym typeface="Arial"/>
            </a:endParaRPr>
          </a:p>
        </p:txBody>
      </p:sp>
      <p:sp>
        <p:nvSpPr>
          <p:cNvPr id="820" name="Google Shape;820;p10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05"/>
          <p:cNvSpPr txBox="1"/>
          <p:nvPr>
            <p:ph type="title"/>
          </p:nvPr>
        </p:nvSpPr>
        <p:spPr>
          <a:xfrm>
            <a:off x="274116" y="474929"/>
            <a:ext cx="2350135" cy="4064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tr-TR" sz="2500">
                <a:solidFill>
                  <a:srgbClr val="FFFFFF"/>
                </a:solidFill>
                <a:latin typeface="Arial"/>
                <a:ea typeface="Arial"/>
                <a:cs typeface="Arial"/>
                <a:sym typeface="Arial"/>
              </a:rPr>
              <a:t>VARSAYIMLAR</a:t>
            </a:r>
            <a:endParaRPr sz="2500">
              <a:latin typeface="Arial"/>
              <a:ea typeface="Arial"/>
              <a:cs typeface="Arial"/>
              <a:sym typeface="Arial"/>
            </a:endParaRPr>
          </a:p>
        </p:txBody>
      </p:sp>
      <p:sp>
        <p:nvSpPr>
          <p:cNvPr id="826" name="Google Shape;826;p105"/>
          <p:cNvSpPr txBox="1"/>
          <p:nvPr/>
        </p:nvSpPr>
        <p:spPr>
          <a:xfrm>
            <a:off x="1026972" y="1552397"/>
            <a:ext cx="7272655" cy="4465320"/>
          </a:xfrm>
          <a:prstGeom prst="rect">
            <a:avLst/>
          </a:prstGeom>
          <a:noFill/>
          <a:ln>
            <a:noFill/>
          </a:ln>
        </p:spPr>
        <p:txBody>
          <a:bodyPr anchorCtr="0" anchor="t" bIns="0" lIns="0" spcFirstLastPara="1" rIns="0" wrap="square" tIns="85725">
            <a:spAutoFit/>
          </a:bodyPr>
          <a:lstStyle/>
          <a:p>
            <a:pPr indent="-5080" lvl="0" marL="17145" marR="589915" rtl="0" algn="l">
              <a:lnSpc>
                <a:spcPct val="80000"/>
              </a:lnSpc>
              <a:spcBef>
                <a:spcPts val="0"/>
              </a:spcBef>
              <a:spcAft>
                <a:spcPts val="0"/>
              </a:spcAft>
              <a:buNone/>
            </a:pPr>
            <a:r>
              <a:rPr lang="tr-TR" sz="2400">
                <a:solidFill>
                  <a:schemeClr val="dk1"/>
                </a:solidFill>
                <a:latin typeface="Arial"/>
                <a:ea typeface="Arial"/>
                <a:cs typeface="Arial"/>
                <a:sym typeface="Arial"/>
              </a:rPr>
              <a:t>Araştırmada doğru olarak kabul edilmiş yargılar,  genellemelerdir. Bunlar şekil ve ifade bakımından  denencelere benzerler ancak denenmelik ve test  edilmek için değildirler.</a:t>
            </a:r>
            <a:endParaRPr sz="2400">
              <a:solidFill>
                <a:schemeClr val="dk1"/>
              </a:solidFill>
              <a:latin typeface="Arial"/>
              <a:ea typeface="Arial"/>
              <a:cs typeface="Arial"/>
              <a:sym typeface="Arial"/>
            </a:endParaRPr>
          </a:p>
          <a:p>
            <a:pPr indent="-5080" lvl="0" marL="17145" marR="5080" rtl="0" algn="l">
              <a:lnSpc>
                <a:spcPct val="80000"/>
              </a:lnSpc>
              <a:spcBef>
                <a:spcPts val="580"/>
              </a:spcBef>
              <a:spcAft>
                <a:spcPts val="0"/>
              </a:spcAft>
              <a:buNone/>
            </a:pPr>
            <a:r>
              <a:rPr lang="tr-TR" sz="2400">
                <a:solidFill>
                  <a:schemeClr val="dk1"/>
                </a:solidFill>
                <a:latin typeface="Arial"/>
                <a:ea typeface="Arial"/>
                <a:cs typeface="Arial"/>
                <a:sym typeface="Arial"/>
              </a:rPr>
              <a:t>Araştırmacı kanıtlanması güç ya da olanaksız görülen  kişisel görüş ve inançlara göre değişebilen bazı  konularda kendi kişisel tercihini ortaya koyarak  çalışmasındaki temel dayanakları belirleyebilir.</a:t>
            </a:r>
            <a:endParaRPr sz="2400">
              <a:solidFill>
                <a:schemeClr val="dk1"/>
              </a:solidFill>
              <a:latin typeface="Arial"/>
              <a:ea typeface="Arial"/>
              <a:cs typeface="Arial"/>
              <a:sym typeface="Arial"/>
            </a:endParaRPr>
          </a:p>
          <a:p>
            <a:pPr indent="0" lvl="0" marL="0" marR="0" rtl="0" algn="l">
              <a:lnSpc>
                <a:spcPct val="100000"/>
              </a:lnSpc>
              <a:spcBef>
                <a:spcPts val="10"/>
              </a:spcBef>
              <a:spcAft>
                <a:spcPts val="0"/>
              </a:spcAft>
              <a:buNone/>
            </a:pPr>
            <a:r>
              <a:t/>
            </a:r>
            <a:endParaRPr sz="2900">
              <a:solidFill>
                <a:schemeClr val="dk1"/>
              </a:solidFill>
              <a:latin typeface="Arial"/>
              <a:ea typeface="Arial"/>
              <a:cs typeface="Arial"/>
              <a:sym typeface="Arial"/>
            </a:endParaRPr>
          </a:p>
          <a:p>
            <a:pPr indent="0" lvl="0" marL="588645" marR="0" rtl="0" algn="l">
              <a:lnSpc>
                <a:spcPct val="100000"/>
              </a:lnSpc>
              <a:spcBef>
                <a:spcPts val="0"/>
              </a:spcBef>
              <a:spcAft>
                <a:spcPts val="0"/>
              </a:spcAft>
              <a:buNone/>
            </a:pPr>
            <a:r>
              <a:rPr lang="tr-TR" sz="2800">
                <a:solidFill>
                  <a:schemeClr val="dk1"/>
                </a:solidFill>
                <a:latin typeface="Arial"/>
                <a:ea typeface="Arial"/>
                <a:cs typeface="Arial"/>
                <a:sym typeface="Arial"/>
              </a:rPr>
              <a:t>Bu varsayımlar:</a:t>
            </a:r>
            <a:endParaRPr sz="2800">
              <a:solidFill>
                <a:schemeClr val="dk1"/>
              </a:solidFill>
              <a:latin typeface="Arial"/>
              <a:ea typeface="Arial"/>
              <a:cs typeface="Arial"/>
              <a:sym typeface="Arial"/>
            </a:endParaRPr>
          </a:p>
          <a:p>
            <a:pPr indent="0" lvl="0" marL="588645" marR="0" rtl="0" algn="l">
              <a:lnSpc>
                <a:spcPct val="100000"/>
              </a:lnSpc>
              <a:spcBef>
                <a:spcPts val="15"/>
              </a:spcBef>
              <a:spcAft>
                <a:spcPts val="0"/>
              </a:spcAft>
              <a:buNone/>
            </a:pPr>
            <a:r>
              <a:rPr lang="tr-TR" sz="2150">
                <a:solidFill>
                  <a:srgbClr val="66FFFF"/>
                </a:solidFill>
                <a:latin typeface="Noto Sans Symbols"/>
                <a:ea typeface="Noto Sans Symbols"/>
                <a:cs typeface="Noto Sans Symbols"/>
                <a:sym typeface="Noto Sans Symbols"/>
              </a:rPr>
              <a:t>🢡</a:t>
            </a:r>
            <a:r>
              <a:rPr lang="tr-TR" sz="2400">
                <a:solidFill>
                  <a:schemeClr val="dk1"/>
                </a:solidFill>
                <a:latin typeface="Arial"/>
                <a:ea typeface="Arial"/>
                <a:cs typeface="Arial"/>
                <a:sym typeface="Arial"/>
              </a:rPr>
              <a:t>Değerlere, probleme, kuramlara</a:t>
            </a:r>
            <a:endParaRPr sz="2400">
              <a:solidFill>
                <a:schemeClr val="dk1"/>
              </a:solidFill>
              <a:latin typeface="Arial"/>
              <a:ea typeface="Arial"/>
              <a:cs typeface="Arial"/>
              <a:sym typeface="Arial"/>
            </a:endParaRPr>
          </a:p>
          <a:p>
            <a:pPr indent="0" lvl="0" marL="588645" marR="0" rtl="0" algn="l">
              <a:lnSpc>
                <a:spcPct val="100000"/>
              </a:lnSpc>
              <a:spcBef>
                <a:spcPts val="0"/>
              </a:spcBef>
              <a:spcAft>
                <a:spcPts val="0"/>
              </a:spcAft>
              <a:buNone/>
            </a:pPr>
            <a:r>
              <a:rPr lang="tr-TR" sz="2150">
                <a:solidFill>
                  <a:srgbClr val="66FFFF"/>
                </a:solidFill>
                <a:latin typeface="Noto Sans Symbols"/>
                <a:ea typeface="Noto Sans Symbols"/>
                <a:cs typeface="Noto Sans Symbols"/>
                <a:sym typeface="Noto Sans Symbols"/>
              </a:rPr>
              <a:t>🢡</a:t>
            </a:r>
            <a:r>
              <a:rPr lang="tr-TR" sz="2400">
                <a:solidFill>
                  <a:schemeClr val="dk1"/>
                </a:solidFill>
                <a:latin typeface="Arial"/>
                <a:ea typeface="Arial"/>
                <a:cs typeface="Arial"/>
                <a:sym typeface="Arial"/>
              </a:rPr>
              <a:t>Kontrol değişkenine</a:t>
            </a:r>
            <a:endParaRPr sz="2400">
              <a:solidFill>
                <a:schemeClr val="dk1"/>
              </a:solidFill>
              <a:latin typeface="Arial"/>
              <a:ea typeface="Arial"/>
              <a:cs typeface="Arial"/>
              <a:sym typeface="Arial"/>
            </a:endParaRPr>
          </a:p>
          <a:p>
            <a:pPr indent="0" lvl="0" marL="588645" marR="0" rtl="0" algn="l">
              <a:lnSpc>
                <a:spcPct val="100000"/>
              </a:lnSpc>
              <a:spcBef>
                <a:spcPts val="5"/>
              </a:spcBef>
              <a:spcAft>
                <a:spcPts val="0"/>
              </a:spcAft>
              <a:buNone/>
            </a:pPr>
            <a:r>
              <a:rPr lang="tr-TR" sz="2150">
                <a:solidFill>
                  <a:srgbClr val="66FFFF"/>
                </a:solidFill>
                <a:latin typeface="Noto Sans Symbols"/>
                <a:ea typeface="Noto Sans Symbols"/>
                <a:cs typeface="Noto Sans Symbols"/>
                <a:sym typeface="Noto Sans Symbols"/>
              </a:rPr>
              <a:t>🢡</a:t>
            </a:r>
            <a:r>
              <a:rPr lang="tr-TR" sz="2400">
                <a:solidFill>
                  <a:schemeClr val="dk1"/>
                </a:solidFill>
                <a:latin typeface="Arial"/>
                <a:ea typeface="Arial"/>
                <a:cs typeface="Arial"/>
                <a:sym typeface="Arial"/>
              </a:rPr>
              <a:t>Araştırma yöntem ve tekniklerine ilişkindir.</a:t>
            </a:r>
            <a:endParaRPr sz="2400">
              <a:solidFill>
                <a:schemeClr val="dk1"/>
              </a:solidFill>
              <a:latin typeface="Arial"/>
              <a:ea typeface="Arial"/>
              <a:cs typeface="Arial"/>
              <a:sym typeface="Arial"/>
            </a:endParaRPr>
          </a:p>
        </p:txBody>
      </p:sp>
      <p:sp>
        <p:nvSpPr>
          <p:cNvPr id="827" name="Google Shape;827;p10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06"/>
          <p:cNvSpPr txBox="1"/>
          <p:nvPr>
            <p:ph type="title"/>
          </p:nvPr>
        </p:nvSpPr>
        <p:spPr>
          <a:xfrm>
            <a:off x="274116" y="337769"/>
            <a:ext cx="4385945" cy="6661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tr-TR" sz="4200">
                <a:solidFill>
                  <a:srgbClr val="FFFFFF"/>
                </a:solidFill>
              </a:rPr>
              <a:t>Örnek varsayımlar</a:t>
            </a:r>
            <a:endParaRPr sz="4200"/>
          </a:p>
        </p:txBody>
      </p:sp>
      <p:sp>
        <p:nvSpPr>
          <p:cNvPr id="833" name="Google Shape;833;p106"/>
          <p:cNvSpPr txBox="1"/>
          <p:nvPr/>
        </p:nvSpPr>
        <p:spPr>
          <a:xfrm>
            <a:off x="688340" y="1572590"/>
            <a:ext cx="7565390" cy="4416425"/>
          </a:xfrm>
          <a:prstGeom prst="rect">
            <a:avLst/>
          </a:prstGeom>
          <a:noFill/>
          <a:ln>
            <a:noFill/>
          </a:ln>
        </p:spPr>
        <p:txBody>
          <a:bodyPr anchorCtr="0" anchor="t" bIns="0" lIns="0" spcFirstLastPara="1" rIns="0" wrap="square" tIns="67925">
            <a:spAutoFit/>
          </a:bodyPr>
          <a:lstStyle/>
          <a:p>
            <a:pPr indent="-343535" lvl="0" marL="355600" marR="366395" rtl="0" algn="l">
              <a:lnSpc>
                <a:spcPct val="108124"/>
              </a:lnSpc>
              <a:spcBef>
                <a:spcPts val="0"/>
              </a:spcBef>
              <a:spcAft>
                <a:spcPts val="0"/>
              </a:spcAft>
              <a:buClr>
                <a:srgbClr val="00FFCC"/>
              </a:buClr>
              <a:buSzPts val="2550"/>
              <a:buFont typeface="Noto Sans Symbols"/>
              <a:buChar char="❑"/>
            </a:pPr>
            <a:r>
              <a:rPr lang="tr-TR" sz="3200">
                <a:solidFill>
                  <a:schemeClr val="dk1"/>
                </a:solidFill>
                <a:latin typeface="Arial"/>
                <a:ea typeface="Arial"/>
                <a:cs typeface="Arial"/>
                <a:sym typeface="Arial"/>
              </a:rPr>
              <a:t>Ölçme aracının yeteri kadar geçerli ve  güvenilir olduğu,</a:t>
            </a:r>
            <a:endParaRPr sz="3200">
              <a:solidFill>
                <a:schemeClr val="dk1"/>
              </a:solidFill>
              <a:latin typeface="Arial"/>
              <a:ea typeface="Arial"/>
              <a:cs typeface="Arial"/>
              <a:sym typeface="Arial"/>
            </a:endParaRPr>
          </a:p>
          <a:p>
            <a:pPr indent="-343535" lvl="0" marL="355600" marR="636905" rtl="0" algn="l">
              <a:lnSpc>
                <a:spcPct val="108124"/>
              </a:lnSpc>
              <a:spcBef>
                <a:spcPts val="760"/>
              </a:spcBef>
              <a:spcAft>
                <a:spcPts val="0"/>
              </a:spcAft>
              <a:buClr>
                <a:srgbClr val="00FFCC"/>
              </a:buClr>
              <a:buSzPts val="2550"/>
              <a:buFont typeface="Noto Sans Symbols"/>
              <a:buChar char="❑"/>
            </a:pPr>
            <a:r>
              <a:rPr lang="tr-TR" sz="3200">
                <a:solidFill>
                  <a:schemeClr val="dk1"/>
                </a:solidFill>
                <a:latin typeface="Arial"/>
                <a:ea typeface="Arial"/>
                <a:cs typeface="Arial"/>
                <a:sym typeface="Arial"/>
              </a:rPr>
              <a:t>Evrenden alınan örneklem grubunun  evreni temsil ettiği,</a:t>
            </a:r>
            <a:endParaRPr sz="3200">
              <a:solidFill>
                <a:schemeClr val="dk1"/>
              </a:solidFill>
              <a:latin typeface="Arial"/>
              <a:ea typeface="Arial"/>
              <a:cs typeface="Arial"/>
              <a:sym typeface="Arial"/>
            </a:endParaRPr>
          </a:p>
          <a:p>
            <a:pPr indent="-343535" lvl="0" marL="355600" marR="5080" rtl="0" algn="l">
              <a:lnSpc>
                <a:spcPct val="108124"/>
              </a:lnSpc>
              <a:spcBef>
                <a:spcPts val="765"/>
              </a:spcBef>
              <a:spcAft>
                <a:spcPts val="0"/>
              </a:spcAft>
              <a:buClr>
                <a:srgbClr val="00FFCC"/>
              </a:buClr>
              <a:buSzPts val="2550"/>
              <a:buFont typeface="Noto Sans Symbols"/>
              <a:buChar char="❑"/>
            </a:pPr>
            <a:r>
              <a:rPr lang="tr-TR" sz="3200">
                <a:solidFill>
                  <a:schemeClr val="dk1"/>
                </a:solidFill>
                <a:latin typeface="Arial"/>
                <a:ea typeface="Arial"/>
                <a:cs typeface="Arial"/>
                <a:sym typeface="Arial"/>
              </a:rPr>
              <a:t>Cevaplayıcıların	anket sorularına doğru  yanıt verdiği,</a:t>
            </a:r>
            <a:endParaRPr sz="3200">
              <a:solidFill>
                <a:schemeClr val="dk1"/>
              </a:solidFill>
              <a:latin typeface="Arial"/>
              <a:ea typeface="Arial"/>
              <a:cs typeface="Arial"/>
              <a:sym typeface="Arial"/>
            </a:endParaRPr>
          </a:p>
          <a:p>
            <a:pPr indent="-343535" lvl="0" marL="355600" marR="408305" rtl="0" algn="l">
              <a:lnSpc>
                <a:spcPct val="108124"/>
              </a:lnSpc>
              <a:spcBef>
                <a:spcPts val="760"/>
              </a:spcBef>
              <a:spcAft>
                <a:spcPts val="0"/>
              </a:spcAft>
              <a:buClr>
                <a:srgbClr val="00FFCC"/>
              </a:buClr>
              <a:buSzPts val="2550"/>
              <a:buFont typeface="Noto Sans Symbols"/>
              <a:buChar char="❑"/>
            </a:pPr>
            <a:r>
              <a:rPr lang="tr-TR" sz="3200">
                <a:solidFill>
                  <a:schemeClr val="dk1"/>
                </a:solidFill>
                <a:latin typeface="Arial"/>
                <a:ea typeface="Arial"/>
                <a:cs typeface="Arial"/>
                <a:sym typeface="Arial"/>
              </a:rPr>
              <a:t>Belli bir kontrol değişkeninin deney ve  kontrol gruplarını farklılaştırmadığı</a:t>
            </a:r>
            <a:endParaRPr sz="3200">
              <a:solidFill>
                <a:schemeClr val="dk1"/>
              </a:solidFill>
              <a:latin typeface="Arial"/>
              <a:ea typeface="Arial"/>
              <a:cs typeface="Arial"/>
              <a:sym typeface="Arial"/>
            </a:endParaRPr>
          </a:p>
          <a:p>
            <a:pPr indent="-343535" lvl="0" marL="355600" marR="0" rtl="0" algn="l">
              <a:lnSpc>
                <a:spcPct val="100000"/>
              </a:lnSpc>
              <a:spcBef>
                <a:spcPts val="330"/>
              </a:spcBef>
              <a:spcAft>
                <a:spcPts val="0"/>
              </a:spcAft>
              <a:buClr>
                <a:srgbClr val="00FFCC"/>
              </a:buClr>
              <a:buSzPts val="2550"/>
              <a:buFont typeface="Noto Sans Symbols"/>
              <a:buChar char="❑"/>
            </a:pPr>
            <a:r>
              <a:rPr lang="tr-TR" sz="3200">
                <a:solidFill>
                  <a:schemeClr val="dk1"/>
                </a:solidFill>
                <a:latin typeface="Arial"/>
                <a:ea typeface="Arial"/>
                <a:cs typeface="Arial"/>
                <a:sym typeface="Arial"/>
              </a:rPr>
              <a:t>Varsayım olarak kabul edilebilir.</a:t>
            </a:r>
            <a:endParaRPr sz="3200">
              <a:solidFill>
                <a:schemeClr val="dk1"/>
              </a:solidFill>
              <a:latin typeface="Arial"/>
              <a:ea typeface="Arial"/>
              <a:cs typeface="Arial"/>
              <a:sym typeface="Arial"/>
            </a:endParaRPr>
          </a:p>
        </p:txBody>
      </p:sp>
      <p:sp>
        <p:nvSpPr>
          <p:cNvPr id="834" name="Google Shape;834;p10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107"/>
          <p:cNvSpPr txBox="1"/>
          <p:nvPr/>
        </p:nvSpPr>
        <p:spPr>
          <a:xfrm>
            <a:off x="274116" y="474929"/>
            <a:ext cx="2315845" cy="406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tr-TR" sz="2500">
                <a:solidFill>
                  <a:srgbClr val="FFFFFF"/>
                </a:solidFill>
                <a:latin typeface="Arial"/>
                <a:ea typeface="Arial"/>
                <a:cs typeface="Arial"/>
                <a:sym typeface="Arial"/>
              </a:rPr>
              <a:t>SINIRLILIKLAR</a:t>
            </a:r>
            <a:endParaRPr sz="2500">
              <a:solidFill>
                <a:schemeClr val="dk1"/>
              </a:solidFill>
              <a:latin typeface="Arial"/>
              <a:ea typeface="Arial"/>
              <a:cs typeface="Arial"/>
              <a:sym typeface="Arial"/>
            </a:endParaRPr>
          </a:p>
        </p:txBody>
      </p:sp>
      <p:sp>
        <p:nvSpPr>
          <p:cNvPr id="840" name="Google Shape;840;p107"/>
          <p:cNvSpPr txBox="1"/>
          <p:nvPr/>
        </p:nvSpPr>
        <p:spPr>
          <a:xfrm>
            <a:off x="984300" y="1581734"/>
            <a:ext cx="7327900" cy="3909060"/>
          </a:xfrm>
          <a:prstGeom prst="rect">
            <a:avLst/>
          </a:prstGeom>
          <a:noFill/>
          <a:ln>
            <a:noFill/>
          </a:ln>
        </p:spPr>
        <p:txBody>
          <a:bodyPr anchorCtr="0" anchor="t" bIns="0" lIns="0" spcFirstLastPara="1" rIns="0" wrap="square" tIns="55225">
            <a:spAutoFit/>
          </a:bodyPr>
          <a:lstStyle/>
          <a:p>
            <a:pPr indent="-47624" lvl="0" marL="59689" marR="5080" rtl="0" algn="l">
              <a:lnSpc>
                <a:spcPct val="90000"/>
              </a:lnSpc>
              <a:spcBef>
                <a:spcPts val="0"/>
              </a:spcBef>
              <a:spcAft>
                <a:spcPts val="0"/>
              </a:spcAft>
              <a:buNone/>
            </a:pPr>
            <a:r>
              <a:rPr lang="tr-TR" sz="2800">
                <a:solidFill>
                  <a:schemeClr val="dk1"/>
                </a:solidFill>
                <a:latin typeface="Arial"/>
                <a:ea typeface="Arial"/>
                <a:cs typeface="Arial"/>
                <a:sym typeface="Arial"/>
              </a:rPr>
              <a:t>Araştırmacının ideal gördüğü ve normal olarak  yapmak isteyip de çeşitli nedenlerle  vazgeçmek zorunda kaldığı durumlar  araştırmanın sınırlılıklarıdır. Bu sınırlılıklar  araştırmacının kontrolü dışındaki etkenlerden  ya da fayda-maliyet açısından pratik olmayan  koşullardan kaynaklanabilir.	Araştırmanın  bulguları verilen sınırlılıklar içinde geçerlidir.</a:t>
            </a:r>
            <a:endParaRPr sz="2800">
              <a:solidFill>
                <a:schemeClr val="dk1"/>
              </a:solidFill>
              <a:latin typeface="Arial"/>
              <a:ea typeface="Arial"/>
              <a:cs typeface="Arial"/>
              <a:sym typeface="Arial"/>
            </a:endParaRPr>
          </a:p>
          <a:p>
            <a:pPr indent="0" lvl="0" marL="59689" marR="694690" rtl="0" algn="l">
              <a:lnSpc>
                <a:spcPct val="107857"/>
              </a:lnSpc>
              <a:spcBef>
                <a:spcPts val="45"/>
              </a:spcBef>
              <a:spcAft>
                <a:spcPts val="0"/>
              </a:spcAft>
              <a:buNone/>
            </a:pPr>
            <a:r>
              <a:rPr lang="tr-TR" sz="2800">
                <a:solidFill>
                  <a:schemeClr val="dk1"/>
                </a:solidFill>
                <a:latin typeface="Arial"/>
                <a:ea typeface="Arial"/>
                <a:cs typeface="Arial"/>
                <a:sym typeface="Arial"/>
              </a:rPr>
              <a:t>Sınırlılıklar yönteme, zamana, örnekleme,  sürece ilişkin olabilir.</a:t>
            </a:r>
            <a:endParaRPr sz="2800">
              <a:solidFill>
                <a:schemeClr val="dk1"/>
              </a:solidFill>
              <a:latin typeface="Arial"/>
              <a:ea typeface="Arial"/>
              <a:cs typeface="Arial"/>
              <a:sym typeface="Arial"/>
            </a:endParaRPr>
          </a:p>
        </p:txBody>
      </p:sp>
      <p:sp>
        <p:nvSpPr>
          <p:cNvPr id="841" name="Google Shape;841;p10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108"/>
          <p:cNvSpPr txBox="1"/>
          <p:nvPr>
            <p:ph type="title"/>
          </p:nvPr>
        </p:nvSpPr>
        <p:spPr>
          <a:xfrm>
            <a:off x="535940" y="1447241"/>
            <a:ext cx="1722755"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tr-TR" sz="3200">
                <a:latin typeface="Arial"/>
                <a:ea typeface="Arial"/>
                <a:cs typeface="Arial"/>
                <a:sym typeface="Arial"/>
              </a:rPr>
              <a:t>-</a:t>
            </a:r>
            <a:r>
              <a:rPr lang="tr-TR" sz="3200"/>
              <a:t>ÖRNEK:</a:t>
            </a:r>
            <a:endParaRPr sz="3200">
              <a:latin typeface="Arial"/>
              <a:ea typeface="Arial"/>
              <a:cs typeface="Arial"/>
              <a:sym typeface="Arial"/>
            </a:endParaRPr>
          </a:p>
        </p:txBody>
      </p:sp>
      <p:sp>
        <p:nvSpPr>
          <p:cNvPr id="847" name="Google Shape;847;p108"/>
          <p:cNvSpPr txBox="1"/>
          <p:nvPr/>
        </p:nvSpPr>
        <p:spPr>
          <a:xfrm>
            <a:off x="535940" y="2002662"/>
            <a:ext cx="7907020" cy="3140710"/>
          </a:xfrm>
          <a:prstGeom prst="rect">
            <a:avLst/>
          </a:prstGeom>
          <a:noFill/>
          <a:ln>
            <a:noFill/>
          </a:ln>
        </p:spPr>
        <p:txBody>
          <a:bodyPr anchorCtr="0" anchor="t" bIns="0" lIns="0" spcFirstLastPara="1" rIns="0" wrap="square" tIns="93975">
            <a:spAutoFit/>
          </a:bodyPr>
          <a:lstStyle/>
          <a:p>
            <a:pPr indent="-342900" lvl="0" marL="355600" marR="10160" rtl="0" algn="l">
              <a:lnSpc>
                <a:spcPct val="96071"/>
              </a:lnSpc>
              <a:spcBef>
                <a:spcPts val="0"/>
              </a:spcBef>
              <a:spcAft>
                <a:spcPts val="0"/>
              </a:spcAft>
              <a:buNone/>
            </a:pPr>
            <a:r>
              <a:rPr lang="tr-TR" sz="2800">
                <a:solidFill>
                  <a:schemeClr val="dk1"/>
                </a:solidFill>
                <a:latin typeface="Arial"/>
                <a:ea typeface="Arial"/>
                <a:cs typeface="Arial"/>
                <a:sym typeface="Arial"/>
              </a:rPr>
              <a:t>-Eğitimde değerlendirme sistemi incelenirken, tüm  sistemlerin yerine yalnız liselerdeki  uygulamaların ele alınması bir sınırlılıktır.</a:t>
            </a:r>
            <a:endParaRPr sz="2800">
              <a:solidFill>
                <a:schemeClr val="dk1"/>
              </a:solidFill>
              <a:latin typeface="Arial"/>
              <a:ea typeface="Arial"/>
              <a:cs typeface="Arial"/>
              <a:sym typeface="Arial"/>
            </a:endParaRPr>
          </a:p>
          <a:p>
            <a:pPr indent="-342900" lvl="0" marL="355600" marR="5080" rtl="0" algn="l">
              <a:lnSpc>
                <a:spcPct val="80000"/>
              </a:lnSpc>
              <a:spcBef>
                <a:spcPts val="1200"/>
              </a:spcBef>
              <a:spcAft>
                <a:spcPts val="0"/>
              </a:spcAft>
              <a:buNone/>
            </a:pPr>
            <a:r>
              <a:rPr lang="tr-TR" sz="2800">
                <a:solidFill>
                  <a:schemeClr val="dk1"/>
                </a:solidFill>
                <a:latin typeface="Arial"/>
                <a:ea typeface="Arial"/>
                <a:cs typeface="Arial"/>
                <a:sym typeface="Arial"/>
              </a:rPr>
              <a:t>-Belli bir konuyu tarih boyutu içinde ele alırken,  belli yıllar arasında çıkan belgelerin incelenmesi  zaman ve kaynak yönünden bir sınırlılıktır.</a:t>
            </a:r>
            <a:endParaRPr sz="2800">
              <a:solidFill>
                <a:schemeClr val="dk1"/>
              </a:solidFill>
              <a:latin typeface="Arial"/>
              <a:ea typeface="Arial"/>
              <a:cs typeface="Arial"/>
              <a:sym typeface="Arial"/>
            </a:endParaRPr>
          </a:p>
          <a:p>
            <a:pPr indent="-342900" lvl="0" marL="355600" marR="1260475" rtl="0" algn="l">
              <a:lnSpc>
                <a:spcPct val="96071"/>
              </a:lnSpc>
              <a:spcBef>
                <a:spcPts val="1155"/>
              </a:spcBef>
              <a:spcAft>
                <a:spcPts val="0"/>
              </a:spcAft>
              <a:buNone/>
            </a:pPr>
            <a:r>
              <a:rPr lang="tr-TR" sz="2800">
                <a:solidFill>
                  <a:schemeClr val="dk1"/>
                </a:solidFill>
                <a:latin typeface="Arial"/>
                <a:ea typeface="Arial"/>
                <a:cs typeface="Arial"/>
                <a:sym typeface="Arial"/>
              </a:rPr>
              <a:t>-Bu araştırma sınavların başarıya etkisi ile  sınırlıdır.</a:t>
            </a:r>
            <a:endParaRPr sz="2800">
              <a:solidFill>
                <a:schemeClr val="dk1"/>
              </a:solidFill>
              <a:latin typeface="Arial"/>
              <a:ea typeface="Arial"/>
              <a:cs typeface="Arial"/>
              <a:sym typeface="Arial"/>
            </a:endParaRPr>
          </a:p>
        </p:txBody>
      </p:sp>
      <p:sp>
        <p:nvSpPr>
          <p:cNvPr id="848" name="Google Shape;848;p10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109"/>
          <p:cNvSpPr txBox="1"/>
          <p:nvPr/>
        </p:nvSpPr>
        <p:spPr>
          <a:xfrm>
            <a:off x="274116" y="474929"/>
            <a:ext cx="1679575" cy="406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tr-TR" sz="2500">
                <a:solidFill>
                  <a:srgbClr val="FFFFFF"/>
                </a:solidFill>
                <a:latin typeface="Arial"/>
                <a:ea typeface="Arial"/>
                <a:cs typeface="Arial"/>
                <a:sym typeface="Arial"/>
              </a:rPr>
              <a:t>TANIMLAR</a:t>
            </a:r>
            <a:endParaRPr sz="2500">
              <a:solidFill>
                <a:schemeClr val="dk1"/>
              </a:solidFill>
              <a:latin typeface="Arial"/>
              <a:ea typeface="Arial"/>
              <a:cs typeface="Arial"/>
              <a:sym typeface="Arial"/>
            </a:endParaRPr>
          </a:p>
        </p:txBody>
      </p:sp>
      <p:sp>
        <p:nvSpPr>
          <p:cNvPr id="854" name="Google Shape;854;p109"/>
          <p:cNvSpPr txBox="1"/>
          <p:nvPr>
            <p:ph type="title"/>
          </p:nvPr>
        </p:nvSpPr>
        <p:spPr>
          <a:xfrm>
            <a:off x="1031544" y="1581734"/>
            <a:ext cx="7366000" cy="1220470"/>
          </a:xfrm>
          <a:prstGeom prst="rect">
            <a:avLst/>
          </a:prstGeom>
          <a:noFill/>
          <a:ln>
            <a:noFill/>
          </a:ln>
        </p:spPr>
        <p:txBody>
          <a:bodyPr anchorCtr="0" anchor="t" bIns="0" lIns="0" spcFirstLastPara="1" rIns="0" wrap="square" tIns="12050">
            <a:spAutoFit/>
          </a:bodyPr>
          <a:lstStyle/>
          <a:p>
            <a:pPr indent="0" lvl="0" marL="62864" rtl="0" algn="l">
              <a:lnSpc>
                <a:spcPct val="113928"/>
              </a:lnSpc>
              <a:spcBef>
                <a:spcPts val="0"/>
              </a:spcBef>
              <a:spcAft>
                <a:spcPts val="0"/>
              </a:spcAft>
              <a:buNone/>
            </a:pPr>
            <a:r>
              <a:rPr lang="tr-TR"/>
              <a:t>Bilim dalları geliştikçe, kendine özgü</a:t>
            </a:r>
            <a:endParaRPr/>
          </a:p>
          <a:p>
            <a:pPr indent="0" lvl="0" marL="12700" marR="5080" rtl="0" algn="l">
              <a:lnSpc>
                <a:spcPct val="107857"/>
              </a:lnSpc>
              <a:spcBef>
                <a:spcPts val="219"/>
              </a:spcBef>
              <a:spcAft>
                <a:spcPts val="0"/>
              </a:spcAft>
              <a:buNone/>
            </a:pPr>
            <a:r>
              <a:rPr lang="tr-TR"/>
              <a:t>terminolojileri, soyut kavramları da çoğalır. Her  bilim dalı kendine özgü kavramlar ile anlatılır.</a:t>
            </a:r>
            <a:endParaRPr/>
          </a:p>
        </p:txBody>
      </p:sp>
      <p:sp>
        <p:nvSpPr>
          <p:cNvPr id="855" name="Google Shape;855;p109"/>
          <p:cNvSpPr txBox="1"/>
          <p:nvPr/>
        </p:nvSpPr>
        <p:spPr>
          <a:xfrm>
            <a:off x="1031544" y="2739974"/>
            <a:ext cx="7306309" cy="2244725"/>
          </a:xfrm>
          <a:prstGeom prst="rect">
            <a:avLst/>
          </a:prstGeom>
          <a:noFill/>
          <a:ln>
            <a:noFill/>
          </a:ln>
        </p:spPr>
        <p:txBody>
          <a:bodyPr anchorCtr="0" anchor="t" bIns="0" lIns="0" spcFirstLastPara="1" rIns="0" wrap="square" tIns="12050">
            <a:spAutoFit/>
          </a:bodyPr>
          <a:lstStyle/>
          <a:p>
            <a:pPr indent="0" lvl="0" marL="62864" marR="0" rtl="0" algn="l">
              <a:lnSpc>
                <a:spcPct val="101964"/>
              </a:lnSpc>
              <a:spcBef>
                <a:spcPts val="0"/>
              </a:spcBef>
              <a:spcAft>
                <a:spcPts val="0"/>
              </a:spcAft>
              <a:buNone/>
            </a:pPr>
            <a:r>
              <a:rPr lang="tr-TR" sz="2800">
                <a:solidFill>
                  <a:schemeClr val="dk1"/>
                </a:solidFill>
                <a:latin typeface="Arial"/>
                <a:ea typeface="Arial"/>
                <a:cs typeface="Arial"/>
                <a:sym typeface="Arial"/>
              </a:rPr>
              <a:t>Araştırmada geçen anahtar kelimelerin</a:t>
            </a:r>
            <a:endParaRPr sz="2800">
              <a:solidFill>
                <a:schemeClr val="dk1"/>
              </a:solidFill>
              <a:latin typeface="Arial"/>
              <a:ea typeface="Arial"/>
              <a:cs typeface="Arial"/>
              <a:sym typeface="Arial"/>
            </a:endParaRPr>
          </a:p>
          <a:p>
            <a:pPr indent="0" lvl="0" marL="12700" marR="0" rtl="0" algn="l">
              <a:lnSpc>
                <a:spcPct val="84107"/>
              </a:lnSpc>
              <a:spcBef>
                <a:spcPts val="0"/>
              </a:spcBef>
              <a:spcAft>
                <a:spcPts val="0"/>
              </a:spcAft>
              <a:buNone/>
            </a:pPr>
            <a:r>
              <a:rPr lang="tr-TR" sz="2800">
                <a:solidFill>
                  <a:schemeClr val="dk1"/>
                </a:solidFill>
                <a:latin typeface="Arial"/>
                <a:ea typeface="Arial"/>
                <a:cs typeface="Arial"/>
                <a:sym typeface="Arial"/>
              </a:rPr>
              <a:t>açıklığa kavuşturulmasıdır.	Örneğin iş verimi</a:t>
            </a:r>
            <a:endParaRPr sz="2800">
              <a:solidFill>
                <a:schemeClr val="dk1"/>
              </a:solidFill>
              <a:latin typeface="Arial"/>
              <a:ea typeface="Arial"/>
              <a:cs typeface="Arial"/>
              <a:sym typeface="Arial"/>
            </a:endParaRPr>
          </a:p>
          <a:p>
            <a:pPr indent="0" lvl="0" marL="12700" marR="0" rtl="0" algn="l">
              <a:lnSpc>
                <a:spcPct val="83928"/>
              </a:lnSpc>
              <a:spcBef>
                <a:spcPts val="0"/>
              </a:spcBef>
              <a:spcAft>
                <a:spcPts val="0"/>
              </a:spcAft>
              <a:buNone/>
            </a:pPr>
            <a:r>
              <a:rPr lang="tr-TR" sz="2800">
                <a:solidFill>
                  <a:schemeClr val="dk1"/>
                </a:solidFill>
                <a:latin typeface="Arial"/>
                <a:ea typeface="Arial"/>
                <a:cs typeface="Arial"/>
                <a:sym typeface="Arial"/>
              </a:rPr>
              <a:t>ile ilgili bir araştırmada araştırmacı bu kavramı</a:t>
            </a:r>
            <a:endParaRPr sz="2800">
              <a:solidFill>
                <a:schemeClr val="dk1"/>
              </a:solidFill>
              <a:latin typeface="Arial"/>
              <a:ea typeface="Arial"/>
              <a:cs typeface="Arial"/>
              <a:sym typeface="Arial"/>
            </a:endParaRPr>
          </a:p>
          <a:p>
            <a:pPr indent="0" lvl="0" marL="12700" marR="0" rtl="0" algn="l">
              <a:lnSpc>
                <a:spcPct val="83928"/>
              </a:lnSpc>
              <a:spcBef>
                <a:spcPts val="0"/>
              </a:spcBef>
              <a:spcAft>
                <a:spcPts val="0"/>
              </a:spcAft>
              <a:buNone/>
            </a:pPr>
            <a:r>
              <a:rPr lang="tr-TR" sz="2800">
                <a:solidFill>
                  <a:schemeClr val="dk1"/>
                </a:solidFill>
                <a:latin typeface="Arial"/>
                <a:ea typeface="Arial"/>
                <a:cs typeface="Arial"/>
                <a:sym typeface="Arial"/>
              </a:rPr>
              <a:t>hangi kapsamda (ölçütler: parasal, fiziksel,</a:t>
            </a:r>
            <a:endParaRPr sz="2800">
              <a:solidFill>
                <a:schemeClr val="dk1"/>
              </a:solidFill>
              <a:latin typeface="Arial"/>
              <a:ea typeface="Arial"/>
              <a:cs typeface="Arial"/>
              <a:sym typeface="Arial"/>
            </a:endParaRPr>
          </a:p>
          <a:p>
            <a:pPr indent="0" lvl="0" marL="12700" marR="0" rtl="0" algn="l">
              <a:lnSpc>
                <a:spcPct val="84107"/>
              </a:lnSpc>
              <a:spcBef>
                <a:spcPts val="0"/>
              </a:spcBef>
              <a:spcAft>
                <a:spcPts val="0"/>
              </a:spcAft>
              <a:buNone/>
            </a:pPr>
            <a:r>
              <a:rPr lang="tr-TR" sz="2800">
                <a:solidFill>
                  <a:schemeClr val="dk1"/>
                </a:solidFill>
                <a:latin typeface="Arial"/>
                <a:ea typeface="Arial"/>
                <a:cs typeface="Arial"/>
                <a:sym typeface="Arial"/>
              </a:rPr>
              <a:t>vb.) kullandığını açıklar.	Bu tanımlar</a:t>
            </a:r>
            <a:endParaRPr sz="2800">
              <a:solidFill>
                <a:schemeClr val="dk1"/>
              </a:solidFill>
              <a:latin typeface="Arial"/>
              <a:ea typeface="Arial"/>
              <a:cs typeface="Arial"/>
              <a:sym typeface="Arial"/>
            </a:endParaRPr>
          </a:p>
          <a:p>
            <a:pPr indent="0" lvl="0" marL="12700" marR="340995" rtl="0" algn="l">
              <a:lnSpc>
                <a:spcPct val="70000"/>
              </a:lnSpc>
              <a:spcBef>
                <a:spcPts val="505"/>
              </a:spcBef>
              <a:spcAft>
                <a:spcPts val="0"/>
              </a:spcAft>
              <a:buNone/>
            </a:pPr>
            <a:r>
              <a:rPr lang="tr-TR" sz="2800">
                <a:solidFill>
                  <a:schemeClr val="dk1"/>
                </a:solidFill>
                <a:latin typeface="Arial"/>
                <a:ea typeface="Arial"/>
                <a:cs typeface="Arial"/>
                <a:sym typeface="Arial"/>
              </a:rPr>
              <a:t>kavramsal (sözlük tanımı gibi) ya da işlevsel  (belirli bir ölçüme göre) düzeyde yapılabilir.</a:t>
            </a:r>
            <a:endParaRPr sz="2800">
              <a:solidFill>
                <a:schemeClr val="dk1"/>
              </a:solidFill>
              <a:latin typeface="Arial"/>
              <a:ea typeface="Arial"/>
              <a:cs typeface="Arial"/>
              <a:sym typeface="Arial"/>
            </a:endParaRPr>
          </a:p>
        </p:txBody>
      </p:sp>
      <p:sp>
        <p:nvSpPr>
          <p:cNvPr id="856" name="Google Shape;856;p10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110"/>
          <p:cNvSpPr txBox="1"/>
          <p:nvPr/>
        </p:nvSpPr>
        <p:spPr>
          <a:xfrm>
            <a:off x="1026972" y="1673174"/>
            <a:ext cx="6752590" cy="3195955"/>
          </a:xfrm>
          <a:prstGeom prst="rect">
            <a:avLst/>
          </a:prstGeom>
          <a:noFill/>
          <a:ln>
            <a:noFill/>
          </a:ln>
        </p:spPr>
        <p:txBody>
          <a:bodyPr anchorCtr="0" anchor="t" bIns="0" lIns="0" spcFirstLastPara="1" rIns="0" wrap="square" tIns="6350">
            <a:spAutoFit/>
          </a:bodyPr>
          <a:lstStyle/>
          <a:p>
            <a:pPr indent="-5080" lvl="0" marL="17145" marR="5080" rtl="0" algn="l">
              <a:lnSpc>
                <a:spcPct val="101400"/>
              </a:lnSpc>
              <a:spcBef>
                <a:spcPts val="0"/>
              </a:spcBef>
              <a:spcAft>
                <a:spcPts val="0"/>
              </a:spcAft>
              <a:buNone/>
            </a:pPr>
            <a:r>
              <a:rPr lang="tr-TR" sz="2800">
                <a:solidFill>
                  <a:schemeClr val="dk1"/>
                </a:solidFill>
                <a:latin typeface="Arial"/>
                <a:ea typeface="Arial"/>
                <a:cs typeface="Arial"/>
                <a:sym typeface="Arial"/>
              </a:rPr>
              <a:t>Araştırmacı kullandığı kavramlardan yanlış  anlamalara ve değişik yorumlara sebep  olabilecek olanları tanımlamalıdır.</a:t>
            </a:r>
            <a:endParaRPr sz="2800">
              <a:solidFill>
                <a:schemeClr val="dk1"/>
              </a:solidFill>
              <a:latin typeface="Arial"/>
              <a:ea typeface="Arial"/>
              <a:cs typeface="Arial"/>
              <a:sym typeface="Arial"/>
            </a:endParaRPr>
          </a:p>
          <a:p>
            <a:pPr indent="50165" lvl="0" marL="17145" marR="474980" rtl="0" algn="l">
              <a:lnSpc>
                <a:spcPct val="100000"/>
              </a:lnSpc>
              <a:spcBef>
                <a:spcPts val="675"/>
              </a:spcBef>
              <a:spcAft>
                <a:spcPts val="0"/>
              </a:spcAft>
              <a:buNone/>
            </a:pPr>
            <a:r>
              <a:rPr lang="tr-TR" sz="2800">
                <a:solidFill>
                  <a:schemeClr val="dk1"/>
                </a:solidFill>
                <a:latin typeface="Arial"/>
                <a:ea typeface="Arial"/>
                <a:cs typeface="Arial"/>
                <a:sym typeface="Arial"/>
              </a:rPr>
              <a:t>Bunun dışında araştırmada geçen her  kavramın tanımlanmasına gerek yoktur.</a:t>
            </a:r>
            <a:endParaRPr sz="2800">
              <a:solidFill>
                <a:schemeClr val="dk1"/>
              </a:solidFill>
              <a:latin typeface="Arial"/>
              <a:ea typeface="Arial"/>
              <a:cs typeface="Arial"/>
              <a:sym typeface="Arial"/>
            </a:endParaRPr>
          </a:p>
          <a:p>
            <a:pPr indent="50165" lvl="0" marL="17145" marR="303530" rtl="0" algn="l">
              <a:lnSpc>
                <a:spcPct val="100000"/>
              </a:lnSpc>
              <a:spcBef>
                <a:spcPts val="670"/>
              </a:spcBef>
              <a:spcAft>
                <a:spcPts val="0"/>
              </a:spcAft>
              <a:buNone/>
            </a:pPr>
            <a:r>
              <a:rPr lang="tr-TR" sz="2800">
                <a:solidFill>
                  <a:schemeClr val="dk1"/>
                </a:solidFill>
                <a:latin typeface="Arial"/>
                <a:ea typeface="Arial"/>
                <a:cs typeface="Arial"/>
                <a:sym typeface="Arial"/>
              </a:rPr>
              <a:t>Burada tanımlar kavramsal değil işlevsel  olmalıdır.</a:t>
            </a:r>
            <a:endParaRPr sz="2800">
              <a:solidFill>
                <a:schemeClr val="dk1"/>
              </a:solidFill>
              <a:latin typeface="Arial"/>
              <a:ea typeface="Arial"/>
              <a:cs typeface="Arial"/>
              <a:sym typeface="Arial"/>
            </a:endParaRPr>
          </a:p>
        </p:txBody>
      </p:sp>
      <p:sp>
        <p:nvSpPr>
          <p:cNvPr id="862" name="Google Shape;862;p11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11"/>
          <p:cNvSpPr txBox="1"/>
          <p:nvPr>
            <p:ph type="title"/>
          </p:nvPr>
        </p:nvSpPr>
        <p:spPr>
          <a:xfrm>
            <a:off x="274116" y="474929"/>
            <a:ext cx="2032635" cy="4064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tr-TR" sz="2500">
                <a:solidFill>
                  <a:srgbClr val="FFFFFF"/>
                </a:solidFill>
                <a:latin typeface="Arial"/>
                <a:ea typeface="Arial"/>
                <a:cs typeface="Arial"/>
                <a:sym typeface="Arial"/>
              </a:rPr>
              <a:t>KAYNAKLAR</a:t>
            </a:r>
            <a:endParaRPr sz="2500">
              <a:latin typeface="Arial"/>
              <a:ea typeface="Arial"/>
              <a:cs typeface="Arial"/>
              <a:sym typeface="Arial"/>
            </a:endParaRPr>
          </a:p>
        </p:txBody>
      </p:sp>
      <p:sp>
        <p:nvSpPr>
          <p:cNvPr id="868" name="Google Shape;868;p111"/>
          <p:cNvSpPr txBox="1"/>
          <p:nvPr/>
        </p:nvSpPr>
        <p:spPr>
          <a:xfrm>
            <a:off x="688340" y="1552397"/>
            <a:ext cx="7686675" cy="3903979"/>
          </a:xfrm>
          <a:prstGeom prst="rect">
            <a:avLst/>
          </a:prstGeom>
          <a:noFill/>
          <a:ln>
            <a:noFill/>
          </a:ln>
        </p:spPr>
        <p:txBody>
          <a:bodyPr anchorCtr="0" anchor="t" bIns="0" lIns="0" spcFirstLastPara="1" rIns="0" wrap="square" tIns="12700">
            <a:spAutoFit/>
          </a:bodyPr>
          <a:lstStyle/>
          <a:p>
            <a:pPr indent="-342900" lvl="0" marL="342900" marR="28575" rtl="0" algn="l">
              <a:lnSpc>
                <a:spcPct val="108124"/>
              </a:lnSpc>
              <a:spcBef>
                <a:spcPts val="0"/>
              </a:spcBef>
              <a:spcAft>
                <a:spcPts val="0"/>
              </a:spcAft>
              <a:buClr>
                <a:srgbClr val="996666"/>
              </a:buClr>
              <a:buSzPts val="1900"/>
              <a:buFont typeface="Noto Sans Symbols"/>
              <a:buChar char="●"/>
            </a:pPr>
            <a:r>
              <a:rPr lang="tr-TR" sz="2400">
                <a:solidFill>
                  <a:schemeClr val="dk1"/>
                </a:solidFill>
                <a:latin typeface="Arial"/>
                <a:ea typeface="Arial"/>
                <a:cs typeface="Arial"/>
                <a:sym typeface="Arial"/>
              </a:rPr>
              <a:t>İslam, Y. (2005). Araştırma-Yazma ve Sunu Teknikleri</a:t>
            </a:r>
            <a:endParaRPr sz="2400">
              <a:solidFill>
                <a:schemeClr val="dk1"/>
              </a:solidFill>
              <a:latin typeface="Arial"/>
              <a:ea typeface="Arial"/>
              <a:cs typeface="Arial"/>
              <a:sym typeface="Arial"/>
            </a:endParaRPr>
          </a:p>
          <a:p>
            <a:pPr indent="0" lvl="0" marL="16510" marR="0" rtl="0" algn="ctr">
              <a:lnSpc>
                <a:spcPct val="108124"/>
              </a:lnSpc>
              <a:spcBef>
                <a:spcPts val="0"/>
              </a:spcBef>
              <a:spcAft>
                <a:spcPts val="0"/>
              </a:spcAft>
              <a:buNone/>
            </a:pPr>
            <a:r>
              <a:rPr lang="tr-TR" sz="2400">
                <a:solidFill>
                  <a:schemeClr val="dk1"/>
                </a:solidFill>
                <a:latin typeface="Arial"/>
                <a:ea typeface="Arial"/>
                <a:cs typeface="Arial"/>
                <a:sym typeface="Arial"/>
              </a:rPr>
              <a:t>Yönlendirilmiş Çalışma I-II Seçkin Yayıncılık,Ankara</a:t>
            </a:r>
            <a:endParaRPr sz="2400">
              <a:solidFill>
                <a:schemeClr val="dk1"/>
              </a:solidFill>
              <a:latin typeface="Arial"/>
              <a:ea typeface="Arial"/>
              <a:cs typeface="Arial"/>
              <a:sym typeface="Arial"/>
            </a:endParaRPr>
          </a:p>
          <a:p>
            <a:pPr indent="-343535" lvl="0" marL="355600" marR="803910" rtl="0" algn="l">
              <a:lnSpc>
                <a:spcPct val="95833"/>
              </a:lnSpc>
              <a:spcBef>
                <a:spcPts val="560"/>
              </a:spcBef>
              <a:spcAft>
                <a:spcPts val="0"/>
              </a:spcAft>
              <a:buClr>
                <a:srgbClr val="996666"/>
              </a:buClr>
              <a:buSzPts val="1900"/>
              <a:buFont typeface="Noto Sans Symbols"/>
              <a:buChar char="●"/>
            </a:pPr>
            <a:r>
              <a:rPr lang="tr-TR" sz="2400">
                <a:solidFill>
                  <a:schemeClr val="dk1"/>
                </a:solidFill>
                <a:latin typeface="Arial"/>
                <a:ea typeface="Arial"/>
                <a:cs typeface="Arial"/>
                <a:sym typeface="Arial"/>
              </a:rPr>
              <a:t>BALCI, A. (2005). </a:t>
            </a:r>
            <a:r>
              <a:rPr b="1" lang="tr-TR" sz="2400">
                <a:solidFill>
                  <a:schemeClr val="dk1"/>
                </a:solidFill>
                <a:latin typeface="Arial"/>
                <a:ea typeface="Arial"/>
                <a:cs typeface="Arial"/>
                <a:sym typeface="Arial"/>
              </a:rPr>
              <a:t>Sosyal Bilimlerde Araştırma  Yöntem, Teknik ve İlkeler</a:t>
            </a:r>
            <a:r>
              <a:rPr lang="tr-TR" sz="2400">
                <a:solidFill>
                  <a:schemeClr val="dk1"/>
                </a:solidFill>
                <a:latin typeface="Arial"/>
                <a:ea typeface="Arial"/>
                <a:cs typeface="Arial"/>
                <a:sym typeface="Arial"/>
              </a:rPr>
              <a:t>. Ankara: PegemA</a:t>
            </a:r>
            <a:endParaRPr sz="2400">
              <a:solidFill>
                <a:schemeClr val="dk1"/>
              </a:solidFill>
              <a:latin typeface="Arial"/>
              <a:ea typeface="Arial"/>
              <a:cs typeface="Arial"/>
              <a:sym typeface="Arial"/>
            </a:endParaRPr>
          </a:p>
          <a:p>
            <a:pPr indent="0" lvl="0" marL="355600" marR="0" rtl="0" algn="l">
              <a:lnSpc>
                <a:spcPct val="97083"/>
              </a:lnSpc>
              <a:spcBef>
                <a:spcPts val="0"/>
              </a:spcBef>
              <a:spcAft>
                <a:spcPts val="0"/>
              </a:spcAft>
              <a:buNone/>
            </a:pPr>
            <a:r>
              <a:rPr lang="tr-TR" sz="2400">
                <a:solidFill>
                  <a:schemeClr val="dk1"/>
                </a:solidFill>
                <a:latin typeface="Arial"/>
                <a:ea typeface="Arial"/>
                <a:cs typeface="Arial"/>
                <a:sym typeface="Arial"/>
              </a:rPr>
              <a:t>Yayıncılık</a:t>
            </a:r>
            <a:endParaRPr sz="2400">
              <a:solidFill>
                <a:schemeClr val="dk1"/>
              </a:solidFill>
              <a:latin typeface="Arial"/>
              <a:ea typeface="Arial"/>
              <a:cs typeface="Arial"/>
              <a:sym typeface="Arial"/>
            </a:endParaRPr>
          </a:p>
          <a:p>
            <a:pPr indent="-343535" lvl="0" marL="355600" marR="206375" rtl="0" algn="l">
              <a:lnSpc>
                <a:spcPct val="95833"/>
              </a:lnSpc>
              <a:spcBef>
                <a:spcPts val="565"/>
              </a:spcBef>
              <a:spcAft>
                <a:spcPts val="0"/>
              </a:spcAft>
              <a:buClr>
                <a:srgbClr val="996666"/>
              </a:buClr>
              <a:buSzPts val="1900"/>
              <a:buFont typeface="Noto Sans Symbols"/>
              <a:buChar char="●"/>
            </a:pPr>
            <a:r>
              <a:rPr lang="tr-TR" sz="2400">
                <a:solidFill>
                  <a:schemeClr val="dk1"/>
                </a:solidFill>
                <a:latin typeface="Arial"/>
                <a:ea typeface="Arial"/>
                <a:cs typeface="Arial"/>
                <a:sym typeface="Arial"/>
              </a:rPr>
              <a:t>KARASAR, N. (2005). </a:t>
            </a:r>
            <a:r>
              <a:rPr b="1" lang="tr-TR" sz="2400">
                <a:solidFill>
                  <a:schemeClr val="dk1"/>
                </a:solidFill>
                <a:latin typeface="Arial"/>
                <a:ea typeface="Arial"/>
                <a:cs typeface="Arial"/>
                <a:sym typeface="Arial"/>
              </a:rPr>
              <a:t>Bilimsel Araştırma Yöntemi</a:t>
            </a:r>
            <a:r>
              <a:rPr lang="tr-TR" sz="2400">
                <a:solidFill>
                  <a:schemeClr val="dk1"/>
                </a:solidFill>
                <a:latin typeface="Arial"/>
                <a:ea typeface="Arial"/>
                <a:cs typeface="Arial"/>
                <a:sym typeface="Arial"/>
              </a:rPr>
              <a:t>.  Ankara: Nobel Yayın Dağıtım</a:t>
            </a:r>
            <a:endParaRPr sz="2400">
              <a:solidFill>
                <a:schemeClr val="dk1"/>
              </a:solidFill>
              <a:latin typeface="Arial"/>
              <a:ea typeface="Arial"/>
              <a:cs typeface="Arial"/>
              <a:sym typeface="Arial"/>
            </a:endParaRPr>
          </a:p>
          <a:p>
            <a:pPr indent="-343535" lvl="0" marL="355600" marR="612140" rtl="0" algn="l">
              <a:lnSpc>
                <a:spcPct val="96250"/>
              </a:lnSpc>
              <a:spcBef>
                <a:spcPts val="575"/>
              </a:spcBef>
              <a:spcAft>
                <a:spcPts val="0"/>
              </a:spcAft>
              <a:buClr>
                <a:srgbClr val="996666"/>
              </a:buClr>
              <a:buSzPts val="1900"/>
              <a:buFont typeface="Noto Sans Symbols"/>
              <a:buChar char="●"/>
            </a:pPr>
            <a:r>
              <a:rPr lang="tr-TR" sz="2400" u="sng">
                <a:solidFill>
                  <a:srgbClr val="996666"/>
                </a:solidFill>
                <a:latin typeface="Arial"/>
                <a:ea typeface="Arial"/>
                <a:cs typeface="Arial"/>
                <a:sym typeface="Arial"/>
                <a:hlinkClick r:id="rId3">
                  <a:extLst>
                    <a:ext uri="{A12FA001-AC4F-418D-AE19-62706E023703}">
                      <ahyp:hlinkClr val="tx"/>
                    </a:ext>
                  </a:extLst>
                </a:hlinkClick>
              </a:rPr>
              <a:t>http://www.pdrciyiz.biz/arastirma-arastirma-turleri- </a:t>
            </a:r>
            <a:r>
              <a:rPr lang="tr-TR" sz="2400">
                <a:solidFill>
                  <a:srgbClr val="996666"/>
                </a:solidFill>
                <a:latin typeface="Arial"/>
                <a:ea typeface="Arial"/>
                <a:cs typeface="Arial"/>
                <a:sym typeface="Arial"/>
              </a:rPr>
              <a:t> </a:t>
            </a:r>
            <a:r>
              <a:rPr lang="tr-TR" sz="2400" u="sng">
                <a:solidFill>
                  <a:srgbClr val="996666"/>
                </a:solidFill>
                <a:latin typeface="Arial"/>
                <a:ea typeface="Arial"/>
                <a:cs typeface="Arial"/>
                <a:sym typeface="Arial"/>
                <a:hlinkClick r:id="rId4">
                  <a:extLst>
                    <a:ext uri="{A12FA001-AC4F-418D-AE19-62706E023703}">
                      <ahyp:hlinkClr val="tx"/>
                    </a:ext>
                  </a:extLst>
                </a:hlinkClick>
              </a:rPr>
              <a:t>t2021.html</a:t>
            </a:r>
            <a:endParaRPr sz="2400">
              <a:solidFill>
                <a:schemeClr val="dk1"/>
              </a:solidFill>
              <a:latin typeface="Arial"/>
              <a:ea typeface="Arial"/>
              <a:cs typeface="Arial"/>
              <a:sym typeface="Arial"/>
            </a:endParaRPr>
          </a:p>
          <a:p>
            <a:pPr indent="-343535" lvl="0" marL="355600" marR="5080" rtl="0" algn="l">
              <a:lnSpc>
                <a:spcPct val="80000"/>
              </a:lnSpc>
              <a:spcBef>
                <a:spcPts val="590"/>
              </a:spcBef>
              <a:spcAft>
                <a:spcPts val="0"/>
              </a:spcAft>
              <a:buClr>
                <a:srgbClr val="996666"/>
              </a:buClr>
              <a:buSzPts val="1900"/>
              <a:buFont typeface="Noto Sans Symbols"/>
              <a:buChar char="●"/>
            </a:pPr>
            <a:r>
              <a:rPr lang="tr-TR" sz="2400" u="sng">
                <a:solidFill>
                  <a:srgbClr val="996666"/>
                </a:solidFill>
                <a:latin typeface="Arial"/>
                <a:ea typeface="Arial"/>
                <a:cs typeface="Arial"/>
                <a:sym typeface="Arial"/>
                <a:hlinkClick r:id="rId5">
                  <a:extLst>
                    <a:ext uri="{A12FA001-AC4F-418D-AE19-62706E023703}">
                      <ahyp:hlinkClr val="tx"/>
                    </a:ext>
                  </a:extLst>
                </a:hlinkClick>
              </a:rPr>
              <a:t>http://tekniksosyoloji.wordpress.com/2010/04/26/arasti </a:t>
            </a:r>
            <a:r>
              <a:rPr lang="tr-TR" sz="2400">
                <a:solidFill>
                  <a:srgbClr val="996666"/>
                </a:solidFill>
                <a:latin typeface="Arial"/>
                <a:ea typeface="Arial"/>
                <a:cs typeface="Arial"/>
                <a:sym typeface="Arial"/>
              </a:rPr>
              <a:t> </a:t>
            </a:r>
            <a:r>
              <a:rPr lang="tr-TR" sz="2400" u="sng">
                <a:solidFill>
                  <a:srgbClr val="996666"/>
                </a:solidFill>
                <a:latin typeface="Arial"/>
                <a:ea typeface="Arial"/>
                <a:cs typeface="Arial"/>
                <a:sym typeface="Arial"/>
                <a:hlinkClick r:id="rId6">
                  <a:extLst>
                    <a:ext uri="{A12FA001-AC4F-418D-AE19-62706E023703}">
                      <ahyp:hlinkClr val="tx"/>
                    </a:ext>
                  </a:extLst>
                </a:hlinkClick>
              </a:rPr>
              <a:t>rma-konusu-seciminde-ve-arastirma-problemi- </a:t>
            </a:r>
            <a:r>
              <a:rPr lang="tr-TR" sz="2400">
                <a:solidFill>
                  <a:srgbClr val="996666"/>
                </a:solidFill>
                <a:latin typeface="Arial"/>
                <a:ea typeface="Arial"/>
                <a:cs typeface="Arial"/>
                <a:sym typeface="Arial"/>
              </a:rPr>
              <a:t> </a:t>
            </a:r>
            <a:r>
              <a:rPr lang="tr-TR" sz="2400" u="sng">
                <a:solidFill>
                  <a:srgbClr val="996666"/>
                </a:solidFill>
                <a:latin typeface="Arial"/>
                <a:ea typeface="Arial"/>
                <a:cs typeface="Arial"/>
                <a:sym typeface="Arial"/>
                <a:hlinkClick r:id="rId7">
                  <a:extLst>
                    <a:ext uri="{A12FA001-AC4F-418D-AE19-62706E023703}">
                      <ahyp:hlinkClr val="tx"/>
                    </a:ext>
                  </a:extLst>
                </a:hlinkClick>
              </a:rPr>
              <a:t>belirlemede-dikkat-edilecek-baslica-hususlar/</a:t>
            </a:r>
            <a:endParaRPr sz="2400">
              <a:solidFill>
                <a:schemeClr val="dk1"/>
              </a:solidFill>
              <a:latin typeface="Arial"/>
              <a:ea typeface="Arial"/>
              <a:cs typeface="Arial"/>
              <a:sym typeface="Arial"/>
            </a:endParaRPr>
          </a:p>
        </p:txBody>
      </p:sp>
      <p:sp>
        <p:nvSpPr>
          <p:cNvPr id="869" name="Google Shape;869;p11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Geçmişe bakış">
  <a:themeElements>
    <a:clrScheme name="Mor II">
      <a:dk1>
        <a:srgbClr val="000000"/>
      </a:dk1>
      <a:lt1>
        <a:srgbClr val="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96666"/>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eması">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2021-03-17T08:05:16Z</dcterms:created>
  <dc:creator>Rıdvan DURAK</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2012-01-03T00:00:00Z</vt:filetime>
  </property>
  <property fmtid="{D5CDD505-2E9C-101B-9397-08002B2CF9AE}" pid="3" name="Creator">
    <vt:lpwstr>Microsoft® PowerPoint® 2010</vt:lpwstr>
  </property>
  <property fmtid="{D5CDD505-2E9C-101B-9397-08002B2CF9AE}" pid="4" name="LastSaved">
    <vt:filetime>2021-03-17T00:00:00Z</vt:filetime>
  </property>
</Properties>
</file>