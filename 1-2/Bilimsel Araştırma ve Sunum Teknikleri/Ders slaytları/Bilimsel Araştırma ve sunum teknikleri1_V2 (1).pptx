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44"/>
  </p:notesMasterIdLst>
  <p:sldIdLst>
    <p:sldId id="256" r:id="rId2"/>
    <p:sldId id="299" r:id="rId3"/>
    <p:sldId id="259" r:id="rId4"/>
    <p:sldId id="300" r:id="rId5"/>
    <p:sldId id="260" r:id="rId6"/>
    <p:sldId id="261" r:id="rId7"/>
    <p:sldId id="265" r:id="rId8"/>
    <p:sldId id="274" r:id="rId9"/>
    <p:sldId id="275" r:id="rId10"/>
    <p:sldId id="276" r:id="rId11"/>
    <p:sldId id="266" r:id="rId12"/>
    <p:sldId id="267" r:id="rId13"/>
    <p:sldId id="277" r:id="rId14"/>
    <p:sldId id="268" r:id="rId15"/>
    <p:sldId id="269" r:id="rId16"/>
    <p:sldId id="270" r:id="rId17"/>
    <p:sldId id="271" r:id="rId18"/>
    <p:sldId id="272" r:id="rId19"/>
    <p:sldId id="278" r:id="rId20"/>
    <p:sldId id="262" r:id="rId21"/>
    <p:sldId id="263" r:id="rId22"/>
    <p:sldId id="264" r:id="rId23"/>
    <p:sldId id="296"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7" r:id="rId42"/>
    <p:sldId id="301" r:id="rId43"/>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049" autoAdjust="0"/>
    <p:restoredTop sz="94660"/>
  </p:normalViewPr>
  <p:slideViewPr>
    <p:cSldViewPr snapToGrid="0">
      <p:cViewPr varScale="1">
        <p:scale>
          <a:sx n="114" d="100"/>
          <a:sy n="114" d="100"/>
        </p:scale>
        <p:origin x="87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16D98D-AABB-4ACF-91C8-1D0FCCAFB346}" type="datetimeFigureOut">
              <a:rPr lang="tr-TR" smtClean="0"/>
              <a:t>19.02.2026</a:t>
            </a:fld>
            <a:endParaRPr lang="tr-TR"/>
          </a:p>
        </p:txBody>
      </p:sp>
      <p:sp>
        <p:nvSpPr>
          <p:cNvPr id="4" name="Slayt Görüntüsü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6" name="Alt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8DBE86-6D2B-4591-9EBC-651E3FC056B0}" type="slidenum">
              <a:rPr lang="tr-TR" smtClean="0"/>
              <a:t>‹#›</a:t>
            </a:fld>
            <a:endParaRPr lang="tr-TR"/>
          </a:p>
        </p:txBody>
      </p:sp>
    </p:spTree>
    <p:extLst>
      <p:ext uri="{BB962C8B-B14F-4D97-AF65-F5344CB8AC3E}">
        <p14:creationId xmlns:p14="http://schemas.microsoft.com/office/powerpoint/2010/main" val="28779882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9E47200-040D-42B1-AB1F-063AEC352066}" type="slidenum">
              <a:rPr lang="tr-TR" altLang="tr-TR"/>
              <a:pPr/>
              <a:t>39</a:t>
            </a:fld>
            <a:endParaRPr lang="tr-TR" altLang="tr-TR"/>
          </a:p>
        </p:txBody>
      </p:sp>
      <p:sp>
        <p:nvSpPr>
          <p:cNvPr id="165890" name="Rectangle 2"/>
          <p:cNvSpPr>
            <a:spLocks noGrp="1" noRot="1" noChangeAspect="1" noChangeArrowheads="1" noTextEdit="1"/>
          </p:cNvSpPr>
          <p:nvPr>
            <p:ph type="sldImg"/>
          </p:nvPr>
        </p:nvSpPr>
        <p:spPr>
          <a:ln/>
        </p:spPr>
      </p:sp>
      <p:sp>
        <p:nvSpPr>
          <p:cNvPr id="165891" name="Rectangle 3"/>
          <p:cNvSpPr>
            <a:spLocks noGrp="1" noChangeArrowheads="1"/>
          </p:cNvSpPr>
          <p:nvPr>
            <p:ph type="body" idx="1"/>
          </p:nvPr>
        </p:nvSpPr>
        <p:spPr/>
        <p:txBody>
          <a:bodyPr/>
          <a:lstStyle/>
          <a:p>
            <a:pPr>
              <a:lnSpc>
                <a:spcPct val="90000"/>
              </a:lnSpc>
            </a:pPr>
            <a:r>
              <a:rPr lang="tr-TR" altLang="tr-TR"/>
              <a:t>Freud ‘a göre toplum tarafından hoş karşılanmayan cinsellik ve saldırganlık duyguları bilinçaltına itilirler,çünkü bu tür düşünce ve istekleri sürekli bilinçte tutmak bireyde rahatsızlık yaratır. Bilinçaltına itilmiş arzuların farkında olmayız,ancak onlar bizim davranışlarımızı etkilemeye devam ederler. Psikoanalitik yaklaşım dil sürçmesi ,unutmalar ,hatalar ve buna benzer davranışları bilinçaltındaki isteklerin ifadesi olarak kabul eder.(Cüceloğlu-2000)</a:t>
            </a:r>
            <a:br>
              <a:rPr lang="tr-TR" altLang="tr-TR"/>
            </a:br>
            <a:r>
              <a:rPr lang="tr-TR" altLang="tr-TR"/>
              <a:t>Psikoanalitik kuramlar , özel kişiliği –davranışı yönlendiren bilinçdışı güdüleri-inceler Psikoanalitik kuram kişiliğin nasıl geliştiği ile de ilgilenir.</a:t>
            </a:r>
            <a:br>
              <a:rPr lang="tr-TR" altLang="tr-TR"/>
            </a:br>
            <a:endParaRPr lang="tr-TR" altLang="tr-TR"/>
          </a:p>
          <a:p>
            <a:pPr>
              <a:lnSpc>
                <a:spcPct val="90000"/>
              </a:lnSpc>
            </a:pPr>
            <a:r>
              <a:rPr lang="tr-TR" altLang="tr-TR"/>
              <a:t>Marx Diyalektik Materyalizm Kuramı</a:t>
            </a:r>
          </a:p>
          <a:p>
            <a:pPr>
              <a:lnSpc>
                <a:spcPct val="90000"/>
              </a:lnSpc>
            </a:pPr>
            <a:r>
              <a:rPr lang="tr-TR" altLang="tr-TR"/>
              <a:t>Diyalektik materyalizm; maddenin, tabiatın ve gözlemlenebilen alemin “Kayızsız şartsız” kendi başına gerçek olduğunu; kendi gerçekliğini hiçbir tabiat üstü veya aşkın güçten almadığı gibi varlığı bakımından da insan zihnine bağımlı bulunmadığını savunan görüştür”. </a:t>
            </a:r>
          </a:p>
          <a:p>
            <a:pPr>
              <a:lnSpc>
                <a:spcPct val="90000"/>
              </a:lnSpc>
            </a:pPr>
            <a:endParaRPr lang="tr-TR" altLang="tr-TR"/>
          </a:p>
          <a:p>
            <a:pPr lvl="1">
              <a:lnSpc>
                <a:spcPct val="90000"/>
              </a:lnSpc>
            </a:pPr>
            <a:r>
              <a:rPr lang="tr-TR" altLang="tr-TR" sz="1500"/>
              <a:t>Einstein’in İzafiyet Kuramı</a:t>
            </a:r>
            <a:endParaRPr lang="tr-TR" altLang="tr-TR" sz="1300"/>
          </a:p>
          <a:p>
            <a:pPr>
              <a:lnSpc>
                <a:spcPct val="90000"/>
              </a:lnSpc>
            </a:pPr>
            <a:r>
              <a:rPr lang="tr-TR" altLang="tr-TR"/>
              <a:t>Tam Türkçesi </a:t>
            </a:r>
            <a:r>
              <a:rPr lang="tr-TR" altLang="tr-TR" i="1"/>
              <a:t>"Görecelik Teorisi"</a:t>
            </a:r>
            <a:r>
              <a:rPr lang="tr-TR" altLang="tr-TR"/>
              <a:t> olan izafiyet teorisi üç bölüme ayrılır. Bir bölümü çeşitli hızlardaki aralar veya maddelerde geçen zamanın, uzay-zaman içinde değişik konumlarda bulunan gözlemcilere göre </a:t>
            </a:r>
            <a:r>
              <a:rPr lang="tr-TR" altLang="tr-TR" i="1"/>
              <a:t>"göreceli"</a:t>
            </a:r>
            <a:r>
              <a:rPr lang="tr-TR" altLang="tr-TR"/>
              <a:t> olduğunu varsayan bir teoridir. Ünlü fizikçi Einstein, sonlu ve eğrisel olduğunu düşündüğü evrenin dört boyutlu olduğunu, dördüncü boyutun zaman olduğunu ileri sürmüştü. </a:t>
            </a:r>
          </a:p>
        </p:txBody>
      </p:sp>
    </p:spTree>
    <p:extLst>
      <p:ext uri="{BB962C8B-B14F-4D97-AF65-F5344CB8AC3E}">
        <p14:creationId xmlns:p14="http://schemas.microsoft.com/office/powerpoint/2010/main" val="15489056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DFC6CB7-B89F-45D8-ACAA-08B505D84D93}" type="slidenum">
              <a:rPr lang="tr-TR" altLang="tr-TR"/>
              <a:pPr/>
              <a:t>40</a:t>
            </a:fld>
            <a:endParaRPr lang="tr-TR" altLang="tr-TR"/>
          </a:p>
        </p:txBody>
      </p:sp>
      <p:sp>
        <p:nvSpPr>
          <p:cNvPr id="159746" name="Rectangle 2"/>
          <p:cNvSpPr>
            <a:spLocks noGrp="1" noRot="1" noChangeAspect="1" noChangeArrowheads="1" noTextEdit="1"/>
          </p:cNvSpPr>
          <p:nvPr>
            <p:ph type="sldImg"/>
          </p:nvPr>
        </p:nvSpPr>
        <p:spPr>
          <a:ln/>
        </p:spPr>
      </p:sp>
      <p:sp>
        <p:nvSpPr>
          <p:cNvPr id="159747" name="Rectangle 3"/>
          <p:cNvSpPr>
            <a:spLocks noGrp="1" noChangeArrowheads="1"/>
          </p:cNvSpPr>
          <p:nvPr>
            <p:ph type="body" idx="1"/>
          </p:nvPr>
        </p:nvSpPr>
        <p:spPr/>
        <p:txBody>
          <a:bodyPr/>
          <a:lstStyle/>
          <a:p>
            <a:pPr>
              <a:lnSpc>
                <a:spcPct val="90000"/>
              </a:lnSpc>
            </a:pPr>
            <a:r>
              <a:rPr lang="tr-TR" altLang="tr-TR"/>
              <a:t>Freud ‘a göre toplum tarafından hoş karşılanmayan cinsellik ve saldırganlık duyguları bilinçaltına itilirler,çünkü bu tür düşünce ve istekleri sürekli bilinçte tutmak bireyde rahatsızlık yaratır. Bilinçaltına itilmiş arzuların farkında olmayız,ancak onlar bizim davranışlarımızı etkilemeye devam ederler. Psikoanalitik yaklaşım dil sürçmesi ,unutmalar ,hatalar ve buna benzer davranışları bilinçaltındaki isteklerin ifadesi olarak kabul eder.(Cüceloğlu-2000)</a:t>
            </a:r>
            <a:br>
              <a:rPr lang="tr-TR" altLang="tr-TR"/>
            </a:br>
            <a:r>
              <a:rPr lang="tr-TR" altLang="tr-TR"/>
              <a:t>Psikoanalitik kuramlar , özel kişiliği –davranışı yönlendiren bilinçdışı güdüleri-inceler Psikoanalitik kuram kişiliğin nasıl geliştiği ile de ilgilenir.</a:t>
            </a:r>
            <a:br>
              <a:rPr lang="tr-TR" altLang="tr-TR"/>
            </a:br>
            <a:endParaRPr lang="tr-TR" altLang="tr-TR"/>
          </a:p>
          <a:p>
            <a:pPr>
              <a:lnSpc>
                <a:spcPct val="90000"/>
              </a:lnSpc>
            </a:pPr>
            <a:r>
              <a:rPr lang="tr-TR" altLang="tr-TR"/>
              <a:t>Marx Diyalektik Materyalizm Kuramı</a:t>
            </a:r>
          </a:p>
          <a:p>
            <a:pPr>
              <a:lnSpc>
                <a:spcPct val="90000"/>
              </a:lnSpc>
            </a:pPr>
            <a:r>
              <a:rPr lang="tr-TR" altLang="tr-TR"/>
              <a:t>Diyalektik materyalizm; maddenin, tabiatın ve gözlemlenebilen alemin “Kayızsız şartsız” kendi başına gerçek olduğunu; kendi gerçekliğini hiçbir tabiat üstü veya aşkın güçten almadığı gibi varlığı bakımından da insan zihnine bağımlı bulunmadığını savunan görüştür”. </a:t>
            </a:r>
          </a:p>
          <a:p>
            <a:pPr>
              <a:lnSpc>
                <a:spcPct val="90000"/>
              </a:lnSpc>
            </a:pPr>
            <a:endParaRPr lang="tr-TR" altLang="tr-TR"/>
          </a:p>
          <a:p>
            <a:pPr lvl="1">
              <a:lnSpc>
                <a:spcPct val="90000"/>
              </a:lnSpc>
            </a:pPr>
            <a:r>
              <a:rPr lang="tr-TR" altLang="tr-TR" sz="1500"/>
              <a:t>Einstein’in İzafiyet Kuramı</a:t>
            </a:r>
            <a:endParaRPr lang="tr-TR" altLang="tr-TR" sz="1300"/>
          </a:p>
          <a:p>
            <a:pPr>
              <a:lnSpc>
                <a:spcPct val="90000"/>
              </a:lnSpc>
            </a:pPr>
            <a:r>
              <a:rPr lang="tr-TR" altLang="tr-TR"/>
              <a:t>Tam Türkçesi </a:t>
            </a:r>
            <a:r>
              <a:rPr lang="tr-TR" altLang="tr-TR" i="1"/>
              <a:t>"Görecelik Teorisi"</a:t>
            </a:r>
            <a:r>
              <a:rPr lang="tr-TR" altLang="tr-TR"/>
              <a:t> olan izafiyet teorisi üç bölüme ayrılır. Bir bölümü çeşitli hızlardaki aralar veya maddelerde geçen zamanın, uzay-zaman içinde değişik konumlarda bulunan gözlemcilere göre </a:t>
            </a:r>
            <a:r>
              <a:rPr lang="tr-TR" altLang="tr-TR" i="1"/>
              <a:t>"göreceli"</a:t>
            </a:r>
            <a:r>
              <a:rPr lang="tr-TR" altLang="tr-TR"/>
              <a:t> olduğunu varsayan bir teoridir. Ünlü fizikçi Einstein, sonlu ve eğrisel olduğunu düşündüğü evrenin dört boyutlu olduğunu, dördüncü boyutun zaman olduğunu ileri sürmüştü. </a:t>
            </a:r>
          </a:p>
        </p:txBody>
      </p:sp>
    </p:spTree>
    <p:extLst>
      <p:ext uri="{BB962C8B-B14F-4D97-AF65-F5344CB8AC3E}">
        <p14:creationId xmlns:p14="http://schemas.microsoft.com/office/powerpoint/2010/main" val="4214478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tr-TR"/>
              <a:t>Asıl başlık stili için tıklatın</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2A57263E-5DD5-42B8-8BBB-29FF5204395B}" type="datetimeFigureOut">
              <a:rPr lang="tr-TR" smtClean="0"/>
              <a:t>19.02.2026</a:t>
            </a:fld>
            <a:endParaRPr lang="tr-TR"/>
          </a:p>
        </p:txBody>
      </p:sp>
      <p:sp>
        <p:nvSpPr>
          <p:cNvPr id="5" name="Footer Placeholder 4"/>
          <p:cNvSpPr>
            <a:spLocks noGrp="1"/>
          </p:cNvSpPr>
          <p:nvPr>
            <p:ph type="ftr" sz="quarter" idx="11"/>
          </p:nvPr>
        </p:nvSpPr>
        <p:spPr>
          <a:xfrm>
            <a:off x="5332412" y="5883275"/>
            <a:ext cx="4324044" cy="365125"/>
          </a:xfrm>
        </p:spPr>
        <p:txBody>
          <a:bodyPr/>
          <a:lstStyle/>
          <a:p>
            <a:endParaRPr lang="tr-TR"/>
          </a:p>
        </p:txBody>
      </p:sp>
      <p:sp>
        <p:nvSpPr>
          <p:cNvPr id="6" name="Slide Number Placeholder 5"/>
          <p:cNvSpPr>
            <a:spLocks noGrp="1"/>
          </p:cNvSpPr>
          <p:nvPr>
            <p:ph type="sldNum" sz="quarter" idx="12"/>
          </p:nvPr>
        </p:nvSpPr>
        <p:spPr/>
        <p:txBody>
          <a:bodyPr/>
          <a:lstStyle/>
          <a:p>
            <a:fld id="{563E935F-4812-45DF-8A5D-7DA0AE19940D}" type="slidenum">
              <a:rPr lang="tr-TR" smtClean="0"/>
              <a:t>‹#›</a:t>
            </a:fld>
            <a:endParaRPr lang="tr-TR"/>
          </a:p>
        </p:txBody>
      </p:sp>
    </p:spTree>
    <p:extLst>
      <p:ext uri="{BB962C8B-B14F-4D97-AF65-F5344CB8AC3E}">
        <p14:creationId xmlns:p14="http://schemas.microsoft.com/office/powerpoint/2010/main" val="2088907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solidFill>
                  <a:schemeClr val="accent1">
                    <a:lumMod val="75000"/>
                  </a:schemeClr>
                </a:solidFill>
              </a:defRPr>
            </a:lvl1pPr>
          </a:lstStyle>
          <a:p>
            <a:r>
              <a:rPr lang="tr-TR" dirty="0"/>
              <a:t>Asıl başlık stili için tıklatın</a:t>
            </a:r>
            <a:endParaRPr lang="en-US" dirty="0"/>
          </a:p>
        </p:txBody>
      </p:sp>
      <p:sp>
        <p:nvSpPr>
          <p:cNvPr id="3" name="Content Placeholder 2"/>
          <p:cNvSpPr>
            <a:spLocks noGrp="1"/>
          </p:cNvSpPr>
          <p:nvPr>
            <p:ph idx="1" hasCustomPrompt="1"/>
          </p:nvPr>
        </p:nvSpPr>
        <p:spPr/>
        <p:txBody>
          <a:bodyPr anchor="ctr"/>
          <a:lstStyle>
            <a:lvl1pPr>
              <a:defRPr/>
            </a:lvl1pPr>
            <a:lvl2pPr>
              <a:defRPr/>
            </a:lvl2pPr>
          </a:lstStyle>
          <a:p>
            <a:pPr lvl="0"/>
            <a:r>
              <a:rPr lang="tr-TR" dirty="0"/>
              <a:t>                                                                                                                                                                                                                                                                                                                                                                                                                                                                                                                                                                                                                                                                                                                                                                                                                                                                                                                                                                                                                                                                                                                                                                                                                                                                                                                                                                                                                                                                                                                                                                                                                                                                                                                                                                                                                                                                                                                                                                                                                                                                                                                                                                                                                                                                                                                                                                                                                                                                                                                                                                                                                                                                                                                                                                                                                                                                                                                                                                                                                                                                                                                                                                                                                                                                                                                                                                                                                                                                                                                                                                                                                                                                                                                                                                                                                                                                                                                                                                                                                                                                                                                                                                                                                                                                                                                                                                                                                                                                                                                                                                                                                                                                                                                                                                                                                                                                                                                                                                                                                                                                                                                                                                                                                                                                                                                                                                                                                                                                                                                                                                                                          </a:t>
            </a:r>
          </a:p>
          <a:p>
            <a:pPr lvl="1"/>
            <a:r>
              <a:rPr lang="tr-TR" dirty="0"/>
              <a:t>İkinci                        düzey</a:t>
            </a:r>
          </a:p>
          <a:p>
            <a:pPr lvl="2"/>
            <a:r>
              <a:rPr lang="tr-TR" dirty="0"/>
              <a:t>Üçüncü düzey</a:t>
            </a:r>
          </a:p>
          <a:p>
            <a:pPr lvl="3"/>
            <a:r>
              <a:rPr lang="tr-TR" dirty="0"/>
              <a:t>Dördüncü düzey</a:t>
            </a:r>
          </a:p>
          <a:p>
            <a:pPr lvl="4"/>
            <a:r>
              <a:rPr lang="tr-TR" dirty="0"/>
              <a:t>Beşinci düzey</a:t>
            </a:r>
            <a:endParaRPr lang="en-US" dirty="0"/>
          </a:p>
        </p:txBody>
      </p:sp>
      <p:sp>
        <p:nvSpPr>
          <p:cNvPr id="4" name="Date Placeholder 3"/>
          <p:cNvSpPr>
            <a:spLocks noGrp="1"/>
          </p:cNvSpPr>
          <p:nvPr>
            <p:ph type="dt" sz="half" idx="10"/>
          </p:nvPr>
        </p:nvSpPr>
        <p:spPr/>
        <p:txBody>
          <a:bodyPr/>
          <a:lstStyle/>
          <a:p>
            <a:fld id="{2A57263E-5DD5-42B8-8BBB-29FF5204395B}" type="datetimeFigureOut">
              <a:rPr lang="tr-TR" smtClean="0"/>
              <a:t>19.02.2026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a:xfrm>
            <a:off x="10951856" y="5867131"/>
            <a:ext cx="551167" cy="365125"/>
          </a:xfrm>
        </p:spPr>
        <p:txBody>
          <a:bodyPr/>
          <a:lstStyle/>
          <a:p>
            <a:fld id="{563E935F-4812-45DF-8A5D-7DA0AE19940D}" type="slidenum">
              <a:rPr lang="tr-TR" smtClean="0"/>
              <a:t>‹#›</a:t>
            </a:fld>
            <a:endParaRPr lang="tr-TR"/>
          </a:p>
        </p:txBody>
      </p:sp>
    </p:spTree>
    <p:extLst>
      <p:ext uri="{BB962C8B-B14F-4D97-AF65-F5344CB8AC3E}">
        <p14:creationId xmlns:p14="http://schemas.microsoft.com/office/powerpoint/2010/main" val="27095607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tr-TR"/>
              <a:t>Asıl başlık stili için tıklatın</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2A57263E-5DD5-42B8-8BBB-29FF5204395B}" type="datetimeFigureOut">
              <a:rPr lang="tr-TR" smtClean="0"/>
              <a:t>19.02.2026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563E935F-4812-45DF-8A5D-7DA0AE19940D}" type="slidenum">
              <a:rPr lang="tr-TR" smtClean="0"/>
              <a:t>‹#›</a:t>
            </a:fld>
            <a:endParaRPr lang="tr-TR"/>
          </a:p>
        </p:txBody>
      </p:sp>
    </p:spTree>
    <p:extLst>
      <p:ext uri="{BB962C8B-B14F-4D97-AF65-F5344CB8AC3E}">
        <p14:creationId xmlns:p14="http://schemas.microsoft.com/office/powerpoint/2010/main" val="29268357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tr-TR"/>
              <a:t>Asıl başlık stili için tıklatın</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2A57263E-5DD5-42B8-8BBB-29FF5204395B}" type="datetimeFigureOut">
              <a:rPr lang="tr-TR" smtClean="0"/>
              <a:t>19.02.2026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563E935F-4812-45DF-8A5D-7DA0AE19940D}" type="slidenum">
              <a:rPr lang="tr-TR" smtClean="0"/>
              <a:t>‹#›</a:t>
            </a:fld>
            <a:endParaRPr lang="tr-TR"/>
          </a:p>
        </p:txBody>
      </p:sp>
    </p:spTree>
    <p:extLst>
      <p:ext uri="{BB962C8B-B14F-4D97-AF65-F5344CB8AC3E}">
        <p14:creationId xmlns:p14="http://schemas.microsoft.com/office/powerpoint/2010/main" val="3142459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tr-TR"/>
              <a:t>Asıl başlık stili için tıklatın</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2A57263E-5DD5-42B8-8BBB-29FF5204395B}" type="datetimeFigureOut">
              <a:rPr lang="tr-TR" smtClean="0"/>
              <a:t>19.02.2026</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563E935F-4812-45DF-8A5D-7DA0AE19940D}" type="slidenum">
              <a:rPr lang="tr-TR" smtClean="0"/>
              <a:t>‹#›</a:t>
            </a:fld>
            <a:endParaRPr lang="tr-TR"/>
          </a:p>
        </p:txBody>
      </p:sp>
    </p:spTree>
    <p:extLst>
      <p:ext uri="{BB962C8B-B14F-4D97-AF65-F5344CB8AC3E}">
        <p14:creationId xmlns:p14="http://schemas.microsoft.com/office/powerpoint/2010/main" val="399482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Date Placeholder 2"/>
          <p:cNvSpPr>
            <a:spLocks noGrp="1"/>
          </p:cNvSpPr>
          <p:nvPr>
            <p:ph type="dt" sz="half" idx="10"/>
          </p:nvPr>
        </p:nvSpPr>
        <p:spPr/>
        <p:txBody>
          <a:bodyPr/>
          <a:lstStyle/>
          <a:p>
            <a:fld id="{2A57263E-5DD5-42B8-8BBB-29FF5204395B}" type="datetimeFigureOut">
              <a:rPr lang="tr-TR" smtClean="0"/>
              <a:t>19.02.2026</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563E935F-4812-45DF-8A5D-7DA0AE19940D}" type="slidenum">
              <a:rPr lang="tr-TR" smtClean="0"/>
              <a:t>‹#›</a:t>
            </a:fld>
            <a:endParaRPr lang="tr-TR"/>
          </a:p>
        </p:txBody>
      </p:sp>
    </p:spTree>
    <p:extLst>
      <p:ext uri="{BB962C8B-B14F-4D97-AF65-F5344CB8AC3E}">
        <p14:creationId xmlns:p14="http://schemas.microsoft.com/office/powerpoint/2010/main" val="34914328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57263E-5DD5-42B8-8BBB-29FF5204395B}" type="datetimeFigureOut">
              <a:rPr lang="tr-TR" smtClean="0"/>
              <a:t>19.02.2026</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563E935F-4812-45DF-8A5D-7DA0AE19940D}" type="slidenum">
              <a:rPr lang="tr-TR" smtClean="0"/>
              <a:t>‹#›</a:t>
            </a:fld>
            <a:endParaRPr lang="tr-TR"/>
          </a:p>
        </p:txBody>
      </p:sp>
    </p:spTree>
    <p:extLst>
      <p:ext uri="{BB962C8B-B14F-4D97-AF65-F5344CB8AC3E}">
        <p14:creationId xmlns:p14="http://schemas.microsoft.com/office/powerpoint/2010/main" val="1899377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tr-TR"/>
              <a:t>Asıl başlık stili için tıklatın</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a:t>
            </a:r>
          </a:p>
        </p:txBody>
      </p:sp>
      <p:sp>
        <p:nvSpPr>
          <p:cNvPr id="5" name="Date Placeholder 4"/>
          <p:cNvSpPr>
            <a:spLocks noGrp="1"/>
          </p:cNvSpPr>
          <p:nvPr>
            <p:ph type="dt" sz="half" idx="10"/>
          </p:nvPr>
        </p:nvSpPr>
        <p:spPr/>
        <p:txBody>
          <a:bodyPr/>
          <a:lstStyle/>
          <a:p>
            <a:fld id="{2A57263E-5DD5-42B8-8BBB-29FF5204395B}" type="datetimeFigureOut">
              <a:rPr lang="tr-TR" smtClean="0"/>
              <a:t>19.02.2026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563E935F-4812-45DF-8A5D-7DA0AE19940D}" type="slidenum">
              <a:rPr lang="tr-TR" smtClean="0"/>
              <a:t>‹#›</a:t>
            </a:fld>
            <a:endParaRPr lang="tr-TR"/>
          </a:p>
        </p:txBody>
      </p:sp>
    </p:spTree>
    <p:extLst>
      <p:ext uri="{BB962C8B-B14F-4D97-AF65-F5344CB8AC3E}">
        <p14:creationId xmlns:p14="http://schemas.microsoft.com/office/powerpoint/2010/main" val="20091507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tr-TR"/>
              <a:t>Asıl başlık stili için tıklatın</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simgeyi tıklatın</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a:t>
            </a:r>
          </a:p>
        </p:txBody>
      </p:sp>
      <p:sp>
        <p:nvSpPr>
          <p:cNvPr id="5" name="Date Placeholder 4"/>
          <p:cNvSpPr>
            <a:spLocks noGrp="1"/>
          </p:cNvSpPr>
          <p:nvPr>
            <p:ph type="dt" sz="half" idx="10"/>
          </p:nvPr>
        </p:nvSpPr>
        <p:spPr/>
        <p:txBody>
          <a:bodyPr/>
          <a:lstStyle/>
          <a:p>
            <a:fld id="{2A57263E-5DD5-42B8-8BBB-29FF5204395B}" type="datetimeFigureOut">
              <a:rPr lang="tr-TR" smtClean="0"/>
              <a:t>19.02.2026</a:t>
            </a:fld>
            <a:endParaRPr lang="tr-T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63E935F-4812-45DF-8A5D-7DA0AE19940D}" type="slidenum">
              <a:rPr lang="tr-TR" smtClean="0"/>
              <a:t>‹#›</a:t>
            </a:fld>
            <a:endParaRPr lang="tr-TR"/>
          </a:p>
        </p:txBody>
      </p:sp>
    </p:spTree>
    <p:extLst>
      <p:ext uri="{BB962C8B-B14F-4D97-AF65-F5344CB8AC3E}">
        <p14:creationId xmlns:p14="http://schemas.microsoft.com/office/powerpoint/2010/main" val="1746421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Yazılı Panoramik Resim">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tr-TR"/>
              <a:t>Asıl başlık stili için tıklatın</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simgeyi tıklatın</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a:t>
            </a:r>
          </a:p>
        </p:txBody>
      </p:sp>
      <p:sp>
        <p:nvSpPr>
          <p:cNvPr id="5" name="Date Placeholder 4"/>
          <p:cNvSpPr>
            <a:spLocks noGrp="1"/>
          </p:cNvSpPr>
          <p:nvPr>
            <p:ph type="dt" sz="half" idx="10"/>
          </p:nvPr>
        </p:nvSpPr>
        <p:spPr/>
        <p:txBody>
          <a:bodyPr/>
          <a:lstStyle/>
          <a:p>
            <a:fld id="{2A57263E-5DD5-42B8-8BBB-29FF5204395B}" type="datetimeFigureOut">
              <a:rPr lang="tr-TR" smtClean="0"/>
              <a:t>19.02.2026</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563E935F-4812-45DF-8A5D-7DA0AE19940D}" type="slidenum">
              <a:rPr lang="tr-TR" smtClean="0"/>
              <a:t>‹#›</a:t>
            </a:fld>
            <a:endParaRPr lang="tr-TR"/>
          </a:p>
        </p:txBody>
      </p:sp>
    </p:spTree>
    <p:extLst>
      <p:ext uri="{BB962C8B-B14F-4D97-AF65-F5344CB8AC3E}">
        <p14:creationId xmlns:p14="http://schemas.microsoft.com/office/powerpoint/2010/main" val="1179228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tr-TR"/>
              <a:t>Asıl başlık stili için tıklatın</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2A57263E-5DD5-42B8-8BBB-29FF5204395B}" type="datetimeFigureOut">
              <a:rPr lang="tr-TR" smtClean="0"/>
              <a:t>19.02.2026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563E935F-4812-45DF-8A5D-7DA0AE19940D}" type="slidenum">
              <a:rPr lang="tr-TR" smtClean="0"/>
              <a:t>‹#›</a:t>
            </a:fld>
            <a:endParaRPr lang="tr-TR"/>
          </a:p>
        </p:txBody>
      </p:sp>
    </p:spTree>
    <p:extLst>
      <p:ext uri="{BB962C8B-B14F-4D97-AF65-F5344CB8AC3E}">
        <p14:creationId xmlns:p14="http://schemas.microsoft.com/office/powerpoint/2010/main" val="36313716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tr-TR"/>
              <a:t>Asıl başlık stili için tıklatın</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2A57263E-5DD5-42B8-8BBB-29FF5204395B}" type="datetimeFigureOut">
              <a:rPr lang="tr-TR" smtClean="0"/>
              <a:t>19.02.2026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563E935F-4812-45DF-8A5D-7DA0AE19940D}" type="slidenum">
              <a:rPr lang="tr-TR" smtClean="0"/>
              <a:t>‹#›</a:t>
            </a:fld>
            <a:endParaRPr lang="tr-TR"/>
          </a:p>
        </p:txBody>
      </p:sp>
    </p:spTree>
    <p:extLst>
      <p:ext uri="{BB962C8B-B14F-4D97-AF65-F5344CB8AC3E}">
        <p14:creationId xmlns:p14="http://schemas.microsoft.com/office/powerpoint/2010/main" val="35354565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tr-TR"/>
              <a:t>Asıl başlık stili için tıklatın</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2A57263E-5DD5-42B8-8BBB-29FF5204395B}" type="datetimeFigureOut">
              <a:rPr lang="tr-TR" smtClean="0"/>
              <a:t>19.02.2026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563E935F-4812-45DF-8A5D-7DA0AE19940D}" type="slidenum">
              <a:rPr lang="tr-TR" smtClean="0"/>
              <a:t>‹#›</a:t>
            </a:fld>
            <a:endParaRPr lang="tr-TR"/>
          </a:p>
        </p:txBody>
      </p:sp>
    </p:spTree>
    <p:extLst>
      <p:ext uri="{BB962C8B-B14F-4D97-AF65-F5344CB8AC3E}">
        <p14:creationId xmlns:p14="http://schemas.microsoft.com/office/powerpoint/2010/main" val="20039030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lıntı İsim Kartı">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tr-TR"/>
              <a:t>Asıl başlık stili için tıklatın</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tr-TR"/>
              <a:t>Asıl metin stillerini düzenle</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2A57263E-5DD5-42B8-8BBB-29FF5204395B}" type="datetimeFigureOut">
              <a:rPr lang="tr-TR" smtClean="0"/>
              <a:t>19.02.2026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563E935F-4812-45DF-8A5D-7DA0AE19940D}" type="slidenum">
              <a:rPr lang="tr-TR" smtClean="0"/>
              <a:t>‹#›</a:t>
            </a:fld>
            <a:endParaRPr lang="tr-TR"/>
          </a:p>
        </p:txBody>
      </p:sp>
    </p:spTree>
    <p:extLst>
      <p:ext uri="{BB962C8B-B14F-4D97-AF65-F5344CB8AC3E}">
        <p14:creationId xmlns:p14="http://schemas.microsoft.com/office/powerpoint/2010/main" val="38984725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oğru veya Yanlış">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tr-TR"/>
              <a:t>Asıl başlık stili için tıklatın</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tr-TR"/>
              <a:t>Asıl metin stillerini düzenle</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2A57263E-5DD5-42B8-8BBB-29FF5204395B}" type="datetimeFigureOut">
              <a:rPr lang="tr-TR" smtClean="0"/>
              <a:t>19.02.2026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563E935F-4812-45DF-8A5D-7DA0AE19940D}" type="slidenum">
              <a:rPr lang="tr-TR" smtClean="0"/>
              <a:t>‹#›</a:t>
            </a:fld>
            <a:endParaRPr lang="tr-TR"/>
          </a:p>
        </p:txBody>
      </p:sp>
    </p:spTree>
    <p:extLst>
      <p:ext uri="{BB962C8B-B14F-4D97-AF65-F5344CB8AC3E}">
        <p14:creationId xmlns:p14="http://schemas.microsoft.com/office/powerpoint/2010/main" val="18096403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tr-TR"/>
              <a:t>Asıl başlık stili için tıklatın</a:t>
            </a:r>
            <a:endParaRPr lang="en-US" dirty="0"/>
          </a:p>
        </p:txBody>
      </p:sp>
      <p:sp>
        <p:nvSpPr>
          <p:cNvPr id="3" name="Vertical Text Placeholder 2"/>
          <p:cNvSpPr>
            <a:spLocks noGrp="1"/>
          </p:cNvSpPr>
          <p:nvPr>
            <p:ph type="body" orient="vert" idx="1"/>
          </p:nvPr>
        </p:nvSpPr>
        <p:spPr/>
        <p:txBody>
          <a:bodyPr vert="eaVert" ancho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2A57263E-5DD5-42B8-8BBB-29FF5204395B}" type="datetimeFigureOut">
              <a:rPr lang="tr-TR" smtClean="0"/>
              <a:t>19.02.2026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563E935F-4812-45DF-8A5D-7DA0AE19940D}" type="slidenum">
              <a:rPr lang="tr-TR" smtClean="0"/>
              <a:t>‹#›</a:t>
            </a:fld>
            <a:endParaRPr lang="tr-TR"/>
          </a:p>
        </p:txBody>
      </p:sp>
    </p:spTree>
    <p:extLst>
      <p:ext uri="{BB962C8B-B14F-4D97-AF65-F5344CB8AC3E}">
        <p14:creationId xmlns:p14="http://schemas.microsoft.com/office/powerpoint/2010/main" val="38411497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tr-TR"/>
              <a:t>Asıl başlık stili için tıklatın</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2A57263E-5DD5-42B8-8BBB-29FF5204395B}" type="datetimeFigureOut">
              <a:rPr lang="tr-TR" smtClean="0"/>
              <a:t>19.02.2026</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563E935F-4812-45DF-8A5D-7DA0AE19940D}" type="slidenum">
              <a:rPr lang="tr-TR" smtClean="0"/>
              <a:t>‹#›</a:t>
            </a:fld>
            <a:endParaRPr lang="tr-TR"/>
          </a:p>
        </p:txBody>
      </p:sp>
    </p:spTree>
    <p:extLst>
      <p:ext uri="{BB962C8B-B14F-4D97-AF65-F5344CB8AC3E}">
        <p14:creationId xmlns:p14="http://schemas.microsoft.com/office/powerpoint/2010/main" val="8537416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AndObj">
  <p:cSld name="Başlık, Metin ve İçerik">
    <p:spTree>
      <p:nvGrpSpPr>
        <p:cNvPr id="1" name=""/>
        <p:cNvGrpSpPr/>
        <p:nvPr/>
      </p:nvGrpSpPr>
      <p:grpSpPr>
        <a:xfrm>
          <a:off x="0" y="0"/>
          <a:ext cx="0" cy="0"/>
          <a:chOff x="0" y="0"/>
          <a:chExt cx="0" cy="0"/>
        </a:xfrm>
      </p:grpSpPr>
      <p:sp>
        <p:nvSpPr>
          <p:cNvPr id="2" name="Unvan 1"/>
          <p:cNvSpPr>
            <a:spLocks noGrp="1"/>
          </p:cNvSpPr>
          <p:nvPr>
            <p:ph type="title"/>
          </p:nvPr>
        </p:nvSpPr>
        <p:spPr>
          <a:xfrm>
            <a:off x="1016000" y="533400"/>
            <a:ext cx="10261600" cy="1143000"/>
          </a:xfrm>
        </p:spPr>
        <p:txBody>
          <a:bodyPr/>
          <a:lstStyle/>
          <a:p>
            <a:r>
              <a:rPr lang="tr-TR"/>
              <a:t>Asıl başlık stili için tıklatın</a:t>
            </a:r>
          </a:p>
        </p:txBody>
      </p:sp>
      <p:sp>
        <p:nvSpPr>
          <p:cNvPr id="3" name="Metin Yer Tutucusu 2"/>
          <p:cNvSpPr>
            <a:spLocks noGrp="1"/>
          </p:cNvSpPr>
          <p:nvPr>
            <p:ph type="body" sz="half" idx="1"/>
          </p:nvPr>
        </p:nvSpPr>
        <p:spPr>
          <a:xfrm>
            <a:off x="1016000" y="1905000"/>
            <a:ext cx="5029200" cy="4038600"/>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p:cNvSpPr>
            <a:spLocks noGrp="1"/>
          </p:cNvSpPr>
          <p:nvPr>
            <p:ph sz="half" idx="2"/>
          </p:nvPr>
        </p:nvSpPr>
        <p:spPr>
          <a:xfrm>
            <a:off x="6248400" y="1905000"/>
            <a:ext cx="5029200" cy="4038600"/>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p:cNvSpPr>
            <a:spLocks noGrp="1"/>
          </p:cNvSpPr>
          <p:nvPr>
            <p:ph type="dt" sz="half" idx="10"/>
          </p:nvPr>
        </p:nvSpPr>
        <p:spPr>
          <a:xfrm>
            <a:off x="1016000" y="6391275"/>
            <a:ext cx="2743200" cy="457200"/>
          </a:xfrm>
        </p:spPr>
        <p:txBody>
          <a:bodyPr/>
          <a:lstStyle>
            <a:lvl1pPr>
              <a:defRPr/>
            </a:lvl1pPr>
          </a:lstStyle>
          <a:p>
            <a:endParaRPr lang="tr-TR" altLang="tr-TR"/>
          </a:p>
        </p:txBody>
      </p:sp>
      <p:sp>
        <p:nvSpPr>
          <p:cNvPr id="6" name="Altbilgi Yer Tutucusu 5"/>
          <p:cNvSpPr>
            <a:spLocks noGrp="1"/>
          </p:cNvSpPr>
          <p:nvPr>
            <p:ph type="ftr" sz="quarter" idx="11"/>
          </p:nvPr>
        </p:nvSpPr>
        <p:spPr>
          <a:xfrm>
            <a:off x="4470400" y="6403975"/>
            <a:ext cx="3860800" cy="457200"/>
          </a:xfrm>
        </p:spPr>
        <p:txBody>
          <a:bodyPr/>
          <a:lstStyle>
            <a:lvl1pPr>
              <a:defRPr/>
            </a:lvl1pPr>
          </a:lstStyle>
          <a:p>
            <a:endParaRPr lang="tr-TR" altLang="tr-TR"/>
          </a:p>
        </p:txBody>
      </p:sp>
      <p:sp>
        <p:nvSpPr>
          <p:cNvPr id="7" name="Slayt Numarası Yer Tutucusu 6"/>
          <p:cNvSpPr>
            <a:spLocks noGrp="1"/>
          </p:cNvSpPr>
          <p:nvPr>
            <p:ph type="sldNum" sz="quarter" idx="12"/>
          </p:nvPr>
        </p:nvSpPr>
        <p:spPr>
          <a:xfrm>
            <a:off x="9144000" y="6400800"/>
            <a:ext cx="2133600" cy="457200"/>
          </a:xfrm>
        </p:spPr>
        <p:txBody>
          <a:bodyPr/>
          <a:lstStyle>
            <a:lvl1pPr>
              <a:defRPr/>
            </a:lvl1pPr>
          </a:lstStyle>
          <a:p>
            <a:fld id="{F28A73A8-EEF1-4E29-9246-8412F23F6393}" type="slidenum">
              <a:rPr lang="tr-TR" altLang="tr-TR"/>
              <a:pPr/>
              <a:t>‹#›</a:t>
            </a:fld>
            <a:endParaRPr lang="tr-TR" altLang="tr-TR"/>
          </a:p>
        </p:txBody>
      </p:sp>
    </p:spTree>
    <p:extLst>
      <p:ext uri="{BB962C8B-B14F-4D97-AF65-F5344CB8AC3E}">
        <p14:creationId xmlns:p14="http://schemas.microsoft.com/office/powerpoint/2010/main" val="11141960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xAndTwoObj">
  <p:cSld name="Başlık, Metin ve 2 İçerik">
    <p:spTree>
      <p:nvGrpSpPr>
        <p:cNvPr id="1" name=""/>
        <p:cNvGrpSpPr/>
        <p:nvPr/>
      </p:nvGrpSpPr>
      <p:grpSpPr>
        <a:xfrm>
          <a:off x="0" y="0"/>
          <a:ext cx="0" cy="0"/>
          <a:chOff x="0" y="0"/>
          <a:chExt cx="0" cy="0"/>
        </a:xfrm>
      </p:grpSpPr>
      <p:sp>
        <p:nvSpPr>
          <p:cNvPr id="2" name="Unvan 1"/>
          <p:cNvSpPr>
            <a:spLocks noGrp="1"/>
          </p:cNvSpPr>
          <p:nvPr>
            <p:ph type="title"/>
          </p:nvPr>
        </p:nvSpPr>
        <p:spPr>
          <a:xfrm>
            <a:off x="1016000" y="533400"/>
            <a:ext cx="10261600" cy="1143000"/>
          </a:xfrm>
        </p:spPr>
        <p:txBody>
          <a:bodyPr/>
          <a:lstStyle/>
          <a:p>
            <a:r>
              <a:rPr lang="tr-TR"/>
              <a:t>Asıl başlık stili için tıklatın</a:t>
            </a:r>
          </a:p>
        </p:txBody>
      </p:sp>
      <p:sp>
        <p:nvSpPr>
          <p:cNvPr id="3" name="Metin Yer Tutucusu 2"/>
          <p:cNvSpPr>
            <a:spLocks noGrp="1"/>
          </p:cNvSpPr>
          <p:nvPr>
            <p:ph type="body" sz="half" idx="1"/>
          </p:nvPr>
        </p:nvSpPr>
        <p:spPr>
          <a:xfrm>
            <a:off x="1016000" y="1905000"/>
            <a:ext cx="5029200" cy="4038600"/>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p:cNvSpPr>
            <a:spLocks noGrp="1"/>
          </p:cNvSpPr>
          <p:nvPr>
            <p:ph sz="quarter" idx="2"/>
          </p:nvPr>
        </p:nvSpPr>
        <p:spPr>
          <a:xfrm>
            <a:off x="6248400" y="1905000"/>
            <a:ext cx="5029200" cy="1943100"/>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5" name="İçerik Yer Tutucusu 4"/>
          <p:cNvSpPr>
            <a:spLocks noGrp="1"/>
          </p:cNvSpPr>
          <p:nvPr>
            <p:ph sz="quarter" idx="3"/>
          </p:nvPr>
        </p:nvSpPr>
        <p:spPr>
          <a:xfrm>
            <a:off x="6248400" y="4000500"/>
            <a:ext cx="5029200" cy="1943100"/>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p>
        </p:txBody>
      </p:sp>
      <p:sp>
        <p:nvSpPr>
          <p:cNvPr id="6" name="Veri Yer Tutucusu 5"/>
          <p:cNvSpPr>
            <a:spLocks noGrp="1"/>
          </p:cNvSpPr>
          <p:nvPr>
            <p:ph type="dt" sz="half" idx="10"/>
          </p:nvPr>
        </p:nvSpPr>
        <p:spPr>
          <a:xfrm>
            <a:off x="1016000" y="6391275"/>
            <a:ext cx="2743200" cy="457200"/>
          </a:xfrm>
        </p:spPr>
        <p:txBody>
          <a:bodyPr/>
          <a:lstStyle>
            <a:lvl1pPr>
              <a:defRPr/>
            </a:lvl1pPr>
          </a:lstStyle>
          <a:p>
            <a:endParaRPr lang="tr-TR" altLang="tr-TR"/>
          </a:p>
        </p:txBody>
      </p:sp>
      <p:sp>
        <p:nvSpPr>
          <p:cNvPr id="7" name="Altbilgi Yer Tutucusu 6"/>
          <p:cNvSpPr>
            <a:spLocks noGrp="1"/>
          </p:cNvSpPr>
          <p:nvPr>
            <p:ph type="ftr" sz="quarter" idx="11"/>
          </p:nvPr>
        </p:nvSpPr>
        <p:spPr>
          <a:xfrm>
            <a:off x="4470400" y="6403975"/>
            <a:ext cx="3860800" cy="457200"/>
          </a:xfrm>
        </p:spPr>
        <p:txBody>
          <a:bodyPr/>
          <a:lstStyle>
            <a:lvl1pPr>
              <a:defRPr/>
            </a:lvl1pPr>
          </a:lstStyle>
          <a:p>
            <a:endParaRPr lang="tr-TR" altLang="tr-TR"/>
          </a:p>
        </p:txBody>
      </p:sp>
      <p:sp>
        <p:nvSpPr>
          <p:cNvPr id="8" name="Slayt Numarası Yer Tutucusu 7"/>
          <p:cNvSpPr>
            <a:spLocks noGrp="1"/>
          </p:cNvSpPr>
          <p:nvPr>
            <p:ph type="sldNum" sz="quarter" idx="12"/>
          </p:nvPr>
        </p:nvSpPr>
        <p:spPr>
          <a:xfrm>
            <a:off x="9144000" y="6400800"/>
            <a:ext cx="2133600" cy="457200"/>
          </a:xfrm>
        </p:spPr>
        <p:txBody>
          <a:bodyPr/>
          <a:lstStyle>
            <a:lvl1pPr>
              <a:defRPr/>
            </a:lvl1pPr>
          </a:lstStyle>
          <a:p>
            <a:fld id="{AC804E86-8EE2-4955-A35D-8A25C98C949F}" type="slidenum">
              <a:rPr lang="tr-TR" altLang="tr-TR"/>
              <a:pPr/>
              <a:t>‹#›</a:t>
            </a:fld>
            <a:endParaRPr lang="tr-TR" altLang="tr-TR"/>
          </a:p>
        </p:txBody>
      </p:sp>
    </p:spTree>
    <p:extLst>
      <p:ext uri="{BB962C8B-B14F-4D97-AF65-F5344CB8AC3E}">
        <p14:creationId xmlns:p14="http://schemas.microsoft.com/office/powerpoint/2010/main" val="42557976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tr-TR"/>
              <a:t>Asıl başlık stili için tıklatın</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tr-TR" dirty="0"/>
              <a:t>Asıl metin stillerini düzenle</a:t>
            </a:r>
          </a:p>
          <a:p>
            <a:pPr lvl="1"/>
            <a:r>
              <a:rPr lang="tr-TR" dirty="0"/>
              <a:t>İkinci düzey</a:t>
            </a:r>
          </a:p>
          <a:p>
            <a:pPr lvl="2"/>
            <a:r>
              <a:rPr lang="tr-TR" dirty="0"/>
              <a:t>Üçüncü düzey</a:t>
            </a:r>
          </a:p>
          <a:p>
            <a:pPr lvl="3"/>
            <a:r>
              <a:rPr lang="tr-TR" dirty="0"/>
              <a:t>Dördüncü düzey</a:t>
            </a:r>
          </a:p>
          <a:p>
            <a:pPr lvl="4"/>
            <a:r>
              <a:rPr lang="tr-TR" dirty="0"/>
              <a:t>Beşinci düzey</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A57263E-5DD5-42B8-8BBB-29FF5204395B}" type="datetimeFigureOut">
              <a:rPr lang="tr-TR" smtClean="0"/>
              <a:t>19.02.2026</a:t>
            </a:fld>
            <a:endParaRPr lang="tr-TR"/>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tr-TR"/>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63E935F-4812-45DF-8A5D-7DA0AE19940D}" type="slidenum">
              <a:rPr lang="tr-TR" smtClean="0"/>
              <a:t>‹#›</a:t>
            </a:fld>
            <a:endParaRPr lang="tr-TR"/>
          </a:p>
        </p:txBody>
      </p:sp>
    </p:spTree>
    <p:extLst>
      <p:ext uri="{BB962C8B-B14F-4D97-AF65-F5344CB8AC3E}">
        <p14:creationId xmlns:p14="http://schemas.microsoft.com/office/powerpoint/2010/main" val="90618877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subTnLst>
                                    <p:animClr clrSpc="rgb" dir="cw">
                                      <p:cBhvr override="childStyle">
                                        <p:cTn dur="1" fill="hold" display="0" masterRel="nextClick" afterEffect="1"/>
                                        <p:tgtEl>
                                          <p:spTgt spid="3">
                                            <p:txEl>
                                              <p:pRg st="0" end="0"/>
                                            </p:txEl>
                                          </p:spTgt>
                                        </p:tgtEl>
                                        <p:attrNameLst>
                                          <p:attrName>ppt_c</p:attrName>
                                        </p:attrNameLst>
                                      </p:cBhvr>
                                      <p:to>
                                        <a:schemeClr val="hlink"/>
                                      </p:to>
                                    </p:animClr>
                                  </p:subTnLst>
                                </p:cTn>
                              </p:par>
                              <p:par>
                                <p:cTn id="8" presetID="22" presetClass="entr" presetSubtype="4"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subTnLst>
                                    <p:animClr clrSpc="rgb" dir="cw">
                                      <p:cBhvr override="childStyle">
                                        <p:cTn dur="1" fill="hold" display="0" masterRel="nextClick" afterEffect="1"/>
                                        <p:tgtEl>
                                          <p:spTgt spid="3">
                                            <p:txEl>
                                              <p:pRg st="1" end="1"/>
                                            </p:txEl>
                                          </p:spTgt>
                                        </p:tgtEl>
                                        <p:attrNameLst>
                                          <p:attrName>ppt_c</p:attrName>
                                        </p:attrNameLst>
                                      </p:cBhvr>
                                      <p:to>
                                        <a:schemeClr val="hlink"/>
                                      </p:to>
                                    </p:animClr>
                                  </p:subTnLst>
                                </p:cTn>
                              </p:par>
                              <p:par>
                                <p:cTn id="11" presetID="22" presetClass="entr" presetSubtype="4"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subTnLst>
                                    <p:animClr clrSpc="rgb" dir="cw">
                                      <p:cBhvr override="childStyle">
                                        <p:cTn dur="1" fill="hold" display="0" masterRel="nextClick" afterEffect="1"/>
                                        <p:tgtEl>
                                          <p:spTgt spid="3">
                                            <p:txEl>
                                              <p:pRg st="2" end="2"/>
                                            </p:txEl>
                                          </p:spTgt>
                                        </p:tgtEl>
                                        <p:attrNameLst>
                                          <p:attrName>ppt_c</p:attrName>
                                        </p:attrNameLst>
                                      </p:cBhvr>
                                      <p:to>
                                        <a:schemeClr val="hlink"/>
                                      </p:to>
                                    </p:animClr>
                                  </p:subTnLst>
                                </p:cTn>
                              </p:par>
                              <p:par>
                                <p:cTn id="14" presetID="22" presetClass="entr" presetSubtype="4"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down)">
                                      <p:cBhvr>
                                        <p:cTn id="16" dur="500"/>
                                        <p:tgtEl>
                                          <p:spTgt spid="3">
                                            <p:txEl>
                                              <p:pRg st="3" end="3"/>
                                            </p:txEl>
                                          </p:spTgt>
                                        </p:tgtEl>
                                      </p:cBhvr>
                                    </p:animEffect>
                                  </p:childTnLst>
                                  <p:subTnLst>
                                    <p:animClr clrSpc="rgb" dir="cw">
                                      <p:cBhvr override="childStyle">
                                        <p:cTn dur="1" fill="hold" display="0" masterRel="nextClick" afterEffect="1"/>
                                        <p:tgtEl>
                                          <p:spTgt spid="3">
                                            <p:txEl>
                                              <p:pRg st="3" end="3"/>
                                            </p:txEl>
                                          </p:spTgt>
                                        </p:tgtEl>
                                        <p:attrNameLst>
                                          <p:attrName>ppt_c</p:attrName>
                                        </p:attrNameLst>
                                      </p:cBhvr>
                                      <p:to>
                                        <a:schemeClr val="hlink"/>
                                      </p:to>
                                    </p:animClr>
                                  </p:subTnLst>
                                </p:cTn>
                              </p:par>
                              <p:par>
                                <p:cTn id="17" presetID="22" presetClass="entr" presetSubtype="4"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wipe(down)">
                                      <p:cBhvr>
                                        <p:cTn id="19" dur="500"/>
                                        <p:tgtEl>
                                          <p:spTgt spid="3">
                                            <p:txEl>
                                              <p:pRg st="4" end="4"/>
                                            </p:txEl>
                                          </p:spTgt>
                                        </p:tgtEl>
                                      </p:cBhvr>
                                    </p:animEffect>
                                  </p:childTnLst>
                                  <p:subTnLst>
                                    <p:animClr clrSpc="rgb" dir="cw">
                                      <p:cBhvr override="childStyle">
                                        <p:cTn dur="1" fill="hold" display="0" masterRel="nextClick" afterEffect="1"/>
                                        <p:tgtEl>
                                          <p:spTgt spid="3">
                                            <p:txEl>
                                              <p:pRg st="4" end="4"/>
                                            </p:txEl>
                                          </p:spTgt>
                                        </p:tgtEl>
                                        <p:attrNameLst>
                                          <p:attrName>ppt_c</p:attrName>
                                        </p:attrNameLst>
                                      </p:cBhvr>
                                      <p:to>
                                        <a:schemeClr val="hlink"/>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22" presetClass="entr" presetSubtype="4"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down)">
                      <p:cBhvr>
                        <p:cTn dur="500"/>
                        <p:tgtEl>
                          <p:spTgt spid="3"/>
                        </p:tgtEl>
                      </p:cBhvr>
                    </p:animEffect>
                  </p:childTnLst>
                  <p:subTnLst>
                    <p:animClr clrSpc="rgb" dir="cw">
                      <p:cBhvr override="childStyle">
                        <p:cTn dur="1" fill="hold" display="0" masterRel="nextClick" afterEffect="1"/>
                        <p:tgtEl>
                          <p:spTgt spid="3"/>
                        </p:tgtEl>
                        <p:attrNameLst>
                          <p:attrName>ppt_c</p:attrName>
                        </p:attrNameLst>
                      </p:cBhvr>
                      <p:to>
                        <a:schemeClr val="hlink"/>
                      </p:to>
                    </p:animClr>
                  </p:subTnLst>
                </p:cTn>
              </p:par>
            </p:tnLst>
          </p:tmpl>
          <p:tmpl lvl="2">
            <p:tnLst>
              <p:par>
                <p:cTn presetID="2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down)">
                      <p:cBhvr>
                        <p:cTn dur="500"/>
                        <p:tgtEl>
                          <p:spTgt spid="3"/>
                        </p:tgtEl>
                      </p:cBhvr>
                    </p:animEffect>
                  </p:childTnLst>
                  <p:subTnLst>
                    <p:animClr clrSpc="rgb" dir="cw">
                      <p:cBhvr override="childStyle">
                        <p:cTn dur="1" fill="hold" display="0" masterRel="nextClick" afterEffect="1"/>
                        <p:tgtEl>
                          <p:spTgt spid="3"/>
                        </p:tgtEl>
                        <p:attrNameLst>
                          <p:attrName>ppt_c</p:attrName>
                        </p:attrNameLst>
                      </p:cBhvr>
                      <p:to>
                        <a:schemeClr val="hlink"/>
                      </p:to>
                    </p:animClr>
                  </p:subTnLst>
                </p:cTn>
              </p:par>
            </p:tnLst>
          </p:tmpl>
          <p:tmpl lvl="3">
            <p:tnLst>
              <p:par>
                <p:cTn presetID="2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down)">
                      <p:cBhvr>
                        <p:cTn dur="500"/>
                        <p:tgtEl>
                          <p:spTgt spid="3"/>
                        </p:tgtEl>
                      </p:cBhvr>
                    </p:animEffect>
                  </p:childTnLst>
                  <p:subTnLst>
                    <p:animClr clrSpc="rgb" dir="cw">
                      <p:cBhvr override="childStyle">
                        <p:cTn dur="1" fill="hold" display="0" masterRel="nextClick" afterEffect="1"/>
                        <p:tgtEl>
                          <p:spTgt spid="3"/>
                        </p:tgtEl>
                        <p:attrNameLst>
                          <p:attrName>ppt_c</p:attrName>
                        </p:attrNameLst>
                      </p:cBhvr>
                      <p:to>
                        <a:schemeClr val="hlink"/>
                      </p:to>
                    </p:animClr>
                  </p:subTnLst>
                </p:cTn>
              </p:par>
            </p:tnLst>
          </p:tmpl>
          <p:tmpl lvl="4">
            <p:tnLst>
              <p:par>
                <p:cTn presetID="2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down)">
                      <p:cBhvr>
                        <p:cTn dur="500"/>
                        <p:tgtEl>
                          <p:spTgt spid="3"/>
                        </p:tgtEl>
                      </p:cBhvr>
                    </p:animEffect>
                  </p:childTnLst>
                  <p:subTnLst>
                    <p:animClr clrSpc="rgb" dir="cw">
                      <p:cBhvr override="childStyle">
                        <p:cTn dur="1" fill="hold" display="0" masterRel="nextClick" afterEffect="1"/>
                        <p:tgtEl>
                          <p:spTgt spid="3"/>
                        </p:tgtEl>
                        <p:attrNameLst>
                          <p:attrName>ppt_c</p:attrName>
                        </p:attrNameLst>
                      </p:cBhvr>
                      <p:to>
                        <a:schemeClr val="hlink"/>
                      </p:to>
                    </p:animClr>
                  </p:subTnLst>
                </p:cTn>
              </p:par>
            </p:tnLst>
          </p:tmpl>
          <p:tmpl lvl="5">
            <p:tnLst>
              <p:par>
                <p:cTn presetID="2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down)">
                      <p:cBhvr>
                        <p:cTn dur="500"/>
                        <p:tgtEl>
                          <p:spTgt spid="3"/>
                        </p:tgtEl>
                      </p:cBhvr>
                    </p:animEffect>
                  </p:childTnLst>
                  <p:subTnLst>
                    <p:animClr clrSpc="rgb" dir="cw">
                      <p:cBhvr override="childStyle">
                        <p:cTn dur="1" fill="hold" display="0" masterRel="nextClick" afterEffect="1"/>
                        <p:tgtEl>
                          <p:spTgt spid="3"/>
                        </p:tgtEl>
                        <p:attrNameLst>
                          <p:attrName>ppt_c</p:attrName>
                        </p:attrNameLst>
                      </p:cBhvr>
                      <p:to>
                        <a:schemeClr val="hlink"/>
                      </p:to>
                    </p:animClr>
                  </p:subTnLst>
                </p:cTn>
              </p:par>
            </p:tnLst>
          </p:tmpl>
        </p:tmplLst>
      </p:bldP>
    </p:bldLst>
  </p:timing>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image" Target="../media/image11.wmf"/><Relationship Id="rId1" Type="http://schemas.openxmlformats.org/officeDocument/2006/relationships/slideLayout" Target="../slideLayouts/slideLayout19.xml"/><Relationship Id="rId5" Type="http://schemas.openxmlformats.org/officeDocument/2006/relationships/image" Target="../media/image14.wmf"/><Relationship Id="rId4" Type="http://schemas.openxmlformats.org/officeDocument/2006/relationships/image" Target="../media/image13.gi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image" Target="../media/image15.png"/><Relationship Id="rId1" Type="http://schemas.openxmlformats.org/officeDocument/2006/relationships/slideLayout" Target="../slideLayouts/slideLayout2.xml"/><Relationship Id="rId6" Type="http://schemas.microsoft.com/office/2007/relationships/hdphoto" Target="../media/hdphoto1.wdp"/><Relationship Id="rId11" Type="http://schemas.openxmlformats.org/officeDocument/2006/relationships/image" Target="../media/image23.png"/><Relationship Id="rId5" Type="http://schemas.openxmlformats.org/officeDocument/2006/relationships/image" Target="../media/image18.png"/><Relationship Id="rId10" Type="http://schemas.openxmlformats.org/officeDocument/2006/relationships/image" Target="../media/image22.png"/><Relationship Id="rId4" Type="http://schemas.openxmlformats.org/officeDocument/2006/relationships/image" Target="../media/image17.png"/><Relationship Id="rId9" Type="http://schemas.openxmlformats.org/officeDocument/2006/relationships/image" Target="../media/image21.png"/></Relationships>
</file>

<file path=ppt/slides/_rels/slide4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ctrTitle"/>
          </p:nvPr>
        </p:nvSpPr>
        <p:spPr>
          <a:xfrm>
            <a:off x="2995778" y="0"/>
            <a:ext cx="8574622" cy="2616199"/>
          </a:xfrm>
        </p:spPr>
        <p:txBody>
          <a:bodyPr/>
          <a:lstStyle/>
          <a:p>
            <a:r>
              <a:rPr lang="tr-TR" dirty="0"/>
              <a:t>Bilimsel Araştırma ve sunum teknikleri</a:t>
            </a:r>
          </a:p>
        </p:txBody>
      </p:sp>
      <p:sp>
        <p:nvSpPr>
          <p:cNvPr id="3" name="Alt Başlık 2"/>
          <p:cNvSpPr>
            <a:spLocks noGrp="1"/>
          </p:cNvSpPr>
          <p:nvPr>
            <p:ph type="subTitle" idx="1"/>
          </p:nvPr>
        </p:nvSpPr>
        <p:spPr/>
        <p:txBody>
          <a:bodyPr/>
          <a:lstStyle/>
          <a:p>
            <a:r>
              <a:rPr lang="tr-TR" dirty="0"/>
              <a:t>1.Hafta</a:t>
            </a:r>
          </a:p>
        </p:txBody>
      </p:sp>
      <p:pic>
        <p:nvPicPr>
          <p:cNvPr id="4" name="Resim 3"/>
          <p:cNvPicPr>
            <a:picLocks noChangeAspect="1"/>
          </p:cNvPicPr>
          <p:nvPr/>
        </p:nvPicPr>
        <p:blipFill>
          <a:blip r:embed="rId2"/>
          <a:stretch>
            <a:fillRect/>
          </a:stretch>
        </p:blipFill>
        <p:spPr>
          <a:xfrm>
            <a:off x="421657" y="2861733"/>
            <a:ext cx="5674343" cy="3890390"/>
          </a:xfrm>
          <a:prstGeom prst="rect">
            <a:avLst/>
          </a:prstGeom>
        </p:spPr>
      </p:pic>
    </p:spTree>
    <p:extLst>
      <p:ext uri="{BB962C8B-B14F-4D97-AF65-F5344CB8AC3E}">
        <p14:creationId xmlns:p14="http://schemas.microsoft.com/office/powerpoint/2010/main" val="20705668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a:xfrm>
            <a:off x="1484309" y="78971"/>
            <a:ext cx="10018713" cy="1752599"/>
          </a:xfrm>
        </p:spPr>
        <p:txBody>
          <a:bodyPr/>
          <a:lstStyle/>
          <a:p>
            <a:r>
              <a:rPr lang="tr-TR" dirty="0"/>
              <a:t>Bu ders içinde</a:t>
            </a:r>
          </a:p>
        </p:txBody>
      </p:sp>
      <p:sp>
        <p:nvSpPr>
          <p:cNvPr id="3" name="İçerik Yer Tutucusu 2"/>
          <p:cNvSpPr>
            <a:spLocks noGrp="1"/>
          </p:cNvSpPr>
          <p:nvPr>
            <p:ph idx="1"/>
          </p:nvPr>
        </p:nvSpPr>
        <p:spPr>
          <a:xfrm>
            <a:off x="1188720" y="1928553"/>
            <a:ext cx="10314303" cy="3862647"/>
          </a:xfrm>
        </p:spPr>
        <p:txBody>
          <a:bodyPr/>
          <a:lstStyle/>
          <a:p>
            <a:r>
              <a:rPr lang="tr-TR" dirty="0"/>
              <a:t>Bilimsel araştırmanın temelleri, </a:t>
            </a:r>
          </a:p>
          <a:p>
            <a:r>
              <a:rPr lang="tr-TR" dirty="0"/>
              <a:t>Bilim dalları, Hipotez testleri,</a:t>
            </a:r>
          </a:p>
          <a:p>
            <a:r>
              <a:rPr lang="tr-TR" dirty="0"/>
              <a:t>Bilimsel araştırma türleri ve aşamaları,</a:t>
            </a:r>
          </a:p>
          <a:p>
            <a:r>
              <a:rPr lang="tr-TR" dirty="0"/>
              <a:t>Bir proje </a:t>
            </a:r>
            <a:r>
              <a:rPr lang="tr-TR" dirty="0" err="1"/>
              <a:t>dökümanının</a:t>
            </a:r>
            <a:r>
              <a:rPr lang="tr-TR" dirty="0"/>
              <a:t> bölümleri ve nasıl hazırlanacağı,</a:t>
            </a:r>
          </a:p>
          <a:p>
            <a:r>
              <a:rPr lang="tr-TR" dirty="0" err="1"/>
              <a:t>Arge</a:t>
            </a:r>
            <a:r>
              <a:rPr lang="tr-TR" dirty="0"/>
              <a:t> çalışması bölümleri ve nasıl hazırlanacağı,,</a:t>
            </a:r>
          </a:p>
          <a:p>
            <a:r>
              <a:rPr lang="tr-TR" dirty="0"/>
              <a:t>İyi bir sunum için dikkat edilmesi gerekenler  gibi başlıklar yer almaktadır.</a:t>
            </a:r>
          </a:p>
        </p:txBody>
      </p:sp>
    </p:spTree>
    <p:extLst>
      <p:ext uri="{BB962C8B-B14F-4D97-AF65-F5344CB8AC3E}">
        <p14:creationId xmlns:p14="http://schemas.microsoft.com/office/powerpoint/2010/main" val="35412856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p:txBody>
          <a:bodyPr/>
          <a:lstStyle/>
          <a:p>
            <a:r>
              <a:rPr lang="tr-TR" altLang="tr-TR"/>
              <a:t>BİLGİ (KNOWLEDGE) </a:t>
            </a:r>
          </a:p>
        </p:txBody>
      </p:sp>
      <p:sp>
        <p:nvSpPr>
          <p:cNvPr id="137219" name="Rectangle 3"/>
          <p:cNvSpPr>
            <a:spLocks noGrp="1" noChangeArrowheads="1"/>
          </p:cNvSpPr>
          <p:nvPr>
            <p:ph type="body" idx="1"/>
          </p:nvPr>
        </p:nvSpPr>
        <p:spPr/>
        <p:txBody>
          <a:bodyPr/>
          <a:lstStyle/>
          <a:p>
            <a:r>
              <a:rPr lang="tr-TR" altLang="tr-TR" dirty="0"/>
              <a:t>Bilgi; bilme, öğrenme süreci ve işleminin konusu ya da nesne ve olaylara yüklemler vererek varılan yargı (Sencer, 1981).</a:t>
            </a:r>
          </a:p>
          <a:p>
            <a:r>
              <a:rPr lang="tr-TR" altLang="tr-TR" dirty="0"/>
              <a:t>İnsan aklının alabileceği gerçek, olgu ve ilkelerin tümüne verilen ad.</a:t>
            </a:r>
          </a:p>
          <a:p>
            <a:r>
              <a:rPr lang="tr-TR" altLang="tr-TR" dirty="0"/>
              <a:t>Bir konu ya da iş konusunda öğrenilen ya da öğretilen şeyler.</a:t>
            </a:r>
          </a:p>
          <a:p>
            <a:r>
              <a:rPr lang="tr-TR" dirty="0"/>
              <a:t>Öğrenme, araştırma veya gözlem yolu ile elde edilen gerçek, malumat, vukuf</a:t>
            </a:r>
            <a:endParaRPr lang="tr-TR" altLang="tr-TR" dirty="0"/>
          </a:p>
          <a:p>
            <a:endParaRPr lang="tr-TR" altLang="tr-TR" dirty="0"/>
          </a:p>
        </p:txBody>
      </p:sp>
      <p:sp>
        <p:nvSpPr>
          <p:cNvPr id="3" name="Rectangle 2"/>
          <p:cNvSpPr>
            <a:spLocks noChangeArrowheads="1"/>
          </p:cNvSpPr>
          <p:nvPr/>
        </p:nvSpPr>
        <p:spPr bwMode="auto">
          <a:xfrm>
            <a:off x="0" y="-184666"/>
            <a:ext cx="52129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800" b="0" i="0" u="none" strike="noStrike" cap="none" normalizeH="0" baseline="0" dirty="0">
                <a:ln>
                  <a:noFill/>
                </a:ln>
                <a:solidFill>
                  <a:schemeClr val="tx1"/>
                </a:solidFill>
                <a:effectLst/>
                <a:latin typeface="Arial" panose="020B0604020202020204" pitchFamily="34" charset="0"/>
              </a:rPr>
              <a:t>1. </a:t>
            </a:r>
          </a:p>
        </p:txBody>
      </p:sp>
    </p:spTree>
    <p:extLst>
      <p:ext uri="{BB962C8B-B14F-4D97-AF65-F5344CB8AC3E}">
        <p14:creationId xmlns:p14="http://schemas.microsoft.com/office/powerpoint/2010/main" val="446760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a:extLst>
              <a:ext uri="{FF2B5EF4-FFF2-40B4-BE49-F238E27FC236}">
                <a16:creationId xmlns:a16="http://schemas.microsoft.com/office/drawing/2014/main" id="{2477FCC2-A3F9-E946-AE81-72DFF2D78DF5}"/>
              </a:ext>
            </a:extLst>
          </p:cNvPr>
          <p:cNvSpPr>
            <a:spLocks noGrp="1"/>
          </p:cNvSpPr>
          <p:nvPr>
            <p:ph type="title"/>
          </p:nvPr>
        </p:nvSpPr>
        <p:spPr/>
        <p:txBody>
          <a:bodyPr/>
          <a:lstStyle/>
          <a:p>
            <a:endParaRPr lang="tr-TR"/>
          </a:p>
        </p:txBody>
      </p:sp>
      <p:pic>
        <p:nvPicPr>
          <p:cNvPr id="5" name="İçerik Yer Tutucusu 4">
            <a:extLst>
              <a:ext uri="{FF2B5EF4-FFF2-40B4-BE49-F238E27FC236}">
                <a16:creationId xmlns:a16="http://schemas.microsoft.com/office/drawing/2014/main" id="{3B9B1F39-3DEA-C645-B068-C68064CBC71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20627" y="75182"/>
            <a:ext cx="6081599" cy="6921966"/>
          </a:xfrm>
        </p:spPr>
      </p:pic>
    </p:spTree>
    <p:extLst>
      <p:ext uri="{BB962C8B-B14F-4D97-AF65-F5344CB8AC3E}">
        <p14:creationId xmlns:p14="http://schemas.microsoft.com/office/powerpoint/2010/main" val="25747131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nvPr>
        </p:nvSpPr>
        <p:spPr/>
        <p:txBody>
          <a:bodyPr/>
          <a:lstStyle/>
          <a:p>
            <a:r>
              <a:rPr lang="tr-TR" altLang="tr-TR" b="1"/>
              <a:t>Bilime Alternatif Bilgiyi Elde Etme Yolları </a:t>
            </a:r>
          </a:p>
        </p:txBody>
      </p:sp>
      <p:sp>
        <p:nvSpPr>
          <p:cNvPr id="138243" name="Rectangle 3"/>
          <p:cNvSpPr>
            <a:spLocks noGrp="1" noChangeArrowheads="1"/>
          </p:cNvSpPr>
          <p:nvPr>
            <p:ph type="body" idx="1"/>
          </p:nvPr>
        </p:nvSpPr>
        <p:spPr/>
        <p:txBody>
          <a:bodyPr>
            <a:normAutofit fontScale="92500" lnSpcReduction="10000"/>
          </a:bodyPr>
          <a:lstStyle/>
          <a:p>
            <a:pPr>
              <a:lnSpc>
                <a:spcPct val="80000"/>
              </a:lnSpc>
            </a:pPr>
            <a:r>
              <a:rPr lang="tr-TR" altLang="tr-TR" sz="2700" b="1"/>
              <a:t>Otorite </a:t>
            </a:r>
            <a:r>
              <a:rPr lang="tr-TR" altLang="tr-TR" sz="2700"/>
              <a:t>(anne, baba, öğretmen, parti lideri, diğer uzmanlar, vs.) </a:t>
            </a:r>
            <a:endParaRPr lang="tr-TR" altLang="tr-TR" sz="2700" b="1"/>
          </a:p>
          <a:p>
            <a:pPr>
              <a:lnSpc>
                <a:spcPct val="80000"/>
              </a:lnSpc>
            </a:pPr>
            <a:r>
              <a:rPr lang="tr-TR" altLang="tr-TR" sz="2700" b="1"/>
              <a:t>Gelenekler </a:t>
            </a:r>
            <a:r>
              <a:rPr lang="tr-TR" altLang="tr-TR" sz="2700"/>
              <a:t>(otoritenin özel bir durumu)</a:t>
            </a:r>
            <a:endParaRPr lang="tr-TR" altLang="tr-TR" sz="2700" b="1"/>
          </a:p>
          <a:p>
            <a:pPr>
              <a:lnSpc>
                <a:spcPct val="80000"/>
              </a:lnSpc>
            </a:pPr>
            <a:r>
              <a:rPr lang="tr-TR" altLang="tr-TR" sz="2700" b="1"/>
              <a:t>Sağduyu</a:t>
            </a:r>
          </a:p>
          <a:p>
            <a:pPr>
              <a:lnSpc>
                <a:spcPct val="80000"/>
              </a:lnSpc>
            </a:pPr>
            <a:r>
              <a:rPr lang="tr-TR" altLang="tr-TR" sz="2700" b="1"/>
              <a:t>Medya Araçları </a:t>
            </a:r>
            <a:r>
              <a:rPr lang="tr-TR" altLang="tr-TR" sz="2700"/>
              <a:t>(</a:t>
            </a:r>
            <a:r>
              <a:rPr lang="tr-TR" altLang="tr-TR" sz="2300"/>
              <a:t>TV programları, sinema filmleri, gazete ve dergiler)</a:t>
            </a:r>
            <a:endParaRPr lang="tr-TR" altLang="tr-TR" sz="2700" b="1"/>
          </a:p>
          <a:p>
            <a:pPr>
              <a:lnSpc>
                <a:spcPct val="80000"/>
              </a:lnSpc>
            </a:pPr>
            <a:r>
              <a:rPr lang="tr-TR" altLang="tr-TR" sz="2700" b="1"/>
              <a:t>Kişisel Deneyimler</a:t>
            </a:r>
          </a:p>
          <a:p>
            <a:pPr>
              <a:lnSpc>
                <a:spcPct val="80000"/>
              </a:lnSpc>
            </a:pPr>
            <a:endParaRPr lang="tr-TR" altLang="tr-TR" sz="2700" b="1"/>
          </a:p>
          <a:p>
            <a:pPr>
              <a:lnSpc>
                <a:spcPct val="80000"/>
              </a:lnSpc>
            </a:pPr>
            <a:r>
              <a:rPr lang="tr-TR" altLang="tr-TR" sz="2700" i="1">
                <a:solidFill>
                  <a:srgbClr val="0033CC"/>
                </a:solidFill>
              </a:rPr>
              <a:t>** Tüm bu yollar ön yargı içerir. Objektif değildirler.</a:t>
            </a:r>
          </a:p>
          <a:p>
            <a:pPr>
              <a:lnSpc>
                <a:spcPct val="80000"/>
              </a:lnSpc>
            </a:pPr>
            <a:endParaRPr lang="tr-TR" altLang="tr-TR" sz="2700" i="1">
              <a:solidFill>
                <a:srgbClr val="0033CC"/>
              </a:solidFill>
            </a:endParaRPr>
          </a:p>
        </p:txBody>
      </p:sp>
    </p:spTree>
    <p:extLst>
      <p:ext uri="{BB962C8B-B14F-4D97-AF65-F5344CB8AC3E}">
        <p14:creationId xmlns:p14="http://schemas.microsoft.com/office/powerpoint/2010/main" val="530509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p:txBody>
          <a:bodyPr/>
          <a:lstStyle/>
          <a:p>
            <a:r>
              <a:rPr lang="tr-TR" altLang="tr-TR" dirty="0"/>
              <a:t>BİLİM (SCIENCE)</a:t>
            </a:r>
          </a:p>
        </p:txBody>
      </p:sp>
      <p:sp>
        <p:nvSpPr>
          <p:cNvPr id="134147" name="Rectangle 3"/>
          <p:cNvSpPr>
            <a:spLocks noGrp="1" noChangeArrowheads="1"/>
          </p:cNvSpPr>
          <p:nvPr>
            <p:ph type="body" idx="1"/>
          </p:nvPr>
        </p:nvSpPr>
        <p:spPr/>
        <p:txBody>
          <a:bodyPr>
            <a:normAutofit fontScale="92500"/>
          </a:bodyPr>
          <a:lstStyle/>
          <a:p>
            <a:pPr>
              <a:lnSpc>
                <a:spcPct val="80000"/>
              </a:lnSpc>
            </a:pPr>
            <a:r>
              <a:rPr lang="tr-TR" altLang="tr-TR" sz="2700" dirty="0"/>
              <a:t>Bilim'in çeşitli tanımları vardır. TDK sözlüğünde bilim şöyle tanımlanmıştır:</a:t>
            </a:r>
          </a:p>
          <a:p>
            <a:pPr>
              <a:lnSpc>
                <a:spcPct val="80000"/>
              </a:lnSpc>
            </a:pPr>
            <a:r>
              <a:rPr lang="tr-TR" altLang="tr-TR" sz="2700" b="1" dirty="0"/>
              <a:t>Bilim:</a:t>
            </a:r>
            <a:r>
              <a:rPr lang="tr-TR" altLang="tr-TR" sz="2700" dirty="0"/>
              <a:t> "Evrenin ya da olayların bir bölümünü konu olarak seçen, deneysel yöntemlere ve gerçekliğe dayanarak yasalar çıkarmaya çalışan düzenli bilgi.“</a:t>
            </a:r>
          </a:p>
          <a:p>
            <a:pPr>
              <a:lnSpc>
                <a:spcPct val="80000"/>
              </a:lnSpc>
            </a:pPr>
            <a:r>
              <a:rPr lang="tr-TR" altLang="tr-TR" sz="2700" dirty="0"/>
              <a:t>"Genel geçerlik ve kesinlik nitelikleri gösteren yöntemli ve dizgesel bilgi.“</a:t>
            </a:r>
          </a:p>
          <a:p>
            <a:pPr>
              <a:lnSpc>
                <a:spcPct val="80000"/>
              </a:lnSpc>
            </a:pPr>
            <a:r>
              <a:rPr lang="tr-TR" altLang="tr-TR" sz="2700" dirty="0"/>
              <a:t>"Belli bir konuyu bilme isteğinden yola çıkan, belli bir amaca yönelen bir bilgi edinme ve yöntemli araştırma süreci."</a:t>
            </a:r>
          </a:p>
        </p:txBody>
      </p:sp>
    </p:spTree>
    <p:extLst>
      <p:ext uri="{BB962C8B-B14F-4D97-AF65-F5344CB8AC3E}">
        <p14:creationId xmlns:p14="http://schemas.microsoft.com/office/powerpoint/2010/main" val="2350214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BİLİM</a:t>
            </a:r>
          </a:p>
        </p:txBody>
      </p:sp>
      <p:sp>
        <p:nvSpPr>
          <p:cNvPr id="3" name="İçerik Yer Tutucusu 2"/>
          <p:cNvSpPr>
            <a:spLocks noGrp="1"/>
          </p:cNvSpPr>
          <p:nvPr>
            <p:ph idx="1"/>
          </p:nvPr>
        </p:nvSpPr>
        <p:spPr/>
        <p:txBody>
          <a:bodyPr/>
          <a:lstStyle/>
          <a:p>
            <a:r>
              <a:rPr lang="tr-TR" dirty="0"/>
              <a:t>Bilim adamlarına göre bilim;</a:t>
            </a:r>
          </a:p>
          <a:p>
            <a:r>
              <a:rPr lang="tr-TR" dirty="0"/>
              <a:t>•Bilim kavramı geçmişteki anlamını büyük ölçüde Aristo’ya borçludur. Aristo'ya göre bilim; </a:t>
            </a:r>
            <a:r>
              <a:rPr lang="tr-TR" sz="2800" b="1" dirty="0"/>
              <a:t>Bir nesneyi var eden sebebi bilmektir</a:t>
            </a:r>
            <a:r>
              <a:rPr lang="tr-TR" dirty="0"/>
              <a:t>.</a:t>
            </a:r>
          </a:p>
          <a:p>
            <a:r>
              <a:rPr lang="tr-TR" dirty="0"/>
              <a:t>•Einstein’a göre bilim; her türlü düzenden yoksun duyu verileri (algılar) ile mantıksal olarak düzenli düşünme arasında uygunluk sağlama çabasıdır.</a:t>
            </a:r>
          </a:p>
        </p:txBody>
      </p:sp>
      <p:pic>
        <p:nvPicPr>
          <p:cNvPr id="4" name="Resim 3"/>
          <p:cNvPicPr>
            <a:picLocks noChangeAspect="1"/>
          </p:cNvPicPr>
          <p:nvPr/>
        </p:nvPicPr>
        <p:blipFill>
          <a:blip r:embed="rId2"/>
          <a:stretch>
            <a:fillRect/>
          </a:stretch>
        </p:blipFill>
        <p:spPr>
          <a:xfrm>
            <a:off x="9926002" y="400049"/>
            <a:ext cx="1666875" cy="2152650"/>
          </a:xfrm>
          <a:prstGeom prst="rect">
            <a:avLst/>
          </a:prstGeom>
        </p:spPr>
      </p:pic>
    </p:spTree>
    <p:extLst>
      <p:ext uri="{BB962C8B-B14F-4D97-AF65-F5344CB8AC3E}">
        <p14:creationId xmlns:p14="http://schemas.microsoft.com/office/powerpoint/2010/main" val="19721768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Sözler..</a:t>
            </a:r>
          </a:p>
        </p:txBody>
      </p:sp>
      <p:sp>
        <p:nvSpPr>
          <p:cNvPr id="3" name="İçerik Yer Tutucusu 2"/>
          <p:cNvSpPr>
            <a:spLocks noGrp="1"/>
          </p:cNvSpPr>
          <p:nvPr>
            <p:ph idx="1"/>
          </p:nvPr>
        </p:nvSpPr>
        <p:spPr/>
        <p:txBody>
          <a:bodyPr/>
          <a:lstStyle/>
          <a:p>
            <a:r>
              <a:rPr lang="tr-TR" dirty="0"/>
              <a:t>Bütün insanlar doğaları gereği bilmek isterler.</a:t>
            </a:r>
          </a:p>
          <a:p>
            <a:r>
              <a:rPr lang="tr-TR" dirty="0"/>
              <a:t>Eflatun’u severim ama gerçeği daha çok severim Aristo</a:t>
            </a:r>
          </a:p>
          <a:p>
            <a:r>
              <a:rPr lang="tr-TR" dirty="0"/>
              <a:t>Eğer daha uzağı görebiliyorsam bu, benden önceki devlerin omuzlarında durduğum içindir. - Isaac Newton</a:t>
            </a:r>
          </a:p>
        </p:txBody>
      </p:sp>
    </p:spTree>
    <p:extLst>
      <p:ext uri="{BB962C8B-B14F-4D97-AF65-F5344CB8AC3E}">
        <p14:creationId xmlns:p14="http://schemas.microsoft.com/office/powerpoint/2010/main" val="12307835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Mühendislik nedir?</a:t>
            </a:r>
            <a:br>
              <a:rPr lang="tr-TR" dirty="0"/>
            </a:br>
            <a:endParaRPr lang="tr-TR" dirty="0"/>
          </a:p>
        </p:txBody>
      </p:sp>
      <p:sp>
        <p:nvSpPr>
          <p:cNvPr id="3" name="İçerik Yer Tutucusu 2"/>
          <p:cNvSpPr>
            <a:spLocks noGrp="1"/>
          </p:cNvSpPr>
          <p:nvPr>
            <p:ph idx="1"/>
          </p:nvPr>
        </p:nvSpPr>
        <p:spPr/>
        <p:txBody>
          <a:bodyPr/>
          <a:lstStyle/>
          <a:p>
            <a:r>
              <a:rPr lang="tr-TR" dirty="0"/>
              <a:t>Mühendislik bilim ve matematiksel prensipleri, tecrübe ve yaratıcılığı kullanarak doğal kaynaklardan insana faydalı ürünler ortaya koyma eylemidir</a:t>
            </a:r>
          </a:p>
        </p:txBody>
      </p:sp>
    </p:spTree>
    <p:extLst>
      <p:ext uri="{BB962C8B-B14F-4D97-AF65-F5344CB8AC3E}">
        <p14:creationId xmlns:p14="http://schemas.microsoft.com/office/powerpoint/2010/main" val="29585210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Bilgisayar Bilimi ve Mühendisliği</a:t>
            </a:r>
          </a:p>
        </p:txBody>
      </p:sp>
      <p:sp>
        <p:nvSpPr>
          <p:cNvPr id="3" name="İçerik Yer Tutucusu 2"/>
          <p:cNvSpPr>
            <a:spLocks noGrp="1"/>
          </p:cNvSpPr>
          <p:nvPr>
            <p:ph idx="1"/>
          </p:nvPr>
        </p:nvSpPr>
        <p:spPr/>
        <p:txBody>
          <a:bodyPr/>
          <a:lstStyle/>
          <a:p>
            <a:r>
              <a:rPr lang="tr-TR" dirty="0"/>
              <a:t>Bilgisayar Bilimi, bilgisayarların ve hesaplama sistemlerin incelenmesidir. Elektrik ve bilgisayar mühendislerinin aksine, bilgisayar bilimcileri çoğunlukla yazılım ve yazılım sistemleri ile ilgilenir; Bu onların teorisi, tasarımı, gelişimi ve uygulamasını içerir.</a:t>
            </a:r>
          </a:p>
          <a:p>
            <a:r>
              <a:rPr lang="tr-TR" altLang="tr-TR" dirty="0">
                <a:latin typeface="Times New Roman" panose="02020603050405020304" pitchFamily="18" charset="0"/>
              </a:rPr>
              <a:t>Bilgisayar Mühendisliği Bölümü, modern dünyanın en önemli gelişme alanlarından biri olan bilgisayar bilimleri konusunda akademik ve teknolojik çalışmalar yapmaktadır</a:t>
            </a:r>
            <a:endParaRPr lang="tr-TR" dirty="0"/>
          </a:p>
        </p:txBody>
      </p:sp>
    </p:spTree>
    <p:extLst>
      <p:ext uri="{BB962C8B-B14F-4D97-AF65-F5344CB8AC3E}">
        <p14:creationId xmlns:p14="http://schemas.microsoft.com/office/powerpoint/2010/main" val="21059444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p:cNvSpPr>
          <p:nvPr>
            <p:ph type="title" idx="4294967295"/>
          </p:nvPr>
        </p:nvSpPr>
        <p:spPr/>
        <p:txBody>
          <a:bodyPr>
            <a:normAutofit/>
          </a:bodyPr>
          <a:lstStyle/>
          <a:p>
            <a:pPr eaLnBrk="1" hangingPunct="1"/>
            <a:r>
              <a:rPr lang="tr-TR" altLang="tr-TR" b="1" dirty="0">
                <a:solidFill>
                  <a:schemeClr val="accent1">
                    <a:lumMod val="75000"/>
                  </a:schemeClr>
                </a:solidFill>
              </a:rPr>
              <a:t>Bilim</a:t>
            </a:r>
          </a:p>
        </p:txBody>
      </p:sp>
      <p:sp>
        <p:nvSpPr>
          <p:cNvPr id="18435" name="Rectangle 3"/>
          <p:cNvSpPr>
            <a:spLocks noGrp="1"/>
          </p:cNvSpPr>
          <p:nvPr>
            <p:ph type="body" idx="4294967295"/>
          </p:nvPr>
        </p:nvSpPr>
        <p:spPr/>
        <p:txBody>
          <a:bodyPr>
            <a:normAutofit fontScale="92500" lnSpcReduction="10000"/>
          </a:bodyPr>
          <a:lstStyle/>
          <a:p>
            <a:pPr eaLnBrk="1" hangingPunct="1"/>
            <a:r>
              <a:rPr lang="tr-TR" altLang="tr-TR" i="1" dirty="0"/>
              <a:t>              Sürekli sorgulama etkinliği</a:t>
            </a:r>
          </a:p>
          <a:p>
            <a:pPr eaLnBrk="1" hangingPunct="1"/>
            <a:r>
              <a:rPr lang="tr-TR" altLang="tr-TR" dirty="0"/>
              <a:t>İnsanın yaşadığı çevreyi, evreni anlama ve açıklama çabası.</a:t>
            </a:r>
          </a:p>
          <a:p>
            <a:pPr eaLnBrk="1" hangingPunct="1"/>
            <a:endParaRPr lang="tr-TR" altLang="tr-TR" dirty="0"/>
          </a:p>
          <a:p>
            <a:pPr eaLnBrk="1" hangingPunct="1"/>
            <a:r>
              <a:rPr lang="tr-TR" altLang="tr-TR" dirty="0"/>
              <a:t>Bilgi arayışı, salt anlama, öğrenme, merak..</a:t>
            </a:r>
          </a:p>
          <a:p>
            <a:pPr eaLnBrk="1" hangingPunct="1"/>
            <a:endParaRPr lang="tr-TR" altLang="tr-TR" dirty="0"/>
          </a:p>
          <a:p>
            <a:pPr eaLnBrk="1" hangingPunct="1"/>
            <a:r>
              <a:rPr lang="tr-TR" altLang="tr-TR" dirty="0" err="1">
                <a:solidFill>
                  <a:srgbClr val="FF0000"/>
                </a:solidFill>
              </a:rPr>
              <a:t>Deneysel:</a:t>
            </a:r>
            <a:r>
              <a:rPr lang="tr-TR" altLang="tr-TR" dirty="0" err="1"/>
              <a:t>Çözüm</a:t>
            </a:r>
            <a:r>
              <a:rPr lang="tr-TR" altLang="tr-TR" dirty="0"/>
              <a:t> arayışı, doğada olup biteni anlama, düzenli ve eleştirel bir nitelik kazandığı ölçüde bilime dönüşür. </a:t>
            </a:r>
          </a:p>
          <a:p>
            <a:pPr eaLnBrk="1" hangingPunct="1"/>
            <a:endParaRPr lang="tr-TR" altLang="tr-TR" dirty="0"/>
          </a:p>
          <a:p>
            <a:pPr eaLnBrk="1" hangingPunct="1"/>
            <a:endParaRPr lang="tr-TR" altLang="tr-TR" dirty="0"/>
          </a:p>
        </p:txBody>
      </p:sp>
      <p:sp>
        <p:nvSpPr>
          <p:cNvPr id="4" name="Footer Placeholder 3"/>
          <p:cNvSpPr>
            <a:spLocks noGrp="1"/>
          </p:cNvSpPr>
          <p:nvPr>
            <p:ph type="ftr" sz="quarter" idx="11"/>
          </p:nvPr>
        </p:nvSpPr>
        <p:spPr/>
        <p:txBody>
          <a:bodyPr/>
          <a:lstStyle/>
          <a:p>
            <a:pPr>
              <a:defRPr/>
            </a:pPr>
            <a:endParaRPr lang="en-US"/>
          </a:p>
        </p:txBody>
      </p:sp>
      <p:sp>
        <p:nvSpPr>
          <p:cNvPr id="2" name="Veri Yer Tutucusu 1"/>
          <p:cNvSpPr>
            <a:spLocks noGrp="1"/>
          </p:cNvSpPr>
          <p:nvPr>
            <p:ph type="dt" sz="quarter" idx="10"/>
          </p:nvPr>
        </p:nvSpPr>
        <p:spPr/>
        <p:txBody>
          <a:bodyPr/>
          <a:lstStyle/>
          <a:p>
            <a:pPr>
              <a:defRPr/>
            </a:pPr>
            <a:fld id="{08BD937C-780F-43C5-96E1-5EE371F1A398}" type="datetime1">
              <a:rPr lang="tr-TR"/>
              <a:pPr>
                <a:defRPr/>
              </a:pPr>
              <a:t>19.02.2026</a:t>
            </a:fld>
            <a:endParaRPr lang="en-US"/>
          </a:p>
        </p:txBody>
      </p:sp>
      <p:sp>
        <p:nvSpPr>
          <p:cNvPr id="3" name="Slayt Numarası Yer Tutucusu 2"/>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DDEBB8C-BF87-474D-BE03-A4D0652C6857}" type="slidenum">
              <a:rPr lang="en-US" altLang="tr-TR">
                <a:solidFill>
                  <a:srgbClr val="08B7BF"/>
                </a:solidFill>
                <a:latin typeface="Georgia" panose="02040502050405020303" pitchFamily="18" charset="0"/>
              </a:rPr>
              <a:pPr eaLnBrk="1" hangingPunct="1"/>
              <a:t>11</a:t>
            </a:fld>
            <a:endParaRPr lang="en-US" altLang="tr-TR">
              <a:solidFill>
                <a:srgbClr val="08B7BF"/>
              </a:solidFill>
              <a:latin typeface="Georgia" panose="02040502050405020303" pitchFamily="18" charset="0"/>
            </a:endParaRPr>
          </a:p>
        </p:txBody>
      </p:sp>
    </p:spTree>
    <p:extLst>
      <p:ext uri="{BB962C8B-B14F-4D97-AF65-F5344CB8AC3E}">
        <p14:creationId xmlns:p14="http://schemas.microsoft.com/office/powerpoint/2010/main" val="40072737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normAutofit/>
          </a:bodyPr>
          <a:lstStyle/>
          <a:p>
            <a:pPr eaLnBrk="1" hangingPunct="1"/>
            <a:r>
              <a:rPr lang="tr-TR" altLang="tr-TR" dirty="0"/>
              <a:t>Bilim</a:t>
            </a:r>
          </a:p>
        </p:txBody>
      </p:sp>
      <p:sp>
        <p:nvSpPr>
          <p:cNvPr id="19459" name="Content Placeholder 2"/>
          <p:cNvSpPr>
            <a:spLocks noGrp="1"/>
          </p:cNvSpPr>
          <p:nvPr>
            <p:ph sz="quarter" idx="1"/>
          </p:nvPr>
        </p:nvSpPr>
        <p:spPr>
          <a:xfrm>
            <a:off x="1825625" y="1527175"/>
            <a:ext cx="8504238" cy="4572000"/>
          </a:xfrm>
        </p:spPr>
        <p:txBody>
          <a:bodyPr/>
          <a:lstStyle/>
          <a:p>
            <a:pPr eaLnBrk="1" hangingPunct="1">
              <a:buFont typeface="Wingdings 2" panose="05020102010507070707" pitchFamily="18" charset="2"/>
              <a:buNone/>
            </a:pPr>
            <a:r>
              <a:rPr lang="tr-TR" altLang="tr-TR"/>
              <a:t>Araştırma bulgularına dayanarak, </a:t>
            </a:r>
          </a:p>
          <a:p>
            <a:pPr eaLnBrk="1" hangingPunct="1">
              <a:buFont typeface="Wingdings 2" panose="05020102010507070707" pitchFamily="18" charset="2"/>
              <a:buNone/>
            </a:pPr>
            <a:r>
              <a:rPr lang="tr-TR" altLang="tr-TR"/>
              <a:t>neden -sonuç niteliğinde ilişkiler bulmaya çalışan, </a:t>
            </a:r>
          </a:p>
          <a:p>
            <a:pPr eaLnBrk="1" hangingPunct="1">
              <a:buFont typeface="Wingdings 2" panose="05020102010507070707" pitchFamily="18" charset="2"/>
              <a:buNone/>
            </a:pPr>
            <a:r>
              <a:rPr lang="tr-TR" altLang="tr-TR"/>
              <a:t>olay ve olguları yöntemlere dayalı olarak çözümleyip</a:t>
            </a:r>
          </a:p>
          <a:p>
            <a:pPr eaLnBrk="1" hangingPunct="1">
              <a:buFont typeface="Wingdings 2" panose="05020102010507070707" pitchFamily="18" charset="2"/>
              <a:buNone/>
            </a:pPr>
            <a:r>
              <a:rPr lang="tr-TR" altLang="tr-TR"/>
              <a:t>genellemelere ulaşmaya çalışan </a:t>
            </a:r>
          </a:p>
          <a:p>
            <a:pPr eaLnBrk="1" hangingPunct="1">
              <a:buFont typeface="Wingdings 2" panose="05020102010507070707" pitchFamily="18" charset="2"/>
              <a:buNone/>
            </a:pPr>
            <a:r>
              <a:rPr lang="tr-TR" altLang="tr-TR"/>
              <a:t>sistematik bilgiler bütünüdür.</a:t>
            </a:r>
          </a:p>
          <a:p>
            <a:pPr algn="r" eaLnBrk="1" hangingPunct="1">
              <a:buFont typeface="Wingdings 2" panose="05020102010507070707" pitchFamily="18" charset="2"/>
              <a:buNone/>
            </a:pPr>
            <a:r>
              <a:rPr lang="tr-TR" altLang="tr-TR"/>
              <a:t>Pozitivist yaklaşım</a:t>
            </a:r>
          </a:p>
        </p:txBody>
      </p:sp>
      <p:sp>
        <p:nvSpPr>
          <p:cNvPr id="4" name="Footer Placeholder 3"/>
          <p:cNvSpPr>
            <a:spLocks noGrp="1"/>
          </p:cNvSpPr>
          <p:nvPr>
            <p:ph type="ftr" sz="quarter" idx="11"/>
          </p:nvPr>
        </p:nvSpPr>
        <p:spPr/>
        <p:txBody>
          <a:bodyPr/>
          <a:lstStyle/>
          <a:p>
            <a:pPr>
              <a:defRPr/>
            </a:pPr>
            <a:endParaRPr lang="en-US"/>
          </a:p>
        </p:txBody>
      </p:sp>
      <p:sp>
        <p:nvSpPr>
          <p:cNvPr id="2" name="Veri Yer Tutucusu 1"/>
          <p:cNvSpPr>
            <a:spLocks noGrp="1"/>
          </p:cNvSpPr>
          <p:nvPr>
            <p:ph type="dt" sz="quarter" idx="10"/>
          </p:nvPr>
        </p:nvSpPr>
        <p:spPr/>
        <p:txBody>
          <a:bodyPr/>
          <a:lstStyle/>
          <a:p>
            <a:pPr>
              <a:defRPr/>
            </a:pPr>
            <a:fld id="{22D56E93-69DE-4981-B59E-F2B7A35A3584}" type="datetime1">
              <a:rPr lang="tr-TR"/>
              <a:pPr>
                <a:defRPr/>
              </a:pPr>
              <a:t>19.02.2026</a:t>
            </a:fld>
            <a:endParaRPr lang="en-US"/>
          </a:p>
        </p:txBody>
      </p:sp>
      <p:sp>
        <p:nvSpPr>
          <p:cNvPr id="3" name="Slayt Numarası Yer Tutucusu 2"/>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60721E3-E58C-440A-9852-89D4B864DA26}" type="slidenum">
              <a:rPr lang="en-US" altLang="tr-TR">
                <a:solidFill>
                  <a:srgbClr val="08B7BF"/>
                </a:solidFill>
                <a:latin typeface="Georgia" panose="02040502050405020303" pitchFamily="18" charset="0"/>
              </a:rPr>
              <a:pPr eaLnBrk="1" hangingPunct="1"/>
              <a:t>12</a:t>
            </a:fld>
            <a:endParaRPr lang="en-US" altLang="tr-TR">
              <a:solidFill>
                <a:srgbClr val="08B7BF"/>
              </a:solidFill>
              <a:latin typeface="Georgia" panose="02040502050405020303" pitchFamily="18" charset="0"/>
            </a:endParaRPr>
          </a:p>
        </p:txBody>
      </p:sp>
    </p:spTree>
    <p:extLst>
      <p:ext uri="{BB962C8B-B14F-4D97-AF65-F5344CB8AC3E}">
        <p14:creationId xmlns:p14="http://schemas.microsoft.com/office/powerpoint/2010/main" val="42017977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Mühendislik</a:t>
            </a:r>
          </a:p>
        </p:txBody>
      </p:sp>
      <p:sp>
        <p:nvSpPr>
          <p:cNvPr id="3" name="İçerik Yer Tutucusu 2"/>
          <p:cNvSpPr>
            <a:spLocks noGrp="1"/>
          </p:cNvSpPr>
          <p:nvPr>
            <p:ph idx="1"/>
          </p:nvPr>
        </p:nvSpPr>
        <p:spPr/>
        <p:txBody>
          <a:bodyPr>
            <a:normAutofit/>
          </a:bodyPr>
          <a:lstStyle/>
          <a:p>
            <a:r>
              <a:rPr lang="tr-TR" dirty="0"/>
              <a:t>Mühendislik, bilimi kullanarak, etik değerleri mutlaka gözeterek, müşteri taleplerini karşılayacak şeyler tasarlamak ve imal/inşa etmektir; bilimsel verileri gündelik hususlar için kullanabilmektir.</a:t>
            </a:r>
          </a:p>
          <a:p>
            <a:r>
              <a:rPr lang="tr-TR" dirty="0"/>
              <a:t>Teknolojiyi insanlık yararına uygulamaktır; aklı ve bilimsel yöntemleri doğal kaynakların insanlık yararına en uygun kullanılması için uygulamaktır.</a:t>
            </a:r>
          </a:p>
        </p:txBody>
      </p:sp>
    </p:spTree>
    <p:extLst>
      <p:ext uri="{BB962C8B-B14F-4D97-AF65-F5344CB8AC3E}">
        <p14:creationId xmlns:p14="http://schemas.microsoft.com/office/powerpoint/2010/main" val="9664291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09" name="Footer Placeholder 4"/>
          <p:cNvSpPr>
            <a:spLocks noGrp="1"/>
          </p:cNvSpPr>
          <p:nvPr>
            <p:ph type="ftr" sz="quarter" idx="11"/>
          </p:nvPr>
        </p:nvSpPr>
        <p:spPr bwMode="auto">
          <a:ln>
            <a:miter lim="800000"/>
            <a:headEnd/>
            <a:tailEnd/>
          </a:ln>
        </p:spPr>
        <p:txBody>
          <a:bodyPr vert="horz" wrap="square" lIns="91440" tIns="45720" rIns="91440" bIns="45720" numCol="1" rtlCol="0" anchor="t" anchorCtr="0" compatLnSpc="1">
            <a:prstTxWarp prst="textNoShape">
              <a:avLst/>
            </a:prstTxWarp>
          </a:bodyPr>
          <a:lstStyle/>
          <a:p>
            <a:pPr fontAlgn="base">
              <a:spcBef>
                <a:spcPct val="0"/>
              </a:spcBef>
              <a:spcAft>
                <a:spcPct val="0"/>
              </a:spcAft>
              <a:defRPr/>
            </a:pPr>
            <a:endParaRPr lang="tr-TR"/>
          </a:p>
        </p:txBody>
      </p:sp>
      <p:sp>
        <p:nvSpPr>
          <p:cNvPr id="20483" name="Rectangle 2"/>
          <p:cNvSpPr>
            <a:spLocks noGrp="1" noChangeArrowheads="1"/>
          </p:cNvSpPr>
          <p:nvPr>
            <p:ph type="title"/>
          </p:nvPr>
        </p:nvSpPr>
        <p:spPr/>
        <p:txBody>
          <a:bodyPr/>
          <a:lstStyle/>
          <a:p>
            <a:pPr eaLnBrk="1" hangingPunct="1"/>
            <a:r>
              <a:rPr lang="tr-TR" altLang="tr-TR">
                <a:solidFill>
                  <a:schemeClr val="accent1"/>
                </a:solidFill>
              </a:rPr>
              <a:t>Bilimin temel özellikleri nedir?</a:t>
            </a:r>
            <a:endParaRPr lang="en-US" altLang="tr-TR">
              <a:solidFill>
                <a:schemeClr val="accent1"/>
              </a:solidFill>
            </a:endParaRPr>
          </a:p>
        </p:txBody>
      </p:sp>
      <p:sp>
        <p:nvSpPr>
          <p:cNvPr id="20484" name="Rectangle 3"/>
          <p:cNvSpPr>
            <a:spLocks noGrp="1" noChangeArrowheads="1"/>
          </p:cNvSpPr>
          <p:nvPr>
            <p:ph type="body" idx="1"/>
          </p:nvPr>
        </p:nvSpPr>
        <p:spPr>
          <a:xfrm>
            <a:off x="1825625" y="1527175"/>
            <a:ext cx="8504238" cy="4572000"/>
          </a:xfrm>
        </p:spPr>
        <p:txBody>
          <a:bodyPr/>
          <a:lstStyle/>
          <a:p>
            <a:pPr eaLnBrk="1" hangingPunct="1">
              <a:lnSpc>
                <a:spcPct val="90000"/>
              </a:lnSpc>
            </a:pPr>
            <a:r>
              <a:rPr lang="tr-TR" altLang="tr-TR"/>
              <a:t>Veri toplama aşaması,</a:t>
            </a:r>
          </a:p>
          <a:p>
            <a:pPr eaLnBrk="1" hangingPunct="1">
              <a:lnSpc>
                <a:spcPct val="90000"/>
              </a:lnSpc>
            </a:pPr>
            <a:r>
              <a:rPr lang="tr-TR" altLang="tr-TR"/>
              <a:t>Veriler arası ilişkinin gözden geçirilmesi,</a:t>
            </a:r>
          </a:p>
          <a:p>
            <a:pPr eaLnBrk="1" hangingPunct="1">
              <a:lnSpc>
                <a:spcPct val="90000"/>
              </a:lnSpc>
            </a:pPr>
            <a:r>
              <a:rPr lang="tr-TR" altLang="tr-TR"/>
              <a:t>Bulgular arası anlamlı bağlantılar, nedensellik</a:t>
            </a:r>
          </a:p>
          <a:p>
            <a:pPr eaLnBrk="1" hangingPunct="1">
              <a:lnSpc>
                <a:spcPct val="90000"/>
              </a:lnSpc>
            </a:pPr>
            <a:r>
              <a:rPr lang="tr-TR" altLang="tr-TR"/>
              <a:t>Bağlantıları açıklayıcı genellemelerin kurulması,</a:t>
            </a:r>
          </a:p>
          <a:p>
            <a:pPr eaLnBrk="1" hangingPunct="1">
              <a:lnSpc>
                <a:spcPct val="90000"/>
              </a:lnSpc>
            </a:pPr>
            <a:r>
              <a:rPr lang="tr-TR" altLang="tr-TR"/>
              <a:t>Sınama-yanılma aşaması,</a:t>
            </a:r>
          </a:p>
          <a:p>
            <a:pPr eaLnBrk="1" hangingPunct="1">
              <a:lnSpc>
                <a:spcPct val="90000"/>
              </a:lnSpc>
            </a:pPr>
            <a:r>
              <a:rPr lang="tr-TR" altLang="tr-TR"/>
              <a:t>Sistemleştirme.</a:t>
            </a:r>
          </a:p>
          <a:p>
            <a:pPr eaLnBrk="1" hangingPunct="1">
              <a:lnSpc>
                <a:spcPct val="90000"/>
              </a:lnSpc>
              <a:buFont typeface="Monotype Sorts"/>
              <a:buNone/>
            </a:pPr>
            <a:endParaRPr lang="en-US" altLang="tr-TR"/>
          </a:p>
        </p:txBody>
      </p:sp>
      <p:sp>
        <p:nvSpPr>
          <p:cNvPr id="2" name="Veri Yer Tutucusu 1"/>
          <p:cNvSpPr>
            <a:spLocks noGrp="1"/>
          </p:cNvSpPr>
          <p:nvPr>
            <p:ph type="dt" sz="quarter" idx="10"/>
          </p:nvPr>
        </p:nvSpPr>
        <p:spPr/>
        <p:txBody>
          <a:bodyPr/>
          <a:lstStyle/>
          <a:p>
            <a:pPr>
              <a:defRPr/>
            </a:pPr>
            <a:fld id="{2382CB61-BD41-42A5-BCA3-B9431153666B}" type="datetime1">
              <a:rPr lang="tr-TR"/>
              <a:pPr>
                <a:defRPr/>
              </a:pPr>
              <a:t>19.02.2026</a:t>
            </a:fld>
            <a:endParaRPr lang="en-US"/>
          </a:p>
        </p:txBody>
      </p:sp>
      <p:sp>
        <p:nvSpPr>
          <p:cNvPr id="3" name="Slayt Numarası Yer Tutucusu 2"/>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5B64E34-E415-4221-A055-AE4220E2F4E6}" type="slidenum">
              <a:rPr lang="en-US" altLang="tr-TR">
                <a:solidFill>
                  <a:srgbClr val="08B7BF"/>
                </a:solidFill>
                <a:latin typeface="Georgia" panose="02040502050405020303" pitchFamily="18" charset="0"/>
              </a:rPr>
              <a:pPr eaLnBrk="1" hangingPunct="1"/>
              <a:t>14</a:t>
            </a:fld>
            <a:endParaRPr lang="en-US" altLang="tr-TR">
              <a:solidFill>
                <a:srgbClr val="08B7BF"/>
              </a:solidFill>
              <a:latin typeface="Georgia" panose="02040502050405020303" pitchFamily="18" charset="0"/>
            </a:endParaRPr>
          </a:p>
        </p:txBody>
      </p:sp>
    </p:spTree>
    <p:extLst>
      <p:ext uri="{BB962C8B-B14F-4D97-AF65-F5344CB8AC3E}">
        <p14:creationId xmlns:p14="http://schemas.microsoft.com/office/powerpoint/2010/main" val="39387585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2 İçerik Yer Tutucusu"/>
          <p:cNvSpPr>
            <a:spLocks noGrp="1"/>
          </p:cNvSpPr>
          <p:nvPr>
            <p:ph sz="quarter" idx="1"/>
          </p:nvPr>
        </p:nvSpPr>
        <p:spPr>
          <a:xfrm>
            <a:off x="1825625" y="1527175"/>
            <a:ext cx="8504238" cy="4572000"/>
          </a:xfrm>
        </p:spPr>
        <p:txBody>
          <a:bodyPr/>
          <a:lstStyle/>
          <a:p>
            <a:r>
              <a:rPr lang="tr-TR" altLang="tr-TR" dirty="0"/>
              <a:t>İnsanlar tarihin ilk zamanlarından beri çevreleri ile ilgilenmişler, çevrelerini tanımaya çalışmışlardır. </a:t>
            </a:r>
          </a:p>
          <a:p>
            <a:r>
              <a:rPr lang="tr-TR" altLang="tr-TR" dirty="0"/>
              <a:t>Mevsimlerin değişmesi, gündüz ve gece, değişen iklim koşulları, değişen koşullara uyum sağlayarak yaşama insanların çabaları olmuştur. </a:t>
            </a:r>
          </a:p>
          <a:p>
            <a:r>
              <a:rPr lang="tr-TR" altLang="tr-TR" dirty="0"/>
              <a:t>İnsanlar gökyüzünü, güneşi, ayı gözlemlemişler ve zaman kavramını belirlemeye çalışmışlardır. </a:t>
            </a:r>
          </a:p>
          <a:p>
            <a:r>
              <a:rPr lang="tr-TR" altLang="tr-TR" dirty="0"/>
              <a:t>İlk uygarlıklar su kenarında kurulmuştur. Çin, Mısır, </a:t>
            </a:r>
            <a:r>
              <a:rPr lang="tr-TR" altLang="tr-TR" dirty="0" err="1"/>
              <a:t>Hint,Mezopotamya</a:t>
            </a:r>
            <a:r>
              <a:rPr lang="tr-TR" altLang="tr-TR" dirty="0"/>
              <a:t>, vb. </a:t>
            </a:r>
          </a:p>
        </p:txBody>
      </p:sp>
      <p:sp>
        <p:nvSpPr>
          <p:cNvPr id="4" name="3 Veri Yer Tutucusu"/>
          <p:cNvSpPr>
            <a:spLocks noGrp="1"/>
          </p:cNvSpPr>
          <p:nvPr>
            <p:ph type="dt" sz="quarter" idx="10"/>
          </p:nvPr>
        </p:nvSpPr>
        <p:spPr/>
        <p:txBody>
          <a:bodyPr/>
          <a:lstStyle/>
          <a:p>
            <a:pPr>
              <a:defRPr/>
            </a:pPr>
            <a:fld id="{0FA26AAE-FB17-4662-8400-77A49C132481}" type="datetime1">
              <a:rPr lang="tr-TR" smtClean="0"/>
              <a:pPr>
                <a:defRPr/>
              </a:pPr>
              <a:t>19.02.2026</a:t>
            </a:fld>
            <a:endParaRPr lang="en-US"/>
          </a:p>
        </p:txBody>
      </p:sp>
      <p:sp>
        <p:nvSpPr>
          <p:cNvPr id="5" name="4 Altbilgi Yer Tutucusu"/>
          <p:cNvSpPr>
            <a:spLocks noGrp="1"/>
          </p:cNvSpPr>
          <p:nvPr>
            <p:ph type="ftr" sz="quarter" idx="11"/>
          </p:nvPr>
        </p:nvSpPr>
        <p:spPr/>
        <p:txBody>
          <a:bodyPr/>
          <a:lstStyle/>
          <a:p>
            <a:pPr>
              <a:defRPr/>
            </a:pPr>
            <a:endParaRPr lang="en-US"/>
          </a:p>
        </p:txBody>
      </p:sp>
      <p:sp>
        <p:nvSpPr>
          <p:cNvPr id="6" name="5 Slayt Numarası Yer Tutucusu"/>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0DF54723-827B-4E4F-AD9F-1C6B277E064B}" type="slidenum">
              <a:rPr lang="en-US" altLang="tr-TR">
                <a:solidFill>
                  <a:srgbClr val="08B7BF"/>
                </a:solidFill>
                <a:latin typeface="Georgia" panose="02040502050405020303" pitchFamily="18" charset="0"/>
              </a:rPr>
              <a:pPr eaLnBrk="1" hangingPunct="1"/>
              <a:t>15</a:t>
            </a:fld>
            <a:endParaRPr lang="en-US" altLang="tr-TR">
              <a:solidFill>
                <a:srgbClr val="08B7BF"/>
              </a:solidFill>
              <a:latin typeface="Georgia" panose="02040502050405020303" pitchFamily="18" charset="0"/>
            </a:endParaRPr>
          </a:p>
        </p:txBody>
      </p:sp>
      <p:sp>
        <p:nvSpPr>
          <p:cNvPr id="7" name="Title 1"/>
          <p:cNvSpPr>
            <a:spLocks noGrp="1"/>
          </p:cNvSpPr>
          <p:nvPr>
            <p:ph type="title"/>
          </p:nvPr>
        </p:nvSpPr>
        <p:spPr>
          <a:xfrm>
            <a:off x="1318056" y="128847"/>
            <a:ext cx="10018713" cy="1752599"/>
          </a:xfrm>
        </p:spPr>
        <p:txBody>
          <a:bodyPr>
            <a:normAutofit/>
          </a:bodyPr>
          <a:lstStyle/>
          <a:p>
            <a:pPr eaLnBrk="1" hangingPunct="1"/>
            <a:r>
              <a:rPr lang="tr-TR" altLang="tr-TR" dirty="0"/>
              <a:t>Bilim Tarihi</a:t>
            </a:r>
          </a:p>
        </p:txBody>
      </p:sp>
    </p:spTree>
    <p:extLst>
      <p:ext uri="{BB962C8B-B14F-4D97-AF65-F5344CB8AC3E}">
        <p14:creationId xmlns:p14="http://schemas.microsoft.com/office/powerpoint/2010/main" val="6035486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2 İçerik Yer Tutucusu"/>
          <p:cNvSpPr>
            <a:spLocks noGrp="1"/>
          </p:cNvSpPr>
          <p:nvPr>
            <p:ph sz="quarter" idx="1"/>
          </p:nvPr>
        </p:nvSpPr>
        <p:spPr>
          <a:xfrm>
            <a:off x="1825625" y="1527175"/>
            <a:ext cx="8504238" cy="4572000"/>
          </a:xfrm>
        </p:spPr>
        <p:txBody>
          <a:bodyPr/>
          <a:lstStyle/>
          <a:p>
            <a:r>
              <a:rPr lang="tr-TR" altLang="tr-TR"/>
              <a:t>Bilim tarihi iki farklı disiplinin bir araya gelmesi ile oluşmuştur. Konusu bilimlerdir.</a:t>
            </a:r>
          </a:p>
          <a:p>
            <a:r>
              <a:rPr lang="tr-TR" altLang="tr-TR"/>
              <a:t>Bütün bilimlerin tarihini ‘bilim tarihi’ inceler. </a:t>
            </a:r>
          </a:p>
          <a:p>
            <a:r>
              <a:rPr lang="tr-TR" altLang="tr-TR"/>
              <a:t>Bilim tarihi çalışmalarını yaparken konuyu iki esasta konuyu ele alır.</a:t>
            </a:r>
          </a:p>
          <a:p>
            <a:pPr>
              <a:buFont typeface="Wingdings 2" panose="05020102010507070707" pitchFamily="18" charset="2"/>
              <a:buNone/>
            </a:pPr>
            <a:r>
              <a:rPr lang="tr-TR" altLang="tr-TR"/>
              <a:t>1) </a:t>
            </a:r>
            <a:r>
              <a:rPr lang="tr-TR" altLang="tr-TR" b="1"/>
              <a:t>Horizantal: </a:t>
            </a:r>
            <a:r>
              <a:rPr lang="tr-TR" altLang="tr-TR"/>
              <a:t>Bölgesel ya da genel olarak bilim tarihini değerlendirir. Çin bilim tarihi, Mısır bilim tarihi, vb</a:t>
            </a:r>
          </a:p>
          <a:p>
            <a:pPr>
              <a:buFont typeface="Wingdings 2" panose="05020102010507070707" pitchFamily="18" charset="2"/>
              <a:buNone/>
            </a:pPr>
            <a:r>
              <a:rPr lang="tr-TR" altLang="tr-TR"/>
              <a:t>2) </a:t>
            </a:r>
            <a:r>
              <a:rPr lang="tr-TR" altLang="tr-TR" b="1"/>
              <a:t>Vertikal:</a:t>
            </a:r>
            <a:r>
              <a:rPr lang="tr-TR" altLang="tr-TR"/>
              <a:t> Fizik, matematik astronomi gibi ele alıp inceler. O konu ile ilgili güncel bilgileri takip eder. </a:t>
            </a:r>
          </a:p>
        </p:txBody>
      </p:sp>
      <p:sp>
        <p:nvSpPr>
          <p:cNvPr id="4" name="3 Veri Yer Tutucusu"/>
          <p:cNvSpPr>
            <a:spLocks noGrp="1"/>
          </p:cNvSpPr>
          <p:nvPr>
            <p:ph type="dt" sz="quarter" idx="10"/>
          </p:nvPr>
        </p:nvSpPr>
        <p:spPr/>
        <p:txBody>
          <a:bodyPr/>
          <a:lstStyle/>
          <a:p>
            <a:pPr>
              <a:defRPr/>
            </a:pPr>
            <a:fld id="{0FA26AAE-FB17-4662-8400-77A49C132481}" type="datetime1">
              <a:rPr lang="tr-TR" smtClean="0"/>
              <a:pPr>
                <a:defRPr/>
              </a:pPr>
              <a:t>19.02.2026</a:t>
            </a:fld>
            <a:endParaRPr lang="en-US"/>
          </a:p>
        </p:txBody>
      </p:sp>
      <p:sp>
        <p:nvSpPr>
          <p:cNvPr id="5" name="4 Altbilgi Yer Tutucusu"/>
          <p:cNvSpPr>
            <a:spLocks noGrp="1"/>
          </p:cNvSpPr>
          <p:nvPr>
            <p:ph type="ftr" sz="quarter" idx="11"/>
          </p:nvPr>
        </p:nvSpPr>
        <p:spPr/>
        <p:txBody>
          <a:bodyPr/>
          <a:lstStyle/>
          <a:p>
            <a:pPr>
              <a:defRPr/>
            </a:pPr>
            <a:endParaRPr lang="en-US"/>
          </a:p>
        </p:txBody>
      </p:sp>
      <p:sp>
        <p:nvSpPr>
          <p:cNvPr id="6" name="5 Slayt Numarası Yer Tutucusu"/>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A2F770CB-E966-411B-AA0F-DACEDE6A6E06}" type="slidenum">
              <a:rPr lang="en-US" altLang="tr-TR">
                <a:solidFill>
                  <a:srgbClr val="08B7BF"/>
                </a:solidFill>
                <a:latin typeface="Georgia" panose="02040502050405020303" pitchFamily="18" charset="0"/>
              </a:rPr>
              <a:pPr eaLnBrk="1" hangingPunct="1"/>
              <a:t>16</a:t>
            </a:fld>
            <a:endParaRPr lang="en-US" altLang="tr-TR">
              <a:solidFill>
                <a:srgbClr val="08B7BF"/>
              </a:solidFill>
              <a:latin typeface="Georgia" panose="02040502050405020303" pitchFamily="18" charset="0"/>
            </a:endParaRPr>
          </a:p>
        </p:txBody>
      </p:sp>
      <p:sp>
        <p:nvSpPr>
          <p:cNvPr id="7" name="Title 1"/>
          <p:cNvSpPr>
            <a:spLocks noGrp="1"/>
          </p:cNvSpPr>
          <p:nvPr>
            <p:ph type="title"/>
          </p:nvPr>
        </p:nvSpPr>
        <p:spPr>
          <a:xfrm>
            <a:off x="1318056" y="128847"/>
            <a:ext cx="10018713" cy="1752599"/>
          </a:xfrm>
        </p:spPr>
        <p:txBody>
          <a:bodyPr>
            <a:normAutofit/>
          </a:bodyPr>
          <a:lstStyle/>
          <a:p>
            <a:pPr eaLnBrk="1" hangingPunct="1"/>
            <a:r>
              <a:rPr lang="tr-TR" altLang="tr-TR" dirty="0"/>
              <a:t>Bilim Tarihi</a:t>
            </a:r>
          </a:p>
        </p:txBody>
      </p:sp>
    </p:spTree>
    <p:extLst>
      <p:ext uri="{BB962C8B-B14F-4D97-AF65-F5344CB8AC3E}">
        <p14:creationId xmlns:p14="http://schemas.microsoft.com/office/powerpoint/2010/main" val="17790112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2 İçerik Yer Tutucusu"/>
          <p:cNvSpPr>
            <a:spLocks noGrp="1"/>
          </p:cNvSpPr>
          <p:nvPr>
            <p:ph sz="quarter" idx="1"/>
          </p:nvPr>
        </p:nvSpPr>
        <p:spPr>
          <a:xfrm>
            <a:off x="1825625" y="1527175"/>
            <a:ext cx="8504238" cy="4572000"/>
          </a:xfrm>
        </p:spPr>
        <p:txBody>
          <a:bodyPr/>
          <a:lstStyle/>
          <a:p>
            <a:r>
              <a:rPr lang="tr-TR" altLang="tr-TR"/>
              <a:t>Bilimsel faaliyetlerin şekillenmesinde en önemli rolü dönemin düşünce yapısı oynamaktadır. </a:t>
            </a:r>
          </a:p>
          <a:p>
            <a:r>
              <a:rPr lang="tr-TR" altLang="tr-TR"/>
              <a:t>Bilim insanları genellikle belli bir konuda düşünmemişler, aynı zamanda evrende ne olduğunu merak etmişler, bu konuda görüş beyan etmişlerdir. </a:t>
            </a:r>
          </a:p>
          <a:p>
            <a:r>
              <a:rPr lang="tr-TR" altLang="tr-TR"/>
              <a:t>İlkçağlarda bilim insanı ile filozofun aynı kişi olduğu görülür. </a:t>
            </a:r>
          </a:p>
        </p:txBody>
      </p:sp>
      <p:sp>
        <p:nvSpPr>
          <p:cNvPr id="4" name="3 Veri Yer Tutucusu"/>
          <p:cNvSpPr>
            <a:spLocks noGrp="1"/>
          </p:cNvSpPr>
          <p:nvPr>
            <p:ph type="dt" sz="quarter" idx="10"/>
          </p:nvPr>
        </p:nvSpPr>
        <p:spPr/>
        <p:txBody>
          <a:bodyPr/>
          <a:lstStyle/>
          <a:p>
            <a:pPr>
              <a:defRPr/>
            </a:pPr>
            <a:fld id="{0FA26AAE-FB17-4662-8400-77A49C132481}" type="datetime1">
              <a:rPr lang="tr-TR" smtClean="0"/>
              <a:pPr>
                <a:defRPr/>
              </a:pPr>
              <a:t>19.02.2026</a:t>
            </a:fld>
            <a:endParaRPr lang="en-US"/>
          </a:p>
        </p:txBody>
      </p:sp>
      <p:sp>
        <p:nvSpPr>
          <p:cNvPr id="5" name="4 Altbilgi Yer Tutucusu"/>
          <p:cNvSpPr>
            <a:spLocks noGrp="1"/>
          </p:cNvSpPr>
          <p:nvPr>
            <p:ph type="ftr" sz="quarter" idx="11"/>
          </p:nvPr>
        </p:nvSpPr>
        <p:spPr/>
        <p:txBody>
          <a:bodyPr/>
          <a:lstStyle/>
          <a:p>
            <a:pPr>
              <a:defRPr/>
            </a:pPr>
            <a:endParaRPr lang="en-US"/>
          </a:p>
        </p:txBody>
      </p:sp>
      <p:sp>
        <p:nvSpPr>
          <p:cNvPr id="6" name="5 Slayt Numarası Yer Tutucusu"/>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BBD3C9DC-A3F3-4D67-8907-8E08D761C652}" type="slidenum">
              <a:rPr lang="en-US" altLang="tr-TR">
                <a:solidFill>
                  <a:srgbClr val="08B7BF"/>
                </a:solidFill>
                <a:latin typeface="Georgia" panose="02040502050405020303" pitchFamily="18" charset="0"/>
              </a:rPr>
              <a:pPr eaLnBrk="1" hangingPunct="1"/>
              <a:t>17</a:t>
            </a:fld>
            <a:endParaRPr lang="en-US" altLang="tr-TR">
              <a:solidFill>
                <a:srgbClr val="08B7BF"/>
              </a:solidFill>
              <a:latin typeface="Georgia" panose="02040502050405020303" pitchFamily="18" charset="0"/>
            </a:endParaRPr>
          </a:p>
        </p:txBody>
      </p:sp>
      <p:sp>
        <p:nvSpPr>
          <p:cNvPr id="7" name="Title 1"/>
          <p:cNvSpPr>
            <a:spLocks noGrp="1"/>
          </p:cNvSpPr>
          <p:nvPr>
            <p:ph type="title"/>
          </p:nvPr>
        </p:nvSpPr>
        <p:spPr>
          <a:xfrm>
            <a:off x="1318056" y="128847"/>
            <a:ext cx="10018713" cy="1752599"/>
          </a:xfrm>
        </p:spPr>
        <p:txBody>
          <a:bodyPr/>
          <a:lstStyle/>
          <a:p>
            <a:pPr eaLnBrk="1" hangingPunct="1"/>
            <a:r>
              <a:rPr lang="tr-TR" altLang="tr-TR" dirty="0"/>
              <a:t>Bilim Tarihi</a:t>
            </a:r>
          </a:p>
        </p:txBody>
      </p:sp>
    </p:spTree>
    <p:extLst>
      <p:ext uri="{BB962C8B-B14F-4D97-AF65-F5344CB8AC3E}">
        <p14:creationId xmlns:p14="http://schemas.microsoft.com/office/powerpoint/2010/main" val="22571421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2 İçerik Yer Tutucusu"/>
          <p:cNvSpPr>
            <a:spLocks noGrp="1"/>
          </p:cNvSpPr>
          <p:nvPr>
            <p:ph sz="quarter" idx="1"/>
          </p:nvPr>
        </p:nvSpPr>
        <p:spPr>
          <a:xfrm>
            <a:off x="1825625" y="1527175"/>
            <a:ext cx="8504238" cy="4572000"/>
          </a:xfrm>
        </p:spPr>
        <p:txBody>
          <a:bodyPr/>
          <a:lstStyle/>
          <a:p>
            <a:r>
              <a:rPr lang="tr-TR" altLang="tr-TR" b="1"/>
              <a:t>Thales</a:t>
            </a:r>
            <a:r>
              <a:rPr lang="tr-TR" altLang="tr-TR"/>
              <a:t> bir matematikçidir, </a:t>
            </a:r>
            <a:r>
              <a:rPr lang="tr-TR" altLang="tr-TR" b="1"/>
              <a:t>Platon</a:t>
            </a:r>
            <a:r>
              <a:rPr lang="tr-TR" altLang="tr-TR"/>
              <a:t> bir filozof olduğu kadar aynı zamanda matematik ve astronomi ile de ilgilenmiştir. </a:t>
            </a:r>
          </a:p>
          <a:p>
            <a:r>
              <a:rPr lang="tr-TR" altLang="tr-TR" b="1"/>
              <a:t>Aristo</a:t>
            </a:r>
            <a:r>
              <a:rPr lang="tr-TR" altLang="tr-TR"/>
              <a:t> ise bu konuda en iyi örneklerdendir. Onun fiziği aslında onun felsefesidir. Doğayı anlatırken, onun hakkında bilgi verirken o bilimsel bilgi vermektedir. </a:t>
            </a:r>
          </a:p>
          <a:p>
            <a:r>
              <a:rPr lang="tr-TR" altLang="tr-TR"/>
              <a:t>Modern dönemlerde, </a:t>
            </a:r>
            <a:r>
              <a:rPr lang="tr-TR" altLang="tr-TR" b="1"/>
              <a:t>Descartes </a:t>
            </a:r>
            <a:r>
              <a:rPr lang="tr-TR" altLang="tr-TR"/>
              <a:t>bir filozof ama aynı zamanda fizikçi, matematikçi ve analitik geometri konusunda uzmandır. </a:t>
            </a:r>
          </a:p>
        </p:txBody>
      </p:sp>
      <p:sp>
        <p:nvSpPr>
          <p:cNvPr id="4" name="3 Veri Yer Tutucusu"/>
          <p:cNvSpPr>
            <a:spLocks noGrp="1"/>
          </p:cNvSpPr>
          <p:nvPr>
            <p:ph type="dt" sz="quarter" idx="10"/>
          </p:nvPr>
        </p:nvSpPr>
        <p:spPr/>
        <p:txBody>
          <a:bodyPr/>
          <a:lstStyle/>
          <a:p>
            <a:pPr>
              <a:defRPr/>
            </a:pPr>
            <a:fld id="{0FA26AAE-FB17-4662-8400-77A49C132481}" type="datetime1">
              <a:rPr lang="tr-TR" smtClean="0"/>
              <a:pPr>
                <a:defRPr/>
              </a:pPr>
              <a:t>19.02.2026</a:t>
            </a:fld>
            <a:endParaRPr lang="en-US"/>
          </a:p>
        </p:txBody>
      </p:sp>
      <p:sp>
        <p:nvSpPr>
          <p:cNvPr id="5" name="4 Altbilgi Yer Tutucusu"/>
          <p:cNvSpPr>
            <a:spLocks noGrp="1"/>
          </p:cNvSpPr>
          <p:nvPr>
            <p:ph type="ftr" sz="quarter" idx="11"/>
          </p:nvPr>
        </p:nvSpPr>
        <p:spPr/>
        <p:txBody>
          <a:bodyPr/>
          <a:lstStyle/>
          <a:p>
            <a:pPr>
              <a:defRPr/>
            </a:pPr>
            <a:endParaRPr lang="en-US"/>
          </a:p>
        </p:txBody>
      </p:sp>
      <p:sp>
        <p:nvSpPr>
          <p:cNvPr id="6" name="5 Slayt Numarası Yer Tutucusu"/>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8FAC6595-2911-4FF3-A6A2-9C7714B85695}" type="slidenum">
              <a:rPr lang="en-US" altLang="tr-TR">
                <a:solidFill>
                  <a:srgbClr val="08B7BF"/>
                </a:solidFill>
                <a:latin typeface="Georgia" panose="02040502050405020303" pitchFamily="18" charset="0"/>
              </a:rPr>
              <a:pPr eaLnBrk="1" hangingPunct="1"/>
              <a:t>18</a:t>
            </a:fld>
            <a:endParaRPr lang="en-US" altLang="tr-TR">
              <a:solidFill>
                <a:srgbClr val="08B7BF"/>
              </a:solidFill>
              <a:latin typeface="Georgia" panose="02040502050405020303" pitchFamily="18" charset="0"/>
            </a:endParaRPr>
          </a:p>
        </p:txBody>
      </p:sp>
      <p:sp>
        <p:nvSpPr>
          <p:cNvPr id="7" name="Title 1"/>
          <p:cNvSpPr>
            <a:spLocks noGrp="1"/>
          </p:cNvSpPr>
          <p:nvPr>
            <p:ph type="title"/>
          </p:nvPr>
        </p:nvSpPr>
        <p:spPr>
          <a:xfrm>
            <a:off x="1318056" y="128847"/>
            <a:ext cx="10018713" cy="1752599"/>
          </a:xfrm>
        </p:spPr>
        <p:txBody>
          <a:bodyPr/>
          <a:lstStyle/>
          <a:p>
            <a:pPr eaLnBrk="1" hangingPunct="1"/>
            <a:r>
              <a:rPr lang="tr-TR" altLang="tr-TR" dirty="0"/>
              <a:t>Bilim Tarihi</a:t>
            </a:r>
          </a:p>
        </p:txBody>
      </p:sp>
    </p:spTree>
    <p:extLst>
      <p:ext uri="{BB962C8B-B14F-4D97-AF65-F5344CB8AC3E}">
        <p14:creationId xmlns:p14="http://schemas.microsoft.com/office/powerpoint/2010/main" val="18856947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endParaRPr lang="tr-TR"/>
          </a:p>
        </p:txBody>
      </p:sp>
      <p:pic>
        <p:nvPicPr>
          <p:cNvPr id="5" name="İçerik Yer Tutucusu 4"/>
          <p:cNvPicPr>
            <a:picLocks noGrp="1" noChangeAspect="1"/>
          </p:cNvPicPr>
          <p:nvPr>
            <p:ph idx="1"/>
          </p:nvPr>
        </p:nvPicPr>
        <p:blipFill>
          <a:blip r:embed="rId2"/>
          <a:stretch>
            <a:fillRect/>
          </a:stretch>
        </p:blipFill>
        <p:spPr>
          <a:xfrm>
            <a:off x="2630153" y="2954567"/>
            <a:ext cx="3863514" cy="3124200"/>
          </a:xfrm>
          <a:prstGeom prst="rect">
            <a:avLst/>
          </a:prstGeom>
        </p:spPr>
      </p:pic>
      <p:pic>
        <p:nvPicPr>
          <p:cNvPr id="6" name="Resim 5"/>
          <p:cNvPicPr>
            <a:picLocks noChangeAspect="1"/>
          </p:cNvPicPr>
          <p:nvPr/>
        </p:nvPicPr>
        <p:blipFill>
          <a:blip r:embed="rId3"/>
          <a:stretch>
            <a:fillRect/>
          </a:stretch>
        </p:blipFill>
        <p:spPr>
          <a:xfrm>
            <a:off x="2022604" y="274524"/>
            <a:ext cx="3657917" cy="1670449"/>
          </a:xfrm>
          <a:prstGeom prst="rect">
            <a:avLst/>
          </a:prstGeom>
        </p:spPr>
      </p:pic>
      <p:pic>
        <p:nvPicPr>
          <p:cNvPr id="7" name="Resim 6"/>
          <p:cNvPicPr>
            <a:picLocks noChangeAspect="1"/>
          </p:cNvPicPr>
          <p:nvPr/>
        </p:nvPicPr>
        <p:blipFill>
          <a:blip r:embed="rId4"/>
          <a:stretch>
            <a:fillRect/>
          </a:stretch>
        </p:blipFill>
        <p:spPr>
          <a:xfrm>
            <a:off x="7139109" y="128069"/>
            <a:ext cx="4552950" cy="2581275"/>
          </a:xfrm>
          <a:prstGeom prst="rect">
            <a:avLst/>
          </a:prstGeom>
        </p:spPr>
      </p:pic>
    </p:spTree>
    <p:extLst>
      <p:ext uri="{BB962C8B-B14F-4D97-AF65-F5344CB8AC3E}">
        <p14:creationId xmlns:p14="http://schemas.microsoft.com/office/powerpoint/2010/main" val="2371071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p:txBody>
          <a:bodyPr/>
          <a:lstStyle/>
          <a:p>
            <a:r>
              <a:rPr lang="tr-TR" altLang="tr-TR" dirty="0"/>
              <a:t>BİLİM (SCIENCE)</a:t>
            </a:r>
          </a:p>
        </p:txBody>
      </p:sp>
      <p:sp>
        <p:nvSpPr>
          <p:cNvPr id="136195" name="Rectangle 3"/>
          <p:cNvSpPr>
            <a:spLocks noGrp="1" noChangeArrowheads="1"/>
          </p:cNvSpPr>
          <p:nvPr>
            <p:ph type="body" idx="1"/>
          </p:nvPr>
        </p:nvSpPr>
        <p:spPr/>
        <p:txBody>
          <a:bodyPr>
            <a:normAutofit lnSpcReduction="10000"/>
          </a:bodyPr>
          <a:lstStyle/>
          <a:p>
            <a:r>
              <a:rPr lang="tr-TR" altLang="tr-TR" sz="2700"/>
              <a:t>Kısacası </a:t>
            </a:r>
            <a:r>
              <a:rPr lang="tr-TR" altLang="tr-TR" sz="2700" b="1"/>
              <a:t>Bilim</a:t>
            </a:r>
            <a:r>
              <a:rPr lang="tr-TR" altLang="tr-TR" sz="2700"/>
              <a:t>, “geçerliliği kabul edilmiş sistemli bilgiler bütünüdür”. </a:t>
            </a:r>
          </a:p>
          <a:p>
            <a:r>
              <a:rPr lang="tr-TR" altLang="tr-TR" sz="2700"/>
              <a:t>En önemli özelliği </a:t>
            </a:r>
            <a:r>
              <a:rPr lang="tr-TR" altLang="tr-TR" sz="2700">
                <a:solidFill>
                  <a:srgbClr val="0033CC"/>
                </a:solidFill>
              </a:rPr>
              <a:t>bilimsel bilgiyi</a:t>
            </a:r>
            <a:r>
              <a:rPr lang="tr-TR" altLang="tr-TR" sz="2700"/>
              <a:t> esas alması.</a:t>
            </a:r>
          </a:p>
          <a:p>
            <a:r>
              <a:rPr lang="tr-TR" altLang="tr-TR" sz="2700"/>
              <a:t>Bilim sayesinde bilinmeyen şeyler bilinir.</a:t>
            </a:r>
          </a:p>
          <a:p>
            <a:r>
              <a:rPr lang="tr-TR" altLang="tr-TR" sz="2700"/>
              <a:t>Bilim bir üründür. </a:t>
            </a:r>
          </a:p>
          <a:p>
            <a:r>
              <a:rPr lang="tr-TR" altLang="tr-TR" sz="2700"/>
              <a:t>Bu ürünü elde etmek için izlenen yol ise bilimsel yöntem olup ileriki derslerde ele alınacaktır.</a:t>
            </a:r>
          </a:p>
        </p:txBody>
      </p:sp>
    </p:spTree>
    <p:extLst>
      <p:ext uri="{BB962C8B-B14F-4D97-AF65-F5344CB8AC3E}">
        <p14:creationId xmlns:p14="http://schemas.microsoft.com/office/powerpoint/2010/main" val="2501692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normAutofit/>
          </a:bodyPr>
          <a:lstStyle/>
          <a:p>
            <a:r>
              <a:rPr lang="tr-TR" altLang="tr-TR" dirty="0"/>
              <a:t>BİLİM (SCIENCE)</a:t>
            </a:r>
          </a:p>
        </p:txBody>
      </p:sp>
      <p:sp>
        <p:nvSpPr>
          <p:cNvPr id="142339" name="Rectangle 3"/>
          <p:cNvSpPr>
            <a:spLocks noGrp="1" noChangeArrowheads="1"/>
          </p:cNvSpPr>
          <p:nvPr>
            <p:ph type="body" idx="1"/>
          </p:nvPr>
        </p:nvSpPr>
        <p:spPr>
          <a:xfrm>
            <a:off x="2286000" y="1905000"/>
            <a:ext cx="7696200" cy="4419600"/>
          </a:xfrm>
        </p:spPr>
        <p:txBody>
          <a:bodyPr/>
          <a:lstStyle/>
          <a:p>
            <a:pPr>
              <a:lnSpc>
                <a:spcPct val="90000"/>
              </a:lnSpc>
            </a:pPr>
            <a:r>
              <a:rPr lang="tr-TR" altLang="tr-TR" sz="2200"/>
              <a:t>Bilimin temel işlevleri anlama, açıklama ve kontroldür. </a:t>
            </a:r>
          </a:p>
          <a:p>
            <a:pPr>
              <a:lnSpc>
                <a:spcPct val="90000"/>
              </a:lnSpc>
            </a:pPr>
            <a:r>
              <a:rPr lang="tr-TR" altLang="tr-TR" sz="2200" b="1"/>
              <a:t>Anlama:</a:t>
            </a:r>
            <a:r>
              <a:rPr lang="tr-TR" altLang="tr-TR" sz="2200"/>
              <a:t> amaca dönük “nedir?” sorusunun cevaplandırılması ile ilgili olup, varolan durumun olduğu gibi resmedilmesidir.</a:t>
            </a:r>
          </a:p>
          <a:p>
            <a:pPr>
              <a:lnSpc>
                <a:spcPct val="90000"/>
              </a:lnSpc>
            </a:pPr>
            <a:r>
              <a:rPr lang="tr-TR" altLang="tr-TR" sz="2200" b="1"/>
              <a:t>Açıklama:</a:t>
            </a:r>
            <a:r>
              <a:rPr lang="tr-TR" altLang="tr-TR" sz="2200"/>
              <a:t> gözlenenlerin oluş nedenleri arasındaki ilişkilerin bulunması ve teori geliştirme amacıyla “niçin?” sorusu ile yönlendirilen işlevdir. En gelişmiş açıklama teoridir.  </a:t>
            </a:r>
          </a:p>
          <a:p>
            <a:pPr>
              <a:lnSpc>
                <a:spcPct val="90000"/>
              </a:lnSpc>
            </a:pPr>
            <a:r>
              <a:rPr lang="tr-TR" altLang="tr-TR" sz="2200" b="1"/>
              <a:t>Kontrol:</a:t>
            </a:r>
            <a:r>
              <a:rPr lang="tr-TR" altLang="tr-TR" sz="2200"/>
              <a:t> anlama ve açıklama işlevleri ile üretilen bilgilerin uygulamalara fiilen aktarılmasını, doğa ve toplum olaylarının denetim altına alınmasını amaçlar.</a:t>
            </a:r>
          </a:p>
          <a:p>
            <a:pPr>
              <a:lnSpc>
                <a:spcPct val="90000"/>
              </a:lnSpc>
            </a:pPr>
            <a:r>
              <a:rPr lang="tr-TR" altLang="tr-TR" sz="2200"/>
              <a:t>Anlama ve açıklama işlevleri iyi işlemez ise kontrol etkinliğinden söz edilemez.</a:t>
            </a:r>
          </a:p>
        </p:txBody>
      </p:sp>
    </p:spTree>
    <p:extLst>
      <p:ext uri="{BB962C8B-B14F-4D97-AF65-F5344CB8AC3E}">
        <p14:creationId xmlns:p14="http://schemas.microsoft.com/office/powerpoint/2010/main" val="40040230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normAutofit/>
          </a:bodyPr>
          <a:lstStyle/>
          <a:p>
            <a:r>
              <a:rPr lang="tr-TR" altLang="tr-TR" b="1" dirty="0">
                <a:solidFill>
                  <a:schemeClr val="accent1">
                    <a:lumMod val="75000"/>
                  </a:schemeClr>
                </a:solidFill>
              </a:rPr>
              <a:t>BİLİM (SCIENCE)</a:t>
            </a:r>
          </a:p>
        </p:txBody>
      </p:sp>
      <p:sp>
        <p:nvSpPr>
          <p:cNvPr id="139267" name="Rectangle 3"/>
          <p:cNvSpPr>
            <a:spLocks noGrp="1" noChangeArrowheads="1"/>
          </p:cNvSpPr>
          <p:nvPr>
            <p:ph type="body" sz="half" idx="1"/>
          </p:nvPr>
        </p:nvSpPr>
        <p:spPr>
          <a:xfrm>
            <a:off x="3200400" y="1905000"/>
            <a:ext cx="7010400" cy="4495800"/>
          </a:xfrm>
        </p:spPr>
        <p:txBody>
          <a:bodyPr>
            <a:normAutofit fontScale="85000" lnSpcReduction="20000"/>
          </a:bodyPr>
          <a:lstStyle/>
          <a:p>
            <a:pPr>
              <a:buFont typeface="Wingdings" panose="05000000000000000000" pitchFamily="2" charset="2"/>
              <a:buNone/>
            </a:pPr>
            <a:r>
              <a:rPr lang="tr-TR" altLang="tr-TR" sz="2700" b="1" dirty="0"/>
              <a:t>Bilimlerin Sınıflanışı:</a:t>
            </a:r>
          </a:p>
          <a:p>
            <a:r>
              <a:rPr lang="tr-TR" altLang="tr-TR" sz="2700" dirty="0"/>
              <a:t>Temel Bilimler :</a:t>
            </a:r>
            <a:r>
              <a:rPr lang="tr-TR" altLang="tr-TR" sz="2700" i="1" dirty="0"/>
              <a:t> Matematik, fizik, kimya, biyoloji </a:t>
            </a:r>
            <a:endParaRPr lang="tr-TR" altLang="tr-TR" sz="2700" dirty="0"/>
          </a:p>
          <a:p>
            <a:r>
              <a:rPr lang="tr-TR" altLang="tr-TR" sz="2700" dirty="0"/>
              <a:t>– Uygulamalı Bilimler </a:t>
            </a:r>
            <a:r>
              <a:rPr lang="tr-TR" altLang="tr-TR" sz="2700" i="1" dirty="0"/>
              <a:t>(- mühendislik bilimleri)</a:t>
            </a:r>
          </a:p>
          <a:p>
            <a:endParaRPr lang="tr-TR" altLang="tr-TR" sz="2700" b="1" dirty="0"/>
          </a:p>
          <a:p>
            <a:endParaRPr lang="tr-TR" altLang="tr-TR" sz="2700" b="1" dirty="0"/>
          </a:p>
          <a:p>
            <a:r>
              <a:rPr lang="tr-TR" altLang="tr-TR" sz="2700" b="1" dirty="0"/>
              <a:t>Pozitif Bilimler </a:t>
            </a:r>
            <a:r>
              <a:rPr lang="tr-TR" altLang="tr-TR" sz="2800" dirty="0"/>
              <a:t>(</a:t>
            </a:r>
            <a:r>
              <a:rPr lang="tr-TR" sz="2800" dirty="0" err="1"/>
              <a:t>somut,deneysel</a:t>
            </a:r>
            <a:r>
              <a:rPr lang="tr-TR" sz="2800" dirty="0"/>
              <a:t> varlık alanlarını ele alan, kanıtlanabilir konuları inceleyen bilim dalı, </a:t>
            </a:r>
            <a:r>
              <a:rPr lang="tr-TR" sz="2800" dirty="0" err="1"/>
              <a:t>fizik,kimya,astronomi</a:t>
            </a:r>
            <a:r>
              <a:rPr lang="tr-TR" sz="2800" dirty="0"/>
              <a:t> </a:t>
            </a:r>
            <a:r>
              <a:rPr lang="tr-TR" sz="2800" dirty="0" err="1"/>
              <a:t>biyoloji,matematik</a:t>
            </a:r>
            <a:r>
              <a:rPr lang="tr-TR" sz="2800" dirty="0"/>
              <a:t>, )</a:t>
            </a:r>
            <a:r>
              <a:rPr lang="tr-TR" altLang="tr-TR" sz="2700" dirty="0"/>
              <a:t> </a:t>
            </a:r>
          </a:p>
          <a:p>
            <a:r>
              <a:rPr lang="tr-TR" altLang="tr-TR" sz="2700" dirty="0"/>
              <a:t>– </a:t>
            </a:r>
            <a:r>
              <a:rPr lang="tr-TR" altLang="tr-TR" sz="2700" b="1" dirty="0"/>
              <a:t>Sosyal Bilimler </a:t>
            </a:r>
          </a:p>
          <a:p>
            <a:pPr>
              <a:buFont typeface="Wingdings" panose="05000000000000000000" pitchFamily="2" charset="2"/>
              <a:buNone/>
            </a:pPr>
            <a:r>
              <a:rPr lang="tr-TR" altLang="tr-TR" sz="2700" i="1" dirty="0"/>
              <a:t>(psikoloji, sosyoloji, antropoloji – ekonomi, tarih, coğrafya)</a:t>
            </a:r>
          </a:p>
          <a:p>
            <a:pPr>
              <a:buFont typeface="Wingdings" panose="05000000000000000000" pitchFamily="2" charset="2"/>
              <a:buNone/>
            </a:pPr>
            <a:r>
              <a:rPr lang="tr-TR" altLang="tr-TR" sz="2700" dirty="0"/>
              <a:t>gibi.</a:t>
            </a:r>
          </a:p>
          <a:p>
            <a:endParaRPr lang="tr-TR" altLang="tr-TR" sz="2700" dirty="0"/>
          </a:p>
        </p:txBody>
      </p:sp>
      <p:pic>
        <p:nvPicPr>
          <p:cNvPr id="139268" name="Picture 4" descr="PE07677_"/>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1524001" y="5140326"/>
            <a:ext cx="1712913" cy="17176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3221429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endParaRPr lang="tr-TR"/>
          </a:p>
        </p:txBody>
      </p:sp>
      <p:sp>
        <p:nvSpPr>
          <p:cNvPr id="3" name="Metin Yer Tutucusu 2"/>
          <p:cNvSpPr>
            <a:spLocks noGrp="1"/>
          </p:cNvSpPr>
          <p:nvPr>
            <p:ph type="body" sz="half" idx="1"/>
          </p:nvPr>
        </p:nvSpPr>
        <p:spPr/>
        <p:txBody>
          <a:bodyPr/>
          <a:lstStyle/>
          <a:p>
            <a:endParaRPr lang="tr-TR"/>
          </a:p>
        </p:txBody>
      </p:sp>
      <p:pic>
        <p:nvPicPr>
          <p:cNvPr id="5" name="İçerik Yer Tutucusu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1288472" y="335972"/>
            <a:ext cx="9368444" cy="6245629"/>
          </a:xfrm>
        </p:spPr>
      </p:pic>
    </p:spTree>
    <p:extLst>
      <p:ext uri="{BB962C8B-B14F-4D97-AF65-F5344CB8AC3E}">
        <p14:creationId xmlns:p14="http://schemas.microsoft.com/office/powerpoint/2010/main" val="37154648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Text Box 2"/>
          <p:cNvSpPr txBox="1">
            <a:spLocks noChangeArrowheads="1"/>
          </p:cNvSpPr>
          <p:nvPr/>
        </p:nvSpPr>
        <p:spPr bwMode="auto">
          <a:xfrm>
            <a:off x="1905000" y="685800"/>
            <a:ext cx="7696200" cy="735586"/>
          </a:xfrm>
          <a:prstGeom prst="rect">
            <a:avLst/>
          </a:prstGeom>
          <a:solidFill>
            <a:schemeClr val="bg1"/>
          </a:solidFill>
          <a:ln>
            <a:noFill/>
          </a:ln>
          <a:effectLst/>
          <a:extLst>
            <a:ext uri="{91240B29-F687-4F45-9708-019B960494DF}">
              <a14:hiddenLine xmlns:a14="http://schemas.microsoft.com/office/drawing/2010/main" w="9525">
                <a:solidFill>
                  <a:srgbClr val="66C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110000"/>
              </a:lnSpc>
            </a:pPr>
            <a:r>
              <a:rPr lang="tr-TR" altLang="tr-TR" sz="4000" dirty="0">
                <a:ln w="3175" cmpd="sng">
                  <a:noFill/>
                </a:ln>
                <a:solidFill>
                  <a:schemeClr val="accent1">
                    <a:lumMod val="75000"/>
                  </a:schemeClr>
                </a:solidFill>
                <a:latin typeface="+mj-lt"/>
                <a:ea typeface="+mj-ea"/>
                <a:cs typeface="+mj-cs"/>
              </a:rPr>
              <a:t>BİLİMİN  DEĞERİ</a:t>
            </a:r>
          </a:p>
        </p:txBody>
      </p:sp>
      <p:sp>
        <p:nvSpPr>
          <p:cNvPr id="143363" name="Line 3"/>
          <p:cNvSpPr>
            <a:spLocks noChangeShapeType="1"/>
          </p:cNvSpPr>
          <p:nvPr/>
        </p:nvSpPr>
        <p:spPr bwMode="auto">
          <a:xfrm flipH="1">
            <a:off x="3048000" y="1219200"/>
            <a:ext cx="2743200" cy="990600"/>
          </a:xfrm>
          <a:prstGeom prst="line">
            <a:avLst/>
          </a:prstGeom>
          <a:noFill/>
          <a:ln w="285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tr-TR">
              <a:latin typeface="+mj-lt"/>
            </a:endParaRPr>
          </a:p>
        </p:txBody>
      </p:sp>
      <p:sp>
        <p:nvSpPr>
          <p:cNvPr id="143364" name="Line 4"/>
          <p:cNvSpPr>
            <a:spLocks noChangeShapeType="1"/>
          </p:cNvSpPr>
          <p:nvPr/>
        </p:nvSpPr>
        <p:spPr bwMode="auto">
          <a:xfrm>
            <a:off x="5943600" y="1219200"/>
            <a:ext cx="3429000" cy="990600"/>
          </a:xfrm>
          <a:prstGeom prst="line">
            <a:avLst/>
          </a:prstGeom>
          <a:noFill/>
          <a:ln w="285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tr-TR">
              <a:latin typeface="+mj-lt"/>
            </a:endParaRPr>
          </a:p>
        </p:txBody>
      </p:sp>
      <p:sp>
        <p:nvSpPr>
          <p:cNvPr id="143365" name="Text Box 5"/>
          <p:cNvSpPr txBox="1">
            <a:spLocks noChangeArrowheads="1"/>
          </p:cNvSpPr>
          <p:nvPr/>
        </p:nvSpPr>
        <p:spPr bwMode="auto">
          <a:xfrm>
            <a:off x="1676400" y="2209800"/>
            <a:ext cx="3124200" cy="369332"/>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p>
            <a:r>
              <a:rPr lang="tr-TR" altLang="tr-TR" dirty="0">
                <a:ln w="0"/>
                <a:solidFill>
                  <a:schemeClr val="tx1"/>
                </a:solidFill>
                <a:effectLst>
                  <a:outerShdw blurRad="38100" dist="19050" dir="2700000" algn="tl" rotWithShape="0">
                    <a:schemeClr val="dk1">
                      <a:alpha val="40000"/>
                    </a:schemeClr>
                  </a:outerShdw>
                </a:effectLst>
                <a:latin typeface="+mj-lt"/>
              </a:rPr>
              <a:t>Bilimin  Pratik  Değeri</a:t>
            </a:r>
          </a:p>
        </p:txBody>
      </p:sp>
      <p:sp>
        <p:nvSpPr>
          <p:cNvPr id="143366" name="Text Box 6"/>
          <p:cNvSpPr txBox="1">
            <a:spLocks noChangeArrowheads="1"/>
          </p:cNvSpPr>
          <p:nvPr/>
        </p:nvSpPr>
        <p:spPr bwMode="auto">
          <a:xfrm>
            <a:off x="7924800" y="2209800"/>
            <a:ext cx="2743200" cy="369332"/>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p>
            <a:r>
              <a:rPr lang="tr-TR" altLang="tr-TR">
                <a:ln w="0"/>
                <a:solidFill>
                  <a:schemeClr val="tx1"/>
                </a:solidFill>
                <a:effectLst>
                  <a:outerShdw blurRad="38100" dist="19050" dir="2700000" algn="tl" rotWithShape="0">
                    <a:schemeClr val="dk1">
                      <a:alpha val="40000"/>
                    </a:schemeClr>
                  </a:outerShdw>
                </a:effectLst>
                <a:latin typeface="+mj-lt"/>
              </a:rPr>
              <a:t>Bilimin  Ahlaki  değeri</a:t>
            </a:r>
          </a:p>
        </p:txBody>
      </p:sp>
      <p:sp>
        <p:nvSpPr>
          <p:cNvPr id="143367" name="Line 7"/>
          <p:cNvSpPr>
            <a:spLocks noChangeShapeType="1"/>
          </p:cNvSpPr>
          <p:nvPr/>
        </p:nvSpPr>
        <p:spPr bwMode="auto">
          <a:xfrm flipH="1">
            <a:off x="5867400" y="1219200"/>
            <a:ext cx="0" cy="990600"/>
          </a:xfrm>
          <a:prstGeom prst="line">
            <a:avLst/>
          </a:prstGeom>
          <a:noFill/>
          <a:ln w="28575">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tr-TR">
              <a:latin typeface="+mj-lt"/>
            </a:endParaRPr>
          </a:p>
        </p:txBody>
      </p:sp>
      <p:sp>
        <p:nvSpPr>
          <p:cNvPr id="143368" name="Text Box 8"/>
          <p:cNvSpPr txBox="1">
            <a:spLocks noChangeArrowheads="1"/>
          </p:cNvSpPr>
          <p:nvPr/>
        </p:nvSpPr>
        <p:spPr bwMode="auto">
          <a:xfrm>
            <a:off x="5029200" y="2209800"/>
            <a:ext cx="2743200" cy="369332"/>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p>
            <a:r>
              <a:rPr lang="tr-TR" altLang="tr-TR" dirty="0">
                <a:ln w="0"/>
                <a:solidFill>
                  <a:schemeClr val="tx1"/>
                </a:solidFill>
                <a:effectLst>
                  <a:outerShdw blurRad="38100" dist="19050" dir="2700000" algn="tl" rotWithShape="0">
                    <a:schemeClr val="dk1">
                      <a:alpha val="40000"/>
                    </a:schemeClr>
                  </a:outerShdw>
                </a:effectLst>
                <a:latin typeface="+mj-lt"/>
              </a:rPr>
              <a:t>Bilimin  </a:t>
            </a:r>
            <a:r>
              <a:rPr lang="tr-TR" altLang="tr-TR" dirty="0" err="1">
                <a:ln w="0"/>
                <a:solidFill>
                  <a:schemeClr val="tx1"/>
                </a:solidFill>
                <a:effectLst>
                  <a:outerShdw blurRad="38100" dist="19050" dir="2700000" algn="tl" rotWithShape="0">
                    <a:schemeClr val="dk1">
                      <a:alpha val="40000"/>
                    </a:schemeClr>
                  </a:outerShdw>
                </a:effectLst>
                <a:latin typeface="+mj-lt"/>
              </a:rPr>
              <a:t>Entelk</a:t>
            </a:r>
            <a:r>
              <a:rPr lang="tr-TR" altLang="tr-TR" dirty="0">
                <a:ln w="0"/>
                <a:solidFill>
                  <a:schemeClr val="tx1"/>
                </a:solidFill>
                <a:effectLst>
                  <a:outerShdw blurRad="38100" dist="19050" dir="2700000" algn="tl" rotWithShape="0">
                    <a:schemeClr val="dk1">
                      <a:alpha val="40000"/>
                    </a:schemeClr>
                  </a:outerShdw>
                </a:effectLst>
                <a:latin typeface="+mj-lt"/>
              </a:rPr>
              <a:t>. değeri</a:t>
            </a:r>
          </a:p>
        </p:txBody>
      </p:sp>
      <p:sp>
        <p:nvSpPr>
          <p:cNvPr id="143369" name="Text Box 9"/>
          <p:cNvSpPr txBox="1">
            <a:spLocks noChangeArrowheads="1"/>
          </p:cNvSpPr>
          <p:nvPr/>
        </p:nvSpPr>
        <p:spPr bwMode="auto">
          <a:xfrm>
            <a:off x="1752600" y="3276601"/>
            <a:ext cx="3124200" cy="1892826"/>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p>
            <a:pPr marL="285750" indent="-285750">
              <a:lnSpc>
                <a:spcPct val="130000"/>
              </a:lnSpc>
              <a:buFont typeface="Arial" panose="020B0604020202020204" pitchFamily="34" charset="0"/>
              <a:buChar char="•"/>
            </a:pPr>
            <a:r>
              <a:rPr lang="tr-TR" altLang="tr-TR" dirty="0">
                <a:ln w="0"/>
                <a:solidFill>
                  <a:schemeClr val="tx1"/>
                </a:solidFill>
                <a:effectLst>
                  <a:outerShdw blurRad="38100" dist="19050" dir="2700000" algn="tl" rotWithShape="0">
                    <a:schemeClr val="dk1">
                      <a:alpha val="40000"/>
                    </a:schemeClr>
                  </a:outerShdw>
                </a:effectLst>
                <a:latin typeface="+mj-lt"/>
              </a:rPr>
              <a:t>Bilim, hem bireysel ve hem de toplumsal yaşantımızda, teknoloji yoluyla, bize büyük yararlar sağlar.</a:t>
            </a:r>
          </a:p>
          <a:p>
            <a:pPr marL="285750" indent="-285750">
              <a:lnSpc>
                <a:spcPct val="130000"/>
              </a:lnSpc>
              <a:buFont typeface="Arial" panose="020B0604020202020204" pitchFamily="34" charset="0"/>
              <a:buChar char="•"/>
            </a:pPr>
            <a:r>
              <a:rPr lang="tr-TR" altLang="tr-TR" dirty="0">
                <a:ln w="0"/>
                <a:solidFill>
                  <a:schemeClr val="tx1"/>
                </a:solidFill>
                <a:effectLst>
                  <a:outerShdw blurRad="38100" dist="19050" dir="2700000" algn="tl" rotWithShape="0">
                    <a:schemeClr val="dk1">
                      <a:alpha val="40000"/>
                    </a:schemeClr>
                  </a:outerShdw>
                </a:effectLst>
                <a:latin typeface="+mj-lt"/>
              </a:rPr>
              <a:t>Modernleşmenin  şartı.</a:t>
            </a:r>
          </a:p>
        </p:txBody>
      </p:sp>
      <p:sp>
        <p:nvSpPr>
          <p:cNvPr id="143370" name="Text Box 10"/>
          <p:cNvSpPr txBox="1">
            <a:spLocks noChangeArrowheads="1"/>
          </p:cNvSpPr>
          <p:nvPr/>
        </p:nvSpPr>
        <p:spPr bwMode="auto">
          <a:xfrm>
            <a:off x="8001000" y="3352801"/>
            <a:ext cx="2667000" cy="2862322"/>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p>
            <a:pPr marL="285750" indent="-285750">
              <a:buFont typeface="Arial" panose="020B0604020202020204" pitchFamily="34" charset="0"/>
              <a:buChar char="•"/>
            </a:pPr>
            <a:r>
              <a:rPr lang="tr-TR" altLang="tr-TR" dirty="0">
                <a:ln w="0"/>
                <a:solidFill>
                  <a:schemeClr val="tx1"/>
                </a:solidFill>
                <a:effectLst>
                  <a:outerShdw blurRad="38100" dist="19050" dir="2700000" algn="tl" rotWithShape="0">
                    <a:schemeClr val="dk1">
                      <a:alpha val="40000"/>
                    </a:schemeClr>
                  </a:outerShdw>
                </a:effectLst>
                <a:latin typeface="+mj-lt"/>
              </a:rPr>
              <a:t>Bilim, insanlara bilimsel bir zihniyet kazandırır. </a:t>
            </a:r>
          </a:p>
          <a:p>
            <a:pPr marL="285750" indent="-285750">
              <a:buFont typeface="Arial" panose="020B0604020202020204" pitchFamily="34" charset="0"/>
              <a:buChar char="•"/>
            </a:pPr>
            <a:r>
              <a:rPr lang="tr-TR" altLang="tr-TR" dirty="0">
                <a:ln w="0"/>
                <a:solidFill>
                  <a:schemeClr val="tx1"/>
                </a:solidFill>
                <a:effectLst>
                  <a:outerShdw blurRad="38100" dist="19050" dir="2700000" algn="tl" rotWithShape="0">
                    <a:schemeClr val="dk1">
                      <a:alpha val="40000"/>
                    </a:schemeClr>
                  </a:outerShdw>
                </a:effectLst>
                <a:latin typeface="+mj-lt"/>
              </a:rPr>
              <a:t>Bilimsel zihniyet ise, insanlara dürüst ve tarafsız olmayı,</a:t>
            </a:r>
          </a:p>
          <a:p>
            <a:pPr marL="285750" indent="-285750">
              <a:buFont typeface="Arial" panose="020B0604020202020204" pitchFamily="34" charset="0"/>
              <a:buChar char="•"/>
            </a:pPr>
            <a:r>
              <a:rPr lang="tr-TR" altLang="tr-TR" dirty="0">
                <a:ln w="0"/>
                <a:solidFill>
                  <a:schemeClr val="tx1"/>
                </a:solidFill>
                <a:effectLst>
                  <a:outerShdw blurRad="38100" dist="19050" dir="2700000" algn="tl" rotWithShape="0">
                    <a:schemeClr val="dk1">
                      <a:alpha val="40000"/>
                    </a:schemeClr>
                  </a:outerShdw>
                </a:effectLst>
                <a:latin typeface="+mj-lt"/>
              </a:rPr>
              <a:t>karşılaşılan problemleri sabırlı, ayrıntılı ve uzak görüşlü bir biçimde ele almayı öğretir</a:t>
            </a:r>
          </a:p>
        </p:txBody>
      </p:sp>
      <p:sp>
        <p:nvSpPr>
          <p:cNvPr id="143371" name="Text Box 11"/>
          <p:cNvSpPr txBox="1">
            <a:spLocks noChangeArrowheads="1"/>
          </p:cNvSpPr>
          <p:nvPr/>
        </p:nvSpPr>
        <p:spPr bwMode="auto">
          <a:xfrm>
            <a:off x="5029200" y="3352801"/>
            <a:ext cx="2819400" cy="1477328"/>
          </a:xfrm>
          <a:prstGeom prst="rect">
            <a:avLst/>
          </a:prstGeom>
          <a:ln/>
        </p:spPr>
        <p:style>
          <a:lnRef idx="1">
            <a:schemeClr val="accent3"/>
          </a:lnRef>
          <a:fillRef idx="2">
            <a:schemeClr val="accent3"/>
          </a:fillRef>
          <a:effectRef idx="1">
            <a:schemeClr val="accent3"/>
          </a:effectRef>
          <a:fontRef idx="minor">
            <a:schemeClr val="dk1"/>
          </a:fontRef>
        </p:style>
        <p:txBody>
          <a:bodyPr>
            <a:spAutoFit/>
          </a:bodyPr>
          <a:lstStyle/>
          <a:p>
            <a:pPr marL="285750" indent="-285750">
              <a:buFont typeface="Arial" panose="020B0604020202020204" pitchFamily="34" charset="0"/>
              <a:buChar char="•"/>
            </a:pPr>
            <a:r>
              <a:rPr lang="tr-TR" altLang="tr-TR" dirty="0">
                <a:ln w="0"/>
                <a:solidFill>
                  <a:schemeClr val="tx1"/>
                </a:solidFill>
                <a:effectLst>
                  <a:outerShdw blurRad="38100" dist="19050" dir="2700000" algn="tl" rotWithShape="0">
                    <a:schemeClr val="dk1">
                      <a:alpha val="40000"/>
                    </a:schemeClr>
                  </a:outerShdw>
                </a:effectLst>
                <a:latin typeface="+mj-lt"/>
              </a:rPr>
              <a:t>Bilim, insanın bilme isteğini, merakını tatmin eder. </a:t>
            </a:r>
          </a:p>
          <a:p>
            <a:pPr marL="285750" indent="-285750">
              <a:buFont typeface="Arial" panose="020B0604020202020204" pitchFamily="34" charset="0"/>
              <a:buChar char="•"/>
            </a:pPr>
            <a:r>
              <a:rPr lang="tr-TR" altLang="tr-TR" dirty="0">
                <a:ln w="0"/>
                <a:solidFill>
                  <a:schemeClr val="tx1"/>
                </a:solidFill>
                <a:effectLst>
                  <a:outerShdw blurRad="38100" dist="19050" dir="2700000" algn="tl" rotWithShape="0">
                    <a:schemeClr val="dk1">
                      <a:alpha val="40000"/>
                    </a:schemeClr>
                  </a:outerShdw>
                </a:effectLst>
                <a:latin typeface="+mj-lt"/>
              </a:rPr>
              <a:t>İnsana evreni anlama olanağı sağlar. </a:t>
            </a:r>
          </a:p>
        </p:txBody>
      </p:sp>
      <p:sp>
        <p:nvSpPr>
          <p:cNvPr id="143372" name="AutoShape 12"/>
          <p:cNvSpPr>
            <a:spLocks noChangeArrowheads="1"/>
          </p:cNvSpPr>
          <p:nvPr/>
        </p:nvSpPr>
        <p:spPr bwMode="auto">
          <a:xfrm>
            <a:off x="8915400" y="2667000"/>
            <a:ext cx="381000" cy="609600"/>
          </a:xfrm>
          <a:prstGeom prst="downArrow">
            <a:avLst>
              <a:gd name="adj1" fmla="val 50000"/>
              <a:gd name="adj2" fmla="val 40000"/>
            </a:avLst>
          </a:prstGeom>
          <a:ln/>
        </p:spPr>
        <p:style>
          <a:lnRef idx="1">
            <a:schemeClr val="accent3"/>
          </a:lnRef>
          <a:fillRef idx="2">
            <a:schemeClr val="accent3"/>
          </a:fillRef>
          <a:effectRef idx="1">
            <a:schemeClr val="accent3"/>
          </a:effectRef>
          <a:fontRef idx="minor">
            <a:schemeClr val="dk1"/>
          </a:fontRef>
        </p:style>
        <p:txBody>
          <a:bodyPr wrap="none" anchor="ctr"/>
          <a:lstStyle/>
          <a:p>
            <a:endParaRPr lang="tr-TR">
              <a:ln w="0"/>
              <a:solidFill>
                <a:schemeClr val="tx1"/>
              </a:solidFill>
              <a:effectLst>
                <a:outerShdw blurRad="38100" dist="19050" dir="2700000" algn="tl" rotWithShape="0">
                  <a:schemeClr val="dk1">
                    <a:alpha val="40000"/>
                  </a:schemeClr>
                </a:outerShdw>
              </a:effectLst>
              <a:latin typeface="+mj-lt"/>
            </a:endParaRPr>
          </a:p>
        </p:txBody>
      </p:sp>
      <p:sp>
        <p:nvSpPr>
          <p:cNvPr id="143373" name="AutoShape 13"/>
          <p:cNvSpPr>
            <a:spLocks noChangeArrowheads="1"/>
          </p:cNvSpPr>
          <p:nvPr/>
        </p:nvSpPr>
        <p:spPr bwMode="auto">
          <a:xfrm>
            <a:off x="6324600" y="2667000"/>
            <a:ext cx="381000" cy="609600"/>
          </a:xfrm>
          <a:prstGeom prst="downArrow">
            <a:avLst>
              <a:gd name="adj1" fmla="val 50000"/>
              <a:gd name="adj2" fmla="val 40000"/>
            </a:avLst>
          </a:prstGeom>
          <a:ln/>
        </p:spPr>
        <p:style>
          <a:lnRef idx="1">
            <a:schemeClr val="accent3"/>
          </a:lnRef>
          <a:fillRef idx="2">
            <a:schemeClr val="accent3"/>
          </a:fillRef>
          <a:effectRef idx="1">
            <a:schemeClr val="accent3"/>
          </a:effectRef>
          <a:fontRef idx="minor">
            <a:schemeClr val="dk1"/>
          </a:fontRef>
        </p:style>
        <p:txBody>
          <a:bodyPr wrap="none" anchor="ctr"/>
          <a:lstStyle/>
          <a:p>
            <a:endParaRPr lang="tr-TR">
              <a:ln w="0"/>
              <a:solidFill>
                <a:schemeClr val="tx1"/>
              </a:solidFill>
              <a:effectLst>
                <a:outerShdw blurRad="38100" dist="19050" dir="2700000" algn="tl" rotWithShape="0">
                  <a:schemeClr val="dk1">
                    <a:alpha val="40000"/>
                  </a:schemeClr>
                </a:outerShdw>
              </a:effectLst>
              <a:latin typeface="+mj-lt"/>
            </a:endParaRPr>
          </a:p>
        </p:txBody>
      </p:sp>
      <p:sp>
        <p:nvSpPr>
          <p:cNvPr id="143374" name="AutoShape 14"/>
          <p:cNvSpPr>
            <a:spLocks noChangeArrowheads="1"/>
          </p:cNvSpPr>
          <p:nvPr/>
        </p:nvSpPr>
        <p:spPr bwMode="auto">
          <a:xfrm>
            <a:off x="3048000" y="2667000"/>
            <a:ext cx="381000" cy="609600"/>
          </a:xfrm>
          <a:prstGeom prst="downArrow">
            <a:avLst>
              <a:gd name="adj1" fmla="val 50000"/>
              <a:gd name="adj2" fmla="val 40000"/>
            </a:avLst>
          </a:prstGeom>
          <a:ln/>
        </p:spPr>
        <p:style>
          <a:lnRef idx="1">
            <a:schemeClr val="accent3"/>
          </a:lnRef>
          <a:fillRef idx="2">
            <a:schemeClr val="accent3"/>
          </a:fillRef>
          <a:effectRef idx="1">
            <a:schemeClr val="accent3"/>
          </a:effectRef>
          <a:fontRef idx="minor">
            <a:schemeClr val="dk1"/>
          </a:fontRef>
        </p:style>
        <p:txBody>
          <a:bodyPr wrap="none" anchor="ctr"/>
          <a:lstStyle/>
          <a:p>
            <a:endParaRPr lang="tr-TR">
              <a:ln w="0"/>
              <a:solidFill>
                <a:schemeClr val="tx1"/>
              </a:solidFill>
              <a:effectLst>
                <a:outerShdw blurRad="38100" dist="19050" dir="2700000" algn="tl" rotWithShape="0">
                  <a:schemeClr val="dk1">
                    <a:alpha val="40000"/>
                  </a:schemeClr>
                </a:outerShdw>
              </a:effectLst>
              <a:latin typeface="+mj-lt"/>
            </a:endParaRPr>
          </a:p>
        </p:txBody>
      </p:sp>
      <p:pic>
        <p:nvPicPr>
          <p:cNvPr id="143375" name="Picture 15" descr="PE03254_"/>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39201" y="685801"/>
            <a:ext cx="1406525" cy="1268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845436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3362"/>
                                        </p:tgtEl>
                                        <p:attrNameLst>
                                          <p:attrName>style.visibility</p:attrName>
                                        </p:attrNameLst>
                                      </p:cBhvr>
                                      <p:to>
                                        <p:strVal val="visible"/>
                                      </p:to>
                                    </p:set>
                                    <p:anim calcmode="lin" valueType="num">
                                      <p:cBhvr additive="base">
                                        <p:cTn id="7" dur="500" fill="hold"/>
                                        <p:tgtEl>
                                          <p:spTgt spid="143362"/>
                                        </p:tgtEl>
                                        <p:attrNameLst>
                                          <p:attrName>ppt_x</p:attrName>
                                        </p:attrNameLst>
                                      </p:cBhvr>
                                      <p:tavLst>
                                        <p:tav tm="0">
                                          <p:val>
                                            <p:strVal val="0-#ppt_w/2"/>
                                          </p:val>
                                        </p:tav>
                                        <p:tav tm="100000">
                                          <p:val>
                                            <p:strVal val="#ppt_x"/>
                                          </p:val>
                                        </p:tav>
                                      </p:tavLst>
                                    </p:anim>
                                    <p:anim calcmode="lin" valueType="num">
                                      <p:cBhvr additive="base">
                                        <p:cTn id="8" dur="500" fill="hold"/>
                                        <p:tgtEl>
                                          <p:spTgt spid="14336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nodeType="clickEffect">
                                  <p:stCondLst>
                                    <p:cond delay="0"/>
                                  </p:stCondLst>
                                  <p:childTnLst>
                                    <p:set>
                                      <p:cBhvr>
                                        <p:cTn id="12" dur="1" fill="hold">
                                          <p:stCondLst>
                                            <p:cond delay="0"/>
                                          </p:stCondLst>
                                        </p:cTn>
                                        <p:tgtEl>
                                          <p:spTgt spid="143363"/>
                                        </p:tgtEl>
                                        <p:attrNameLst>
                                          <p:attrName>style.visibility</p:attrName>
                                        </p:attrNameLst>
                                      </p:cBhvr>
                                      <p:to>
                                        <p:strVal val="visible"/>
                                      </p:to>
                                    </p:set>
                                    <p:animEffect transition="in" filter="wipe(up)">
                                      <p:cBhvr>
                                        <p:cTn id="13" dur="500"/>
                                        <p:tgtEl>
                                          <p:spTgt spid="14336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nodeType="clickEffect">
                                  <p:stCondLst>
                                    <p:cond delay="0"/>
                                  </p:stCondLst>
                                  <p:childTnLst>
                                    <p:set>
                                      <p:cBhvr>
                                        <p:cTn id="17" dur="1" fill="hold">
                                          <p:stCondLst>
                                            <p:cond delay="0"/>
                                          </p:stCondLst>
                                        </p:cTn>
                                        <p:tgtEl>
                                          <p:spTgt spid="143367"/>
                                        </p:tgtEl>
                                        <p:attrNameLst>
                                          <p:attrName>style.visibility</p:attrName>
                                        </p:attrNameLst>
                                      </p:cBhvr>
                                      <p:to>
                                        <p:strVal val="visible"/>
                                      </p:to>
                                    </p:set>
                                    <p:animEffect transition="in" filter="wipe(up)">
                                      <p:cBhvr>
                                        <p:cTn id="18" dur="500"/>
                                        <p:tgtEl>
                                          <p:spTgt spid="143367"/>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1" fill="hold" nodeType="clickEffect">
                                  <p:stCondLst>
                                    <p:cond delay="0"/>
                                  </p:stCondLst>
                                  <p:childTnLst>
                                    <p:set>
                                      <p:cBhvr>
                                        <p:cTn id="22" dur="1" fill="hold">
                                          <p:stCondLst>
                                            <p:cond delay="0"/>
                                          </p:stCondLst>
                                        </p:cTn>
                                        <p:tgtEl>
                                          <p:spTgt spid="143364"/>
                                        </p:tgtEl>
                                        <p:attrNameLst>
                                          <p:attrName>style.visibility</p:attrName>
                                        </p:attrNameLst>
                                      </p:cBhvr>
                                      <p:to>
                                        <p:strVal val="visible"/>
                                      </p:to>
                                    </p:set>
                                    <p:animEffect transition="in" filter="wipe(up)">
                                      <p:cBhvr>
                                        <p:cTn id="23" dur="500"/>
                                        <p:tgtEl>
                                          <p:spTgt spid="14336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7" presetClass="entr" presetSubtype="10" fill="hold" grpId="0" nodeType="clickEffect">
                                  <p:stCondLst>
                                    <p:cond delay="0"/>
                                  </p:stCondLst>
                                  <p:childTnLst>
                                    <p:set>
                                      <p:cBhvr>
                                        <p:cTn id="27" dur="1" fill="hold">
                                          <p:stCondLst>
                                            <p:cond delay="0"/>
                                          </p:stCondLst>
                                        </p:cTn>
                                        <p:tgtEl>
                                          <p:spTgt spid="143365"/>
                                        </p:tgtEl>
                                        <p:attrNameLst>
                                          <p:attrName>style.visibility</p:attrName>
                                        </p:attrNameLst>
                                      </p:cBhvr>
                                      <p:to>
                                        <p:strVal val="visible"/>
                                      </p:to>
                                    </p:set>
                                    <p:anim calcmode="lin" valueType="num">
                                      <p:cBhvr>
                                        <p:cTn id="28" dur="500" fill="hold"/>
                                        <p:tgtEl>
                                          <p:spTgt spid="143365"/>
                                        </p:tgtEl>
                                        <p:attrNameLst>
                                          <p:attrName>ppt_w</p:attrName>
                                        </p:attrNameLst>
                                      </p:cBhvr>
                                      <p:tavLst>
                                        <p:tav tm="0">
                                          <p:val>
                                            <p:fltVal val="0"/>
                                          </p:val>
                                        </p:tav>
                                        <p:tav tm="100000">
                                          <p:val>
                                            <p:strVal val="#ppt_w"/>
                                          </p:val>
                                        </p:tav>
                                      </p:tavLst>
                                    </p:anim>
                                    <p:anim calcmode="lin" valueType="num">
                                      <p:cBhvr>
                                        <p:cTn id="29" dur="500" fill="hold"/>
                                        <p:tgtEl>
                                          <p:spTgt spid="143365"/>
                                        </p:tgtEl>
                                        <p:attrNameLst>
                                          <p:attrName>ppt_h</p:attrName>
                                        </p:attrNameLst>
                                      </p:cBhvr>
                                      <p:tavLst>
                                        <p:tav tm="0">
                                          <p:val>
                                            <p:strVal val="#ppt_h"/>
                                          </p:val>
                                        </p:tav>
                                        <p:tav tm="100000">
                                          <p:val>
                                            <p:strVal val="#ppt_h"/>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17" presetClass="entr" presetSubtype="10" fill="hold" grpId="0" nodeType="clickEffect">
                                  <p:stCondLst>
                                    <p:cond delay="0"/>
                                  </p:stCondLst>
                                  <p:childTnLst>
                                    <p:set>
                                      <p:cBhvr>
                                        <p:cTn id="33" dur="1" fill="hold">
                                          <p:stCondLst>
                                            <p:cond delay="0"/>
                                          </p:stCondLst>
                                        </p:cTn>
                                        <p:tgtEl>
                                          <p:spTgt spid="143368"/>
                                        </p:tgtEl>
                                        <p:attrNameLst>
                                          <p:attrName>style.visibility</p:attrName>
                                        </p:attrNameLst>
                                      </p:cBhvr>
                                      <p:to>
                                        <p:strVal val="visible"/>
                                      </p:to>
                                    </p:set>
                                    <p:anim calcmode="lin" valueType="num">
                                      <p:cBhvr>
                                        <p:cTn id="34" dur="500" fill="hold"/>
                                        <p:tgtEl>
                                          <p:spTgt spid="143368"/>
                                        </p:tgtEl>
                                        <p:attrNameLst>
                                          <p:attrName>ppt_w</p:attrName>
                                        </p:attrNameLst>
                                      </p:cBhvr>
                                      <p:tavLst>
                                        <p:tav tm="0">
                                          <p:val>
                                            <p:fltVal val="0"/>
                                          </p:val>
                                        </p:tav>
                                        <p:tav tm="100000">
                                          <p:val>
                                            <p:strVal val="#ppt_w"/>
                                          </p:val>
                                        </p:tav>
                                      </p:tavLst>
                                    </p:anim>
                                    <p:anim calcmode="lin" valueType="num">
                                      <p:cBhvr>
                                        <p:cTn id="35" dur="500" fill="hold"/>
                                        <p:tgtEl>
                                          <p:spTgt spid="143368"/>
                                        </p:tgtEl>
                                        <p:attrNameLst>
                                          <p:attrName>ppt_h</p:attrName>
                                        </p:attrNameLst>
                                      </p:cBhvr>
                                      <p:tavLst>
                                        <p:tav tm="0">
                                          <p:val>
                                            <p:strVal val="#ppt_h"/>
                                          </p:val>
                                        </p:tav>
                                        <p:tav tm="100000">
                                          <p:val>
                                            <p:strVal val="#ppt_h"/>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17" presetClass="entr" presetSubtype="10" fill="hold" grpId="0" nodeType="clickEffect">
                                  <p:stCondLst>
                                    <p:cond delay="0"/>
                                  </p:stCondLst>
                                  <p:childTnLst>
                                    <p:set>
                                      <p:cBhvr>
                                        <p:cTn id="39" dur="1" fill="hold">
                                          <p:stCondLst>
                                            <p:cond delay="0"/>
                                          </p:stCondLst>
                                        </p:cTn>
                                        <p:tgtEl>
                                          <p:spTgt spid="143366"/>
                                        </p:tgtEl>
                                        <p:attrNameLst>
                                          <p:attrName>style.visibility</p:attrName>
                                        </p:attrNameLst>
                                      </p:cBhvr>
                                      <p:to>
                                        <p:strVal val="visible"/>
                                      </p:to>
                                    </p:set>
                                    <p:anim calcmode="lin" valueType="num">
                                      <p:cBhvr>
                                        <p:cTn id="40" dur="500" fill="hold"/>
                                        <p:tgtEl>
                                          <p:spTgt spid="143366"/>
                                        </p:tgtEl>
                                        <p:attrNameLst>
                                          <p:attrName>ppt_w</p:attrName>
                                        </p:attrNameLst>
                                      </p:cBhvr>
                                      <p:tavLst>
                                        <p:tav tm="0">
                                          <p:val>
                                            <p:fltVal val="0"/>
                                          </p:val>
                                        </p:tav>
                                        <p:tav tm="100000">
                                          <p:val>
                                            <p:strVal val="#ppt_w"/>
                                          </p:val>
                                        </p:tav>
                                      </p:tavLst>
                                    </p:anim>
                                    <p:anim calcmode="lin" valueType="num">
                                      <p:cBhvr>
                                        <p:cTn id="41" dur="500" fill="hold"/>
                                        <p:tgtEl>
                                          <p:spTgt spid="143366"/>
                                        </p:tgtEl>
                                        <p:attrNameLst>
                                          <p:attrName>ppt_h</p:attrName>
                                        </p:attrNameLst>
                                      </p:cBhvr>
                                      <p:tavLst>
                                        <p:tav tm="0">
                                          <p:val>
                                            <p:strVal val="#ppt_h"/>
                                          </p:val>
                                        </p:tav>
                                        <p:tav tm="100000">
                                          <p:val>
                                            <p:strVal val="#ppt_h"/>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12" presetClass="entr" presetSubtype="8" fill="hold" nodeType="clickEffect">
                                  <p:stCondLst>
                                    <p:cond delay="0"/>
                                  </p:stCondLst>
                                  <p:childTnLst>
                                    <p:set>
                                      <p:cBhvr>
                                        <p:cTn id="45" dur="1" fill="hold">
                                          <p:stCondLst>
                                            <p:cond delay="0"/>
                                          </p:stCondLst>
                                        </p:cTn>
                                        <p:tgtEl>
                                          <p:spTgt spid="143374"/>
                                        </p:tgtEl>
                                        <p:attrNameLst>
                                          <p:attrName>style.visibility</p:attrName>
                                        </p:attrNameLst>
                                      </p:cBhvr>
                                      <p:to>
                                        <p:strVal val="visible"/>
                                      </p:to>
                                    </p:set>
                                    <p:animEffect transition="in" filter="slide(fromLeft)">
                                      <p:cBhvr>
                                        <p:cTn id="46" dur="500"/>
                                        <p:tgtEl>
                                          <p:spTgt spid="143374"/>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2" fill="hold" grpId="0" nodeType="clickEffect">
                                  <p:stCondLst>
                                    <p:cond delay="0"/>
                                  </p:stCondLst>
                                  <p:childTnLst>
                                    <p:set>
                                      <p:cBhvr>
                                        <p:cTn id="50" dur="1" fill="hold">
                                          <p:stCondLst>
                                            <p:cond delay="0"/>
                                          </p:stCondLst>
                                        </p:cTn>
                                        <p:tgtEl>
                                          <p:spTgt spid="143369">
                                            <p:bg/>
                                          </p:spTgt>
                                        </p:tgtEl>
                                        <p:attrNameLst>
                                          <p:attrName>style.visibility</p:attrName>
                                        </p:attrNameLst>
                                      </p:cBhvr>
                                      <p:to>
                                        <p:strVal val="visible"/>
                                      </p:to>
                                    </p:set>
                                    <p:anim calcmode="lin" valueType="num">
                                      <p:cBhvr additive="base">
                                        <p:cTn id="51" dur="500" fill="hold"/>
                                        <p:tgtEl>
                                          <p:spTgt spid="143369">
                                            <p:bg/>
                                          </p:spTgt>
                                        </p:tgtEl>
                                        <p:attrNameLst>
                                          <p:attrName>ppt_x</p:attrName>
                                        </p:attrNameLst>
                                      </p:cBhvr>
                                      <p:tavLst>
                                        <p:tav tm="0">
                                          <p:val>
                                            <p:strVal val="1+#ppt_w/2"/>
                                          </p:val>
                                        </p:tav>
                                        <p:tav tm="100000">
                                          <p:val>
                                            <p:strVal val="#ppt_x"/>
                                          </p:val>
                                        </p:tav>
                                      </p:tavLst>
                                    </p:anim>
                                    <p:anim calcmode="lin" valueType="num">
                                      <p:cBhvr additive="base">
                                        <p:cTn id="52" dur="500" fill="hold"/>
                                        <p:tgtEl>
                                          <p:spTgt spid="143369">
                                            <p:bg/>
                                          </p:spTgt>
                                        </p:tgtEl>
                                        <p:attrNameLst>
                                          <p:attrName>ppt_y</p:attrName>
                                        </p:attrNameLst>
                                      </p:cBhvr>
                                      <p:tavLst>
                                        <p:tav tm="0">
                                          <p:val>
                                            <p:strVal val="#ppt_y"/>
                                          </p:val>
                                        </p:tav>
                                        <p:tav tm="100000">
                                          <p:val>
                                            <p:strVal val="#ppt_y"/>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2" fill="hold" grpId="0" nodeType="clickEffect">
                                  <p:stCondLst>
                                    <p:cond delay="0"/>
                                  </p:stCondLst>
                                  <p:childTnLst>
                                    <p:set>
                                      <p:cBhvr>
                                        <p:cTn id="56" dur="1" fill="hold">
                                          <p:stCondLst>
                                            <p:cond delay="0"/>
                                          </p:stCondLst>
                                        </p:cTn>
                                        <p:tgtEl>
                                          <p:spTgt spid="143369">
                                            <p:txEl>
                                              <p:pRg st="0" end="0"/>
                                            </p:txEl>
                                          </p:spTgt>
                                        </p:tgtEl>
                                        <p:attrNameLst>
                                          <p:attrName>style.visibility</p:attrName>
                                        </p:attrNameLst>
                                      </p:cBhvr>
                                      <p:to>
                                        <p:strVal val="visible"/>
                                      </p:to>
                                    </p:set>
                                    <p:anim calcmode="lin" valueType="num">
                                      <p:cBhvr additive="base">
                                        <p:cTn id="57" dur="500" fill="hold"/>
                                        <p:tgtEl>
                                          <p:spTgt spid="143369">
                                            <p:txEl>
                                              <p:pRg st="0" end="0"/>
                                            </p:txEl>
                                          </p:spTgt>
                                        </p:tgtEl>
                                        <p:attrNameLst>
                                          <p:attrName>ppt_x</p:attrName>
                                        </p:attrNameLst>
                                      </p:cBhvr>
                                      <p:tavLst>
                                        <p:tav tm="0">
                                          <p:val>
                                            <p:strVal val="1+#ppt_w/2"/>
                                          </p:val>
                                        </p:tav>
                                        <p:tav tm="100000">
                                          <p:val>
                                            <p:strVal val="#ppt_x"/>
                                          </p:val>
                                        </p:tav>
                                      </p:tavLst>
                                    </p:anim>
                                    <p:anim calcmode="lin" valueType="num">
                                      <p:cBhvr additive="base">
                                        <p:cTn id="58" dur="500" fill="hold"/>
                                        <p:tgtEl>
                                          <p:spTgt spid="14336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2" fill="hold" grpId="0" nodeType="clickEffect">
                                  <p:stCondLst>
                                    <p:cond delay="0"/>
                                  </p:stCondLst>
                                  <p:childTnLst>
                                    <p:set>
                                      <p:cBhvr>
                                        <p:cTn id="62" dur="1" fill="hold">
                                          <p:stCondLst>
                                            <p:cond delay="0"/>
                                          </p:stCondLst>
                                        </p:cTn>
                                        <p:tgtEl>
                                          <p:spTgt spid="143369">
                                            <p:txEl>
                                              <p:pRg st="1" end="1"/>
                                            </p:txEl>
                                          </p:spTgt>
                                        </p:tgtEl>
                                        <p:attrNameLst>
                                          <p:attrName>style.visibility</p:attrName>
                                        </p:attrNameLst>
                                      </p:cBhvr>
                                      <p:to>
                                        <p:strVal val="visible"/>
                                      </p:to>
                                    </p:set>
                                    <p:anim calcmode="lin" valueType="num">
                                      <p:cBhvr additive="base">
                                        <p:cTn id="63" dur="500" fill="hold"/>
                                        <p:tgtEl>
                                          <p:spTgt spid="143369">
                                            <p:txEl>
                                              <p:pRg st="1" end="1"/>
                                            </p:txEl>
                                          </p:spTgt>
                                        </p:tgtEl>
                                        <p:attrNameLst>
                                          <p:attrName>ppt_x</p:attrName>
                                        </p:attrNameLst>
                                      </p:cBhvr>
                                      <p:tavLst>
                                        <p:tav tm="0">
                                          <p:val>
                                            <p:strVal val="1+#ppt_w/2"/>
                                          </p:val>
                                        </p:tav>
                                        <p:tav tm="100000">
                                          <p:val>
                                            <p:strVal val="#ppt_x"/>
                                          </p:val>
                                        </p:tav>
                                      </p:tavLst>
                                    </p:anim>
                                    <p:anim calcmode="lin" valueType="num">
                                      <p:cBhvr additive="base">
                                        <p:cTn id="64" dur="500" fill="hold"/>
                                        <p:tgtEl>
                                          <p:spTgt spid="14336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12" presetClass="entr" presetSubtype="8" fill="hold" nodeType="clickEffect">
                                  <p:stCondLst>
                                    <p:cond delay="0"/>
                                  </p:stCondLst>
                                  <p:childTnLst>
                                    <p:set>
                                      <p:cBhvr>
                                        <p:cTn id="68" dur="1" fill="hold">
                                          <p:stCondLst>
                                            <p:cond delay="0"/>
                                          </p:stCondLst>
                                        </p:cTn>
                                        <p:tgtEl>
                                          <p:spTgt spid="143373"/>
                                        </p:tgtEl>
                                        <p:attrNameLst>
                                          <p:attrName>style.visibility</p:attrName>
                                        </p:attrNameLst>
                                      </p:cBhvr>
                                      <p:to>
                                        <p:strVal val="visible"/>
                                      </p:to>
                                    </p:set>
                                    <p:animEffect transition="in" filter="slide(fromLeft)">
                                      <p:cBhvr>
                                        <p:cTn id="69" dur="500"/>
                                        <p:tgtEl>
                                          <p:spTgt spid="143373"/>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 presetClass="entr" presetSubtype="2" fill="hold" grpId="0" nodeType="clickEffect">
                                  <p:stCondLst>
                                    <p:cond delay="0"/>
                                  </p:stCondLst>
                                  <p:childTnLst>
                                    <p:set>
                                      <p:cBhvr>
                                        <p:cTn id="73" dur="1" fill="hold">
                                          <p:stCondLst>
                                            <p:cond delay="0"/>
                                          </p:stCondLst>
                                        </p:cTn>
                                        <p:tgtEl>
                                          <p:spTgt spid="143371">
                                            <p:bg/>
                                          </p:spTgt>
                                        </p:tgtEl>
                                        <p:attrNameLst>
                                          <p:attrName>style.visibility</p:attrName>
                                        </p:attrNameLst>
                                      </p:cBhvr>
                                      <p:to>
                                        <p:strVal val="visible"/>
                                      </p:to>
                                    </p:set>
                                    <p:anim calcmode="lin" valueType="num">
                                      <p:cBhvr additive="base">
                                        <p:cTn id="74" dur="500" fill="hold"/>
                                        <p:tgtEl>
                                          <p:spTgt spid="143371">
                                            <p:bg/>
                                          </p:spTgt>
                                        </p:tgtEl>
                                        <p:attrNameLst>
                                          <p:attrName>ppt_x</p:attrName>
                                        </p:attrNameLst>
                                      </p:cBhvr>
                                      <p:tavLst>
                                        <p:tav tm="0">
                                          <p:val>
                                            <p:strVal val="1+#ppt_w/2"/>
                                          </p:val>
                                        </p:tav>
                                        <p:tav tm="100000">
                                          <p:val>
                                            <p:strVal val="#ppt_x"/>
                                          </p:val>
                                        </p:tav>
                                      </p:tavLst>
                                    </p:anim>
                                    <p:anim calcmode="lin" valueType="num">
                                      <p:cBhvr additive="base">
                                        <p:cTn id="75" dur="500" fill="hold"/>
                                        <p:tgtEl>
                                          <p:spTgt spid="143371">
                                            <p:bg/>
                                          </p:spTgt>
                                        </p:tgtEl>
                                        <p:attrNameLst>
                                          <p:attrName>ppt_y</p:attrName>
                                        </p:attrNameLst>
                                      </p:cBhvr>
                                      <p:tavLst>
                                        <p:tav tm="0">
                                          <p:val>
                                            <p:strVal val="#ppt_y"/>
                                          </p:val>
                                        </p:tav>
                                        <p:tav tm="100000">
                                          <p:val>
                                            <p:strVal val="#ppt_y"/>
                                          </p:val>
                                        </p:tav>
                                      </p:tavLst>
                                    </p:anim>
                                  </p:childTnLst>
                                </p:cTn>
                              </p:par>
                            </p:childTnLst>
                          </p:cTn>
                        </p:par>
                      </p:childTnLst>
                    </p:cTn>
                  </p:par>
                  <p:par>
                    <p:cTn id="76" fill="hold" nodeType="clickPar">
                      <p:stCondLst>
                        <p:cond delay="indefinite"/>
                      </p:stCondLst>
                      <p:childTnLst>
                        <p:par>
                          <p:cTn id="77" fill="hold" nodeType="withGroup">
                            <p:stCondLst>
                              <p:cond delay="0"/>
                            </p:stCondLst>
                            <p:childTnLst>
                              <p:par>
                                <p:cTn id="78" presetID="2" presetClass="entr" presetSubtype="2" fill="hold" grpId="0" nodeType="clickEffect">
                                  <p:stCondLst>
                                    <p:cond delay="0"/>
                                  </p:stCondLst>
                                  <p:childTnLst>
                                    <p:set>
                                      <p:cBhvr>
                                        <p:cTn id="79" dur="1" fill="hold">
                                          <p:stCondLst>
                                            <p:cond delay="0"/>
                                          </p:stCondLst>
                                        </p:cTn>
                                        <p:tgtEl>
                                          <p:spTgt spid="143371">
                                            <p:txEl>
                                              <p:pRg st="0" end="0"/>
                                            </p:txEl>
                                          </p:spTgt>
                                        </p:tgtEl>
                                        <p:attrNameLst>
                                          <p:attrName>style.visibility</p:attrName>
                                        </p:attrNameLst>
                                      </p:cBhvr>
                                      <p:to>
                                        <p:strVal val="visible"/>
                                      </p:to>
                                    </p:set>
                                    <p:anim calcmode="lin" valueType="num">
                                      <p:cBhvr additive="base">
                                        <p:cTn id="80" dur="500" fill="hold"/>
                                        <p:tgtEl>
                                          <p:spTgt spid="143371">
                                            <p:txEl>
                                              <p:pRg st="0" end="0"/>
                                            </p:txEl>
                                          </p:spTgt>
                                        </p:tgtEl>
                                        <p:attrNameLst>
                                          <p:attrName>ppt_x</p:attrName>
                                        </p:attrNameLst>
                                      </p:cBhvr>
                                      <p:tavLst>
                                        <p:tav tm="0">
                                          <p:val>
                                            <p:strVal val="1+#ppt_w/2"/>
                                          </p:val>
                                        </p:tav>
                                        <p:tav tm="100000">
                                          <p:val>
                                            <p:strVal val="#ppt_x"/>
                                          </p:val>
                                        </p:tav>
                                      </p:tavLst>
                                    </p:anim>
                                    <p:anim calcmode="lin" valueType="num">
                                      <p:cBhvr additive="base">
                                        <p:cTn id="81" dur="500" fill="hold"/>
                                        <p:tgtEl>
                                          <p:spTgt spid="14337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2" presetClass="entr" presetSubtype="2" fill="hold" grpId="0" nodeType="clickEffect">
                                  <p:stCondLst>
                                    <p:cond delay="0"/>
                                  </p:stCondLst>
                                  <p:childTnLst>
                                    <p:set>
                                      <p:cBhvr>
                                        <p:cTn id="85" dur="1" fill="hold">
                                          <p:stCondLst>
                                            <p:cond delay="0"/>
                                          </p:stCondLst>
                                        </p:cTn>
                                        <p:tgtEl>
                                          <p:spTgt spid="143371">
                                            <p:txEl>
                                              <p:pRg st="1" end="1"/>
                                            </p:txEl>
                                          </p:spTgt>
                                        </p:tgtEl>
                                        <p:attrNameLst>
                                          <p:attrName>style.visibility</p:attrName>
                                        </p:attrNameLst>
                                      </p:cBhvr>
                                      <p:to>
                                        <p:strVal val="visible"/>
                                      </p:to>
                                    </p:set>
                                    <p:anim calcmode="lin" valueType="num">
                                      <p:cBhvr additive="base">
                                        <p:cTn id="86" dur="500" fill="hold"/>
                                        <p:tgtEl>
                                          <p:spTgt spid="143371">
                                            <p:txEl>
                                              <p:pRg st="1" end="1"/>
                                            </p:txEl>
                                          </p:spTgt>
                                        </p:tgtEl>
                                        <p:attrNameLst>
                                          <p:attrName>ppt_x</p:attrName>
                                        </p:attrNameLst>
                                      </p:cBhvr>
                                      <p:tavLst>
                                        <p:tav tm="0">
                                          <p:val>
                                            <p:strVal val="1+#ppt_w/2"/>
                                          </p:val>
                                        </p:tav>
                                        <p:tav tm="100000">
                                          <p:val>
                                            <p:strVal val="#ppt_x"/>
                                          </p:val>
                                        </p:tav>
                                      </p:tavLst>
                                    </p:anim>
                                    <p:anim calcmode="lin" valueType="num">
                                      <p:cBhvr additive="base">
                                        <p:cTn id="87" dur="500" fill="hold"/>
                                        <p:tgtEl>
                                          <p:spTgt spid="14337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88" fill="hold" nodeType="clickPar">
                      <p:stCondLst>
                        <p:cond delay="indefinite"/>
                      </p:stCondLst>
                      <p:childTnLst>
                        <p:par>
                          <p:cTn id="89" fill="hold" nodeType="withGroup">
                            <p:stCondLst>
                              <p:cond delay="0"/>
                            </p:stCondLst>
                            <p:childTnLst>
                              <p:par>
                                <p:cTn id="90" presetID="12" presetClass="entr" presetSubtype="8" fill="hold" nodeType="clickEffect">
                                  <p:stCondLst>
                                    <p:cond delay="0"/>
                                  </p:stCondLst>
                                  <p:childTnLst>
                                    <p:set>
                                      <p:cBhvr>
                                        <p:cTn id="91" dur="1" fill="hold">
                                          <p:stCondLst>
                                            <p:cond delay="0"/>
                                          </p:stCondLst>
                                        </p:cTn>
                                        <p:tgtEl>
                                          <p:spTgt spid="143372"/>
                                        </p:tgtEl>
                                        <p:attrNameLst>
                                          <p:attrName>style.visibility</p:attrName>
                                        </p:attrNameLst>
                                      </p:cBhvr>
                                      <p:to>
                                        <p:strVal val="visible"/>
                                      </p:to>
                                    </p:set>
                                    <p:animEffect transition="in" filter="slide(fromLeft)">
                                      <p:cBhvr>
                                        <p:cTn id="92" dur="500"/>
                                        <p:tgtEl>
                                          <p:spTgt spid="143372"/>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 presetClass="entr" presetSubtype="2" fill="hold" grpId="0" nodeType="clickEffect">
                                  <p:stCondLst>
                                    <p:cond delay="0"/>
                                  </p:stCondLst>
                                  <p:childTnLst>
                                    <p:set>
                                      <p:cBhvr>
                                        <p:cTn id="96" dur="1" fill="hold">
                                          <p:stCondLst>
                                            <p:cond delay="0"/>
                                          </p:stCondLst>
                                        </p:cTn>
                                        <p:tgtEl>
                                          <p:spTgt spid="143370">
                                            <p:bg/>
                                          </p:spTgt>
                                        </p:tgtEl>
                                        <p:attrNameLst>
                                          <p:attrName>style.visibility</p:attrName>
                                        </p:attrNameLst>
                                      </p:cBhvr>
                                      <p:to>
                                        <p:strVal val="visible"/>
                                      </p:to>
                                    </p:set>
                                    <p:anim calcmode="lin" valueType="num">
                                      <p:cBhvr additive="base">
                                        <p:cTn id="97" dur="500" fill="hold"/>
                                        <p:tgtEl>
                                          <p:spTgt spid="143370">
                                            <p:bg/>
                                          </p:spTgt>
                                        </p:tgtEl>
                                        <p:attrNameLst>
                                          <p:attrName>ppt_x</p:attrName>
                                        </p:attrNameLst>
                                      </p:cBhvr>
                                      <p:tavLst>
                                        <p:tav tm="0">
                                          <p:val>
                                            <p:strVal val="1+#ppt_w/2"/>
                                          </p:val>
                                        </p:tav>
                                        <p:tav tm="100000">
                                          <p:val>
                                            <p:strVal val="#ppt_x"/>
                                          </p:val>
                                        </p:tav>
                                      </p:tavLst>
                                    </p:anim>
                                    <p:anim calcmode="lin" valueType="num">
                                      <p:cBhvr additive="base">
                                        <p:cTn id="98" dur="500" fill="hold"/>
                                        <p:tgtEl>
                                          <p:spTgt spid="143370">
                                            <p:bg/>
                                          </p:spTgt>
                                        </p:tgtEl>
                                        <p:attrNameLst>
                                          <p:attrName>ppt_y</p:attrName>
                                        </p:attrNameLst>
                                      </p:cBhvr>
                                      <p:tavLst>
                                        <p:tav tm="0">
                                          <p:val>
                                            <p:strVal val="#ppt_y"/>
                                          </p:val>
                                        </p:tav>
                                        <p:tav tm="100000">
                                          <p:val>
                                            <p:strVal val="#ppt_y"/>
                                          </p:val>
                                        </p:tav>
                                      </p:tavLst>
                                    </p:anim>
                                  </p:childTnLst>
                                </p:cTn>
                              </p:par>
                            </p:childTnLst>
                          </p:cTn>
                        </p:par>
                      </p:childTnLst>
                    </p:cTn>
                  </p:par>
                  <p:par>
                    <p:cTn id="99" fill="hold" nodeType="clickPar">
                      <p:stCondLst>
                        <p:cond delay="indefinite"/>
                      </p:stCondLst>
                      <p:childTnLst>
                        <p:par>
                          <p:cTn id="100" fill="hold" nodeType="withGroup">
                            <p:stCondLst>
                              <p:cond delay="0"/>
                            </p:stCondLst>
                            <p:childTnLst>
                              <p:par>
                                <p:cTn id="101" presetID="2" presetClass="entr" presetSubtype="2" fill="hold" grpId="0" nodeType="clickEffect">
                                  <p:stCondLst>
                                    <p:cond delay="0"/>
                                  </p:stCondLst>
                                  <p:childTnLst>
                                    <p:set>
                                      <p:cBhvr>
                                        <p:cTn id="102" dur="1" fill="hold">
                                          <p:stCondLst>
                                            <p:cond delay="0"/>
                                          </p:stCondLst>
                                        </p:cTn>
                                        <p:tgtEl>
                                          <p:spTgt spid="143370">
                                            <p:txEl>
                                              <p:pRg st="0" end="0"/>
                                            </p:txEl>
                                          </p:spTgt>
                                        </p:tgtEl>
                                        <p:attrNameLst>
                                          <p:attrName>style.visibility</p:attrName>
                                        </p:attrNameLst>
                                      </p:cBhvr>
                                      <p:to>
                                        <p:strVal val="visible"/>
                                      </p:to>
                                    </p:set>
                                    <p:anim calcmode="lin" valueType="num">
                                      <p:cBhvr additive="base">
                                        <p:cTn id="103" dur="500" fill="hold"/>
                                        <p:tgtEl>
                                          <p:spTgt spid="143370">
                                            <p:txEl>
                                              <p:pRg st="0" end="0"/>
                                            </p:txEl>
                                          </p:spTgt>
                                        </p:tgtEl>
                                        <p:attrNameLst>
                                          <p:attrName>ppt_x</p:attrName>
                                        </p:attrNameLst>
                                      </p:cBhvr>
                                      <p:tavLst>
                                        <p:tav tm="0">
                                          <p:val>
                                            <p:strVal val="1+#ppt_w/2"/>
                                          </p:val>
                                        </p:tav>
                                        <p:tav tm="100000">
                                          <p:val>
                                            <p:strVal val="#ppt_x"/>
                                          </p:val>
                                        </p:tav>
                                      </p:tavLst>
                                    </p:anim>
                                    <p:anim calcmode="lin" valueType="num">
                                      <p:cBhvr additive="base">
                                        <p:cTn id="104" dur="500" fill="hold"/>
                                        <p:tgtEl>
                                          <p:spTgt spid="14337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2" fill="hold" grpId="0" nodeType="clickEffect">
                                  <p:stCondLst>
                                    <p:cond delay="0"/>
                                  </p:stCondLst>
                                  <p:childTnLst>
                                    <p:set>
                                      <p:cBhvr>
                                        <p:cTn id="108" dur="1" fill="hold">
                                          <p:stCondLst>
                                            <p:cond delay="0"/>
                                          </p:stCondLst>
                                        </p:cTn>
                                        <p:tgtEl>
                                          <p:spTgt spid="143370">
                                            <p:txEl>
                                              <p:pRg st="1" end="1"/>
                                            </p:txEl>
                                          </p:spTgt>
                                        </p:tgtEl>
                                        <p:attrNameLst>
                                          <p:attrName>style.visibility</p:attrName>
                                        </p:attrNameLst>
                                      </p:cBhvr>
                                      <p:to>
                                        <p:strVal val="visible"/>
                                      </p:to>
                                    </p:set>
                                    <p:anim calcmode="lin" valueType="num">
                                      <p:cBhvr additive="base">
                                        <p:cTn id="109" dur="500" fill="hold"/>
                                        <p:tgtEl>
                                          <p:spTgt spid="143370">
                                            <p:txEl>
                                              <p:pRg st="1" end="1"/>
                                            </p:txEl>
                                          </p:spTgt>
                                        </p:tgtEl>
                                        <p:attrNameLst>
                                          <p:attrName>ppt_x</p:attrName>
                                        </p:attrNameLst>
                                      </p:cBhvr>
                                      <p:tavLst>
                                        <p:tav tm="0">
                                          <p:val>
                                            <p:strVal val="1+#ppt_w/2"/>
                                          </p:val>
                                        </p:tav>
                                        <p:tav tm="100000">
                                          <p:val>
                                            <p:strVal val="#ppt_x"/>
                                          </p:val>
                                        </p:tav>
                                      </p:tavLst>
                                    </p:anim>
                                    <p:anim calcmode="lin" valueType="num">
                                      <p:cBhvr additive="base">
                                        <p:cTn id="110" dur="500" fill="hold"/>
                                        <p:tgtEl>
                                          <p:spTgt spid="14337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2" fill="hold" grpId="0" nodeType="clickEffect">
                                  <p:stCondLst>
                                    <p:cond delay="0"/>
                                  </p:stCondLst>
                                  <p:childTnLst>
                                    <p:set>
                                      <p:cBhvr>
                                        <p:cTn id="114" dur="1" fill="hold">
                                          <p:stCondLst>
                                            <p:cond delay="0"/>
                                          </p:stCondLst>
                                        </p:cTn>
                                        <p:tgtEl>
                                          <p:spTgt spid="143370">
                                            <p:txEl>
                                              <p:pRg st="2" end="2"/>
                                            </p:txEl>
                                          </p:spTgt>
                                        </p:tgtEl>
                                        <p:attrNameLst>
                                          <p:attrName>style.visibility</p:attrName>
                                        </p:attrNameLst>
                                      </p:cBhvr>
                                      <p:to>
                                        <p:strVal val="visible"/>
                                      </p:to>
                                    </p:set>
                                    <p:anim calcmode="lin" valueType="num">
                                      <p:cBhvr additive="base">
                                        <p:cTn id="115" dur="500" fill="hold"/>
                                        <p:tgtEl>
                                          <p:spTgt spid="143370">
                                            <p:txEl>
                                              <p:pRg st="2" end="2"/>
                                            </p:txEl>
                                          </p:spTgt>
                                        </p:tgtEl>
                                        <p:attrNameLst>
                                          <p:attrName>ppt_x</p:attrName>
                                        </p:attrNameLst>
                                      </p:cBhvr>
                                      <p:tavLst>
                                        <p:tav tm="0">
                                          <p:val>
                                            <p:strVal val="1+#ppt_w/2"/>
                                          </p:val>
                                        </p:tav>
                                        <p:tav tm="100000">
                                          <p:val>
                                            <p:strVal val="#ppt_x"/>
                                          </p:val>
                                        </p:tav>
                                      </p:tavLst>
                                    </p:anim>
                                    <p:anim calcmode="lin" valueType="num">
                                      <p:cBhvr additive="base">
                                        <p:cTn id="116" dur="500" fill="hold"/>
                                        <p:tgtEl>
                                          <p:spTgt spid="143370">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2" grpId="0" animBg="1" autoUpdateAnimBg="0"/>
      <p:bldP spid="143365" grpId="0" animBg="1" autoUpdateAnimBg="0"/>
      <p:bldP spid="143366" grpId="0" animBg="1" autoUpdateAnimBg="0"/>
      <p:bldP spid="143368" grpId="0" animBg="1" autoUpdateAnimBg="0"/>
      <p:bldP spid="143369" grpId="0" build="p" animBg="1" autoUpdateAnimBg="0"/>
      <p:bldP spid="143370" grpId="0" build="p" animBg="1" autoUpdateAnimBg="0"/>
      <p:bldP spid="143371" grpId="0" build="p" animBg="1"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p:txBody>
          <a:bodyPr>
            <a:normAutofit/>
          </a:bodyPr>
          <a:lstStyle/>
          <a:p>
            <a:r>
              <a:rPr lang="tr-TR" altLang="tr-TR" dirty="0"/>
              <a:t>BİLİMİN  TEMEL ÖZELLİKLERİ</a:t>
            </a:r>
          </a:p>
        </p:txBody>
      </p:sp>
      <p:sp>
        <p:nvSpPr>
          <p:cNvPr id="140291" name="Rectangle 3"/>
          <p:cNvSpPr>
            <a:spLocks noGrp="1" noChangeArrowheads="1"/>
          </p:cNvSpPr>
          <p:nvPr>
            <p:ph type="body" idx="1"/>
          </p:nvPr>
        </p:nvSpPr>
        <p:spPr/>
        <p:txBody>
          <a:bodyPr/>
          <a:lstStyle/>
          <a:p>
            <a:r>
              <a:rPr lang="tr-TR" altLang="tr-TR" b="1" dirty="0"/>
              <a:t>Bilim olgusaldır. </a:t>
            </a:r>
          </a:p>
          <a:p>
            <a:r>
              <a:rPr lang="tr-TR" altLang="tr-TR" dirty="0"/>
              <a:t>Ancak evrende  oluşan  olgular  sınırsızdır.  </a:t>
            </a:r>
          </a:p>
          <a:p>
            <a:r>
              <a:rPr lang="tr-TR" altLang="tr-TR" dirty="0"/>
              <a:t>Bilimin  bunların hepsi ile ilgilenmesi hem gereksiz hem de olanaksızdır.</a:t>
            </a:r>
          </a:p>
          <a:p>
            <a:pPr>
              <a:lnSpc>
                <a:spcPts val="2875"/>
              </a:lnSpc>
              <a:spcBef>
                <a:spcPct val="0"/>
              </a:spcBef>
              <a:buClrTx/>
              <a:buSzTx/>
              <a:buNone/>
            </a:pPr>
            <a:endParaRPr lang="tr-TR" altLang="tr-TR" dirty="0"/>
          </a:p>
        </p:txBody>
      </p:sp>
    </p:spTree>
    <p:extLst>
      <p:ext uri="{BB962C8B-B14F-4D97-AF65-F5344CB8AC3E}">
        <p14:creationId xmlns:p14="http://schemas.microsoft.com/office/powerpoint/2010/main" val="17111846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p:txBody>
          <a:bodyPr>
            <a:normAutofit/>
          </a:bodyPr>
          <a:lstStyle/>
          <a:p>
            <a:r>
              <a:rPr lang="tr-TR" altLang="tr-TR" dirty="0"/>
              <a:t>BİLİMİN  TEMEL ÖZELLİKLERİ</a:t>
            </a:r>
          </a:p>
        </p:txBody>
      </p:sp>
      <p:sp>
        <p:nvSpPr>
          <p:cNvPr id="145411" name="Rectangle 3"/>
          <p:cNvSpPr>
            <a:spLocks noGrp="1" noChangeArrowheads="1"/>
          </p:cNvSpPr>
          <p:nvPr>
            <p:ph type="body" idx="1"/>
          </p:nvPr>
        </p:nvSpPr>
        <p:spPr/>
        <p:txBody>
          <a:bodyPr/>
          <a:lstStyle/>
          <a:p>
            <a:pPr>
              <a:lnSpc>
                <a:spcPts val="2875"/>
              </a:lnSpc>
              <a:spcBef>
                <a:spcPct val="0"/>
              </a:spcBef>
              <a:buClrTx/>
              <a:buSzTx/>
              <a:buFontTx/>
              <a:buChar char="•"/>
            </a:pPr>
            <a:r>
              <a:rPr lang="tr-TR" altLang="tr-TR" b="1"/>
              <a:t>Bilim mantıksaldır.</a:t>
            </a:r>
          </a:p>
          <a:p>
            <a:pPr>
              <a:lnSpc>
                <a:spcPts val="2875"/>
              </a:lnSpc>
              <a:spcBef>
                <a:spcPct val="0"/>
              </a:spcBef>
              <a:buClrTx/>
              <a:buSzTx/>
              <a:buFontTx/>
              <a:buChar char="•"/>
            </a:pPr>
            <a:r>
              <a:rPr lang="tr-TR" altLang="tr-TR"/>
              <a:t>Bilimin  ulaştığı  sonuçlar  her  türlü çelişkiden  uzaktır. </a:t>
            </a:r>
          </a:p>
          <a:p>
            <a:pPr>
              <a:lnSpc>
                <a:spcPts val="2875"/>
              </a:lnSpc>
              <a:spcBef>
                <a:spcPct val="0"/>
              </a:spcBef>
              <a:buClrTx/>
              <a:buSzTx/>
              <a:buFontTx/>
              <a:buChar char="•"/>
            </a:pPr>
            <a:r>
              <a:rPr lang="tr-TR" altLang="tr-TR"/>
              <a:t>Bilim bir hipotez ya da teoriyi doğrularken mantıksal düşünme  ve  çıkarım  kurallarından  yararlanır. </a:t>
            </a:r>
          </a:p>
          <a:p>
            <a:pPr>
              <a:lnSpc>
                <a:spcPts val="2875"/>
              </a:lnSpc>
              <a:spcBef>
                <a:spcPct val="0"/>
              </a:spcBef>
              <a:buClrTx/>
              <a:buSzTx/>
              <a:buFontTx/>
              <a:buChar char="•"/>
            </a:pPr>
            <a:r>
              <a:rPr lang="tr-TR" altLang="tr-TR"/>
              <a:t>Hipotez veya  teoriler  doğrudan  test  edilemez  gözlem  yoluna başvurmak gerekir.</a:t>
            </a:r>
          </a:p>
          <a:p>
            <a:pPr>
              <a:lnSpc>
                <a:spcPts val="2875"/>
              </a:lnSpc>
              <a:spcBef>
                <a:spcPct val="0"/>
              </a:spcBef>
              <a:buClrTx/>
              <a:buSzTx/>
              <a:buNone/>
            </a:pPr>
            <a:endParaRPr lang="tr-TR" altLang="tr-TR"/>
          </a:p>
        </p:txBody>
      </p:sp>
    </p:spTree>
    <p:extLst>
      <p:ext uri="{BB962C8B-B14F-4D97-AF65-F5344CB8AC3E}">
        <p14:creationId xmlns:p14="http://schemas.microsoft.com/office/powerpoint/2010/main" val="11356403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p:txBody>
          <a:bodyPr>
            <a:normAutofit/>
          </a:bodyPr>
          <a:lstStyle/>
          <a:p>
            <a:r>
              <a:rPr lang="tr-TR" altLang="tr-TR" dirty="0"/>
              <a:t>BİLİMİN  TEMEL ÖZELLİKLERİ</a:t>
            </a:r>
          </a:p>
        </p:txBody>
      </p:sp>
      <p:sp>
        <p:nvSpPr>
          <p:cNvPr id="149507" name="Rectangle 3"/>
          <p:cNvSpPr>
            <a:spLocks noGrp="1" noChangeArrowheads="1"/>
          </p:cNvSpPr>
          <p:nvPr>
            <p:ph type="body" idx="1"/>
          </p:nvPr>
        </p:nvSpPr>
        <p:spPr/>
        <p:txBody>
          <a:bodyPr>
            <a:normAutofit fontScale="85000" lnSpcReduction="10000"/>
          </a:bodyPr>
          <a:lstStyle/>
          <a:p>
            <a:pPr>
              <a:lnSpc>
                <a:spcPts val="3338"/>
              </a:lnSpc>
              <a:spcBef>
                <a:spcPct val="0"/>
              </a:spcBef>
              <a:buClrTx/>
              <a:buSzTx/>
              <a:buFontTx/>
              <a:buChar char="•"/>
            </a:pPr>
            <a:r>
              <a:rPr lang="tr-TR" altLang="tr-TR" sz="3600" b="1"/>
              <a:t>Bilim objektiftir.</a:t>
            </a:r>
          </a:p>
          <a:p>
            <a:pPr>
              <a:lnSpc>
                <a:spcPts val="3338"/>
              </a:lnSpc>
              <a:spcBef>
                <a:spcPct val="0"/>
              </a:spcBef>
              <a:buClrTx/>
              <a:buSzTx/>
              <a:buFontTx/>
              <a:buChar char="•"/>
            </a:pPr>
            <a:r>
              <a:rPr lang="tr-TR" altLang="tr-TR" sz="3600"/>
              <a:t>Çağdaş  anlamda  bilimle  uğraşan  kişiler  bir konuya yönelmek daha sonrada o konunun alt dallarında   uzmanlaşmak zorundadırlar. </a:t>
            </a:r>
          </a:p>
          <a:p>
            <a:pPr>
              <a:lnSpc>
                <a:spcPts val="3338"/>
              </a:lnSpc>
              <a:spcBef>
                <a:spcPct val="0"/>
              </a:spcBef>
              <a:buClrTx/>
              <a:buSzTx/>
              <a:buFontTx/>
              <a:buChar char="•"/>
            </a:pPr>
            <a:r>
              <a:rPr lang="tr-TR" altLang="tr-TR" sz="3600"/>
              <a:t>Bir bilimsel sonuç kişi yada zümrelerin tekelinde olamaz. </a:t>
            </a:r>
          </a:p>
          <a:p>
            <a:pPr>
              <a:lnSpc>
                <a:spcPts val="3338"/>
              </a:lnSpc>
              <a:spcBef>
                <a:spcPct val="0"/>
              </a:spcBef>
              <a:buClrTx/>
              <a:buSzTx/>
              <a:buFontTx/>
              <a:buChar char="•"/>
            </a:pPr>
            <a:r>
              <a:rPr lang="tr-TR" altLang="tr-TR" sz="3600"/>
              <a:t>Teoriler yerine yenisi konulana kadar geçerlidir.</a:t>
            </a:r>
            <a:endParaRPr lang="tr-TR" altLang="tr-TR" sz="2700"/>
          </a:p>
        </p:txBody>
      </p:sp>
    </p:spTree>
    <p:extLst>
      <p:ext uri="{BB962C8B-B14F-4D97-AF65-F5344CB8AC3E}">
        <p14:creationId xmlns:p14="http://schemas.microsoft.com/office/powerpoint/2010/main" val="32937368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p:txBody>
          <a:bodyPr/>
          <a:lstStyle/>
          <a:p>
            <a:r>
              <a:rPr lang="tr-TR" altLang="tr-TR" dirty="0"/>
              <a:t>BİLİMİN  TEMEL ÖZELLİKLERİ</a:t>
            </a:r>
          </a:p>
        </p:txBody>
      </p:sp>
      <p:sp>
        <p:nvSpPr>
          <p:cNvPr id="148483" name="Rectangle 3"/>
          <p:cNvSpPr>
            <a:spLocks noGrp="1" noChangeArrowheads="1"/>
          </p:cNvSpPr>
          <p:nvPr>
            <p:ph type="body" idx="1"/>
          </p:nvPr>
        </p:nvSpPr>
        <p:spPr/>
        <p:txBody>
          <a:bodyPr/>
          <a:lstStyle/>
          <a:p>
            <a:pPr>
              <a:lnSpc>
                <a:spcPts val="3338"/>
              </a:lnSpc>
              <a:spcBef>
                <a:spcPct val="0"/>
              </a:spcBef>
              <a:buClrTx/>
              <a:buSzTx/>
              <a:buFontTx/>
              <a:buChar char="•"/>
            </a:pPr>
            <a:r>
              <a:rPr lang="tr-TR" altLang="tr-TR" sz="3600" b="1"/>
              <a:t>Bilim eleştiricidir.</a:t>
            </a:r>
          </a:p>
          <a:p>
            <a:pPr>
              <a:lnSpc>
                <a:spcPts val="3338"/>
              </a:lnSpc>
              <a:spcBef>
                <a:spcPct val="0"/>
              </a:spcBef>
              <a:buClrTx/>
              <a:buSzTx/>
              <a:buFontTx/>
              <a:buChar char="•"/>
            </a:pPr>
            <a:r>
              <a:rPr lang="tr-TR" altLang="tr-TR" sz="3600"/>
              <a:t>Bilimde hiçbir doğru asla değişmez  değildir.</a:t>
            </a:r>
          </a:p>
          <a:p>
            <a:pPr>
              <a:lnSpc>
                <a:spcPts val="3338"/>
              </a:lnSpc>
              <a:spcBef>
                <a:spcPct val="0"/>
              </a:spcBef>
              <a:buClrTx/>
              <a:buSzTx/>
              <a:buFontTx/>
              <a:buChar char="•"/>
            </a:pPr>
            <a:r>
              <a:rPr lang="tr-TR" altLang="tr-TR" sz="3600"/>
              <a:t>Bilimin bu özelliği ondaki gelişmenin başlıca nedenidir.</a:t>
            </a:r>
          </a:p>
          <a:p>
            <a:pPr>
              <a:lnSpc>
                <a:spcPts val="2875"/>
              </a:lnSpc>
              <a:spcBef>
                <a:spcPct val="0"/>
              </a:spcBef>
              <a:buClrTx/>
              <a:buSzTx/>
              <a:buNone/>
            </a:pPr>
            <a:endParaRPr lang="tr-TR" altLang="tr-TR" sz="3600"/>
          </a:p>
        </p:txBody>
      </p:sp>
    </p:spTree>
    <p:extLst>
      <p:ext uri="{BB962C8B-B14F-4D97-AF65-F5344CB8AC3E}">
        <p14:creationId xmlns:p14="http://schemas.microsoft.com/office/powerpoint/2010/main" val="33412046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p:txBody>
          <a:bodyPr/>
          <a:lstStyle/>
          <a:p>
            <a:r>
              <a:rPr lang="tr-TR" altLang="tr-TR"/>
              <a:t>BİLİMİN  TEMEL ÖZELLİKLERİ</a:t>
            </a:r>
          </a:p>
        </p:txBody>
      </p:sp>
      <p:sp>
        <p:nvSpPr>
          <p:cNvPr id="147459" name="Rectangle 3"/>
          <p:cNvSpPr>
            <a:spLocks noGrp="1" noChangeArrowheads="1"/>
          </p:cNvSpPr>
          <p:nvPr>
            <p:ph type="body" idx="1"/>
          </p:nvPr>
        </p:nvSpPr>
        <p:spPr>
          <a:xfrm>
            <a:off x="2344189" y="1920241"/>
            <a:ext cx="8793480" cy="4832465"/>
          </a:xfrm>
        </p:spPr>
        <p:txBody>
          <a:bodyPr>
            <a:normAutofit fontScale="77500" lnSpcReduction="20000"/>
          </a:bodyPr>
          <a:lstStyle/>
          <a:p>
            <a:pPr>
              <a:lnSpc>
                <a:spcPts val="2788"/>
              </a:lnSpc>
              <a:spcBef>
                <a:spcPct val="0"/>
              </a:spcBef>
              <a:buClrTx/>
              <a:buSzTx/>
              <a:buFontTx/>
              <a:buChar char="•"/>
            </a:pPr>
            <a:r>
              <a:rPr lang="tr-TR" altLang="tr-TR" sz="2000" b="1" dirty="0"/>
              <a:t>Bilim genelleyicidir.</a:t>
            </a:r>
          </a:p>
          <a:p>
            <a:pPr>
              <a:lnSpc>
                <a:spcPts val="2788"/>
              </a:lnSpc>
              <a:spcBef>
                <a:spcPct val="0"/>
              </a:spcBef>
              <a:buClrTx/>
              <a:buSzTx/>
              <a:buFontTx/>
              <a:buChar char="•"/>
            </a:pPr>
            <a:r>
              <a:rPr lang="tr-TR" altLang="tr-TR" sz="2000" dirty="0"/>
              <a:t>Amaç özelden genele doğru bir kural çıkarmak olmalıdır.</a:t>
            </a:r>
          </a:p>
          <a:p>
            <a:pPr>
              <a:lnSpc>
                <a:spcPts val="2788"/>
              </a:lnSpc>
              <a:spcBef>
                <a:spcPct val="0"/>
              </a:spcBef>
              <a:buClrTx/>
              <a:buSzTx/>
              <a:buFontTx/>
              <a:buChar char="•"/>
            </a:pPr>
            <a:endParaRPr lang="tr-TR" altLang="tr-TR" sz="2000" dirty="0"/>
          </a:p>
          <a:p>
            <a:pPr>
              <a:lnSpc>
                <a:spcPts val="2788"/>
              </a:lnSpc>
              <a:spcBef>
                <a:spcPct val="0"/>
              </a:spcBef>
              <a:buClrTx/>
              <a:buSzTx/>
              <a:buFontTx/>
              <a:buChar char="•"/>
            </a:pPr>
            <a:r>
              <a:rPr lang="tr-TR" altLang="tr-TR" sz="2000" b="1" dirty="0"/>
              <a:t>Bilim seçicidir.</a:t>
            </a:r>
          </a:p>
          <a:p>
            <a:pPr>
              <a:lnSpc>
                <a:spcPts val="2788"/>
              </a:lnSpc>
              <a:spcBef>
                <a:spcPct val="0"/>
              </a:spcBef>
              <a:buClrTx/>
              <a:buSzTx/>
              <a:buFontTx/>
              <a:buChar char="•"/>
            </a:pPr>
            <a:r>
              <a:rPr lang="tr-TR" altLang="tr-TR" sz="2000" dirty="0"/>
              <a:t>Bilimsel  incelemeler  yapılan  olgular,  belki  de  doğa olayları ve tüm olgular içinde oldukça sınırlıdır.</a:t>
            </a:r>
          </a:p>
          <a:p>
            <a:pPr>
              <a:lnSpc>
                <a:spcPts val="2788"/>
              </a:lnSpc>
              <a:spcBef>
                <a:spcPct val="0"/>
              </a:spcBef>
              <a:buClrTx/>
              <a:buSzTx/>
              <a:buFontTx/>
              <a:buChar char="•"/>
            </a:pPr>
            <a:endParaRPr lang="tr-TR" altLang="tr-TR" sz="2000" dirty="0"/>
          </a:p>
          <a:p>
            <a:pPr>
              <a:lnSpc>
                <a:spcPts val="2788"/>
              </a:lnSpc>
              <a:spcBef>
                <a:spcPct val="0"/>
              </a:spcBef>
              <a:buClrTx/>
              <a:buSzTx/>
              <a:buFontTx/>
              <a:buChar char="•"/>
            </a:pPr>
            <a:r>
              <a:rPr lang="tr-TR" altLang="tr-TR" sz="2000" b="1" dirty="0"/>
              <a:t>Bilim değişkendir.</a:t>
            </a:r>
          </a:p>
          <a:p>
            <a:pPr>
              <a:lnSpc>
                <a:spcPts val="2788"/>
              </a:lnSpc>
              <a:spcBef>
                <a:spcPct val="0"/>
              </a:spcBef>
              <a:buClrTx/>
              <a:buSzTx/>
              <a:buFontTx/>
              <a:buChar char="•"/>
            </a:pPr>
            <a:r>
              <a:rPr lang="tr-TR" altLang="tr-TR" sz="2000" dirty="0"/>
              <a:t>Bilim   sürekli   bir   değişkenlik   arz   eder,   durağan değildir.</a:t>
            </a:r>
          </a:p>
          <a:p>
            <a:pPr>
              <a:lnSpc>
                <a:spcPts val="2788"/>
              </a:lnSpc>
              <a:spcBef>
                <a:spcPct val="0"/>
              </a:spcBef>
              <a:buClrTx/>
              <a:buSzTx/>
              <a:buFontTx/>
              <a:buChar char="•"/>
            </a:pPr>
            <a:endParaRPr lang="tr-TR" altLang="tr-TR" sz="2000" dirty="0"/>
          </a:p>
          <a:p>
            <a:pPr>
              <a:lnSpc>
                <a:spcPct val="80000"/>
              </a:lnSpc>
            </a:pPr>
            <a:r>
              <a:rPr lang="tr-TR" altLang="tr-TR" sz="2000" b="1" dirty="0"/>
              <a:t>Bilim herkese açıktır. </a:t>
            </a:r>
          </a:p>
          <a:p>
            <a:pPr>
              <a:lnSpc>
                <a:spcPct val="80000"/>
              </a:lnSpc>
            </a:pPr>
            <a:r>
              <a:rPr lang="tr-TR" altLang="tr-TR" sz="2000" b="1" dirty="0"/>
              <a:t>Bilimlerde öngörüler vardır.</a:t>
            </a:r>
          </a:p>
        </p:txBody>
      </p:sp>
    </p:spTree>
    <p:extLst>
      <p:ext uri="{BB962C8B-B14F-4D97-AF65-F5344CB8AC3E}">
        <p14:creationId xmlns:p14="http://schemas.microsoft.com/office/powerpoint/2010/main" val="28888635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p:txBody>
          <a:bodyPr/>
          <a:lstStyle/>
          <a:p>
            <a:r>
              <a:rPr lang="tr-TR" altLang="tr-TR"/>
              <a:t>BİLİM (SCIENCE)</a:t>
            </a:r>
          </a:p>
        </p:txBody>
      </p:sp>
      <p:sp>
        <p:nvSpPr>
          <p:cNvPr id="146435" name="Rectangle 3"/>
          <p:cNvSpPr>
            <a:spLocks noGrp="1" noChangeArrowheads="1"/>
          </p:cNvSpPr>
          <p:nvPr>
            <p:ph type="body" idx="1"/>
          </p:nvPr>
        </p:nvSpPr>
        <p:spPr>
          <a:xfrm>
            <a:off x="2286000" y="1905000"/>
            <a:ext cx="7696200" cy="4572000"/>
          </a:xfrm>
        </p:spPr>
        <p:txBody>
          <a:bodyPr>
            <a:normAutofit lnSpcReduction="10000"/>
          </a:bodyPr>
          <a:lstStyle/>
          <a:p>
            <a:pPr>
              <a:lnSpc>
                <a:spcPct val="90000"/>
              </a:lnSpc>
            </a:pPr>
            <a:r>
              <a:rPr lang="tr-TR" altLang="tr-TR" b="1" dirty="0"/>
              <a:t>Bilim Dalı (</a:t>
            </a:r>
            <a:r>
              <a:rPr lang="tr-TR" altLang="tr-TR" b="1" dirty="0" err="1"/>
              <a:t>Discipline</a:t>
            </a:r>
            <a:r>
              <a:rPr lang="tr-TR" altLang="tr-TR" b="1" dirty="0"/>
              <a:t>)</a:t>
            </a:r>
          </a:p>
          <a:p>
            <a:pPr>
              <a:lnSpc>
                <a:spcPct val="90000"/>
              </a:lnSpc>
            </a:pPr>
            <a:r>
              <a:rPr lang="tr-TR" altLang="tr-TR" dirty="0"/>
              <a:t>Konusu, incelediği olaylar, ya da yöntem ve işlemleriyle  ötekilerden ayrılan bilgiler kümesidir.</a:t>
            </a:r>
            <a:endParaRPr lang="tr-TR" altLang="tr-TR" sz="1000" dirty="0"/>
          </a:p>
          <a:p>
            <a:pPr>
              <a:lnSpc>
                <a:spcPct val="90000"/>
              </a:lnSpc>
            </a:pPr>
            <a:r>
              <a:rPr lang="tr-TR" altLang="tr-TR" dirty="0"/>
              <a:t>Örnek: Ekonomi, Tıp, Sosyoloji, Psikoloji, Astronomi, Anatomi, Zooloji, Botanik, Hidroloji…</a:t>
            </a:r>
          </a:p>
          <a:p>
            <a:pPr>
              <a:lnSpc>
                <a:spcPct val="90000"/>
              </a:lnSpc>
            </a:pPr>
            <a:endParaRPr lang="tr-TR" altLang="tr-TR" sz="1000" b="1" dirty="0"/>
          </a:p>
          <a:p>
            <a:pPr>
              <a:lnSpc>
                <a:spcPct val="90000"/>
              </a:lnSpc>
            </a:pPr>
            <a:r>
              <a:rPr lang="tr-TR" altLang="tr-TR" b="1" dirty="0"/>
              <a:t>Bilimlerin Sınıflanışı:</a:t>
            </a:r>
          </a:p>
          <a:p>
            <a:pPr>
              <a:lnSpc>
                <a:spcPct val="90000"/>
              </a:lnSpc>
            </a:pPr>
            <a:r>
              <a:rPr lang="tr-TR" altLang="tr-TR" dirty="0"/>
              <a:t>Temel Bilimler – Uygulamalı Bilimler</a:t>
            </a:r>
          </a:p>
          <a:p>
            <a:pPr>
              <a:lnSpc>
                <a:spcPct val="90000"/>
              </a:lnSpc>
            </a:pPr>
            <a:r>
              <a:rPr lang="tr-TR" altLang="tr-TR" dirty="0"/>
              <a:t>Pozitif Bilimler(</a:t>
            </a:r>
            <a:r>
              <a:rPr lang="tr-TR" dirty="0" err="1"/>
              <a:t>somut,deneysel</a:t>
            </a:r>
            <a:r>
              <a:rPr lang="tr-TR" dirty="0"/>
              <a:t> varlık alanlarını ele alan, kanıtlanabilir konuları inceleyen bilim dalı.) </a:t>
            </a:r>
            <a:r>
              <a:rPr lang="tr-TR" altLang="tr-TR" dirty="0"/>
              <a:t> – Sosyal Bilimler  </a:t>
            </a:r>
          </a:p>
          <a:p>
            <a:pPr>
              <a:lnSpc>
                <a:spcPct val="90000"/>
              </a:lnSpc>
            </a:pPr>
            <a:r>
              <a:rPr lang="tr-TR" altLang="tr-TR" dirty="0"/>
              <a:t>gibi.</a:t>
            </a:r>
          </a:p>
        </p:txBody>
      </p:sp>
    </p:spTree>
    <p:extLst>
      <p:ext uri="{BB962C8B-B14F-4D97-AF65-F5344CB8AC3E}">
        <p14:creationId xmlns:p14="http://schemas.microsoft.com/office/powerpoint/2010/main" val="6767910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p:txBody>
          <a:bodyPr/>
          <a:lstStyle/>
          <a:p>
            <a:r>
              <a:rPr lang="tr-TR" altLang="tr-TR"/>
              <a:t>BİLİM (SCIENCE)</a:t>
            </a:r>
          </a:p>
        </p:txBody>
      </p:sp>
      <p:sp>
        <p:nvSpPr>
          <p:cNvPr id="150531" name="Rectangle 3"/>
          <p:cNvSpPr>
            <a:spLocks noGrp="1" noChangeArrowheads="1"/>
          </p:cNvSpPr>
          <p:nvPr>
            <p:ph type="body" idx="1"/>
          </p:nvPr>
        </p:nvSpPr>
        <p:spPr/>
        <p:txBody>
          <a:bodyPr>
            <a:normAutofit fontScale="92500" lnSpcReduction="20000"/>
          </a:bodyPr>
          <a:lstStyle/>
          <a:p>
            <a:pPr>
              <a:lnSpc>
                <a:spcPct val="90000"/>
              </a:lnSpc>
            </a:pPr>
            <a:r>
              <a:rPr lang="tr-TR" altLang="tr-TR" sz="2200" b="1"/>
              <a:t>Olgu (Fact)</a:t>
            </a:r>
          </a:p>
          <a:p>
            <a:pPr>
              <a:lnSpc>
                <a:spcPct val="90000"/>
              </a:lnSpc>
            </a:pPr>
            <a:r>
              <a:rPr lang="tr-TR" altLang="tr-TR" sz="2200"/>
              <a:t>Gözlenebilir ya da görgül işlemlerle kavranabilir olan ve kendine özgü bir örüntüsü bulunan olaydır.</a:t>
            </a:r>
          </a:p>
          <a:p>
            <a:pPr>
              <a:lnSpc>
                <a:spcPct val="90000"/>
              </a:lnSpc>
            </a:pPr>
            <a:r>
              <a:rPr lang="tr-TR" altLang="tr-TR" sz="2200"/>
              <a:t>Genelde duyularımız aracılığıyla kavrarız; yani görerek, dokunarak, koklayarak, duyarak…</a:t>
            </a:r>
          </a:p>
          <a:p>
            <a:pPr>
              <a:lnSpc>
                <a:spcPct val="90000"/>
              </a:lnSpc>
            </a:pPr>
            <a:r>
              <a:rPr lang="tr-TR" altLang="tr-TR" sz="2200"/>
              <a:t>Çevremizde mevcut olan her şey, çevremizde olan biten her şey, hatta kendimiz de birer olguyuz.</a:t>
            </a:r>
          </a:p>
          <a:p>
            <a:pPr>
              <a:lnSpc>
                <a:spcPct val="90000"/>
              </a:lnSpc>
            </a:pPr>
            <a:r>
              <a:rPr lang="tr-TR" altLang="tr-TR" sz="2200"/>
              <a:t>Olgular doğaları gereğince somutturlar. Bu nedenle “bir isimleri”, “bir adresleri” vardır. Örneğin;</a:t>
            </a:r>
          </a:p>
          <a:p>
            <a:pPr lvl="1">
              <a:lnSpc>
                <a:spcPct val="90000"/>
              </a:lnSpc>
            </a:pPr>
            <a:r>
              <a:rPr lang="tr-TR" altLang="tr-TR"/>
              <a:t>Kocaeli’nin Gebze İlçesi,</a:t>
            </a:r>
          </a:p>
          <a:p>
            <a:pPr lvl="1">
              <a:lnSpc>
                <a:spcPct val="90000"/>
              </a:lnSpc>
            </a:pPr>
            <a:r>
              <a:rPr lang="tr-TR" altLang="tr-TR" sz="2200"/>
              <a:t>Bilim Metodolojisi dersini, şu anda Konferans Salonunda yapıyor oluşumuz, gibi.</a:t>
            </a:r>
          </a:p>
        </p:txBody>
      </p:sp>
    </p:spTree>
    <p:extLst>
      <p:ext uri="{BB962C8B-B14F-4D97-AF65-F5344CB8AC3E}">
        <p14:creationId xmlns:p14="http://schemas.microsoft.com/office/powerpoint/2010/main" val="26386875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ChangeArrowheads="1"/>
          </p:cNvSpPr>
          <p:nvPr>
            <p:ph type="title"/>
          </p:nvPr>
        </p:nvSpPr>
        <p:spPr/>
        <p:txBody>
          <a:bodyPr/>
          <a:lstStyle/>
          <a:p>
            <a:r>
              <a:rPr lang="tr-TR" altLang="tr-TR"/>
              <a:t>BİLİM (SCIENCE)</a:t>
            </a:r>
          </a:p>
        </p:txBody>
      </p:sp>
      <p:sp>
        <p:nvSpPr>
          <p:cNvPr id="166915" name="Rectangle 3"/>
          <p:cNvSpPr>
            <a:spLocks noGrp="1" noChangeArrowheads="1"/>
          </p:cNvSpPr>
          <p:nvPr>
            <p:ph type="body" idx="1"/>
          </p:nvPr>
        </p:nvSpPr>
        <p:spPr/>
        <p:txBody>
          <a:bodyPr/>
          <a:lstStyle/>
          <a:p>
            <a:pPr>
              <a:lnSpc>
                <a:spcPct val="90000"/>
              </a:lnSpc>
            </a:pPr>
            <a:r>
              <a:rPr lang="tr-TR" altLang="tr-TR"/>
              <a:t>Olgular doğaları gereğince somutturlar. Bu nedenle “bir isimleri”, “bir adresleri” vardır. Örneğin;</a:t>
            </a:r>
          </a:p>
          <a:p>
            <a:pPr>
              <a:lnSpc>
                <a:spcPct val="90000"/>
              </a:lnSpc>
            </a:pPr>
            <a:endParaRPr lang="tr-TR" altLang="tr-TR"/>
          </a:p>
          <a:p>
            <a:pPr lvl="1">
              <a:lnSpc>
                <a:spcPct val="90000"/>
              </a:lnSpc>
            </a:pPr>
            <a:r>
              <a:rPr lang="tr-TR" altLang="tr-TR" sz="2800"/>
              <a:t>Kocaeli’nin Gebze İlçesi,</a:t>
            </a:r>
          </a:p>
          <a:p>
            <a:pPr lvl="1">
              <a:lnSpc>
                <a:spcPct val="90000"/>
              </a:lnSpc>
            </a:pPr>
            <a:r>
              <a:rPr lang="tr-TR" altLang="tr-TR" sz="3100"/>
              <a:t>Bilim Metodolojisi dersini, şu anda Konferans Salonunda yapıyor oluşumuz, gibi.</a:t>
            </a:r>
            <a:endParaRPr lang="tr-TR" altLang="tr-TR"/>
          </a:p>
        </p:txBody>
      </p:sp>
    </p:spTree>
    <p:extLst>
      <p:ext uri="{BB962C8B-B14F-4D97-AF65-F5344CB8AC3E}">
        <p14:creationId xmlns:p14="http://schemas.microsoft.com/office/powerpoint/2010/main" val="29683134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ChangeArrowheads="1"/>
          </p:cNvSpPr>
          <p:nvPr>
            <p:ph type="title"/>
          </p:nvPr>
        </p:nvSpPr>
        <p:spPr/>
        <p:txBody>
          <a:bodyPr/>
          <a:lstStyle/>
          <a:p>
            <a:r>
              <a:rPr lang="tr-TR" altLang="tr-TR"/>
              <a:t>BİLİM (SCIENCE)</a:t>
            </a:r>
          </a:p>
        </p:txBody>
      </p:sp>
      <p:sp>
        <p:nvSpPr>
          <p:cNvPr id="167939" name="Rectangle 3"/>
          <p:cNvSpPr>
            <a:spLocks noGrp="1" noChangeArrowheads="1"/>
          </p:cNvSpPr>
          <p:nvPr>
            <p:ph type="body" idx="1"/>
          </p:nvPr>
        </p:nvSpPr>
        <p:spPr>
          <a:xfrm>
            <a:off x="2286000" y="1828800"/>
            <a:ext cx="7696200" cy="4495800"/>
          </a:xfrm>
        </p:spPr>
        <p:txBody>
          <a:bodyPr/>
          <a:lstStyle/>
          <a:p>
            <a:r>
              <a:rPr lang="tr-TR" altLang="tr-TR" sz="2800" b="1"/>
              <a:t>Kavram (Concept)</a:t>
            </a:r>
          </a:p>
          <a:p>
            <a:r>
              <a:rPr lang="tr-TR" altLang="tr-TR" sz="2800"/>
              <a:t>Bir olay, nesne, durum ya da koşula, ayrıtsal özelliklerini birleştirerek kavranabilirlik kazandıran düşünsel bütünlüktür.</a:t>
            </a:r>
          </a:p>
          <a:p>
            <a:r>
              <a:rPr lang="tr-TR" altLang="tr-TR" sz="2800"/>
              <a:t>Kavramlar gerçekte olgular gibi çevremizde mevcut değildir, bunları biz zihnimizde yaratmış durumdayız.</a:t>
            </a:r>
          </a:p>
        </p:txBody>
      </p:sp>
    </p:spTree>
    <p:extLst>
      <p:ext uri="{BB962C8B-B14F-4D97-AF65-F5344CB8AC3E}">
        <p14:creationId xmlns:p14="http://schemas.microsoft.com/office/powerpoint/2010/main" val="26024035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title"/>
          </p:nvPr>
        </p:nvSpPr>
        <p:spPr/>
        <p:txBody>
          <a:bodyPr/>
          <a:lstStyle/>
          <a:p>
            <a:r>
              <a:rPr lang="tr-TR" altLang="tr-TR"/>
              <a:t>BİLİM (SCIENCE)</a:t>
            </a:r>
          </a:p>
        </p:txBody>
      </p:sp>
      <p:sp>
        <p:nvSpPr>
          <p:cNvPr id="153603" name="Rectangle 3"/>
          <p:cNvSpPr>
            <a:spLocks noGrp="1" noChangeArrowheads="1"/>
          </p:cNvSpPr>
          <p:nvPr>
            <p:ph type="body" idx="1"/>
          </p:nvPr>
        </p:nvSpPr>
        <p:spPr>
          <a:xfrm>
            <a:off x="2286000" y="1828800"/>
            <a:ext cx="7696200" cy="4495800"/>
          </a:xfrm>
        </p:spPr>
        <p:txBody>
          <a:bodyPr/>
          <a:lstStyle/>
          <a:p>
            <a:r>
              <a:rPr lang="tr-TR" altLang="tr-TR" sz="2500"/>
              <a:t>Kavramlar, aynı türdeki olguların benzer özelliklerini toparlayan ve özetleyen ve bir soyutlama sonucu üretilmiş sembolik ifadelerdir.</a:t>
            </a:r>
          </a:p>
          <a:p>
            <a:r>
              <a:rPr lang="tr-TR" altLang="tr-TR" sz="2500"/>
              <a:t>Doğası gereğince kavramlar soyutturlar, doğrudan gözlenemezler, ölçütler, araçlar gerekir.</a:t>
            </a:r>
          </a:p>
          <a:p>
            <a:r>
              <a:rPr lang="tr-TR" altLang="tr-TR" sz="2500"/>
              <a:t>Kavramların soyutluk dereceleri aynı değildir. Örneğin “cinsiyet” kavramının soyutluk düzeyi “kişilik” kavramına göre daha düşüktür. Bir kavramın soyutluk düzeyi arttıkça olgular düzeyinde ölçülmesi zorlaşır ve karmaşıklaşır.</a:t>
            </a:r>
          </a:p>
        </p:txBody>
      </p:sp>
    </p:spTree>
    <p:extLst>
      <p:ext uri="{BB962C8B-B14F-4D97-AF65-F5344CB8AC3E}">
        <p14:creationId xmlns:p14="http://schemas.microsoft.com/office/powerpoint/2010/main" val="4067214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a:xfrm>
            <a:off x="2286000" y="533400"/>
            <a:ext cx="7696200" cy="762000"/>
          </a:xfrm>
        </p:spPr>
        <p:txBody>
          <a:bodyPr/>
          <a:lstStyle/>
          <a:p>
            <a:pPr algn="ctr"/>
            <a:r>
              <a:rPr lang="de-DE" altLang="tr-TR" b="1"/>
              <a:t>Olgu</a:t>
            </a:r>
            <a:r>
              <a:rPr lang="tr-TR" altLang="tr-TR" b="1"/>
              <a:t> </a:t>
            </a:r>
            <a:r>
              <a:rPr lang="de-DE" altLang="tr-TR" b="1"/>
              <a:t>-</a:t>
            </a:r>
            <a:r>
              <a:rPr lang="tr-TR" altLang="tr-TR" b="1"/>
              <a:t> </a:t>
            </a:r>
            <a:r>
              <a:rPr lang="de-DE" altLang="tr-TR" b="1"/>
              <a:t>Kavram</a:t>
            </a:r>
            <a:endParaRPr lang="tr-TR" altLang="tr-TR" b="1"/>
          </a:p>
        </p:txBody>
      </p:sp>
      <p:pic>
        <p:nvPicPr>
          <p:cNvPr id="152580" name="Picture 4" descr="j0090386"/>
          <p:cNvPicPr>
            <a:picLocks noGrp="1" noChangeAspect="1" noChangeArrowheads="1"/>
          </p:cNvPicPr>
          <p:nvPr>
            <p:ph sz="quarter" idx="2"/>
          </p:nvPr>
        </p:nvPicPr>
        <p:blipFill>
          <a:blip r:embed="rId2" cstate="print">
            <a:extLst>
              <a:ext uri="{28A0092B-C50C-407E-A947-70E740481C1C}">
                <a14:useLocalDpi xmlns:a14="http://schemas.microsoft.com/office/drawing/2010/main" val="0"/>
              </a:ext>
            </a:extLst>
          </a:blip>
          <a:srcRect/>
          <a:stretch>
            <a:fillRect/>
          </a:stretch>
        </p:blipFill>
        <p:spPr>
          <a:xfrm>
            <a:off x="2362200" y="4840288"/>
            <a:ext cx="1282700" cy="10271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2581" name="Freeform 5"/>
          <p:cNvSpPr>
            <a:spLocks/>
          </p:cNvSpPr>
          <p:nvPr/>
        </p:nvSpPr>
        <p:spPr bwMode="auto">
          <a:xfrm>
            <a:off x="2133601" y="4440239"/>
            <a:ext cx="8012113" cy="306387"/>
          </a:xfrm>
          <a:custGeom>
            <a:avLst/>
            <a:gdLst>
              <a:gd name="T0" fmla="*/ 0 w 5047"/>
              <a:gd name="T1" fmla="*/ 193 h 193"/>
              <a:gd name="T2" fmla="*/ 613 w 5047"/>
              <a:gd name="T3" fmla="*/ 156 h 193"/>
              <a:gd name="T4" fmla="*/ 997 w 5047"/>
              <a:gd name="T5" fmla="*/ 165 h 193"/>
              <a:gd name="T6" fmla="*/ 1371 w 5047"/>
              <a:gd name="T7" fmla="*/ 184 h 193"/>
              <a:gd name="T8" fmla="*/ 1518 w 5047"/>
              <a:gd name="T9" fmla="*/ 156 h 193"/>
              <a:gd name="T10" fmla="*/ 1573 w 5047"/>
              <a:gd name="T11" fmla="*/ 138 h 193"/>
              <a:gd name="T12" fmla="*/ 1627 w 5047"/>
              <a:gd name="T13" fmla="*/ 129 h 193"/>
              <a:gd name="T14" fmla="*/ 1755 w 5047"/>
              <a:gd name="T15" fmla="*/ 101 h 193"/>
              <a:gd name="T16" fmla="*/ 1783 w 5047"/>
              <a:gd name="T17" fmla="*/ 83 h 193"/>
              <a:gd name="T18" fmla="*/ 1838 w 5047"/>
              <a:gd name="T19" fmla="*/ 74 h 193"/>
              <a:gd name="T20" fmla="*/ 2057 w 5047"/>
              <a:gd name="T21" fmla="*/ 110 h 193"/>
              <a:gd name="T22" fmla="*/ 2523 w 5047"/>
              <a:gd name="T23" fmla="*/ 101 h 193"/>
              <a:gd name="T24" fmla="*/ 2697 w 5047"/>
              <a:gd name="T25" fmla="*/ 46 h 193"/>
              <a:gd name="T26" fmla="*/ 2807 w 5047"/>
              <a:gd name="T27" fmla="*/ 1 h 193"/>
              <a:gd name="T28" fmla="*/ 3264 w 5047"/>
              <a:gd name="T29" fmla="*/ 28 h 193"/>
              <a:gd name="T30" fmla="*/ 3493 w 5047"/>
              <a:gd name="T31" fmla="*/ 83 h 193"/>
              <a:gd name="T32" fmla="*/ 3630 w 5047"/>
              <a:gd name="T33" fmla="*/ 46 h 193"/>
              <a:gd name="T34" fmla="*/ 3767 w 5047"/>
              <a:gd name="T35" fmla="*/ 1 h 193"/>
              <a:gd name="T36" fmla="*/ 4617 w 5047"/>
              <a:gd name="T37" fmla="*/ 56 h 193"/>
              <a:gd name="T38" fmla="*/ 4727 w 5047"/>
              <a:gd name="T39" fmla="*/ 74 h 193"/>
              <a:gd name="T40" fmla="*/ 4919 w 5047"/>
              <a:gd name="T41" fmla="*/ 83 h 193"/>
              <a:gd name="T42" fmla="*/ 4946 w 5047"/>
              <a:gd name="T43" fmla="*/ 101 h 193"/>
              <a:gd name="T44" fmla="*/ 5047 w 5047"/>
              <a:gd name="T45" fmla="*/ 11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047" h="193">
                <a:moveTo>
                  <a:pt x="0" y="193"/>
                </a:moveTo>
                <a:cubicBezTo>
                  <a:pt x="258" y="188"/>
                  <a:pt x="393" y="187"/>
                  <a:pt x="613" y="156"/>
                </a:cubicBezTo>
                <a:cubicBezTo>
                  <a:pt x="683" y="109"/>
                  <a:pt x="896" y="158"/>
                  <a:pt x="997" y="165"/>
                </a:cubicBezTo>
                <a:cubicBezTo>
                  <a:pt x="1146" y="193"/>
                  <a:pt x="1200" y="191"/>
                  <a:pt x="1371" y="184"/>
                </a:cubicBezTo>
                <a:cubicBezTo>
                  <a:pt x="1492" y="142"/>
                  <a:pt x="1348" y="187"/>
                  <a:pt x="1518" y="156"/>
                </a:cubicBezTo>
                <a:cubicBezTo>
                  <a:pt x="1537" y="153"/>
                  <a:pt x="1554" y="143"/>
                  <a:pt x="1573" y="138"/>
                </a:cubicBezTo>
                <a:cubicBezTo>
                  <a:pt x="1591" y="134"/>
                  <a:pt x="1609" y="132"/>
                  <a:pt x="1627" y="129"/>
                </a:cubicBezTo>
                <a:cubicBezTo>
                  <a:pt x="1747" y="80"/>
                  <a:pt x="1577" y="145"/>
                  <a:pt x="1755" y="101"/>
                </a:cubicBezTo>
                <a:cubicBezTo>
                  <a:pt x="1766" y="98"/>
                  <a:pt x="1772" y="86"/>
                  <a:pt x="1783" y="83"/>
                </a:cubicBezTo>
                <a:cubicBezTo>
                  <a:pt x="1801" y="77"/>
                  <a:pt x="1820" y="77"/>
                  <a:pt x="1838" y="74"/>
                </a:cubicBezTo>
                <a:cubicBezTo>
                  <a:pt x="1913" y="82"/>
                  <a:pt x="1982" y="101"/>
                  <a:pt x="2057" y="110"/>
                </a:cubicBezTo>
                <a:cubicBezTo>
                  <a:pt x="2206" y="162"/>
                  <a:pt x="2368" y="115"/>
                  <a:pt x="2523" y="101"/>
                </a:cubicBezTo>
                <a:cubicBezTo>
                  <a:pt x="2582" y="82"/>
                  <a:pt x="2637" y="57"/>
                  <a:pt x="2697" y="46"/>
                </a:cubicBezTo>
                <a:cubicBezTo>
                  <a:pt x="2736" y="31"/>
                  <a:pt x="2772" y="23"/>
                  <a:pt x="2807" y="1"/>
                </a:cubicBezTo>
                <a:cubicBezTo>
                  <a:pt x="2959" y="8"/>
                  <a:pt x="3114" y="0"/>
                  <a:pt x="3264" y="28"/>
                </a:cubicBezTo>
                <a:cubicBezTo>
                  <a:pt x="3341" y="42"/>
                  <a:pt x="3415" y="70"/>
                  <a:pt x="3493" y="83"/>
                </a:cubicBezTo>
                <a:cubicBezTo>
                  <a:pt x="3545" y="73"/>
                  <a:pt x="3575" y="55"/>
                  <a:pt x="3630" y="46"/>
                </a:cubicBezTo>
                <a:cubicBezTo>
                  <a:pt x="3675" y="28"/>
                  <a:pt x="3721" y="16"/>
                  <a:pt x="3767" y="1"/>
                </a:cubicBezTo>
                <a:cubicBezTo>
                  <a:pt x="4051" y="17"/>
                  <a:pt x="4333" y="46"/>
                  <a:pt x="4617" y="56"/>
                </a:cubicBezTo>
                <a:cubicBezTo>
                  <a:pt x="4654" y="62"/>
                  <a:pt x="4690" y="71"/>
                  <a:pt x="4727" y="74"/>
                </a:cubicBezTo>
                <a:cubicBezTo>
                  <a:pt x="4791" y="80"/>
                  <a:pt x="4855" y="75"/>
                  <a:pt x="4919" y="83"/>
                </a:cubicBezTo>
                <a:cubicBezTo>
                  <a:pt x="4930" y="84"/>
                  <a:pt x="4936" y="97"/>
                  <a:pt x="4946" y="101"/>
                </a:cubicBezTo>
                <a:cubicBezTo>
                  <a:pt x="4980" y="114"/>
                  <a:pt x="5012" y="110"/>
                  <a:pt x="5047" y="110"/>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pic>
        <p:nvPicPr>
          <p:cNvPr id="152582" name="Picture 6" descr="j0236251"/>
          <p:cNvPicPr>
            <a:picLocks noGrp="1" noChangeAspect="1" noChangeArrowheads="1" noCrop="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6456364" y="4868863"/>
            <a:ext cx="1368425" cy="12684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52583" name="Picture 7" descr="j0283516"/>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4224339" y="4797425"/>
            <a:ext cx="1914525" cy="1220788"/>
          </a:xfrm>
          <a:prstGeom prst="rect">
            <a:avLst/>
          </a:prstGeom>
          <a:noFill/>
          <a:extLst>
            <a:ext uri="{909E8E84-426E-40DD-AFC4-6F175D3DCCD1}">
              <a14:hiddenFill xmlns:a14="http://schemas.microsoft.com/office/drawing/2010/main">
                <a:solidFill>
                  <a:srgbClr val="FFFFFF"/>
                </a:solidFill>
              </a14:hiddenFill>
            </a:ext>
          </a:extLst>
        </p:spPr>
      </p:pic>
      <p:pic>
        <p:nvPicPr>
          <p:cNvPr id="152584" name="Picture 8" descr="j018560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04289" y="5084764"/>
            <a:ext cx="922337" cy="923925"/>
          </a:xfrm>
          <a:prstGeom prst="rect">
            <a:avLst/>
          </a:prstGeom>
          <a:noFill/>
          <a:extLst>
            <a:ext uri="{909E8E84-426E-40DD-AFC4-6F175D3DCCD1}">
              <a14:hiddenFill xmlns:a14="http://schemas.microsoft.com/office/drawing/2010/main">
                <a:solidFill>
                  <a:srgbClr val="FFFFFF"/>
                </a:solidFill>
              </a14:hiddenFill>
            </a:ext>
          </a:extLst>
        </p:spPr>
      </p:pic>
      <p:sp>
        <p:nvSpPr>
          <p:cNvPr id="152585" name="Oval 9"/>
          <p:cNvSpPr>
            <a:spLocks noChangeArrowheads="1"/>
          </p:cNvSpPr>
          <p:nvPr/>
        </p:nvSpPr>
        <p:spPr bwMode="auto">
          <a:xfrm>
            <a:off x="5230814" y="2852738"/>
            <a:ext cx="1728787" cy="576262"/>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tr-TR"/>
          </a:p>
        </p:txBody>
      </p:sp>
      <p:sp>
        <p:nvSpPr>
          <p:cNvPr id="152586" name="Text Box 10"/>
          <p:cNvSpPr txBox="1">
            <a:spLocks noChangeArrowheads="1"/>
          </p:cNvSpPr>
          <p:nvPr/>
        </p:nvSpPr>
        <p:spPr bwMode="auto">
          <a:xfrm>
            <a:off x="5556250" y="2909888"/>
            <a:ext cx="10795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tr-TR" altLang="tr-TR" sz="2800" b="1">
                <a:solidFill>
                  <a:srgbClr val="000000"/>
                </a:solidFill>
              </a:rPr>
              <a:t>Ev</a:t>
            </a:r>
          </a:p>
        </p:txBody>
      </p:sp>
      <p:sp>
        <p:nvSpPr>
          <p:cNvPr id="152587" name="Line 11"/>
          <p:cNvSpPr>
            <a:spLocks noChangeShapeType="1"/>
          </p:cNvSpPr>
          <p:nvPr/>
        </p:nvSpPr>
        <p:spPr bwMode="auto">
          <a:xfrm flipV="1">
            <a:off x="3143250" y="3500439"/>
            <a:ext cx="1296988" cy="13684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sp>
        <p:nvSpPr>
          <p:cNvPr id="152588" name="Line 12"/>
          <p:cNvSpPr>
            <a:spLocks noChangeShapeType="1"/>
          </p:cNvSpPr>
          <p:nvPr/>
        </p:nvSpPr>
        <p:spPr bwMode="auto">
          <a:xfrm flipH="1" flipV="1">
            <a:off x="4876800" y="3581400"/>
            <a:ext cx="431800" cy="15128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sp>
        <p:nvSpPr>
          <p:cNvPr id="152589" name="Line 13"/>
          <p:cNvSpPr>
            <a:spLocks noChangeShapeType="1"/>
          </p:cNvSpPr>
          <p:nvPr/>
        </p:nvSpPr>
        <p:spPr bwMode="auto">
          <a:xfrm flipH="1" flipV="1">
            <a:off x="5410201" y="3429000"/>
            <a:ext cx="1800225" cy="15128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sp>
        <p:nvSpPr>
          <p:cNvPr id="152590" name="Line 14"/>
          <p:cNvSpPr>
            <a:spLocks noChangeShapeType="1"/>
          </p:cNvSpPr>
          <p:nvPr/>
        </p:nvSpPr>
        <p:spPr bwMode="auto">
          <a:xfrm flipH="1" flipV="1">
            <a:off x="6553200" y="3657601"/>
            <a:ext cx="2952750" cy="13684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tr-TR"/>
          </a:p>
        </p:txBody>
      </p:sp>
      <p:sp>
        <p:nvSpPr>
          <p:cNvPr id="152591" name="Text Box 15"/>
          <p:cNvSpPr txBox="1">
            <a:spLocks noChangeArrowheads="1"/>
          </p:cNvSpPr>
          <p:nvPr/>
        </p:nvSpPr>
        <p:spPr bwMode="auto">
          <a:xfrm>
            <a:off x="2135189" y="6019800"/>
            <a:ext cx="172878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tr-TR" altLang="tr-TR"/>
              <a:t>Ahmet Beyin Villası</a:t>
            </a:r>
          </a:p>
        </p:txBody>
      </p:sp>
      <p:sp>
        <p:nvSpPr>
          <p:cNvPr id="152592" name="Text Box 16"/>
          <p:cNvSpPr txBox="1">
            <a:spLocks noChangeArrowheads="1"/>
          </p:cNvSpPr>
          <p:nvPr/>
        </p:nvSpPr>
        <p:spPr bwMode="auto">
          <a:xfrm>
            <a:off x="4224339" y="6019800"/>
            <a:ext cx="22320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tr-TR" altLang="tr-TR"/>
              <a:t>Ayşe Hanımın gecekondusu</a:t>
            </a:r>
          </a:p>
        </p:txBody>
      </p:sp>
      <p:sp>
        <p:nvSpPr>
          <p:cNvPr id="152593" name="Text Box 17"/>
          <p:cNvSpPr txBox="1">
            <a:spLocks noChangeArrowheads="1"/>
          </p:cNvSpPr>
          <p:nvPr/>
        </p:nvSpPr>
        <p:spPr bwMode="auto">
          <a:xfrm>
            <a:off x="6527801" y="6216650"/>
            <a:ext cx="18716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tr-TR" altLang="tr-TR"/>
              <a:t>Ali’nin apartman dairesi</a:t>
            </a:r>
          </a:p>
        </p:txBody>
      </p:sp>
      <p:sp>
        <p:nvSpPr>
          <p:cNvPr id="152594" name="Text Box 18"/>
          <p:cNvSpPr txBox="1">
            <a:spLocks noChangeArrowheads="1"/>
          </p:cNvSpPr>
          <p:nvPr/>
        </p:nvSpPr>
        <p:spPr bwMode="auto">
          <a:xfrm>
            <a:off x="8688389" y="6237288"/>
            <a:ext cx="17287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tr-TR" altLang="tr-TR">
                <a:solidFill>
                  <a:srgbClr val="000000"/>
                </a:solidFill>
              </a:rPr>
              <a:t>Mehmet’in evi</a:t>
            </a:r>
          </a:p>
        </p:txBody>
      </p:sp>
      <p:sp>
        <p:nvSpPr>
          <p:cNvPr id="152595" name="Text Box 19"/>
          <p:cNvSpPr txBox="1">
            <a:spLocks noChangeArrowheads="1"/>
          </p:cNvSpPr>
          <p:nvPr/>
        </p:nvSpPr>
        <p:spPr bwMode="auto">
          <a:xfrm>
            <a:off x="1752600" y="1828801"/>
            <a:ext cx="395288" cy="2563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tr-TR" altLang="tr-TR" b="1"/>
              <a:t>KAVRAMLAR</a:t>
            </a:r>
          </a:p>
        </p:txBody>
      </p:sp>
      <p:sp>
        <p:nvSpPr>
          <p:cNvPr id="152596" name="Text Box 20"/>
          <p:cNvSpPr txBox="1">
            <a:spLocks noChangeArrowheads="1"/>
          </p:cNvSpPr>
          <p:nvPr/>
        </p:nvSpPr>
        <p:spPr bwMode="auto">
          <a:xfrm>
            <a:off x="1752600" y="4843464"/>
            <a:ext cx="395288" cy="2014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tr-TR" altLang="tr-TR" b="1"/>
              <a:t>OLGULAR</a:t>
            </a:r>
          </a:p>
        </p:txBody>
      </p:sp>
    </p:spTree>
    <p:extLst>
      <p:ext uri="{BB962C8B-B14F-4D97-AF65-F5344CB8AC3E}">
        <p14:creationId xmlns:p14="http://schemas.microsoft.com/office/powerpoint/2010/main" val="41765926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p:txBody>
          <a:bodyPr/>
          <a:lstStyle/>
          <a:p>
            <a:r>
              <a:rPr lang="tr-TR" altLang="tr-TR"/>
              <a:t>BİLİM (SCIENCE)</a:t>
            </a:r>
          </a:p>
        </p:txBody>
      </p:sp>
      <p:sp>
        <p:nvSpPr>
          <p:cNvPr id="154627" name="Rectangle 3"/>
          <p:cNvSpPr>
            <a:spLocks noGrp="1" noChangeArrowheads="1"/>
          </p:cNvSpPr>
          <p:nvPr>
            <p:ph type="body" idx="1"/>
          </p:nvPr>
        </p:nvSpPr>
        <p:spPr>
          <a:xfrm>
            <a:off x="2286000" y="1828800"/>
            <a:ext cx="7696200" cy="4495800"/>
          </a:xfrm>
        </p:spPr>
        <p:txBody>
          <a:bodyPr/>
          <a:lstStyle/>
          <a:p>
            <a:pPr>
              <a:lnSpc>
                <a:spcPct val="90000"/>
              </a:lnSpc>
            </a:pPr>
            <a:r>
              <a:rPr lang="tr-TR" altLang="tr-TR" sz="2800" b="1"/>
              <a:t>Bilimsel yasa (Law)</a:t>
            </a:r>
          </a:p>
          <a:p>
            <a:pPr>
              <a:lnSpc>
                <a:spcPct val="90000"/>
              </a:lnSpc>
            </a:pPr>
            <a:r>
              <a:rPr lang="tr-TR" altLang="tr-TR" sz="2800"/>
              <a:t>Her bağlamda geçerli olan ve çıkarımları geçerlendiği için belli bir güvenirlik düzeyine ulaşmış nedensel ilişkilerdir.</a:t>
            </a:r>
          </a:p>
          <a:p>
            <a:pPr>
              <a:lnSpc>
                <a:spcPct val="90000"/>
              </a:lnSpc>
              <a:buFont typeface="Wingdings" panose="05000000000000000000" pitchFamily="2" charset="2"/>
              <a:buNone/>
            </a:pPr>
            <a:r>
              <a:rPr lang="tr-TR" altLang="tr-TR" sz="2800" b="1"/>
              <a:t>Hipotez (Denence) (Hypothesis)</a:t>
            </a:r>
          </a:p>
          <a:p>
            <a:pPr>
              <a:lnSpc>
                <a:spcPct val="90000"/>
              </a:lnSpc>
            </a:pPr>
            <a:r>
              <a:rPr lang="tr-TR" altLang="tr-TR" sz="2800"/>
              <a:t>Bir araştırma sürecinde olgular düzeyinde doğruluğu sınanmak üzere geliştirilmiş olan denemelik iddialardır. Bu kavram ileriki derslerde daha detaylı ele alınacaktır.</a:t>
            </a:r>
          </a:p>
          <a:p>
            <a:pPr>
              <a:lnSpc>
                <a:spcPct val="90000"/>
              </a:lnSpc>
            </a:pPr>
            <a:r>
              <a:rPr lang="tr-TR" altLang="tr-TR" sz="2200"/>
              <a:t>’eğer ......... ise ........ ‘dır.’’</a:t>
            </a:r>
            <a:endParaRPr lang="tr-TR" altLang="tr-TR" sz="2800"/>
          </a:p>
        </p:txBody>
      </p:sp>
    </p:spTree>
    <p:extLst>
      <p:ext uri="{BB962C8B-B14F-4D97-AF65-F5344CB8AC3E}">
        <p14:creationId xmlns:p14="http://schemas.microsoft.com/office/powerpoint/2010/main" val="233309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title"/>
          </p:nvPr>
        </p:nvSpPr>
        <p:spPr/>
        <p:txBody>
          <a:bodyPr/>
          <a:lstStyle/>
          <a:p>
            <a:r>
              <a:rPr lang="tr-TR" altLang="tr-TR"/>
              <a:t>BİLİM (SCIENCE)</a:t>
            </a:r>
          </a:p>
        </p:txBody>
      </p:sp>
      <p:sp>
        <p:nvSpPr>
          <p:cNvPr id="162819" name="Rectangle 3"/>
          <p:cNvSpPr>
            <a:spLocks noGrp="1" noChangeArrowheads="1"/>
          </p:cNvSpPr>
          <p:nvPr>
            <p:ph type="body" idx="1"/>
          </p:nvPr>
        </p:nvSpPr>
        <p:spPr>
          <a:xfrm>
            <a:off x="2247900" y="1905000"/>
            <a:ext cx="7696200" cy="4343400"/>
          </a:xfrm>
        </p:spPr>
        <p:txBody>
          <a:bodyPr/>
          <a:lstStyle/>
          <a:p>
            <a:pPr>
              <a:lnSpc>
                <a:spcPct val="80000"/>
              </a:lnSpc>
            </a:pPr>
            <a:r>
              <a:rPr lang="tr-TR" altLang="tr-TR" sz="2800" b="1" dirty="0"/>
              <a:t>Varsayım (</a:t>
            </a:r>
            <a:r>
              <a:rPr lang="tr-TR" altLang="tr-TR" sz="2800" b="1" dirty="0" err="1"/>
              <a:t>Assumption</a:t>
            </a:r>
            <a:r>
              <a:rPr lang="tr-TR" altLang="tr-TR" sz="2800" b="1" dirty="0"/>
              <a:t>)</a:t>
            </a:r>
          </a:p>
          <a:p>
            <a:pPr>
              <a:lnSpc>
                <a:spcPct val="80000"/>
              </a:lnSpc>
              <a:buFont typeface="Wingdings" panose="05000000000000000000" pitchFamily="2" charset="2"/>
              <a:buNone/>
            </a:pPr>
            <a:endParaRPr lang="tr-TR" altLang="tr-TR" sz="2800" b="1" dirty="0"/>
          </a:p>
          <a:p>
            <a:pPr>
              <a:lnSpc>
                <a:spcPct val="80000"/>
              </a:lnSpc>
            </a:pPr>
            <a:r>
              <a:rPr lang="tr-TR" altLang="tr-TR" sz="2800" dirty="0"/>
              <a:t>Bir araştırma sürecinde olgular düzeyinde doğruluğunu sınamadan geçerli saydığımız durumlar; örneğin  araştırma yaparak ortadan kaldırmak istediğimiz bilimsel bilgi eksikliğine verdiğimiz önem,</a:t>
            </a:r>
          </a:p>
        </p:txBody>
      </p:sp>
    </p:spTree>
    <p:extLst>
      <p:ext uri="{BB962C8B-B14F-4D97-AF65-F5344CB8AC3E}">
        <p14:creationId xmlns:p14="http://schemas.microsoft.com/office/powerpoint/2010/main" val="834680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p:txBody>
          <a:bodyPr/>
          <a:lstStyle/>
          <a:p>
            <a:r>
              <a:rPr lang="tr-TR" altLang="tr-TR"/>
              <a:t>BİLİM (SCIENCE)</a:t>
            </a:r>
          </a:p>
        </p:txBody>
      </p:sp>
      <p:sp>
        <p:nvSpPr>
          <p:cNvPr id="156675" name="Rectangle 3"/>
          <p:cNvSpPr>
            <a:spLocks noGrp="1" noChangeArrowheads="1"/>
          </p:cNvSpPr>
          <p:nvPr>
            <p:ph type="body" idx="1"/>
          </p:nvPr>
        </p:nvSpPr>
        <p:spPr>
          <a:xfrm>
            <a:off x="2286000" y="1905000"/>
            <a:ext cx="7696200" cy="4343400"/>
          </a:xfrm>
        </p:spPr>
        <p:txBody>
          <a:bodyPr/>
          <a:lstStyle/>
          <a:p>
            <a:pPr>
              <a:lnSpc>
                <a:spcPct val="80000"/>
              </a:lnSpc>
            </a:pPr>
            <a:r>
              <a:rPr lang="tr-TR" altLang="tr-TR" sz="3200"/>
              <a:t>Araştırmamızda bir ya da birkaç teoriyi geçerli olduğuna inanarak tercih etmemiz,</a:t>
            </a:r>
          </a:p>
          <a:p>
            <a:pPr>
              <a:lnSpc>
                <a:spcPct val="80000"/>
              </a:lnSpc>
            </a:pPr>
            <a:r>
              <a:rPr lang="tr-TR" altLang="tr-TR" sz="3200"/>
              <a:t>Geliştirdiğimiz ölçme aracının geçerli ve güvenilir bir ölçme yaptığı inancında olmamız vs.</a:t>
            </a:r>
          </a:p>
          <a:p>
            <a:pPr>
              <a:lnSpc>
                <a:spcPct val="80000"/>
              </a:lnSpc>
            </a:pPr>
            <a:r>
              <a:rPr lang="tr-TR" altLang="tr-TR" sz="3200"/>
              <a:t>Araştırmacılar varsayımlarını araştırma raporlarında özel olarak belirtmek zorundadırlar.</a:t>
            </a:r>
          </a:p>
        </p:txBody>
      </p:sp>
    </p:spTree>
    <p:extLst>
      <p:ext uri="{BB962C8B-B14F-4D97-AF65-F5344CB8AC3E}">
        <p14:creationId xmlns:p14="http://schemas.microsoft.com/office/powerpoint/2010/main" val="23525710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p:txBody>
          <a:bodyPr/>
          <a:lstStyle/>
          <a:p>
            <a:r>
              <a:rPr lang="tr-TR" altLang="tr-TR"/>
              <a:t>BİLİM (SCIENCE)</a:t>
            </a:r>
          </a:p>
        </p:txBody>
      </p:sp>
      <p:sp>
        <p:nvSpPr>
          <p:cNvPr id="164867" name="Rectangle 3"/>
          <p:cNvSpPr>
            <a:spLocks noGrp="1" noChangeArrowheads="1"/>
          </p:cNvSpPr>
          <p:nvPr>
            <p:ph type="body" idx="1"/>
          </p:nvPr>
        </p:nvSpPr>
        <p:spPr>
          <a:xfrm>
            <a:off x="2286000" y="1828800"/>
            <a:ext cx="7696200" cy="4419600"/>
          </a:xfrm>
        </p:spPr>
        <p:txBody>
          <a:bodyPr/>
          <a:lstStyle/>
          <a:p>
            <a:r>
              <a:rPr lang="tr-TR" altLang="tr-TR" b="1"/>
              <a:t>Teori (Kuram) (Theory)</a:t>
            </a:r>
          </a:p>
          <a:p>
            <a:r>
              <a:rPr lang="tr-TR" altLang="tr-TR"/>
              <a:t>Bilimsel bilgilerden türetilen ve gerçeklenmeye açık olmakla birlikte henüz [tümüyle] gerçeklenmemiş olan bilgiler dizisidir. </a:t>
            </a:r>
          </a:p>
          <a:p>
            <a:r>
              <a:rPr lang="tr-TR" altLang="tr-TR"/>
              <a:t>Gözlem ile deneysel sonucu birbirine bağlayan teoridir.</a:t>
            </a:r>
          </a:p>
        </p:txBody>
      </p:sp>
    </p:spTree>
    <p:extLst>
      <p:ext uri="{BB962C8B-B14F-4D97-AF65-F5344CB8AC3E}">
        <p14:creationId xmlns:p14="http://schemas.microsoft.com/office/powerpoint/2010/main" val="2772877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p:txBody>
          <a:bodyPr/>
          <a:lstStyle/>
          <a:p>
            <a:r>
              <a:rPr lang="tr-TR" altLang="tr-TR"/>
              <a:t>BİLİM (SCIENCE)</a:t>
            </a:r>
          </a:p>
        </p:txBody>
      </p:sp>
      <p:sp>
        <p:nvSpPr>
          <p:cNvPr id="157699" name="Rectangle 3"/>
          <p:cNvSpPr>
            <a:spLocks noGrp="1" noChangeArrowheads="1"/>
          </p:cNvSpPr>
          <p:nvPr>
            <p:ph type="body" idx="1"/>
          </p:nvPr>
        </p:nvSpPr>
        <p:spPr>
          <a:xfrm>
            <a:off x="2286000" y="1828800"/>
            <a:ext cx="7696200" cy="4419600"/>
          </a:xfrm>
        </p:spPr>
        <p:txBody>
          <a:bodyPr/>
          <a:lstStyle/>
          <a:p>
            <a:r>
              <a:rPr lang="tr-TR" altLang="tr-TR" sz="3200" dirty="0"/>
              <a:t>Örneğin:</a:t>
            </a:r>
          </a:p>
          <a:p>
            <a:pPr lvl="1">
              <a:buFontTx/>
              <a:buChar char="-"/>
            </a:pPr>
            <a:r>
              <a:rPr lang="tr-TR" altLang="tr-TR" sz="3200" dirty="0"/>
              <a:t>Freud’un </a:t>
            </a:r>
            <a:r>
              <a:rPr lang="tr-TR" altLang="tr-TR" sz="3200" dirty="0" err="1"/>
              <a:t>Psikoanalitik</a:t>
            </a:r>
            <a:r>
              <a:rPr lang="tr-TR" altLang="tr-TR" sz="3200" dirty="0"/>
              <a:t> Kuramı</a:t>
            </a:r>
          </a:p>
          <a:p>
            <a:pPr lvl="1">
              <a:buFontTx/>
              <a:buChar char="-"/>
            </a:pPr>
            <a:r>
              <a:rPr lang="tr-TR" altLang="tr-TR" sz="3200" dirty="0" err="1"/>
              <a:t>Marx’ın</a:t>
            </a:r>
            <a:r>
              <a:rPr lang="tr-TR" altLang="tr-TR" sz="3200" dirty="0"/>
              <a:t> Diyalektik Materyalizm Kuramı</a:t>
            </a:r>
          </a:p>
          <a:p>
            <a:pPr lvl="1">
              <a:buFontTx/>
              <a:buChar char="-"/>
            </a:pPr>
            <a:r>
              <a:rPr lang="tr-TR" altLang="tr-TR" sz="3200" dirty="0" err="1"/>
              <a:t>Einstein’in</a:t>
            </a:r>
            <a:r>
              <a:rPr lang="tr-TR" altLang="tr-TR" sz="3200" dirty="0"/>
              <a:t> İzafiyet Kuramı </a:t>
            </a:r>
          </a:p>
          <a:p>
            <a:r>
              <a:rPr lang="tr-TR" altLang="tr-TR" sz="3200" dirty="0"/>
              <a:t>Teoriler, çürütülerek terk edilirler.</a:t>
            </a:r>
          </a:p>
        </p:txBody>
      </p:sp>
    </p:spTree>
    <p:extLst>
      <p:ext uri="{BB962C8B-B14F-4D97-AF65-F5344CB8AC3E}">
        <p14:creationId xmlns:p14="http://schemas.microsoft.com/office/powerpoint/2010/main" val="27559015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359145" y="1351534"/>
            <a:ext cx="1067435" cy="625475"/>
          </a:xfrm>
          <a:prstGeom prst="rect">
            <a:avLst/>
          </a:prstGeom>
        </p:spPr>
        <p:txBody>
          <a:bodyPr vert="horz" wrap="square" lIns="0" tIns="33655" rIns="0" bIns="0" rtlCol="0">
            <a:spAutoFit/>
          </a:bodyPr>
          <a:lstStyle/>
          <a:p>
            <a:pPr marL="12700" marR="5080" indent="-2540" algn="ctr">
              <a:lnSpc>
                <a:spcPct val="90400"/>
              </a:lnSpc>
              <a:spcBef>
                <a:spcPts val="265"/>
              </a:spcBef>
            </a:pPr>
            <a:r>
              <a:rPr sz="1400" b="1" spc="15" dirty="0">
                <a:latin typeface="Times New Roman"/>
                <a:cs typeface="Times New Roman"/>
              </a:rPr>
              <a:t>Araştırma  </a:t>
            </a:r>
            <a:r>
              <a:rPr sz="1400" b="1" spc="50" dirty="0">
                <a:latin typeface="Times New Roman"/>
                <a:cs typeface="Times New Roman"/>
              </a:rPr>
              <a:t>Sorununun  </a:t>
            </a:r>
            <a:r>
              <a:rPr sz="1400" b="1" spc="40" dirty="0">
                <a:latin typeface="Times New Roman"/>
                <a:cs typeface="Times New Roman"/>
              </a:rPr>
              <a:t>Be</a:t>
            </a:r>
            <a:r>
              <a:rPr sz="1400" b="1" spc="20" dirty="0">
                <a:latin typeface="Times New Roman"/>
                <a:cs typeface="Times New Roman"/>
              </a:rPr>
              <a:t>li</a:t>
            </a:r>
            <a:r>
              <a:rPr sz="1400" b="1" spc="40" dirty="0">
                <a:latin typeface="Times New Roman"/>
                <a:cs typeface="Times New Roman"/>
              </a:rPr>
              <a:t>r</a:t>
            </a:r>
            <a:r>
              <a:rPr sz="1400" b="1" spc="60" dirty="0">
                <a:latin typeface="Times New Roman"/>
                <a:cs typeface="Times New Roman"/>
              </a:rPr>
              <a:t>l</a:t>
            </a:r>
            <a:r>
              <a:rPr sz="1400" b="1" spc="100" dirty="0">
                <a:latin typeface="Times New Roman"/>
                <a:cs typeface="Times New Roman"/>
              </a:rPr>
              <a:t>e</a:t>
            </a:r>
            <a:r>
              <a:rPr sz="1400" b="1" spc="65" dirty="0">
                <a:latin typeface="Times New Roman"/>
                <a:cs typeface="Times New Roman"/>
              </a:rPr>
              <a:t>n</a:t>
            </a:r>
            <a:r>
              <a:rPr sz="1400" b="1" spc="100" dirty="0">
                <a:latin typeface="Times New Roman"/>
                <a:cs typeface="Times New Roman"/>
              </a:rPr>
              <a:t>m</a:t>
            </a:r>
            <a:r>
              <a:rPr sz="1400" b="1" spc="55" dirty="0">
                <a:latin typeface="Times New Roman"/>
                <a:cs typeface="Times New Roman"/>
              </a:rPr>
              <a:t>e</a:t>
            </a:r>
            <a:r>
              <a:rPr sz="1400" b="1" spc="75" dirty="0">
                <a:latin typeface="Times New Roman"/>
                <a:cs typeface="Times New Roman"/>
              </a:rPr>
              <a:t>si</a:t>
            </a:r>
            <a:endParaRPr sz="1400" dirty="0">
              <a:latin typeface="Times New Roman"/>
              <a:cs typeface="Times New Roman"/>
            </a:endParaRPr>
          </a:p>
        </p:txBody>
      </p:sp>
      <p:sp>
        <p:nvSpPr>
          <p:cNvPr id="3" name="object 3"/>
          <p:cNvSpPr/>
          <p:nvPr/>
        </p:nvSpPr>
        <p:spPr>
          <a:xfrm>
            <a:off x="7424928" y="2066545"/>
            <a:ext cx="706386" cy="738377"/>
          </a:xfrm>
          <a:prstGeom prst="rect">
            <a:avLst/>
          </a:prstGeom>
          <a:blipFill>
            <a:blip r:embed="rId2" cstate="print">
              <a:duotone>
                <a:schemeClr val="accent2">
                  <a:shade val="45000"/>
                  <a:satMod val="135000"/>
                </a:schemeClr>
                <a:prstClr val="white"/>
              </a:duotone>
            </a:blip>
            <a:stretch>
              <a:fillRect/>
            </a:stretch>
          </a:blip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square" lIns="0" tIns="0" rIns="0" bIns="0" rtlCol="0"/>
          <a:lstStyle/>
          <a:p>
            <a:endParaRPr/>
          </a:p>
        </p:txBody>
      </p:sp>
      <p:sp>
        <p:nvSpPr>
          <p:cNvPr id="4" name="object 4"/>
          <p:cNvSpPr txBox="1"/>
          <p:nvPr/>
        </p:nvSpPr>
        <p:spPr>
          <a:xfrm>
            <a:off x="7333615" y="2853309"/>
            <a:ext cx="1612900" cy="625475"/>
          </a:xfrm>
          <a:prstGeom prst="rect">
            <a:avLst/>
          </a:prstGeom>
        </p:spPr>
        <p:txBody>
          <a:bodyPr vert="horz" wrap="square" lIns="0" tIns="37465" rIns="0" bIns="0" rtlCol="0">
            <a:spAutoFit/>
          </a:bodyPr>
          <a:lstStyle/>
          <a:p>
            <a:pPr marL="12700" marR="5080" algn="ctr">
              <a:lnSpc>
                <a:spcPts val="1510"/>
              </a:lnSpc>
              <a:spcBef>
                <a:spcPts val="295"/>
              </a:spcBef>
            </a:pPr>
            <a:r>
              <a:rPr sz="1400" b="1" spc="40" dirty="0">
                <a:latin typeface="Times New Roman"/>
                <a:cs typeface="Times New Roman"/>
              </a:rPr>
              <a:t>Veri</a:t>
            </a:r>
            <a:r>
              <a:rPr sz="1400" b="1" spc="-105" dirty="0">
                <a:latin typeface="Times New Roman"/>
                <a:cs typeface="Times New Roman"/>
              </a:rPr>
              <a:t> </a:t>
            </a:r>
            <a:r>
              <a:rPr sz="1400" b="1" spc="40" dirty="0">
                <a:latin typeface="Times New Roman"/>
                <a:cs typeface="Times New Roman"/>
              </a:rPr>
              <a:t>Kaynaklarının  </a:t>
            </a:r>
            <a:r>
              <a:rPr sz="1400" b="1" spc="70" dirty="0">
                <a:latin typeface="Times New Roman"/>
                <a:cs typeface="Times New Roman"/>
              </a:rPr>
              <a:t>Seçilmesi</a:t>
            </a:r>
            <a:r>
              <a:rPr sz="1400" b="1" spc="-40" dirty="0">
                <a:latin typeface="Times New Roman"/>
                <a:cs typeface="Times New Roman"/>
              </a:rPr>
              <a:t> </a:t>
            </a:r>
            <a:r>
              <a:rPr sz="1400" b="1" spc="75" dirty="0">
                <a:latin typeface="Times New Roman"/>
                <a:cs typeface="Times New Roman"/>
              </a:rPr>
              <a:t>ve</a:t>
            </a:r>
            <a:endParaRPr sz="1400">
              <a:latin typeface="Times New Roman"/>
              <a:cs typeface="Times New Roman"/>
            </a:endParaRPr>
          </a:p>
          <a:p>
            <a:pPr marL="1270" algn="ctr">
              <a:lnSpc>
                <a:spcPts val="1505"/>
              </a:lnSpc>
            </a:pPr>
            <a:r>
              <a:rPr sz="1400" b="1" spc="35" dirty="0">
                <a:latin typeface="Times New Roman"/>
                <a:cs typeface="Times New Roman"/>
              </a:rPr>
              <a:t>Yorumlanması</a:t>
            </a:r>
            <a:endParaRPr sz="1400">
              <a:latin typeface="Times New Roman"/>
              <a:cs typeface="Times New Roman"/>
            </a:endParaRPr>
          </a:p>
        </p:txBody>
      </p:sp>
      <p:sp>
        <p:nvSpPr>
          <p:cNvPr id="5" name="object 5"/>
          <p:cNvSpPr/>
          <p:nvPr/>
        </p:nvSpPr>
        <p:spPr>
          <a:xfrm>
            <a:off x="7795259" y="3621024"/>
            <a:ext cx="528078" cy="1043177"/>
          </a:xfrm>
          <a:prstGeom prst="rect">
            <a:avLst/>
          </a:prstGeom>
          <a:blipFill>
            <a:blip r:embed="rId3" cstate="print">
              <a:duotone>
                <a:schemeClr val="accent3">
                  <a:shade val="45000"/>
                  <a:satMod val="135000"/>
                </a:schemeClr>
                <a:prstClr val="white"/>
              </a:duotone>
            </a:blip>
            <a:stretch>
              <a:fillRect/>
            </a:stretch>
          </a:blipFill>
        </p:spPr>
        <p:txBody>
          <a:bodyPr wrap="square" lIns="0" tIns="0" rIns="0" bIns="0" rtlCol="0"/>
          <a:lstStyle/>
          <a:p>
            <a:endParaRPr/>
          </a:p>
        </p:txBody>
      </p:sp>
      <p:sp>
        <p:nvSpPr>
          <p:cNvPr id="6" name="object 6"/>
          <p:cNvSpPr txBox="1"/>
          <p:nvPr/>
        </p:nvSpPr>
        <p:spPr>
          <a:xfrm>
            <a:off x="7180327" y="4822316"/>
            <a:ext cx="1067435" cy="431800"/>
          </a:xfrm>
          <a:prstGeom prst="rect">
            <a:avLst/>
          </a:prstGeom>
        </p:spPr>
        <p:txBody>
          <a:bodyPr vert="horz" wrap="square" lIns="0" tIns="37465" rIns="0" bIns="0" rtlCol="0">
            <a:spAutoFit/>
          </a:bodyPr>
          <a:lstStyle/>
          <a:p>
            <a:pPr marL="12700" marR="5080" indent="120014">
              <a:lnSpc>
                <a:spcPts val="1510"/>
              </a:lnSpc>
              <a:spcBef>
                <a:spcPts val="295"/>
              </a:spcBef>
            </a:pPr>
            <a:r>
              <a:rPr sz="1400" b="1" spc="45" dirty="0">
                <a:latin typeface="Times New Roman"/>
                <a:cs typeface="Times New Roman"/>
              </a:rPr>
              <a:t>Yöntemin  </a:t>
            </a:r>
            <a:r>
              <a:rPr sz="1400" b="1" spc="40" dirty="0">
                <a:latin typeface="Times New Roman"/>
                <a:cs typeface="Times New Roman"/>
              </a:rPr>
              <a:t>Be</a:t>
            </a:r>
            <a:r>
              <a:rPr sz="1400" b="1" spc="20" dirty="0">
                <a:latin typeface="Times New Roman"/>
                <a:cs typeface="Times New Roman"/>
              </a:rPr>
              <a:t>li</a:t>
            </a:r>
            <a:r>
              <a:rPr sz="1400" b="1" spc="40" dirty="0">
                <a:latin typeface="Times New Roman"/>
                <a:cs typeface="Times New Roman"/>
              </a:rPr>
              <a:t>r</a:t>
            </a:r>
            <a:r>
              <a:rPr sz="1400" b="1" spc="60" dirty="0">
                <a:latin typeface="Times New Roman"/>
                <a:cs typeface="Times New Roman"/>
              </a:rPr>
              <a:t>l</a:t>
            </a:r>
            <a:r>
              <a:rPr sz="1400" b="1" spc="100" dirty="0">
                <a:latin typeface="Times New Roman"/>
                <a:cs typeface="Times New Roman"/>
              </a:rPr>
              <a:t>e</a:t>
            </a:r>
            <a:r>
              <a:rPr sz="1400" b="1" spc="65" dirty="0">
                <a:latin typeface="Times New Roman"/>
                <a:cs typeface="Times New Roman"/>
              </a:rPr>
              <a:t>n</a:t>
            </a:r>
            <a:r>
              <a:rPr sz="1400" b="1" spc="100" dirty="0">
                <a:latin typeface="Times New Roman"/>
                <a:cs typeface="Times New Roman"/>
              </a:rPr>
              <a:t>m</a:t>
            </a:r>
            <a:r>
              <a:rPr sz="1400" b="1" spc="55" dirty="0">
                <a:latin typeface="Times New Roman"/>
                <a:cs typeface="Times New Roman"/>
              </a:rPr>
              <a:t>e</a:t>
            </a:r>
            <a:r>
              <a:rPr sz="1400" b="1" spc="75" dirty="0">
                <a:latin typeface="Times New Roman"/>
                <a:cs typeface="Times New Roman"/>
              </a:rPr>
              <a:t>si</a:t>
            </a:r>
            <a:endParaRPr sz="1400">
              <a:latin typeface="Times New Roman"/>
              <a:cs typeface="Times New Roman"/>
            </a:endParaRPr>
          </a:p>
        </p:txBody>
      </p:sp>
      <p:sp>
        <p:nvSpPr>
          <p:cNvPr id="7" name="object 7"/>
          <p:cNvSpPr/>
          <p:nvPr/>
        </p:nvSpPr>
        <p:spPr>
          <a:xfrm>
            <a:off x="6457188" y="5407152"/>
            <a:ext cx="842010" cy="646950"/>
          </a:xfrm>
          <a:prstGeom prst="rect">
            <a:avLst/>
          </a:prstGeom>
          <a:blipFill>
            <a:blip r:embed="rId4" cstate="print">
              <a:duotone>
                <a:schemeClr val="accent5">
                  <a:shade val="45000"/>
                  <a:satMod val="135000"/>
                </a:schemeClr>
                <a:prstClr val="white"/>
              </a:duotone>
            </a:blip>
            <a:stretch>
              <a:fillRect/>
            </a:stretch>
          </a:blipFill>
        </p:spPr>
        <p:txBody>
          <a:bodyPr wrap="square" lIns="0" tIns="0" rIns="0" bIns="0" rtlCol="0"/>
          <a:lstStyle/>
          <a:p>
            <a:endParaRPr/>
          </a:p>
        </p:txBody>
      </p:sp>
      <p:sp>
        <p:nvSpPr>
          <p:cNvPr id="8" name="object 8"/>
          <p:cNvSpPr txBox="1"/>
          <p:nvPr/>
        </p:nvSpPr>
        <p:spPr>
          <a:xfrm>
            <a:off x="5669027" y="5565444"/>
            <a:ext cx="630555" cy="558800"/>
          </a:xfrm>
          <a:prstGeom prst="rect">
            <a:avLst/>
          </a:prstGeom>
        </p:spPr>
        <p:txBody>
          <a:bodyPr vert="horz" wrap="square" lIns="0" tIns="12700" rIns="0" bIns="0" rtlCol="0">
            <a:spAutoFit/>
          </a:bodyPr>
          <a:lstStyle/>
          <a:p>
            <a:pPr marL="12700" marR="5080" indent="123189">
              <a:lnSpc>
                <a:spcPct val="125000"/>
              </a:lnSpc>
              <a:spcBef>
                <a:spcPts val="100"/>
              </a:spcBef>
            </a:pPr>
            <a:r>
              <a:rPr sz="1400" b="1" spc="40" dirty="0">
                <a:latin typeface="Times New Roman"/>
                <a:cs typeface="Times New Roman"/>
              </a:rPr>
              <a:t>Veri  </a:t>
            </a:r>
            <a:r>
              <a:rPr sz="1400" b="1" spc="90" dirty="0">
                <a:latin typeface="Times New Roman"/>
                <a:cs typeface="Times New Roman"/>
              </a:rPr>
              <a:t>A</a:t>
            </a:r>
            <a:r>
              <a:rPr sz="1400" b="1" spc="55" dirty="0">
                <a:latin typeface="Times New Roman"/>
                <a:cs typeface="Times New Roman"/>
              </a:rPr>
              <a:t>n</a:t>
            </a:r>
            <a:r>
              <a:rPr sz="1400" b="1" dirty="0">
                <a:latin typeface="Times New Roman"/>
                <a:cs typeface="Times New Roman"/>
              </a:rPr>
              <a:t>a</a:t>
            </a:r>
            <a:r>
              <a:rPr sz="1400" b="1" spc="65" dirty="0">
                <a:latin typeface="Times New Roman"/>
                <a:cs typeface="Times New Roman"/>
              </a:rPr>
              <a:t>li</a:t>
            </a:r>
            <a:r>
              <a:rPr sz="1400" b="1" spc="110" dirty="0">
                <a:latin typeface="Times New Roman"/>
                <a:cs typeface="Times New Roman"/>
              </a:rPr>
              <a:t>z</a:t>
            </a:r>
            <a:r>
              <a:rPr sz="1400" b="1" spc="75" dirty="0">
                <a:latin typeface="Times New Roman"/>
                <a:cs typeface="Times New Roman"/>
              </a:rPr>
              <a:t>i</a:t>
            </a:r>
            <a:endParaRPr sz="1400">
              <a:latin typeface="Times New Roman"/>
              <a:cs typeface="Times New Roman"/>
            </a:endParaRPr>
          </a:p>
        </p:txBody>
      </p:sp>
      <p:sp>
        <p:nvSpPr>
          <p:cNvPr id="9" name="object 9"/>
          <p:cNvSpPr/>
          <p:nvPr/>
        </p:nvSpPr>
        <p:spPr>
          <a:xfrm>
            <a:off x="4715255" y="5384291"/>
            <a:ext cx="816102" cy="593610"/>
          </a:xfrm>
          <a:prstGeom prst="rect">
            <a:avLst/>
          </a:prstGeom>
          <a:blipFill>
            <a:blip r:embed="rId5" cstate="print">
              <a:duotone>
                <a:schemeClr val="accent5">
                  <a:shade val="45000"/>
                  <a:satMod val="135000"/>
                </a:schemeClr>
                <a:prstClr val="white"/>
              </a:duotone>
              <a:extLst>
                <a:ext uri="{BEBA8EAE-BF5A-486C-A8C5-ECC9F3942E4B}">
                  <a14:imgProps xmlns:a14="http://schemas.microsoft.com/office/drawing/2010/main">
                    <a14:imgLayer r:embed="rId6">
                      <a14:imgEffect>
                        <a14:colorTemperature colorTemp="6700"/>
                      </a14:imgEffect>
                    </a14:imgLayer>
                  </a14:imgProps>
                </a:ext>
              </a:extLst>
            </a:blip>
            <a:stretch>
              <a:fillRect/>
            </a:stretch>
          </a:blipFill>
        </p:spPr>
        <p:txBody>
          <a:bodyPr wrap="square" lIns="0" tIns="0" rIns="0" bIns="0" rtlCol="0"/>
          <a:lstStyle/>
          <a:p>
            <a:endParaRPr/>
          </a:p>
        </p:txBody>
      </p:sp>
      <p:sp>
        <p:nvSpPr>
          <p:cNvPr id="10" name="object 10"/>
          <p:cNvSpPr txBox="1"/>
          <p:nvPr/>
        </p:nvSpPr>
        <p:spPr>
          <a:xfrm>
            <a:off x="3640582" y="4822316"/>
            <a:ext cx="1224280" cy="431800"/>
          </a:xfrm>
          <a:prstGeom prst="rect">
            <a:avLst/>
          </a:prstGeom>
        </p:spPr>
        <p:txBody>
          <a:bodyPr vert="horz" wrap="square" lIns="0" tIns="37465" rIns="0" bIns="0" rtlCol="0">
            <a:spAutoFit/>
          </a:bodyPr>
          <a:lstStyle/>
          <a:p>
            <a:pPr marL="12700" marR="5080" indent="158115">
              <a:lnSpc>
                <a:spcPts val="1510"/>
              </a:lnSpc>
              <a:spcBef>
                <a:spcPts val="295"/>
              </a:spcBef>
            </a:pPr>
            <a:r>
              <a:rPr sz="1400" b="1" spc="45" dirty="0">
                <a:latin typeface="Times New Roman"/>
                <a:cs typeface="Times New Roman"/>
              </a:rPr>
              <a:t>Bulguların  </a:t>
            </a:r>
            <a:r>
              <a:rPr sz="1400" b="1" spc="-25" dirty="0">
                <a:latin typeface="Times New Roman"/>
                <a:cs typeface="Times New Roman"/>
              </a:rPr>
              <a:t>Yor</a:t>
            </a:r>
            <a:r>
              <a:rPr sz="1400" b="1" spc="65" dirty="0">
                <a:latin typeface="Times New Roman"/>
                <a:cs typeface="Times New Roman"/>
              </a:rPr>
              <a:t>u</a:t>
            </a:r>
            <a:r>
              <a:rPr sz="1400" b="1" spc="50" dirty="0">
                <a:latin typeface="Times New Roman"/>
                <a:cs typeface="Times New Roman"/>
              </a:rPr>
              <a:t>mla</a:t>
            </a:r>
            <a:r>
              <a:rPr sz="1400" b="1" spc="65" dirty="0">
                <a:latin typeface="Times New Roman"/>
                <a:cs typeface="Times New Roman"/>
              </a:rPr>
              <a:t>n</a:t>
            </a:r>
            <a:r>
              <a:rPr sz="1400" b="1" spc="45" dirty="0">
                <a:latin typeface="Times New Roman"/>
                <a:cs typeface="Times New Roman"/>
              </a:rPr>
              <a:t>m</a:t>
            </a:r>
            <a:r>
              <a:rPr sz="1400" b="1" spc="30" dirty="0">
                <a:latin typeface="Times New Roman"/>
                <a:cs typeface="Times New Roman"/>
              </a:rPr>
              <a:t>a</a:t>
            </a:r>
            <a:r>
              <a:rPr sz="1400" b="1" spc="75" dirty="0">
                <a:latin typeface="Times New Roman"/>
                <a:cs typeface="Times New Roman"/>
              </a:rPr>
              <a:t>sı</a:t>
            </a:r>
            <a:endParaRPr sz="1400">
              <a:latin typeface="Times New Roman"/>
              <a:cs typeface="Times New Roman"/>
            </a:endParaRPr>
          </a:p>
        </p:txBody>
      </p:sp>
      <p:sp>
        <p:nvSpPr>
          <p:cNvPr id="11" name="object 11"/>
          <p:cNvSpPr/>
          <p:nvPr/>
        </p:nvSpPr>
        <p:spPr>
          <a:xfrm>
            <a:off x="3521964" y="3622548"/>
            <a:ext cx="595122" cy="1079753"/>
          </a:xfrm>
          <a:prstGeom prst="rect">
            <a:avLst/>
          </a:prstGeom>
          <a:blipFill>
            <a:blip r:embed="rId7" cstate="print">
              <a:duotone>
                <a:schemeClr val="accent6">
                  <a:shade val="45000"/>
                  <a:satMod val="135000"/>
                </a:schemeClr>
                <a:prstClr val="white"/>
              </a:duotone>
            </a:blip>
            <a:stretch>
              <a:fillRect/>
            </a:stretch>
          </a:blipFill>
        </p:spPr>
        <p:txBody>
          <a:bodyPr wrap="square" lIns="0" tIns="0" rIns="0" bIns="0" rtlCol="0"/>
          <a:lstStyle/>
          <a:p>
            <a:endParaRPr/>
          </a:p>
        </p:txBody>
      </p:sp>
      <p:sp>
        <p:nvSpPr>
          <p:cNvPr id="12" name="object 12"/>
          <p:cNvSpPr txBox="1"/>
          <p:nvPr/>
        </p:nvSpPr>
        <p:spPr>
          <a:xfrm>
            <a:off x="3103881" y="2949701"/>
            <a:ext cx="1442085" cy="431800"/>
          </a:xfrm>
          <a:prstGeom prst="rect">
            <a:avLst/>
          </a:prstGeom>
        </p:spPr>
        <p:txBody>
          <a:bodyPr vert="horz" wrap="square" lIns="0" tIns="37465" rIns="0" bIns="0" rtlCol="0">
            <a:spAutoFit/>
          </a:bodyPr>
          <a:lstStyle/>
          <a:p>
            <a:pPr marL="12700" marR="5080" indent="267970">
              <a:lnSpc>
                <a:spcPts val="1510"/>
              </a:lnSpc>
              <a:spcBef>
                <a:spcPts val="295"/>
              </a:spcBef>
            </a:pPr>
            <a:r>
              <a:rPr sz="1400" b="1" spc="45" dirty="0">
                <a:latin typeface="Times New Roman"/>
                <a:cs typeface="Times New Roman"/>
              </a:rPr>
              <a:t>Bulguların  </a:t>
            </a:r>
            <a:r>
              <a:rPr sz="1400" b="1" spc="-10" dirty="0">
                <a:latin typeface="Times New Roman"/>
                <a:cs typeface="Times New Roman"/>
              </a:rPr>
              <a:t>R</a:t>
            </a:r>
            <a:r>
              <a:rPr sz="1400" b="1" dirty="0">
                <a:latin typeface="Times New Roman"/>
                <a:cs typeface="Times New Roman"/>
              </a:rPr>
              <a:t>a</a:t>
            </a:r>
            <a:r>
              <a:rPr sz="1400" b="1" spc="65" dirty="0">
                <a:latin typeface="Times New Roman"/>
                <a:cs typeface="Times New Roman"/>
              </a:rPr>
              <a:t>p</a:t>
            </a:r>
            <a:r>
              <a:rPr sz="1400" b="1" spc="-5" dirty="0">
                <a:latin typeface="Times New Roman"/>
                <a:cs typeface="Times New Roman"/>
              </a:rPr>
              <a:t>o</a:t>
            </a:r>
            <a:r>
              <a:rPr sz="1400" b="1" dirty="0">
                <a:latin typeface="Times New Roman"/>
                <a:cs typeface="Times New Roman"/>
              </a:rPr>
              <a:t>r</a:t>
            </a:r>
            <a:r>
              <a:rPr sz="1400" b="1" spc="25" dirty="0">
                <a:latin typeface="Times New Roman"/>
                <a:cs typeface="Times New Roman"/>
              </a:rPr>
              <a:t>l</a:t>
            </a:r>
            <a:r>
              <a:rPr sz="1400" b="1" spc="55" dirty="0">
                <a:latin typeface="Times New Roman"/>
                <a:cs typeface="Times New Roman"/>
              </a:rPr>
              <a:t>a</a:t>
            </a:r>
            <a:r>
              <a:rPr sz="1400" b="1" spc="15" dirty="0">
                <a:latin typeface="Times New Roman"/>
                <a:cs typeface="Times New Roman"/>
              </a:rPr>
              <a:t>ştı</a:t>
            </a:r>
            <a:r>
              <a:rPr sz="1400" b="1" spc="30" dirty="0">
                <a:latin typeface="Times New Roman"/>
                <a:cs typeface="Times New Roman"/>
              </a:rPr>
              <a:t>r</a:t>
            </a:r>
            <a:r>
              <a:rPr sz="1400" b="1" spc="55" dirty="0">
                <a:latin typeface="Times New Roman"/>
                <a:cs typeface="Times New Roman"/>
              </a:rPr>
              <a:t>ılm</a:t>
            </a:r>
            <a:r>
              <a:rPr sz="1400" b="1" spc="50" dirty="0">
                <a:latin typeface="Times New Roman"/>
                <a:cs typeface="Times New Roman"/>
              </a:rPr>
              <a:t>a</a:t>
            </a:r>
            <a:r>
              <a:rPr sz="1400" b="1" spc="75" dirty="0">
                <a:latin typeface="Times New Roman"/>
                <a:cs typeface="Times New Roman"/>
              </a:rPr>
              <a:t>sı</a:t>
            </a:r>
            <a:endParaRPr sz="1400">
              <a:latin typeface="Times New Roman"/>
              <a:cs typeface="Times New Roman"/>
            </a:endParaRPr>
          </a:p>
        </p:txBody>
      </p:sp>
      <p:sp>
        <p:nvSpPr>
          <p:cNvPr id="13" name="object 13"/>
          <p:cNvSpPr/>
          <p:nvPr/>
        </p:nvSpPr>
        <p:spPr>
          <a:xfrm>
            <a:off x="3863339" y="1959851"/>
            <a:ext cx="703338" cy="880122"/>
          </a:xfrm>
          <a:prstGeom prst="rect">
            <a:avLst/>
          </a:prstGeom>
          <a:blipFill>
            <a:blip r:embed="rId8" cstate="print">
              <a:duotone>
                <a:schemeClr val="accent4">
                  <a:shade val="45000"/>
                  <a:satMod val="135000"/>
                </a:schemeClr>
                <a:prstClr val="white"/>
              </a:duotone>
            </a:blip>
            <a:stretch>
              <a:fillRect/>
            </a:stretch>
          </a:blipFill>
        </p:spPr>
        <p:txBody>
          <a:bodyPr wrap="square" lIns="0" tIns="0" rIns="0" bIns="0" rtlCol="0"/>
          <a:lstStyle/>
          <a:p>
            <a:endParaRPr/>
          </a:p>
        </p:txBody>
      </p:sp>
      <p:sp>
        <p:nvSpPr>
          <p:cNvPr id="14" name="object 14"/>
          <p:cNvSpPr txBox="1"/>
          <p:nvPr/>
        </p:nvSpPr>
        <p:spPr>
          <a:xfrm>
            <a:off x="4484370" y="1447926"/>
            <a:ext cx="868680" cy="431800"/>
          </a:xfrm>
          <a:prstGeom prst="rect">
            <a:avLst/>
          </a:prstGeom>
        </p:spPr>
        <p:txBody>
          <a:bodyPr vert="horz" wrap="square" lIns="0" tIns="13335" rIns="0" bIns="0" rtlCol="0">
            <a:spAutoFit/>
          </a:bodyPr>
          <a:lstStyle/>
          <a:p>
            <a:pPr marL="12700">
              <a:lnSpc>
                <a:spcPts val="1595"/>
              </a:lnSpc>
              <a:spcBef>
                <a:spcPts val="105"/>
              </a:spcBef>
            </a:pPr>
            <a:r>
              <a:rPr sz="1400" b="1" spc="50" dirty="0">
                <a:latin typeface="Times New Roman"/>
                <a:cs typeface="Times New Roman"/>
              </a:rPr>
              <a:t>Ala</a:t>
            </a:r>
            <a:r>
              <a:rPr sz="1400" b="1" spc="65" dirty="0">
                <a:latin typeface="Times New Roman"/>
                <a:cs typeface="Times New Roman"/>
              </a:rPr>
              <a:t>n</a:t>
            </a:r>
            <a:r>
              <a:rPr sz="1400" b="1" spc="35" dirty="0">
                <a:latin typeface="Times New Roman"/>
                <a:cs typeface="Times New Roman"/>
              </a:rPr>
              <a:t>y</a:t>
            </a:r>
            <a:r>
              <a:rPr sz="1400" b="1" spc="40" dirty="0">
                <a:latin typeface="Times New Roman"/>
                <a:cs typeface="Times New Roman"/>
              </a:rPr>
              <a:t>a</a:t>
            </a:r>
            <a:r>
              <a:rPr sz="1400" b="1" spc="80" dirty="0">
                <a:latin typeface="Times New Roman"/>
                <a:cs typeface="Times New Roman"/>
              </a:rPr>
              <a:t>z</a:t>
            </a:r>
            <a:r>
              <a:rPr sz="1400" b="1" spc="75" dirty="0">
                <a:latin typeface="Times New Roman"/>
                <a:cs typeface="Times New Roman"/>
              </a:rPr>
              <a:t>ın</a:t>
            </a:r>
            <a:endParaRPr sz="1400">
              <a:latin typeface="Times New Roman"/>
              <a:cs typeface="Times New Roman"/>
            </a:endParaRPr>
          </a:p>
          <a:p>
            <a:pPr marL="55244">
              <a:lnSpc>
                <a:spcPts val="1595"/>
              </a:lnSpc>
            </a:pPr>
            <a:r>
              <a:rPr sz="1400" b="1" spc="20" dirty="0">
                <a:latin typeface="Times New Roman"/>
                <a:cs typeface="Times New Roman"/>
              </a:rPr>
              <a:t>Taraması</a:t>
            </a:r>
            <a:endParaRPr sz="1400">
              <a:latin typeface="Times New Roman"/>
              <a:cs typeface="Times New Roman"/>
            </a:endParaRPr>
          </a:p>
        </p:txBody>
      </p:sp>
      <p:sp>
        <p:nvSpPr>
          <p:cNvPr id="15" name="object 15"/>
          <p:cNvSpPr/>
          <p:nvPr/>
        </p:nvSpPr>
        <p:spPr>
          <a:xfrm>
            <a:off x="5315710" y="1252726"/>
            <a:ext cx="972491" cy="533401"/>
          </a:xfrm>
          <a:prstGeom prst="rect">
            <a:avLst/>
          </a:prstGeom>
          <a:blipFill>
            <a:blip r:embed="rId9" cstate="print">
              <a:duotone>
                <a:schemeClr val="accent1">
                  <a:shade val="45000"/>
                  <a:satMod val="135000"/>
                </a:schemeClr>
                <a:prstClr val="white"/>
              </a:duotone>
            </a:blip>
            <a:stretch>
              <a:fillRect/>
            </a:stretch>
          </a:blipFill>
        </p:spPr>
        <p:txBody>
          <a:bodyPr wrap="square" lIns="0" tIns="0" rIns="0" bIns="0" rtlCol="0"/>
          <a:lstStyle/>
          <a:p>
            <a:endParaRPr/>
          </a:p>
        </p:txBody>
      </p:sp>
      <p:sp>
        <p:nvSpPr>
          <p:cNvPr id="16" name="object 16"/>
          <p:cNvSpPr txBox="1">
            <a:spLocks noGrp="1"/>
          </p:cNvSpPr>
          <p:nvPr>
            <p:ph type="title"/>
          </p:nvPr>
        </p:nvSpPr>
        <p:spPr>
          <a:xfrm>
            <a:off x="2102917" y="31336"/>
            <a:ext cx="6733265" cy="1243289"/>
          </a:xfrm>
          <a:prstGeom prst="rect">
            <a:avLst/>
          </a:prstGeom>
        </p:spPr>
        <p:txBody>
          <a:bodyPr vert="horz" wrap="square" lIns="0" tIns="12065" rIns="0" bIns="0" rtlCol="0" anchor="ctr">
            <a:spAutoFit/>
          </a:bodyPr>
          <a:lstStyle/>
          <a:p>
            <a:pPr marL="12700">
              <a:spcBef>
                <a:spcPts val="95"/>
              </a:spcBef>
            </a:pPr>
            <a:r>
              <a:rPr spc="295" dirty="0">
                <a:latin typeface="Trebuchet MS"/>
                <a:cs typeface="Trebuchet MS"/>
              </a:rPr>
              <a:t>ARAŞTIRMA</a:t>
            </a:r>
            <a:r>
              <a:rPr spc="-484" dirty="0">
                <a:latin typeface="Trebuchet MS"/>
                <a:cs typeface="Trebuchet MS"/>
              </a:rPr>
              <a:t> </a:t>
            </a:r>
            <a:r>
              <a:rPr spc="-90" dirty="0" err="1">
                <a:latin typeface="Trebuchet MS"/>
                <a:cs typeface="Trebuchet MS"/>
              </a:rPr>
              <a:t>ve</a:t>
            </a:r>
            <a:r>
              <a:rPr spc="-90" dirty="0">
                <a:latin typeface="Trebuchet MS"/>
                <a:cs typeface="Trebuchet MS"/>
              </a:rPr>
              <a:t> </a:t>
            </a:r>
            <a:r>
              <a:rPr spc="5" dirty="0" err="1">
                <a:latin typeface="Trebuchet MS"/>
                <a:cs typeface="Trebuchet MS"/>
              </a:rPr>
              <a:t>Tasarımı</a:t>
            </a:r>
            <a:r>
              <a:rPr lang="tr-TR" spc="5" dirty="0">
                <a:latin typeface="Trebuchet MS"/>
                <a:cs typeface="Trebuchet MS"/>
              </a:rPr>
              <a:t> (Detayları haftaya)</a:t>
            </a:r>
            <a:endParaRPr spc="5" dirty="0">
              <a:latin typeface="Trebuchet MS"/>
              <a:cs typeface="Trebuchet MS"/>
            </a:endParaRPr>
          </a:p>
        </p:txBody>
      </p:sp>
      <p:sp>
        <p:nvSpPr>
          <p:cNvPr id="17" name="object 17"/>
          <p:cNvSpPr/>
          <p:nvPr/>
        </p:nvSpPr>
        <p:spPr>
          <a:xfrm>
            <a:off x="5044440" y="3046476"/>
            <a:ext cx="1886712" cy="1100328"/>
          </a:xfrm>
          <a:prstGeom prst="rect">
            <a:avLst/>
          </a:prstGeom>
          <a:blipFill>
            <a:blip r:embed="rId10" cstate="print"/>
            <a:stretch>
              <a:fillRect/>
            </a:stretch>
          </a:blipFill>
        </p:spPr>
        <p:txBody>
          <a:bodyPr wrap="square" lIns="0" tIns="0" rIns="0" bIns="0" rtlCol="0"/>
          <a:lstStyle/>
          <a:p>
            <a:endParaRPr/>
          </a:p>
        </p:txBody>
      </p:sp>
      <p:sp>
        <p:nvSpPr>
          <p:cNvPr id="18" name="object 18"/>
          <p:cNvSpPr/>
          <p:nvPr/>
        </p:nvSpPr>
        <p:spPr>
          <a:xfrm>
            <a:off x="5074921" y="3214129"/>
            <a:ext cx="1822703" cy="829043"/>
          </a:xfrm>
          <a:prstGeom prst="rect">
            <a:avLst/>
          </a:prstGeom>
          <a:blipFill>
            <a:blip r:embed="rId11" cstate="print"/>
            <a:stretch>
              <a:fillRect/>
            </a:stretch>
          </a:blipFill>
        </p:spPr>
        <p:txBody>
          <a:bodyPr wrap="square" lIns="0" tIns="0" rIns="0" bIns="0" rtlCol="0"/>
          <a:lstStyle/>
          <a:p>
            <a:endParaRPr/>
          </a:p>
        </p:txBody>
      </p:sp>
      <p:sp>
        <p:nvSpPr>
          <p:cNvPr id="19" name="object 19"/>
          <p:cNvSpPr/>
          <p:nvPr/>
        </p:nvSpPr>
        <p:spPr>
          <a:xfrm>
            <a:off x="5097018" y="3073146"/>
            <a:ext cx="1786255" cy="1000125"/>
          </a:xfrm>
          <a:custGeom>
            <a:avLst/>
            <a:gdLst/>
            <a:ahLst/>
            <a:cxnLst/>
            <a:rect l="l" t="t" r="r" b="b"/>
            <a:pathLst>
              <a:path w="1786254" h="1000125">
                <a:moveTo>
                  <a:pt x="0" y="999743"/>
                </a:moveTo>
                <a:lnTo>
                  <a:pt x="1786127" y="999743"/>
                </a:lnTo>
                <a:lnTo>
                  <a:pt x="1786127" y="0"/>
                </a:lnTo>
                <a:lnTo>
                  <a:pt x="0" y="0"/>
                </a:lnTo>
                <a:lnTo>
                  <a:pt x="0" y="999743"/>
                </a:lnTo>
                <a:close/>
              </a:path>
            </a:pathLst>
          </a:custGeom>
          <a:solidFill>
            <a:srgbClr val="000000"/>
          </a:solidFill>
        </p:spPr>
        <p:txBody>
          <a:bodyPr wrap="square" lIns="0" tIns="0" rIns="0" bIns="0" rtlCol="0"/>
          <a:lstStyle/>
          <a:p>
            <a:endParaRPr/>
          </a:p>
        </p:txBody>
      </p:sp>
      <p:sp>
        <p:nvSpPr>
          <p:cNvPr id="20" name="object 20"/>
          <p:cNvSpPr/>
          <p:nvPr/>
        </p:nvSpPr>
        <p:spPr>
          <a:xfrm>
            <a:off x="5097018" y="3073146"/>
            <a:ext cx="1786255" cy="1000125"/>
          </a:xfrm>
          <a:custGeom>
            <a:avLst/>
            <a:gdLst/>
            <a:ahLst/>
            <a:cxnLst/>
            <a:rect l="l" t="t" r="r" b="b"/>
            <a:pathLst>
              <a:path w="1786254" h="1000125">
                <a:moveTo>
                  <a:pt x="0" y="999743"/>
                </a:moveTo>
                <a:lnTo>
                  <a:pt x="1786127" y="999743"/>
                </a:lnTo>
                <a:lnTo>
                  <a:pt x="1786127" y="0"/>
                </a:lnTo>
                <a:lnTo>
                  <a:pt x="0" y="0"/>
                </a:lnTo>
                <a:lnTo>
                  <a:pt x="0" y="999743"/>
                </a:lnTo>
                <a:close/>
              </a:path>
            </a:pathLst>
          </a:custGeom>
          <a:ln/>
        </p:spPr>
        <p:style>
          <a:lnRef idx="1">
            <a:schemeClr val="accent4"/>
          </a:lnRef>
          <a:fillRef idx="3">
            <a:schemeClr val="accent4"/>
          </a:fillRef>
          <a:effectRef idx="2">
            <a:schemeClr val="accent4"/>
          </a:effectRef>
          <a:fontRef idx="minor">
            <a:schemeClr val="lt1"/>
          </a:fontRef>
        </p:style>
        <p:txBody>
          <a:bodyPr wrap="square" lIns="0" tIns="0" rIns="0" bIns="0" rtlCol="0"/>
          <a:lstStyle/>
          <a:p>
            <a:endParaRPr/>
          </a:p>
        </p:txBody>
      </p:sp>
      <p:sp>
        <p:nvSpPr>
          <p:cNvPr id="21" name="object 21"/>
          <p:cNvSpPr txBox="1"/>
          <p:nvPr/>
        </p:nvSpPr>
        <p:spPr>
          <a:xfrm>
            <a:off x="5097018" y="3269945"/>
            <a:ext cx="1786255" cy="575310"/>
          </a:xfrm>
          <a:prstGeom prst="rect">
            <a:avLst/>
          </a:prstGeom>
        </p:spPr>
        <p:txBody>
          <a:bodyPr vert="horz" wrap="square" lIns="0" tIns="12700" rIns="0" bIns="0" rtlCol="0">
            <a:spAutoFit/>
          </a:bodyPr>
          <a:lstStyle/>
          <a:p>
            <a:pPr algn="ctr">
              <a:spcBef>
                <a:spcPts val="100"/>
              </a:spcBef>
            </a:pPr>
            <a:r>
              <a:rPr b="1" spc="50" dirty="0">
                <a:solidFill>
                  <a:srgbClr val="FFFFFF"/>
                </a:solidFill>
                <a:latin typeface="Times New Roman"/>
                <a:cs typeface="Times New Roman"/>
              </a:rPr>
              <a:t>ARAŞTIRMA</a:t>
            </a:r>
            <a:endParaRPr dirty="0">
              <a:latin typeface="Times New Roman"/>
              <a:cs typeface="Times New Roman"/>
            </a:endParaRPr>
          </a:p>
          <a:p>
            <a:pPr algn="ctr">
              <a:spcBef>
                <a:spcPts val="5"/>
              </a:spcBef>
            </a:pPr>
            <a:r>
              <a:rPr b="1" spc="10" dirty="0">
                <a:solidFill>
                  <a:srgbClr val="FFFFFF"/>
                </a:solidFill>
                <a:latin typeface="Times New Roman"/>
                <a:cs typeface="Times New Roman"/>
              </a:rPr>
              <a:t>SÜRECİ</a:t>
            </a:r>
            <a:endParaRPr dirty="0">
              <a:latin typeface="Times New Roman"/>
              <a:cs typeface="Times New Roman"/>
            </a:endParaRPr>
          </a:p>
        </p:txBody>
      </p:sp>
    </p:spTree>
    <p:extLst>
      <p:ext uri="{BB962C8B-B14F-4D97-AF65-F5344CB8AC3E}">
        <p14:creationId xmlns:p14="http://schemas.microsoft.com/office/powerpoint/2010/main" val="18076276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1912672-C599-4734-8B1B-6CE2D0767E9B}"/>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0804BE95-C977-43AA-8CF3-26F8E454385F}"/>
              </a:ext>
            </a:extLst>
          </p:cNvPr>
          <p:cNvSpPr>
            <a:spLocks noGrp="1"/>
          </p:cNvSpPr>
          <p:nvPr>
            <p:ph idx="1"/>
          </p:nvPr>
        </p:nvSpPr>
        <p:spPr/>
        <p:txBody>
          <a:bodyPr/>
          <a:lstStyle/>
          <a:p>
            <a:endParaRPr lang="tr-TR"/>
          </a:p>
        </p:txBody>
      </p:sp>
      <p:pic>
        <p:nvPicPr>
          <p:cNvPr id="5" name="Resim 4">
            <a:extLst>
              <a:ext uri="{FF2B5EF4-FFF2-40B4-BE49-F238E27FC236}">
                <a16:creationId xmlns:a16="http://schemas.microsoft.com/office/drawing/2014/main" id="{61638B1F-936E-4CDE-B4F1-37437AF7303B}"/>
              </a:ext>
            </a:extLst>
          </p:cNvPr>
          <p:cNvPicPr>
            <a:picLocks noChangeAspect="1"/>
          </p:cNvPicPr>
          <p:nvPr/>
        </p:nvPicPr>
        <p:blipFill>
          <a:blip r:embed="rId2"/>
          <a:stretch>
            <a:fillRect/>
          </a:stretch>
        </p:blipFill>
        <p:spPr>
          <a:xfrm>
            <a:off x="2046912" y="117445"/>
            <a:ext cx="7791723" cy="6342629"/>
          </a:xfrm>
          <a:prstGeom prst="rect">
            <a:avLst/>
          </a:prstGeom>
        </p:spPr>
      </p:pic>
    </p:spTree>
    <p:extLst>
      <p:ext uri="{BB962C8B-B14F-4D97-AF65-F5344CB8AC3E}">
        <p14:creationId xmlns:p14="http://schemas.microsoft.com/office/powerpoint/2010/main" val="140711292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aks">
  <a:themeElements>
    <a:clrScheme name="Paralaks">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aks">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aks">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TM03457496[[fn=Paralaks]]</Template>
  <TotalTime>2206</TotalTime>
  <Words>2224</Words>
  <Application>Microsoft Office PowerPoint</Application>
  <PresentationFormat>Geniş ekran</PresentationFormat>
  <Paragraphs>249</Paragraphs>
  <Slides>42</Slides>
  <Notes>2</Notes>
  <HiddenSlides>0</HiddenSlides>
  <MMClips>0</MMClips>
  <ScaleCrop>false</ScaleCrop>
  <HeadingPairs>
    <vt:vector size="6" baseType="variant">
      <vt:variant>
        <vt:lpstr>Kullanılan Yazı Tipleri</vt:lpstr>
      </vt:variant>
      <vt:variant>
        <vt:i4>9</vt:i4>
      </vt:variant>
      <vt:variant>
        <vt:lpstr>Tema</vt:lpstr>
      </vt:variant>
      <vt:variant>
        <vt:i4>1</vt:i4>
      </vt:variant>
      <vt:variant>
        <vt:lpstr>Slayt Başlıkları</vt:lpstr>
      </vt:variant>
      <vt:variant>
        <vt:i4>42</vt:i4>
      </vt:variant>
    </vt:vector>
  </HeadingPairs>
  <TitlesOfParts>
    <vt:vector size="52" baseType="lpstr">
      <vt:lpstr>Arial</vt:lpstr>
      <vt:lpstr>Calibri</vt:lpstr>
      <vt:lpstr>Corbel</vt:lpstr>
      <vt:lpstr>Georgia</vt:lpstr>
      <vt:lpstr>Monotype Sorts</vt:lpstr>
      <vt:lpstr>Times New Roman</vt:lpstr>
      <vt:lpstr>Trebuchet MS</vt:lpstr>
      <vt:lpstr>Wingdings</vt:lpstr>
      <vt:lpstr>Wingdings 2</vt:lpstr>
      <vt:lpstr>Paralaks</vt:lpstr>
      <vt:lpstr>Bilimsel Araştırma ve sunum teknikleri</vt:lpstr>
      <vt:lpstr>Bu ders içinde</vt:lpstr>
      <vt:lpstr>BİLGİ (KNOWLEDGE) </vt:lpstr>
      <vt:lpstr>PowerPoint Sunusu</vt:lpstr>
      <vt:lpstr>Bilime Alternatif Bilgiyi Elde Etme Yolları </vt:lpstr>
      <vt:lpstr>BİLİM (SCIENCE)</vt:lpstr>
      <vt:lpstr>BİLİM</vt:lpstr>
      <vt:lpstr>Sözler..</vt:lpstr>
      <vt:lpstr>Mühendislik nedir? </vt:lpstr>
      <vt:lpstr>Bilgisayar Bilimi ve Mühendisliği</vt:lpstr>
      <vt:lpstr>Bilim</vt:lpstr>
      <vt:lpstr>Bilim</vt:lpstr>
      <vt:lpstr>Mühendislik</vt:lpstr>
      <vt:lpstr>Bilimin temel özellikleri nedir?</vt:lpstr>
      <vt:lpstr>Bilim Tarihi</vt:lpstr>
      <vt:lpstr>Bilim Tarihi</vt:lpstr>
      <vt:lpstr>Bilim Tarihi</vt:lpstr>
      <vt:lpstr>Bilim Tarihi</vt:lpstr>
      <vt:lpstr>PowerPoint Sunusu</vt:lpstr>
      <vt:lpstr>BİLİM (SCIENCE)</vt:lpstr>
      <vt:lpstr>BİLİM (SCIENCE)</vt:lpstr>
      <vt:lpstr>BİLİM (SCIENCE)</vt:lpstr>
      <vt:lpstr>PowerPoint Sunusu</vt:lpstr>
      <vt:lpstr>PowerPoint Sunusu</vt:lpstr>
      <vt:lpstr>BİLİMİN  TEMEL ÖZELLİKLERİ</vt:lpstr>
      <vt:lpstr>BİLİMİN  TEMEL ÖZELLİKLERİ</vt:lpstr>
      <vt:lpstr>BİLİMİN  TEMEL ÖZELLİKLERİ</vt:lpstr>
      <vt:lpstr>BİLİMİN  TEMEL ÖZELLİKLERİ</vt:lpstr>
      <vt:lpstr>BİLİMİN  TEMEL ÖZELLİKLERİ</vt:lpstr>
      <vt:lpstr>BİLİM (SCIENCE)</vt:lpstr>
      <vt:lpstr>BİLİM (SCIENCE)</vt:lpstr>
      <vt:lpstr>BİLİM (SCIENCE)</vt:lpstr>
      <vt:lpstr>BİLİM (SCIENCE)</vt:lpstr>
      <vt:lpstr>BİLİM (SCIENCE)</vt:lpstr>
      <vt:lpstr>Olgu - Kavram</vt:lpstr>
      <vt:lpstr>BİLİM (SCIENCE)</vt:lpstr>
      <vt:lpstr>BİLİM (SCIENCE)</vt:lpstr>
      <vt:lpstr>BİLİM (SCIENCE)</vt:lpstr>
      <vt:lpstr>BİLİM (SCIENCE)</vt:lpstr>
      <vt:lpstr>BİLİM (SCIENCE)</vt:lpstr>
      <vt:lpstr>ARAŞTIRMA ve Tasarımı (Detayları haftaya)</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Bilimsel Araştırma ve sunum teknikleri</dc:title>
  <dc:creator>Buket Doğan</dc:creator>
  <cp:lastModifiedBy>marmara</cp:lastModifiedBy>
  <cp:revision>35</cp:revision>
  <dcterms:created xsi:type="dcterms:W3CDTF">2019-02-09T09:34:20Z</dcterms:created>
  <dcterms:modified xsi:type="dcterms:W3CDTF">2026-02-19T08:35:29Z</dcterms:modified>
</cp:coreProperties>
</file>