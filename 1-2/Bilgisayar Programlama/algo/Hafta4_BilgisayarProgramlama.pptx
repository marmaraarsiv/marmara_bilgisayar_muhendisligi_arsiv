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91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6858000" cy="9144000"/>
  <p:embeddedFontLst>
    <p:embeddedFont>
      <p:font typeface="Calibri" panose="020F0502020204030204" pitchFamily="34" charset="0"/>
      <p:regular r:id="rId39"/>
      <p:bold r:id="rId40"/>
      <p:italic r:id="rId41"/>
      <p:boldItalic r:id="rId42"/>
    </p:embeddedFont>
    <p:embeddedFont>
      <p:font typeface="Questrial" panose="020B0604020202020204" charset="-94"/>
      <p:regular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4" roundtripDataSignature="AMtx7mjpajANqja9sHbxIh+ka7E7Ofto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432" autoAdjust="0"/>
  </p:normalViewPr>
  <p:slideViewPr>
    <p:cSldViewPr snapToGrid="0">
      <p:cViewPr varScale="1">
        <p:scale>
          <a:sx n="57" d="100"/>
          <a:sy n="57" d="100"/>
        </p:scale>
        <p:origin x="99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r>
              <a:rPr lang="tr-TR" sz="1110" dirty="0"/>
              <a:t>#include &lt;stdio.h&gt;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r>
              <a:rPr lang="tr-TR" sz="1110" dirty="0"/>
              <a:t>#include &lt;stdlib.h&gt;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r>
              <a:rPr lang="tr-TR" sz="1110" dirty="0"/>
              <a:t>void Hello()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endParaRPr sz="1110"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r>
              <a:rPr lang="tr-TR" sz="1110" dirty="0"/>
              <a:t>{int i, t=0;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r>
              <a:rPr lang="tr-TR" sz="1110" dirty="0"/>
              <a:t>printf("\n Merhabalar ");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endParaRPr sz="1110"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r>
              <a:rPr lang="tr-TR" sz="1110" dirty="0"/>
              <a:t>for (i=1;i&lt;=100;i++)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r>
              <a:rPr lang="tr-TR" sz="1110" dirty="0"/>
              <a:t>t=t+i;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r>
              <a:rPr lang="tr-TR" sz="1110" dirty="0"/>
              <a:t>printf("\n toplam=%d", t);}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endParaRPr sz="1110"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r>
              <a:rPr lang="tr-TR" sz="1110" dirty="0"/>
              <a:t>int *add (int *a, int *b)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r>
              <a:rPr lang="tr-TR" sz="1110" dirty="0"/>
              <a:t>{ int *c=(int *) malloc (sizeof(int)); 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endParaRPr sz="1110"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r>
              <a:rPr lang="tr-TR" sz="1110" dirty="0"/>
              <a:t>*c= *a+*b;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r>
              <a:rPr lang="tr-TR" sz="1110" dirty="0"/>
              <a:t>return c;}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endParaRPr sz="1110"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r>
              <a:rPr lang="tr-TR" sz="1110" dirty="0"/>
              <a:t>main()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r>
              <a:rPr lang="tr-TR" sz="1110" dirty="0"/>
              <a:t>{ int a=12, b=4;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endParaRPr sz="1110"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r>
              <a:rPr lang="tr-TR" sz="1110" dirty="0"/>
              <a:t>int *p=add(&amp;a,&amp;b);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endParaRPr sz="1110"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r>
              <a:rPr lang="tr-TR" sz="1110" dirty="0"/>
              <a:t>printf(" \n Toplam=%d", *p);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endParaRPr sz="1110"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r>
              <a:rPr lang="tr-TR" sz="1110" dirty="0"/>
              <a:t>Hello();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endParaRPr sz="1110"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r>
              <a:rPr lang="tr-TR" sz="1110" dirty="0"/>
              <a:t>printf(" \n Toplam=%d", *p);</a:t>
            </a:r>
            <a:endParaRPr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Calibri"/>
              <a:buNone/>
            </a:pPr>
            <a:r>
              <a:rPr lang="tr-TR" sz="1110" dirty="0"/>
              <a:t>}</a:t>
            </a:r>
            <a:endParaRPr sz="1110" dirty="0"/>
          </a:p>
        </p:txBody>
      </p:sp>
      <p:sp>
        <p:nvSpPr>
          <p:cNvPr id="127" name="Google Shape;12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tr-T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 dirty="0"/>
              <a:t>#include &lt;stdio.h&gt;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 dirty="0"/>
              <a:t>#include &lt;stdlib.h&gt;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 dirty="0"/>
              <a:t>int main(){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 dirty="0"/>
              <a:t>int *x,i,N,toplam=0;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 dirty="0"/>
              <a:t>float ortalama;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 dirty="0"/>
              <a:t>printf("Eleman sayisi ");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 dirty="0"/>
              <a:t>scanf("%d",&amp;N);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 dirty="0"/>
              <a:t>x = (int *) malloc(N*sizeof(int));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 dirty="0"/>
              <a:t>printf("adres=%p\n",x);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 dirty="0"/>
              <a:t>printf("Elemanlari girin:\n");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 dirty="0"/>
              <a:t>for(i=0;i&lt;N;i++){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 dirty="0"/>
              <a:t>   printf("%d.eleman adresi:%p = ",i+1,x+i);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 dirty="0"/>
              <a:t>   scanf("%d",&amp;x[i]); 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 dirty="0"/>
              <a:t>    // x[i] ile *(x+i) aynı      anlamda !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 dirty="0"/>
              <a:t>    toplam += x[i];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 dirty="0"/>
              <a:t>}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 dirty="0"/>
              <a:t>free(x);  // ayrılan yer boşaltılıyor...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 dirty="0"/>
              <a:t>ortalama = (float) toplam/N;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 dirty="0"/>
              <a:t>printf("Bu %d sayinin ortlamasi %f dir\n",N,ortalama);        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 dirty="0"/>
              <a:t>}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143" name="Google Shape;14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tr-T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#include&lt;stdio.h&gt;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#include&lt;stdlib.h&gt;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#include&lt;time.h&gt;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#define N 20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void print_array(int *,int 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int *array;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//random sayi uretme fonksiyonu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int rand_dizi_uret(){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	array=(int *)malloc(sizeof(int)*N);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//uretilen sayi 0 -20 arasi olsun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    int i;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    for(i=0; i&lt;N; i++){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	 	array[i] = 0+rand()%20;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	 }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    printf("Uretilen Dizi:\n------\n");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    print_array(array,N);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}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void print_array(int *dizi,int len){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    int i;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	for(i=0 ; i&lt;len ; i++ 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    printf(" %d ",dizi[i]);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printf("\n");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}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//swap fonksiyonu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void swap(int *xp, int *yp){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    int temp = *xp;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    *xp = *yp;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    *yp = temp;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}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//Siralama fonksiyonu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void sirala(){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    int i,j;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    for( i=0; i&lt; N-1; i++)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       for ( j=0; j&lt;N-i-1; j++)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           if (array[j] &gt; array[j+1])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              swap(&amp;array[j], &amp;array[j+1]);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	printf("Siralanmis_dizi:\n------\n");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	print_array(array,N);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}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int main(){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	srand(time(NULL));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	rand_dizi_uret();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	sirala();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}</a:t>
            </a:r>
            <a:endParaRPr dirty="0"/>
          </a:p>
        </p:txBody>
      </p:sp>
      <p:sp>
        <p:nvSpPr>
          <p:cNvPr id="151" name="Google Shape;15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58" name="Google Shape;15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tr-T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65" name="Google Shape;1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1" name="Google Shape;1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9" name="Google Shape;17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tr-TR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87" name="Google Shape;18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tr-TR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#include &lt;stdio.h&gt;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void yazdir(int,int,int(*)(int,int));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int kucuk(int,int);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int buyuk(int,int);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int main()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    int a,b,secim;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    printf("Iki tamsayi giriniz: ");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    scanf("%d%d",&amp;a,&amp;b);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    printf("Buyuk olani bulmak icin 1"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    " kucuk olani bulmak icin 2 giriniz: ");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    scanf("%d",&amp;secim);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    if(secim==1) yazdir(a,b,buyuk);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    else yazdir(a,b,kucuk);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   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void yazdir(int a,int b,int(*k)(int,int))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     int sonuc=0;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     sonuc=(*k)(a,b);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     printf("Sonuc: %d",sonuc);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int kucuk(int a,int b)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{   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    if(a&lt;b) return a;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    else return b 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int buyuk(int a,int b)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    if(a&gt;b) return a;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    else return b 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tr-TR"/>
              <a:t>}</a:t>
            </a:r>
            <a:endParaRPr/>
          </a:p>
        </p:txBody>
      </p:sp>
      <p:sp>
        <p:nvSpPr>
          <p:cNvPr id="195" name="Google Shape;19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7" name="Google Shape;69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/* Fig. 7.24: fig07_24.c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Card shuffling dealing program */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#include &lt;stdio.h&gt;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#include &lt;stdlib.h&gt;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#include &lt;time.h&gt;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void shuffle( int [][ 13 ] 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void deal( const int [][ 13 ], const char *[], const char *[] 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int main()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const char *suit[ 4 ] =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{ "Hearts", "Diamonds", "Clubs", "Spades" };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const char *face[ 13 ] =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{ "Ace", "Deuce", "Three", "Four",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  "Five", "Six", "Seven", "Eight",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  "Nine", "Ten", "Jack", "Queen", "King" };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int deck[ 4 ][ 13 ] = { 0 };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srand( time( 0 ) 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shuffle( deck 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deal( deck, face, suit 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return 0;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void shuffle( int wDeck[][ 13 ] 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int row, column, card;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for ( card = 1; card &lt;= 52; card++ )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do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   row = rand() % 4;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   column = rand() % 13;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} while( wDeck[ row ][ column ] != 0 );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wDeck[ row ][ column ] = card;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void deal( const int wDeck[][ 13 ], const char *wFace[],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     const char *wSuit[] 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int card, row, column;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for ( card = 1; card &lt;= 52; card++ 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for ( row = 0; row &lt;= 3; row++ 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   for ( column = 0; column &lt;= 12; column++ 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      if ( wDeck[ row ][ column ] == card 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         printf( "%5s of %-8s%c",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			            wFace[ column ], wSuit[ row ],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						card % 2 == 0 ? '\n' : '\t' 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26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7" name="Google Shape;907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/* Fig. 7.26: fig07_26.cpp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Multipurpose sorting program using function pointers */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#include &lt;stdio.h&gt;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#define SIZE 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void bubble( int [], const int, int (*)( int, int ) 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int ascending( int, int 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int descending( int, int 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int main()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int order,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 counter,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 a[ SIZE ] = { 2, 6, 4, 8, 10, 12, 89, 68, 45, 37 };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printf( "Enter 1 to sort in ascending order,\n"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     "Enter 2 to sort in descending order: " 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scanf( "%d",  &amp;order 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printf( "\nData items in original order\n" 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for ( counter = 0; counter &lt; SIZE; counter++ 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printf( "%5d", a[ counter ] 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if ( order == 1 )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bubble( a, SIZE, ascending 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printf( "\nData items in ascending order\n" 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else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bubble( a, SIZE, descending 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printf( "\nData items in descending order\n" 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for ( counter = 0; counter &lt; SIZE; counter++ 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printf( "%5d", a[ counter ] ); 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printf( "\n" 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return 0;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void bubble( int work[], const int size,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       int (*compare)( int, int ) 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int pass, count;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void swap( int *, int * 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for ( pass = 1; pass &lt; size; pass++ 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for ( count = 0; count &lt; size - 1; count++ 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   if ( (*compare)( work[ count ], work[ count + 1 ] ) 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         swap( &amp;work[ count ], &amp;work[ count + 1 ] 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void swap( int *element1Ptr, int *element2Ptr 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int temp;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temp = *element1Ptr;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*element1Ptr = *element2Ptr;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*element2Ptr = temp;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int ascending( int a, int b 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return b &lt; a;   /* swap if b is less than a */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int descending( int a, int b 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   return b &gt; a;   /* swap if b is greater than a */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31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3" name="Google Shape;1013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32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5" name="Google Shape;116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0" name="Google Shape;1170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71" name="Google Shape;1171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tr-TR"/>
              <a:t>36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 Slaydı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 ve İçerik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 ve Tablo" type="tbl">
  <p:cSld name="TAB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9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9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Clr>
                <a:srgbClr val="FFFFFF"/>
              </a:buClr>
              <a:buSzPts val="1400"/>
              <a:buFont typeface="Twentieth Century"/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Clr>
                <a:srgbClr val="FFFFFF"/>
              </a:buClr>
              <a:buSzPts val="1400"/>
              <a:buFont typeface="Twentieth Century"/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Clr>
                <a:srgbClr val="FFFFFF"/>
              </a:buClr>
              <a:buSzPts val="1400"/>
              <a:buFont typeface="Twentieth Century"/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Clr>
                <a:srgbClr val="FFFFFF"/>
              </a:buClr>
              <a:buSzPts val="1400"/>
              <a:buFont typeface="Twentieth Century"/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Clr>
                <a:srgbClr val="FFFFFF"/>
              </a:buClr>
              <a:buSzPts val="1400"/>
              <a:buFont typeface="Twentieth Century"/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Clr>
                <a:srgbClr val="FFFFFF"/>
              </a:buClr>
              <a:buSzPts val="1400"/>
              <a:buFont typeface="Twentieth Century"/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Clr>
                <a:srgbClr val="FFFFFF"/>
              </a:buClr>
              <a:buSzPts val="1400"/>
              <a:buFont typeface="Twentieth Century"/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Clr>
                <a:srgbClr val="FFFFFF"/>
              </a:buClr>
              <a:buSzPts val="1400"/>
              <a:buFont typeface="Twentieth Century"/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Clr>
                <a:srgbClr val="FFFFFF"/>
              </a:buClr>
              <a:buSzPts val="1400"/>
              <a:buFont typeface="Twentieth Century"/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lı İçerik" type="objTx">
  <p:cSld name="OBJECT_WITH_CAPTIO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5" name="Google Shape;35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6" name="Google Shape;36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Başlık Slaydı">
  <p:cSld name="1_Başlık Slaydı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1"/>
          <p:cNvSpPr txBox="1"/>
          <p:nvPr/>
        </p:nvSpPr>
        <p:spPr>
          <a:xfrm>
            <a:off x="9042400" y="152401"/>
            <a:ext cx="3149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 u="sng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Outline</a:t>
            </a:r>
            <a:endParaRPr/>
          </a:p>
        </p:txBody>
      </p:sp>
      <p:grpSp>
        <p:nvGrpSpPr>
          <p:cNvPr id="41" name="Google Shape;41;p41"/>
          <p:cNvGrpSpPr/>
          <p:nvPr/>
        </p:nvGrpSpPr>
        <p:grpSpPr>
          <a:xfrm>
            <a:off x="9106949" y="77002"/>
            <a:ext cx="277283" cy="685801"/>
            <a:chOff x="4063" y="3841"/>
            <a:chExt cx="131" cy="432"/>
          </a:xfrm>
        </p:grpSpPr>
        <p:sp>
          <p:nvSpPr>
            <p:cNvPr id="42" name="Google Shape;42;p41">
              <a:hlinkClick r:id="" action="ppaction://hlinkshowjump?jump=previousslide"/>
            </p:cNvPr>
            <p:cNvSpPr/>
            <p:nvPr/>
          </p:nvSpPr>
          <p:spPr>
            <a:xfrm rot="5400000">
              <a:off x="4032" y="3871"/>
              <a:ext cx="192" cy="13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19063" y="60000"/>
                  </a:moveTo>
                  <a:lnTo>
                    <a:pt x="100937" y="15000"/>
                  </a:lnTo>
                  <a:lnTo>
                    <a:pt x="100937" y="105000"/>
                  </a:lnTo>
                  <a:close/>
                </a:path>
                <a:path w="120000" h="120000" fill="darken" extrusionOk="0">
                  <a:moveTo>
                    <a:pt x="19063" y="60000"/>
                  </a:moveTo>
                  <a:lnTo>
                    <a:pt x="100937" y="15000"/>
                  </a:lnTo>
                  <a:lnTo>
                    <a:pt x="100937" y="105000"/>
                  </a:lnTo>
                  <a:close/>
                </a:path>
                <a:path w="120000" h="120000" fill="none" extrusionOk="0">
                  <a:moveTo>
                    <a:pt x="19063" y="60000"/>
                  </a:moveTo>
                  <a:lnTo>
                    <a:pt x="100937" y="15000"/>
                  </a:lnTo>
                  <a:lnTo>
                    <a:pt x="100937" y="105000"/>
                  </a:lnTo>
                  <a:close/>
                </a:path>
                <a:path w="120000" h="120000" fill="none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C0C0C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" name="Google Shape;43;p41">
              <a:hlinkClick r:id="" action="ppaction://hlinkshowjump?jump=nextslide"/>
            </p:cNvPr>
            <p:cNvSpPr/>
            <p:nvPr/>
          </p:nvSpPr>
          <p:spPr>
            <a:xfrm rot="-5400000">
              <a:off x="4032" y="4111"/>
              <a:ext cx="192" cy="13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19063" y="60000"/>
                  </a:moveTo>
                  <a:lnTo>
                    <a:pt x="100937" y="15000"/>
                  </a:lnTo>
                  <a:lnTo>
                    <a:pt x="100937" y="105000"/>
                  </a:lnTo>
                  <a:close/>
                </a:path>
                <a:path w="120000" h="120000" fill="darken" extrusionOk="0">
                  <a:moveTo>
                    <a:pt x="19063" y="60000"/>
                  </a:moveTo>
                  <a:lnTo>
                    <a:pt x="100937" y="15000"/>
                  </a:lnTo>
                  <a:lnTo>
                    <a:pt x="100937" y="105000"/>
                  </a:lnTo>
                  <a:close/>
                </a:path>
                <a:path w="120000" h="120000" fill="none" extrusionOk="0">
                  <a:moveTo>
                    <a:pt x="19063" y="60000"/>
                  </a:moveTo>
                  <a:lnTo>
                    <a:pt x="100937" y="15000"/>
                  </a:lnTo>
                  <a:lnTo>
                    <a:pt x="100937" y="105000"/>
                  </a:lnTo>
                  <a:close/>
                </a:path>
                <a:path w="120000" h="120000" fill="none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C0C0C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4" name="Google Shape;44;p41"/>
          <p:cNvSpPr/>
          <p:nvPr/>
        </p:nvSpPr>
        <p:spPr>
          <a:xfrm>
            <a:off x="8940800" y="838200"/>
            <a:ext cx="32512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5" name="Google Shape;45;p41"/>
          <p:cNvSpPr txBox="1"/>
          <p:nvPr/>
        </p:nvSpPr>
        <p:spPr>
          <a:xfrm>
            <a:off x="9042400" y="152401"/>
            <a:ext cx="3149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 u="sng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Outline</a:t>
            </a:r>
            <a:endParaRPr/>
          </a:p>
        </p:txBody>
      </p:sp>
      <p:grpSp>
        <p:nvGrpSpPr>
          <p:cNvPr id="46" name="Google Shape;46;p41"/>
          <p:cNvGrpSpPr/>
          <p:nvPr/>
        </p:nvGrpSpPr>
        <p:grpSpPr>
          <a:xfrm>
            <a:off x="9106949" y="77002"/>
            <a:ext cx="277283" cy="685801"/>
            <a:chOff x="4063" y="3841"/>
            <a:chExt cx="131" cy="432"/>
          </a:xfrm>
        </p:grpSpPr>
        <p:sp>
          <p:nvSpPr>
            <p:cNvPr id="47" name="Google Shape;47;p41">
              <a:hlinkClick r:id="" action="ppaction://hlinkshowjump?jump=previousslide"/>
            </p:cNvPr>
            <p:cNvSpPr/>
            <p:nvPr/>
          </p:nvSpPr>
          <p:spPr>
            <a:xfrm rot="5400000">
              <a:off x="4032" y="3871"/>
              <a:ext cx="192" cy="13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19063" y="60000"/>
                  </a:moveTo>
                  <a:lnTo>
                    <a:pt x="100937" y="15000"/>
                  </a:lnTo>
                  <a:lnTo>
                    <a:pt x="100937" y="105000"/>
                  </a:lnTo>
                  <a:close/>
                </a:path>
                <a:path w="120000" h="120000" fill="darken" extrusionOk="0">
                  <a:moveTo>
                    <a:pt x="19063" y="60000"/>
                  </a:moveTo>
                  <a:lnTo>
                    <a:pt x="100937" y="15000"/>
                  </a:lnTo>
                  <a:lnTo>
                    <a:pt x="100937" y="105000"/>
                  </a:lnTo>
                  <a:close/>
                </a:path>
                <a:path w="120000" h="120000" fill="none" extrusionOk="0">
                  <a:moveTo>
                    <a:pt x="19063" y="60000"/>
                  </a:moveTo>
                  <a:lnTo>
                    <a:pt x="100937" y="15000"/>
                  </a:lnTo>
                  <a:lnTo>
                    <a:pt x="100937" y="105000"/>
                  </a:lnTo>
                  <a:close/>
                </a:path>
                <a:path w="120000" h="120000" fill="none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C0C0C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" name="Google Shape;48;p41">
              <a:hlinkClick r:id="" action="ppaction://hlinkshowjump?jump=nextslide"/>
            </p:cNvPr>
            <p:cNvSpPr/>
            <p:nvPr/>
          </p:nvSpPr>
          <p:spPr>
            <a:xfrm rot="-5400000">
              <a:off x="4032" y="4111"/>
              <a:ext cx="192" cy="13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19063" y="60000"/>
                  </a:moveTo>
                  <a:lnTo>
                    <a:pt x="100937" y="15000"/>
                  </a:lnTo>
                  <a:lnTo>
                    <a:pt x="100937" y="105000"/>
                  </a:lnTo>
                  <a:close/>
                </a:path>
                <a:path w="120000" h="120000" fill="darken" extrusionOk="0">
                  <a:moveTo>
                    <a:pt x="19063" y="60000"/>
                  </a:moveTo>
                  <a:lnTo>
                    <a:pt x="100937" y="15000"/>
                  </a:lnTo>
                  <a:lnTo>
                    <a:pt x="100937" y="105000"/>
                  </a:lnTo>
                  <a:close/>
                </a:path>
                <a:path w="120000" h="120000" fill="none" extrusionOk="0">
                  <a:moveTo>
                    <a:pt x="19063" y="60000"/>
                  </a:moveTo>
                  <a:lnTo>
                    <a:pt x="100937" y="15000"/>
                  </a:lnTo>
                  <a:lnTo>
                    <a:pt x="100937" y="105000"/>
                  </a:lnTo>
                  <a:close/>
                </a:path>
                <a:path w="120000" h="120000" fill="none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C0C0C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9" name="Google Shape;49;p41"/>
          <p:cNvSpPr/>
          <p:nvPr/>
        </p:nvSpPr>
        <p:spPr>
          <a:xfrm>
            <a:off x="8839200" y="838200"/>
            <a:ext cx="32512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50" name="Google Shape;50;p41"/>
          <p:cNvSpPr txBox="1"/>
          <p:nvPr/>
        </p:nvSpPr>
        <p:spPr>
          <a:xfrm>
            <a:off x="9753600" y="6370639"/>
            <a:ext cx="47752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</a:t>
            </a:r>
            <a:r>
              <a:rPr lang="tr-T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2000 Prentice Hall, Inc.</a:t>
            </a:r>
            <a:br>
              <a:rPr lang="tr-T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tr-T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rights reserved.</a:t>
            </a:r>
            <a:endParaRPr/>
          </a:p>
        </p:txBody>
      </p:sp>
      <p:sp>
        <p:nvSpPr>
          <p:cNvPr id="51" name="Google Shape;51;p41"/>
          <p:cNvSpPr txBox="1">
            <a:spLocks noGrp="1"/>
          </p:cNvSpPr>
          <p:nvPr>
            <p:ph type="subTitle" idx="1"/>
          </p:nvPr>
        </p:nvSpPr>
        <p:spPr>
          <a:xfrm>
            <a:off x="8839200" y="762000"/>
            <a:ext cx="3251200" cy="6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estrial"/>
              <a:buNone/>
              <a:defRPr sz="1600" b="1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ş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ölüm Üstbilgisi" type="secHead">
  <p:cSld name="SECTION_HEAD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İki İçerik" type="twoObj">
  <p:cSld name="TWO_OBJECT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4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rşılaştırma" type="twoTxTwoObj">
  <p:cSld name="TWO_OBJECTS_WITH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3" name="Google Shape;73;p4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4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5" name="Google Shape;75;p4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alnızca Başlık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lı Resim" type="picTx">
  <p:cSld name="PICTURE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4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8" name="Google Shape;88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 ve Dikey Metin" type="vertTx">
  <p:cSld name="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key Başlık ve Metin" type="vertTitleAndTx">
  <p:cSld name="VERTICAL_TITLE_AND_VERTICAL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tr-TR"/>
              <a:t>Pointer, Dinamik Bellek ve Diziler</a:t>
            </a:r>
            <a:endParaRPr/>
          </a:p>
        </p:txBody>
      </p:sp>
      <p:sp>
        <p:nvSpPr>
          <p:cNvPr id="108" name="Google Shape;108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>
            <a:spLocks noGrp="1"/>
          </p:cNvSpPr>
          <p:nvPr>
            <p:ph type="title"/>
          </p:nvPr>
        </p:nvSpPr>
        <p:spPr>
          <a:xfrm>
            <a:off x="2136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lang="tr-TR"/>
              <a:t>Dinamik Hafıza Tahsisi</a:t>
            </a:r>
            <a:endParaRPr/>
          </a:p>
        </p:txBody>
      </p:sp>
      <p:sp>
        <p:nvSpPr>
          <p:cNvPr id="114" name="Google Shape;114;p2"/>
          <p:cNvSpPr txBox="1">
            <a:spLocks noGrp="1"/>
          </p:cNvSpPr>
          <p:nvPr>
            <p:ph type="body" idx="1"/>
          </p:nvPr>
        </p:nvSpPr>
        <p:spPr>
          <a:xfrm>
            <a:off x="2136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20040" lvl="0" indent="-3200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9999"/>
              <a:buChar char="◻"/>
            </a:pPr>
            <a:r>
              <a:rPr lang="tr-TR" dirty="0"/>
              <a:t>Standart kütüphanedeki malloc(), calloc(), realloc(), free() fonksiyonları ile program dinamik olarak bellek alanı isteyebilir. </a:t>
            </a:r>
            <a:endParaRPr dirty="0"/>
          </a:p>
          <a:p>
            <a:pPr marL="320040" lvl="0" indent="-32004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Char char="◻"/>
            </a:pPr>
            <a:r>
              <a:rPr lang="tr-TR" dirty="0"/>
              <a:t>İstenen belleğin başlangıç adresi bir işaretçide tutularak ile bu bellek üzerinde işlem yapılır. </a:t>
            </a:r>
            <a:endParaRPr dirty="0"/>
          </a:p>
          <a:p>
            <a:pPr marL="320040" lvl="0" indent="-32004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Char char="◻"/>
            </a:pPr>
            <a:r>
              <a:rPr lang="tr-TR" i="1" dirty="0"/>
              <a:t>void</a:t>
            </a:r>
            <a:r>
              <a:rPr lang="tr-TR" dirty="0"/>
              <a:t>* malloc(</a:t>
            </a:r>
            <a:r>
              <a:rPr lang="tr-TR" i="1" dirty="0"/>
              <a:t>boyut</a:t>
            </a:r>
            <a:r>
              <a:rPr lang="tr-TR" dirty="0"/>
              <a:t>) </a:t>
            </a:r>
            <a:endParaRPr dirty="0"/>
          </a:p>
          <a:p>
            <a:pPr marL="411480" lvl="1" indent="0" algn="l" rtl="0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ct val="70000"/>
              <a:buNone/>
            </a:pPr>
            <a:r>
              <a:rPr lang="tr-TR" i="1" dirty="0"/>
              <a:t>boyut </a:t>
            </a:r>
            <a:r>
              <a:rPr lang="tr-TR" dirty="0"/>
              <a:t>byte kadar yeni bellek alanı ayırır. </a:t>
            </a:r>
            <a:endParaRPr dirty="0"/>
          </a:p>
          <a:p>
            <a:pPr marL="320040" lvl="0" indent="-32004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Char char="◻"/>
            </a:pPr>
            <a:r>
              <a:rPr lang="tr-TR" i="1" dirty="0"/>
              <a:t>void</a:t>
            </a:r>
            <a:r>
              <a:rPr lang="tr-TR" dirty="0"/>
              <a:t>* calloc(</a:t>
            </a:r>
            <a:r>
              <a:rPr lang="tr-TR" i="1" dirty="0"/>
              <a:t>adet, boyut</a:t>
            </a:r>
            <a:r>
              <a:rPr lang="tr-TR" dirty="0"/>
              <a:t>) </a:t>
            </a:r>
            <a:endParaRPr dirty="0"/>
          </a:p>
          <a:p>
            <a:pPr marL="411480" lvl="1" indent="0" algn="l" rtl="0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ct val="70000"/>
              <a:buNone/>
            </a:pPr>
            <a:r>
              <a:rPr lang="tr-TR" i="1" dirty="0"/>
              <a:t>boyut*adet </a:t>
            </a:r>
            <a:r>
              <a:rPr lang="tr-TR" dirty="0"/>
              <a:t>byte kadar yeni bellek alanı ayırır. </a:t>
            </a:r>
            <a:endParaRPr dirty="0"/>
          </a:p>
          <a:p>
            <a:pPr marL="320040" lvl="0" indent="-32004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Char char="◻"/>
            </a:pPr>
            <a:r>
              <a:rPr lang="tr-TR" i="1" dirty="0"/>
              <a:t>void</a:t>
            </a:r>
            <a:r>
              <a:rPr lang="tr-TR" dirty="0"/>
              <a:t>* realloc(</a:t>
            </a:r>
            <a:r>
              <a:rPr lang="tr-TR" i="1" dirty="0"/>
              <a:t>işaretçi</a:t>
            </a:r>
            <a:r>
              <a:rPr lang="tr-TR" dirty="0"/>
              <a:t>, </a:t>
            </a:r>
            <a:r>
              <a:rPr lang="tr-TR" i="1" dirty="0"/>
              <a:t>boyut</a:t>
            </a:r>
            <a:r>
              <a:rPr lang="tr-TR" dirty="0"/>
              <a:t>) </a:t>
            </a:r>
            <a:endParaRPr dirty="0"/>
          </a:p>
          <a:p>
            <a:pPr marL="411480" lvl="1" indent="0" algn="l" rtl="0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ct val="70000"/>
              <a:buNone/>
            </a:pPr>
            <a:r>
              <a:rPr lang="tr-TR" i="1" dirty="0"/>
              <a:t>işaretçi </a:t>
            </a:r>
            <a:r>
              <a:rPr lang="tr-TR" dirty="0"/>
              <a:t>tarafından işaret edilen bellek alanını </a:t>
            </a:r>
            <a:r>
              <a:rPr lang="tr-TR" i="1" dirty="0"/>
              <a:t>boyut </a:t>
            </a:r>
            <a:r>
              <a:rPr lang="tr-TR" dirty="0"/>
              <a:t>byte kadar        olacak şekilde değiştirir. </a:t>
            </a:r>
            <a:endParaRPr dirty="0"/>
          </a:p>
          <a:p>
            <a:pPr marL="320040" lvl="0" indent="-32004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Char char="◻"/>
            </a:pPr>
            <a:r>
              <a:rPr lang="tr-TR" dirty="0"/>
              <a:t>free(işaretçi) </a:t>
            </a:r>
            <a:endParaRPr dirty="0"/>
          </a:p>
          <a:p>
            <a:pPr marL="411480" lvl="1" indent="0" algn="l" rtl="0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ct val="70000"/>
              <a:buNone/>
            </a:pPr>
            <a:r>
              <a:rPr lang="tr-TR" dirty="0"/>
              <a:t> </a:t>
            </a:r>
            <a:r>
              <a:rPr lang="tr-TR" i="1" dirty="0"/>
              <a:t>işaretçi</a:t>
            </a:r>
            <a:r>
              <a:rPr lang="tr-TR" dirty="0"/>
              <a:t> için ayrılan bellek alanı geri verilir.</a:t>
            </a:r>
            <a:endParaRPr dirty="0"/>
          </a:p>
          <a:p>
            <a:pPr marL="320040" lvl="0" indent="-234429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None/>
            </a:pPr>
            <a:endParaRPr dirty="0"/>
          </a:p>
        </p:txBody>
      </p:sp>
      <p:sp>
        <p:nvSpPr>
          <p:cNvPr id="115" name="Google Shape;115;p2"/>
          <p:cNvSpPr txBox="1">
            <a:spLocks noGrp="1"/>
          </p:cNvSpPr>
          <p:nvPr>
            <p:ph type="sldNum" idx="12"/>
          </p:nvPr>
        </p:nvSpPr>
        <p:spPr>
          <a:xfrm>
            <a:off x="152400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>
            <a:spLocks noGrp="1"/>
          </p:cNvSpPr>
          <p:nvPr>
            <p:ph type="title"/>
          </p:nvPr>
        </p:nvSpPr>
        <p:spPr>
          <a:xfrm>
            <a:off x="2152649" y="1104543"/>
            <a:ext cx="8229600" cy="570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None/>
            </a:pPr>
            <a:r>
              <a:rPr lang="tr-TR" sz="3000"/>
              <a:t/>
            </a:r>
            <a:br>
              <a:rPr lang="tr-TR" sz="3000"/>
            </a:br>
            <a:endParaRPr sz="3000" b="1"/>
          </a:p>
        </p:txBody>
      </p:sp>
      <p:sp>
        <p:nvSpPr>
          <p:cNvPr id="121" name="Google Shape;121;p3"/>
          <p:cNvSpPr/>
          <p:nvPr/>
        </p:nvSpPr>
        <p:spPr>
          <a:xfrm>
            <a:off x="2152651" y="1675253"/>
            <a:ext cx="274955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malloc fonksiyonu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0" i="1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malloc </a:t>
            </a:r>
            <a:r>
              <a:rPr lang="tr-TR" sz="12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fonksiyonu programın çalışma zamanı sırasında bellekten dinamik bir blok elde etmek için kullanılır. Fonksiyonun </a:t>
            </a:r>
            <a:r>
              <a:rPr lang="tr-TR" sz="1200" b="0" i="1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stdlib.h </a:t>
            </a:r>
            <a:r>
              <a:rPr lang="tr-TR" sz="12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başlık dosyası içindeki bildirimi aşağıdaki gibidir: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void *malloc(size_t nbyte);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size_t türünün derleyiciyi yazanların seçimine bağlı olarak unsigned int ya da unsigned long türlerinden birinin yeni tür ismi olarak tanımlanması gerektiğini, ve sistemlerin hemen hemen hepsinde size_t türünün unsigned int türü olduğunu hatırlayalım. </a:t>
            </a:r>
            <a:endParaRPr sz="1200" b="0" i="0" u="none" strike="noStrike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Fonksiyona gönderilecek arguman ayrılmak istenen bloğun byte olarak uzunluğudur. Ayrılan alanın sürekli (contigious) olması garanti altına alınmıştır. malloc fonksiyonunun geri dönüş değeri elde edilen bellek bloğunun başlangıç adresidir.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3" descr="İlgili resi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8400" y="1823683"/>
            <a:ext cx="5448300" cy="306467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 txBox="1">
            <a:spLocks noGrp="1"/>
          </p:cNvSpPr>
          <p:nvPr>
            <p:ph type="sldNum" idx="12"/>
          </p:nvPr>
        </p:nvSpPr>
        <p:spPr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wentieth Century"/>
              <a:buNone/>
            </a:pPr>
            <a:fld id="{00000000-1234-1234-1234-123412341234}" type="slidenum">
              <a:rPr lang="tr-TR"/>
              <a:t>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>
            <a:spLocks noGrp="1"/>
          </p:cNvSpPr>
          <p:nvPr>
            <p:ph type="title"/>
          </p:nvPr>
        </p:nvSpPr>
        <p:spPr>
          <a:xfrm>
            <a:off x="2136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lang="tr-TR"/>
              <a:t>Malloc</a:t>
            </a:r>
            <a:endParaRPr/>
          </a:p>
        </p:txBody>
      </p:sp>
      <p:sp>
        <p:nvSpPr>
          <p:cNvPr id="130" name="Google Shape;130;p4"/>
          <p:cNvSpPr txBox="1">
            <a:spLocks noGrp="1"/>
          </p:cNvSpPr>
          <p:nvPr>
            <p:ph type="sldNum" idx="12"/>
          </p:nvPr>
        </p:nvSpPr>
        <p:spPr>
          <a:xfrm>
            <a:off x="152400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4</a:t>
            </a:fld>
            <a:endParaRPr/>
          </a:p>
        </p:txBody>
      </p:sp>
      <p:pic>
        <p:nvPicPr>
          <p:cNvPr id="131" name="Google Shape;131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367808" y="508181"/>
            <a:ext cx="5056790" cy="61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>
            <a:spLocks noGrp="1"/>
          </p:cNvSpPr>
          <p:nvPr>
            <p:ph type="title"/>
          </p:nvPr>
        </p:nvSpPr>
        <p:spPr>
          <a:xfrm>
            <a:off x="2136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37" name="Google Shape;137;p5"/>
          <p:cNvSpPr txBox="1">
            <a:spLocks noGrp="1"/>
          </p:cNvSpPr>
          <p:nvPr>
            <p:ph type="sldNum" idx="12"/>
          </p:nvPr>
        </p:nvSpPr>
        <p:spPr>
          <a:xfrm>
            <a:off x="152400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5</a:t>
            </a:fld>
            <a:endParaRPr/>
          </a:p>
        </p:txBody>
      </p:sp>
      <p:sp>
        <p:nvSpPr>
          <p:cNvPr id="138" name="Google Shape;138;p5"/>
          <p:cNvSpPr txBox="1">
            <a:spLocks noGrp="1"/>
          </p:cNvSpPr>
          <p:nvPr>
            <p:ph type="body" idx="1"/>
          </p:nvPr>
        </p:nvSpPr>
        <p:spPr>
          <a:xfrm>
            <a:off x="2136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20040" lvl="0" indent="-209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40"/>
              <a:buNone/>
            </a:pPr>
            <a:endParaRPr/>
          </a:p>
        </p:txBody>
      </p:sp>
      <p:pic>
        <p:nvPicPr>
          <p:cNvPr id="139" name="Google Shape;13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5013" y="1309688"/>
            <a:ext cx="8677979" cy="4495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>
            <a:off x="1919536" y="129173"/>
            <a:ext cx="4572000" cy="7017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#include &lt;stdio.h&gt;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#include &lt;stdlib.h&gt;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int main(){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int *x,i,N,toplam=0;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float ortalama;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printf("Eleman sayisi ");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scanf("%d",&amp;N);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x = (int *) malloc(N*sizeof(int));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printf("adres=%p\n",x);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printf("Elemanlari girin:\n");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for(i=0;i&lt;N;i++){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printf("%d.eleman adresi:%p = ",i+1,x+i);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scanf("%d",&amp;x[i]);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// x[i] ile *(x+i) aynı      anlamda !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toplam += x[i];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free(x);  // ayrılan yer boşaltılıyor...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ortalama = (float) toplam/N;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printf("Bu %d sayinin ortlamasi %f dir\n",N,ortalama);       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09459" y="1903141"/>
            <a:ext cx="4484422" cy="124320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 txBox="1">
            <a:spLocks noGrp="1"/>
          </p:cNvSpPr>
          <p:nvPr>
            <p:ph type="sldNum" idx="12"/>
          </p:nvPr>
        </p:nvSpPr>
        <p:spPr>
          <a:xfrm>
            <a:off x="152400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54" name="Google Shape;154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/>
              <a:t>20 elemanlı diziyi rasgele üreten, görüntüleyen ve sıralayan programı yapınız.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/>
              <a:t>Çözüm: Slayt Notlar kısmında.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>
            <a:spLocks noGrp="1"/>
          </p:cNvSpPr>
          <p:nvPr>
            <p:ph type="sldNum" idx="12"/>
          </p:nvPr>
        </p:nvSpPr>
        <p:spPr>
          <a:xfrm>
            <a:off x="152400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8</a:t>
            </a:fld>
            <a:endParaRPr/>
          </a:p>
        </p:txBody>
      </p:sp>
      <p:sp>
        <p:nvSpPr>
          <p:cNvPr id="161" name="Google Shape;161;p8"/>
          <p:cNvSpPr txBox="1">
            <a:spLocks noGrp="1"/>
          </p:cNvSpPr>
          <p:nvPr>
            <p:ph type="title"/>
          </p:nvPr>
        </p:nvSpPr>
        <p:spPr>
          <a:xfrm>
            <a:off x="2136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Times New Roman"/>
              <a:buNone/>
            </a:pPr>
            <a:r>
              <a:rPr lang="tr-TR" sz="36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Fonksiyon İşaretçileri</a:t>
            </a:r>
            <a:endParaRPr sz="36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8"/>
          <p:cNvSpPr txBox="1">
            <a:spLocks noGrp="1"/>
          </p:cNvSpPr>
          <p:nvPr>
            <p:ph type="body" idx="1"/>
          </p:nvPr>
        </p:nvSpPr>
        <p:spPr>
          <a:xfrm>
            <a:off x="2136648" y="1598820"/>
            <a:ext cx="7919792" cy="4824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20040" lvl="0" indent="-32004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tr-TR" sz="2500">
                <a:latin typeface="Times New Roman"/>
                <a:ea typeface="Times New Roman"/>
                <a:cs typeface="Times New Roman"/>
                <a:sym typeface="Times New Roman"/>
              </a:rPr>
              <a:t>Fonksiyon işaretçileri, </a:t>
            </a:r>
            <a:r>
              <a:rPr lang="tr-TR" sz="2500" u="sng">
                <a:latin typeface="Times New Roman"/>
                <a:ea typeface="Times New Roman"/>
                <a:cs typeface="Times New Roman"/>
                <a:sym typeface="Times New Roman"/>
              </a:rPr>
              <a:t>işaretçi (pointer) kavramının gücünü</a:t>
            </a:r>
            <a:r>
              <a:rPr lang="tr-TR" sz="2500">
                <a:latin typeface="Times New Roman"/>
                <a:ea typeface="Times New Roman"/>
                <a:cs typeface="Times New Roman"/>
                <a:sym typeface="Times New Roman"/>
              </a:rPr>
              <a:t> gösteren diğer bir uygulama alanıdır. 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0040" lvl="0" indent="-320040" algn="just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tr-TR" sz="2500">
                <a:latin typeface="Times New Roman"/>
                <a:ea typeface="Times New Roman"/>
                <a:cs typeface="Times New Roman"/>
                <a:sym typeface="Times New Roman"/>
              </a:rPr>
              <a:t>Dizilerde olduğu gibi, </a:t>
            </a:r>
            <a:r>
              <a:rPr lang="tr-TR" sz="2500" b="1">
                <a:latin typeface="Times New Roman"/>
                <a:ea typeface="Times New Roman"/>
                <a:cs typeface="Times New Roman"/>
                <a:sym typeface="Times New Roman"/>
              </a:rPr>
              <a:t>fonksiyon adları</a:t>
            </a:r>
            <a:r>
              <a:rPr lang="tr-TR" sz="2500">
                <a:latin typeface="Times New Roman"/>
                <a:ea typeface="Times New Roman"/>
                <a:cs typeface="Times New Roman"/>
                <a:sym typeface="Times New Roman"/>
              </a:rPr>
              <a:t> da s</a:t>
            </a:r>
            <a:r>
              <a:rPr lang="tr-TR" sz="2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abit işaretçidir</a:t>
            </a:r>
            <a:r>
              <a:rPr lang="tr-TR" sz="250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0040" lvl="0" indent="-320040" algn="just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500"/>
              <a:buFont typeface="Arial"/>
              <a:buChar char="•"/>
            </a:pPr>
            <a:r>
              <a:rPr lang="tr-TR" sz="2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Fonksiyon kodlarının </a:t>
            </a:r>
            <a:r>
              <a:rPr lang="tr-TR" sz="25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bellekte bir adreste tutulduğu </a:t>
            </a:r>
            <a:r>
              <a:rPr lang="tr-TR" sz="2500">
                <a:latin typeface="Times New Roman"/>
                <a:ea typeface="Times New Roman"/>
                <a:cs typeface="Times New Roman"/>
                <a:sym typeface="Times New Roman"/>
              </a:rPr>
              <a:t>şeklinde </a:t>
            </a:r>
            <a:r>
              <a:rPr lang="tr-TR" sz="2500" b="1">
                <a:latin typeface="Times New Roman"/>
                <a:ea typeface="Times New Roman"/>
                <a:cs typeface="Times New Roman"/>
                <a:sym typeface="Times New Roman"/>
              </a:rPr>
              <a:t>düşünebiliriz</a:t>
            </a:r>
            <a:r>
              <a:rPr lang="tr-TR" sz="250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0040" lvl="0" indent="-320040" algn="just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tr-TR" sz="2500">
                <a:latin typeface="Times New Roman"/>
                <a:ea typeface="Times New Roman"/>
                <a:cs typeface="Times New Roman"/>
                <a:sym typeface="Times New Roman"/>
              </a:rPr>
              <a:t>Fonksiyon işaretçisi basit olarak </a:t>
            </a:r>
            <a:r>
              <a:rPr lang="tr-TR" sz="2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fonksiyon adının saklandığı </a:t>
            </a:r>
            <a:r>
              <a:rPr lang="tr-TR" sz="25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bellek adresini tutan </a:t>
            </a:r>
            <a:r>
              <a:rPr lang="tr-TR" sz="2500">
                <a:latin typeface="Times New Roman"/>
                <a:ea typeface="Times New Roman"/>
                <a:cs typeface="Times New Roman"/>
                <a:sym typeface="Times New Roman"/>
              </a:rPr>
              <a:t>bir </a:t>
            </a:r>
            <a:r>
              <a:rPr lang="tr-TR" sz="2500" b="1">
                <a:latin typeface="Times New Roman"/>
                <a:ea typeface="Times New Roman"/>
                <a:cs typeface="Times New Roman"/>
                <a:sym typeface="Times New Roman"/>
              </a:rPr>
              <a:t>işaretçidir</a:t>
            </a:r>
            <a:r>
              <a:rPr lang="tr-TR" sz="250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marL="320040" lvl="0" indent="-320040" algn="just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tr-TR" sz="2500">
                <a:latin typeface="Times New Roman"/>
                <a:ea typeface="Times New Roman"/>
                <a:cs typeface="Times New Roman"/>
                <a:sym typeface="Times New Roman"/>
              </a:rPr>
              <a:t>Fonksiyon işaretçileri sayesinde, </a:t>
            </a:r>
            <a:r>
              <a:rPr lang="tr-TR" sz="25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fonksiyonlar</a:t>
            </a:r>
            <a:r>
              <a:rPr lang="tr-TR" sz="2500" u="sng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tr-TR" sz="2500" u="sng">
                <a:solidFill>
                  <a:srgbClr val="8A700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başka fonksiyonlara</a:t>
            </a:r>
            <a:r>
              <a:rPr lang="tr-TR" sz="2500" u="sng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tr-TR" sz="2500" i="1" u="sng">
                <a:latin typeface="Times New Roman"/>
                <a:ea typeface="Times New Roman"/>
                <a:cs typeface="Times New Roman"/>
                <a:sym typeface="Times New Roman"/>
              </a:rPr>
              <a:t>parametre olarak aktarılabilmektedirler</a:t>
            </a:r>
            <a:r>
              <a:rPr lang="tr-TR" sz="25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>
            <a:spLocks noGrp="1"/>
          </p:cNvSpPr>
          <p:nvPr>
            <p:ph type="sldNum" idx="12"/>
          </p:nvPr>
        </p:nvSpPr>
        <p:spPr>
          <a:xfrm>
            <a:off x="152400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9</a:t>
            </a:fld>
            <a:endParaRPr/>
          </a:p>
        </p:txBody>
      </p:sp>
      <p:sp>
        <p:nvSpPr>
          <p:cNvPr id="168" name="Google Shape;168;p9"/>
          <p:cNvSpPr txBox="1">
            <a:spLocks noGrp="1"/>
          </p:cNvSpPr>
          <p:nvPr>
            <p:ph type="body" idx="2"/>
          </p:nvPr>
        </p:nvSpPr>
        <p:spPr>
          <a:xfrm>
            <a:off x="2639616" y="332656"/>
            <a:ext cx="7647384" cy="5839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9999"/>
              <a:buNone/>
            </a:pPr>
            <a:r>
              <a:rPr lang="tr-TR" sz="5600" dirty="0"/>
              <a:t>#include &lt;stdio.h&gt;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None/>
            </a:pPr>
            <a:r>
              <a:rPr lang="tr-TR" sz="5600" dirty="0"/>
              <a:t>int* buyuk(int*, int*);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None/>
            </a:pPr>
            <a:r>
              <a:rPr lang="tr-TR" sz="5600" dirty="0"/>
              <a:t>void main()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None/>
            </a:pPr>
            <a:r>
              <a:rPr lang="tr-TR" sz="5600" dirty="0"/>
              <a:t>{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None/>
            </a:pPr>
            <a:r>
              <a:rPr lang="tr-TR" sz="5600" dirty="0"/>
              <a:t> int numa=0;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None/>
            </a:pPr>
            <a:r>
              <a:rPr lang="tr-TR" sz="5600" dirty="0"/>
              <a:t> int numb=0;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None/>
            </a:pPr>
            <a:r>
              <a:rPr lang="tr-TR" sz="5600" dirty="0"/>
              <a:t> int *result;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None/>
            </a:pPr>
            <a:endParaRPr sz="5600" dirty="0"/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None/>
            </a:pPr>
            <a:r>
              <a:rPr lang="tr-TR" sz="5600" dirty="0"/>
              <a:t>   printf(" birinci deger: ");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None/>
            </a:pPr>
            <a:r>
              <a:rPr lang="tr-TR" sz="5600" dirty="0"/>
              <a:t>   scanf("%d", &amp;numa);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None/>
            </a:pPr>
            <a:r>
              <a:rPr lang="tr-TR" sz="5600" dirty="0"/>
              <a:t>   printf(" ikinci deger : ");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None/>
            </a:pPr>
            <a:r>
              <a:rPr lang="tr-TR" sz="5600" dirty="0"/>
              <a:t>   scanf("%d", &amp;numb); 	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None/>
            </a:pPr>
            <a:endParaRPr sz="5600" dirty="0"/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None/>
            </a:pPr>
            <a:r>
              <a:rPr lang="tr-TR" sz="5600" dirty="0"/>
              <a:t> result=buyuk(&amp;numa, &amp;numb);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None/>
            </a:pPr>
            <a:r>
              <a:rPr lang="tr-TR" sz="5600" dirty="0"/>
              <a:t> printf(" buyuk olan %d   \n\n",*result);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None/>
            </a:pPr>
            <a:r>
              <a:rPr lang="tr-TR" sz="5600" dirty="0"/>
              <a:t>}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None/>
            </a:pPr>
            <a:endParaRPr sz="5600" dirty="0"/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None/>
            </a:pPr>
            <a:r>
              <a:rPr lang="tr-TR" sz="5600" dirty="0"/>
              <a:t>int* buyuk(int *n1, int *n2)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None/>
            </a:pPr>
            <a:r>
              <a:rPr lang="tr-TR" sz="5600" dirty="0"/>
              <a:t>{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None/>
            </a:pPr>
            <a:r>
              <a:rPr lang="tr-TR" sz="5600" dirty="0"/>
              <a:t> if(*n1 &gt; *n2)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None/>
            </a:pPr>
            <a:r>
              <a:rPr lang="tr-TR" sz="5600" dirty="0"/>
              <a:t>  return n1;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None/>
            </a:pPr>
            <a:r>
              <a:rPr lang="tr-TR" sz="5600" dirty="0"/>
              <a:t> else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None/>
            </a:pPr>
            <a:r>
              <a:rPr lang="tr-TR" sz="5600" dirty="0"/>
              <a:t>  return n2;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None/>
            </a:pPr>
            <a:r>
              <a:rPr lang="tr-TR" sz="5600" dirty="0"/>
              <a:t>}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59999"/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2921" y="431800"/>
            <a:ext cx="6172200" cy="5511800"/>
          </a:xfrm>
        </p:spPr>
        <p:txBody>
          <a:bodyPr>
            <a:normAutofit fontScale="25000" lnSpcReduction="20000"/>
          </a:bodyPr>
          <a:lstStyle/>
          <a:p>
            <a:pPr marL="2540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  <a:endParaRPr lang="tr-TR" dirty="0"/>
          </a:p>
          <a:p>
            <a:pPr marL="25400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buyuk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, </a:t>
            </a:r>
            <a:r>
              <a:rPr lang="en-US" dirty="0" err="1"/>
              <a:t>int</a:t>
            </a:r>
            <a:r>
              <a:rPr lang="en-US" dirty="0"/>
              <a:t>);</a:t>
            </a:r>
            <a:endParaRPr lang="tr-TR" dirty="0"/>
          </a:p>
          <a:p>
            <a:pPr marL="25400" indent="0">
              <a:buNone/>
            </a:pPr>
            <a:r>
              <a:rPr lang="en-US" dirty="0"/>
              <a:t>void main()</a:t>
            </a:r>
            <a:endParaRPr lang="tr-TR" dirty="0"/>
          </a:p>
          <a:p>
            <a:pPr marL="25400" indent="0">
              <a:buNone/>
            </a:pPr>
            <a:r>
              <a:rPr lang="en-US" dirty="0"/>
              <a:t>{</a:t>
            </a:r>
            <a:endParaRPr lang="tr-TR" dirty="0"/>
          </a:p>
          <a:p>
            <a:pPr marL="25400" indent="0">
              <a:buNone/>
            </a:pP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numa</a:t>
            </a:r>
            <a:r>
              <a:rPr lang="en-US" dirty="0"/>
              <a:t>=0;</a:t>
            </a:r>
            <a:endParaRPr lang="tr-TR" dirty="0"/>
          </a:p>
          <a:p>
            <a:pPr marL="25400" indent="0">
              <a:buNone/>
            </a:pP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numb=0;</a:t>
            </a:r>
            <a:endParaRPr lang="tr-TR" dirty="0"/>
          </a:p>
          <a:p>
            <a:pPr marL="25400" indent="0">
              <a:buNone/>
            </a:pP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result;</a:t>
            </a:r>
            <a:endParaRPr lang="tr-TR" dirty="0"/>
          </a:p>
          <a:p>
            <a:pPr marL="25400" indent="0">
              <a:buNone/>
            </a:pPr>
            <a:r>
              <a:rPr lang="en-US" dirty="0"/>
              <a:t> </a:t>
            </a:r>
            <a:endParaRPr lang="tr-TR" dirty="0"/>
          </a:p>
          <a:p>
            <a:pPr marL="25400" indent="0">
              <a:buNone/>
            </a:pPr>
            <a:r>
              <a:rPr lang="en-US" dirty="0"/>
              <a:t>   </a:t>
            </a:r>
            <a:r>
              <a:rPr lang="en-US" dirty="0" err="1"/>
              <a:t>printf</a:t>
            </a:r>
            <a:r>
              <a:rPr lang="en-US" dirty="0"/>
              <a:t>(" </a:t>
            </a:r>
            <a:r>
              <a:rPr lang="en-US" dirty="0" err="1"/>
              <a:t>birinci</a:t>
            </a:r>
            <a:r>
              <a:rPr lang="en-US" dirty="0"/>
              <a:t> </a:t>
            </a:r>
            <a:r>
              <a:rPr lang="en-US" dirty="0" err="1"/>
              <a:t>deger</a:t>
            </a:r>
            <a:r>
              <a:rPr lang="en-US" dirty="0"/>
              <a:t>: ");</a:t>
            </a:r>
            <a:endParaRPr lang="tr-TR" dirty="0"/>
          </a:p>
          <a:p>
            <a:pPr marL="25400" indent="0">
              <a:buNone/>
            </a:pPr>
            <a:r>
              <a:rPr lang="en-US" dirty="0"/>
              <a:t>   </a:t>
            </a:r>
            <a:r>
              <a:rPr lang="en-US" dirty="0" err="1"/>
              <a:t>scanf</a:t>
            </a:r>
            <a:r>
              <a:rPr lang="en-US" dirty="0"/>
              <a:t>("%d", &amp;</a:t>
            </a:r>
            <a:r>
              <a:rPr lang="en-US" dirty="0" err="1"/>
              <a:t>numa</a:t>
            </a:r>
            <a:r>
              <a:rPr lang="en-US" dirty="0"/>
              <a:t>);</a:t>
            </a:r>
            <a:endParaRPr lang="tr-TR" dirty="0"/>
          </a:p>
          <a:p>
            <a:pPr marL="25400" indent="0">
              <a:buNone/>
            </a:pPr>
            <a:r>
              <a:rPr lang="en-US" dirty="0"/>
              <a:t>   </a:t>
            </a:r>
            <a:r>
              <a:rPr lang="en-US" dirty="0" err="1"/>
              <a:t>printf</a:t>
            </a:r>
            <a:r>
              <a:rPr lang="en-US" dirty="0"/>
              <a:t>(" </a:t>
            </a:r>
            <a:r>
              <a:rPr lang="en-US" dirty="0" err="1"/>
              <a:t>ikinci</a:t>
            </a:r>
            <a:r>
              <a:rPr lang="en-US" dirty="0"/>
              <a:t> </a:t>
            </a:r>
            <a:r>
              <a:rPr lang="en-US" dirty="0" err="1"/>
              <a:t>deger</a:t>
            </a:r>
            <a:r>
              <a:rPr lang="en-US" dirty="0"/>
              <a:t> : ");</a:t>
            </a:r>
            <a:endParaRPr lang="tr-TR" dirty="0"/>
          </a:p>
          <a:p>
            <a:pPr marL="25400" indent="0">
              <a:buNone/>
            </a:pPr>
            <a:r>
              <a:rPr lang="en-US" dirty="0"/>
              <a:t>   </a:t>
            </a:r>
            <a:r>
              <a:rPr lang="en-US" dirty="0" err="1"/>
              <a:t>scanf</a:t>
            </a:r>
            <a:r>
              <a:rPr lang="en-US" dirty="0"/>
              <a:t>("%d", &amp;numb); 	</a:t>
            </a:r>
            <a:endParaRPr lang="tr-TR" dirty="0"/>
          </a:p>
          <a:p>
            <a:pPr marL="25400" indent="0">
              <a:buNone/>
            </a:pPr>
            <a:r>
              <a:rPr lang="en-US" dirty="0"/>
              <a:t> </a:t>
            </a:r>
            <a:endParaRPr lang="tr-TR" dirty="0"/>
          </a:p>
          <a:p>
            <a:pPr marL="25400" indent="0">
              <a:buNone/>
            </a:pPr>
            <a:r>
              <a:rPr lang="en-US" dirty="0"/>
              <a:t> result=</a:t>
            </a:r>
            <a:r>
              <a:rPr lang="en-US" dirty="0" err="1"/>
              <a:t>buyuk</a:t>
            </a:r>
            <a:r>
              <a:rPr lang="en-US" dirty="0"/>
              <a:t>(</a:t>
            </a:r>
            <a:r>
              <a:rPr lang="en-US" dirty="0" err="1"/>
              <a:t>numa</a:t>
            </a:r>
            <a:r>
              <a:rPr lang="en-US" dirty="0"/>
              <a:t>, numb);</a:t>
            </a:r>
            <a:endParaRPr lang="tr-TR" dirty="0"/>
          </a:p>
          <a:p>
            <a:pPr marL="25400" indent="0">
              <a:buNone/>
            </a:pPr>
            <a:r>
              <a:rPr lang="en-US" dirty="0"/>
              <a:t> </a:t>
            </a:r>
            <a:r>
              <a:rPr lang="en-US" dirty="0" err="1"/>
              <a:t>printf</a:t>
            </a:r>
            <a:r>
              <a:rPr lang="en-US" dirty="0"/>
              <a:t>(" </a:t>
            </a:r>
            <a:r>
              <a:rPr lang="en-US" dirty="0" err="1"/>
              <a:t>buyuk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%d   \n\</a:t>
            </a:r>
            <a:r>
              <a:rPr lang="en-US" dirty="0" err="1"/>
              <a:t>n",result</a:t>
            </a:r>
            <a:r>
              <a:rPr lang="en-US" dirty="0"/>
              <a:t>);</a:t>
            </a:r>
            <a:endParaRPr lang="tr-TR" dirty="0"/>
          </a:p>
          <a:p>
            <a:pPr marL="25400" indent="0">
              <a:buNone/>
            </a:pPr>
            <a:r>
              <a:rPr lang="en-US" dirty="0"/>
              <a:t>}</a:t>
            </a:r>
            <a:endParaRPr lang="tr-TR" dirty="0"/>
          </a:p>
          <a:p>
            <a:pPr marL="25400" indent="0">
              <a:buNone/>
            </a:pPr>
            <a:r>
              <a:rPr lang="en-US" dirty="0"/>
              <a:t> </a:t>
            </a:r>
            <a:endParaRPr lang="tr-TR" dirty="0"/>
          </a:p>
          <a:p>
            <a:pPr marL="25400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buyuk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n1, </a:t>
            </a:r>
            <a:r>
              <a:rPr lang="en-US" dirty="0" err="1"/>
              <a:t>int</a:t>
            </a:r>
            <a:r>
              <a:rPr lang="en-US" dirty="0"/>
              <a:t> n2)</a:t>
            </a:r>
            <a:endParaRPr lang="tr-TR" dirty="0"/>
          </a:p>
          <a:p>
            <a:pPr marL="25400" indent="0">
              <a:buNone/>
            </a:pPr>
            <a:r>
              <a:rPr lang="en-US" dirty="0"/>
              <a:t>{</a:t>
            </a:r>
            <a:endParaRPr lang="tr-TR" dirty="0"/>
          </a:p>
          <a:p>
            <a:pPr marL="25400" indent="0">
              <a:buNone/>
            </a:pPr>
            <a:r>
              <a:rPr lang="en-US" dirty="0"/>
              <a:t> if(n1 &gt; n2)</a:t>
            </a:r>
            <a:endParaRPr lang="tr-TR" dirty="0"/>
          </a:p>
          <a:p>
            <a:pPr marL="25400" indent="0">
              <a:buNone/>
            </a:pPr>
            <a:r>
              <a:rPr lang="en-US" dirty="0"/>
              <a:t>  return n1;</a:t>
            </a:r>
            <a:endParaRPr lang="tr-TR" dirty="0"/>
          </a:p>
          <a:p>
            <a:pPr marL="25400" indent="0">
              <a:buNone/>
            </a:pPr>
            <a:r>
              <a:rPr lang="en-US" dirty="0"/>
              <a:t> else</a:t>
            </a:r>
            <a:endParaRPr lang="tr-TR" dirty="0"/>
          </a:p>
          <a:p>
            <a:pPr marL="25400" indent="0">
              <a:buNone/>
            </a:pPr>
            <a:r>
              <a:rPr lang="en-US" dirty="0"/>
              <a:t>  return n2;</a:t>
            </a:r>
            <a:endParaRPr lang="tr-TR" dirty="0"/>
          </a:p>
          <a:p>
            <a:pPr marL="25400" indent="0">
              <a:buNone/>
            </a:pPr>
            <a:r>
              <a:rPr lang="en-US" dirty="0"/>
              <a:t>}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59722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 txBox="1">
            <a:spLocks noGrp="1"/>
          </p:cNvSpPr>
          <p:nvPr>
            <p:ph type="title"/>
          </p:nvPr>
        </p:nvSpPr>
        <p:spPr>
          <a:xfrm>
            <a:off x="2136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lang="tr-TR"/>
              <a:t>Fonksiyonları Gösteren Göstericiler</a:t>
            </a:r>
            <a:endParaRPr/>
          </a:p>
        </p:txBody>
      </p:sp>
      <p:sp>
        <p:nvSpPr>
          <p:cNvPr id="174" name="Google Shape;174;p10"/>
          <p:cNvSpPr txBox="1">
            <a:spLocks noGrp="1"/>
          </p:cNvSpPr>
          <p:nvPr>
            <p:ph type="body" idx="1"/>
          </p:nvPr>
        </p:nvSpPr>
        <p:spPr>
          <a:xfrm>
            <a:off x="2136648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20040" lvl="0" indent="-3200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Char char="◻"/>
            </a:pPr>
            <a:r>
              <a:rPr lang="tr-TR" sz="2400"/>
              <a:t>Bir fonksiyonu gösteren gösterici</a:t>
            </a:r>
            <a:endParaRPr/>
          </a:p>
          <a:p>
            <a:pPr marL="640080" lvl="1" indent="-274320" algn="l" rtl="0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✔"/>
            </a:pPr>
            <a:r>
              <a:rPr lang="tr-TR"/>
              <a:t>Fonksiyonunun adresini tutar.</a:t>
            </a:r>
            <a:endParaRPr/>
          </a:p>
          <a:p>
            <a:pPr marL="640080" lvl="1" indent="-274320" algn="l" rtl="0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✔"/>
            </a:pPr>
            <a:r>
              <a:rPr lang="tr-TR"/>
              <a:t>Bir dizi isminin ilk elemanın adresi olmasına benzer.</a:t>
            </a:r>
            <a:endParaRPr/>
          </a:p>
          <a:p>
            <a:pPr marL="640080" lvl="1" indent="-274320" algn="l" rtl="0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✔"/>
            </a:pPr>
            <a:r>
              <a:rPr lang="tr-TR"/>
              <a:t>Fonksiyon isimleri, fonksiyonun görevini yapan kodun hafızadaki başlangıç adresidir.</a:t>
            </a:r>
            <a:endParaRPr/>
          </a:p>
          <a:p>
            <a:pPr marL="320040" lvl="0" indent="-32004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40"/>
              <a:buChar char="◻"/>
            </a:pPr>
            <a:r>
              <a:rPr lang="tr-TR" sz="2400"/>
              <a:t>Fonksiyonları gösteren göstericiler</a:t>
            </a:r>
            <a:endParaRPr/>
          </a:p>
          <a:p>
            <a:pPr marL="640080" lvl="1" indent="-274320" algn="l" rtl="0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✔"/>
            </a:pPr>
            <a:r>
              <a:rPr lang="tr-TR"/>
              <a:t>Fonksiyonlara geçirilebilir.</a:t>
            </a:r>
            <a:endParaRPr/>
          </a:p>
          <a:p>
            <a:pPr marL="640080" lvl="1" indent="-274320" algn="l" rtl="0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✔"/>
            </a:pPr>
            <a:r>
              <a:rPr lang="tr-TR"/>
              <a:t>Fonksiyonlardan geri döndürülebilir.</a:t>
            </a:r>
            <a:endParaRPr/>
          </a:p>
          <a:p>
            <a:pPr marL="640080" lvl="1" indent="-274320" algn="l" rtl="0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✔"/>
            </a:pPr>
            <a:r>
              <a:rPr lang="tr-TR"/>
              <a:t>Fonksiyon gösteren diğer göstericilere atanabilir.</a:t>
            </a:r>
            <a:endParaRPr/>
          </a:p>
          <a:p>
            <a:pPr marL="640080" lvl="1" indent="-158750" algn="l" rtl="0">
              <a:lnSpc>
                <a:spcPct val="90000"/>
              </a:lnSpc>
              <a:spcBef>
                <a:spcPts val="550"/>
              </a:spcBef>
              <a:spcAft>
                <a:spcPts val="0"/>
              </a:spcAft>
              <a:buClr>
                <a:schemeClr val="dk1"/>
              </a:buClr>
              <a:buSzPts val="1820"/>
              <a:buNone/>
            </a:pPr>
            <a:endParaRPr/>
          </a:p>
        </p:txBody>
      </p:sp>
      <p:sp>
        <p:nvSpPr>
          <p:cNvPr id="175" name="Google Shape;175;p10"/>
          <p:cNvSpPr txBox="1">
            <a:spLocks noGrp="1"/>
          </p:cNvSpPr>
          <p:nvPr>
            <p:ph type="sldNum" idx="12"/>
          </p:nvPr>
        </p:nvSpPr>
        <p:spPr>
          <a:xfrm>
            <a:off x="152400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11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 txBox="1">
            <a:spLocks noGrp="1"/>
          </p:cNvSpPr>
          <p:nvPr>
            <p:ph type="sldNum" idx="12"/>
          </p:nvPr>
        </p:nvSpPr>
        <p:spPr>
          <a:xfrm>
            <a:off x="152400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12</a:t>
            </a:fld>
            <a:endParaRPr/>
          </a:p>
        </p:txBody>
      </p:sp>
      <p:sp>
        <p:nvSpPr>
          <p:cNvPr id="182" name="Google Shape;182;p11"/>
          <p:cNvSpPr txBox="1">
            <a:spLocks noGrp="1"/>
          </p:cNvSpPr>
          <p:nvPr>
            <p:ph type="title"/>
          </p:nvPr>
        </p:nvSpPr>
        <p:spPr>
          <a:xfrm>
            <a:off x="2136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Times New Roman"/>
              <a:buNone/>
            </a:pPr>
            <a:r>
              <a:rPr lang="tr-TR" sz="36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Fonksiyon İşaretçileri </a:t>
            </a:r>
            <a:r>
              <a:rPr lang="tr-TR" sz="19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(devam…)</a:t>
            </a:r>
            <a:endParaRPr sz="19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11"/>
          <p:cNvSpPr txBox="1">
            <a:spLocks noGrp="1"/>
          </p:cNvSpPr>
          <p:nvPr>
            <p:ph type="body" idx="1"/>
          </p:nvPr>
        </p:nvSpPr>
        <p:spPr>
          <a:xfrm>
            <a:off x="2136648" y="1598820"/>
            <a:ext cx="8351840" cy="4824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20040" lvl="0" indent="-32004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tr-TR" sz="2500">
                <a:latin typeface="Times New Roman"/>
                <a:ea typeface="Times New Roman"/>
                <a:cs typeface="Times New Roman"/>
                <a:sym typeface="Times New Roman"/>
              </a:rPr>
              <a:t>Fonksiyonların bellekteki adresleri aşağıdaki kodlama kullanımıyla öğrenilebilir:</a:t>
            </a:r>
            <a:endParaRPr/>
          </a:p>
          <a:p>
            <a:pPr marL="320040" lvl="0" indent="-161290" algn="just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99"/>
              </a:buClr>
              <a:buSzPts val="2200"/>
              <a:buNone/>
            </a:pPr>
            <a:r>
              <a:rPr lang="tr-TR" sz="22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tr-TR" sz="22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tr-TR" sz="2200">
                <a:latin typeface="Courier New"/>
                <a:ea typeface="Courier New"/>
                <a:cs typeface="Courier New"/>
                <a:sym typeface="Courier New"/>
              </a:rPr>
              <a:t>f(</a:t>
            </a:r>
            <a:r>
              <a:rPr lang="tr-TR" sz="22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tr-TR" sz="2200">
                <a:latin typeface="Courier New"/>
                <a:ea typeface="Courier New"/>
                <a:cs typeface="Courier New"/>
                <a:sym typeface="Courier New"/>
              </a:rPr>
              <a:t>);     /* fonksiyon bildirimi */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99"/>
              </a:buClr>
              <a:buSzPts val="2200"/>
              <a:buNone/>
            </a:pPr>
            <a:r>
              <a:rPr lang="tr-TR" sz="22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tr-TR" sz="22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tr-TR" sz="2200">
                <a:latin typeface="Courier New"/>
                <a:ea typeface="Courier New"/>
                <a:cs typeface="Courier New"/>
                <a:sym typeface="Courier New"/>
              </a:rPr>
              <a:t>(*pf)(</a:t>
            </a:r>
            <a:r>
              <a:rPr lang="tr-TR" sz="22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tr-TR" sz="2200">
                <a:latin typeface="Courier New"/>
                <a:ea typeface="Courier New"/>
                <a:cs typeface="Courier New"/>
                <a:sym typeface="Courier New"/>
              </a:rPr>
              <a:t>); /*fonksiyon işaretçi bild.*/ 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tr-TR" sz="2200">
                <a:latin typeface="Courier New"/>
                <a:ea typeface="Courier New"/>
                <a:cs typeface="Courier New"/>
                <a:sym typeface="Courier New"/>
              </a:rPr>
              <a:t>pf = &amp;f;        /*f'nin adresini pf'ye ata! */</a:t>
            </a:r>
            <a:endParaRPr sz="2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sldNum" idx="12"/>
          </p:nvPr>
        </p:nvSpPr>
        <p:spPr>
          <a:xfrm>
            <a:off x="152400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13</a:t>
            </a:fld>
            <a:endParaRPr/>
          </a:p>
        </p:txBody>
      </p:sp>
      <p:sp>
        <p:nvSpPr>
          <p:cNvPr id="190" name="Google Shape;190;p12"/>
          <p:cNvSpPr txBox="1">
            <a:spLocks noGrp="1"/>
          </p:cNvSpPr>
          <p:nvPr>
            <p:ph type="title"/>
          </p:nvPr>
        </p:nvSpPr>
        <p:spPr>
          <a:xfrm>
            <a:off x="2136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600"/>
              <a:buFont typeface="Times New Roman"/>
              <a:buNone/>
            </a:pPr>
            <a:r>
              <a:rPr lang="tr-TR" sz="36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Örnek: </a:t>
            </a:r>
            <a:r>
              <a:rPr lang="tr-TR" sz="36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Fonksiyon İşaretçileri</a:t>
            </a:r>
            <a:endParaRPr sz="19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1" name="Google Shape;19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5640" y="1592805"/>
            <a:ext cx="4896544" cy="5034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1738" y="5804383"/>
            <a:ext cx="3864973" cy="617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/>
          <p:nvPr/>
        </p:nvSpPr>
        <p:spPr>
          <a:xfrm>
            <a:off x="1508016" y="-1"/>
            <a:ext cx="6748224" cy="4986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#include &lt;stdio.h&gt;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void yazdir(int,int,int(*)(int,int));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int kucuk(int,int);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int buyuk(int,int);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int main()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{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int a,b,secim;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printf("Iki tamsayi giriniz: ");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scanf("%d%d",&amp;a,&amp;b);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printf("Buyuk olani bulmak icin 1"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" kucuk olani bulmak icin 2 giriniz: ");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scanf("%d",&amp;secim);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if(secim==1) yazdir(a,b,buyuk);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else yazdir(a,b,kucuk);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};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}</a:t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5591944" y="37660"/>
            <a:ext cx="4572000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void yazdir(int a,int b,int(*k)(int,int))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{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int sonuc=0;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sonuc=(*k)(a,b);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printf("Sonuc: %d",sonuc);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int kucuk(int a,int b)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{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if(a&lt;b) return a;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else return b 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int buyuk(int a,int b)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{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if(a&gt;b) return a;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else return b 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14574" y="4656859"/>
            <a:ext cx="7236250" cy="711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14574" y="5793636"/>
            <a:ext cx="7449370" cy="73625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3"/>
          <p:cNvSpPr txBox="1">
            <a:spLocks noGrp="1"/>
          </p:cNvSpPr>
          <p:nvPr>
            <p:ph type="sldNum" idx="12"/>
          </p:nvPr>
        </p:nvSpPr>
        <p:spPr>
          <a:xfrm>
            <a:off x="152400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14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	Using the </a:t>
            </a:r>
            <a:r>
              <a:rPr lang="tr-TR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tr-TR"/>
              <a:t> Qualifier with Pointers</a:t>
            </a:r>
            <a:endParaRPr/>
          </a:p>
        </p:txBody>
      </p:sp>
      <p:sp>
        <p:nvSpPr>
          <p:cNvPr id="207" name="Google Shape;20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tr-TR"/>
              <a:t> qualifier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-TR"/>
              <a:t>Variable cannot be changed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-TR"/>
              <a:t>Use </a:t>
            </a: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tr-TR"/>
              <a:t> if function does not need to change a variable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-TR"/>
              <a:t>Attempting to change a </a:t>
            </a: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tr-TR"/>
              <a:t> variable produces an error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tr-TR"/>
              <a:t> pointers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-TR"/>
              <a:t>Point to a constant memory location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-TR"/>
              <a:t>Must be initialized when declared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int *const myPtr = &amp;x;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-TR"/>
              <a:t>Type </a:t>
            </a: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int *const</a:t>
            </a:r>
            <a:r>
              <a:rPr lang="tr-TR"/>
              <a:t> </a:t>
            </a:r>
            <a:r>
              <a:rPr lang="tr-TR"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tr-TR"/>
              <a:t> constant pointer to an </a:t>
            </a: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const int *myPtr = &amp;x;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-TR"/>
              <a:t>Regular pointer to a </a:t>
            </a: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const int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const int *const Ptr = &amp;x;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tr-TR"/>
              <a:t> pointer to a </a:t>
            </a: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const int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tr-TR"/>
              <a:t> can be changed, but not </a:t>
            </a: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*Ptr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>
            <a:spLocks noGrp="1"/>
          </p:cNvSpPr>
          <p:nvPr>
            <p:ph type="subTitle" idx="1"/>
          </p:nvPr>
        </p:nvSpPr>
        <p:spPr>
          <a:xfrm>
            <a:off x="8229600" y="762000"/>
            <a:ext cx="2438400" cy="6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1.  Declare variables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1.1  Declare </a:t>
            </a:r>
            <a:r>
              <a:rPr lang="tr-TR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tr-TR"/>
              <a:t> pointer to an </a:t>
            </a:r>
            <a:r>
              <a:rPr lang="tr-TR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2.  Change </a:t>
            </a:r>
            <a:r>
              <a:rPr lang="tr-TR">
                <a:latin typeface="Courier New"/>
                <a:ea typeface="Courier New"/>
                <a:cs typeface="Courier New"/>
                <a:sym typeface="Courier New"/>
              </a:rPr>
              <a:t>*ptr</a:t>
            </a:r>
            <a:r>
              <a:rPr lang="tr-TR"/>
              <a:t> (which is </a:t>
            </a:r>
            <a:r>
              <a:rPr lang="tr-TR"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tr-TR"/>
              <a:t>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2.1  Attempt to change </a:t>
            </a:r>
            <a:r>
              <a:rPr lang="tr-TR">
                <a:latin typeface="Courier New"/>
                <a:ea typeface="Courier New"/>
                <a:cs typeface="Courier New"/>
                <a:sym typeface="Courier New"/>
              </a:rPr>
              <a:t>ptr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3. Output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Program Output</a:t>
            </a:r>
            <a:endParaRPr/>
          </a:p>
        </p:txBody>
      </p:sp>
      <p:grpSp>
        <p:nvGrpSpPr>
          <p:cNvPr id="213" name="Google Shape;213;p15"/>
          <p:cNvGrpSpPr/>
          <p:nvPr/>
        </p:nvGrpSpPr>
        <p:grpSpPr>
          <a:xfrm>
            <a:off x="1524000" y="-6370"/>
            <a:ext cx="6781800" cy="5041232"/>
            <a:chOff x="0" y="-9"/>
            <a:chExt cx="3072" cy="7123"/>
          </a:xfrm>
        </p:grpSpPr>
        <p:grpSp>
          <p:nvGrpSpPr>
            <p:cNvPr id="214" name="Google Shape;214;p15"/>
            <p:cNvGrpSpPr/>
            <p:nvPr/>
          </p:nvGrpSpPr>
          <p:grpSpPr>
            <a:xfrm>
              <a:off x="0" y="-9"/>
              <a:ext cx="3072" cy="391"/>
              <a:chOff x="0" y="-9"/>
              <a:chExt cx="3072" cy="391"/>
            </a:xfrm>
          </p:grpSpPr>
          <p:sp>
            <p:nvSpPr>
              <p:cNvPr id="215" name="Google Shape;215;p15"/>
              <p:cNvSpPr/>
              <p:nvPr/>
            </p:nvSpPr>
            <p:spPr>
              <a:xfrm>
                <a:off x="0" y="-9"/>
                <a:ext cx="3072" cy="391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6" name="Google Shape;216;p15"/>
              <p:cNvSpPr/>
              <p:nvPr/>
            </p:nvSpPr>
            <p:spPr>
              <a:xfrm>
                <a:off x="0" y="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	</a:t>
                </a:r>
                <a:r>
                  <a:rPr lang="tr-TR" sz="1200" b="1">
                    <a:solidFill>
                      <a:srgbClr val="33CC33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/* Fig. 7.13: fig07_13.c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17" name="Google Shape;217;p15"/>
            <p:cNvGrpSpPr/>
            <p:nvPr/>
          </p:nvGrpSpPr>
          <p:grpSpPr>
            <a:xfrm>
              <a:off x="0" y="365"/>
              <a:ext cx="3072" cy="391"/>
              <a:chOff x="0" y="365"/>
              <a:chExt cx="3072" cy="391"/>
            </a:xfrm>
          </p:grpSpPr>
          <p:sp>
            <p:nvSpPr>
              <p:cNvPr id="218" name="Google Shape;218;p15"/>
              <p:cNvSpPr/>
              <p:nvPr/>
            </p:nvSpPr>
            <p:spPr>
              <a:xfrm>
                <a:off x="0" y="365"/>
                <a:ext cx="3072" cy="391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9" name="Google Shape;219;p15"/>
              <p:cNvSpPr/>
              <p:nvPr/>
            </p:nvSpPr>
            <p:spPr>
              <a:xfrm>
                <a:off x="0" y="37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33CC33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Attempting to modify a constant pointer to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20" name="Google Shape;220;p15"/>
            <p:cNvGrpSpPr/>
            <p:nvPr/>
          </p:nvGrpSpPr>
          <p:grpSpPr>
            <a:xfrm>
              <a:off x="0" y="739"/>
              <a:ext cx="3072" cy="391"/>
              <a:chOff x="0" y="739"/>
              <a:chExt cx="3072" cy="391"/>
            </a:xfrm>
          </p:grpSpPr>
          <p:sp>
            <p:nvSpPr>
              <p:cNvPr id="221" name="Google Shape;221;p15"/>
              <p:cNvSpPr/>
              <p:nvPr/>
            </p:nvSpPr>
            <p:spPr>
              <a:xfrm>
                <a:off x="0" y="739"/>
                <a:ext cx="3072" cy="391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2" name="Google Shape;222;p15"/>
              <p:cNvSpPr/>
              <p:nvPr/>
            </p:nvSpPr>
            <p:spPr>
              <a:xfrm>
                <a:off x="0" y="74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33CC33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non-constant data */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23" name="Google Shape;223;p15"/>
            <p:cNvGrpSpPr/>
            <p:nvPr/>
          </p:nvGrpSpPr>
          <p:grpSpPr>
            <a:xfrm>
              <a:off x="0" y="1113"/>
              <a:ext cx="3072" cy="391"/>
              <a:chOff x="0" y="1113"/>
              <a:chExt cx="3072" cy="391"/>
            </a:xfrm>
          </p:grpSpPr>
          <p:sp>
            <p:nvSpPr>
              <p:cNvPr id="224" name="Google Shape;224;p15"/>
              <p:cNvSpPr/>
              <p:nvPr/>
            </p:nvSpPr>
            <p:spPr>
              <a:xfrm>
                <a:off x="0" y="1113"/>
                <a:ext cx="3072" cy="391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5" name="Google Shape;225;p15"/>
              <p:cNvSpPr/>
              <p:nvPr/>
            </p:nvSpPr>
            <p:spPr>
              <a:xfrm>
                <a:off x="0" y="112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26" name="Google Shape;226;p15"/>
            <p:cNvGrpSpPr/>
            <p:nvPr/>
          </p:nvGrpSpPr>
          <p:grpSpPr>
            <a:xfrm>
              <a:off x="0" y="1487"/>
              <a:ext cx="3072" cy="391"/>
              <a:chOff x="0" y="1487"/>
              <a:chExt cx="3072" cy="391"/>
            </a:xfrm>
          </p:grpSpPr>
          <p:sp>
            <p:nvSpPr>
              <p:cNvPr id="227" name="Google Shape;227;p15"/>
              <p:cNvSpPr/>
              <p:nvPr/>
            </p:nvSpPr>
            <p:spPr>
              <a:xfrm>
                <a:off x="0" y="1487"/>
                <a:ext cx="3072" cy="391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28" name="Google Shape;228;p15"/>
              <p:cNvSpPr/>
              <p:nvPr/>
            </p:nvSpPr>
            <p:spPr>
              <a:xfrm>
                <a:off x="0" y="149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5	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#include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&lt;stdio.h&gt;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29" name="Google Shape;229;p15"/>
            <p:cNvGrpSpPr/>
            <p:nvPr/>
          </p:nvGrpSpPr>
          <p:grpSpPr>
            <a:xfrm>
              <a:off x="0" y="1861"/>
              <a:ext cx="3072" cy="391"/>
              <a:chOff x="0" y="1861"/>
              <a:chExt cx="3072" cy="391"/>
            </a:xfrm>
          </p:grpSpPr>
          <p:sp>
            <p:nvSpPr>
              <p:cNvPr id="230" name="Google Shape;230;p15"/>
              <p:cNvSpPr/>
              <p:nvPr/>
            </p:nvSpPr>
            <p:spPr>
              <a:xfrm>
                <a:off x="0" y="1861"/>
                <a:ext cx="3072" cy="391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1" name="Google Shape;231;p15"/>
              <p:cNvSpPr/>
              <p:nvPr/>
            </p:nvSpPr>
            <p:spPr>
              <a:xfrm>
                <a:off x="0" y="187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6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32" name="Google Shape;232;p15"/>
            <p:cNvGrpSpPr/>
            <p:nvPr/>
          </p:nvGrpSpPr>
          <p:grpSpPr>
            <a:xfrm>
              <a:off x="0" y="2235"/>
              <a:ext cx="3072" cy="391"/>
              <a:chOff x="0" y="2235"/>
              <a:chExt cx="3072" cy="391"/>
            </a:xfrm>
          </p:grpSpPr>
          <p:sp>
            <p:nvSpPr>
              <p:cNvPr id="233" name="Google Shape;233;p15"/>
              <p:cNvSpPr/>
              <p:nvPr/>
            </p:nvSpPr>
            <p:spPr>
              <a:xfrm>
                <a:off x="0" y="2235"/>
                <a:ext cx="3072" cy="391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4" name="Google Shape;234;p15"/>
              <p:cNvSpPr/>
              <p:nvPr/>
            </p:nvSpPr>
            <p:spPr>
              <a:xfrm>
                <a:off x="0" y="224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7	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main()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35" name="Google Shape;235;p15"/>
            <p:cNvGrpSpPr/>
            <p:nvPr/>
          </p:nvGrpSpPr>
          <p:grpSpPr>
            <a:xfrm>
              <a:off x="0" y="2609"/>
              <a:ext cx="3072" cy="391"/>
              <a:chOff x="0" y="2609"/>
              <a:chExt cx="3072" cy="391"/>
            </a:xfrm>
          </p:grpSpPr>
          <p:sp>
            <p:nvSpPr>
              <p:cNvPr id="236" name="Google Shape;236;p15"/>
              <p:cNvSpPr/>
              <p:nvPr/>
            </p:nvSpPr>
            <p:spPr>
              <a:xfrm>
                <a:off x="0" y="2609"/>
                <a:ext cx="3072" cy="391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37" name="Google Shape;237;p15"/>
              <p:cNvSpPr/>
              <p:nvPr/>
            </p:nvSpPr>
            <p:spPr>
              <a:xfrm>
                <a:off x="0" y="261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8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38" name="Google Shape;238;p15"/>
            <p:cNvGrpSpPr/>
            <p:nvPr/>
          </p:nvGrpSpPr>
          <p:grpSpPr>
            <a:xfrm>
              <a:off x="0" y="2983"/>
              <a:ext cx="3072" cy="391"/>
              <a:chOff x="0" y="2983"/>
              <a:chExt cx="3072" cy="391"/>
            </a:xfrm>
          </p:grpSpPr>
          <p:sp>
            <p:nvSpPr>
              <p:cNvPr id="239" name="Google Shape;239;p15"/>
              <p:cNvSpPr/>
              <p:nvPr/>
            </p:nvSpPr>
            <p:spPr>
              <a:xfrm>
                <a:off x="0" y="2983"/>
                <a:ext cx="3072" cy="391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0" name="Google Shape;240;p15"/>
              <p:cNvSpPr/>
              <p:nvPr/>
            </p:nvSpPr>
            <p:spPr>
              <a:xfrm>
                <a:off x="0" y="299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9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x, y;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41" name="Google Shape;241;p15"/>
            <p:cNvGrpSpPr/>
            <p:nvPr/>
          </p:nvGrpSpPr>
          <p:grpSpPr>
            <a:xfrm>
              <a:off x="0" y="3357"/>
              <a:ext cx="3072" cy="391"/>
              <a:chOff x="0" y="3357"/>
              <a:chExt cx="3072" cy="391"/>
            </a:xfrm>
          </p:grpSpPr>
          <p:sp>
            <p:nvSpPr>
              <p:cNvPr id="242" name="Google Shape;242;p15"/>
              <p:cNvSpPr/>
              <p:nvPr/>
            </p:nvSpPr>
            <p:spPr>
              <a:xfrm>
                <a:off x="0" y="3357"/>
                <a:ext cx="3072" cy="391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3" name="Google Shape;243;p15"/>
              <p:cNvSpPr/>
              <p:nvPr/>
            </p:nvSpPr>
            <p:spPr>
              <a:xfrm>
                <a:off x="0" y="336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10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44" name="Google Shape;244;p15"/>
            <p:cNvGrpSpPr/>
            <p:nvPr/>
          </p:nvGrpSpPr>
          <p:grpSpPr>
            <a:xfrm>
              <a:off x="0" y="3731"/>
              <a:ext cx="3072" cy="391"/>
              <a:chOff x="0" y="3731"/>
              <a:chExt cx="3072" cy="391"/>
            </a:xfrm>
          </p:grpSpPr>
          <p:sp>
            <p:nvSpPr>
              <p:cNvPr id="245" name="Google Shape;245;p15"/>
              <p:cNvSpPr/>
              <p:nvPr/>
            </p:nvSpPr>
            <p:spPr>
              <a:xfrm>
                <a:off x="0" y="3731"/>
                <a:ext cx="3072" cy="391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6" name="Google Shape;246;p15"/>
              <p:cNvSpPr/>
              <p:nvPr/>
            </p:nvSpPr>
            <p:spPr>
              <a:xfrm>
                <a:off x="0" y="374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11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*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const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ptr = &amp;x; </a:t>
                </a:r>
                <a:r>
                  <a:rPr lang="tr-TR" sz="1200" b="1">
                    <a:solidFill>
                      <a:srgbClr val="33CC33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/* ptr is a constant pointer to an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47" name="Google Shape;247;p15"/>
            <p:cNvGrpSpPr/>
            <p:nvPr/>
          </p:nvGrpSpPr>
          <p:grpSpPr>
            <a:xfrm>
              <a:off x="0" y="4105"/>
              <a:ext cx="3072" cy="391"/>
              <a:chOff x="0" y="4105"/>
              <a:chExt cx="3072" cy="391"/>
            </a:xfrm>
          </p:grpSpPr>
          <p:sp>
            <p:nvSpPr>
              <p:cNvPr id="248" name="Google Shape;248;p15"/>
              <p:cNvSpPr/>
              <p:nvPr/>
            </p:nvSpPr>
            <p:spPr>
              <a:xfrm>
                <a:off x="0" y="4105"/>
                <a:ext cx="3072" cy="391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9" name="Google Shape;249;p15"/>
              <p:cNvSpPr/>
              <p:nvPr/>
            </p:nvSpPr>
            <p:spPr>
              <a:xfrm>
                <a:off x="0" y="411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12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                      </a:t>
                </a:r>
                <a:r>
                  <a:rPr lang="tr-TR" sz="1200" b="1">
                    <a:solidFill>
                      <a:srgbClr val="33CC33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integer. An integer can be modified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50" name="Google Shape;250;p15"/>
            <p:cNvGrpSpPr/>
            <p:nvPr/>
          </p:nvGrpSpPr>
          <p:grpSpPr>
            <a:xfrm>
              <a:off x="0" y="4479"/>
              <a:ext cx="3072" cy="391"/>
              <a:chOff x="0" y="4479"/>
              <a:chExt cx="3072" cy="391"/>
            </a:xfrm>
          </p:grpSpPr>
          <p:sp>
            <p:nvSpPr>
              <p:cNvPr id="251" name="Google Shape;251;p15"/>
              <p:cNvSpPr/>
              <p:nvPr/>
            </p:nvSpPr>
            <p:spPr>
              <a:xfrm>
                <a:off x="0" y="4479"/>
                <a:ext cx="3072" cy="391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2" name="Google Shape;252;p15"/>
              <p:cNvSpPr/>
              <p:nvPr/>
            </p:nvSpPr>
            <p:spPr>
              <a:xfrm>
                <a:off x="0" y="448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13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                      </a:t>
                </a:r>
                <a:r>
                  <a:rPr lang="tr-TR" sz="1200" b="1">
                    <a:solidFill>
                      <a:srgbClr val="33CC33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through ptr, but ptr always points 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53" name="Google Shape;253;p15"/>
            <p:cNvGrpSpPr/>
            <p:nvPr/>
          </p:nvGrpSpPr>
          <p:grpSpPr>
            <a:xfrm>
              <a:off x="0" y="4853"/>
              <a:ext cx="3072" cy="391"/>
              <a:chOff x="0" y="4853"/>
              <a:chExt cx="3072" cy="391"/>
            </a:xfrm>
          </p:grpSpPr>
          <p:sp>
            <p:nvSpPr>
              <p:cNvPr id="254" name="Google Shape;254;p15"/>
              <p:cNvSpPr/>
              <p:nvPr/>
            </p:nvSpPr>
            <p:spPr>
              <a:xfrm>
                <a:off x="0" y="4853"/>
                <a:ext cx="3072" cy="391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5" name="Google Shape;255;p15"/>
              <p:cNvSpPr/>
              <p:nvPr/>
            </p:nvSpPr>
            <p:spPr>
              <a:xfrm>
                <a:off x="0" y="486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14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                      </a:t>
                </a:r>
                <a:r>
                  <a:rPr lang="tr-TR" sz="1200" b="1">
                    <a:solidFill>
                      <a:srgbClr val="33CC33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to the same memory location. */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56" name="Google Shape;256;p15"/>
            <p:cNvGrpSpPr/>
            <p:nvPr/>
          </p:nvGrpSpPr>
          <p:grpSpPr>
            <a:xfrm>
              <a:off x="0" y="5227"/>
              <a:ext cx="3072" cy="391"/>
              <a:chOff x="0" y="5227"/>
              <a:chExt cx="3072" cy="391"/>
            </a:xfrm>
          </p:grpSpPr>
          <p:sp>
            <p:nvSpPr>
              <p:cNvPr id="257" name="Google Shape;257;p15"/>
              <p:cNvSpPr/>
              <p:nvPr/>
            </p:nvSpPr>
            <p:spPr>
              <a:xfrm>
                <a:off x="0" y="5227"/>
                <a:ext cx="3072" cy="391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58" name="Google Shape;258;p15"/>
              <p:cNvSpPr/>
              <p:nvPr/>
            </p:nvSpPr>
            <p:spPr>
              <a:xfrm>
                <a:off x="0" y="523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15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*ptr = 7;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59" name="Google Shape;259;p15"/>
            <p:cNvGrpSpPr/>
            <p:nvPr/>
          </p:nvGrpSpPr>
          <p:grpSpPr>
            <a:xfrm>
              <a:off x="0" y="5601"/>
              <a:ext cx="3072" cy="391"/>
              <a:chOff x="0" y="5601"/>
              <a:chExt cx="3072" cy="391"/>
            </a:xfrm>
          </p:grpSpPr>
          <p:sp>
            <p:nvSpPr>
              <p:cNvPr id="260" name="Google Shape;260;p15"/>
              <p:cNvSpPr/>
              <p:nvPr/>
            </p:nvSpPr>
            <p:spPr>
              <a:xfrm>
                <a:off x="0" y="5601"/>
                <a:ext cx="3072" cy="391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1" name="Google Shape;261;p15"/>
              <p:cNvSpPr/>
              <p:nvPr/>
            </p:nvSpPr>
            <p:spPr>
              <a:xfrm>
                <a:off x="0" y="561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16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ptr = &amp;y;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62" name="Google Shape;262;p15"/>
            <p:cNvGrpSpPr/>
            <p:nvPr/>
          </p:nvGrpSpPr>
          <p:grpSpPr>
            <a:xfrm>
              <a:off x="0" y="5975"/>
              <a:ext cx="3072" cy="391"/>
              <a:chOff x="0" y="5975"/>
              <a:chExt cx="3072" cy="391"/>
            </a:xfrm>
          </p:grpSpPr>
          <p:sp>
            <p:nvSpPr>
              <p:cNvPr id="263" name="Google Shape;263;p15"/>
              <p:cNvSpPr/>
              <p:nvPr/>
            </p:nvSpPr>
            <p:spPr>
              <a:xfrm>
                <a:off x="0" y="5975"/>
                <a:ext cx="3072" cy="391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4" name="Google Shape;264;p15"/>
              <p:cNvSpPr/>
              <p:nvPr/>
            </p:nvSpPr>
            <p:spPr>
              <a:xfrm>
                <a:off x="0" y="598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17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65" name="Google Shape;265;p15"/>
            <p:cNvGrpSpPr/>
            <p:nvPr/>
          </p:nvGrpSpPr>
          <p:grpSpPr>
            <a:xfrm>
              <a:off x="0" y="6349"/>
              <a:ext cx="3072" cy="391"/>
              <a:chOff x="0" y="6349"/>
              <a:chExt cx="3072" cy="391"/>
            </a:xfrm>
          </p:grpSpPr>
          <p:sp>
            <p:nvSpPr>
              <p:cNvPr id="266" name="Google Shape;266;p15"/>
              <p:cNvSpPr/>
              <p:nvPr/>
            </p:nvSpPr>
            <p:spPr>
              <a:xfrm>
                <a:off x="0" y="6349"/>
                <a:ext cx="3072" cy="391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67" name="Google Shape;267;p15"/>
              <p:cNvSpPr/>
              <p:nvPr/>
            </p:nvSpPr>
            <p:spPr>
              <a:xfrm>
                <a:off x="0" y="635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18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return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0;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68" name="Google Shape;268;p15"/>
            <p:cNvGrpSpPr/>
            <p:nvPr/>
          </p:nvGrpSpPr>
          <p:grpSpPr>
            <a:xfrm>
              <a:off x="0" y="6723"/>
              <a:ext cx="3072" cy="391"/>
              <a:chOff x="0" y="6723"/>
              <a:chExt cx="3072" cy="391"/>
            </a:xfrm>
          </p:grpSpPr>
          <p:sp>
            <p:nvSpPr>
              <p:cNvPr id="269" name="Google Shape;269;p15"/>
              <p:cNvSpPr/>
              <p:nvPr/>
            </p:nvSpPr>
            <p:spPr>
              <a:xfrm>
                <a:off x="0" y="6723"/>
                <a:ext cx="3072" cy="391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0" name="Google Shape;270;p15"/>
              <p:cNvSpPr/>
              <p:nvPr/>
            </p:nvSpPr>
            <p:spPr>
              <a:xfrm>
                <a:off x="0" y="673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19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sp>
        <p:nvSpPr>
          <p:cNvPr id="271" name="Google Shape;271;p15"/>
          <p:cNvSpPr/>
          <p:nvPr/>
        </p:nvSpPr>
        <p:spPr>
          <a:xfrm>
            <a:off x="1524000" y="5334001"/>
            <a:ext cx="6781800" cy="1015663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FIG07_13.c: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Error E2024 FIG07_13.c 16: Cannot modify a const object in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function main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*** 1 errors in Compile ***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72" name="Google Shape;272;p15"/>
          <p:cNvGrpSpPr/>
          <p:nvPr/>
        </p:nvGrpSpPr>
        <p:grpSpPr>
          <a:xfrm>
            <a:off x="2971800" y="1924050"/>
            <a:ext cx="4724400" cy="1809750"/>
            <a:chOff x="720" y="972"/>
            <a:chExt cx="2976" cy="1140"/>
          </a:xfrm>
        </p:grpSpPr>
        <p:cxnSp>
          <p:nvCxnSpPr>
            <p:cNvPr id="273" name="Google Shape;273;p15"/>
            <p:cNvCxnSpPr/>
            <p:nvPr/>
          </p:nvCxnSpPr>
          <p:spPr>
            <a:xfrm flipH="1">
              <a:off x="720" y="1200"/>
              <a:ext cx="1392" cy="91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74" name="Google Shape;274;p15"/>
            <p:cNvSpPr/>
            <p:nvPr/>
          </p:nvSpPr>
          <p:spPr>
            <a:xfrm>
              <a:off x="1824" y="972"/>
              <a:ext cx="1872" cy="372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-TR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Changing </a:t>
              </a:r>
              <a:r>
                <a:rPr lang="tr-TR" sz="16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*ptr</a:t>
              </a:r>
              <a:r>
                <a:rPr lang="tr-TR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is allowed – </a:t>
              </a:r>
              <a:r>
                <a:rPr lang="tr-TR" sz="16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</a:t>
              </a:r>
              <a:r>
                <a:rPr lang="tr-TR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is not a constant.</a:t>
              </a:r>
              <a:endParaRPr/>
            </a:p>
          </p:txBody>
        </p:sp>
      </p:grpSp>
      <p:grpSp>
        <p:nvGrpSpPr>
          <p:cNvPr id="275" name="Google Shape;275;p15"/>
          <p:cNvGrpSpPr/>
          <p:nvPr/>
        </p:nvGrpSpPr>
        <p:grpSpPr>
          <a:xfrm>
            <a:off x="3124200" y="3810000"/>
            <a:ext cx="5029200" cy="1676400"/>
            <a:chOff x="960" y="2160"/>
            <a:chExt cx="3168" cy="1056"/>
          </a:xfrm>
        </p:grpSpPr>
        <p:grpSp>
          <p:nvGrpSpPr>
            <p:cNvPr id="276" name="Google Shape;276;p15"/>
            <p:cNvGrpSpPr/>
            <p:nvPr/>
          </p:nvGrpSpPr>
          <p:grpSpPr>
            <a:xfrm>
              <a:off x="960" y="2160"/>
              <a:ext cx="3168" cy="372"/>
              <a:chOff x="960" y="2160"/>
              <a:chExt cx="3168" cy="372"/>
            </a:xfrm>
          </p:grpSpPr>
          <p:cxnSp>
            <p:nvCxnSpPr>
              <p:cNvPr id="277" name="Google Shape;277;p15"/>
              <p:cNvCxnSpPr/>
              <p:nvPr/>
            </p:nvCxnSpPr>
            <p:spPr>
              <a:xfrm flipH="1">
                <a:off x="960" y="2304"/>
                <a:ext cx="1584" cy="4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278" name="Google Shape;278;p15"/>
              <p:cNvSpPr/>
              <p:nvPr/>
            </p:nvSpPr>
            <p:spPr>
              <a:xfrm>
                <a:off x="2400" y="2160"/>
                <a:ext cx="1728" cy="372"/>
              </a:xfrm>
              <a:prstGeom prst="rect">
                <a:avLst/>
              </a:prstGeom>
              <a:solidFill>
                <a:srgbClr val="99CCFF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Changing </a:t>
                </a:r>
                <a:r>
                  <a:rPr lang="tr-TR" sz="16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ptr</a:t>
                </a:r>
                <a:r>
                  <a:rPr lang="tr-TR" sz="1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is an error – </a:t>
                </a:r>
                <a:r>
                  <a:rPr lang="tr-TR" sz="16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ptr</a:t>
                </a:r>
                <a:r>
                  <a:rPr lang="tr-TR" sz="16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is a constant pointer.</a:t>
                </a:r>
                <a:endParaRPr/>
              </a:p>
            </p:txBody>
          </p:sp>
        </p:grpSp>
        <p:cxnSp>
          <p:nvCxnSpPr>
            <p:cNvPr id="279" name="Google Shape;279;p15"/>
            <p:cNvCxnSpPr/>
            <p:nvPr/>
          </p:nvCxnSpPr>
          <p:spPr>
            <a:xfrm flipH="1">
              <a:off x="2736" y="2544"/>
              <a:ext cx="48" cy="67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	Bubble Sort Using Call-by-reference</a:t>
            </a:r>
            <a:endParaRPr/>
          </a:p>
        </p:txBody>
      </p:sp>
      <p:sp>
        <p:nvSpPr>
          <p:cNvPr id="285" name="Google Shape;28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tr-TR" dirty="0"/>
              <a:t>https://www.youtube.com/watch?v=9szGvK1Wo34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 dirty="0" smtClean="0"/>
              <a:t>Implement </a:t>
            </a:r>
            <a:r>
              <a:rPr lang="tr-TR" dirty="0"/>
              <a:t>bubblesort using pointers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 dirty="0"/>
              <a:t>Swap two elements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 b="1" dirty="0">
                <a:latin typeface="Courier New"/>
                <a:ea typeface="Courier New"/>
                <a:cs typeface="Courier New"/>
                <a:sym typeface="Courier New"/>
              </a:rPr>
              <a:t>swap</a:t>
            </a:r>
            <a:r>
              <a:rPr lang="tr-TR" dirty="0"/>
              <a:t> function must receive address (using </a:t>
            </a:r>
            <a:r>
              <a:rPr lang="tr-TR" b="1" dirty="0"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tr-TR" dirty="0"/>
              <a:t>) of array elements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tr-TR" dirty="0"/>
              <a:t>Array elements have call-by-value default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 dirty="0"/>
              <a:t>Using pointers and the </a:t>
            </a:r>
            <a:r>
              <a:rPr lang="tr-TR" b="1" dirty="0"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tr-TR" dirty="0"/>
              <a:t> operator, </a:t>
            </a:r>
            <a:r>
              <a:rPr lang="tr-TR" b="1" dirty="0">
                <a:latin typeface="Courier New"/>
                <a:ea typeface="Courier New"/>
                <a:cs typeface="Courier New"/>
                <a:sym typeface="Courier New"/>
              </a:rPr>
              <a:t>swap</a:t>
            </a:r>
            <a:r>
              <a:rPr lang="tr-TR" dirty="0"/>
              <a:t> can switch array elements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 dirty="0"/>
              <a:t>Psuedocode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lang="tr-TR" i="1" dirty="0">
                <a:solidFill>
                  <a:schemeClr val="accent2"/>
                </a:solidFill>
              </a:rPr>
              <a:t>Initialize array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lang="tr-TR" i="1" dirty="0">
                <a:solidFill>
                  <a:schemeClr val="accent2"/>
                </a:solidFill>
              </a:rPr>
              <a:t>    print data in original order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lang="tr-TR" i="1" dirty="0">
                <a:solidFill>
                  <a:schemeClr val="accent2"/>
                </a:solidFill>
              </a:rPr>
              <a:t>Call function bubblesort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lang="tr-TR" i="1" dirty="0">
                <a:solidFill>
                  <a:schemeClr val="accent2"/>
                </a:solidFill>
              </a:rPr>
              <a:t>	print sorted array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lang="tr-TR" i="1" dirty="0">
                <a:solidFill>
                  <a:schemeClr val="accent2"/>
                </a:solidFill>
              </a:rPr>
              <a:t>Define bubblesort</a:t>
            </a: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7.6	Bubble Sort Using Call-by-reference</a:t>
            </a:r>
            <a:endParaRPr/>
          </a:p>
        </p:txBody>
      </p:sp>
      <p:sp>
        <p:nvSpPr>
          <p:cNvPr id="291" name="Google Shape;29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/>
              <a:t>Returns size of operand in bytes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/>
              <a:t>For arrays:  size of 1 element * number of elements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/>
              <a:t>if </a:t>
            </a: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sizeof( int )</a:t>
            </a:r>
            <a:r>
              <a:rPr lang="tr-TR"/>
              <a:t> equals </a:t>
            </a: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tr-TR"/>
              <a:t> bytes, then</a:t>
            </a:r>
            <a:endParaRPr/>
          </a:p>
          <a:p>
            <a:pPr marL="16002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int myArray[</a:t>
            </a:r>
            <a:r>
              <a:rPr lang="tr-TR" b="1"/>
              <a:t> </a:t>
            </a: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tr-TR" b="1"/>
              <a:t> </a:t>
            </a: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/>
          </a:p>
          <a:p>
            <a:pPr marL="16002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printf( "%d", sizeof( myArray ) );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tr-TR"/>
              <a:t>will print </a:t>
            </a: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40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tr-TR"/>
              <a:t> can be used with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/>
              <a:t>Variable names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/>
              <a:t>Type name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/>
              <a:t>Constant values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8"/>
          <p:cNvSpPr txBox="1">
            <a:spLocks noGrp="1"/>
          </p:cNvSpPr>
          <p:nvPr>
            <p:ph type="subTitle" idx="1"/>
          </p:nvPr>
        </p:nvSpPr>
        <p:spPr>
          <a:xfrm>
            <a:off x="8229600" y="762000"/>
            <a:ext cx="2438400" cy="6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1.  Initialize array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1.1  Declare variables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2.  Print array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2.1  Call </a:t>
            </a:r>
            <a:r>
              <a:rPr lang="tr-TR">
                <a:latin typeface="Courier New"/>
                <a:ea typeface="Courier New"/>
                <a:cs typeface="Courier New"/>
                <a:sym typeface="Courier New"/>
              </a:rPr>
              <a:t>bubbleSort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2.2  Print array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grpSp>
        <p:nvGrpSpPr>
          <p:cNvPr id="297" name="Google Shape;297;p18"/>
          <p:cNvGrpSpPr/>
          <p:nvPr/>
        </p:nvGrpSpPr>
        <p:grpSpPr>
          <a:xfrm>
            <a:off x="1524000" y="-31517"/>
            <a:ext cx="6781800" cy="6920461"/>
            <a:chOff x="0" y="-55"/>
            <a:chExt cx="3072" cy="12077"/>
          </a:xfrm>
        </p:grpSpPr>
        <p:grpSp>
          <p:nvGrpSpPr>
            <p:cNvPr id="298" name="Google Shape;298;p18"/>
            <p:cNvGrpSpPr/>
            <p:nvPr/>
          </p:nvGrpSpPr>
          <p:grpSpPr>
            <a:xfrm>
              <a:off x="0" y="-55"/>
              <a:ext cx="3072" cy="483"/>
              <a:chOff x="0" y="-55"/>
              <a:chExt cx="3072" cy="483"/>
            </a:xfrm>
          </p:grpSpPr>
          <p:sp>
            <p:nvSpPr>
              <p:cNvPr id="299" name="Google Shape;299;p18"/>
              <p:cNvSpPr/>
              <p:nvPr/>
            </p:nvSpPr>
            <p:spPr>
              <a:xfrm>
                <a:off x="0" y="-5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0" name="Google Shape;300;p18"/>
              <p:cNvSpPr/>
              <p:nvPr/>
            </p:nvSpPr>
            <p:spPr>
              <a:xfrm>
                <a:off x="0" y="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	</a:t>
                </a:r>
                <a:r>
                  <a:rPr lang="tr-TR" sz="1200" b="1">
                    <a:solidFill>
                      <a:srgbClr val="33CC33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/* Fig. 7.15: fig07_15.c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01" name="Google Shape;301;p18"/>
            <p:cNvGrpSpPr/>
            <p:nvPr/>
          </p:nvGrpSpPr>
          <p:grpSpPr>
            <a:xfrm>
              <a:off x="0" y="319"/>
              <a:ext cx="3072" cy="483"/>
              <a:chOff x="0" y="319"/>
              <a:chExt cx="3072" cy="483"/>
            </a:xfrm>
          </p:grpSpPr>
          <p:sp>
            <p:nvSpPr>
              <p:cNvPr id="302" name="Google Shape;302;p18"/>
              <p:cNvSpPr/>
              <p:nvPr/>
            </p:nvSpPr>
            <p:spPr>
              <a:xfrm>
                <a:off x="0" y="31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3" name="Google Shape;303;p18"/>
              <p:cNvSpPr/>
              <p:nvPr/>
            </p:nvSpPr>
            <p:spPr>
              <a:xfrm>
                <a:off x="0" y="37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33CC33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This program puts values into an array, sorts the values into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04" name="Google Shape;304;p18"/>
            <p:cNvGrpSpPr/>
            <p:nvPr/>
          </p:nvGrpSpPr>
          <p:grpSpPr>
            <a:xfrm>
              <a:off x="0" y="693"/>
              <a:ext cx="3072" cy="483"/>
              <a:chOff x="0" y="693"/>
              <a:chExt cx="3072" cy="483"/>
            </a:xfrm>
          </p:grpSpPr>
          <p:sp>
            <p:nvSpPr>
              <p:cNvPr id="305" name="Google Shape;305;p18"/>
              <p:cNvSpPr/>
              <p:nvPr/>
            </p:nvSpPr>
            <p:spPr>
              <a:xfrm>
                <a:off x="0" y="693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6" name="Google Shape;306;p18"/>
              <p:cNvSpPr/>
              <p:nvPr/>
            </p:nvSpPr>
            <p:spPr>
              <a:xfrm>
                <a:off x="0" y="74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33CC33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ascending order, and prints the resulting array. */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07" name="Google Shape;307;p18"/>
            <p:cNvGrpSpPr/>
            <p:nvPr/>
          </p:nvGrpSpPr>
          <p:grpSpPr>
            <a:xfrm>
              <a:off x="0" y="1067"/>
              <a:ext cx="3072" cy="483"/>
              <a:chOff x="0" y="1067"/>
              <a:chExt cx="3072" cy="483"/>
            </a:xfrm>
          </p:grpSpPr>
          <p:sp>
            <p:nvSpPr>
              <p:cNvPr id="308" name="Google Shape;308;p18"/>
              <p:cNvSpPr/>
              <p:nvPr/>
            </p:nvSpPr>
            <p:spPr>
              <a:xfrm>
                <a:off x="0" y="1067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9" name="Google Shape;309;p18"/>
              <p:cNvSpPr/>
              <p:nvPr/>
            </p:nvSpPr>
            <p:spPr>
              <a:xfrm>
                <a:off x="0" y="112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	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#include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&lt;stdio.h&gt;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10" name="Google Shape;310;p18"/>
            <p:cNvGrpSpPr/>
            <p:nvPr/>
          </p:nvGrpSpPr>
          <p:grpSpPr>
            <a:xfrm>
              <a:off x="0" y="1441"/>
              <a:ext cx="3072" cy="483"/>
              <a:chOff x="0" y="1441"/>
              <a:chExt cx="3072" cy="483"/>
            </a:xfrm>
          </p:grpSpPr>
          <p:sp>
            <p:nvSpPr>
              <p:cNvPr id="311" name="Google Shape;311;p18"/>
              <p:cNvSpPr/>
              <p:nvPr/>
            </p:nvSpPr>
            <p:spPr>
              <a:xfrm>
                <a:off x="0" y="1441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2" name="Google Shape;312;p18"/>
              <p:cNvSpPr/>
              <p:nvPr/>
            </p:nvSpPr>
            <p:spPr>
              <a:xfrm>
                <a:off x="0" y="149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5	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#define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SIZE 10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13" name="Google Shape;313;p18"/>
            <p:cNvGrpSpPr/>
            <p:nvPr/>
          </p:nvGrpSpPr>
          <p:grpSpPr>
            <a:xfrm>
              <a:off x="0" y="1815"/>
              <a:ext cx="3072" cy="483"/>
              <a:chOff x="0" y="1815"/>
              <a:chExt cx="3072" cy="483"/>
            </a:xfrm>
          </p:grpSpPr>
          <p:sp>
            <p:nvSpPr>
              <p:cNvPr id="314" name="Google Shape;314;p18"/>
              <p:cNvSpPr/>
              <p:nvPr/>
            </p:nvSpPr>
            <p:spPr>
              <a:xfrm>
                <a:off x="0" y="181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5" name="Google Shape;315;p18"/>
              <p:cNvSpPr/>
              <p:nvPr/>
            </p:nvSpPr>
            <p:spPr>
              <a:xfrm>
                <a:off x="0" y="187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6	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void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bubbleSort(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*,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const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16" name="Google Shape;316;p18"/>
            <p:cNvGrpSpPr/>
            <p:nvPr/>
          </p:nvGrpSpPr>
          <p:grpSpPr>
            <a:xfrm>
              <a:off x="0" y="2189"/>
              <a:ext cx="3072" cy="483"/>
              <a:chOff x="0" y="2189"/>
              <a:chExt cx="3072" cy="483"/>
            </a:xfrm>
          </p:grpSpPr>
          <p:sp>
            <p:nvSpPr>
              <p:cNvPr id="317" name="Google Shape;317;p18"/>
              <p:cNvSpPr/>
              <p:nvPr/>
            </p:nvSpPr>
            <p:spPr>
              <a:xfrm>
                <a:off x="0" y="218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8" name="Google Shape;318;p18"/>
              <p:cNvSpPr/>
              <p:nvPr/>
            </p:nvSpPr>
            <p:spPr>
              <a:xfrm>
                <a:off x="0" y="224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7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19" name="Google Shape;319;p18"/>
            <p:cNvGrpSpPr/>
            <p:nvPr/>
          </p:nvGrpSpPr>
          <p:grpSpPr>
            <a:xfrm>
              <a:off x="0" y="2563"/>
              <a:ext cx="3072" cy="483"/>
              <a:chOff x="0" y="2563"/>
              <a:chExt cx="3072" cy="483"/>
            </a:xfrm>
          </p:grpSpPr>
          <p:sp>
            <p:nvSpPr>
              <p:cNvPr id="320" name="Google Shape;320;p18"/>
              <p:cNvSpPr/>
              <p:nvPr/>
            </p:nvSpPr>
            <p:spPr>
              <a:xfrm>
                <a:off x="0" y="2563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1" name="Google Shape;321;p18"/>
              <p:cNvSpPr/>
              <p:nvPr/>
            </p:nvSpPr>
            <p:spPr>
              <a:xfrm>
                <a:off x="0" y="261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8	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main()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22" name="Google Shape;322;p18"/>
            <p:cNvGrpSpPr/>
            <p:nvPr/>
          </p:nvGrpSpPr>
          <p:grpSpPr>
            <a:xfrm>
              <a:off x="0" y="2937"/>
              <a:ext cx="3072" cy="483"/>
              <a:chOff x="0" y="2937"/>
              <a:chExt cx="3072" cy="483"/>
            </a:xfrm>
          </p:grpSpPr>
          <p:sp>
            <p:nvSpPr>
              <p:cNvPr id="323" name="Google Shape;323;p18"/>
              <p:cNvSpPr/>
              <p:nvPr/>
            </p:nvSpPr>
            <p:spPr>
              <a:xfrm>
                <a:off x="0" y="2937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4" name="Google Shape;324;p18"/>
              <p:cNvSpPr/>
              <p:nvPr/>
            </p:nvSpPr>
            <p:spPr>
              <a:xfrm>
                <a:off x="0" y="299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9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25" name="Google Shape;325;p18"/>
            <p:cNvGrpSpPr/>
            <p:nvPr/>
          </p:nvGrpSpPr>
          <p:grpSpPr>
            <a:xfrm>
              <a:off x="0" y="3311"/>
              <a:ext cx="3072" cy="483"/>
              <a:chOff x="0" y="3311"/>
              <a:chExt cx="3072" cy="483"/>
            </a:xfrm>
          </p:grpSpPr>
          <p:sp>
            <p:nvSpPr>
              <p:cNvPr id="326" name="Google Shape;326;p18"/>
              <p:cNvSpPr/>
              <p:nvPr/>
            </p:nvSpPr>
            <p:spPr>
              <a:xfrm>
                <a:off x="0" y="3311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7" name="Google Shape;327;p18"/>
              <p:cNvSpPr/>
              <p:nvPr/>
            </p:nvSpPr>
            <p:spPr>
              <a:xfrm>
                <a:off x="0" y="336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10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28" name="Google Shape;328;p18"/>
            <p:cNvGrpSpPr/>
            <p:nvPr/>
          </p:nvGrpSpPr>
          <p:grpSpPr>
            <a:xfrm>
              <a:off x="0" y="3685"/>
              <a:ext cx="3072" cy="483"/>
              <a:chOff x="0" y="3685"/>
              <a:chExt cx="3072" cy="483"/>
            </a:xfrm>
          </p:grpSpPr>
          <p:sp>
            <p:nvSpPr>
              <p:cNvPr id="329" name="Google Shape;329;p18"/>
              <p:cNvSpPr/>
              <p:nvPr/>
            </p:nvSpPr>
            <p:spPr>
              <a:xfrm>
                <a:off x="0" y="368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0" name="Google Shape;330;p18"/>
              <p:cNvSpPr/>
              <p:nvPr/>
            </p:nvSpPr>
            <p:spPr>
              <a:xfrm>
                <a:off x="0" y="374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11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a[ SIZE ] = { 2, 6, 4, 8, 10, 12, 89, 68, 45, 37 };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31" name="Google Shape;331;p18"/>
            <p:cNvGrpSpPr/>
            <p:nvPr/>
          </p:nvGrpSpPr>
          <p:grpSpPr>
            <a:xfrm>
              <a:off x="0" y="4059"/>
              <a:ext cx="3072" cy="483"/>
              <a:chOff x="0" y="4059"/>
              <a:chExt cx="3072" cy="483"/>
            </a:xfrm>
          </p:grpSpPr>
          <p:sp>
            <p:nvSpPr>
              <p:cNvPr id="332" name="Google Shape;332;p18"/>
              <p:cNvSpPr/>
              <p:nvPr/>
            </p:nvSpPr>
            <p:spPr>
              <a:xfrm>
                <a:off x="0" y="405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3" name="Google Shape;333;p18"/>
              <p:cNvSpPr/>
              <p:nvPr/>
            </p:nvSpPr>
            <p:spPr>
              <a:xfrm>
                <a:off x="0" y="411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12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i;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34" name="Google Shape;334;p18"/>
            <p:cNvGrpSpPr/>
            <p:nvPr/>
          </p:nvGrpSpPr>
          <p:grpSpPr>
            <a:xfrm>
              <a:off x="0" y="4433"/>
              <a:ext cx="3072" cy="483"/>
              <a:chOff x="0" y="4433"/>
              <a:chExt cx="3072" cy="483"/>
            </a:xfrm>
          </p:grpSpPr>
          <p:sp>
            <p:nvSpPr>
              <p:cNvPr id="335" name="Google Shape;335;p18"/>
              <p:cNvSpPr/>
              <p:nvPr/>
            </p:nvSpPr>
            <p:spPr>
              <a:xfrm>
                <a:off x="0" y="4433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6" name="Google Shape;336;p18"/>
              <p:cNvSpPr/>
              <p:nvPr/>
            </p:nvSpPr>
            <p:spPr>
              <a:xfrm>
                <a:off x="0" y="448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13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37" name="Google Shape;337;p18"/>
            <p:cNvGrpSpPr/>
            <p:nvPr/>
          </p:nvGrpSpPr>
          <p:grpSpPr>
            <a:xfrm>
              <a:off x="0" y="4807"/>
              <a:ext cx="3072" cy="483"/>
              <a:chOff x="0" y="4807"/>
              <a:chExt cx="3072" cy="483"/>
            </a:xfrm>
          </p:grpSpPr>
          <p:sp>
            <p:nvSpPr>
              <p:cNvPr id="338" name="Google Shape;338;p18"/>
              <p:cNvSpPr/>
              <p:nvPr/>
            </p:nvSpPr>
            <p:spPr>
              <a:xfrm>
                <a:off x="0" y="4807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9" name="Google Shape;339;p18"/>
              <p:cNvSpPr/>
              <p:nvPr/>
            </p:nvSpPr>
            <p:spPr>
              <a:xfrm>
                <a:off x="0" y="486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14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printf( "Data items in original order\n"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40" name="Google Shape;340;p18"/>
            <p:cNvGrpSpPr/>
            <p:nvPr/>
          </p:nvGrpSpPr>
          <p:grpSpPr>
            <a:xfrm>
              <a:off x="0" y="5181"/>
              <a:ext cx="3072" cy="483"/>
              <a:chOff x="0" y="5181"/>
              <a:chExt cx="3072" cy="483"/>
            </a:xfrm>
          </p:grpSpPr>
          <p:sp>
            <p:nvSpPr>
              <p:cNvPr id="341" name="Google Shape;341;p18"/>
              <p:cNvSpPr/>
              <p:nvPr/>
            </p:nvSpPr>
            <p:spPr>
              <a:xfrm>
                <a:off x="0" y="5181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2" name="Google Shape;342;p18"/>
              <p:cNvSpPr/>
              <p:nvPr/>
            </p:nvSpPr>
            <p:spPr>
              <a:xfrm>
                <a:off x="0" y="523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15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43" name="Google Shape;343;p18"/>
            <p:cNvGrpSpPr/>
            <p:nvPr/>
          </p:nvGrpSpPr>
          <p:grpSpPr>
            <a:xfrm>
              <a:off x="0" y="5555"/>
              <a:ext cx="3072" cy="483"/>
              <a:chOff x="0" y="5555"/>
              <a:chExt cx="3072" cy="483"/>
            </a:xfrm>
          </p:grpSpPr>
          <p:sp>
            <p:nvSpPr>
              <p:cNvPr id="344" name="Google Shape;344;p18"/>
              <p:cNvSpPr/>
              <p:nvPr/>
            </p:nvSpPr>
            <p:spPr>
              <a:xfrm>
                <a:off x="0" y="555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5" name="Google Shape;345;p18"/>
              <p:cNvSpPr/>
              <p:nvPr/>
            </p:nvSpPr>
            <p:spPr>
              <a:xfrm>
                <a:off x="0" y="561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16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for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( i = 0; i &lt; SIZE; i++ )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46" name="Google Shape;346;p18"/>
            <p:cNvGrpSpPr/>
            <p:nvPr/>
          </p:nvGrpSpPr>
          <p:grpSpPr>
            <a:xfrm>
              <a:off x="0" y="5929"/>
              <a:ext cx="3072" cy="483"/>
              <a:chOff x="0" y="5929"/>
              <a:chExt cx="3072" cy="483"/>
            </a:xfrm>
          </p:grpSpPr>
          <p:sp>
            <p:nvSpPr>
              <p:cNvPr id="347" name="Google Shape;347;p18"/>
              <p:cNvSpPr/>
              <p:nvPr/>
            </p:nvSpPr>
            <p:spPr>
              <a:xfrm>
                <a:off x="0" y="592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8" name="Google Shape;348;p18"/>
              <p:cNvSpPr/>
              <p:nvPr/>
            </p:nvSpPr>
            <p:spPr>
              <a:xfrm>
                <a:off x="0" y="598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17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printf( "%4d", a[ i ]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49" name="Google Shape;349;p18"/>
            <p:cNvGrpSpPr/>
            <p:nvPr/>
          </p:nvGrpSpPr>
          <p:grpSpPr>
            <a:xfrm>
              <a:off x="0" y="6303"/>
              <a:ext cx="3072" cy="483"/>
              <a:chOff x="0" y="6303"/>
              <a:chExt cx="3072" cy="483"/>
            </a:xfrm>
          </p:grpSpPr>
          <p:sp>
            <p:nvSpPr>
              <p:cNvPr id="350" name="Google Shape;350;p18"/>
              <p:cNvSpPr/>
              <p:nvPr/>
            </p:nvSpPr>
            <p:spPr>
              <a:xfrm>
                <a:off x="0" y="6303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1" name="Google Shape;351;p18"/>
              <p:cNvSpPr/>
              <p:nvPr/>
            </p:nvSpPr>
            <p:spPr>
              <a:xfrm>
                <a:off x="0" y="635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18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52" name="Google Shape;352;p18"/>
            <p:cNvGrpSpPr/>
            <p:nvPr/>
          </p:nvGrpSpPr>
          <p:grpSpPr>
            <a:xfrm>
              <a:off x="0" y="6677"/>
              <a:ext cx="3072" cy="483"/>
              <a:chOff x="0" y="6677"/>
              <a:chExt cx="3072" cy="483"/>
            </a:xfrm>
          </p:grpSpPr>
          <p:sp>
            <p:nvSpPr>
              <p:cNvPr id="353" name="Google Shape;353;p18"/>
              <p:cNvSpPr/>
              <p:nvPr/>
            </p:nvSpPr>
            <p:spPr>
              <a:xfrm>
                <a:off x="0" y="6677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4" name="Google Shape;354;p18"/>
              <p:cNvSpPr/>
              <p:nvPr/>
            </p:nvSpPr>
            <p:spPr>
              <a:xfrm>
                <a:off x="0" y="673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19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bubbleSort( a, SIZE );          </a:t>
                </a:r>
                <a:r>
                  <a:rPr lang="tr-TR" sz="1200" b="1">
                    <a:solidFill>
                      <a:srgbClr val="33CC33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/* sort the array */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55" name="Google Shape;355;p18"/>
            <p:cNvGrpSpPr/>
            <p:nvPr/>
          </p:nvGrpSpPr>
          <p:grpSpPr>
            <a:xfrm>
              <a:off x="0" y="7051"/>
              <a:ext cx="3072" cy="483"/>
              <a:chOff x="0" y="7051"/>
              <a:chExt cx="3072" cy="483"/>
            </a:xfrm>
          </p:grpSpPr>
          <p:sp>
            <p:nvSpPr>
              <p:cNvPr id="356" name="Google Shape;356;p18"/>
              <p:cNvSpPr/>
              <p:nvPr/>
            </p:nvSpPr>
            <p:spPr>
              <a:xfrm>
                <a:off x="0" y="7051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7" name="Google Shape;357;p18"/>
              <p:cNvSpPr/>
              <p:nvPr/>
            </p:nvSpPr>
            <p:spPr>
              <a:xfrm>
                <a:off x="0" y="710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20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printf( "\nData items in ascending order\n"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58" name="Google Shape;358;p18"/>
            <p:cNvGrpSpPr/>
            <p:nvPr/>
          </p:nvGrpSpPr>
          <p:grpSpPr>
            <a:xfrm>
              <a:off x="0" y="7425"/>
              <a:ext cx="3072" cy="483"/>
              <a:chOff x="0" y="7425"/>
              <a:chExt cx="3072" cy="483"/>
            </a:xfrm>
          </p:grpSpPr>
          <p:sp>
            <p:nvSpPr>
              <p:cNvPr id="359" name="Google Shape;359;p18"/>
              <p:cNvSpPr/>
              <p:nvPr/>
            </p:nvSpPr>
            <p:spPr>
              <a:xfrm>
                <a:off x="0" y="742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0" name="Google Shape;360;p18"/>
              <p:cNvSpPr/>
              <p:nvPr/>
            </p:nvSpPr>
            <p:spPr>
              <a:xfrm>
                <a:off x="0" y="748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21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61" name="Google Shape;361;p18"/>
            <p:cNvGrpSpPr/>
            <p:nvPr/>
          </p:nvGrpSpPr>
          <p:grpSpPr>
            <a:xfrm>
              <a:off x="0" y="7799"/>
              <a:ext cx="3072" cy="483"/>
              <a:chOff x="0" y="7799"/>
              <a:chExt cx="3072" cy="483"/>
            </a:xfrm>
          </p:grpSpPr>
          <p:sp>
            <p:nvSpPr>
              <p:cNvPr id="362" name="Google Shape;362;p18"/>
              <p:cNvSpPr/>
              <p:nvPr/>
            </p:nvSpPr>
            <p:spPr>
              <a:xfrm>
                <a:off x="0" y="779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3" name="Google Shape;363;p18"/>
              <p:cNvSpPr/>
              <p:nvPr/>
            </p:nvSpPr>
            <p:spPr>
              <a:xfrm>
                <a:off x="0" y="785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22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for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( i = 0; i &lt; SIZE; i++ )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64" name="Google Shape;364;p18"/>
            <p:cNvGrpSpPr/>
            <p:nvPr/>
          </p:nvGrpSpPr>
          <p:grpSpPr>
            <a:xfrm>
              <a:off x="0" y="8173"/>
              <a:ext cx="3072" cy="483"/>
              <a:chOff x="0" y="8173"/>
              <a:chExt cx="3072" cy="483"/>
            </a:xfrm>
          </p:grpSpPr>
          <p:sp>
            <p:nvSpPr>
              <p:cNvPr id="365" name="Google Shape;365;p18"/>
              <p:cNvSpPr/>
              <p:nvPr/>
            </p:nvSpPr>
            <p:spPr>
              <a:xfrm>
                <a:off x="0" y="8173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6" name="Google Shape;366;p18"/>
              <p:cNvSpPr/>
              <p:nvPr/>
            </p:nvSpPr>
            <p:spPr>
              <a:xfrm>
                <a:off x="0" y="822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23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printf( "%4d", a[ i ] );   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67" name="Google Shape;367;p18"/>
            <p:cNvGrpSpPr/>
            <p:nvPr/>
          </p:nvGrpSpPr>
          <p:grpSpPr>
            <a:xfrm>
              <a:off x="0" y="8547"/>
              <a:ext cx="3072" cy="483"/>
              <a:chOff x="0" y="8547"/>
              <a:chExt cx="3072" cy="483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0" y="8547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0" y="860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24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70" name="Google Shape;370;p18"/>
            <p:cNvGrpSpPr/>
            <p:nvPr/>
          </p:nvGrpSpPr>
          <p:grpSpPr>
            <a:xfrm>
              <a:off x="0" y="8921"/>
              <a:ext cx="3072" cy="483"/>
              <a:chOff x="0" y="8921"/>
              <a:chExt cx="3072" cy="483"/>
            </a:xfrm>
          </p:grpSpPr>
          <p:sp>
            <p:nvSpPr>
              <p:cNvPr id="371" name="Google Shape;371;p18"/>
              <p:cNvSpPr/>
              <p:nvPr/>
            </p:nvSpPr>
            <p:spPr>
              <a:xfrm>
                <a:off x="0" y="8921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0" y="897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25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printf( "\n"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0" y="9295"/>
              <a:ext cx="3072" cy="483"/>
              <a:chOff x="0" y="9295"/>
              <a:chExt cx="3072" cy="483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0" y="929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0" y="935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26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76" name="Google Shape;376;p18"/>
            <p:cNvGrpSpPr/>
            <p:nvPr/>
          </p:nvGrpSpPr>
          <p:grpSpPr>
            <a:xfrm>
              <a:off x="0" y="9669"/>
              <a:ext cx="3072" cy="483"/>
              <a:chOff x="0" y="9669"/>
              <a:chExt cx="3072" cy="483"/>
            </a:xfrm>
          </p:grpSpPr>
          <p:sp>
            <p:nvSpPr>
              <p:cNvPr id="377" name="Google Shape;377;p18"/>
              <p:cNvSpPr/>
              <p:nvPr/>
            </p:nvSpPr>
            <p:spPr>
              <a:xfrm>
                <a:off x="0" y="966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78" name="Google Shape;378;p18"/>
              <p:cNvSpPr/>
              <p:nvPr/>
            </p:nvSpPr>
            <p:spPr>
              <a:xfrm>
                <a:off x="0" y="972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27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return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0;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79" name="Google Shape;379;p18"/>
            <p:cNvGrpSpPr/>
            <p:nvPr/>
          </p:nvGrpSpPr>
          <p:grpSpPr>
            <a:xfrm>
              <a:off x="0" y="10043"/>
              <a:ext cx="3072" cy="483"/>
              <a:chOff x="0" y="10043"/>
              <a:chExt cx="3072" cy="483"/>
            </a:xfrm>
          </p:grpSpPr>
          <p:sp>
            <p:nvSpPr>
              <p:cNvPr id="380" name="Google Shape;380;p18"/>
              <p:cNvSpPr/>
              <p:nvPr/>
            </p:nvSpPr>
            <p:spPr>
              <a:xfrm>
                <a:off x="0" y="10043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0" y="1009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28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82" name="Google Shape;382;p18"/>
            <p:cNvGrpSpPr/>
            <p:nvPr/>
          </p:nvGrpSpPr>
          <p:grpSpPr>
            <a:xfrm>
              <a:off x="0" y="10417"/>
              <a:ext cx="3072" cy="483"/>
              <a:chOff x="0" y="10417"/>
              <a:chExt cx="3072" cy="483"/>
            </a:xfrm>
          </p:grpSpPr>
          <p:sp>
            <p:nvSpPr>
              <p:cNvPr id="383" name="Google Shape;383;p18"/>
              <p:cNvSpPr/>
              <p:nvPr/>
            </p:nvSpPr>
            <p:spPr>
              <a:xfrm>
                <a:off x="0" y="10417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4" name="Google Shape;384;p18"/>
              <p:cNvSpPr/>
              <p:nvPr/>
            </p:nvSpPr>
            <p:spPr>
              <a:xfrm>
                <a:off x="0" y="1047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29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85" name="Google Shape;385;p18"/>
            <p:cNvGrpSpPr/>
            <p:nvPr/>
          </p:nvGrpSpPr>
          <p:grpSpPr>
            <a:xfrm>
              <a:off x="0" y="10791"/>
              <a:ext cx="3072" cy="483"/>
              <a:chOff x="0" y="10791"/>
              <a:chExt cx="3072" cy="483"/>
            </a:xfrm>
          </p:grpSpPr>
          <p:sp>
            <p:nvSpPr>
              <p:cNvPr id="386" name="Google Shape;386;p18"/>
              <p:cNvSpPr/>
              <p:nvPr/>
            </p:nvSpPr>
            <p:spPr>
              <a:xfrm>
                <a:off x="0" y="10791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7" name="Google Shape;387;p18"/>
              <p:cNvSpPr/>
              <p:nvPr/>
            </p:nvSpPr>
            <p:spPr>
              <a:xfrm>
                <a:off x="0" y="1084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30	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void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bubbleSort(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*array,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const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size )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88" name="Google Shape;388;p18"/>
            <p:cNvGrpSpPr/>
            <p:nvPr/>
          </p:nvGrpSpPr>
          <p:grpSpPr>
            <a:xfrm>
              <a:off x="0" y="11165"/>
              <a:ext cx="3072" cy="483"/>
              <a:chOff x="0" y="11165"/>
              <a:chExt cx="3072" cy="483"/>
            </a:xfrm>
          </p:grpSpPr>
          <p:sp>
            <p:nvSpPr>
              <p:cNvPr id="389" name="Google Shape;389;p18"/>
              <p:cNvSpPr/>
              <p:nvPr/>
            </p:nvSpPr>
            <p:spPr>
              <a:xfrm>
                <a:off x="0" y="1116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0" name="Google Shape;390;p18"/>
              <p:cNvSpPr/>
              <p:nvPr/>
            </p:nvSpPr>
            <p:spPr>
              <a:xfrm>
                <a:off x="0" y="1122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31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391" name="Google Shape;391;p18"/>
            <p:cNvGrpSpPr/>
            <p:nvPr/>
          </p:nvGrpSpPr>
          <p:grpSpPr>
            <a:xfrm>
              <a:off x="0" y="11539"/>
              <a:ext cx="3072" cy="483"/>
              <a:chOff x="0" y="11539"/>
              <a:chExt cx="3072" cy="483"/>
            </a:xfrm>
          </p:grpSpPr>
          <p:sp>
            <p:nvSpPr>
              <p:cNvPr id="392" name="Google Shape;392;p18"/>
              <p:cNvSpPr/>
              <p:nvPr/>
            </p:nvSpPr>
            <p:spPr>
              <a:xfrm>
                <a:off x="0" y="1153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3" name="Google Shape;393;p18"/>
              <p:cNvSpPr/>
              <p:nvPr/>
            </p:nvSpPr>
            <p:spPr>
              <a:xfrm>
                <a:off x="0" y="1159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32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void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swap(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*,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*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394" name="Google Shape;394;p18"/>
          <p:cNvGrpSpPr/>
          <p:nvPr/>
        </p:nvGrpSpPr>
        <p:grpSpPr>
          <a:xfrm>
            <a:off x="3352800" y="2362200"/>
            <a:ext cx="4419600" cy="1524000"/>
            <a:chOff x="1296" y="576"/>
            <a:chExt cx="2784" cy="960"/>
          </a:xfrm>
        </p:grpSpPr>
        <p:cxnSp>
          <p:nvCxnSpPr>
            <p:cNvPr id="395" name="Google Shape;395;p18"/>
            <p:cNvCxnSpPr/>
            <p:nvPr/>
          </p:nvCxnSpPr>
          <p:spPr>
            <a:xfrm flipH="1">
              <a:off x="1296" y="912"/>
              <a:ext cx="1104" cy="62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96" name="Google Shape;396;p18"/>
            <p:cNvSpPr/>
            <p:nvPr/>
          </p:nvSpPr>
          <p:spPr>
            <a:xfrm>
              <a:off x="2352" y="576"/>
              <a:ext cx="1728" cy="680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-TR" sz="16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Bubblesort</a:t>
              </a:r>
              <a:r>
                <a:rPr lang="tr-TR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gets passed the address of array elements (pointers).  The name of an array is a pointer.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9"/>
          <p:cNvSpPr txBox="1">
            <a:spLocks noGrp="1"/>
          </p:cNvSpPr>
          <p:nvPr>
            <p:ph type="subTitle" idx="1"/>
          </p:nvPr>
        </p:nvSpPr>
        <p:spPr>
          <a:xfrm>
            <a:off x="8229600" y="762000"/>
            <a:ext cx="2438400" cy="6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3. Function definitions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Program Output</a:t>
            </a:r>
            <a:endParaRPr/>
          </a:p>
        </p:txBody>
      </p:sp>
      <p:grpSp>
        <p:nvGrpSpPr>
          <p:cNvPr id="402" name="Google Shape;402;p19"/>
          <p:cNvGrpSpPr/>
          <p:nvPr/>
        </p:nvGrpSpPr>
        <p:grpSpPr>
          <a:xfrm>
            <a:off x="1524000" y="0"/>
            <a:ext cx="6781800" cy="4114800"/>
            <a:chOff x="0" y="0"/>
            <a:chExt cx="3072" cy="5610"/>
          </a:xfrm>
        </p:grpSpPr>
        <p:grpSp>
          <p:nvGrpSpPr>
            <p:cNvPr id="403" name="Google Shape;403;p19"/>
            <p:cNvGrpSpPr/>
            <p:nvPr/>
          </p:nvGrpSpPr>
          <p:grpSpPr>
            <a:xfrm>
              <a:off x="0" y="0"/>
              <a:ext cx="3072" cy="374"/>
              <a:chOff x="0" y="0"/>
              <a:chExt cx="3072" cy="374"/>
            </a:xfrm>
          </p:grpSpPr>
          <p:sp>
            <p:nvSpPr>
              <p:cNvPr id="404" name="Google Shape;404;p19"/>
              <p:cNvSpPr/>
              <p:nvPr/>
            </p:nvSpPr>
            <p:spPr>
              <a:xfrm>
                <a:off x="0" y="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>
                <a:off x="0" y="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33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pass, j; 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406" name="Google Shape;406;p19"/>
            <p:cNvGrpSpPr/>
            <p:nvPr/>
          </p:nvGrpSpPr>
          <p:grpSpPr>
            <a:xfrm>
              <a:off x="0" y="374"/>
              <a:ext cx="3072" cy="374"/>
              <a:chOff x="0" y="374"/>
              <a:chExt cx="3072" cy="374"/>
            </a:xfrm>
          </p:grpSpPr>
          <p:sp>
            <p:nvSpPr>
              <p:cNvPr id="407" name="Google Shape;407;p19"/>
              <p:cNvSpPr/>
              <p:nvPr/>
            </p:nvSpPr>
            <p:spPr>
              <a:xfrm>
                <a:off x="0" y="37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0" y="37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34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for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( pass = 0; pass &lt; size - 1; pass++ )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409" name="Google Shape;409;p19"/>
            <p:cNvGrpSpPr/>
            <p:nvPr/>
          </p:nvGrpSpPr>
          <p:grpSpPr>
            <a:xfrm>
              <a:off x="0" y="748"/>
              <a:ext cx="3072" cy="374"/>
              <a:chOff x="0" y="748"/>
              <a:chExt cx="3072" cy="374"/>
            </a:xfrm>
          </p:grpSpPr>
          <p:sp>
            <p:nvSpPr>
              <p:cNvPr id="410" name="Google Shape;410;p19"/>
              <p:cNvSpPr/>
              <p:nvPr/>
            </p:nvSpPr>
            <p:spPr>
              <a:xfrm>
                <a:off x="0" y="74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1" name="Google Shape;411;p19"/>
              <p:cNvSpPr/>
              <p:nvPr/>
            </p:nvSpPr>
            <p:spPr>
              <a:xfrm>
                <a:off x="0" y="74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35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412" name="Google Shape;412;p19"/>
            <p:cNvGrpSpPr/>
            <p:nvPr/>
          </p:nvGrpSpPr>
          <p:grpSpPr>
            <a:xfrm>
              <a:off x="0" y="1122"/>
              <a:ext cx="3072" cy="374"/>
              <a:chOff x="0" y="1122"/>
              <a:chExt cx="3072" cy="374"/>
            </a:xfrm>
          </p:grpSpPr>
          <p:sp>
            <p:nvSpPr>
              <p:cNvPr id="413" name="Google Shape;413;p19"/>
              <p:cNvSpPr/>
              <p:nvPr/>
            </p:nvSpPr>
            <p:spPr>
              <a:xfrm>
                <a:off x="0" y="112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4" name="Google Shape;414;p19"/>
              <p:cNvSpPr/>
              <p:nvPr/>
            </p:nvSpPr>
            <p:spPr>
              <a:xfrm>
                <a:off x="0" y="112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36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for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( j = 0; j &lt; size - 1; j++ )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415" name="Google Shape;415;p19"/>
            <p:cNvGrpSpPr/>
            <p:nvPr/>
          </p:nvGrpSpPr>
          <p:grpSpPr>
            <a:xfrm>
              <a:off x="0" y="1496"/>
              <a:ext cx="3072" cy="374"/>
              <a:chOff x="0" y="1496"/>
              <a:chExt cx="3072" cy="374"/>
            </a:xfrm>
          </p:grpSpPr>
          <p:sp>
            <p:nvSpPr>
              <p:cNvPr id="416" name="Google Shape;416;p19"/>
              <p:cNvSpPr/>
              <p:nvPr/>
            </p:nvSpPr>
            <p:spPr>
              <a:xfrm>
                <a:off x="0" y="149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7" name="Google Shape;417;p19"/>
              <p:cNvSpPr/>
              <p:nvPr/>
            </p:nvSpPr>
            <p:spPr>
              <a:xfrm>
                <a:off x="0" y="149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37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418" name="Google Shape;418;p19"/>
            <p:cNvGrpSpPr/>
            <p:nvPr/>
          </p:nvGrpSpPr>
          <p:grpSpPr>
            <a:xfrm>
              <a:off x="0" y="1870"/>
              <a:ext cx="3072" cy="374"/>
              <a:chOff x="0" y="1870"/>
              <a:chExt cx="3072" cy="374"/>
            </a:xfrm>
          </p:grpSpPr>
          <p:sp>
            <p:nvSpPr>
              <p:cNvPr id="419" name="Google Shape;419;p19"/>
              <p:cNvSpPr/>
              <p:nvPr/>
            </p:nvSpPr>
            <p:spPr>
              <a:xfrm>
                <a:off x="0" y="187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0" name="Google Shape;420;p19"/>
              <p:cNvSpPr/>
              <p:nvPr/>
            </p:nvSpPr>
            <p:spPr>
              <a:xfrm>
                <a:off x="0" y="187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38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if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( array[ j ] &gt; array[ j + 1 ] )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421" name="Google Shape;421;p19"/>
            <p:cNvGrpSpPr/>
            <p:nvPr/>
          </p:nvGrpSpPr>
          <p:grpSpPr>
            <a:xfrm>
              <a:off x="0" y="2244"/>
              <a:ext cx="3072" cy="374"/>
              <a:chOff x="0" y="2244"/>
              <a:chExt cx="3072" cy="374"/>
            </a:xfrm>
          </p:grpSpPr>
          <p:sp>
            <p:nvSpPr>
              <p:cNvPr id="422" name="Google Shape;422;p19"/>
              <p:cNvSpPr/>
              <p:nvPr/>
            </p:nvSpPr>
            <p:spPr>
              <a:xfrm>
                <a:off x="0" y="224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3" name="Google Shape;423;p19"/>
              <p:cNvSpPr/>
              <p:nvPr/>
            </p:nvSpPr>
            <p:spPr>
              <a:xfrm>
                <a:off x="0" y="224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39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      swap( &amp;array[ j ], &amp;array[ j + 1 ]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424" name="Google Shape;424;p19"/>
            <p:cNvGrpSpPr/>
            <p:nvPr/>
          </p:nvGrpSpPr>
          <p:grpSpPr>
            <a:xfrm>
              <a:off x="0" y="2618"/>
              <a:ext cx="3072" cy="374"/>
              <a:chOff x="0" y="2618"/>
              <a:chExt cx="3072" cy="374"/>
            </a:xfrm>
          </p:grpSpPr>
          <p:sp>
            <p:nvSpPr>
              <p:cNvPr id="425" name="Google Shape;425;p19"/>
              <p:cNvSpPr/>
              <p:nvPr/>
            </p:nvSpPr>
            <p:spPr>
              <a:xfrm>
                <a:off x="0" y="261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6" name="Google Shape;426;p19"/>
              <p:cNvSpPr/>
              <p:nvPr/>
            </p:nvSpPr>
            <p:spPr>
              <a:xfrm>
                <a:off x="0" y="261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40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427" name="Google Shape;427;p19"/>
            <p:cNvGrpSpPr/>
            <p:nvPr/>
          </p:nvGrpSpPr>
          <p:grpSpPr>
            <a:xfrm>
              <a:off x="0" y="2992"/>
              <a:ext cx="3072" cy="374"/>
              <a:chOff x="0" y="2992"/>
              <a:chExt cx="3072" cy="374"/>
            </a:xfrm>
          </p:grpSpPr>
          <p:sp>
            <p:nvSpPr>
              <p:cNvPr id="428" name="Google Shape;428;p19"/>
              <p:cNvSpPr/>
              <p:nvPr/>
            </p:nvSpPr>
            <p:spPr>
              <a:xfrm>
                <a:off x="0" y="299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9" name="Google Shape;429;p19"/>
              <p:cNvSpPr/>
              <p:nvPr/>
            </p:nvSpPr>
            <p:spPr>
              <a:xfrm>
                <a:off x="0" y="299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41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430" name="Google Shape;430;p19"/>
            <p:cNvGrpSpPr/>
            <p:nvPr/>
          </p:nvGrpSpPr>
          <p:grpSpPr>
            <a:xfrm>
              <a:off x="0" y="3366"/>
              <a:ext cx="3072" cy="374"/>
              <a:chOff x="0" y="3366"/>
              <a:chExt cx="3072" cy="374"/>
            </a:xfrm>
          </p:grpSpPr>
          <p:sp>
            <p:nvSpPr>
              <p:cNvPr id="431" name="Google Shape;431;p19"/>
              <p:cNvSpPr/>
              <p:nvPr/>
            </p:nvSpPr>
            <p:spPr>
              <a:xfrm>
                <a:off x="0" y="336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2" name="Google Shape;432;p19"/>
              <p:cNvSpPr/>
              <p:nvPr/>
            </p:nvSpPr>
            <p:spPr>
              <a:xfrm>
                <a:off x="0" y="336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42	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void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swap(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*element1Ptr,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*element2Ptr )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433" name="Google Shape;433;p19"/>
            <p:cNvGrpSpPr/>
            <p:nvPr/>
          </p:nvGrpSpPr>
          <p:grpSpPr>
            <a:xfrm>
              <a:off x="0" y="3740"/>
              <a:ext cx="3072" cy="374"/>
              <a:chOff x="0" y="3740"/>
              <a:chExt cx="3072" cy="374"/>
            </a:xfrm>
          </p:grpSpPr>
          <p:sp>
            <p:nvSpPr>
              <p:cNvPr id="434" name="Google Shape;434;p19"/>
              <p:cNvSpPr/>
              <p:nvPr/>
            </p:nvSpPr>
            <p:spPr>
              <a:xfrm>
                <a:off x="0" y="374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>
                <a:off x="0" y="374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43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436" name="Google Shape;436;p19"/>
            <p:cNvGrpSpPr/>
            <p:nvPr/>
          </p:nvGrpSpPr>
          <p:grpSpPr>
            <a:xfrm>
              <a:off x="0" y="4114"/>
              <a:ext cx="3072" cy="374"/>
              <a:chOff x="0" y="4114"/>
              <a:chExt cx="3072" cy="374"/>
            </a:xfrm>
          </p:grpSpPr>
          <p:sp>
            <p:nvSpPr>
              <p:cNvPr id="437" name="Google Shape;437;p19"/>
              <p:cNvSpPr/>
              <p:nvPr/>
            </p:nvSpPr>
            <p:spPr>
              <a:xfrm>
                <a:off x="0" y="411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>
                <a:off x="0" y="411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44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hold = *element1Ptr;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439" name="Google Shape;439;p19"/>
            <p:cNvGrpSpPr/>
            <p:nvPr/>
          </p:nvGrpSpPr>
          <p:grpSpPr>
            <a:xfrm>
              <a:off x="0" y="4488"/>
              <a:ext cx="3072" cy="374"/>
              <a:chOff x="0" y="4488"/>
              <a:chExt cx="3072" cy="374"/>
            </a:xfrm>
          </p:grpSpPr>
          <p:sp>
            <p:nvSpPr>
              <p:cNvPr id="440" name="Google Shape;440;p19"/>
              <p:cNvSpPr/>
              <p:nvPr/>
            </p:nvSpPr>
            <p:spPr>
              <a:xfrm>
                <a:off x="0" y="448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>
                <a:off x="0" y="448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45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*element1Ptr = *element2Ptr;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442" name="Google Shape;442;p19"/>
            <p:cNvGrpSpPr/>
            <p:nvPr/>
          </p:nvGrpSpPr>
          <p:grpSpPr>
            <a:xfrm>
              <a:off x="0" y="4862"/>
              <a:ext cx="3072" cy="374"/>
              <a:chOff x="0" y="4862"/>
              <a:chExt cx="3072" cy="374"/>
            </a:xfrm>
          </p:grpSpPr>
          <p:sp>
            <p:nvSpPr>
              <p:cNvPr id="443" name="Google Shape;443;p19"/>
              <p:cNvSpPr/>
              <p:nvPr/>
            </p:nvSpPr>
            <p:spPr>
              <a:xfrm>
                <a:off x="0" y="486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0" y="486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46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*element2Ptr = hold;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445" name="Google Shape;445;p19"/>
            <p:cNvGrpSpPr/>
            <p:nvPr/>
          </p:nvGrpSpPr>
          <p:grpSpPr>
            <a:xfrm>
              <a:off x="0" y="5236"/>
              <a:ext cx="3072" cy="374"/>
              <a:chOff x="0" y="5236"/>
              <a:chExt cx="3072" cy="374"/>
            </a:xfrm>
          </p:grpSpPr>
          <p:sp>
            <p:nvSpPr>
              <p:cNvPr id="446" name="Google Shape;446;p19"/>
              <p:cNvSpPr/>
              <p:nvPr/>
            </p:nvSpPr>
            <p:spPr>
              <a:xfrm>
                <a:off x="0" y="523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7" name="Google Shape;447;p19"/>
              <p:cNvSpPr/>
              <p:nvPr/>
            </p:nvSpPr>
            <p:spPr>
              <a:xfrm>
                <a:off x="0" y="523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47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sp>
        <p:nvSpPr>
          <p:cNvPr id="448" name="Google Shape;448;p19"/>
          <p:cNvSpPr/>
          <p:nvPr/>
        </p:nvSpPr>
        <p:spPr>
          <a:xfrm>
            <a:off x="1524000" y="4343401"/>
            <a:ext cx="6781800" cy="830997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Data items in original order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2   6   4   8  10  12  89  68  45  37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Data items in ascending order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tr-TR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2   4   6   8  10  12  37  45 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0"/>
          <p:cNvSpPr txBox="1">
            <a:spLocks noGrp="1"/>
          </p:cNvSpPr>
          <p:nvPr>
            <p:ph type="title"/>
          </p:nvPr>
        </p:nvSpPr>
        <p:spPr>
          <a:xfrm>
            <a:off x="597738" y="430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7.9	Arrays of Pointers</a:t>
            </a:r>
            <a:endParaRPr/>
          </a:p>
        </p:txBody>
      </p:sp>
      <p:sp>
        <p:nvSpPr>
          <p:cNvPr id="454" name="Google Shape;454;p20"/>
          <p:cNvSpPr txBox="1">
            <a:spLocks noGrp="1"/>
          </p:cNvSpPr>
          <p:nvPr>
            <p:ph type="body" idx="1"/>
          </p:nvPr>
        </p:nvSpPr>
        <p:spPr>
          <a:xfrm>
            <a:off x="2057400" y="1066800"/>
            <a:ext cx="81534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/>
              <a:t>Arrays can contain pointers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/>
              <a:t>For example: an array of strings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char *suit[ 4 ] = { "Hearts", "Diamonds",</a:t>
            </a:r>
            <a:br>
              <a:rPr lang="tr-TR" b="1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 "Clubs", "Spades" };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/>
              <a:t>Strings are pointers to the first character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char *</a:t>
            </a:r>
            <a:r>
              <a:rPr lang="tr-TR"/>
              <a:t> </a:t>
            </a:r>
            <a:r>
              <a:rPr lang="tr-TR"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tr-TR"/>
              <a:t> each element of </a:t>
            </a: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suit</a:t>
            </a:r>
            <a:r>
              <a:rPr lang="tr-TR"/>
              <a:t> is a pointer to a </a:t>
            </a: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/>
              <a:t>The strings are not actually stored in the array </a:t>
            </a: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suit</a:t>
            </a:r>
            <a:r>
              <a:rPr lang="tr-TR"/>
              <a:t>, only pointers to the strings are stored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suit</a:t>
            </a:r>
            <a:r>
              <a:rPr lang="tr-TR"/>
              <a:t> array has a fixed size, but strings can be of any size</a:t>
            </a:r>
            <a:endParaRPr/>
          </a:p>
        </p:txBody>
      </p:sp>
      <p:sp>
        <p:nvSpPr>
          <p:cNvPr id="455" name="Google Shape;455;p20"/>
          <p:cNvSpPr/>
          <p:nvPr/>
        </p:nvSpPr>
        <p:spPr>
          <a:xfrm>
            <a:off x="1524000" y="2297114"/>
            <a:ext cx="5486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56" name="Google Shape;456;p20"/>
          <p:cNvGrpSpPr/>
          <p:nvPr/>
        </p:nvGrpSpPr>
        <p:grpSpPr>
          <a:xfrm>
            <a:off x="2362200" y="4191000"/>
            <a:ext cx="7848600" cy="1447800"/>
            <a:chOff x="0" y="0"/>
            <a:chExt cx="20005" cy="20000"/>
          </a:xfrm>
        </p:grpSpPr>
        <p:grpSp>
          <p:nvGrpSpPr>
            <p:cNvPr id="457" name="Google Shape;457;p20"/>
            <p:cNvGrpSpPr/>
            <p:nvPr/>
          </p:nvGrpSpPr>
          <p:grpSpPr>
            <a:xfrm>
              <a:off x="0" y="15000"/>
              <a:ext cx="5585" cy="5000"/>
              <a:chOff x="-1" y="0"/>
              <a:chExt cx="20005" cy="20000"/>
            </a:xfrm>
          </p:grpSpPr>
          <p:grpSp>
            <p:nvGrpSpPr>
              <p:cNvPr id="458" name="Google Shape;458;p20"/>
              <p:cNvGrpSpPr/>
              <p:nvPr/>
            </p:nvGrpSpPr>
            <p:grpSpPr>
              <a:xfrm>
                <a:off x="-1" y="0"/>
                <a:ext cx="14292" cy="20000"/>
                <a:chOff x="0" y="0"/>
                <a:chExt cx="20000" cy="20000"/>
              </a:xfrm>
            </p:grpSpPr>
            <p:grpSp>
              <p:nvGrpSpPr>
                <p:cNvPr id="459" name="Google Shape;459;p20"/>
                <p:cNvGrpSpPr/>
                <p:nvPr/>
              </p:nvGrpSpPr>
              <p:grpSpPr>
                <a:xfrm>
                  <a:off x="14005" y="0"/>
                  <a:ext cx="5995" cy="20000"/>
                  <a:chOff x="0" y="0"/>
                  <a:chExt cx="20000" cy="20000"/>
                </a:xfrm>
              </p:grpSpPr>
              <p:sp>
                <p:nvSpPr>
                  <p:cNvPr id="460" name="Google Shape;460;p20"/>
                  <p:cNvSpPr/>
                  <p:nvPr/>
                </p:nvSpPr>
                <p:spPr>
                  <a:xfrm>
                    <a:off x="0" y="0"/>
                    <a:ext cx="20000" cy="20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00" h="20000" extrusionOk="0">
                        <a:moveTo>
                          <a:pt x="19944" y="0"/>
                        </a:moveTo>
                        <a:lnTo>
                          <a:pt x="19944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44" y="0"/>
                        </a:ln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1" name="Google Shape;461;p20"/>
                  <p:cNvSpPr/>
                  <p:nvPr/>
                </p:nvSpPr>
                <p:spPr>
                  <a:xfrm>
                    <a:off x="6606" y="6668"/>
                    <a:ext cx="6722" cy="6720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20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sp>
              <p:nvSpPr>
                <p:cNvPr id="462" name="Google Shape;462;p20"/>
                <p:cNvSpPr/>
                <p:nvPr/>
              </p:nvSpPr>
              <p:spPr>
                <a:xfrm>
                  <a:off x="0" y="3332"/>
                  <a:ext cx="14671" cy="156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tr-TR" sz="1200" b="1">
                      <a:solidFill>
                        <a:schemeClr val="dk1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suit[3]</a:t>
                  </a:r>
                  <a:endParaRPr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sp>
            <p:nvSpPr>
              <p:cNvPr id="463" name="Google Shape;463;p20"/>
              <p:cNvSpPr/>
              <p:nvPr/>
            </p:nvSpPr>
            <p:spPr>
              <a:xfrm>
                <a:off x="12862" y="10000"/>
                <a:ext cx="7142" cy="56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67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4" name="Google Shape;464;p20"/>
            <p:cNvGrpSpPr/>
            <p:nvPr/>
          </p:nvGrpSpPr>
          <p:grpSpPr>
            <a:xfrm>
              <a:off x="0" y="10000"/>
              <a:ext cx="5585" cy="5000"/>
              <a:chOff x="-1" y="0"/>
              <a:chExt cx="20001" cy="20000"/>
            </a:xfrm>
          </p:grpSpPr>
          <p:grpSp>
            <p:nvGrpSpPr>
              <p:cNvPr id="465" name="Google Shape;465;p20"/>
              <p:cNvGrpSpPr/>
              <p:nvPr/>
            </p:nvGrpSpPr>
            <p:grpSpPr>
              <a:xfrm>
                <a:off x="-1" y="0"/>
                <a:ext cx="14289" cy="20000"/>
                <a:chOff x="-1" y="0"/>
                <a:chExt cx="20001" cy="20000"/>
              </a:xfrm>
            </p:grpSpPr>
            <p:grpSp>
              <p:nvGrpSpPr>
                <p:cNvPr id="466" name="Google Shape;466;p20"/>
                <p:cNvGrpSpPr/>
                <p:nvPr/>
              </p:nvGrpSpPr>
              <p:grpSpPr>
                <a:xfrm>
                  <a:off x="14005" y="0"/>
                  <a:ext cx="5995" cy="20000"/>
                  <a:chOff x="0" y="0"/>
                  <a:chExt cx="20000" cy="20000"/>
                </a:xfrm>
              </p:grpSpPr>
              <p:sp>
                <p:nvSpPr>
                  <p:cNvPr id="467" name="Google Shape;467;p20"/>
                  <p:cNvSpPr/>
                  <p:nvPr/>
                </p:nvSpPr>
                <p:spPr>
                  <a:xfrm>
                    <a:off x="0" y="0"/>
                    <a:ext cx="20000" cy="20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00" h="20000" extrusionOk="0">
                        <a:moveTo>
                          <a:pt x="19944" y="0"/>
                        </a:moveTo>
                        <a:lnTo>
                          <a:pt x="19944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44" y="0"/>
                        </a:ln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8" name="Google Shape;468;p20"/>
                  <p:cNvSpPr/>
                  <p:nvPr/>
                </p:nvSpPr>
                <p:spPr>
                  <a:xfrm>
                    <a:off x="6622" y="6668"/>
                    <a:ext cx="6722" cy="6720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20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sp>
              <p:nvSpPr>
                <p:cNvPr id="469" name="Google Shape;469;p20"/>
                <p:cNvSpPr/>
                <p:nvPr/>
              </p:nvSpPr>
              <p:spPr>
                <a:xfrm>
                  <a:off x="-1" y="3332"/>
                  <a:ext cx="14672" cy="156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tr-TR" sz="1200" b="1">
                      <a:solidFill>
                        <a:schemeClr val="dk1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suit[2]</a:t>
                  </a:r>
                  <a:endParaRPr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sp>
            <p:nvSpPr>
              <p:cNvPr id="470" name="Google Shape;470;p20"/>
              <p:cNvSpPr/>
              <p:nvPr/>
            </p:nvSpPr>
            <p:spPr>
              <a:xfrm>
                <a:off x="12863" y="10000"/>
                <a:ext cx="7137" cy="56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67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1" name="Google Shape;471;p20"/>
            <p:cNvGrpSpPr/>
            <p:nvPr/>
          </p:nvGrpSpPr>
          <p:grpSpPr>
            <a:xfrm>
              <a:off x="0" y="5000"/>
              <a:ext cx="5585" cy="5000"/>
              <a:chOff x="-1" y="0"/>
              <a:chExt cx="20001" cy="20000"/>
            </a:xfrm>
          </p:grpSpPr>
          <p:grpSp>
            <p:nvGrpSpPr>
              <p:cNvPr id="472" name="Google Shape;472;p20"/>
              <p:cNvGrpSpPr/>
              <p:nvPr/>
            </p:nvGrpSpPr>
            <p:grpSpPr>
              <a:xfrm>
                <a:off x="-1" y="0"/>
                <a:ext cx="14289" cy="20000"/>
                <a:chOff x="-1" y="0"/>
                <a:chExt cx="20001" cy="20000"/>
              </a:xfrm>
            </p:grpSpPr>
            <p:grpSp>
              <p:nvGrpSpPr>
                <p:cNvPr id="473" name="Google Shape;473;p20"/>
                <p:cNvGrpSpPr/>
                <p:nvPr/>
              </p:nvGrpSpPr>
              <p:grpSpPr>
                <a:xfrm>
                  <a:off x="14005" y="0"/>
                  <a:ext cx="5995" cy="20000"/>
                  <a:chOff x="0" y="0"/>
                  <a:chExt cx="20000" cy="20000"/>
                </a:xfrm>
              </p:grpSpPr>
              <p:sp>
                <p:nvSpPr>
                  <p:cNvPr id="474" name="Google Shape;474;p20"/>
                  <p:cNvSpPr/>
                  <p:nvPr/>
                </p:nvSpPr>
                <p:spPr>
                  <a:xfrm>
                    <a:off x="0" y="0"/>
                    <a:ext cx="20000" cy="20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00" h="20000" extrusionOk="0">
                        <a:moveTo>
                          <a:pt x="19944" y="0"/>
                        </a:moveTo>
                        <a:lnTo>
                          <a:pt x="19944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44" y="0"/>
                        </a:ln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5" name="Google Shape;475;p20"/>
                  <p:cNvSpPr/>
                  <p:nvPr/>
                </p:nvSpPr>
                <p:spPr>
                  <a:xfrm>
                    <a:off x="6622" y="6668"/>
                    <a:ext cx="6722" cy="6720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20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sp>
              <p:nvSpPr>
                <p:cNvPr id="476" name="Google Shape;476;p20"/>
                <p:cNvSpPr/>
                <p:nvPr/>
              </p:nvSpPr>
              <p:spPr>
                <a:xfrm>
                  <a:off x="-1" y="3332"/>
                  <a:ext cx="14672" cy="156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tr-TR" sz="1200" b="1">
                      <a:solidFill>
                        <a:schemeClr val="dk1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suit[1]</a:t>
                  </a:r>
                  <a:endParaRPr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sp>
            <p:nvSpPr>
              <p:cNvPr id="477" name="Google Shape;477;p20"/>
              <p:cNvSpPr/>
              <p:nvPr/>
            </p:nvSpPr>
            <p:spPr>
              <a:xfrm>
                <a:off x="12863" y="10000"/>
                <a:ext cx="7137" cy="56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67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8" name="Google Shape;478;p20"/>
            <p:cNvGrpSpPr/>
            <p:nvPr/>
          </p:nvGrpSpPr>
          <p:grpSpPr>
            <a:xfrm>
              <a:off x="0" y="0"/>
              <a:ext cx="5585" cy="5000"/>
              <a:chOff x="-1" y="0"/>
              <a:chExt cx="20001" cy="20000"/>
            </a:xfrm>
          </p:grpSpPr>
          <p:grpSp>
            <p:nvGrpSpPr>
              <p:cNvPr id="479" name="Google Shape;479;p20"/>
              <p:cNvGrpSpPr/>
              <p:nvPr/>
            </p:nvGrpSpPr>
            <p:grpSpPr>
              <a:xfrm>
                <a:off x="-1" y="0"/>
                <a:ext cx="14289" cy="20000"/>
                <a:chOff x="-1" y="0"/>
                <a:chExt cx="20001" cy="20000"/>
              </a:xfrm>
            </p:grpSpPr>
            <p:grpSp>
              <p:nvGrpSpPr>
                <p:cNvPr id="480" name="Google Shape;480;p20"/>
                <p:cNvGrpSpPr/>
                <p:nvPr/>
              </p:nvGrpSpPr>
              <p:grpSpPr>
                <a:xfrm>
                  <a:off x="14005" y="0"/>
                  <a:ext cx="5995" cy="20000"/>
                  <a:chOff x="0" y="0"/>
                  <a:chExt cx="20000" cy="20000"/>
                </a:xfrm>
              </p:grpSpPr>
              <p:sp>
                <p:nvSpPr>
                  <p:cNvPr id="481" name="Google Shape;481;p20"/>
                  <p:cNvSpPr/>
                  <p:nvPr/>
                </p:nvSpPr>
                <p:spPr>
                  <a:xfrm>
                    <a:off x="0" y="0"/>
                    <a:ext cx="20000" cy="20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00" h="20000" extrusionOk="0">
                        <a:moveTo>
                          <a:pt x="19944" y="0"/>
                        </a:moveTo>
                        <a:lnTo>
                          <a:pt x="19944" y="19944"/>
                        </a:lnTo>
                        <a:lnTo>
                          <a:pt x="0" y="19944"/>
                        </a:lnTo>
                        <a:lnTo>
                          <a:pt x="0" y="0"/>
                        </a:lnTo>
                        <a:lnTo>
                          <a:pt x="19944" y="0"/>
                        </a:ln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2" name="Google Shape;482;p20"/>
                  <p:cNvSpPr/>
                  <p:nvPr/>
                </p:nvSpPr>
                <p:spPr>
                  <a:xfrm>
                    <a:off x="6622" y="6668"/>
                    <a:ext cx="6722" cy="6720"/>
                  </a:xfrm>
                  <a:prstGeom prst="ellipse">
                    <a:avLst/>
                  </a:prstGeom>
                  <a:solidFill>
                    <a:srgbClr val="000000"/>
                  </a:solidFill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t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200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  <p:sp>
              <p:nvSpPr>
                <p:cNvPr id="483" name="Google Shape;483;p20"/>
                <p:cNvSpPr/>
                <p:nvPr/>
              </p:nvSpPr>
              <p:spPr>
                <a:xfrm>
                  <a:off x="-1" y="3332"/>
                  <a:ext cx="14672" cy="156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tr-TR" sz="1200" b="1">
                      <a:solidFill>
                        <a:schemeClr val="dk1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suit[0]</a:t>
                  </a:r>
                  <a:endParaRPr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sp>
            <p:nvSpPr>
              <p:cNvPr id="484" name="Google Shape;484;p20"/>
              <p:cNvSpPr/>
              <p:nvPr/>
            </p:nvSpPr>
            <p:spPr>
              <a:xfrm>
                <a:off x="12863" y="10000"/>
                <a:ext cx="7137" cy="56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67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5" name="Google Shape;485;p20"/>
            <p:cNvGrpSpPr/>
            <p:nvPr/>
          </p:nvGrpSpPr>
          <p:grpSpPr>
            <a:xfrm>
              <a:off x="5585" y="833"/>
              <a:ext cx="1595" cy="3903"/>
              <a:chOff x="0" y="0"/>
              <a:chExt cx="20000" cy="20000"/>
            </a:xfrm>
          </p:grpSpPr>
          <p:sp>
            <p:nvSpPr>
              <p:cNvPr id="486" name="Google Shape;486;p20"/>
              <p:cNvSpPr/>
              <p:nvPr/>
            </p:nvSpPr>
            <p:spPr>
              <a:xfrm>
                <a:off x="0" y="0"/>
                <a:ext cx="20000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20"/>
              <p:cNvSpPr/>
              <p:nvPr/>
            </p:nvSpPr>
            <p:spPr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’H’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488" name="Google Shape;488;p20"/>
            <p:cNvGrpSpPr/>
            <p:nvPr/>
          </p:nvGrpSpPr>
          <p:grpSpPr>
            <a:xfrm>
              <a:off x="7180" y="833"/>
              <a:ext cx="1595" cy="3903"/>
              <a:chOff x="0" y="0"/>
              <a:chExt cx="20000" cy="20000"/>
            </a:xfrm>
          </p:grpSpPr>
          <p:sp>
            <p:nvSpPr>
              <p:cNvPr id="489" name="Google Shape;489;p20"/>
              <p:cNvSpPr/>
              <p:nvPr/>
            </p:nvSpPr>
            <p:spPr>
              <a:xfrm>
                <a:off x="0" y="0"/>
                <a:ext cx="20000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20"/>
              <p:cNvSpPr/>
              <p:nvPr/>
            </p:nvSpPr>
            <p:spPr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’e’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491" name="Google Shape;491;p20"/>
            <p:cNvGrpSpPr/>
            <p:nvPr/>
          </p:nvGrpSpPr>
          <p:grpSpPr>
            <a:xfrm>
              <a:off x="8775" y="833"/>
              <a:ext cx="1595" cy="3903"/>
              <a:chOff x="0" y="0"/>
              <a:chExt cx="20000" cy="20000"/>
            </a:xfrm>
          </p:grpSpPr>
          <p:sp>
            <p:nvSpPr>
              <p:cNvPr id="492" name="Google Shape;492;p20"/>
              <p:cNvSpPr/>
              <p:nvPr/>
            </p:nvSpPr>
            <p:spPr>
              <a:xfrm>
                <a:off x="0" y="0"/>
                <a:ext cx="20000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20"/>
              <p:cNvSpPr/>
              <p:nvPr/>
            </p:nvSpPr>
            <p:spPr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’a’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494" name="Google Shape;494;p20"/>
            <p:cNvGrpSpPr/>
            <p:nvPr/>
          </p:nvGrpSpPr>
          <p:grpSpPr>
            <a:xfrm>
              <a:off x="10370" y="833"/>
              <a:ext cx="1595" cy="3903"/>
              <a:chOff x="0" y="0"/>
              <a:chExt cx="20000" cy="20000"/>
            </a:xfrm>
          </p:grpSpPr>
          <p:sp>
            <p:nvSpPr>
              <p:cNvPr id="495" name="Google Shape;495;p20"/>
              <p:cNvSpPr/>
              <p:nvPr/>
            </p:nvSpPr>
            <p:spPr>
              <a:xfrm>
                <a:off x="0" y="0"/>
                <a:ext cx="20000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20"/>
              <p:cNvSpPr/>
              <p:nvPr/>
            </p:nvSpPr>
            <p:spPr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’r’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497" name="Google Shape;497;p20"/>
            <p:cNvGrpSpPr/>
            <p:nvPr/>
          </p:nvGrpSpPr>
          <p:grpSpPr>
            <a:xfrm>
              <a:off x="11965" y="833"/>
              <a:ext cx="1595" cy="3903"/>
              <a:chOff x="0" y="0"/>
              <a:chExt cx="20000" cy="20000"/>
            </a:xfrm>
          </p:grpSpPr>
          <p:sp>
            <p:nvSpPr>
              <p:cNvPr id="498" name="Google Shape;498;p20"/>
              <p:cNvSpPr/>
              <p:nvPr/>
            </p:nvSpPr>
            <p:spPr>
              <a:xfrm>
                <a:off x="0" y="0"/>
                <a:ext cx="20000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20"/>
              <p:cNvSpPr/>
              <p:nvPr/>
            </p:nvSpPr>
            <p:spPr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’t’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00" name="Google Shape;500;p20"/>
            <p:cNvGrpSpPr/>
            <p:nvPr/>
          </p:nvGrpSpPr>
          <p:grpSpPr>
            <a:xfrm>
              <a:off x="13560" y="833"/>
              <a:ext cx="1595" cy="3903"/>
              <a:chOff x="0" y="0"/>
              <a:chExt cx="20000" cy="20000"/>
            </a:xfrm>
          </p:grpSpPr>
          <p:sp>
            <p:nvSpPr>
              <p:cNvPr id="501" name="Google Shape;501;p20"/>
              <p:cNvSpPr/>
              <p:nvPr/>
            </p:nvSpPr>
            <p:spPr>
              <a:xfrm>
                <a:off x="0" y="0"/>
                <a:ext cx="20000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20"/>
              <p:cNvSpPr/>
              <p:nvPr/>
            </p:nvSpPr>
            <p:spPr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’s’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03" name="Google Shape;503;p20"/>
            <p:cNvGrpSpPr/>
            <p:nvPr/>
          </p:nvGrpSpPr>
          <p:grpSpPr>
            <a:xfrm>
              <a:off x="15085" y="833"/>
              <a:ext cx="1731" cy="3903"/>
              <a:chOff x="0" y="0"/>
              <a:chExt cx="20000" cy="20000"/>
            </a:xfrm>
          </p:grpSpPr>
          <p:sp>
            <p:nvSpPr>
              <p:cNvPr id="504" name="Google Shape;504;p20"/>
              <p:cNvSpPr/>
              <p:nvPr/>
            </p:nvSpPr>
            <p:spPr>
              <a:xfrm>
                <a:off x="809" y="0"/>
                <a:ext cx="18428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20"/>
              <p:cNvSpPr/>
              <p:nvPr/>
            </p:nvSpPr>
            <p:spPr>
              <a:xfrm>
                <a:off x="0" y="0"/>
                <a:ext cx="20000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’\0’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06" name="Google Shape;506;p20"/>
            <p:cNvGrpSpPr/>
            <p:nvPr/>
          </p:nvGrpSpPr>
          <p:grpSpPr>
            <a:xfrm>
              <a:off x="5585" y="5694"/>
              <a:ext cx="1595" cy="3903"/>
              <a:chOff x="0" y="0"/>
              <a:chExt cx="20000" cy="20000"/>
            </a:xfrm>
          </p:grpSpPr>
          <p:sp>
            <p:nvSpPr>
              <p:cNvPr id="507" name="Google Shape;507;p20"/>
              <p:cNvSpPr/>
              <p:nvPr/>
            </p:nvSpPr>
            <p:spPr>
              <a:xfrm>
                <a:off x="0" y="0"/>
                <a:ext cx="20000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20"/>
              <p:cNvSpPr/>
              <p:nvPr/>
            </p:nvSpPr>
            <p:spPr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’D’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09" name="Google Shape;509;p20"/>
            <p:cNvGrpSpPr/>
            <p:nvPr/>
          </p:nvGrpSpPr>
          <p:grpSpPr>
            <a:xfrm>
              <a:off x="7180" y="5694"/>
              <a:ext cx="1595" cy="3903"/>
              <a:chOff x="0" y="0"/>
              <a:chExt cx="20000" cy="20000"/>
            </a:xfrm>
          </p:grpSpPr>
          <p:sp>
            <p:nvSpPr>
              <p:cNvPr id="510" name="Google Shape;510;p20"/>
              <p:cNvSpPr/>
              <p:nvPr/>
            </p:nvSpPr>
            <p:spPr>
              <a:xfrm>
                <a:off x="0" y="0"/>
                <a:ext cx="20000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20"/>
              <p:cNvSpPr/>
              <p:nvPr/>
            </p:nvSpPr>
            <p:spPr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’i’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12" name="Google Shape;512;p20"/>
            <p:cNvGrpSpPr/>
            <p:nvPr/>
          </p:nvGrpSpPr>
          <p:grpSpPr>
            <a:xfrm>
              <a:off x="8775" y="5694"/>
              <a:ext cx="1595" cy="3903"/>
              <a:chOff x="0" y="0"/>
              <a:chExt cx="20000" cy="20000"/>
            </a:xfrm>
          </p:grpSpPr>
          <p:sp>
            <p:nvSpPr>
              <p:cNvPr id="513" name="Google Shape;513;p20"/>
              <p:cNvSpPr/>
              <p:nvPr/>
            </p:nvSpPr>
            <p:spPr>
              <a:xfrm>
                <a:off x="0" y="0"/>
                <a:ext cx="20000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20"/>
              <p:cNvSpPr/>
              <p:nvPr/>
            </p:nvSpPr>
            <p:spPr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’a’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15" name="Google Shape;515;p20"/>
            <p:cNvGrpSpPr/>
            <p:nvPr/>
          </p:nvGrpSpPr>
          <p:grpSpPr>
            <a:xfrm>
              <a:off x="10370" y="5694"/>
              <a:ext cx="1595" cy="3903"/>
              <a:chOff x="0" y="0"/>
              <a:chExt cx="20000" cy="20000"/>
            </a:xfrm>
          </p:grpSpPr>
          <p:sp>
            <p:nvSpPr>
              <p:cNvPr id="516" name="Google Shape;516;p20"/>
              <p:cNvSpPr/>
              <p:nvPr/>
            </p:nvSpPr>
            <p:spPr>
              <a:xfrm>
                <a:off x="0" y="0"/>
                <a:ext cx="20000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20"/>
              <p:cNvSpPr/>
              <p:nvPr/>
            </p:nvSpPr>
            <p:spPr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’m’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18" name="Google Shape;518;p20"/>
            <p:cNvGrpSpPr/>
            <p:nvPr/>
          </p:nvGrpSpPr>
          <p:grpSpPr>
            <a:xfrm>
              <a:off x="11965" y="5694"/>
              <a:ext cx="1595" cy="3903"/>
              <a:chOff x="0" y="0"/>
              <a:chExt cx="20000" cy="20000"/>
            </a:xfrm>
          </p:grpSpPr>
          <p:sp>
            <p:nvSpPr>
              <p:cNvPr id="519" name="Google Shape;519;p20"/>
              <p:cNvSpPr/>
              <p:nvPr/>
            </p:nvSpPr>
            <p:spPr>
              <a:xfrm>
                <a:off x="0" y="0"/>
                <a:ext cx="20000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20"/>
              <p:cNvSpPr/>
              <p:nvPr/>
            </p:nvSpPr>
            <p:spPr>
              <a:xfrm>
                <a:off x="1618" y="0"/>
                <a:ext cx="16714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’o’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21" name="Google Shape;521;p20"/>
            <p:cNvGrpSpPr/>
            <p:nvPr/>
          </p:nvGrpSpPr>
          <p:grpSpPr>
            <a:xfrm>
              <a:off x="13560" y="5694"/>
              <a:ext cx="1595" cy="3903"/>
              <a:chOff x="0" y="0"/>
              <a:chExt cx="20000" cy="20000"/>
            </a:xfrm>
          </p:grpSpPr>
          <p:sp>
            <p:nvSpPr>
              <p:cNvPr id="522" name="Google Shape;522;p20"/>
              <p:cNvSpPr/>
              <p:nvPr/>
            </p:nvSpPr>
            <p:spPr>
              <a:xfrm>
                <a:off x="0" y="0"/>
                <a:ext cx="20000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20"/>
              <p:cNvSpPr/>
              <p:nvPr/>
            </p:nvSpPr>
            <p:spPr>
              <a:xfrm>
                <a:off x="1618" y="0"/>
                <a:ext cx="16714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’n’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24" name="Google Shape;524;p20"/>
            <p:cNvGrpSpPr/>
            <p:nvPr/>
          </p:nvGrpSpPr>
          <p:grpSpPr>
            <a:xfrm>
              <a:off x="15155" y="5694"/>
              <a:ext cx="1595" cy="3903"/>
              <a:chOff x="0" y="0"/>
              <a:chExt cx="20000" cy="20000"/>
            </a:xfrm>
          </p:grpSpPr>
          <p:sp>
            <p:nvSpPr>
              <p:cNvPr id="525" name="Google Shape;525;p20"/>
              <p:cNvSpPr/>
              <p:nvPr/>
            </p:nvSpPr>
            <p:spPr>
              <a:xfrm>
                <a:off x="0" y="0"/>
                <a:ext cx="20000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20"/>
              <p:cNvSpPr/>
              <p:nvPr/>
            </p:nvSpPr>
            <p:spPr>
              <a:xfrm>
                <a:off x="1618" y="0"/>
                <a:ext cx="16714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’d’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27" name="Google Shape;527;p20"/>
            <p:cNvGrpSpPr/>
            <p:nvPr/>
          </p:nvGrpSpPr>
          <p:grpSpPr>
            <a:xfrm>
              <a:off x="16749" y="5694"/>
              <a:ext cx="1595" cy="3903"/>
              <a:chOff x="-13" y="0"/>
              <a:chExt cx="20013" cy="20000"/>
            </a:xfrm>
          </p:grpSpPr>
          <p:sp>
            <p:nvSpPr>
              <p:cNvPr id="528" name="Google Shape;528;p20"/>
              <p:cNvSpPr/>
              <p:nvPr/>
            </p:nvSpPr>
            <p:spPr>
              <a:xfrm>
                <a:off x="-13" y="0"/>
                <a:ext cx="20013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20"/>
              <p:cNvSpPr/>
              <p:nvPr/>
            </p:nvSpPr>
            <p:spPr>
              <a:xfrm>
                <a:off x="1618" y="0"/>
                <a:ext cx="16713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’s’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30" name="Google Shape;530;p20"/>
            <p:cNvGrpSpPr/>
            <p:nvPr/>
          </p:nvGrpSpPr>
          <p:grpSpPr>
            <a:xfrm>
              <a:off x="18274" y="5694"/>
              <a:ext cx="1731" cy="3903"/>
              <a:chOff x="0" y="0"/>
              <a:chExt cx="20000" cy="20000"/>
            </a:xfrm>
          </p:grpSpPr>
          <p:sp>
            <p:nvSpPr>
              <p:cNvPr id="531" name="Google Shape;531;p20"/>
              <p:cNvSpPr/>
              <p:nvPr/>
            </p:nvSpPr>
            <p:spPr>
              <a:xfrm>
                <a:off x="809" y="0"/>
                <a:ext cx="18428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532;p20"/>
              <p:cNvSpPr/>
              <p:nvPr/>
            </p:nvSpPr>
            <p:spPr>
              <a:xfrm>
                <a:off x="0" y="0"/>
                <a:ext cx="20000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’\0’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33" name="Google Shape;533;p20"/>
            <p:cNvGrpSpPr/>
            <p:nvPr/>
          </p:nvGrpSpPr>
          <p:grpSpPr>
            <a:xfrm>
              <a:off x="5585" y="10694"/>
              <a:ext cx="1595" cy="3903"/>
              <a:chOff x="0" y="0"/>
              <a:chExt cx="20000" cy="20000"/>
            </a:xfrm>
          </p:grpSpPr>
          <p:sp>
            <p:nvSpPr>
              <p:cNvPr id="534" name="Google Shape;534;p20"/>
              <p:cNvSpPr/>
              <p:nvPr/>
            </p:nvSpPr>
            <p:spPr>
              <a:xfrm>
                <a:off x="0" y="0"/>
                <a:ext cx="20000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20"/>
              <p:cNvSpPr/>
              <p:nvPr/>
            </p:nvSpPr>
            <p:spPr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’C’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36" name="Google Shape;536;p20"/>
            <p:cNvGrpSpPr/>
            <p:nvPr/>
          </p:nvGrpSpPr>
          <p:grpSpPr>
            <a:xfrm>
              <a:off x="7180" y="10694"/>
              <a:ext cx="1595" cy="3903"/>
              <a:chOff x="0" y="0"/>
              <a:chExt cx="20000" cy="20000"/>
            </a:xfrm>
          </p:grpSpPr>
          <p:sp>
            <p:nvSpPr>
              <p:cNvPr id="537" name="Google Shape;537;p20"/>
              <p:cNvSpPr/>
              <p:nvPr/>
            </p:nvSpPr>
            <p:spPr>
              <a:xfrm>
                <a:off x="0" y="0"/>
                <a:ext cx="20000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0"/>
              <p:cNvSpPr/>
              <p:nvPr/>
            </p:nvSpPr>
            <p:spPr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’l’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39" name="Google Shape;539;p20"/>
            <p:cNvGrpSpPr/>
            <p:nvPr/>
          </p:nvGrpSpPr>
          <p:grpSpPr>
            <a:xfrm>
              <a:off x="8775" y="10694"/>
              <a:ext cx="1595" cy="3903"/>
              <a:chOff x="0" y="0"/>
              <a:chExt cx="20000" cy="20000"/>
            </a:xfrm>
          </p:grpSpPr>
          <p:sp>
            <p:nvSpPr>
              <p:cNvPr id="540" name="Google Shape;540;p20"/>
              <p:cNvSpPr/>
              <p:nvPr/>
            </p:nvSpPr>
            <p:spPr>
              <a:xfrm>
                <a:off x="0" y="0"/>
                <a:ext cx="20000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20"/>
              <p:cNvSpPr/>
              <p:nvPr/>
            </p:nvSpPr>
            <p:spPr>
              <a:xfrm>
                <a:off x="1618" y="0"/>
                <a:ext cx="16714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’u’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42" name="Google Shape;542;p20"/>
            <p:cNvGrpSpPr/>
            <p:nvPr/>
          </p:nvGrpSpPr>
          <p:grpSpPr>
            <a:xfrm>
              <a:off x="10370" y="10694"/>
              <a:ext cx="1594" cy="3903"/>
              <a:chOff x="0" y="0"/>
              <a:chExt cx="20000" cy="20000"/>
            </a:xfrm>
          </p:grpSpPr>
          <p:sp>
            <p:nvSpPr>
              <p:cNvPr id="543" name="Google Shape;543;p20"/>
              <p:cNvSpPr/>
              <p:nvPr/>
            </p:nvSpPr>
            <p:spPr>
              <a:xfrm>
                <a:off x="0" y="0"/>
                <a:ext cx="20000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0"/>
              <p:cNvSpPr/>
              <p:nvPr/>
            </p:nvSpPr>
            <p:spPr>
              <a:xfrm>
                <a:off x="1619" y="0"/>
                <a:ext cx="16725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’b’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45" name="Google Shape;545;p20"/>
            <p:cNvGrpSpPr/>
            <p:nvPr/>
          </p:nvGrpSpPr>
          <p:grpSpPr>
            <a:xfrm>
              <a:off x="11964" y="10694"/>
              <a:ext cx="1595" cy="3903"/>
              <a:chOff x="0" y="0"/>
              <a:chExt cx="20000" cy="20000"/>
            </a:xfrm>
          </p:grpSpPr>
          <p:sp>
            <p:nvSpPr>
              <p:cNvPr id="546" name="Google Shape;546;p20"/>
              <p:cNvSpPr/>
              <p:nvPr/>
            </p:nvSpPr>
            <p:spPr>
              <a:xfrm>
                <a:off x="0" y="0"/>
                <a:ext cx="20000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20"/>
              <p:cNvSpPr/>
              <p:nvPr/>
            </p:nvSpPr>
            <p:spPr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’s’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48" name="Google Shape;548;p20"/>
            <p:cNvGrpSpPr/>
            <p:nvPr/>
          </p:nvGrpSpPr>
          <p:grpSpPr>
            <a:xfrm>
              <a:off x="13490" y="10694"/>
              <a:ext cx="1731" cy="3903"/>
              <a:chOff x="0" y="0"/>
              <a:chExt cx="20000" cy="20000"/>
            </a:xfrm>
          </p:grpSpPr>
          <p:sp>
            <p:nvSpPr>
              <p:cNvPr id="549" name="Google Shape;549;p20"/>
              <p:cNvSpPr/>
              <p:nvPr/>
            </p:nvSpPr>
            <p:spPr>
              <a:xfrm>
                <a:off x="797" y="0"/>
                <a:ext cx="18429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" name="Google Shape;550;p20"/>
              <p:cNvSpPr/>
              <p:nvPr/>
            </p:nvSpPr>
            <p:spPr>
              <a:xfrm>
                <a:off x="0" y="0"/>
                <a:ext cx="20000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’\0’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51" name="Google Shape;551;p20"/>
            <p:cNvGrpSpPr/>
            <p:nvPr/>
          </p:nvGrpSpPr>
          <p:grpSpPr>
            <a:xfrm>
              <a:off x="5585" y="15694"/>
              <a:ext cx="1595" cy="3903"/>
              <a:chOff x="0" y="0"/>
              <a:chExt cx="20000" cy="20000"/>
            </a:xfrm>
          </p:grpSpPr>
          <p:sp>
            <p:nvSpPr>
              <p:cNvPr id="552" name="Google Shape;552;p20"/>
              <p:cNvSpPr/>
              <p:nvPr/>
            </p:nvSpPr>
            <p:spPr>
              <a:xfrm>
                <a:off x="0" y="0"/>
                <a:ext cx="20000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0"/>
              <p:cNvSpPr/>
              <p:nvPr/>
            </p:nvSpPr>
            <p:spPr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’S’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54" name="Google Shape;554;p20"/>
            <p:cNvGrpSpPr/>
            <p:nvPr/>
          </p:nvGrpSpPr>
          <p:grpSpPr>
            <a:xfrm>
              <a:off x="7180" y="15694"/>
              <a:ext cx="1595" cy="3903"/>
              <a:chOff x="0" y="0"/>
              <a:chExt cx="20000" cy="20000"/>
            </a:xfrm>
          </p:grpSpPr>
          <p:sp>
            <p:nvSpPr>
              <p:cNvPr id="555" name="Google Shape;555;p20"/>
              <p:cNvSpPr/>
              <p:nvPr/>
            </p:nvSpPr>
            <p:spPr>
              <a:xfrm>
                <a:off x="0" y="0"/>
                <a:ext cx="20000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20"/>
              <p:cNvSpPr/>
              <p:nvPr/>
            </p:nvSpPr>
            <p:spPr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’p’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57" name="Google Shape;557;p20"/>
            <p:cNvGrpSpPr/>
            <p:nvPr/>
          </p:nvGrpSpPr>
          <p:grpSpPr>
            <a:xfrm>
              <a:off x="8775" y="15694"/>
              <a:ext cx="1595" cy="3903"/>
              <a:chOff x="0" y="0"/>
              <a:chExt cx="20000" cy="20000"/>
            </a:xfrm>
          </p:grpSpPr>
          <p:sp>
            <p:nvSpPr>
              <p:cNvPr id="558" name="Google Shape;558;p20"/>
              <p:cNvSpPr/>
              <p:nvPr/>
            </p:nvSpPr>
            <p:spPr>
              <a:xfrm>
                <a:off x="0" y="0"/>
                <a:ext cx="20000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20"/>
              <p:cNvSpPr/>
              <p:nvPr/>
            </p:nvSpPr>
            <p:spPr>
              <a:xfrm>
                <a:off x="1618" y="0"/>
                <a:ext cx="16714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’a’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60" name="Google Shape;560;p20"/>
            <p:cNvGrpSpPr/>
            <p:nvPr/>
          </p:nvGrpSpPr>
          <p:grpSpPr>
            <a:xfrm>
              <a:off x="10370" y="15694"/>
              <a:ext cx="1594" cy="3903"/>
              <a:chOff x="0" y="0"/>
              <a:chExt cx="20000" cy="20000"/>
            </a:xfrm>
          </p:grpSpPr>
          <p:sp>
            <p:nvSpPr>
              <p:cNvPr id="561" name="Google Shape;561;p20"/>
              <p:cNvSpPr/>
              <p:nvPr/>
            </p:nvSpPr>
            <p:spPr>
              <a:xfrm>
                <a:off x="0" y="0"/>
                <a:ext cx="20000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20"/>
              <p:cNvSpPr/>
              <p:nvPr/>
            </p:nvSpPr>
            <p:spPr>
              <a:xfrm>
                <a:off x="1619" y="0"/>
                <a:ext cx="16725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’d’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63" name="Google Shape;563;p20"/>
            <p:cNvGrpSpPr/>
            <p:nvPr/>
          </p:nvGrpSpPr>
          <p:grpSpPr>
            <a:xfrm>
              <a:off x="11964" y="15694"/>
              <a:ext cx="1595" cy="3903"/>
              <a:chOff x="0" y="0"/>
              <a:chExt cx="20000" cy="20000"/>
            </a:xfrm>
          </p:grpSpPr>
          <p:sp>
            <p:nvSpPr>
              <p:cNvPr id="564" name="Google Shape;564;p20"/>
              <p:cNvSpPr/>
              <p:nvPr/>
            </p:nvSpPr>
            <p:spPr>
              <a:xfrm>
                <a:off x="0" y="0"/>
                <a:ext cx="20000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20"/>
              <p:cNvSpPr/>
              <p:nvPr/>
            </p:nvSpPr>
            <p:spPr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’e’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66" name="Google Shape;566;p20"/>
            <p:cNvGrpSpPr/>
            <p:nvPr/>
          </p:nvGrpSpPr>
          <p:grpSpPr>
            <a:xfrm>
              <a:off x="13559" y="15694"/>
              <a:ext cx="1595" cy="3903"/>
              <a:chOff x="0" y="0"/>
              <a:chExt cx="20000" cy="20000"/>
            </a:xfrm>
          </p:grpSpPr>
          <p:sp>
            <p:nvSpPr>
              <p:cNvPr id="567" name="Google Shape;567;p20"/>
              <p:cNvSpPr/>
              <p:nvPr/>
            </p:nvSpPr>
            <p:spPr>
              <a:xfrm>
                <a:off x="0" y="0"/>
                <a:ext cx="20000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0"/>
              <p:cNvSpPr/>
              <p:nvPr/>
            </p:nvSpPr>
            <p:spPr>
              <a:xfrm>
                <a:off x="1630" y="0"/>
                <a:ext cx="16702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’s’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569" name="Google Shape;569;p20"/>
            <p:cNvGrpSpPr/>
            <p:nvPr/>
          </p:nvGrpSpPr>
          <p:grpSpPr>
            <a:xfrm>
              <a:off x="15084" y="15694"/>
              <a:ext cx="1731" cy="3903"/>
              <a:chOff x="0" y="0"/>
              <a:chExt cx="20000" cy="20000"/>
            </a:xfrm>
          </p:grpSpPr>
          <p:sp>
            <p:nvSpPr>
              <p:cNvPr id="570" name="Google Shape;570;p20"/>
              <p:cNvSpPr/>
              <p:nvPr/>
            </p:nvSpPr>
            <p:spPr>
              <a:xfrm>
                <a:off x="809" y="0"/>
                <a:ext cx="18428" cy="1708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58" y="0"/>
                    </a:moveTo>
                    <a:lnTo>
                      <a:pt x="19958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5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20"/>
              <p:cNvSpPr/>
              <p:nvPr/>
            </p:nvSpPr>
            <p:spPr>
              <a:xfrm>
                <a:off x="0" y="0"/>
                <a:ext cx="20000" cy="2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’\0’</a:t>
                </a: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sp>
        <p:nvSpPr>
          <p:cNvPr id="572" name="Google Shape;572;p20"/>
          <p:cNvSpPr/>
          <p:nvPr/>
        </p:nvSpPr>
        <p:spPr>
          <a:xfrm>
            <a:off x="1524000" y="3373439"/>
            <a:ext cx="5486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3" name="Google Shape;573;p20"/>
          <p:cNvSpPr/>
          <p:nvPr/>
        </p:nvSpPr>
        <p:spPr>
          <a:xfrm>
            <a:off x="1524000" y="3429000"/>
            <a:ext cx="91440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tr-T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7.10	Case Study: A Card Shuffling and Dealing Simulation</a:t>
            </a:r>
            <a:endParaRPr/>
          </a:p>
        </p:txBody>
      </p:sp>
      <p:sp>
        <p:nvSpPr>
          <p:cNvPr id="579" name="Google Shape;579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/>
              <a:t>Card shuffling program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/>
              <a:t>Use array of pointers to strings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/>
              <a:t>Use double scripted array (suit, face)</a:t>
            </a: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/>
              <a:t>The numbers 1-52 go into the array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tr-TR"/>
              <a:t>Representing the order in which the cards are dealt</a:t>
            </a:r>
            <a:endParaRPr/>
          </a:p>
        </p:txBody>
      </p:sp>
      <p:sp>
        <p:nvSpPr>
          <p:cNvPr id="580" name="Google Shape;580;p21"/>
          <p:cNvSpPr/>
          <p:nvPr/>
        </p:nvSpPr>
        <p:spPr>
          <a:xfrm>
            <a:off x="1524000" y="2054226"/>
            <a:ext cx="5486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81" name="Google Shape;581;p21"/>
          <p:cNvGrpSpPr/>
          <p:nvPr/>
        </p:nvGrpSpPr>
        <p:grpSpPr>
          <a:xfrm>
            <a:off x="1600200" y="2667000"/>
            <a:ext cx="9983788" cy="2355850"/>
            <a:chOff x="48" y="1680"/>
            <a:chExt cx="6289" cy="1484"/>
          </a:xfrm>
        </p:grpSpPr>
        <p:sp>
          <p:nvSpPr>
            <p:cNvPr id="582" name="Google Shape;582;p21"/>
            <p:cNvSpPr/>
            <p:nvPr/>
          </p:nvSpPr>
          <p:spPr>
            <a:xfrm>
              <a:off x="2592" y="2736"/>
              <a:ext cx="3745" cy="1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-TR"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deck[</a:t>
              </a:r>
              <a:r>
                <a:rPr lang="tr-TR" sz="12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tr-TR"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</a:t>
              </a:r>
              <a:r>
                <a:rPr lang="tr-TR" sz="12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tr-TR"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][</a:t>
              </a:r>
              <a:r>
                <a:rPr lang="tr-TR" sz="12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tr-TR"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12</a:t>
              </a:r>
              <a:r>
                <a:rPr lang="tr-TR" sz="12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tr-TR"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</a:t>
              </a:r>
              <a:r>
                <a:rPr lang="tr-TR" sz="12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represents the King of Clubs</a:t>
              </a:r>
              <a:endParaRPr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583" name="Google Shape;583;p21"/>
            <p:cNvGrpSpPr/>
            <p:nvPr/>
          </p:nvGrpSpPr>
          <p:grpSpPr>
            <a:xfrm>
              <a:off x="48" y="1680"/>
              <a:ext cx="5782" cy="1484"/>
              <a:chOff x="64" y="1588"/>
              <a:chExt cx="5782" cy="1484"/>
            </a:xfrm>
          </p:grpSpPr>
          <p:sp>
            <p:nvSpPr>
              <p:cNvPr id="584" name="Google Shape;584;p21"/>
              <p:cNvSpPr/>
              <p:nvPr/>
            </p:nvSpPr>
            <p:spPr>
              <a:xfrm>
                <a:off x="64" y="1912"/>
                <a:ext cx="57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Hearts</a:t>
                </a:r>
                <a:endParaRPr sz="12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585" name="Google Shape;585;p21"/>
              <p:cNvSpPr/>
              <p:nvPr/>
            </p:nvSpPr>
            <p:spPr>
              <a:xfrm>
                <a:off x="64" y="2066"/>
                <a:ext cx="756" cy="1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Diamonds</a:t>
                </a:r>
                <a:endParaRPr sz="12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586" name="Google Shape;586;p21"/>
              <p:cNvSpPr/>
              <p:nvPr/>
            </p:nvSpPr>
            <p:spPr>
              <a:xfrm>
                <a:off x="64" y="2221"/>
                <a:ext cx="485" cy="1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Clubs</a:t>
                </a:r>
                <a:endParaRPr sz="12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587" name="Google Shape;587;p21"/>
              <p:cNvSpPr/>
              <p:nvPr/>
            </p:nvSpPr>
            <p:spPr>
              <a:xfrm>
                <a:off x="64" y="2376"/>
                <a:ext cx="57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Spades</a:t>
                </a:r>
                <a:endParaRPr sz="12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588" name="Google Shape;588;p21"/>
              <p:cNvSpPr/>
              <p:nvPr/>
            </p:nvSpPr>
            <p:spPr>
              <a:xfrm>
                <a:off x="1196" y="1889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21"/>
              <p:cNvSpPr/>
              <p:nvPr/>
            </p:nvSpPr>
            <p:spPr>
              <a:xfrm>
                <a:off x="1868" y="1889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21"/>
              <p:cNvSpPr/>
              <p:nvPr/>
            </p:nvSpPr>
            <p:spPr>
              <a:xfrm>
                <a:off x="2540" y="1889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21"/>
              <p:cNvSpPr/>
              <p:nvPr/>
            </p:nvSpPr>
            <p:spPr>
              <a:xfrm>
                <a:off x="2204" y="1889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21"/>
              <p:cNvSpPr/>
              <p:nvPr/>
            </p:nvSpPr>
            <p:spPr>
              <a:xfrm>
                <a:off x="3212" y="1889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21"/>
              <p:cNvSpPr/>
              <p:nvPr/>
            </p:nvSpPr>
            <p:spPr>
              <a:xfrm>
                <a:off x="2876" y="1889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21"/>
              <p:cNvSpPr/>
              <p:nvPr/>
            </p:nvSpPr>
            <p:spPr>
              <a:xfrm>
                <a:off x="3548" y="1889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21"/>
              <p:cNvSpPr/>
              <p:nvPr/>
            </p:nvSpPr>
            <p:spPr>
              <a:xfrm>
                <a:off x="3884" y="1889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21"/>
              <p:cNvSpPr/>
              <p:nvPr/>
            </p:nvSpPr>
            <p:spPr>
              <a:xfrm>
                <a:off x="4220" y="1889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" name="Google Shape;597;p21"/>
              <p:cNvSpPr/>
              <p:nvPr/>
            </p:nvSpPr>
            <p:spPr>
              <a:xfrm>
                <a:off x="4556" y="1889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" name="Google Shape;598;p21"/>
              <p:cNvSpPr/>
              <p:nvPr/>
            </p:nvSpPr>
            <p:spPr>
              <a:xfrm>
                <a:off x="1532" y="1889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21"/>
              <p:cNvSpPr/>
              <p:nvPr/>
            </p:nvSpPr>
            <p:spPr>
              <a:xfrm>
                <a:off x="4892" y="1889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21"/>
              <p:cNvSpPr/>
              <p:nvPr/>
            </p:nvSpPr>
            <p:spPr>
              <a:xfrm>
                <a:off x="5228" y="1889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21"/>
              <p:cNvSpPr/>
              <p:nvPr/>
            </p:nvSpPr>
            <p:spPr>
              <a:xfrm>
                <a:off x="1196" y="2044"/>
                <a:ext cx="336" cy="15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21"/>
              <p:cNvSpPr/>
              <p:nvPr/>
            </p:nvSpPr>
            <p:spPr>
              <a:xfrm>
                <a:off x="1868" y="2044"/>
                <a:ext cx="336" cy="15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21"/>
              <p:cNvSpPr/>
              <p:nvPr/>
            </p:nvSpPr>
            <p:spPr>
              <a:xfrm>
                <a:off x="2540" y="2044"/>
                <a:ext cx="336" cy="15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21"/>
              <p:cNvSpPr/>
              <p:nvPr/>
            </p:nvSpPr>
            <p:spPr>
              <a:xfrm>
                <a:off x="2204" y="2044"/>
                <a:ext cx="336" cy="15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21"/>
              <p:cNvSpPr/>
              <p:nvPr/>
            </p:nvSpPr>
            <p:spPr>
              <a:xfrm>
                <a:off x="3212" y="2044"/>
                <a:ext cx="336" cy="15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21"/>
              <p:cNvSpPr/>
              <p:nvPr/>
            </p:nvSpPr>
            <p:spPr>
              <a:xfrm>
                <a:off x="2876" y="2044"/>
                <a:ext cx="336" cy="15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21"/>
              <p:cNvSpPr/>
              <p:nvPr/>
            </p:nvSpPr>
            <p:spPr>
              <a:xfrm>
                <a:off x="3548" y="2044"/>
                <a:ext cx="336" cy="15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21"/>
              <p:cNvSpPr/>
              <p:nvPr/>
            </p:nvSpPr>
            <p:spPr>
              <a:xfrm>
                <a:off x="3884" y="2044"/>
                <a:ext cx="336" cy="15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21"/>
              <p:cNvSpPr/>
              <p:nvPr/>
            </p:nvSpPr>
            <p:spPr>
              <a:xfrm>
                <a:off x="4220" y="2044"/>
                <a:ext cx="336" cy="15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21"/>
              <p:cNvSpPr/>
              <p:nvPr/>
            </p:nvSpPr>
            <p:spPr>
              <a:xfrm>
                <a:off x="4556" y="2044"/>
                <a:ext cx="336" cy="15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" name="Google Shape;611;p21"/>
              <p:cNvSpPr/>
              <p:nvPr/>
            </p:nvSpPr>
            <p:spPr>
              <a:xfrm>
                <a:off x="1532" y="2044"/>
                <a:ext cx="336" cy="15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612;p21"/>
              <p:cNvSpPr/>
              <p:nvPr/>
            </p:nvSpPr>
            <p:spPr>
              <a:xfrm>
                <a:off x="4892" y="2044"/>
                <a:ext cx="336" cy="15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21"/>
              <p:cNvSpPr/>
              <p:nvPr/>
            </p:nvSpPr>
            <p:spPr>
              <a:xfrm>
                <a:off x="5228" y="2044"/>
                <a:ext cx="336" cy="15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21"/>
              <p:cNvSpPr/>
              <p:nvPr/>
            </p:nvSpPr>
            <p:spPr>
              <a:xfrm>
                <a:off x="1196" y="2198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21"/>
              <p:cNvSpPr/>
              <p:nvPr/>
            </p:nvSpPr>
            <p:spPr>
              <a:xfrm>
                <a:off x="1868" y="2198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21"/>
              <p:cNvSpPr/>
              <p:nvPr/>
            </p:nvSpPr>
            <p:spPr>
              <a:xfrm>
                <a:off x="2540" y="2198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21"/>
              <p:cNvSpPr/>
              <p:nvPr/>
            </p:nvSpPr>
            <p:spPr>
              <a:xfrm>
                <a:off x="2204" y="2198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21"/>
              <p:cNvSpPr/>
              <p:nvPr/>
            </p:nvSpPr>
            <p:spPr>
              <a:xfrm>
                <a:off x="3212" y="2198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9" name="Google Shape;619;p21"/>
              <p:cNvSpPr/>
              <p:nvPr/>
            </p:nvSpPr>
            <p:spPr>
              <a:xfrm>
                <a:off x="2876" y="2198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21"/>
              <p:cNvSpPr/>
              <p:nvPr/>
            </p:nvSpPr>
            <p:spPr>
              <a:xfrm>
                <a:off x="3548" y="2198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21"/>
              <p:cNvSpPr/>
              <p:nvPr/>
            </p:nvSpPr>
            <p:spPr>
              <a:xfrm>
                <a:off x="3884" y="2198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21"/>
              <p:cNvSpPr/>
              <p:nvPr/>
            </p:nvSpPr>
            <p:spPr>
              <a:xfrm>
                <a:off x="4220" y="2198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21"/>
              <p:cNvSpPr/>
              <p:nvPr/>
            </p:nvSpPr>
            <p:spPr>
              <a:xfrm>
                <a:off x="4556" y="2198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21"/>
              <p:cNvSpPr/>
              <p:nvPr/>
            </p:nvSpPr>
            <p:spPr>
              <a:xfrm>
                <a:off x="1532" y="2198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1"/>
              <p:cNvSpPr/>
              <p:nvPr/>
            </p:nvSpPr>
            <p:spPr>
              <a:xfrm>
                <a:off x="4892" y="2198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21"/>
              <p:cNvSpPr/>
              <p:nvPr/>
            </p:nvSpPr>
            <p:spPr>
              <a:xfrm>
                <a:off x="1196" y="2353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21"/>
              <p:cNvSpPr/>
              <p:nvPr/>
            </p:nvSpPr>
            <p:spPr>
              <a:xfrm>
                <a:off x="1868" y="2353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21"/>
              <p:cNvSpPr/>
              <p:nvPr/>
            </p:nvSpPr>
            <p:spPr>
              <a:xfrm>
                <a:off x="2540" y="2353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21"/>
              <p:cNvSpPr/>
              <p:nvPr/>
            </p:nvSpPr>
            <p:spPr>
              <a:xfrm>
                <a:off x="2204" y="2353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21"/>
              <p:cNvSpPr/>
              <p:nvPr/>
            </p:nvSpPr>
            <p:spPr>
              <a:xfrm>
                <a:off x="3212" y="2353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21"/>
              <p:cNvSpPr/>
              <p:nvPr/>
            </p:nvSpPr>
            <p:spPr>
              <a:xfrm>
                <a:off x="2876" y="2353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21"/>
              <p:cNvSpPr/>
              <p:nvPr/>
            </p:nvSpPr>
            <p:spPr>
              <a:xfrm>
                <a:off x="3548" y="2353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21"/>
              <p:cNvSpPr/>
              <p:nvPr/>
            </p:nvSpPr>
            <p:spPr>
              <a:xfrm>
                <a:off x="3884" y="2353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21"/>
              <p:cNvSpPr/>
              <p:nvPr/>
            </p:nvSpPr>
            <p:spPr>
              <a:xfrm>
                <a:off x="4220" y="2353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21"/>
              <p:cNvSpPr/>
              <p:nvPr/>
            </p:nvSpPr>
            <p:spPr>
              <a:xfrm>
                <a:off x="4556" y="2353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21"/>
              <p:cNvSpPr/>
              <p:nvPr/>
            </p:nvSpPr>
            <p:spPr>
              <a:xfrm>
                <a:off x="1532" y="2353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21"/>
              <p:cNvSpPr/>
              <p:nvPr/>
            </p:nvSpPr>
            <p:spPr>
              <a:xfrm>
                <a:off x="4892" y="2353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21"/>
              <p:cNvSpPr/>
              <p:nvPr/>
            </p:nvSpPr>
            <p:spPr>
              <a:xfrm>
                <a:off x="5228" y="2353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21"/>
              <p:cNvSpPr/>
              <p:nvPr/>
            </p:nvSpPr>
            <p:spPr>
              <a:xfrm>
                <a:off x="983" y="1878"/>
                <a:ext cx="150" cy="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0</a:t>
                </a: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40" name="Google Shape;640;p21"/>
              <p:cNvSpPr/>
              <p:nvPr/>
            </p:nvSpPr>
            <p:spPr>
              <a:xfrm>
                <a:off x="983" y="2032"/>
                <a:ext cx="150" cy="1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1</a:t>
                </a: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41" name="Google Shape;641;p21"/>
              <p:cNvSpPr/>
              <p:nvPr/>
            </p:nvSpPr>
            <p:spPr>
              <a:xfrm>
                <a:off x="983" y="2187"/>
                <a:ext cx="150" cy="1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2</a:t>
                </a: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42" name="Google Shape;642;p21"/>
              <p:cNvSpPr/>
              <p:nvPr/>
            </p:nvSpPr>
            <p:spPr>
              <a:xfrm>
                <a:off x="983" y="2342"/>
                <a:ext cx="150" cy="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3</a:t>
                </a: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43" name="Google Shape;643;p21"/>
              <p:cNvSpPr/>
              <p:nvPr/>
            </p:nvSpPr>
            <p:spPr>
              <a:xfrm>
                <a:off x="5228" y="2198"/>
                <a:ext cx="336" cy="155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19944" y="0"/>
                    </a:moveTo>
                    <a:lnTo>
                      <a:pt x="19944" y="19917"/>
                    </a:lnTo>
                    <a:lnTo>
                      <a:pt x="0" y="19917"/>
                    </a:lnTo>
                    <a:lnTo>
                      <a:pt x="0" y="0"/>
                    </a:lnTo>
                    <a:lnTo>
                      <a:pt x="19944" y="0"/>
                    </a:lnTo>
                    <a:close/>
                  </a:path>
                </a:pathLst>
              </a:custGeom>
              <a:noFill/>
              <a:ln w="254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21"/>
              <p:cNvSpPr/>
              <p:nvPr/>
            </p:nvSpPr>
            <p:spPr>
              <a:xfrm>
                <a:off x="1417" y="1588"/>
                <a:ext cx="308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Ace</a:t>
                </a:r>
                <a:endParaRPr sz="12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45" name="Google Shape;645;p21"/>
              <p:cNvSpPr/>
              <p:nvPr/>
            </p:nvSpPr>
            <p:spPr>
              <a:xfrm>
                <a:off x="1753" y="1588"/>
                <a:ext cx="308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Two</a:t>
                </a:r>
                <a:endParaRPr sz="12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46" name="Google Shape;646;p21"/>
              <p:cNvSpPr/>
              <p:nvPr/>
            </p:nvSpPr>
            <p:spPr>
              <a:xfrm>
                <a:off x="2089" y="1588"/>
                <a:ext cx="48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Three</a:t>
                </a:r>
                <a:endParaRPr sz="12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47" name="Google Shape;647;p21"/>
              <p:cNvSpPr/>
              <p:nvPr/>
            </p:nvSpPr>
            <p:spPr>
              <a:xfrm>
                <a:off x="2425" y="1588"/>
                <a:ext cx="397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Four</a:t>
                </a:r>
                <a:endParaRPr sz="12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48" name="Google Shape;648;p21"/>
              <p:cNvSpPr/>
              <p:nvPr/>
            </p:nvSpPr>
            <p:spPr>
              <a:xfrm>
                <a:off x="2761" y="1588"/>
                <a:ext cx="397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Five</a:t>
                </a:r>
                <a:endParaRPr sz="12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49" name="Google Shape;649;p21"/>
              <p:cNvSpPr/>
              <p:nvPr/>
            </p:nvSpPr>
            <p:spPr>
              <a:xfrm>
                <a:off x="3097" y="1588"/>
                <a:ext cx="308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Six</a:t>
                </a:r>
                <a:endParaRPr sz="12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50" name="Google Shape;650;p21"/>
              <p:cNvSpPr/>
              <p:nvPr/>
            </p:nvSpPr>
            <p:spPr>
              <a:xfrm>
                <a:off x="3433" y="1588"/>
                <a:ext cx="48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Seven</a:t>
                </a:r>
                <a:endParaRPr sz="12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51" name="Google Shape;651;p21"/>
              <p:cNvSpPr/>
              <p:nvPr/>
            </p:nvSpPr>
            <p:spPr>
              <a:xfrm>
                <a:off x="3769" y="1588"/>
                <a:ext cx="48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Eight</a:t>
                </a:r>
                <a:endParaRPr sz="12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52" name="Google Shape;652;p21"/>
              <p:cNvSpPr/>
              <p:nvPr/>
            </p:nvSpPr>
            <p:spPr>
              <a:xfrm>
                <a:off x="4105" y="1588"/>
                <a:ext cx="397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Nine</a:t>
                </a:r>
                <a:endParaRPr sz="12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53" name="Google Shape;653;p21"/>
              <p:cNvSpPr/>
              <p:nvPr/>
            </p:nvSpPr>
            <p:spPr>
              <a:xfrm>
                <a:off x="4441" y="1588"/>
                <a:ext cx="308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Ten</a:t>
                </a:r>
                <a:endParaRPr sz="12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54" name="Google Shape;654;p21"/>
              <p:cNvSpPr/>
              <p:nvPr/>
            </p:nvSpPr>
            <p:spPr>
              <a:xfrm>
                <a:off x="4777" y="1588"/>
                <a:ext cx="397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Jack</a:t>
                </a:r>
                <a:endParaRPr sz="12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55" name="Google Shape;655;p21"/>
              <p:cNvSpPr/>
              <p:nvPr/>
            </p:nvSpPr>
            <p:spPr>
              <a:xfrm>
                <a:off x="5113" y="1588"/>
                <a:ext cx="486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Queen</a:t>
                </a:r>
                <a:endParaRPr sz="12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56" name="Google Shape;656;p21"/>
              <p:cNvSpPr/>
              <p:nvPr/>
            </p:nvSpPr>
            <p:spPr>
              <a:xfrm>
                <a:off x="5449" y="1588"/>
                <a:ext cx="397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King</a:t>
                </a:r>
                <a:endParaRPr sz="12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57" name="Google Shape;657;p21"/>
              <p:cNvSpPr/>
              <p:nvPr/>
            </p:nvSpPr>
            <p:spPr>
              <a:xfrm>
                <a:off x="1289" y="1688"/>
                <a:ext cx="149" cy="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0</a:t>
                </a: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58" name="Google Shape;658;p21"/>
              <p:cNvSpPr/>
              <p:nvPr/>
            </p:nvSpPr>
            <p:spPr>
              <a:xfrm>
                <a:off x="1625" y="1688"/>
                <a:ext cx="149" cy="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1</a:t>
                </a: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59" name="Google Shape;659;p21"/>
              <p:cNvSpPr/>
              <p:nvPr/>
            </p:nvSpPr>
            <p:spPr>
              <a:xfrm>
                <a:off x="1961" y="1688"/>
                <a:ext cx="149" cy="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2</a:t>
                </a: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60" name="Google Shape;660;p21"/>
              <p:cNvSpPr/>
              <p:nvPr/>
            </p:nvSpPr>
            <p:spPr>
              <a:xfrm>
                <a:off x="2297" y="1688"/>
                <a:ext cx="149" cy="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3</a:t>
                </a: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61" name="Google Shape;661;p21"/>
              <p:cNvSpPr/>
              <p:nvPr/>
            </p:nvSpPr>
            <p:spPr>
              <a:xfrm>
                <a:off x="2633" y="1688"/>
                <a:ext cx="149" cy="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4</a:t>
                </a: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62" name="Google Shape;662;p21"/>
              <p:cNvSpPr/>
              <p:nvPr/>
            </p:nvSpPr>
            <p:spPr>
              <a:xfrm>
                <a:off x="2969" y="1688"/>
                <a:ext cx="149" cy="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5</a:t>
                </a: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63" name="Google Shape;663;p21"/>
              <p:cNvSpPr/>
              <p:nvPr/>
            </p:nvSpPr>
            <p:spPr>
              <a:xfrm>
                <a:off x="3305" y="1688"/>
                <a:ext cx="149" cy="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6</a:t>
                </a: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64" name="Google Shape;664;p21"/>
              <p:cNvSpPr/>
              <p:nvPr/>
            </p:nvSpPr>
            <p:spPr>
              <a:xfrm>
                <a:off x="3641" y="1688"/>
                <a:ext cx="149" cy="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7</a:t>
                </a: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65" name="Google Shape;665;p21"/>
              <p:cNvSpPr/>
              <p:nvPr/>
            </p:nvSpPr>
            <p:spPr>
              <a:xfrm>
                <a:off x="3977" y="1688"/>
                <a:ext cx="149" cy="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8</a:t>
                </a: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66" name="Google Shape;666;p21"/>
              <p:cNvSpPr/>
              <p:nvPr/>
            </p:nvSpPr>
            <p:spPr>
              <a:xfrm>
                <a:off x="4313" y="1688"/>
                <a:ext cx="149" cy="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9</a:t>
                </a: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67" name="Google Shape;667;p21"/>
              <p:cNvSpPr/>
              <p:nvPr/>
            </p:nvSpPr>
            <p:spPr>
              <a:xfrm>
                <a:off x="4593" y="1688"/>
                <a:ext cx="261" cy="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10</a:t>
                </a: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68" name="Google Shape;668;p21"/>
              <p:cNvSpPr/>
              <p:nvPr/>
            </p:nvSpPr>
            <p:spPr>
              <a:xfrm>
                <a:off x="4929" y="1688"/>
                <a:ext cx="261" cy="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11</a:t>
                </a: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69" name="Google Shape;669;p21"/>
              <p:cNvSpPr/>
              <p:nvPr/>
            </p:nvSpPr>
            <p:spPr>
              <a:xfrm>
                <a:off x="5265" y="1688"/>
                <a:ext cx="261" cy="1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12</a:t>
                </a: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70" name="Google Shape;670;p21"/>
              <p:cNvSpPr/>
              <p:nvPr/>
            </p:nvSpPr>
            <p:spPr>
              <a:xfrm flipH="1">
                <a:off x="4272" y="2286"/>
                <a:ext cx="1008" cy="336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0" y="0"/>
                    </a:moveTo>
                    <a:lnTo>
                      <a:pt x="19968" y="19970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21"/>
              <p:cNvSpPr/>
              <p:nvPr/>
            </p:nvSpPr>
            <p:spPr>
              <a:xfrm rot="10800000" flipH="1">
                <a:off x="2256" y="2718"/>
                <a:ext cx="624" cy="192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0" y="0"/>
                    </a:moveTo>
                    <a:lnTo>
                      <a:pt x="19916" y="19912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21"/>
              <p:cNvSpPr/>
              <p:nvPr/>
            </p:nvSpPr>
            <p:spPr>
              <a:xfrm>
                <a:off x="2015" y="2917"/>
                <a:ext cx="485" cy="1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Clubs</a:t>
                </a:r>
                <a:endParaRPr sz="12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73" name="Google Shape;673;p21"/>
              <p:cNvSpPr/>
              <p:nvPr/>
            </p:nvSpPr>
            <p:spPr>
              <a:xfrm>
                <a:off x="3408" y="2910"/>
                <a:ext cx="396" cy="1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King</a:t>
                </a:r>
                <a:endParaRPr sz="12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74" name="Google Shape;674;p21"/>
              <p:cNvSpPr/>
              <p:nvPr/>
            </p:nvSpPr>
            <p:spPr>
              <a:xfrm flipH="1">
                <a:off x="3168" y="2766"/>
                <a:ext cx="288" cy="144"/>
              </a:xfrm>
              <a:custGeom>
                <a:avLst/>
                <a:gdLst/>
                <a:ahLst/>
                <a:cxnLst/>
                <a:rect l="l" t="t" r="r" b="b"/>
                <a:pathLst>
                  <a:path w="20000" h="20000" extrusionOk="0">
                    <a:moveTo>
                      <a:pt x="0" y="19912"/>
                    </a:moveTo>
                    <a:lnTo>
                      <a:pt x="19916" y="0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75" name="Google Shape;675;p21"/>
          <p:cNvSpPr/>
          <p:nvPr/>
        </p:nvSpPr>
        <p:spPr>
          <a:xfrm>
            <a:off x="914400" y="1447800"/>
            <a:ext cx="12801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6" name="Google Shape;676;p21"/>
          <p:cNvSpPr/>
          <p:nvPr/>
        </p:nvSpPr>
        <p:spPr>
          <a:xfrm>
            <a:off x="1524000" y="4133850"/>
            <a:ext cx="91440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tr-TR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7.10	Case Study: A Card Shuffling and Dealing Simulation</a:t>
            </a:r>
            <a:endParaRPr/>
          </a:p>
        </p:txBody>
      </p:sp>
      <p:sp>
        <p:nvSpPr>
          <p:cNvPr id="682" name="Google Shape;682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/>
              <a:t>Pseudocode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/>
              <a:t>Top level: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tr-TR"/>
              <a:t> </a:t>
            </a:r>
            <a:r>
              <a:rPr lang="tr-TR" i="1">
                <a:solidFill>
                  <a:schemeClr val="accent2"/>
                </a:solidFill>
              </a:rPr>
              <a:t>Shuffle and deal 52 cards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/>
              <a:t>First refinement: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lang="tr-TR" i="1">
                <a:solidFill>
                  <a:schemeClr val="accent2"/>
                </a:solidFill>
              </a:rPr>
              <a:t>Initialize the suit array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lang="tr-TR" i="1">
                <a:solidFill>
                  <a:schemeClr val="accent2"/>
                </a:solidFill>
              </a:rPr>
              <a:t>Initialize the face array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lang="tr-TR" i="1">
                <a:solidFill>
                  <a:schemeClr val="accent2"/>
                </a:solidFill>
              </a:rPr>
              <a:t>Initialize the deck array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lang="tr-TR" i="1">
                <a:solidFill>
                  <a:schemeClr val="accent2"/>
                </a:solidFill>
              </a:rPr>
              <a:t>Shuffle the deck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libri"/>
              <a:buNone/>
            </a:pPr>
            <a:r>
              <a:rPr lang="tr-TR" i="1">
                <a:solidFill>
                  <a:schemeClr val="accent2"/>
                </a:solidFill>
              </a:rPr>
              <a:t>Deal 52 cards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7.10	Case Study: A Card Shuffling and Dealing Simulation</a:t>
            </a:r>
            <a:endParaRPr/>
          </a:p>
        </p:txBody>
      </p:sp>
      <p:sp>
        <p:nvSpPr>
          <p:cNvPr id="688" name="Google Shape;68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/>
              <a:t>Second refinement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tr-TR"/>
              <a:t>Convert </a:t>
            </a:r>
            <a:r>
              <a:rPr lang="tr-TR" i="1">
                <a:solidFill>
                  <a:srgbClr val="FF3300"/>
                </a:solidFill>
              </a:rPr>
              <a:t>shuffle the deck</a:t>
            </a:r>
            <a:r>
              <a:rPr lang="tr-TR"/>
              <a:t> to</a:t>
            </a:r>
            <a:endParaRPr/>
          </a:p>
          <a:p>
            <a:pPr marL="1600200" lvl="3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lang="tr-TR" i="1">
                <a:solidFill>
                  <a:schemeClr val="accent2"/>
                </a:solidFill>
              </a:rPr>
              <a:t>For each of the 52 cards</a:t>
            </a:r>
            <a:br>
              <a:rPr lang="tr-TR" i="1">
                <a:solidFill>
                  <a:schemeClr val="accent2"/>
                </a:solidFill>
              </a:rPr>
            </a:br>
            <a:r>
              <a:rPr lang="tr-TR" i="1">
                <a:solidFill>
                  <a:schemeClr val="accent2"/>
                </a:solidFill>
              </a:rPr>
              <a:t>Place card number in randomly selected unoccupied slot of deck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tr-TR"/>
              <a:t>Convert </a:t>
            </a:r>
            <a:r>
              <a:rPr lang="tr-TR" i="1">
                <a:solidFill>
                  <a:srgbClr val="FF3300"/>
                </a:solidFill>
              </a:rPr>
              <a:t>deal 52 cards</a:t>
            </a:r>
            <a:r>
              <a:rPr lang="tr-TR"/>
              <a:t> to</a:t>
            </a:r>
            <a:endParaRPr/>
          </a:p>
          <a:p>
            <a:pPr marL="1600200" lvl="3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lang="tr-TR" i="1">
                <a:solidFill>
                  <a:schemeClr val="accent2"/>
                </a:solidFill>
              </a:rPr>
              <a:t>For each of the 52 cards</a:t>
            </a:r>
            <a:br>
              <a:rPr lang="tr-TR" i="1">
                <a:solidFill>
                  <a:schemeClr val="accent2"/>
                </a:solidFill>
              </a:rPr>
            </a:br>
            <a:r>
              <a:rPr lang="tr-TR" i="1">
                <a:solidFill>
                  <a:schemeClr val="accent2"/>
                </a:solidFill>
              </a:rPr>
              <a:t>Find card number in deck array and print face and suit of card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7.10	Case Study: A Card Shuffling and Dealing Simulation</a:t>
            </a:r>
            <a:endParaRPr/>
          </a:p>
        </p:txBody>
      </p:sp>
      <p:sp>
        <p:nvSpPr>
          <p:cNvPr id="694" name="Google Shape;694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/>
              <a:t>Third refinement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tr-TR"/>
              <a:t>Convert </a:t>
            </a:r>
            <a:r>
              <a:rPr lang="tr-TR" i="1">
                <a:solidFill>
                  <a:srgbClr val="FF3300"/>
                </a:solidFill>
              </a:rPr>
              <a:t>shuffle the deck</a:t>
            </a:r>
            <a:r>
              <a:rPr lang="tr-TR"/>
              <a:t> to</a:t>
            </a:r>
            <a:endParaRPr/>
          </a:p>
          <a:p>
            <a:pPr marL="1600200" lvl="3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lang="tr-TR" i="1">
                <a:solidFill>
                  <a:schemeClr val="accent2"/>
                </a:solidFill>
              </a:rPr>
              <a:t>Choose slot of deck randomly</a:t>
            </a:r>
            <a:endParaRPr/>
          </a:p>
          <a:p>
            <a:pPr marL="1600200" lvl="3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lang="tr-TR" i="1">
                <a:solidFill>
                  <a:schemeClr val="accent2"/>
                </a:solidFill>
              </a:rPr>
              <a:t>    While chosen slot of deck has been previously chosen</a:t>
            </a:r>
            <a:br>
              <a:rPr lang="tr-TR" i="1">
                <a:solidFill>
                  <a:schemeClr val="accent2"/>
                </a:solidFill>
              </a:rPr>
            </a:br>
            <a:r>
              <a:rPr lang="tr-TR" i="1">
                <a:solidFill>
                  <a:schemeClr val="accent2"/>
                </a:solidFill>
              </a:rPr>
              <a:t>	Choose slot of deck randomly</a:t>
            </a:r>
            <a:endParaRPr/>
          </a:p>
          <a:p>
            <a:pPr marL="2057400" lvl="4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lang="tr-TR" i="1">
                <a:solidFill>
                  <a:schemeClr val="accent2"/>
                </a:solidFill>
              </a:rPr>
              <a:t>Place card number in chosen slot of deck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tr-TR"/>
              <a:t>Convert </a:t>
            </a:r>
            <a:r>
              <a:rPr lang="tr-TR" i="1">
                <a:solidFill>
                  <a:srgbClr val="FF3300"/>
                </a:solidFill>
              </a:rPr>
              <a:t>deal 52 cards</a:t>
            </a:r>
            <a:r>
              <a:rPr lang="tr-TR"/>
              <a:t> to</a:t>
            </a:r>
            <a:endParaRPr/>
          </a:p>
          <a:p>
            <a:pPr marL="1600200" lvl="3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lang="tr-TR" i="1">
                <a:solidFill>
                  <a:schemeClr val="accent2"/>
                </a:solidFill>
              </a:rPr>
              <a:t>For each slot of the deck array</a:t>
            </a:r>
            <a:br>
              <a:rPr lang="tr-TR" i="1">
                <a:solidFill>
                  <a:schemeClr val="accent2"/>
                </a:solidFill>
              </a:rPr>
            </a:br>
            <a:r>
              <a:rPr lang="tr-TR" i="1">
                <a:solidFill>
                  <a:schemeClr val="accent2"/>
                </a:solidFill>
              </a:rPr>
              <a:t>If slot contains card number</a:t>
            </a:r>
            <a:br>
              <a:rPr lang="tr-TR" i="1">
                <a:solidFill>
                  <a:schemeClr val="accent2"/>
                </a:solidFill>
              </a:rPr>
            </a:br>
            <a:r>
              <a:rPr lang="tr-TR" i="1">
                <a:solidFill>
                  <a:schemeClr val="accent2"/>
                </a:solidFill>
              </a:rPr>
              <a:t>   Print the face and suit of the card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5"/>
          <p:cNvSpPr txBox="1">
            <a:spLocks noGrp="1"/>
          </p:cNvSpPr>
          <p:nvPr>
            <p:ph type="subTitle" idx="1"/>
          </p:nvPr>
        </p:nvSpPr>
        <p:spPr>
          <a:xfrm>
            <a:off x="8229600" y="762000"/>
            <a:ext cx="2438400" cy="6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1.  Initialize </a:t>
            </a:r>
            <a:r>
              <a:rPr lang="tr-TR">
                <a:latin typeface="Courier New"/>
                <a:ea typeface="Courier New"/>
                <a:cs typeface="Courier New"/>
                <a:sym typeface="Courier New"/>
              </a:rPr>
              <a:t>suit</a:t>
            </a:r>
            <a:r>
              <a:rPr lang="tr-TR"/>
              <a:t> and </a:t>
            </a:r>
            <a:r>
              <a:rPr lang="tr-TR">
                <a:latin typeface="Courier New"/>
                <a:ea typeface="Courier New"/>
                <a:cs typeface="Courier New"/>
                <a:sym typeface="Courier New"/>
              </a:rPr>
              <a:t>face</a:t>
            </a:r>
            <a:r>
              <a:rPr lang="tr-TR"/>
              <a:t> arrays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1.1  Initialize </a:t>
            </a:r>
            <a:r>
              <a:rPr lang="tr-TR">
                <a:latin typeface="Courier New"/>
                <a:ea typeface="Courier New"/>
                <a:cs typeface="Courier New"/>
                <a:sym typeface="Courier New"/>
              </a:rPr>
              <a:t>deck</a:t>
            </a:r>
            <a:r>
              <a:rPr lang="tr-TR"/>
              <a:t> array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2.  Call function </a:t>
            </a:r>
            <a:r>
              <a:rPr lang="tr-TR">
                <a:latin typeface="Courier New"/>
                <a:ea typeface="Courier New"/>
                <a:cs typeface="Courier New"/>
                <a:sym typeface="Courier New"/>
              </a:rPr>
              <a:t>shuffle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2.1  Call function </a:t>
            </a:r>
            <a:r>
              <a:rPr lang="tr-TR">
                <a:latin typeface="Courier New"/>
                <a:ea typeface="Courier New"/>
                <a:cs typeface="Courier New"/>
                <a:sym typeface="Courier New"/>
              </a:rPr>
              <a:t>deal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3.  Define functions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701" name="Google Shape;701;p25"/>
          <p:cNvGrpSpPr/>
          <p:nvPr/>
        </p:nvGrpSpPr>
        <p:grpSpPr>
          <a:xfrm>
            <a:off x="1624483" y="-77335"/>
            <a:ext cx="6781800" cy="6920461"/>
            <a:chOff x="0" y="-55"/>
            <a:chExt cx="3072" cy="12077"/>
          </a:xfrm>
        </p:grpSpPr>
        <p:grpSp>
          <p:nvGrpSpPr>
            <p:cNvPr id="702" name="Google Shape;702;p25"/>
            <p:cNvGrpSpPr/>
            <p:nvPr/>
          </p:nvGrpSpPr>
          <p:grpSpPr>
            <a:xfrm>
              <a:off x="0" y="-55"/>
              <a:ext cx="3072" cy="483"/>
              <a:chOff x="0" y="-55"/>
              <a:chExt cx="3072" cy="483"/>
            </a:xfrm>
          </p:grpSpPr>
          <p:sp>
            <p:nvSpPr>
              <p:cNvPr id="703" name="Google Shape;703;p25"/>
              <p:cNvSpPr/>
              <p:nvPr/>
            </p:nvSpPr>
            <p:spPr>
              <a:xfrm>
                <a:off x="0" y="-5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04" name="Google Shape;704;p25"/>
              <p:cNvSpPr/>
              <p:nvPr/>
            </p:nvSpPr>
            <p:spPr>
              <a:xfrm>
                <a:off x="0" y="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	</a:t>
                </a:r>
                <a:r>
                  <a:rPr lang="tr-TR" sz="1200" b="1">
                    <a:solidFill>
                      <a:srgbClr val="33CC33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/* Fig. 7.24: fig07_24.c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05" name="Google Shape;705;p25"/>
            <p:cNvGrpSpPr/>
            <p:nvPr/>
          </p:nvGrpSpPr>
          <p:grpSpPr>
            <a:xfrm>
              <a:off x="0" y="319"/>
              <a:ext cx="3072" cy="483"/>
              <a:chOff x="0" y="319"/>
              <a:chExt cx="3072" cy="483"/>
            </a:xfrm>
          </p:grpSpPr>
          <p:sp>
            <p:nvSpPr>
              <p:cNvPr id="706" name="Google Shape;706;p25"/>
              <p:cNvSpPr/>
              <p:nvPr/>
            </p:nvSpPr>
            <p:spPr>
              <a:xfrm>
                <a:off x="0" y="31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07" name="Google Shape;707;p25"/>
              <p:cNvSpPr/>
              <p:nvPr/>
            </p:nvSpPr>
            <p:spPr>
              <a:xfrm>
                <a:off x="0" y="37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33CC33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Card shuffling dealing program */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08" name="Google Shape;708;p25"/>
            <p:cNvGrpSpPr/>
            <p:nvPr/>
          </p:nvGrpSpPr>
          <p:grpSpPr>
            <a:xfrm>
              <a:off x="0" y="693"/>
              <a:ext cx="3072" cy="483"/>
              <a:chOff x="0" y="693"/>
              <a:chExt cx="3072" cy="483"/>
            </a:xfrm>
          </p:grpSpPr>
          <p:sp>
            <p:nvSpPr>
              <p:cNvPr id="709" name="Google Shape;709;p25"/>
              <p:cNvSpPr/>
              <p:nvPr/>
            </p:nvSpPr>
            <p:spPr>
              <a:xfrm>
                <a:off x="0" y="693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10" name="Google Shape;710;p25"/>
              <p:cNvSpPr/>
              <p:nvPr/>
            </p:nvSpPr>
            <p:spPr>
              <a:xfrm>
                <a:off x="0" y="74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	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#include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&lt;stdio.h&gt;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11" name="Google Shape;711;p25"/>
            <p:cNvGrpSpPr/>
            <p:nvPr/>
          </p:nvGrpSpPr>
          <p:grpSpPr>
            <a:xfrm>
              <a:off x="0" y="1067"/>
              <a:ext cx="3072" cy="483"/>
              <a:chOff x="0" y="1067"/>
              <a:chExt cx="3072" cy="483"/>
            </a:xfrm>
          </p:grpSpPr>
          <p:sp>
            <p:nvSpPr>
              <p:cNvPr id="712" name="Google Shape;712;p25"/>
              <p:cNvSpPr/>
              <p:nvPr/>
            </p:nvSpPr>
            <p:spPr>
              <a:xfrm>
                <a:off x="0" y="1067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13" name="Google Shape;713;p25"/>
              <p:cNvSpPr/>
              <p:nvPr/>
            </p:nvSpPr>
            <p:spPr>
              <a:xfrm>
                <a:off x="0" y="112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	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#include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&lt;stdlib.h&gt;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14" name="Google Shape;714;p25"/>
            <p:cNvGrpSpPr/>
            <p:nvPr/>
          </p:nvGrpSpPr>
          <p:grpSpPr>
            <a:xfrm>
              <a:off x="0" y="1441"/>
              <a:ext cx="3072" cy="483"/>
              <a:chOff x="0" y="1441"/>
              <a:chExt cx="3072" cy="483"/>
            </a:xfrm>
          </p:grpSpPr>
          <p:sp>
            <p:nvSpPr>
              <p:cNvPr id="715" name="Google Shape;715;p25"/>
              <p:cNvSpPr/>
              <p:nvPr/>
            </p:nvSpPr>
            <p:spPr>
              <a:xfrm>
                <a:off x="0" y="1441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16" name="Google Shape;716;p25"/>
              <p:cNvSpPr/>
              <p:nvPr/>
            </p:nvSpPr>
            <p:spPr>
              <a:xfrm>
                <a:off x="0" y="149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5	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#include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&lt;time.h&gt;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17" name="Google Shape;717;p25"/>
            <p:cNvGrpSpPr/>
            <p:nvPr/>
          </p:nvGrpSpPr>
          <p:grpSpPr>
            <a:xfrm>
              <a:off x="0" y="1815"/>
              <a:ext cx="3072" cy="483"/>
              <a:chOff x="0" y="1815"/>
              <a:chExt cx="3072" cy="483"/>
            </a:xfrm>
          </p:grpSpPr>
          <p:sp>
            <p:nvSpPr>
              <p:cNvPr id="718" name="Google Shape;718;p25"/>
              <p:cNvSpPr/>
              <p:nvPr/>
            </p:nvSpPr>
            <p:spPr>
              <a:xfrm>
                <a:off x="0" y="181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19" name="Google Shape;719;p25"/>
              <p:cNvSpPr/>
              <p:nvPr/>
            </p:nvSpPr>
            <p:spPr>
              <a:xfrm>
                <a:off x="0" y="187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6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20" name="Google Shape;720;p25"/>
            <p:cNvGrpSpPr/>
            <p:nvPr/>
          </p:nvGrpSpPr>
          <p:grpSpPr>
            <a:xfrm>
              <a:off x="0" y="2189"/>
              <a:ext cx="3072" cy="483"/>
              <a:chOff x="0" y="2189"/>
              <a:chExt cx="3072" cy="483"/>
            </a:xfrm>
          </p:grpSpPr>
          <p:sp>
            <p:nvSpPr>
              <p:cNvPr id="721" name="Google Shape;721;p25"/>
              <p:cNvSpPr/>
              <p:nvPr/>
            </p:nvSpPr>
            <p:spPr>
              <a:xfrm>
                <a:off x="0" y="218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22" name="Google Shape;722;p25"/>
              <p:cNvSpPr/>
              <p:nvPr/>
            </p:nvSpPr>
            <p:spPr>
              <a:xfrm>
                <a:off x="0" y="224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7	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void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shuffle(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[][ 13 ]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23" name="Google Shape;723;p25"/>
            <p:cNvGrpSpPr/>
            <p:nvPr/>
          </p:nvGrpSpPr>
          <p:grpSpPr>
            <a:xfrm>
              <a:off x="0" y="2563"/>
              <a:ext cx="3072" cy="483"/>
              <a:chOff x="0" y="2563"/>
              <a:chExt cx="3072" cy="483"/>
            </a:xfrm>
          </p:grpSpPr>
          <p:sp>
            <p:nvSpPr>
              <p:cNvPr id="724" name="Google Shape;724;p25"/>
              <p:cNvSpPr/>
              <p:nvPr/>
            </p:nvSpPr>
            <p:spPr>
              <a:xfrm>
                <a:off x="0" y="2563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25" name="Google Shape;725;p25"/>
              <p:cNvSpPr/>
              <p:nvPr/>
            </p:nvSpPr>
            <p:spPr>
              <a:xfrm>
                <a:off x="0" y="261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8	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void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deal(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const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[][ 13 ],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const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char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*[],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const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char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*[]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26" name="Google Shape;726;p25"/>
            <p:cNvGrpSpPr/>
            <p:nvPr/>
          </p:nvGrpSpPr>
          <p:grpSpPr>
            <a:xfrm>
              <a:off x="0" y="2937"/>
              <a:ext cx="3072" cy="483"/>
              <a:chOff x="0" y="2937"/>
              <a:chExt cx="3072" cy="483"/>
            </a:xfrm>
          </p:grpSpPr>
          <p:sp>
            <p:nvSpPr>
              <p:cNvPr id="727" name="Google Shape;727;p25"/>
              <p:cNvSpPr/>
              <p:nvPr/>
            </p:nvSpPr>
            <p:spPr>
              <a:xfrm>
                <a:off x="0" y="2937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28" name="Google Shape;728;p25"/>
              <p:cNvSpPr/>
              <p:nvPr/>
            </p:nvSpPr>
            <p:spPr>
              <a:xfrm>
                <a:off x="0" y="299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9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29" name="Google Shape;729;p25"/>
            <p:cNvGrpSpPr/>
            <p:nvPr/>
          </p:nvGrpSpPr>
          <p:grpSpPr>
            <a:xfrm>
              <a:off x="0" y="3311"/>
              <a:ext cx="3072" cy="483"/>
              <a:chOff x="0" y="3311"/>
              <a:chExt cx="3072" cy="483"/>
            </a:xfrm>
          </p:grpSpPr>
          <p:sp>
            <p:nvSpPr>
              <p:cNvPr id="730" name="Google Shape;730;p25"/>
              <p:cNvSpPr/>
              <p:nvPr/>
            </p:nvSpPr>
            <p:spPr>
              <a:xfrm>
                <a:off x="0" y="3311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1" name="Google Shape;731;p25"/>
              <p:cNvSpPr/>
              <p:nvPr/>
            </p:nvSpPr>
            <p:spPr>
              <a:xfrm>
                <a:off x="0" y="336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10	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main()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32" name="Google Shape;732;p25"/>
            <p:cNvGrpSpPr/>
            <p:nvPr/>
          </p:nvGrpSpPr>
          <p:grpSpPr>
            <a:xfrm>
              <a:off x="0" y="3685"/>
              <a:ext cx="3072" cy="483"/>
              <a:chOff x="0" y="3685"/>
              <a:chExt cx="3072" cy="483"/>
            </a:xfrm>
          </p:grpSpPr>
          <p:sp>
            <p:nvSpPr>
              <p:cNvPr id="733" name="Google Shape;733;p25"/>
              <p:cNvSpPr/>
              <p:nvPr/>
            </p:nvSpPr>
            <p:spPr>
              <a:xfrm>
                <a:off x="0" y="368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4" name="Google Shape;734;p25"/>
              <p:cNvSpPr/>
              <p:nvPr/>
            </p:nvSpPr>
            <p:spPr>
              <a:xfrm>
                <a:off x="0" y="374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11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35" name="Google Shape;735;p25"/>
            <p:cNvGrpSpPr/>
            <p:nvPr/>
          </p:nvGrpSpPr>
          <p:grpSpPr>
            <a:xfrm>
              <a:off x="0" y="4059"/>
              <a:ext cx="3072" cy="483"/>
              <a:chOff x="0" y="4059"/>
              <a:chExt cx="3072" cy="483"/>
            </a:xfrm>
          </p:grpSpPr>
          <p:sp>
            <p:nvSpPr>
              <p:cNvPr id="736" name="Google Shape;736;p25"/>
              <p:cNvSpPr/>
              <p:nvPr/>
            </p:nvSpPr>
            <p:spPr>
              <a:xfrm>
                <a:off x="0" y="405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7" name="Google Shape;737;p25"/>
              <p:cNvSpPr/>
              <p:nvPr/>
            </p:nvSpPr>
            <p:spPr>
              <a:xfrm>
                <a:off x="0" y="411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12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const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char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*suit[ 4 ] =  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38" name="Google Shape;738;p25"/>
            <p:cNvGrpSpPr/>
            <p:nvPr/>
          </p:nvGrpSpPr>
          <p:grpSpPr>
            <a:xfrm>
              <a:off x="0" y="4433"/>
              <a:ext cx="3072" cy="483"/>
              <a:chOff x="0" y="4433"/>
              <a:chExt cx="3072" cy="483"/>
            </a:xfrm>
          </p:grpSpPr>
          <p:sp>
            <p:nvSpPr>
              <p:cNvPr id="739" name="Google Shape;739;p25"/>
              <p:cNvSpPr/>
              <p:nvPr/>
            </p:nvSpPr>
            <p:spPr>
              <a:xfrm>
                <a:off x="0" y="4433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40" name="Google Shape;740;p25"/>
              <p:cNvSpPr/>
              <p:nvPr/>
            </p:nvSpPr>
            <p:spPr>
              <a:xfrm>
                <a:off x="0" y="448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13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{ "Hearts", "Diamonds", "Clubs", "Spades" };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41" name="Google Shape;741;p25"/>
            <p:cNvGrpSpPr/>
            <p:nvPr/>
          </p:nvGrpSpPr>
          <p:grpSpPr>
            <a:xfrm>
              <a:off x="0" y="4807"/>
              <a:ext cx="3072" cy="483"/>
              <a:chOff x="0" y="4807"/>
              <a:chExt cx="3072" cy="483"/>
            </a:xfrm>
          </p:grpSpPr>
          <p:sp>
            <p:nvSpPr>
              <p:cNvPr id="742" name="Google Shape;742;p25"/>
              <p:cNvSpPr/>
              <p:nvPr/>
            </p:nvSpPr>
            <p:spPr>
              <a:xfrm>
                <a:off x="0" y="4807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43" name="Google Shape;743;p25"/>
              <p:cNvSpPr/>
              <p:nvPr/>
            </p:nvSpPr>
            <p:spPr>
              <a:xfrm>
                <a:off x="0" y="486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14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const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char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*face[ 13 ] = 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44" name="Google Shape;744;p25"/>
            <p:cNvGrpSpPr/>
            <p:nvPr/>
          </p:nvGrpSpPr>
          <p:grpSpPr>
            <a:xfrm>
              <a:off x="0" y="5181"/>
              <a:ext cx="3072" cy="483"/>
              <a:chOff x="0" y="5181"/>
              <a:chExt cx="3072" cy="483"/>
            </a:xfrm>
          </p:grpSpPr>
          <p:sp>
            <p:nvSpPr>
              <p:cNvPr id="745" name="Google Shape;745;p25"/>
              <p:cNvSpPr/>
              <p:nvPr/>
            </p:nvSpPr>
            <p:spPr>
              <a:xfrm>
                <a:off x="0" y="5181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46" name="Google Shape;746;p25"/>
              <p:cNvSpPr/>
              <p:nvPr/>
            </p:nvSpPr>
            <p:spPr>
              <a:xfrm>
                <a:off x="0" y="523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15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{ "Ace", "Deuce", "Three", "Four",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47" name="Google Shape;747;p25"/>
            <p:cNvGrpSpPr/>
            <p:nvPr/>
          </p:nvGrpSpPr>
          <p:grpSpPr>
            <a:xfrm>
              <a:off x="0" y="5555"/>
              <a:ext cx="3072" cy="483"/>
              <a:chOff x="0" y="5555"/>
              <a:chExt cx="3072" cy="483"/>
            </a:xfrm>
          </p:grpSpPr>
          <p:sp>
            <p:nvSpPr>
              <p:cNvPr id="748" name="Google Shape;748;p25"/>
              <p:cNvSpPr/>
              <p:nvPr/>
            </p:nvSpPr>
            <p:spPr>
              <a:xfrm>
                <a:off x="0" y="555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49" name="Google Shape;749;p25"/>
              <p:cNvSpPr/>
              <p:nvPr/>
            </p:nvSpPr>
            <p:spPr>
              <a:xfrm>
                <a:off x="0" y="561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16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  "Five", "Six", "Seven", "Eight",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50" name="Google Shape;750;p25"/>
            <p:cNvGrpSpPr/>
            <p:nvPr/>
          </p:nvGrpSpPr>
          <p:grpSpPr>
            <a:xfrm>
              <a:off x="0" y="5929"/>
              <a:ext cx="3072" cy="483"/>
              <a:chOff x="0" y="5929"/>
              <a:chExt cx="3072" cy="483"/>
            </a:xfrm>
          </p:grpSpPr>
          <p:sp>
            <p:nvSpPr>
              <p:cNvPr id="751" name="Google Shape;751;p25"/>
              <p:cNvSpPr/>
              <p:nvPr/>
            </p:nvSpPr>
            <p:spPr>
              <a:xfrm>
                <a:off x="0" y="592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52" name="Google Shape;752;p25"/>
              <p:cNvSpPr/>
              <p:nvPr/>
            </p:nvSpPr>
            <p:spPr>
              <a:xfrm>
                <a:off x="0" y="598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17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  "Nine", "Ten", "Jack", "Queen", "King" };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53" name="Google Shape;753;p25"/>
            <p:cNvGrpSpPr/>
            <p:nvPr/>
          </p:nvGrpSpPr>
          <p:grpSpPr>
            <a:xfrm>
              <a:off x="0" y="6303"/>
              <a:ext cx="3072" cy="483"/>
              <a:chOff x="0" y="6303"/>
              <a:chExt cx="3072" cy="483"/>
            </a:xfrm>
          </p:grpSpPr>
          <p:sp>
            <p:nvSpPr>
              <p:cNvPr id="754" name="Google Shape;754;p25"/>
              <p:cNvSpPr/>
              <p:nvPr/>
            </p:nvSpPr>
            <p:spPr>
              <a:xfrm>
                <a:off x="0" y="6303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55" name="Google Shape;755;p25"/>
              <p:cNvSpPr/>
              <p:nvPr/>
            </p:nvSpPr>
            <p:spPr>
              <a:xfrm>
                <a:off x="0" y="635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18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deck[ 4 ][ 13 ] = { 0 };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56" name="Google Shape;756;p25"/>
            <p:cNvGrpSpPr/>
            <p:nvPr/>
          </p:nvGrpSpPr>
          <p:grpSpPr>
            <a:xfrm>
              <a:off x="0" y="6677"/>
              <a:ext cx="3072" cy="483"/>
              <a:chOff x="0" y="6677"/>
              <a:chExt cx="3072" cy="483"/>
            </a:xfrm>
          </p:grpSpPr>
          <p:sp>
            <p:nvSpPr>
              <p:cNvPr id="757" name="Google Shape;757;p25"/>
              <p:cNvSpPr/>
              <p:nvPr/>
            </p:nvSpPr>
            <p:spPr>
              <a:xfrm>
                <a:off x="0" y="6677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58" name="Google Shape;758;p25"/>
              <p:cNvSpPr/>
              <p:nvPr/>
            </p:nvSpPr>
            <p:spPr>
              <a:xfrm>
                <a:off x="0" y="673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19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59" name="Google Shape;759;p25"/>
            <p:cNvGrpSpPr/>
            <p:nvPr/>
          </p:nvGrpSpPr>
          <p:grpSpPr>
            <a:xfrm>
              <a:off x="0" y="7051"/>
              <a:ext cx="3072" cy="483"/>
              <a:chOff x="0" y="7051"/>
              <a:chExt cx="3072" cy="483"/>
            </a:xfrm>
          </p:grpSpPr>
          <p:sp>
            <p:nvSpPr>
              <p:cNvPr id="760" name="Google Shape;760;p25"/>
              <p:cNvSpPr/>
              <p:nvPr/>
            </p:nvSpPr>
            <p:spPr>
              <a:xfrm>
                <a:off x="0" y="7051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1" name="Google Shape;761;p25"/>
              <p:cNvSpPr/>
              <p:nvPr/>
            </p:nvSpPr>
            <p:spPr>
              <a:xfrm>
                <a:off x="0" y="710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20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srand( time( 0 )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62" name="Google Shape;762;p25"/>
            <p:cNvGrpSpPr/>
            <p:nvPr/>
          </p:nvGrpSpPr>
          <p:grpSpPr>
            <a:xfrm>
              <a:off x="0" y="7425"/>
              <a:ext cx="3072" cy="483"/>
              <a:chOff x="0" y="7425"/>
              <a:chExt cx="3072" cy="483"/>
            </a:xfrm>
          </p:grpSpPr>
          <p:sp>
            <p:nvSpPr>
              <p:cNvPr id="763" name="Google Shape;763;p25"/>
              <p:cNvSpPr/>
              <p:nvPr/>
            </p:nvSpPr>
            <p:spPr>
              <a:xfrm>
                <a:off x="0" y="742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4" name="Google Shape;764;p25"/>
              <p:cNvSpPr/>
              <p:nvPr/>
            </p:nvSpPr>
            <p:spPr>
              <a:xfrm>
                <a:off x="0" y="748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21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65" name="Google Shape;765;p25"/>
            <p:cNvGrpSpPr/>
            <p:nvPr/>
          </p:nvGrpSpPr>
          <p:grpSpPr>
            <a:xfrm>
              <a:off x="0" y="7799"/>
              <a:ext cx="3072" cy="483"/>
              <a:chOff x="0" y="7799"/>
              <a:chExt cx="3072" cy="483"/>
            </a:xfrm>
          </p:grpSpPr>
          <p:sp>
            <p:nvSpPr>
              <p:cNvPr id="766" name="Google Shape;766;p25"/>
              <p:cNvSpPr/>
              <p:nvPr/>
            </p:nvSpPr>
            <p:spPr>
              <a:xfrm>
                <a:off x="0" y="779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7" name="Google Shape;767;p25"/>
              <p:cNvSpPr/>
              <p:nvPr/>
            </p:nvSpPr>
            <p:spPr>
              <a:xfrm>
                <a:off x="0" y="785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22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shuffle( deck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68" name="Google Shape;768;p25"/>
            <p:cNvGrpSpPr/>
            <p:nvPr/>
          </p:nvGrpSpPr>
          <p:grpSpPr>
            <a:xfrm>
              <a:off x="0" y="8173"/>
              <a:ext cx="3072" cy="483"/>
              <a:chOff x="0" y="8173"/>
              <a:chExt cx="3072" cy="483"/>
            </a:xfrm>
          </p:grpSpPr>
          <p:sp>
            <p:nvSpPr>
              <p:cNvPr id="769" name="Google Shape;769;p25"/>
              <p:cNvSpPr/>
              <p:nvPr/>
            </p:nvSpPr>
            <p:spPr>
              <a:xfrm>
                <a:off x="0" y="8173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70" name="Google Shape;770;p25"/>
              <p:cNvSpPr/>
              <p:nvPr/>
            </p:nvSpPr>
            <p:spPr>
              <a:xfrm>
                <a:off x="0" y="822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23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deal( deck, face, suit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71" name="Google Shape;771;p25"/>
            <p:cNvGrpSpPr/>
            <p:nvPr/>
          </p:nvGrpSpPr>
          <p:grpSpPr>
            <a:xfrm>
              <a:off x="0" y="8547"/>
              <a:ext cx="3072" cy="483"/>
              <a:chOff x="0" y="8547"/>
              <a:chExt cx="3072" cy="483"/>
            </a:xfrm>
          </p:grpSpPr>
          <p:sp>
            <p:nvSpPr>
              <p:cNvPr id="772" name="Google Shape;772;p25"/>
              <p:cNvSpPr/>
              <p:nvPr/>
            </p:nvSpPr>
            <p:spPr>
              <a:xfrm>
                <a:off x="0" y="8547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73" name="Google Shape;773;p25"/>
              <p:cNvSpPr/>
              <p:nvPr/>
            </p:nvSpPr>
            <p:spPr>
              <a:xfrm>
                <a:off x="0" y="860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24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74" name="Google Shape;774;p25"/>
            <p:cNvGrpSpPr/>
            <p:nvPr/>
          </p:nvGrpSpPr>
          <p:grpSpPr>
            <a:xfrm>
              <a:off x="0" y="8921"/>
              <a:ext cx="3072" cy="483"/>
              <a:chOff x="0" y="8921"/>
              <a:chExt cx="3072" cy="483"/>
            </a:xfrm>
          </p:grpSpPr>
          <p:sp>
            <p:nvSpPr>
              <p:cNvPr id="775" name="Google Shape;775;p25"/>
              <p:cNvSpPr/>
              <p:nvPr/>
            </p:nvSpPr>
            <p:spPr>
              <a:xfrm>
                <a:off x="0" y="8921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76" name="Google Shape;776;p25"/>
              <p:cNvSpPr/>
              <p:nvPr/>
            </p:nvSpPr>
            <p:spPr>
              <a:xfrm>
                <a:off x="0" y="897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25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return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0;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77" name="Google Shape;777;p25"/>
            <p:cNvGrpSpPr/>
            <p:nvPr/>
          </p:nvGrpSpPr>
          <p:grpSpPr>
            <a:xfrm>
              <a:off x="0" y="9295"/>
              <a:ext cx="3072" cy="483"/>
              <a:chOff x="0" y="9295"/>
              <a:chExt cx="3072" cy="483"/>
            </a:xfrm>
          </p:grpSpPr>
          <p:sp>
            <p:nvSpPr>
              <p:cNvPr id="778" name="Google Shape;778;p25"/>
              <p:cNvSpPr/>
              <p:nvPr/>
            </p:nvSpPr>
            <p:spPr>
              <a:xfrm>
                <a:off x="0" y="929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79" name="Google Shape;779;p25"/>
              <p:cNvSpPr/>
              <p:nvPr/>
            </p:nvSpPr>
            <p:spPr>
              <a:xfrm>
                <a:off x="0" y="935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26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80" name="Google Shape;780;p25"/>
            <p:cNvGrpSpPr/>
            <p:nvPr/>
          </p:nvGrpSpPr>
          <p:grpSpPr>
            <a:xfrm>
              <a:off x="0" y="9669"/>
              <a:ext cx="3072" cy="483"/>
              <a:chOff x="0" y="9669"/>
              <a:chExt cx="3072" cy="483"/>
            </a:xfrm>
          </p:grpSpPr>
          <p:sp>
            <p:nvSpPr>
              <p:cNvPr id="781" name="Google Shape;781;p25"/>
              <p:cNvSpPr/>
              <p:nvPr/>
            </p:nvSpPr>
            <p:spPr>
              <a:xfrm>
                <a:off x="0" y="966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2" name="Google Shape;782;p25"/>
              <p:cNvSpPr/>
              <p:nvPr/>
            </p:nvSpPr>
            <p:spPr>
              <a:xfrm>
                <a:off x="0" y="972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27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83" name="Google Shape;783;p25"/>
            <p:cNvGrpSpPr/>
            <p:nvPr/>
          </p:nvGrpSpPr>
          <p:grpSpPr>
            <a:xfrm>
              <a:off x="0" y="10043"/>
              <a:ext cx="3072" cy="483"/>
              <a:chOff x="0" y="10043"/>
              <a:chExt cx="3072" cy="483"/>
            </a:xfrm>
          </p:grpSpPr>
          <p:sp>
            <p:nvSpPr>
              <p:cNvPr id="784" name="Google Shape;784;p25"/>
              <p:cNvSpPr/>
              <p:nvPr/>
            </p:nvSpPr>
            <p:spPr>
              <a:xfrm>
                <a:off x="0" y="10043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5" name="Google Shape;785;p25"/>
              <p:cNvSpPr/>
              <p:nvPr/>
            </p:nvSpPr>
            <p:spPr>
              <a:xfrm>
                <a:off x="0" y="1009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28	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void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shuffle(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wDeck[][ 13 ] )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86" name="Google Shape;786;p25"/>
            <p:cNvGrpSpPr/>
            <p:nvPr/>
          </p:nvGrpSpPr>
          <p:grpSpPr>
            <a:xfrm>
              <a:off x="0" y="10417"/>
              <a:ext cx="3072" cy="483"/>
              <a:chOff x="0" y="10417"/>
              <a:chExt cx="3072" cy="483"/>
            </a:xfrm>
          </p:grpSpPr>
          <p:sp>
            <p:nvSpPr>
              <p:cNvPr id="787" name="Google Shape;787;p25"/>
              <p:cNvSpPr/>
              <p:nvPr/>
            </p:nvSpPr>
            <p:spPr>
              <a:xfrm>
                <a:off x="0" y="10417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88" name="Google Shape;788;p25"/>
              <p:cNvSpPr/>
              <p:nvPr/>
            </p:nvSpPr>
            <p:spPr>
              <a:xfrm>
                <a:off x="0" y="1047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29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89" name="Google Shape;789;p25"/>
            <p:cNvGrpSpPr/>
            <p:nvPr/>
          </p:nvGrpSpPr>
          <p:grpSpPr>
            <a:xfrm>
              <a:off x="0" y="10791"/>
              <a:ext cx="3072" cy="483"/>
              <a:chOff x="0" y="10791"/>
              <a:chExt cx="3072" cy="483"/>
            </a:xfrm>
          </p:grpSpPr>
          <p:sp>
            <p:nvSpPr>
              <p:cNvPr id="790" name="Google Shape;790;p25"/>
              <p:cNvSpPr/>
              <p:nvPr/>
            </p:nvSpPr>
            <p:spPr>
              <a:xfrm>
                <a:off x="0" y="10791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1" name="Google Shape;791;p25"/>
              <p:cNvSpPr/>
              <p:nvPr/>
            </p:nvSpPr>
            <p:spPr>
              <a:xfrm>
                <a:off x="0" y="1084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30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row, column, card;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92" name="Google Shape;792;p25"/>
            <p:cNvGrpSpPr/>
            <p:nvPr/>
          </p:nvGrpSpPr>
          <p:grpSpPr>
            <a:xfrm>
              <a:off x="0" y="11165"/>
              <a:ext cx="3072" cy="483"/>
              <a:chOff x="0" y="11165"/>
              <a:chExt cx="3072" cy="483"/>
            </a:xfrm>
          </p:grpSpPr>
          <p:sp>
            <p:nvSpPr>
              <p:cNvPr id="793" name="Google Shape;793;p25"/>
              <p:cNvSpPr/>
              <p:nvPr/>
            </p:nvSpPr>
            <p:spPr>
              <a:xfrm>
                <a:off x="0" y="1116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4" name="Google Shape;794;p25"/>
              <p:cNvSpPr/>
              <p:nvPr/>
            </p:nvSpPr>
            <p:spPr>
              <a:xfrm>
                <a:off x="0" y="1122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31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795" name="Google Shape;795;p25"/>
            <p:cNvGrpSpPr/>
            <p:nvPr/>
          </p:nvGrpSpPr>
          <p:grpSpPr>
            <a:xfrm>
              <a:off x="0" y="11539"/>
              <a:ext cx="3072" cy="483"/>
              <a:chOff x="0" y="11539"/>
              <a:chExt cx="3072" cy="483"/>
            </a:xfrm>
          </p:grpSpPr>
          <p:sp>
            <p:nvSpPr>
              <p:cNvPr id="796" name="Google Shape;796;p25"/>
              <p:cNvSpPr/>
              <p:nvPr/>
            </p:nvSpPr>
            <p:spPr>
              <a:xfrm>
                <a:off x="0" y="1153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97" name="Google Shape;797;p25"/>
              <p:cNvSpPr/>
              <p:nvPr/>
            </p:nvSpPr>
            <p:spPr>
              <a:xfrm>
                <a:off x="0" y="1159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32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for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( card = 1; card &lt;= 52; card++ ) {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26"/>
          <p:cNvSpPr txBox="1">
            <a:spLocks noGrp="1"/>
          </p:cNvSpPr>
          <p:nvPr>
            <p:ph type="subTitle" idx="1"/>
          </p:nvPr>
        </p:nvSpPr>
        <p:spPr>
          <a:xfrm>
            <a:off x="8229600" y="762000"/>
            <a:ext cx="2438400" cy="6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3.  Define functions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grpSp>
        <p:nvGrpSpPr>
          <p:cNvPr id="803" name="Google Shape;803;p26"/>
          <p:cNvGrpSpPr/>
          <p:nvPr/>
        </p:nvGrpSpPr>
        <p:grpSpPr>
          <a:xfrm>
            <a:off x="1524000" y="-7710"/>
            <a:ext cx="6781800" cy="6567919"/>
            <a:chOff x="0" y="-11"/>
            <a:chExt cx="3072" cy="9371"/>
          </a:xfrm>
        </p:grpSpPr>
        <p:grpSp>
          <p:nvGrpSpPr>
            <p:cNvPr id="804" name="Google Shape;804;p26"/>
            <p:cNvGrpSpPr/>
            <p:nvPr/>
          </p:nvGrpSpPr>
          <p:grpSpPr>
            <a:xfrm>
              <a:off x="0" y="-11"/>
              <a:ext cx="3072" cy="395"/>
              <a:chOff x="0" y="-11"/>
              <a:chExt cx="3072" cy="395"/>
            </a:xfrm>
          </p:grpSpPr>
          <p:sp>
            <p:nvSpPr>
              <p:cNvPr id="805" name="Google Shape;805;p26"/>
              <p:cNvSpPr/>
              <p:nvPr/>
            </p:nvSpPr>
            <p:spPr>
              <a:xfrm>
                <a:off x="0" y="-11"/>
                <a:ext cx="3072" cy="395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6" name="Google Shape;806;p26"/>
              <p:cNvSpPr/>
              <p:nvPr/>
            </p:nvSpPr>
            <p:spPr>
              <a:xfrm>
                <a:off x="0" y="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33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do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{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807" name="Google Shape;807;p26"/>
            <p:cNvGrpSpPr/>
            <p:nvPr/>
          </p:nvGrpSpPr>
          <p:grpSpPr>
            <a:xfrm>
              <a:off x="0" y="363"/>
              <a:ext cx="3072" cy="395"/>
              <a:chOff x="0" y="363"/>
              <a:chExt cx="3072" cy="395"/>
            </a:xfrm>
          </p:grpSpPr>
          <p:sp>
            <p:nvSpPr>
              <p:cNvPr id="808" name="Google Shape;808;p26"/>
              <p:cNvSpPr/>
              <p:nvPr/>
            </p:nvSpPr>
            <p:spPr>
              <a:xfrm>
                <a:off x="0" y="363"/>
                <a:ext cx="3072" cy="395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09" name="Google Shape;809;p26"/>
              <p:cNvSpPr/>
              <p:nvPr/>
            </p:nvSpPr>
            <p:spPr>
              <a:xfrm>
                <a:off x="0" y="37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34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   row = rand() % 4;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810" name="Google Shape;810;p26"/>
            <p:cNvGrpSpPr/>
            <p:nvPr/>
          </p:nvGrpSpPr>
          <p:grpSpPr>
            <a:xfrm>
              <a:off x="0" y="737"/>
              <a:ext cx="3072" cy="395"/>
              <a:chOff x="0" y="737"/>
              <a:chExt cx="3072" cy="395"/>
            </a:xfrm>
          </p:grpSpPr>
          <p:sp>
            <p:nvSpPr>
              <p:cNvPr id="811" name="Google Shape;811;p26"/>
              <p:cNvSpPr/>
              <p:nvPr/>
            </p:nvSpPr>
            <p:spPr>
              <a:xfrm>
                <a:off x="0" y="737"/>
                <a:ext cx="3072" cy="395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12" name="Google Shape;812;p26"/>
              <p:cNvSpPr/>
              <p:nvPr/>
            </p:nvSpPr>
            <p:spPr>
              <a:xfrm>
                <a:off x="0" y="74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35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   column = rand() % 13;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813" name="Google Shape;813;p26"/>
            <p:cNvGrpSpPr/>
            <p:nvPr/>
          </p:nvGrpSpPr>
          <p:grpSpPr>
            <a:xfrm>
              <a:off x="0" y="1111"/>
              <a:ext cx="3072" cy="395"/>
              <a:chOff x="0" y="1111"/>
              <a:chExt cx="3072" cy="395"/>
            </a:xfrm>
          </p:grpSpPr>
          <p:sp>
            <p:nvSpPr>
              <p:cNvPr id="814" name="Google Shape;814;p26"/>
              <p:cNvSpPr/>
              <p:nvPr/>
            </p:nvSpPr>
            <p:spPr>
              <a:xfrm>
                <a:off x="0" y="1111"/>
                <a:ext cx="3072" cy="395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15" name="Google Shape;815;p26"/>
              <p:cNvSpPr/>
              <p:nvPr/>
            </p:nvSpPr>
            <p:spPr>
              <a:xfrm>
                <a:off x="0" y="112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36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}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while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( wDeck[ row ][ column ] != 0 );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816" name="Google Shape;816;p26"/>
            <p:cNvGrpSpPr/>
            <p:nvPr/>
          </p:nvGrpSpPr>
          <p:grpSpPr>
            <a:xfrm>
              <a:off x="0" y="1485"/>
              <a:ext cx="3072" cy="395"/>
              <a:chOff x="0" y="1485"/>
              <a:chExt cx="3072" cy="395"/>
            </a:xfrm>
          </p:grpSpPr>
          <p:sp>
            <p:nvSpPr>
              <p:cNvPr id="817" name="Google Shape;817;p26"/>
              <p:cNvSpPr/>
              <p:nvPr/>
            </p:nvSpPr>
            <p:spPr>
              <a:xfrm>
                <a:off x="0" y="1485"/>
                <a:ext cx="3072" cy="395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18" name="Google Shape;818;p26"/>
              <p:cNvSpPr/>
              <p:nvPr/>
            </p:nvSpPr>
            <p:spPr>
              <a:xfrm>
                <a:off x="0" y="149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37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819" name="Google Shape;819;p26"/>
            <p:cNvGrpSpPr/>
            <p:nvPr/>
          </p:nvGrpSpPr>
          <p:grpSpPr>
            <a:xfrm>
              <a:off x="0" y="1859"/>
              <a:ext cx="3072" cy="395"/>
              <a:chOff x="0" y="1859"/>
              <a:chExt cx="3072" cy="395"/>
            </a:xfrm>
          </p:grpSpPr>
          <p:sp>
            <p:nvSpPr>
              <p:cNvPr id="820" name="Google Shape;820;p26"/>
              <p:cNvSpPr/>
              <p:nvPr/>
            </p:nvSpPr>
            <p:spPr>
              <a:xfrm>
                <a:off x="0" y="1859"/>
                <a:ext cx="3072" cy="395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21" name="Google Shape;821;p26"/>
              <p:cNvSpPr/>
              <p:nvPr/>
            </p:nvSpPr>
            <p:spPr>
              <a:xfrm>
                <a:off x="0" y="187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38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wDeck[ row ][ column ] = card;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822" name="Google Shape;822;p26"/>
            <p:cNvGrpSpPr/>
            <p:nvPr/>
          </p:nvGrpSpPr>
          <p:grpSpPr>
            <a:xfrm>
              <a:off x="0" y="2233"/>
              <a:ext cx="3072" cy="395"/>
              <a:chOff x="0" y="2233"/>
              <a:chExt cx="3072" cy="395"/>
            </a:xfrm>
          </p:grpSpPr>
          <p:sp>
            <p:nvSpPr>
              <p:cNvPr id="823" name="Google Shape;823;p26"/>
              <p:cNvSpPr/>
              <p:nvPr/>
            </p:nvSpPr>
            <p:spPr>
              <a:xfrm>
                <a:off x="0" y="2233"/>
                <a:ext cx="3072" cy="395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24" name="Google Shape;824;p26"/>
              <p:cNvSpPr/>
              <p:nvPr/>
            </p:nvSpPr>
            <p:spPr>
              <a:xfrm>
                <a:off x="0" y="224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39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}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825" name="Google Shape;825;p26"/>
            <p:cNvGrpSpPr/>
            <p:nvPr/>
          </p:nvGrpSpPr>
          <p:grpSpPr>
            <a:xfrm>
              <a:off x="0" y="2607"/>
              <a:ext cx="3072" cy="395"/>
              <a:chOff x="0" y="2607"/>
              <a:chExt cx="3072" cy="395"/>
            </a:xfrm>
          </p:grpSpPr>
          <p:sp>
            <p:nvSpPr>
              <p:cNvPr id="826" name="Google Shape;826;p26"/>
              <p:cNvSpPr/>
              <p:nvPr/>
            </p:nvSpPr>
            <p:spPr>
              <a:xfrm>
                <a:off x="0" y="2607"/>
                <a:ext cx="3072" cy="395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27" name="Google Shape;827;p26"/>
              <p:cNvSpPr/>
              <p:nvPr/>
            </p:nvSpPr>
            <p:spPr>
              <a:xfrm>
                <a:off x="0" y="261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40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828" name="Google Shape;828;p26"/>
            <p:cNvGrpSpPr/>
            <p:nvPr/>
          </p:nvGrpSpPr>
          <p:grpSpPr>
            <a:xfrm>
              <a:off x="0" y="2981"/>
              <a:ext cx="3072" cy="395"/>
              <a:chOff x="0" y="2981"/>
              <a:chExt cx="3072" cy="395"/>
            </a:xfrm>
          </p:grpSpPr>
          <p:sp>
            <p:nvSpPr>
              <p:cNvPr id="829" name="Google Shape;829;p26"/>
              <p:cNvSpPr/>
              <p:nvPr/>
            </p:nvSpPr>
            <p:spPr>
              <a:xfrm>
                <a:off x="0" y="2981"/>
                <a:ext cx="3072" cy="395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30" name="Google Shape;830;p26"/>
              <p:cNvSpPr/>
              <p:nvPr/>
            </p:nvSpPr>
            <p:spPr>
              <a:xfrm>
                <a:off x="0" y="299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41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831" name="Google Shape;831;p26"/>
            <p:cNvGrpSpPr/>
            <p:nvPr/>
          </p:nvGrpSpPr>
          <p:grpSpPr>
            <a:xfrm>
              <a:off x="0" y="3355"/>
              <a:ext cx="3072" cy="395"/>
              <a:chOff x="0" y="3355"/>
              <a:chExt cx="3072" cy="395"/>
            </a:xfrm>
          </p:grpSpPr>
          <p:sp>
            <p:nvSpPr>
              <p:cNvPr id="832" name="Google Shape;832;p26"/>
              <p:cNvSpPr/>
              <p:nvPr/>
            </p:nvSpPr>
            <p:spPr>
              <a:xfrm>
                <a:off x="0" y="3355"/>
                <a:ext cx="3072" cy="395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33" name="Google Shape;833;p26"/>
              <p:cNvSpPr/>
              <p:nvPr/>
            </p:nvSpPr>
            <p:spPr>
              <a:xfrm>
                <a:off x="0" y="336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42	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void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deal(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const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wDeck[][ 13 ],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const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char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*wFace[],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834" name="Google Shape;834;p26"/>
            <p:cNvGrpSpPr/>
            <p:nvPr/>
          </p:nvGrpSpPr>
          <p:grpSpPr>
            <a:xfrm>
              <a:off x="0" y="3729"/>
              <a:ext cx="3072" cy="395"/>
              <a:chOff x="0" y="3729"/>
              <a:chExt cx="3072" cy="395"/>
            </a:xfrm>
          </p:grpSpPr>
          <p:sp>
            <p:nvSpPr>
              <p:cNvPr id="835" name="Google Shape;835;p26"/>
              <p:cNvSpPr/>
              <p:nvPr/>
            </p:nvSpPr>
            <p:spPr>
              <a:xfrm>
                <a:off x="0" y="3729"/>
                <a:ext cx="3072" cy="395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36" name="Google Shape;836;p26"/>
              <p:cNvSpPr/>
              <p:nvPr/>
            </p:nvSpPr>
            <p:spPr>
              <a:xfrm>
                <a:off x="0" y="374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43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  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const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char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*wSuit[] )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837" name="Google Shape;837;p26"/>
            <p:cNvGrpSpPr/>
            <p:nvPr/>
          </p:nvGrpSpPr>
          <p:grpSpPr>
            <a:xfrm>
              <a:off x="0" y="4103"/>
              <a:ext cx="3072" cy="395"/>
              <a:chOff x="0" y="4103"/>
              <a:chExt cx="3072" cy="395"/>
            </a:xfrm>
          </p:grpSpPr>
          <p:sp>
            <p:nvSpPr>
              <p:cNvPr id="838" name="Google Shape;838;p26"/>
              <p:cNvSpPr/>
              <p:nvPr/>
            </p:nvSpPr>
            <p:spPr>
              <a:xfrm>
                <a:off x="0" y="4103"/>
                <a:ext cx="3072" cy="395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39" name="Google Shape;839;p26"/>
              <p:cNvSpPr/>
              <p:nvPr/>
            </p:nvSpPr>
            <p:spPr>
              <a:xfrm>
                <a:off x="0" y="411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44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840" name="Google Shape;840;p26"/>
            <p:cNvGrpSpPr/>
            <p:nvPr/>
          </p:nvGrpSpPr>
          <p:grpSpPr>
            <a:xfrm>
              <a:off x="0" y="4477"/>
              <a:ext cx="3072" cy="395"/>
              <a:chOff x="0" y="4477"/>
              <a:chExt cx="3072" cy="395"/>
            </a:xfrm>
          </p:grpSpPr>
          <p:sp>
            <p:nvSpPr>
              <p:cNvPr id="841" name="Google Shape;841;p26"/>
              <p:cNvSpPr/>
              <p:nvPr/>
            </p:nvSpPr>
            <p:spPr>
              <a:xfrm>
                <a:off x="0" y="4477"/>
                <a:ext cx="3072" cy="395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42" name="Google Shape;842;p26"/>
              <p:cNvSpPr/>
              <p:nvPr/>
            </p:nvSpPr>
            <p:spPr>
              <a:xfrm>
                <a:off x="0" y="448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45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card, row, column;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843" name="Google Shape;843;p26"/>
            <p:cNvGrpSpPr/>
            <p:nvPr/>
          </p:nvGrpSpPr>
          <p:grpSpPr>
            <a:xfrm>
              <a:off x="0" y="4851"/>
              <a:ext cx="3072" cy="395"/>
              <a:chOff x="0" y="4851"/>
              <a:chExt cx="3072" cy="395"/>
            </a:xfrm>
          </p:grpSpPr>
          <p:sp>
            <p:nvSpPr>
              <p:cNvPr id="844" name="Google Shape;844;p26"/>
              <p:cNvSpPr/>
              <p:nvPr/>
            </p:nvSpPr>
            <p:spPr>
              <a:xfrm>
                <a:off x="0" y="4851"/>
                <a:ext cx="3072" cy="395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45" name="Google Shape;845;p26"/>
              <p:cNvSpPr/>
              <p:nvPr/>
            </p:nvSpPr>
            <p:spPr>
              <a:xfrm>
                <a:off x="0" y="486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46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846" name="Google Shape;846;p26"/>
            <p:cNvGrpSpPr/>
            <p:nvPr/>
          </p:nvGrpSpPr>
          <p:grpSpPr>
            <a:xfrm>
              <a:off x="0" y="5225"/>
              <a:ext cx="3072" cy="395"/>
              <a:chOff x="0" y="5225"/>
              <a:chExt cx="3072" cy="395"/>
            </a:xfrm>
          </p:grpSpPr>
          <p:sp>
            <p:nvSpPr>
              <p:cNvPr id="847" name="Google Shape;847;p26"/>
              <p:cNvSpPr/>
              <p:nvPr/>
            </p:nvSpPr>
            <p:spPr>
              <a:xfrm>
                <a:off x="0" y="5225"/>
                <a:ext cx="3072" cy="395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48" name="Google Shape;848;p26"/>
              <p:cNvSpPr/>
              <p:nvPr/>
            </p:nvSpPr>
            <p:spPr>
              <a:xfrm>
                <a:off x="0" y="523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47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for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( card = 1; card &lt;= 52; card++ )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849" name="Google Shape;849;p26"/>
            <p:cNvGrpSpPr/>
            <p:nvPr/>
          </p:nvGrpSpPr>
          <p:grpSpPr>
            <a:xfrm>
              <a:off x="0" y="5599"/>
              <a:ext cx="3072" cy="395"/>
              <a:chOff x="0" y="5599"/>
              <a:chExt cx="3072" cy="395"/>
            </a:xfrm>
          </p:grpSpPr>
          <p:sp>
            <p:nvSpPr>
              <p:cNvPr id="850" name="Google Shape;850;p26"/>
              <p:cNvSpPr/>
              <p:nvPr/>
            </p:nvSpPr>
            <p:spPr>
              <a:xfrm>
                <a:off x="0" y="5599"/>
                <a:ext cx="3072" cy="395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51" name="Google Shape;851;p26"/>
              <p:cNvSpPr/>
              <p:nvPr/>
            </p:nvSpPr>
            <p:spPr>
              <a:xfrm>
                <a:off x="0" y="561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48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852" name="Google Shape;852;p26"/>
            <p:cNvGrpSpPr/>
            <p:nvPr/>
          </p:nvGrpSpPr>
          <p:grpSpPr>
            <a:xfrm>
              <a:off x="0" y="5973"/>
              <a:ext cx="3072" cy="395"/>
              <a:chOff x="0" y="5973"/>
              <a:chExt cx="3072" cy="395"/>
            </a:xfrm>
          </p:grpSpPr>
          <p:sp>
            <p:nvSpPr>
              <p:cNvPr id="853" name="Google Shape;853;p26"/>
              <p:cNvSpPr/>
              <p:nvPr/>
            </p:nvSpPr>
            <p:spPr>
              <a:xfrm>
                <a:off x="0" y="5973"/>
                <a:ext cx="3072" cy="395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54" name="Google Shape;854;p26"/>
              <p:cNvSpPr/>
              <p:nvPr/>
            </p:nvSpPr>
            <p:spPr>
              <a:xfrm>
                <a:off x="0" y="598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49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for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( row = 0; row &lt;= 3; row++ )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855" name="Google Shape;855;p26"/>
            <p:cNvGrpSpPr/>
            <p:nvPr/>
          </p:nvGrpSpPr>
          <p:grpSpPr>
            <a:xfrm>
              <a:off x="0" y="6347"/>
              <a:ext cx="3072" cy="395"/>
              <a:chOff x="0" y="6347"/>
              <a:chExt cx="3072" cy="395"/>
            </a:xfrm>
          </p:grpSpPr>
          <p:sp>
            <p:nvSpPr>
              <p:cNvPr id="856" name="Google Shape;856;p26"/>
              <p:cNvSpPr/>
              <p:nvPr/>
            </p:nvSpPr>
            <p:spPr>
              <a:xfrm>
                <a:off x="0" y="6347"/>
                <a:ext cx="3072" cy="395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57" name="Google Shape;857;p26"/>
              <p:cNvSpPr/>
              <p:nvPr/>
            </p:nvSpPr>
            <p:spPr>
              <a:xfrm>
                <a:off x="0" y="635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50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858" name="Google Shape;858;p26"/>
            <p:cNvGrpSpPr/>
            <p:nvPr/>
          </p:nvGrpSpPr>
          <p:grpSpPr>
            <a:xfrm>
              <a:off x="0" y="6721"/>
              <a:ext cx="3072" cy="395"/>
              <a:chOff x="0" y="6721"/>
              <a:chExt cx="3072" cy="395"/>
            </a:xfrm>
          </p:grpSpPr>
          <p:sp>
            <p:nvSpPr>
              <p:cNvPr id="859" name="Google Shape;859;p26"/>
              <p:cNvSpPr/>
              <p:nvPr/>
            </p:nvSpPr>
            <p:spPr>
              <a:xfrm>
                <a:off x="0" y="6721"/>
                <a:ext cx="3072" cy="395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0" name="Google Shape;860;p26"/>
              <p:cNvSpPr/>
              <p:nvPr/>
            </p:nvSpPr>
            <p:spPr>
              <a:xfrm>
                <a:off x="0" y="673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51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for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( column = 0; column &lt;= 12; column++ )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861" name="Google Shape;861;p26"/>
            <p:cNvGrpSpPr/>
            <p:nvPr/>
          </p:nvGrpSpPr>
          <p:grpSpPr>
            <a:xfrm>
              <a:off x="0" y="7095"/>
              <a:ext cx="3072" cy="395"/>
              <a:chOff x="0" y="7095"/>
              <a:chExt cx="3072" cy="395"/>
            </a:xfrm>
          </p:grpSpPr>
          <p:sp>
            <p:nvSpPr>
              <p:cNvPr id="862" name="Google Shape;862;p26"/>
              <p:cNvSpPr/>
              <p:nvPr/>
            </p:nvSpPr>
            <p:spPr>
              <a:xfrm>
                <a:off x="0" y="7095"/>
                <a:ext cx="3072" cy="395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3" name="Google Shape;863;p26"/>
              <p:cNvSpPr/>
              <p:nvPr/>
            </p:nvSpPr>
            <p:spPr>
              <a:xfrm>
                <a:off x="0" y="710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52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864" name="Google Shape;864;p26"/>
            <p:cNvGrpSpPr/>
            <p:nvPr/>
          </p:nvGrpSpPr>
          <p:grpSpPr>
            <a:xfrm>
              <a:off x="0" y="7469"/>
              <a:ext cx="3072" cy="395"/>
              <a:chOff x="0" y="7469"/>
              <a:chExt cx="3072" cy="395"/>
            </a:xfrm>
          </p:grpSpPr>
          <p:sp>
            <p:nvSpPr>
              <p:cNvPr id="865" name="Google Shape;865;p26"/>
              <p:cNvSpPr/>
              <p:nvPr/>
            </p:nvSpPr>
            <p:spPr>
              <a:xfrm>
                <a:off x="0" y="7469"/>
                <a:ext cx="3072" cy="395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6" name="Google Shape;866;p26"/>
              <p:cNvSpPr/>
              <p:nvPr/>
            </p:nvSpPr>
            <p:spPr>
              <a:xfrm>
                <a:off x="0" y="748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53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   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if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( wDeck[ row ][ column ] == card )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867" name="Google Shape;867;p26"/>
            <p:cNvGrpSpPr/>
            <p:nvPr/>
          </p:nvGrpSpPr>
          <p:grpSpPr>
            <a:xfrm>
              <a:off x="0" y="7843"/>
              <a:ext cx="3072" cy="395"/>
              <a:chOff x="0" y="7843"/>
              <a:chExt cx="3072" cy="395"/>
            </a:xfrm>
          </p:grpSpPr>
          <p:sp>
            <p:nvSpPr>
              <p:cNvPr id="868" name="Google Shape;868;p26"/>
              <p:cNvSpPr/>
              <p:nvPr/>
            </p:nvSpPr>
            <p:spPr>
              <a:xfrm>
                <a:off x="0" y="7843"/>
                <a:ext cx="3072" cy="395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69" name="Google Shape;869;p26"/>
              <p:cNvSpPr/>
              <p:nvPr/>
            </p:nvSpPr>
            <p:spPr>
              <a:xfrm>
                <a:off x="0" y="785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54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         printf( "%5s of %-8s%c",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870" name="Google Shape;870;p26"/>
            <p:cNvGrpSpPr/>
            <p:nvPr/>
          </p:nvGrpSpPr>
          <p:grpSpPr>
            <a:xfrm>
              <a:off x="0" y="8217"/>
              <a:ext cx="3072" cy="395"/>
              <a:chOff x="0" y="8217"/>
              <a:chExt cx="3072" cy="395"/>
            </a:xfrm>
          </p:grpSpPr>
          <p:sp>
            <p:nvSpPr>
              <p:cNvPr id="871" name="Google Shape;871;p26"/>
              <p:cNvSpPr/>
              <p:nvPr/>
            </p:nvSpPr>
            <p:spPr>
              <a:xfrm>
                <a:off x="0" y="8217"/>
                <a:ext cx="3072" cy="395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2" name="Google Shape;872;p26"/>
              <p:cNvSpPr/>
              <p:nvPr/>
            </p:nvSpPr>
            <p:spPr>
              <a:xfrm>
                <a:off x="0" y="822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55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         wFace[ column ], wSuit[ row ],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873" name="Google Shape;873;p26"/>
            <p:cNvGrpSpPr/>
            <p:nvPr/>
          </p:nvGrpSpPr>
          <p:grpSpPr>
            <a:xfrm>
              <a:off x="0" y="8591"/>
              <a:ext cx="3072" cy="395"/>
              <a:chOff x="0" y="8591"/>
              <a:chExt cx="3072" cy="395"/>
            </a:xfrm>
          </p:grpSpPr>
          <p:sp>
            <p:nvSpPr>
              <p:cNvPr id="874" name="Google Shape;874;p26"/>
              <p:cNvSpPr/>
              <p:nvPr/>
            </p:nvSpPr>
            <p:spPr>
              <a:xfrm>
                <a:off x="0" y="8591"/>
                <a:ext cx="3072" cy="395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75" name="Google Shape;875;p26"/>
              <p:cNvSpPr/>
              <p:nvPr/>
            </p:nvSpPr>
            <p:spPr>
              <a:xfrm>
                <a:off x="0" y="860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56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         card % 2 == 0 ? '\n' : '\t'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876" name="Google Shape;876;p26"/>
            <p:cNvGrpSpPr/>
            <p:nvPr/>
          </p:nvGrpSpPr>
          <p:grpSpPr>
            <a:xfrm>
              <a:off x="0" y="8965"/>
              <a:ext cx="3072" cy="395"/>
              <a:chOff x="0" y="8965"/>
              <a:chExt cx="3072" cy="395"/>
            </a:xfrm>
          </p:grpSpPr>
          <p:sp>
            <p:nvSpPr>
              <p:cNvPr id="877" name="Google Shape;877;p26"/>
              <p:cNvSpPr/>
              <p:nvPr/>
            </p:nvSpPr>
            <p:spPr>
              <a:xfrm>
                <a:off x="0" y="8965"/>
                <a:ext cx="3072" cy="395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878" name="Google Shape;878;p26"/>
              <p:cNvGrpSpPr/>
              <p:nvPr/>
            </p:nvGrpSpPr>
            <p:grpSpPr>
              <a:xfrm>
                <a:off x="0" y="8965"/>
                <a:ext cx="3072" cy="395"/>
                <a:chOff x="0" y="8965"/>
                <a:chExt cx="3072" cy="395"/>
              </a:xfrm>
            </p:grpSpPr>
            <p:sp>
              <p:nvSpPr>
                <p:cNvPr id="879" name="Google Shape;879;p26"/>
                <p:cNvSpPr/>
                <p:nvPr/>
              </p:nvSpPr>
              <p:spPr>
                <a:xfrm>
                  <a:off x="0" y="8976"/>
                  <a:ext cx="3072" cy="374"/>
                </a:xfrm>
                <a:prstGeom prst="rect">
                  <a:avLst/>
                </a:prstGeom>
                <a:solidFill>
                  <a:srgbClr val="FFE699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tr-TR" sz="1200" b="1">
                      <a:solidFill>
                        <a:srgbClr val="4D8DFF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	57	</a:t>
                  </a:r>
                  <a:r>
                    <a:rPr lang="tr-TR" sz="1200" b="1">
                      <a:solidFill>
                        <a:srgbClr val="00000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}</a:t>
                  </a:r>
                  <a:endParaRPr/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880" name="Google Shape;880;p26"/>
                <p:cNvSpPr/>
                <p:nvPr/>
              </p:nvSpPr>
              <p:spPr>
                <a:xfrm>
                  <a:off x="0" y="8965"/>
                  <a:ext cx="3072" cy="39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</p:grpSp>
      <p:grpSp>
        <p:nvGrpSpPr>
          <p:cNvPr id="881" name="Google Shape;881;p26"/>
          <p:cNvGrpSpPr/>
          <p:nvPr/>
        </p:nvGrpSpPr>
        <p:grpSpPr>
          <a:xfrm>
            <a:off x="5257800" y="228600"/>
            <a:ext cx="4343400" cy="1219200"/>
            <a:chOff x="1344" y="192"/>
            <a:chExt cx="2736" cy="768"/>
          </a:xfrm>
        </p:grpSpPr>
        <p:sp>
          <p:nvSpPr>
            <p:cNvPr id="882" name="Google Shape;882;p26"/>
            <p:cNvSpPr/>
            <p:nvPr/>
          </p:nvSpPr>
          <p:spPr>
            <a:xfrm>
              <a:off x="2400" y="192"/>
              <a:ext cx="1680" cy="526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-TR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numbers 1-52 are randomly placed into the </a:t>
              </a:r>
              <a:r>
                <a:rPr lang="tr-TR" sz="16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deck</a:t>
              </a:r>
              <a:r>
                <a:rPr lang="tr-TR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array.</a:t>
              </a:r>
              <a:endParaRPr/>
            </a:p>
          </p:txBody>
        </p:sp>
        <p:cxnSp>
          <p:nvCxnSpPr>
            <p:cNvPr id="883" name="Google Shape;883;p26"/>
            <p:cNvCxnSpPr/>
            <p:nvPr/>
          </p:nvCxnSpPr>
          <p:spPr>
            <a:xfrm flipH="1">
              <a:off x="1344" y="528"/>
              <a:ext cx="1056" cy="43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884" name="Google Shape;884;p26"/>
          <p:cNvGrpSpPr/>
          <p:nvPr/>
        </p:nvGrpSpPr>
        <p:grpSpPr>
          <a:xfrm>
            <a:off x="5181600" y="4038600"/>
            <a:ext cx="4343400" cy="1371600"/>
            <a:chOff x="1200" y="912"/>
            <a:chExt cx="2736" cy="864"/>
          </a:xfrm>
        </p:grpSpPr>
        <p:sp>
          <p:nvSpPr>
            <p:cNvPr id="885" name="Google Shape;885;p26"/>
            <p:cNvSpPr/>
            <p:nvPr/>
          </p:nvSpPr>
          <p:spPr>
            <a:xfrm>
              <a:off x="2448" y="912"/>
              <a:ext cx="1488" cy="526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-TR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Searches </a:t>
              </a:r>
              <a:r>
                <a:rPr lang="tr-TR" sz="16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deck</a:t>
              </a:r>
              <a:r>
                <a:rPr lang="tr-TR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for the </a:t>
              </a:r>
              <a:r>
                <a:rPr lang="tr-TR" sz="16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card</a:t>
              </a:r>
              <a:r>
                <a:rPr lang="tr-TR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number, then prints the </a:t>
              </a:r>
              <a:r>
                <a:rPr lang="tr-TR" sz="16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face</a:t>
              </a:r>
              <a:r>
                <a:rPr lang="tr-TR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and </a:t>
              </a:r>
              <a:r>
                <a:rPr lang="tr-TR" sz="16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suit</a:t>
              </a:r>
              <a:r>
                <a:rPr lang="tr-TR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</a:t>
              </a:r>
              <a:endParaRPr/>
            </a:p>
          </p:txBody>
        </p:sp>
        <p:cxnSp>
          <p:nvCxnSpPr>
            <p:cNvPr id="886" name="Google Shape;886;p26"/>
            <p:cNvCxnSpPr/>
            <p:nvPr/>
          </p:nvCxnSpPr>
          <p:spPr>
            <a:xfrm flipH="1">
              <a:off x="1200" y="1152"/>
              <a:ext cx="1248" cy="62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27"/>
          <p:cNvSpPr txBox="1">
            <a:spLocks noGrp="1"/>
          </p:cNvSpPr>
          <p:nvPr>
            <p:ph type="subTitle" idx="1"/>
          </p:nvPr>
        </p:nvSpPr>
        <p:spPr>
          <a:xfrm>
            <a:off x="8229600" y="762000"/>
            <a:ext cx="2438400" cy="6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Program Output</a:t>
            </a:r>
            <a:endParaRPr/>
          </a:p>
        </p:txBody>
      </p:sp>
      <p:sp>
        <p:nvSpPr>
          <p:cNvPr id="892" name="Google Shape;892;p27"/>
          <p:cNvSpPr/>
          <p:nvPr/>
        </p:nvSpPr>
        <p:spPr>
          <a:xfrm>
            <a:off x="1524000" y="1"/>
            <a:ext cx="6781800" cy="544764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Six of Clubs          Seven of Diamonds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Ace of Spades           Ace of Diamonds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Ace of Hearts         Queen of Diamonds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Queen of Clubs          Seven of Hearts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Ten of Hearts         Deuce of Clubs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Ten of Spades         Three of Spades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Ten of Diamonds        Four of Spades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Four of Diamonds         Ten of Clubs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Six of Diamonds         Six of Spades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Eight of Hearts         Three of Diamonds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Nine of Hearts         Three of Hearts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Deuce of Spades           Six of Hearts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Five of Clubs          Eight of Clubs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Deuce of Diamonds       Eight of Spades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Five of Spades          King of Clubs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King of Diamonds        Jack of Spades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Deuce of Hearts         Queen of Hearts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Ace of Clubs           King of Spades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Three of Clubs           King of Hearts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Nine of Clubs           Nine of Spades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Four of Hearts         Queen of Spades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Eight of Diamonds        Nine of Diamonds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Jack of Diamonds       Seven of Clubs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Five of Hearts          Five of Diamonds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Four of Clubs           Jack of Hearts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Jack of Clubs          Seven of Spades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7.11	Pointers to Functions</a:t>
            </a:r>
            <a:endParaRPr/>
          </a:p>
        </p:txBody>
      </p:sp>
      <p:sp>
        <p:nvSpPr>
          <p:cNvPr id="898" name="Google Shape;898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/>
              <a:t>Pointer to function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/>
              <a:t>Contains address of function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/>
              <a:t>Similar to how array name is address of first element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/>
              <a:t>Function name is starting address of code that defines function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/>
              <a:t>Function pointers can be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/>
              <a:t>Passed to functions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/>
              <a:t>Stored in arrays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/>
              <a:t>Assigned to other function pointers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7.11 Pointers to Functions</a:t>
            </a:r>
            <a:endParaRPr/>
          </a:p>
        </p:txBody>
      </p:sp>
      <p:sp>
        <p:nvSpPr>
          <p:cNvPr id="904" name="Google Shape;904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/>
              <a:t>Example: bubblesort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/>
              <a:t>Function </a:t>
            </a: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bubble</a:t>
            </a:r>
            <a:r>
              <a:rPr lang="tr-TR"/>
              <a:t> takes a function pointer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bubble</a:t>
            </a:r>
            <a:r>
              <a:rPr lang="tr-TR"/>
              <a:t> calls this helper function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tr-TR"/>
              <a:t>this determines ascending or descending sorting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/>
              <a:t>The argument in </a:t>
            </a: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bubblesort</a:t>
            </a:r>
            <a:r>
              <a:rPr lang="tr-TR"/>
              <a:t> for the function pointer:</a:t>
            </a:r>
            <a:endParaRPr/>
          </a:p>
          <a:p>
            <a:pPr marL="16002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bool ( *compare )( int, int )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tr-TR"/>
              <a:t>tells bubblesort to expect a pointer to a function that takes two </a:t>
            </a: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ints</a:t>
            </a:r>
            <a:r>
              <a:rPr lang="tr-TR"/>
              <a:t> and returns a </a:t>
            </a: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tr-TR"/>
              <a:t>If the parentheses were left out:</a:t>
            </a:r>
            <a:endParaRPr/>
          </a:p>
          <a:p>
            <a:pPr marL="16002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bool *compare( int, int )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tr-TR"/>
              <a:t>Declares a function that receives two integers and returns a pointer to a </a:t>
            </a:r>
            <a:r>
              <a:rPr lang="tr-TR" b="1"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0"/>
          <p:cNvSpPr txBox="1">
            <a:spLocks noGrp="1"/>
          </p:cNvSpPr>
          <p:nvPr>
            <p:ph type="subTitle" idx="1"/>
          </p:nvPr>
        </p:nvSpPr>
        <p:spPr>
          <a:xfrm>
            <a:off x="8229600" y="762000"/>
            <a:ext cx="2438400" cy="6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1. Initialize array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2.  Prompt for ascending or descending sorting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2.1  Put appropriate function pointer into bubblesort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2.2  Call </a:t>
            </a:r>
            <a:r>
              <a:rPr lang="tr-TR">
                <a:latin typeface="Courier New"/>
                <a:ea typeface="Courier New"/>
                <a:cs typeface="Courier New"/>
                <a:sym typeface="Courier New"/>
              </a:rPr>
              <a:t>bubble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3.  Print results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grpSp>
        <p:nvGrpSpPr>
          <p:cNvPr id="911" name="Google Shape;911;p30"/>
          <p:cNvGrpSpPr/>
          <p:nvPr/>
        </p:nvGrpSpPr>
        <p:grpSpPr>
          <a:xfrm>
            <a:off x="1524000" y="-31517"/>
            <a:ext cx="6781800" cy="6920461"/>
            <a:chOff x="0" y="-55"/>
            <a:chExt cx="3072" cy="12077"/>
          </a:xfrm>
        </p:grpSpPr>
        <p:grpSp>
          <p:nvGrpSpPr>
            <p:cNvPr id="912" name="Google Shape;912;p30"/>
            <p:cNvGrpSpPr/>
            <p:nvPr/>
          </p:nvGrpSpPr>
          <p:grpSpPr>
            <a:xfrm>
              <a:off x="0" y="-55"/>
              <a:ext cx="3072" cy="483"/>
              <a:chOff x="0" y="-55"/>
              <a:chExt cx="3072" cy="483"/>
            </a:xfrm>
          </p:grpSpPr>
          <p:sp>
            <p:nvSpPr>
              <p:cNvPr id="913" name="Google Shape;913;p30"/>
              <p:cNvSpPr/>
              <p:nvPr/>
            </p:nvSpPr>
            <p:spPr>
              <a:xfrm>
                <a:off x="0" y="-5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14" name="Google Shape;914;p30"/>
              <p:cNvSpPr/>
              <p:nvPr/>
            </p:nvSpPr>
            <p:spPr>
              <a:xfrm>
                <a:off x="0" y="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	</a:t>
                </a:r>
                <a:r>
                  <a:rPr lang="tr-TR" sz="1200" b="1">
                    <a:solidFill>
                      <a:srgbClr val="33CC33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/* Fig. 7.26: fig07_26.c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15" name="Google Shape;915;p30"/>
            <p:cNvGrpSpPr/>
            <p:nvPr/>
          </p:nvGrpSpPr>
          <p:grpSpPr>
            <a:xfrm>
              <a:off x="0" y="319"/>
              <a:ext cx="3072" cy="483"/>
              <a:chOff x="0" y="319"/>
              <a:chExt cx="3072" cy="483"/>
            </a:xfrm>
          </p:grpSpPr>
          <p:sp>
            <p:nvSpPr>
              <p:cNvPr id="916" name="Google Shape;916;p30"/>
              <p:cNvSpPr/>
              <p:nvPr/>
            </p:nvSpPr>
            <p:spPr>
              <a:xfrm>
                <a:off x="0" y="31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17" name="Google Shape;917;p30"/>
              <p:cNvSpPr/>
              <p:nvPr/>
            </p:nvSpPr>
            <p:spPr>
              <a:xfrm>
                <a:off x="0" y="37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33CC33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Multipurpose sorting program using function pointers */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18" name="Google Shape;918;p30"/>
            <p:cNvGrpSpPr/>
            <p:nvPr/>
          </p:nvGrpSpPr>
          <p:grpSpPr>
            <a:xfrm>
              <a:off x="0" y="693"/>
              <a:ext cx="3072" cy="483"/>
              <a:chOff x="0" y="693"/>
              <a:chExt cx="3072" cy="483"/>
            </a:xfrm>
          </p:grpSpPr>
          <p:sp>
            <p:nvSpPr>
              <p:cNvPr id="919" name="Google Shape;919;p30"/>
              <p:cNvSpPr/>
              <p:nvPr/>
            </p:nvSpPr>
            <p:spPr>
              <a:xfrm>
                <a:off x="0" y="693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20" name="Google Shape;920;p30"/>
              <p:cNvSpPr/>
              <p:nvPr/>
            </p:nvSpPr>
            <p:spPr>
              <a:xfrm>
                <a:off x="0" y="74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	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#include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&lt;stdio.h&gt;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21" name="Google Shape;921;p30"/>
            <p:cNvGrpSpPr/>
            <p:nvPr/>
          </p:nvGrpSpPr>
          <p:grpSpPr>
            <a:xfrm>
              <a:off x="0" y="1067"/>
              <a:ext cx="3072" cy="483"/>
              <a:chOff x="0" y="1067"/>
              <a:chExt cx="3072" cy="483"/>
            </a:xfrm>
          </p:grpSpPr>
          <p:sp>
            <p:nvSpPr>
              <p:cNvPr id="922" name="Google Shape;922;p30"/>
              <p:cNvSpPr/>
              <p:nvPr/>
            </p:nvSpPr>
            <p:spPr>
              <a:xfrm>
                <a:off x="0" y="1067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23" name="Google Shape;923;p30"/>
              <p:cNvSpPr/>
              <p:nvPr/>
            </p:nvSpPr>
            <p:spPr>
              <a:xfrm>
                <a:off x="0" y="112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	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#define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SIZE 10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24" name="Google Shape;924;p30"/>
            <p:cNvGrpSpPr/>
            <p:nvPr/>
          </p:nvGrpSpPr>
          <p:grpSpPr>
            <a:xfrm>
              <a:off x="0" y="1441"/>
              <a:ext cx="3072" cy="483"/>
              <a:chOff x="0" y="1441"/>
              <a:chExt cx="3072" cy="483"/>
            </a:xfrm>
          </p:grpSpPr>
          <p:sp>
            <p:nvSpPr>
              <p:cNvPr id="925" name="Google Shape;925;p30"/>
              <p:cNvSpPr/>
              <p:nvPr/>
            </p:nvSpPr>
            <p:spPr>
              <a:xfrm>
                <a:off x="0" y="1441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26" name="Google Shape;926;p30"/>
              <p:cNvSpPr/>
              <p:nvPr/>
            </p:nvSpPr>
            <p:spPr>
              <a:xfrm>
                <a:off x="0" y="149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5	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void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bubble(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[],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const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(*)(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)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27" name="Google Shape;927;p30"/>
            <p:cNvGrpSpPr/>
            <p:nvPr/>
          </p:nvGrpSpPr>
          <p:grpSpPr>
            <a:xfrm>
              <a:off x="0" y="1815"/>
              <a:ext cx="3072" cy="483"/>
              <a:chOff x="0" y="1815"/>
              <a:chExt cx="3072" cy="483"/>
            </a:xfrm>
          </p:grpSpPr>
          <p:sp>
            <p:nvSpPr>
              <p:cNvPr id="928" name="Google Shape;928;p30"/>
              <p:cNvSpPr/>
              <p:nvPr/>
            </p:nvSpPr>
            <p:spPr>
              <a:xfrm>
                <a:off x="0" y="181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29" name="Google Shape;929;p30"/>
              <p:cNvSpPr/>
              <p:nvPr/>
            </p:nvSpPr>
            <p:spPr>
              <a:xfrm>
                <a:off x="0" y="187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6	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ascending(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30" name="Google Shape;930;p30"/>
            <p:cNvGrpSpPr/>
            <p:nvPr/>
          </p:nvGrpSpPr>
          <p:grpSpPr>
            <a:xfrm>
              <a:off x="0" y="2189"/>
              <a:ext cx="3072" cy="483"/>
              <a:chOff x="0" y="2189"/>
              <a:chExt cx="3072" cy="483"/>
            </a:xfrm>
          </p:grpSpPr>
          <p:sp>
            <p:nvSpPr>
              <p:cNvPr id="931" name="Google Shape;931;p30"/>
              <p:cNvSpPr/>
              <p:nvPr/>
            </p:nvSpPr>
            <p:spPr>
              <a:xfrm>
                <a:off x="0" y="218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32" name="Google Shape;932;p30"/>
              <p:cNvSpPr/>
              <p:nvPr/>
            </p:nvSpPr>
            <p:spPr>
              <a:xfrm>
                <a:off x="0" y="224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7	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descending(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33" name="Google Shape;933;p30"/>
            <p:cNvGrpSpPr/>
            <p:nvPr/>
          </p:nvGrpSpPr>
          <p:grpSpPr>
            <a:xfrm>
              <a:off x="0" y="2563"/>
              <a:ext cx="3072" cy="483"/>
              <a:chOff x="0" y="2563"/>
              <a:chExt cx="3072" cy="483"/>
            </a:xfrm>
          </p:grpSpPr>
          <p:sp>
            <p:nvSpPr>
              <p:cNvPr id="934" name="Google Shape;934;p30"/>
              <p:cNvSpPr/>
              <p:nvPr/>
            </p:nvSpPr>
            <p:spPr>
              <a:xfrm>
                <a:off x="0" y="2563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35" name="Google Shape;935;p30"/>
              <p:cNvSpPr/>
              <p:nvPr/>
            </p:nvSpPr>
            <p:spPr>
              <a:xfrm>
                <a:off x="0" y="261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8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36" name="Google Shape;936;p30"/>
            <p:cNvGrpSpPr/>
            <p:nvPr/>
          </p:nvGrpSpPr>
          <p:grpSpPr>
            <a:xfrm>
              <a:off x="0" y="2937"/>
              <a:ext cx="3072" cy="483"/>
              <a:chOff x="0" y="2937"/>
              <a:chExt cx="3072" cy="483"/>
            </a:xfrm>
          </p:grpSpPr>
          <p:sp>
            <p:nvSpPr>
              <p:cNvPr id="937" name="Google Shape;937;p30"/>
              <p:cNvSpPr/>
              <p:nvPr/>
            </p:nvSpPr>
            <p:spPr>
              <a:xfrm>
                <a:off x="0" y="2937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38" name="Google Shape;938;p30"/>
              <p:cNvSpPr/>
              <p:nvPr/>
            </p:nvSpPr>
            <p:spPr>
              <a:xfrm>
                <a:off x="0" y="299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9	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main()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39" name="Google Shape;939;p30"/>
            <p:cNvGrpSpPr/>
            <p:nvPr/>
          </p:nvGrpSpPr>
          <p:grpSpPr>
            <a:xfrm>
              <a:off x="0" y="3311"/>
              <a:ext cx="3072" cy="483"/>
              <a:chOff x="0" y="3311"/>
              <a:chExt cx="3072" cy="483"/>
            </a:xfrm>
          </p:grpSpPr>
          <p:sp>
            <p:nvSpPr>
              <p:cNvPr id="940" name="Google Shape;940;p30"/>
              <p:cNvSpPr/>
              <p:nvPr/>
            </p:nvSpPr>
            <p:spPr>
              <a:xfrm>
                <a:off x="0" y="3311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41" name="Google Shape;941;p30"/>
              <p:cNvSpPr/>
              <p:nvPr/>
            </p:nvSpPr>
            <p:spPr>
              <a:xfrm>
                <a:off x="0" y="336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10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42" name="Google Shape;942;p30"/>
            <p:cNvGrpSpPr/>
            <p:nvPr/>
          </p:nvGrpSpPr>
          <p:grpSpPr>
            <a:xfrm>
              <a:off x="0" y="3685"/>
              <a:ext cx="3072" cy="483"/>
              <a:chOff x="0" y="3685"/>
              <a:chExt cx="3072" cy="483"/>
            </a:xfrm>
          </p:grpSpPr>
          <p:sp>
            <p:nvSpPr>
              <p:cNvPr id="943" name="Google Shape;943;p30"/>
              <p:cNvSpPr/>
              <p:nvPr/>
            </p:nvSpPr>
            <p:spPr>
              <a:xfrm>
                <a:off x="0" y="368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44" name="Google Shape;944;p30"/>
              <p:cNvSpPr/>
              <p:nvPr/>
            </p:nvSpPr>
            <p:spPr>
              <a:xfrm>
                <a:off x="0" y="374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11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45" name="Google Shape;945;p30"/>
            <p:cNvGrpSpPr/>
            <p:nvPr/>
          </p:nvGrpSpPr>
          <p:grpSpPr>
            <a:xfrm>
              <a:off x="0" y="4059"/>
              <a:ext cx="3072" cy="483"/>
              <a:chOff x="0" y="4059"/>
              <a:chExt cx="3072" cy="483"/>
            </a:xfrm>
          </p:grpSpPr>
          <p:sp>
            <p:nvSpPr>
              <p:cNvPr id="946" name="Google Shape;946;p30"/>
              <p:cNvSpPr/>
              <p:nvPr/>
            </p:nvSpPr>
            <p:spPr>
              <a:xfrm>
                <a:off x="0" y="405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47" name="Google Shape;947;p30"/>
              <p:cNvSpPr/>
              <p:nvPr/>
            </p:nvSpPr>
            <p:spPr>
              <a:xfrm>
                <a:off x="0" y="411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12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order, 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48" name="Google Shape;948;p30"/>
            <p:cNvGrpSpPr/>
            <p:nvPr/>
          </p:nvGrpSpPr>
          <p:grpSpPr>
            <a:xfrm>
              <a:off x="0" y="4433"/>
              <a:ext cx="3072" cy="483"/>
              <a:chOff x="0" y="4433"/>
              <a:chExt cx="3072" cy="483"/>
            </a:xfrm>
          </p:grpSpPr>
          <p:sp>
            <p:nvSpPr>
              <p:cNvPr id="949" name="Google Shape;949;p30"/>
              <p:cNvSpPr/>
              <p:nvPr/>
            </p:nvSpPr>
            <p:spPr>
              <a:xfrm>
                <a:off x="0" y="4433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50" name="Google Shape;950;p30"/>
              <p:cNvSpPr/>
              <p:nvPr/>
            </p:nvSpPr>
            <p:spPr>
              <a:xfrm>
                <a:off x="0" y="448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13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 counter,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51" name="Google Shape;951;p30"/>
            <p:cNvGrpSpPr/>
            <p:nvPr/>
          </p:nvGrpSpPr>
          <p:grpSpPr>
            <a:xfrm>
              <a:off x="0" y="4807"/>
              <a:ext cx="3072" cy="483"/>
              <a:chOff x="0" y="4807"/>
              <a:chExt cx="3072" cy="483"/>
            </a:xfrm>
          </p:grpSpPr>
          <p:sp>
            <p:nvSpPr>
              <p:cNvPr id="952" name="Google Shape;952;p30"/>
              <p:cNvSpPr/>
              <p:nvPr/>
            </p:nvSpPr>
            <p:spPr>
              <a:xfrm>
                <a:off x="0" y="4807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53" name="Google Shape;953;p30"/>
              <p:cNvSpPr/>
              <p:nvPr/>
            </p:nvSpPr>
            <p:spPr>
              <a:xfrm>
                <a:off x="0" y="486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14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 a[ SIZE ] = { 2, 6, 4, 8, 10, 12, 89, 68, 45, 37 };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54" name="Google Shape;954;p30"/>
            <p:cNvGrpSpPr/>
            <p:nvPr/>
          </p:nvGrpSpPr>
          <p:grpSpPr>
            <a:xfrm>
              <a:off x="0" y="5181"/>
              <a:ext cx="3072" cy="483"/>
              <a:chOff x="0" y="5181"/>
              <a:chExt cx="3072" cy="483"/>
            </a:xfrm>
          </p:grpSpPr>
          <p:sp>
            <p:nvSpPr>
              <p:cNvPr id="955" name="Google Shape;955;p30"/>
              <p:cNvSpPr/>
              <p:nvPr/>
            </p:nvSpPr>
            <p:spPr>
              <a:xfrm>
                <a:off x="0" y="5181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56" name="Google Shape;956;p30"/>
              <p:cNvSpPr/>
              <p:nvPr/>
            </p:nvSpPr>
            <p:spPr>
              <a:xfrm>
                <a:off x="0" y="523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15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57" name="Google Shape;957;p30"/>
            <p:cNvGrpSpPr/>
            <p:nvPr/>
          </p:nvGrpSpPr>
          <p:grpSpPr>
            <a:xfrm>
              <a:off x="0" y="5555"/>
              <a:ext cx="3072" cy="483"/>
              <a:chOff x="0" y="5555"/>
              <a:chExt cx="3072" cy="483"/>
            </a:xfrm>
          </p:grpSpPr>
          <p:sp>
            <p:nvSpPr>
              <p:cNvPr id="958" name="Google Shape;958;p30"/>
              <p:cNvSpPr/>
              <p:nvPr/>
            </p:nvSpPr>
            <p:spPr>
              <a:xfrm>
                <a:off x="0" y="555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59" name="Google Shape;959;p30"/>
              <p:cNvSpPr/>
              <p:nvPr/>
            </p:nvSpPr>
            <p:spPr>
              <a:xfrm>
                <a:off x="0" y="561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16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printf( "Enter 1 to sort in ascending order,\n" 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60" name="Google Shape;960;p30"/>
            <p:cNvGrpSpPr/>
            <p:nvPr/>
          </p:nvGrpSpPr>
          <p:grpSpPr>
            <a:xfrm>
              <a:off x="0" y="5929"/>
              <a:ext cx="3072" cy="483"/>
              <a:chOff x="0" y="5929"/>
              <a:chExt cx="3072" cy="483"/>
            </a:xfrm>
          </p:grpSpPr>
          <p:sp>
            <p:nvSpPr>
              <p:cNvPr id="961" name="Google Shape;961;p30"/>
              <p:cNvSpPr/>
              <p:nvPr/>
            </p:nvSpPr>
            <p:spPr>
              <a:xfrm>
                <a:off x="0" y="592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2" name="Google Shape;962;p30"/>
              <p:cNvSpPr/>
              <p:nvPr/>
            </p:nvSpPr>
            <p:spPr>
              <a:xfrm>
                <a:off x="0" y="598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17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     "Enter 2 to sort in descending order: "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63" name="Google Shape;963;p30"/>
            <p:cNvGrpSpPr/>
            <p:nvPr/>
          </p:nvGrpSpPr>
          <p:grpSpPr>
            <a:xfrm>
              <a:off x="0" y="6303"/>
              <a:ext cx="3072" cy="483"/>
              <a:chOff x="0" y="6303"/>
              <a:chExt cx="3072" cy="483"/>
            </a:xfrm>
          </p:grpSpPr>
          <p:sp>
            <p:nvSpPr>
              <p:cNvPr id="964" name="Google Shape;964;p30"/>
              <p:cNvSpPr/>
              <p:nvPr/>
            </p:nvSpPr>
            <p:spPr>
              <a:xfrm>
                <a:off x="0" y="6303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5" name="Google Shape;965;p30"/>
              <p:cNvSpPr/>
              <p:nvPr/>
            </p:nvSpPr>
            <p:spPr>
              <a:xfrm>
                <a:off x="0" y="635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18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scanf( "%d",  &amp;order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66" name="Google Shape;966;p30"/>
            <p:cNvGrpSpPr/>
            <p:nvPr/>
          </p:nvGrpSpPr>
          <p:grpSpPr>
            <a:xfrm>
              <a:off x="0" y="6677"/>
              <a:ext cx="3072" cy="483"/>
              <a:chOff x="0" y="6677"/>
              <a:chExt cx="3072" cy="483"/>
            </a:xfrm>
          </p:grpSpPr>
          <p:sp>
            <p:nvSpPr>
              <p:cNvPr id="967" name="Google Shape;967;p30"/>
              <p:cNvSpPr/>
              <p:nvPr/>
            </p:nvSpPr>
            <p:spPr>
              <a:xfrm>
                <a:off x="0" y="6677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8" name="Google Shape;968;p30"/>
              <p:cNvSpPr/>
              <p:nvPr/>
            </p:nvSpPr>
            <p:spPr>
              <a:xfrm>
                <a:off x="0" y="673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19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printf( "\nData items in original order\n"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69" name="Google Shape;969;p30"/>
            <p:cNvGrpSpPr/>
            <p:nvPr/>
          </p:nvGrpSpPr>
          <p:grpSpPr>
            <a:xfrm>
              <a:off x="0" y="7051"/>
              <a:ext cx="3072" cy="483"/>
              <a:chOff x="0" y="7051"/>
              <a:chExt cx="3072" cy="483"/>
            </a:xfrm>
          </p:grpSpPr>
          <p:sp>
            <p:nvSpPr>
              <p:cNvPr id="970" name="Google Shape;970;p30"/>
              <p:cNvSpPr/>
              <p:nvPr/>
            </p:nvSpPr>
            <p:spPr>
              <a:xfrm>
                <a:off x="0" y="7051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1" name="Google Shape;971;p30"/>
              <p:cNvSpPr/>
              <p:nvPr/>
            </p:nvSpPr>
            <p:spPr>
              <a:xfrm>
                <a:off x="0" y="710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20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72" name="Google Shape;972;p30"/>
            <p:cNvGrpSpPr/>
            <p:nvPr/>
          </p:nvGrpSpPr>
          <p:grpSpPr>
            <a:xfrm>
              <a:off x="0" y="7425"/>
              <a:ext cx="3072" cy="483"/>
              <a:chOff x="0" y="7425"/>
              <a:chExt cx="3072" cy="483"/>
            </a:xfrm>
          </p:grpSpPr>
          <p:sp>
            <p:nvSpPr>
              <p:cNvPr id="973" name="Google Shape;973;p30"/>
              <p:cNvSpPr/>
              <p:nvPr/>
            </p:nvSpPr>
            <p:spPr>
              <a:xfrm>
                <a:off x="0" y="742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4" name="Google Shape;974;p30"/>
              <p:cNvSpPr/>
              <p:nvPr/>
            </p:nvSpPr>
            <p:spPr>
              <a:xfrm>
                <a:off x="0" y="748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21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for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( counter = 0; counter &lt; SIZE; counter++ )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75" name="Google Shape;975;p30"/>
            <p:cNvGrpSpPr/>
            <p:nvPr/>
          </p:nvGrpSpPr>
          <p:grpSpPr>
            <a:xfrm>
              <a:off x="0" y="7799"/>
              <a:ext cx="3072" cy="483"/>
              <a:chOff x="0" y="7799"/>
              <a:chExt cx="3072" cy="483"/>
            </a:xfrm>
          </p:grpSpPr>
          <p:sp>
            <p:nvSpPr>
              <p:cNvPr id="976" name="Google Shape;976;p30"/>
              <p:cNvSpPr/>
              <p:nvPr/>
            </p:nvSpPr>
            <p:spPr>
              <a:xfrm>
                <a:off x="0" y="779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7" name="Google Shape;977;p30"/>
              <p:cNvSpPr/>
              <p:nvPr/>
            </p:nvSpPr>
            <p:spPr>
              <a:xfrm>
                <a:off x="0" y="785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22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printf( "%5d", a[ counter ]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78" name="Google Shape;978;p30"/>
            <p:cNvGrpSpPr/>
            <p:nvPr/>
          </p:nvGrpSpPr>
          <p:grpSpPr>
            <a:xfrm>
              <a:off x="0" y="8173"/>
              <a:ext cx="3072" cy="483"/>
              <a:chOff x="0" y="8173"/>
              <a:chExt cx="3072" cy="483"/>
            </a:xfrm>
          </p:grpSpPr>
          <p:sp>
            <p:nvSpPr>
              <p:cNvPr id="979" name="Google Shape;979;p30"/>
              <p:cNvSpPr/>
              <p:nvPr/>
            </p:nvSpPr>
            <p:spPr>
              <a:xfrm>
                <a:off x="0" y="8173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0" name="Google Shape;980;p30"/>
              <p:cNvSpPr/>
              <p:nvPr/>
            </p:nvSpPr>
            <p:spPr>
              <a:xfrm>
                <a:off x="0" y="822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23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81" name="Google Shape;981;p30"/>
            <p:cNvGrpSpPr/>
            <p:nvPr/>
          </p:nvGrpSpPr>
          <p:grpSpPr>
            <a:xfrm>
              <a:off x="0" y="8547"/>
              <a:ext cx="3072" cy="483"/>
              <a:chOff x="0" y="8547"/>
              <a:chExt cx="3072" cy="483"/>
            </a:xfrm>
          </p:grpSpPr>
          <p:sp>
            <p:nvSpPr>
              <p:cNvPr id="982" name="Google Shape;982;p30"/>
              <p:cNvSpPr/>
              <p:nvPr/>
            </p:nvSpPr>
            <p:spPr>
              <a:xfrm>
                <a:off x="0" y="8547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3" name="Google Shape;983;p30"/>
              <p:cNvSpPr/>
              <p:nvPr/>
            </p:nvSpPr>
            <p:spPr>
              <a:xfrm>
                <a:off x="0" y="860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24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if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( order == 1 ) {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84" name="Google Shape;984;p30"/>
            <p:cNvGrpSpPr/>
            <p:nvPr/>
          </p:nvGrpSpPr>
          <p:grpSpPr>
            <a:xfrm>
              <a:off x="0" y="8921"/>
              <a:ext cx="3072" cy="483"/>
              <a:chOff x="0" y="8921"/>
              <a:chExt cx="3072" cy="483"/>
            </a:xfrm>
          </p:grpSpPr>
          <p:sp>
            <p:nvSpPr>
              <p:cNvPr id="985" name="Google Shape;985;p30"/>
              <p:cNvSpPr/>
              <p:nvPr/>
            </p:nvSpPr>
            <p:spPr>
              <a:xfrm>
                <a:off x="0" y="8921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6" name="Google Shape;986;p30"/>
              <p:cNvSpPr/>
              <p:nvPr/>
            </p:nvSpPr>
            <p:spPr>
              <a:xfrm>
                <a:off x="0" y="897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25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bubble( a, SIZE, ascending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87" name="Google Shape;987;p30"/>
            <p:cNvGrpSpPr/>
            <p:nvPr/>
          </p:nvGrpSpPr>
          <p:grpSpPr>
            <a:xfrm>
              <a:off x="0" y="9295"/>
              <a:ext cx="3072" cy="483"/>
              <a:chOff x="0" y="9295"/>
              <a:chExt cx="3072" cy="483"/>
            </a:xfrm>
          </p:grpSpPr>
          <p:sp>
            <p:nvSpPr>
              <p:cNvPr id="988" name="Google Shape;988;p30"/>
              <p:cNvSpPr/>
              <p:nvPr/>
            </p:nvSpPr>
            <p:spPr>
              <a:xfrm>
                <a:off x="0" y="929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9" name="Google Shape;989;p30"/>
              <p:cNvSpPr/>
              <p:nvPr/>
            </p:nvSpPr>
            <p:spPr>
              <a:xfrm>
                <a:off x="0" y="935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26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printf( "\nData items in ascending order\n"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90" name="Google Shape;990;p30"/>
            <p:cNvGrpSpPr/>
            <p:nvPr/>
          </p:nvGrpSpPr>
          <p:grpSpPr>
            <a:xfrm>
              <a:off x="0" y="9669"/>
              <a:ext cx="3072" cy="483"/>
              <a:chOff x="0" y="9669"/>
              <a:chExt cx="3072" cy="483"/>
            </a:xfrm>
          </p:grpSpPr>
          <p:sp>
            <p:nvSpPr>
              <p:cNvPr id="991" name="Google Shape;991;p30"/>
              <p:cNvSpPr/>
              <p:nvPr/>
            </p:nvSpPr>
            <p:spPr>
              <a:xfrm>
                <a:off x="0" y="966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2" name="Google Shape;992;p30"/>
              <p:cNvSpPr/>
              <p:nvPr/>
            </p:nvSpPr>
            <p:spPr>
              <a:xfrm>
                <a:off x="0" y="972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27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}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93" name="Google Shape;993;p30"/>
            <p:cNvGrpSpPr/>
            <p:nvPr/>
          </p:nvGrpSpPr>
          <p:grpSpPr>
            <a:xfrm>
              <a:off x="0" y="10043"/>
              <a:ext cx="3072" cy="483"/>
              <a:chOff x="0" y="10043"/>
              <a:chExt cx="3072" cy="483"/>
            </a:xfrm>
          </p:grpSpPr>
          <p:sp>
            <p:nvSpPr>
              <p:cNvPr id="994" name="Google Shape;994;p30"/>
              <p:cNvSpPr/>
              <p:nvPr/>
            </p:nvSpPr>
            <p:spPr>
              <a:xfrm>
                <a:off x="0" y="10043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5" name="Google Shape;995;p30"/>
              <p:cNvSpPr/>
              <p:nvPr/>
            </p:nvSpPr>
            <p:spPr>
              <a:xfrm>
                <a:off x="0" y="1009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28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else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{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96" name="Google Shape;996;p30"/>
            <p:cNvGrpSpPr/>
            <p:nvPr/>
          </p:nvGrpSpPr>
          <p:grpSpPr>
            <a:xfrm>
              <a:off x="0" y="10417"/>
              <a:ext cx="3072" cy="483"/>
              <a:chOff x="0" y="10417"/>
              <a:chExt cx="3072" cy="483"/>
            </a:xfrm>
          </p:grpSpPr>
          <p:sp>
            <p:nvSpPr>
              <p:cNvPr id="997" name="Google Shape;997;p30"/>
              <p:cNvSpPr/>
              <p:nvPr/>
            </p:nvSpPr>
            <p:spPr>
              <a:xfrm>
                <a:off x="0" y="10417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8" name="Google Shape;998;p30"/>
              <p:cNvSpPr/>
              <p:nvPr/>
            </p:nvSpPr>
            <p:spPr>
              <a:xfrm>
                <a:off x="0" y="1047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29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bubble( a, SIZE, descending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999" name="Google Shape;999;p30"/>
            <p:cNvGrpSpPr/>
            <p:nvPr/>
          </p:nvGrpSpPr>
          <p:grpSpPr>
            <a:xfrm>
              <a:off x="0" y="10791"/>
              <a:ext cx="3072" cy="483"/>
              <a:chOff x="0" y="10791"/>
              <a:chExt cx="3072" cy="483"/>
            </a:xfrm>
          </p:grpSpPr>
          <p:sp>
            <p:nvSpPr>
              <p:cNvPr id="1000" name="Google Shape;1000;p30"/>
              <p:cNvSpPr/>
              <p:nvPr/>
            </p:nvSpPr>
            <p:spPr>
              <a:xfrm>
                <a:off x="0" y="10791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1" name="Google Shape;1001;p30"/>
              <p:cNvSpPr/>
              <p:nvPr/>
            </p:nvSpPr>
            <p:spPr>
              <a:xfrm>
                <a:off x="0" y="1084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30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printf( "\nData items in descending order\n"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02" name="Google Shape;1002;p30"/>
            <p:cNvGrpSpPr/>
            <p:nvPr/>
          </p:nvGrpSpPr>
          <p:grpSpPr>
            <a:xfrm>
              <a:off x="0" y="11165"/>
              <a:ext cx="3072" cy="483"/>
              <a:chOff x="0" y="11165"/>
              <a:chExt cx="3072" cy="483"/>
            </a:xfrm>
          </p:grpSpPr>
          <p:sp>
            <p:nvSpPr>
              <p:cNvPr id="1003" name="Google Shape;1003;p30"/>
              <p:cNvSpPr/>
              <p:nvPr/>
            </p:nvSpPr>
            <p:spPr>
              <a:xfrm>
                <a:off x="0" y="1116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4" name="Google Shape;1004;p30"/>
              <p:cNvSpPr/>
              <p:nvPr/>
            </p:nvSpPr>
            <p:spPr>
              <a:xfrm>
                <a:off x="0" y="1122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31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}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05" name="Google Shape;1005;p30"/>
            <p:cNvGrpSpPr/>
            <p:nvPr/>
          </p:nvGrpSpPr>
          <p:grpSpPr>
            <a:xfrm>
              <a:off x="0" y="11539"/>
              <a:ext cx="3072" cy="483"/>
              <a:chOff x="0" y="11539"/>
              <a:chExt cx="3072" cy="483"/>
            </a:xfrm>
          </p:grpSpPr>
          <p:sp>
            <p:nvSpPr>
              <p:cNvPr id="1006" name="Google Shape;1006;p30"/>
              <p:cNvSpPr/>
              <p:nvPr/>
            </p:nvSpPr>
            <p:spPr>
              <a:xfrm>
                <a:off x="0" y="1153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7" name="Google Shape;1007;p30"/>
              <p:cNvSpPr/>
              <p:nvPr/>
            </p:nvSpPr>
            <p:spPr>
              <a:xfrm>
                <a:off x="0" y="1159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32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1008" name="Google Shape;1008;p30"/>
          <p:cNvGrpSpPr/>
          <p:nvPr/>
        </p:nvGrpSpPr>
        <p:grpSpPr>
          <a:xfrm>
            <a:off x="5410200" y="1143000"/>
            <a:ext cx="3657600" cy="895350"/>
            <a:chOff x="2448" y="720"/>
            <a:chExt cx="2304" cy="564"/>
          </a:xfrm>
        </p:grpSpPr>
        <p:cxnSp>
          <p:nvCxnSpPr>
            <p:cNvPr id="1009" name="Google Shape;1009;p30"/>
            <p:cNvCxnSpPr/>
            <p:nvPr/>
          </p:nvCxnSpPr>
          <p:spPr>
            <a:xfrm rot="10800000">
              <a:off x="2448" y="720"/>
              <a:ext cx="864" cy="38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010" name="Google Shape;1010;p30"/>
            <p:cNvSpPr/>
            <p:nvPr/>
          </p:nvSpPr>
          <p:spPr>
            <a:xfrm>
              <a:off x="3216" y="912"/>
              <a:ext cx="1536" cy="372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-TR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Notice the function pointer parameter. </a:t>
              </a: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31"/>
          <p:cNvSpPr txBox="1">
            <a:spLocks noGrp="1"/>
          </p:cNvSpPr>
          <p:nvPr>
            <p:ph type="subTitle" idx="1"/>
          </p:nvPr>
        </p:nvSpPr>
        <p:spPr>
          <a:xfrm>
            <a:off x="8229600" y="762000"/>
            <a:ext cx="2438400" cy="6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3.1  Define functions</a:t>
            </a:r>
            <a:endParaRPr/>
          </a:p>
        </p:txBody>
      </p:sp>
      <p:grpSp>
        <p:nvGrpSpPr>
          <p:cNvPr id="1017" name="Google Shape;1017;p31"/>
          <p:cNvGrpSpPr/>
          <p:nvPr/>
        </p:nvGrpSpPr>
        <p:grpSpPr>
          <a:xfrm>
            <a:off x="1524000" y="-31517"/>
            <a:ext cx="6781800" cy="6920461"/>
            <a:chOff x="0" y="-55"/>
            <a:chExt cx="3072" cy="12077"/>
          </a:xfrm>
        </p:grpSpPr>
        <p:grpSp>
          <p:nvGrpSpPr>
            <p:cNvPr id="1018" name="Google Shape;1018;p31"/>
            <p:cNvGrpSpPr/>
            <p:nvPr/>
          </p:nvGrpSpPr>
          <p:grpSpPr>
            <a:xfrm>
              <a:off x="0" y="-55"/>
              <a:ext cx="3072" cy="483"/>
              <a:chOff x="0" y="-55"/>
              <a:chExt cx="3072" cy="483"/>
            </a:xfrm>
          </p:grpSpPr>
          <p:sp>
            <p:nvSpPr>
              <p:cNvPr id="1019" name="Google Shape;1019;p31"/>
              <p:cNvSpPr/>
              <p:nvPr/>
            </p:nvSpPr>
            <p:spPr>
              <a:xfrm>
                <a:off x="0" y="-5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0" name="Google Shape;1020;p31"/>
              <p:cNvSpPr/>
              <p:nvPr/>
            </p:nvSpPr>
            <p:spPr>
              <a:xfrm>
                <a:off x="0" y="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33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for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( counter = 0; counter &lt; SIZE; counter++ )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21" name="Google Shape;1021;p31"/>
            <p:cNvGrpSpPr/>
            <p:nvPr/>
          </p:nvGrpSpPr>
          <p:grpSpPr>
            <a:xfrm>
              <a:off x="0" y="319"/>
              <a:ext cx="3072" cy="483"/>
              <a:chOff x="0" y="319"/>
              <a:chExt cx="3072" cy="483"/>
            </a:xfrm>
          </p:grpSpPr>
          <p:sp>
            <p:nvSpPr>
              <p:cNvPr id="1022" name="Google Shape;1022;p31"/>
              <p:cNvSpPr/>
              <p:nvPr/>
            </p:nvSpPr>
            <p:spPr>
              <a:xfrm>
                <a:off x="0" y="31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3" name="Google Shape;1023;p31"/>
              <p:cNvSpPr/>
              <p:nvPr/>
            </p:nvSpPr>
            <p:spPr>
              <a:xfrm>
                <a:off x="0" y="37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34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printf( "%5d", a[ counter ] );   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24" name="Google Shape;1024;p31"/>
            <p:cNvGrpSpPr/>
            <p:nvPr/>
          </p:nvGrpSpPr>
          <p:grpSpPr>
            <a:xfrm>
              <a:off x="0" y="693"/>
              <a:ext cx="3072" cy="483"/>
              <a:chOff x="0" y="693"/>
              <a:chExt cx="3072" cy="483"/>
            </a:xfrm>
          </p:grpSpPr>
          <p:sp>
            <p:nvSpPr>
              <p:cNvPr id="1025" name="Google Shape;1025;p31"/>
              <p:cNvSpPr/>
              <p:nvPr/>
            </p:nvSpPr>
            <p:spPr>
              <a:xfrm>
                <a:off x="0" y="693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6" name="Google Shape;1026;p31"/>
              <p:cNvSpPr/>
              <p:nvPr/>
            </p:nvSpPr>
            <p:spPr>
              <a:xfrm>
                <a:off x="0" y="74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35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27" name="Google Shape;1027;p31"/>
            <p:cNvGrpSpPr/>
            <p:nvPr/>
          </p:nvGrpSpPr>
          <p:grpSpPr>
            <a:xfrm>
              <a:off x="0" y="1067"/>
              <a:ext cx="3072" cy="483"/>
              <a:chOff x="0" y="1067"/>
              <a:chExt cx="3072" cy="483"/>
            </a:xfrm>
          </p:grpSpPr>
          <p:sp>
            <p:nvSpPr>
              <p:cNvPr id="1028" name="Google Shape;1028;p31"/>
              <p:cNvSpPr/>
              <p:nvPr/>
            </p:nvSpPr>
            <p:spPr>
              <a:xfrm>
                <a:off x="0" y="1067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9" name="Google Shape;1029;p31"/>
              <p:cNvSpPr/>
              <p:nvPr/>
            </p:nvSpPr>
            <p:spPr>
              <a:xfrm>
                <a:off x="0" y="112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36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printf( "\n"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30" name="Google Shape;1030;p31"/>
            <p:cNvGrpSpPr/>
            <p:nvPr/>
          </p:nvGrpSpPr>
          <p:grpSpPr>
            <a:xfrm>
              <a:off x="0" y="1441"/>
              <a:ext cx="3072" cy="483"/>
              <a:chOff x="0" y="1441"/>
              <a:chExt cx="3072" cy="483"/>
            </a:xfrm>
          </p:grpSpPr>
          <p:sp>
            <p:nvSpPr>
              <p:cNvPr id="1031" name="Google Shape;1031;p31"/>
              <p:cNvSpPr/>
              <p:nvPr/>
            </p:nvSpPr>
            <p:spPr>
              <a:xfrm>
                <a:off x="0" y="1441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2" name="Google Shape;1032;p31"/>
              <p:cNvSpPr/>
              <p:nvPr/>
            </p:nvSpPr>
            <p:spPr>
              <a:xfrm>
                <a:off x="0" y="149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37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33" name="Google Shape;1033;p31"/>
            <p:cNvGrpSpPr/>
            <p:nvPr/>
          </p:nvGrpSpPr>
          <p:grpSpPr>
            <a:xfrm>
              <a:off x="0" y="1815"/>
              <a:ext cx="3072" cy="483"/>
              <a:chOff x="0" y="1815"/>
              <a:chExt cx="3072" cy="483"/>
            </a:xfrm>
          </p:grpSpPr>
          <p:sp>
            <p:nvSpPr>
              <p:cNvPr id="1034" name="Google Shape;1034;p31"/>
              <p:cNvSpPr/>
              <p:nvPr/>
            </p:nvSpPr>
            <p:spPr>
              <a:xfrm>
                <a:off x="0" y="181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5" name="Google Shape;1035;p31"/>
              <p:cNvSpPr/>
              <p:nvPr/>
            </p:nvSpPr>
            <p:spPr>
              <a:xfrm>
                <a:off x="0" y="187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38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return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0;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36" name="Google Shape;1036;p31"/>
            <p:cNvGrpSpPr/>
            <p:nvPr/>
          </p:nvGrpSpPr>
          <p:grpSpPr>
            <a:xfrm>
              <a:off x="0" y="2189"/>
              <a:ext cx="3072" cy="483"/>
              <a:chOff x="0" y="2189"/>
              <a:chExt cx="3072" cy="483"/>
            </a:xfrm>
          </p:grpSpPr>
          <p:sp>
            <p:nvSpPr>
              <p:cNvPr id="1037" name="Google Shape;1037;p31"/>
              <p:cNvSpPr/>
              <p:nvPr/>
            </p:nvSpPr>
            <p:spPr>
              <a:xfrm>
                <a:off x="0" y="218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8" name="Google Shape;1038;p31"/>
              <p:cNvSpPr/>
              <p:nvPr/>
            </p:nvSpPr>
            <p:spPr>
              <a:xfrm>
                <a:off x="0" y="224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39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39" name="Google Shape;1039;p31"/>
            <p:cNvGrpSpPr/>
            <p:nvPr/>
          </p:nvGrpSpPr>
          <p:grpSpPr>
            <a:xfrm>
              <a:off x="0" y="2563"/>
              <a:ext cx="3072" cy="483"/>
              <a:chOff x="0" y="2563"/>
              <a:chExt cx="3072" cy="483"/>
            </a:xfrm>
          </p:grpSpPr>
          <p:sp>
            <p:nvSpPr>
              <p:cNvPr id="1040" name="Google Shape;1040;p31"/>
              <p:cNvSpPr/>
              <p:nvPr/>
            </p:nvSpPr>
            <p:spPr>
              <a:xfrm>
                <a:off x="0" y="2563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1" name="Google Shape;1041;p31"/>
              <p:cNvSpPr/>
              <p:nvPr/>
            </p:nvSpPr>
            <p:spPr>
              <a:xfrm>
                <a:off x="0" y="261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40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42" name="Google Shape;1042;p31"/>
            <p:cNvGrpSpPr/>
            <p:nvPr/>
          </p:nvGrpSpPr>
          <p:grpSpPr>
            <a:xfrm>
              <a:off x="0" y="2937"/>
              <a:ext cx="3072" cy="483"/>
              <a:chOff x="0" y="2937"/>
              <a:chExt cx="3072" cy="483"/>
            </a:xfrm>
          </p:grpSpPr>
          <p:sp>
            <p:nvSpPr>
              <p:cNvPr id="1043" name="Google Shape;1043;p31"/>
              <p:cNvSpPr/>
              <p:nvPr/>
            </p:nvSpPr>
            <p:spPr>
              <a:xfrm>
                <a:off x="0" y="2937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4" name="Google Shape;1044;p31"/>
              <p:cNvSpPr/>
              <p:nvPr/>
            </p:nvSpPr>
            <p:spPr>
              <a:xfrm>
                <a:off x="0" y="299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41	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void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bubble(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work[],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const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size, 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45" name="Google Shape;1045;p31"/>
            <p:cNvGrpSpPr/>
            <p:nvPr/>
          </p:nvGrpSpPr>
          <p:grpSpPr>
            <a:xfrm>
              <a:off x="0" y="3311"/>
              <a:ext cx="3072" cy="483"/>
              <a:chOff x="0" y="3311"/>
              <a:chExt cx="3072" cy="483"/>
            </a:xfrm>
          </p:grpSpPr>
          <p:sp>
            <p:nvSpPr>
              <p:cNvPr id="1046" name="Google Shape;1046;p31"/>
              <p:cNvSpPr/>
              <p:nvPr/>
            </p:nvSpPr>
            <p:spPr>
              <a:xfrm>
                <a:off x="0" y="3311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7" name="Google Shape;1047;p31"/>
              <p:cNvSpPr/>
              <p:nvPr/>
            </p:nvSpPr>
            <p:spPr>
              <a:xfrm>
                <a:off x="0" y="336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42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    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(*compare)(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) )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48" name="Google Shape;1048;p31"/>
            <p:cNvGrpSpPr/>
            <p:nvPr/>
          </p:nvGrpSpPr>
          <p:grpSpPr>
            <a:xfrm>
              <a:off x="0" y="3685"/>
              <a:ext cx="3072" cy="483"/>
              <a:chOff x="0" y="3685"/>
              <a:chExt cx="3072" cy="483"/>
            </a:xfrm>
          </p:grpSpPr>
          <p:sp>
            <p:nvSpPr>
              <p:cNvPr id="1049" name="Google Shape;1049;p31"/>
              <p:cNvSpPr/>
              <p:nvPr/>
            </p:nvSpPr>
            <p:spPr>
              <a:xfrm>
                <a:off x="0" y="368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0" name="Google Shape;1050;p31"/>
              <p:cNvSpPr/>
              <p:nvPr/>
            </p:nvSpPr>
            <p:spPr>
              <a:xfrm>
                <a:off x="0" y="374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43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51" name="Google Shape;1051;p31"/>
            <p:cNvGrpSpPr/>
            <p:nvPr/>
          </p:nvGrpSpPr>
          <p:grpSpPr>
            <a:xfrm>
              <a:off x="0" y="4059"/>
              <a:ext cx="3072" cy="483"/>
              <a:chOff x="0" y="4059"/>
              <a:chExt cx="3072" cy="483"/>
            </a:xfrm>
          </p:grpSpPr>
          <p:sp>
            <p:nvSpPr>
              <p:cNvPr id="1052" name="Google Shape;1052;p31"/>
              <p:cNvSpPr/>
              <p:nvPr/>
            </p:nvSpPr>
            <p:spPr>
              <a:xfrm>
                <a:off x="0" y="405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3" name="Google Shape;1053;p31"/>
              <p:cNvSpPr/>
              <p:nvPr/>
            </p:nvSpPr>
            <p:spPr>
              <a:xfrm>
                <a:off x="0" y="411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44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pass, count;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54" name="Google Shape;1054;p31"/>
            <p:cNvGrpSpPr/>
            <p:nvPr/>
          </p:nvGrpSpPr>
          <p:grpSpPr>
            <a:xfrm>
              <a:off x="0" y="4433"/>
              <a:ext cx="3072" cy="483"/>
              <a:chOff x="0" y="4433"/>
              <a:chExt cx="3072" cy="483"/>
            </a:xfrm>
          </p:grpSpPr>
          <p:sp>
            <p:nvSpPr>
              <p:cNvPr id="1055" name="Google Shape;1055;p31"/>
              <p:cNvSpPr/>
              <p:nvPr/>
            </p:nvSpPr>
            <p:spPr>
              <a:xfrm>
                <a:off x="0" y="4433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6" name="Google Shape;1056;p31"/>
              <p:cNvSpPr/>
              <p:nvPr/>
            </p:nvSpPr>
            <p:spPr>
              <a:xfrm>
                <a:off x="0" y="448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45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57" name="Google Shape;1057;p31"/>
            <p:cNvGrpSpPr/>
            <p:nvPr/>
          </p:nvGrpSpPr>
          <p:grpSpPr>
            <a:xfrm>
              <a:off x="0" y="4807"/>
              <a:ext cx="3072" cy="483"/>
              <a:chOff x="0" y="4807"/>
              <a:chExt cx="3072" cy="483"/>
            </a:xfrm>
          </p:grpSpPr>
          <p:sp>
            <p:nvSpPr>
              <p:cNvPr id="1058" name="Google Shape;1058;p31"/>
              <p:cNvSpPr/>
              <p:nvPr/>
            </p:nvSpPr>
            <p:spPr>
              <a:xfrm>
                <a:off x="0" y="4807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9" name="Google Shape;1059;p31"/>
              <p:cNvSpPr/>
              <p:nvPr/>
            </p:nvSpPr>
            <p:spPr>
              <a:xfrm>
                <a:off x="0" y="486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46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void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swap(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*,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*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60" name="Google Shape;1060;p31"/>
            <p:cNvGrpSpPr/>
            <p:nvPr/>
          </p:nvGrpSpPr>
          <p:grpSpPr>
            <a:xfrm>
              <a:off x="0" y="5181"/>
              <a:ext cx="3072" cy="483"/>
              <a:chOff x="0" y="5181"/>
              <a:chExt cx="3072" cy="483"/>
            </a:xfrm>
          </p:grpSpPr>
          <p:sp>
            <p:nvSpPr>
              <p:cNvPr id="1061" name="Google Shape;1061;p31"/>
              <p:cNvSpPr/>
              <p:nvPr/>
            </p:nvSpPr>
            <p:spPr>
              <a:xfrm>
                <a:off x="0" y="5181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2" name="Google Shape;1062;p31"/>
              <p:cNvSpPr/>
              <p:nvPr/>
            </p:nvSpPr>
            <p:spPr>
              <a:xfrm>
                <a:off x="0" y="523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47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63" name="Google Shape;1063;p31"/>
            <p:cNvGrpSpPr/>
            <p:nvPr/>
          </p:nvGrpSpPr>
          <p:grpSpPr>
            <a:xfrm>
              <a:off x="0" y="5555"/>
              <a:ext cx="3072" cy="483"/>
              <a:chOff x="0" y="5555"/>
              <a:chExt cx="3072" cy="483"/>
            </a:xfrm>
          </p:grpSpPr>
          <p:sp>
            <p:nvSpPr>
              <p:cNvPr id="1064" name="Google Shape;1064;p31"/>
              <p:cNvSpPr/>
              <p:nvPr/>
            </p:nvSpPr>
            <p:spPr>
              <a:xfrm>
                <a:off x="0" y="555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5" name="Google Shape;1065;p31"/>
              <p:cNvSpPr/>
              <p:nvPr/>
            </p:nvSpPr>
            <p:spPr>
              <a:xfrm>
                <a:off x="0" y="561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48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for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( pass = 1; pass &lt; size; pass++ )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66" name="Google Shape;1066;p31"/>
            <p:cNvGrpSpPr/>
            <p:nvPr/>
          </p:nvGrpSpPr>
          <p:grpSpPr>
            <a:xfrm>
              <a:off x="0" y="5929"/>
              <a:ext cx="3072" cy="483"/>
              <a:chOff x="0" y="5929"/>
              <a:chExt cx="3072" cy="483"/>
            </a:xfrm>
          </p:grpSpPr>
          <p:sp>
            <p:nvSpPr>
              <p:cNvPr id="1067" name="Google Shape;1067;p31"/>
              <p:cNvSpPr/>
              <p:nvPr/>
            </p:nvSpPr>
            <p:spPr>
              <a:xfrm>
                <a:off x="0" y="592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8" name="Google Shape;1068;p31"/>
              <p:cNvSpPr/>
              <p:nvPr/>
            </p:nvSpPr>
            <p:spPr>
              <a:xfrm>
                <a:off x="0" y="598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49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69" name="Google Shape;1069;p31"/>
            <p:cNvGrpSpPr/>
            <p:nvPr/>
          </p:nvGrpSpPr>
          <p:grpSpPr>
            <a:xfrm>
              <a:off x="0" y="6303"/>
              <a:ext cx="3072" cy="483"/>
              <a:chOff x="0" y="6303"/>
              <a:chExt cx="3072" cy="483"/>
            </a:xfrm>
          </p:grpSpPr>
          <p:sp>
            <p:nvSpPr>
              <p:cNvPr id="1070" name="Google Shape;1070;p31"/>
              <p:cNvSpPr/>
              <p:nvPr/>
            </p:nvSpPr>
            <p:spPr>
              <a:xfrm>
                <a:off x="0" y="6303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1" name="Google Shape;1071;p31"/>
              <p:cNvSpPr/>
              <p:nvPr/>
            </p:nvSpPr>
            <p:spPr>
              <a:xfrm>
                <a:off x="0" y="635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50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for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( count = 0; count &lt; size - 1; count++ )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72" name="Google Shape;1072;p31"/>
            <p:cNvGrpSpPr/>
            <p:nvPr/>
          </p:nvGrpSpPr>
          <p:grpSpPr>
            <a:xfrm>
              <a:off x="0" y="6677"/>
              <a:ext cx="3072" cy="483"/>
              <a:chOff x="0" y="6677"/>
              <a:chExt cx="3072" cy="483"/>
            </a:xfrm>
          </p:grpSpPr>
          <p:sp>
            <p:nvSpPr>
              <p:cNvPr id="1073" name="Google Shape;1073;p31"/>
              <p:cNvSpPr/>
              <p:nvPr/>
            </p:nvSpPr>
            <p:spPr>
              <a:xfrm>
                <a:off x="0" y="6677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4" name="Google Shape;1074;p31"/>
              <p:cNvSpPr/>
              <p:nvPr/>
            </p:nvSpPr>
            <p:spPr>
              <a:xfrm>
                <a:off x="0" y="673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51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75" name="Google Shape;1075;p31"/>
            <p:cNvGrpSpPr/>
            <p:nvPr/>
          </p:nvGrpSpPr>
          <p:grpSpPr>
            <a:xfrm>
              <a:off x="0" y="7051"/>
              <a:ext cx="3072" cy="483"/>
              <a:chOff x="0" y="7051"/>
              <a:chExt cx="3072" cy="483"/>
            </a:xfrm>
          </p:grpSpPr>
          <p:sp>
            <p:nvSpPr>
              <p:cNvPr id="1076" name="Google Shape;1076;p31"/>
              <p:cNvSpPr/>
              <p:nvPr/>
            </p:nvSpPr>
            <p:spPr>
              <a:xfrm>
                <a:off x="0" y="7051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7" name="Google Shape;1077;p31"/>
              <p:cNvSpPr/>
              <p:nvPr/>
            </p:nvSpPr>
            <p:spPr>
              <a:xfrm>
                <a:off x="0" y="710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52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if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( (*compare)( work[ count ], work[ count + 1 ] ) )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78" name="Google Shape;1078;p31"/>
            <p:cNvGrpSpPr/>
            <p:nvPr/>
          </p:nvGrpSpPr>
          <p:grpSpPr>
            <a:xfrm>
              <a:off x="0" y="7425"/>
              <a:ext cx="3072" cy="483"/>
              <a:chOff x="0" y="7425"/>
              <a:chExt cx="3072" cy="483"/>
            </a:xfrm>
          </p:grpSpPr>
          <p:sp>
            <p:nvSpPr>
              <p:cNvPr id="1079" name="Google Shape;1079;p31"/>
              <p:cNvSpPr/>
              <p:nvPr/>
            </p:nvSpPr>
            <p:spPr>
              <a:xfrm>
                <a:off x="0" y="742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0" name="Google Shape;1080;p31"/>
              <p:cNvSpPr/>
              <p:nvPr/>
            </p:nvSpPr>
            <p:spPr>
              <a:xfrm>
                <a:off x="0" y="748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53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         swap( &amp;work[ count ], &amp;work[ count + 1 ] 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81" name="Google Shape;1081;p31"/>
            <p:cNvGrpSpPr/>
            <p:nvPr/>
          </p:nvGrpSpPr>
          <p:grpSpPr>
            <a:xfrm>
              <a:off x="0" y="7799"/>
              <a:ext cx="3072" cy="483"/>
              <a:chOff x="0" y="7799"/>
              <a:chExt cx="3072" cy="483"/>
            </a:xfrm>
          </p:grpSpPr>
          <p:sp>
            <p:nvSpPr>
              <p:cNvPr id="1082" name="Google Shape;1082;p31"/>
              <p:cNvSpPr/>
              <p:nvPr/>
            </p:nvSpPr>
            <p:spPr>
              <a:xfrm>
                <a:off x="0" y="779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3" name="Google Shape;1083;p31"/>
              <p:cNvSpPr/>
              <p:nvPr/>
            </p:nvSpPr>
            <p:spPr>
              <a:xfrm>
                <a:off x="0" y="785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54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84" name="Google Shape;1084;p31"/>
            <p:cNvGrpSpPr/>
            <p:nvPr/>
          </p:nvGrpSpPr>
          <p:grpSpPr>
            <a:xfrm>
              <a:off x="0" y="8173"/>
              <a:ext cx="3072" cy="483"/>
              <a:chOff x="0" y="8173"/>
              <a:chExt cx="3072" cy="483"/>
            </a:xfrm>
          </p:grpSpPr>
          <p:sp>
            <p:nvSpPr>
              <p:cNvPr id="1085" name="Google Shape;1085;p31"/>
              <p:cNvSpPr/>
              <p:nvPr/>
            </p:nvSpPr>
            <p:spPr>
              <a:xfrm>
                <a:off x="0" y="8173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6" name="Google Shape;1086;p31"/>
              <p:cNvSpPr/>
              <p:nvPr/>
            </p:nvSpPr>
            <p:spPr>
              <a:xfrm>
                <a:off x="0" y="822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55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87" name="Google Shape;1087;p31"/>
            <p:cNvGrpSpPr/>
            <p:nvPr/>
          </p:nvGrpSpPr>
          <p:grpSpPr>
            <a:xfrm>
              <a:off x="0" y="8547"/>
              <a:ext cx="3072" cy="483"/>
              <a:chOff x="0" y="8547"/>
              <a:chExt cx="3072" cy="483"/>
            </a:xfrm>
          </p:grpSpPr>
          <p:sp>
            <p:nvSpPr>
              <p:cNvPr id="1088" name="Google Shape;1088;p31"/>
              <p:cNvSpPr/>
              <p:nvPr/>
            </p:nvSpPr>
            <p:spPr>
              <a:xfrm>
                <a:off x="0" y="8547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9" name="Google Shape;1089;p31"/>
              <p:cNvSpPr/>
              <p:nvPr/>
            </p:nvSpPr>
            <p:spPr>
              <a:xfrm>
                <a:off x="0" y="860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56	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void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swap(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*element1Ptr,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*element2Ptr )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90" name="Google Shape;1090;p31"/>
            <p:cNvGrpSpPr/>
            <p:nvPr/>
          </p:nvGrpSpPr>
          <p:grpSpPr>
            <a:xfrm>
              <a:off x="0" y="8921"/>
              <a:ext cx="3072" cy="483"/>
              <a:chOff x="0" y="8921"/>
              <a:chExt cx="3072" cy="483"/>
            </a:xfrm>
          </p:grpSpPr>
          <p:sp>
            <p:nvSpPr>
              <p:cNvPr id="1091" name="Google Shape;1091;p31"/>
              <p:cNvSpPr/>
              <p:nvPr/>
            </p:nvSpPr>
            <p:spPr>
              <a:xfrm>
                <a:off x="0" y="8921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2" name="Google Shape;1092;p31"/>
              <p:cNvSpPr/>
              <p:nvPr/>
            </p:nvSpPr>
            <p:spPr>
              <a:xfrm>
                <a:off x="0" y="897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57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93" name="Google Shape;1093;p31"/>
            <p:cNvGrpSpPr/>
            <p:nvPr/>
          </p:nvGrpSpPr>
          <p:grpSpPr>
            <a:xfrm>
              <a:off x="0" y="9295"/>
              <a:ext cx="3072" cy="483"/>
              <a:chOff x="0" y="9295"/>
              <a:chExt cx="3072" cy="483"/>
            </a:xfrm>
          </p:grpSpPr>
          <p:sp>
            <p:nvSpPr>
              <p:cNvPr id="1094" name="Google Shape;1094;p31"/>
              <p:cNvSpPr/>
              <p:nvPr/>
            </p:nvSpPr>
            <p:spPr>
              <a:xfrm>
                <a:off x="0" y="929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5" name="Google Shape;1095;p31"/>
              <p:cNvSpPr/>
              <p:nvPr/>
            </p:nvSpPr>
            <p:spPr>
              <a:xfrm>
                <a:off x="0" y="935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58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temp;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96" name="Google Shape;1096;p31"/>
            <p:cNvGrpSpPr/>
            <p:nvPr/>
          </p:nvGrpSpPr>
          <p:grpSpPr>
            <a:xfrm>
              <a:off x="0" y="9669"/>
              <a:ext cx="3072" cy="483"/>
              <a:chOff x="0" y="9669"/>
              <a:chExt cx="3072" cy="483"/>
            </a:xfrm>
          </p:grpSpPr>
          <p:sp>
            <p:nvSpPr>
              <p:cNvPr id="1097" name="Google Shape;1097;p31"/>
              <p:cNvSpPr/>
              <p:nvPr/>
            </p:nvSpPr>
            <p:spPr>
              <a:xfrm>
                <a:off x="0" y="966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8" name="Google Shape;1098;p31"/>
              <p:cNvSpPr/>
              <p:nvPr/>
            </p:nvSpPr>
            <p:spPr>
              <a:xfrm>
                <a:off x="0" y="972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59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099" name="Google Shape;1099;p31"/>
            <p:cNvGrpSpPr/>
            <p:nvPr/>
          </p:nvGrpSpPr>
          <p:grpSpPr>
            <a:xfrm>
              <a:off x="0" y="10043"/>
              <a:ext cx="3072" cy="483"/>
              <a:chOff x="0" y="10043"/>
              <a:chExt cx="3072" cy="483"/>
            </a:xfrm>
          </p:grpSpPr>
          <p:sp>
            <p:nvSpPr>
              <p:cNvPr id="1100" name="Google Shape;1100;p31"/>
              <p:cNvSpPr/>
              <p:nvPr/>
            </p:nvSpPr>
            <p:spPr>
              <a:xfrm>
                <a:off x="0" y="10043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1" name="Google Shape;1101;p31"/>
              <p:cNvSpPr/>
              <p:nvPr/>
            </p:nvSpPr>
            <p:spPr>
              <a:xfrm>
                <a:off x="0" y="1009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60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temp = *element1Ptr;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102" name="Google Shape;1102;p31"/>
            <p:cNvGrpSpPr/>
            <p:nvPr/>
          </p:nvGrpSpPr>
          <p:grpSpPr>
            <a:xfrm>
              <a:off x="0" y="10417"/>
              <a:ext cx="3072" cy="483"/>
              <a:chOff x="0" y="10417"/>
              <a:chExt cx="3072" cy="483"/>
            </a:xfrm>
          </p:grpSpPr>
          <p:sp>
            <p:nvSpPr>
              <p:cNvPr id="1103" name="Google Shape;1103;p31"/>
              <p:cNvSpPr/>
              <p:nvPr/>
            </p:nvSpPr>
            <p:spPr>
              <a:xfrm>
                <a:off x="0" y="10417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4" name="Google Shape;1104;p31"/>
              <p:cNvSpPr/>
              <p:nvPr/>
            </p:nvSpPr>
            <p:spPr>
              <a:xfrm>
                <a:off x="0" y="1047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61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*element1Ptr = *element2Ptr;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105" name="Google Shape;1105;p31"/>
            <p:cNvGrpSpPr/>
            <p:nvPr/>
          </p:nvGrpSpPr>
          <p:grpSpPr>
            <a:xfrm>
              <a:off x="0" y="10791"/>
              <a:ext cx="3072" cy="483"/>
              <a:chOff x="0" y="10791"/>
              <a:chExt cx="3072" cy="483"/>
            </a:xfrm>
          </p:grpSpPr>
          <p:sp>
            <p:nvSpPr>
              <p:cNvPr id="1106" name="Google Shape;1106;p31"/>
              <p:cNvSpPr/>
              <p:nvPr/>
            </p:nvSpPr>
            <p:spPr>
              <a:xfrm>
                <a:off x="0" y="10791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7" name="Google Shape;1107;p31"/>
              <p:cNvSpPr/>
              <p:nvPr/>
            </p:nvSpPr>
            <p:spPr>
              <a:xfrm>
                <a:off x="0" y="1084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62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*element2Ptr = temp;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108" name="Google Shape;1108;p31"/>
            <p:cNvGrpSpPr/>
            <p:nvPr/>
          </p:nvGrpSpPr>
          <p:grpSpPr>
            <a:xfrm>
              <a:off x="0" y="11165"/>
              <a:ext cx="3072" cy="483"/>
              <a:chOff x="0" y="11165"/>
              <a:chExt cx="3072" cy="483"/>
            </a:xfrm>
          </p:grpSpPr>
          <p:sp>
            <p:nvSpPr>
              <p:cNvPr id="1109" name="Google Shape;1109;p31"/>
              <p:cNvSpPr/>
              <p:nvPr/>
            </p:nvSpPr>
            <p:spPr>
              <a:xfrm>
                <a:off x="0" y="11165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0" name="Google Shape;1110;p31"/>
              <p:cNvSpPr/>
              <p:nvPr/>
            </p:nvSpPr>
            <p:spPr>
              <a:xfrm>
                <a:off x="0" y="1122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63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111" name="Google Shape;1111;p31"/>
            <p:cNvGrpSpPr/>
            <p:nvPr/>
          </p:nvGrpSpPr>
          <p:grpSpPr>
            <a:xfrm>
              <a:off x="0" y="11539"/>
              <a:ext cx="3072" cy="483"/>
              <a:chOff x="0" y="11539"/>
              <a:chExt cx="3072" cy="483"/>
            </a:xfrm>
          </p:grpSpPr>
          <p:sp>
            <p:nvSpPr>
              <p:cNvPr id="1112" name="Google Shape;1112;p31"/>
              <p:cNvSpPr/>
              <p:nvPr/>
            </p:nvSpPr>
            <p:spPr>
              <a:xfrm>
                <a:off x="0" y="11539"/>
                <a:ext cx="3072" cy="483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3" name="Google Shape;1113;p31"/>
              <p:cNvSpPr/>
              <p:nvPr/>
            </p:nvSpPr>
            <p:spPr>
              <a:xfrm>
                <a:off x="0" y="1159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64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1114" name="Google Shape;1114;p31"/>
          <p:cNvGrpSpPr/>
          <p:nvPr/>
        </p:nvGrpSpPr>
        <p:grpSpPr>
          <a:xfrm>
            <a:off x="3657600" y="1600200"/>
            <a:ext cx="6477000" cy="2514600"/>
            <a:chOff x="1296" y="1200"/>
            <a:chExt cx="4080" cy="1584"/>
          </a:xfrm>
        </p:grpSpPr>
        <p:sp>
          <p:nvSpPr>
            <p:cNvPr id="1115" name="Google Shape;1115;p31"/>
            <p:cNvSpPr/>
            <p:nvPr/>
          </p:nvSpPr>
          <p:spPr>
            <a:xfrm>
              <a:off x="3552" y="1200"/>
              <a:ext cx="1824" cy="680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-TR" sz="16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ascending</a:t>
              </a:r>
              <a:r>
                <a:rPr lang="tr-TR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and </a:t>
              </a:r>
              <a:r>
                <a:rPr lang="tr-TR" sz="16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descending</a:t>
              </a:r>
              <a:r>
                <a:rPr lang="tr-TR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return </a:t>
              </a:r>
              <a:r>
                <a:rPr lang="tr-TR" sz="16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true</a:t>
              </a:r>
              <a:r>
                <a:rPr lang="tr-TR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or </a:t>
              </a:r>
              <a:r>
                <a:rPr lang="tr-TR" sz="16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false</a:t>
              </a:r>
              <a:r>
                <a:rPr lang="tr-TR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 </a:t>
              </a:r>
              <a:r>
                <a:rPr lang="tr-TR" sz="16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bubble</a:t>
              </a:r>
              <a:r>
                <a:rPr lang="tr-TR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calls </a:t>
              </a:r>
              <a:r>
                <a:rPr lang="tr-TR" sz="16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swap</a:t>
              </a:r>
              <a:r>
                <a:rPr lang="tr-TR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if the function call returns </a:t>
              </a:r>
              <a:r>
                <a:rPr lang="tr-TR" sz="16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true</a:t>
              </a:r>
              <a:r>
                <a:rPr lang="tr-TR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 </a:t>
              </a:r>
              <a:endParaRPr/>
            </a:p>
          </p:txBody>
        </p:sp>
        <p:cxnSp>
          <p:nvCxnSpPr>
            <p:cNvPr id="1116" name="Google Shape;1116;p31"/>
            <p:cNvCxnSpPr/>
            <p:nvPr/>
          </p:nvCxnSpPr>
          <p:spPr>
            <a:xfrm flipH="1">
              <a:off x="1296" y="1440"/>
              <a:ext cx="2256" cy="134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117" name="Google Shape;1117;p31"/>
          <p:cNvGrpSpPr/>
          <p:nvPr/>
        </p:nvGrpSpPr>
        <p:grpSpPr>
          <a:xfrm>
            <a:off x="3962400" y="4343400"/>
            <a:ext cx="6400800" cy="1828800"/>
            <a:chOff x="1536" y="2736"/>
            <a:chExt cx="4032" cy="1152"/>
          </a:xfrm>
        </p:grpSpPr>
        <p:sp>
          <p:nvSpPr>
            <p:cNvPr id="1118" name="Google Shape;1118;p31"/>
            <p:cNvSpPr/>
            <p:nvPr/>
          </p:nvSpPr>
          <p:spPr>
            <a:xfrm>
              <a:off x="3840" y="2746"/>
              <a:ext cx="1728" cy="1142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r-TR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Notice how function pointers are called using the dereferencing operator.  The </a:t>
              </a:r>
              <a:r>
                <a:rPr lang="tr-TR" sz="16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*</a:t>
              </a:r>
              <a:r>
                <a:rPr lang="tr-TR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is not required, but emphasizes that </a:t>
              </a:r>
              <a:r>
                <a:rPr lang="tr-TR" sz="16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compare</a:t>
              </a:r>
              <a:r>
                <a:rPr lang="tr-TR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is a function pointer and not a function.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19" name="Google Shape;1119;p31"/>
            <p:cNvCxnSpPr/>
            <p:nvPr/>
          </p:nvCxnSpPr>
          <p:spPr>
            <a:xfrm rot="10800000">
              <a:off x="1536" y="2736"/>
              <a:ext cx="2304" cy="25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32"/>
          <p:cNvSpPr txBox="1">
            <a:spLocks noGrp="1"/>
          </p:cNvSpPr>
          <p:nvPr>
            <p:ph type="subTitle" idx="1"/>
          </p:nvPr>
        </p:nvSpPr>
        <p:spPr>
          <a:xfrm>
            <a:off x="8229600" y="762000"/>
            <a:ext cx="2438400" cy="6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3.1  Define functions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tr-TR"/>
              <a:t>Program Output</a:t>
            </a:r>
            <a:endParaRPr/>
          </a:p>
        </p:txBody>
      </p:sp>
      <p:grpSp>
        <p:nvGrpSpPr>
          <p:cNvPr id="1125" name="Google Shape;1125;p32"/>
          <p:cNvGrpSpPr/>
          <p:nvPr/>
        </p:nvGrpSpPr>
        <p:grpSpPr>
          <a:xfrm>
            <a:off x="1524000" y="0"/>
            <a:ext cx="6781800" cy="2895600"/>
            <a:chOff x="0" y="0"/>
            <a:chExt cx="3072" cy="3366"/>
          </a:xfrm>
        </p:grpSpPr>
        <p:grpSp>
          <p:nvGrpSpPr>
            <p:cNvPr id="1126" name="Google Shape;1126;p32"/>
            <p:cNvGrpSpPr/>
            <p:nvPr/>
          </p:nvGrpSpPr>
          <p:grpSpPr>
            <a:xfrm>
              <a:off x="0" y="0"/>
              <a:ext cx="3072" cy="374"/>
              <a:chOff x="0" y="0"/>
              <a:chExt cx="3072" cy="374"/>
            </a:xfrm>
          </p:grpSpPr>
          <p:sp>
            <p:nvSpPr>
              <p:cNvPr id="1127" name="Google Shape;1127;p32"/>
              <p:cNvSpPr/>
              <p:nvPr/>
            </p:nvSpPr>
            <p:spPr>
              <a:xfrm>
                <a:off x="0" y="26"/>
                <a:ext cx="3072" cy="32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8" name="Google Shape;1128;p32"/>
              <p:cNvSpPr/>
              <p:nvPr/>
            </p:nvSpPr>
            <p:spPr>
              <a:xfrm>
                <a:off x="0" y="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65	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ascending(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a,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b )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129" name="Google Shape;1129;p32"/>
            <p:cNvGrpSpPr/>
            <p:nvPr/>
          </p:nvGrpSpPr>
          <p:grpSpPr>
            <a:xfrm>
              <a:off x="0" y="374"/>
              <a:ext cx="3072" cy="374"/>
              <a:chOff x="0" y="374"/>
              <a:chExt cx="3072" cy="374"/>
            </a:xfrm>
          </p:grpSpPr>
          <p:sp>
            <p:nvSpPr>
              <p:cNvPr id="1130" name="Google Shape;1130;p32"/>
              <p:cNvSpPr/>
              <p:nvPr/>
            </p:nvSpPr>
            <p:spPr>
              <a:xfrm>
                <a:off x="0" y="400"/>
                <a:ext cx="3072" cy="32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1" name="Google Shape;1131;p32"/>
              <p:cNvSpPr/>
              <p:nvPr/>
            </p:nvSpPr>
            <p:spPr>
              <a:xfrm>
                <a:off x="0" y="37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66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132" name="Google Shape;1132;p32"/>
            <p:cNvGrpSpPr/>
            <p:nvPr/>
          </p:nvGrpSpPr>
          <p:grpSpPr>
            <a:xfrm>
              <a:off x="0" y="748"/>
              <a:ext cx="3072" cy="374"/>
              <a:chOff x="0" y="748"/>
              <a:chExt cx="3072" cy="374"/>
            </a:xfrm>
          </p:grpSpPr>
          <p:sp>
            <p:nvSpPr>
              <p:cNvPr id="1133" name="Google Shape;1133;p32"/>
              <p:cNvSpPr/>
              <p:nvPr/>
            </p:nvSpPr>
            <p:spPr>
              <a:xfrm>
                <a:off x="0" y="774"/>
                <a:ext cx="3072" cy="32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4" name="Google Shape;1134;p32"/>
              <p:cNvSpPr/>
              <p:nvPr/>
            </p:nvSpPr>
            <p:spPr>
              <a:xfrm>
                <a:off x="0" y="74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67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return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b &lt; a;   </a:t>
                </a:r>
                <a:r>
                  <a:rPr lang="tr-TR" sz="1200" b="1">
                    <a:solidFill>
                      <a:srgbClr val="33CC33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/* swap if b is less than a */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135" name="Google Shape;1135;p32"/>
            <p:cNvGrpSpPr/>
            <p:nvPr/>
          </p:nvGrpSpPr>
          <p:grpSpPr>
            <a:xfrm>
              <a:off x="0" y="1122"/>
              <a:ext cx="3072" cy="374"/>
              <a:chOff x="0" y="1122"/>
              <a:chExt cx="3072" cy="374"/>
            </a:xfrm>
          </p:grpSpPr>
          <p:sp>
            <p:nvSpPr>
              <p:cNvPr id="1136" name="Google Shape;1136;p32"/>
              <p:cNvSpPr/>
              <p:nvPr/>
            </p:nvSpPr>
            <p:spPr>
              <a:xfrm>
                <a:off x="0" y="1148"/>
                <a:ext cx="3072" cy="32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7" name="Google Shape;1137;p32"/>
              <p:cNvSpPr/>
              <p:nvPr/>
            </p:nvSpPr>
            <p:spPr>
              <a:xfrm>
                <a:off x="0" y="1122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68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}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138" name="Google Shape;1138;p32"/>
            <p:cNvGrpSpPr/>
            <p:nvPr/>
          </p:nvGrpSpPr>
          <p:grpSpPr>
            <a:xfrm>
              <a:off x="0" y="1496"/>
              <a:ext cx="3072" cy="374"/>
              <a:chOff x="0" y="1496"/>
              <a:chExt cx="3072" cy="374"/>
            </a:xfrm>
          </p:grpSpPr>
          <p:sp>
            <p:nvSpPr>
              <p:cNvPr id="1139" name="Google Shape;1139;p32"/>
              <p:cNvSpPr/>
              <p:nvPr/>
            </p:nvSpPr>
            <p:spPr>
              <a:xfrm>
                <a:off x="0" y="1522"/>
                <a:ext cx="3072" cy="32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40" name="Google Shape;1140;p32"/>
              <p:cNvSpPr/>
              <p:nvPr/>
            </p:nvSpPr>
            <p:spPr>
              <a:xfrm>
                <a:off x="0" y="1496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69	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141" name="Google Shape;1141;p32"/>
            <p:cNvGrpSpPr/>
            <p:nvPr/>
          </p:nvGrpSpPr>
          <p:grpSpPr>
            <a:xfrm>
              <a:off x="0" y="1870"/>
              <a:ext cx="3072" cy="374"/>
              <a:chOff x="0" y="1870"/>
              <a:chExt cx="3072" cy="374"/>
            </a:xfrm>
          </p:grpSpPr>
          <p:sp>
            <p:nvSpPr>
              <p:cNvPr id="1142" name="Google Shape;1142;p32"/>
              <p:cNvSpPr/>
              <p:nvPr/>
            </p:nvSpPr>
            <p:spPr>
              <a:xfrm>
                <a:off x="0" y="1896"/>
                <a:ext cx="3072" cy="32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43" name="Google Shape;1143;p32"/>
              <p:cNvSpPr/>
              <p:nvPr/>
            </p:nvSpPr>
            <p:spPr>
              <a:xfrm>
                <a:off x="0" y="1870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70	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descending(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a,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b )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144" name="Google Shape;1144;p32"/>
            <p:cNvGrpSpPr/>
            <p:nvPr/>
          </p:nvGrpSpPr>
          <p:grpSpPr>
            <a:xfrm>
              <a:off x="0" y="2244"/>
              <a:ext cx="3072" cy="374"/>
              <a:chOff x="0" y="2244"/>
              <a:chExt cx="3072" cy="374"/>
            </a:xfrm>
          </p:grpSpPr>
          <p:sp>
            <p:nvSpPr>
              <p:cNvPr id="1145" name="Google Shape;1145;p32"/>
              <p:cNvSpPr/>
              <p:nvPr/>
            </p:nvSpPr>
            <p:spPr>
              <a:xfrm>
                <a:off x="0" y="2270"/>
                <a:ext cx="3072" cy="32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46" name="Google Shape;1146;p32"/>
              <p:cNvSpPr/>
              <p:nvPr/>
            </p:nvSpPr>
            <p:spPr>
              <a:xfrm>
                <a:off x="0" y="2244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71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{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147" name="Google Shape;1147;p32"/>
            <p:cNvGrpSpPr/>
            <p:nvPr/>
          </p:nvGrpSpPr>
          <p:grpSpPr>
            <a:xfrm>
              <a:off x="0" y="2618"/>
              <a:ext cx="3072" cy="374"/>
              <a:chOff x="0" y="2618"/>
              <a:chExt cx="3072" cy="374"/>
            </a:xfrm>
          </p:grpSpPr>
          <p:sp>
            <p:nvSpPr>
              <p:cNvPr id="1148" name="Google Shape;1148;p32"/>
              <p:cNvSpPr/>
              <p:nvPr/>
            </p:nvSpPr>
            <p:spPr>
              <a:xfrm>
                <a:off x="0" y="2644"/>
                <a:ext cx="3072" cy="32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49" name="Google Shape;1149;p32"/>
              <p:cNvSpPr/>
              <p:nvPr/>
            </p:nvSpPr>
            <p:spPr>
              <a:xfrm>
                <a:off x="0" y="2618"/>
                <a:ext cx="3072" cy="374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tr-TR" sz="1200" b="1">
                    <a:solidFill>
                      <a:srgbClr val="4D8D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	72	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  </a:t>
                </a:r>
                <a:r>
                  <a:rPr lang="tr-TR" sz="1200" b="1">
                    <a:solidFill>
                      <a:srgbClr val="275A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return</a:t>
                </a:r>
                <a:r>
                  <a:rPr lang="tr-TR" sz="1200" b="1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b &gt; a;   </a:t>
                </a:r>
                <a:r>
                  <a:rPr lang="tr-TR" sz="1200" b="1">
                    <a:solidFill>
                      <a:srgbClr val="33CC33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/* swap if b is greater than a */</a:t>
                </a:r>
                <a:endParaRPr sz="1200" b="1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1150" name="Google Shape;1150;p32"/>
            <p:cNvGrpSpPr/>
            <p:nvPr/>
          </p:nvGrpSpPr>
          <p:grpSpPr>
            <a:xfrm>
              <a:off x="0" y="2992"/>
              <a:ext cx="3072" cy="374"/>
              <a:chOff x="0" y="2992"/>
              <a:chExt cx="3072" cy="374"/>
            </a:xfrm>
          </p:grpSpPr>
          <p:sp>
            <p:nvSpPr>
              <p:cNvPr id="1151" name="Google Shape;1151;p32"/>
              <p:cNvSpPr/>
              <p:nvPr/>
            </p:nvSpPr>
            <p:spPr>
              <a:xfrm>
                <a:off x="0" y="3018"/>
                <a:ext cx="3072" cy="322"/>
              </a:xfrm>
              <a:prstGeom prst="rect">
                <a:avLst/>
              </a:prstGeom>
              <a:solidFill>
                <a:srgbClr val="FFE69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152" name="Google Shape;1152;p32"/>
              <p:cNvGrpSpPr/>
              <p:nvPr/>
            </p:nvGrpSpPr>
            <p:grpSpPr>
              <a:xfrm>
                <a:off x="0" y="2992"/>
                <a:ext cx="3072" cy="374"/>
                <a:chOff x="0" y="2992"/>
                <a:chExt cx="3072" cy="374"/>
              </a:xfrm>
            </p:grpSpPr>
            <p:sp>
              <p:nvSpPr>
                <p:cNvPr id="1153" name="Google Shape;1153;p32"/>
                <p:cNvSpPr/>
                <p:nvPr/>
              </p:nvSpPr>
              <p:spPr>
                <a:xfrm>
                  <a:off x="0" y="2992"/>
                  <a:ext cx="3072" cy="374"/>
                </a:xfrm>
                <a:prstGeom prst="rect">
                  <a:avLst/>
                </a:prstGeom>
                <a:solidFill>
                  <a:srgbClr val="FFE699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tr-TR" sz="1200" b="1">
                      <a:solidFill>
                        <a:srgbClr val="4D8DFF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	73	</a:t>
                  </a:r>
                  <a:r>
                    <a:rPr lang="tr-TR" sz="1200" b="1">
                      <a:solidFill>
                        <a:srgbClr val="000000"/>
                      </a:solidFill>
                      <a:latin typeface="Courier New"/>
                      <a:ea typeface="Courier New"/>
                      <a:cs typeface="Courier New"/>
                      <a:sym typeface="Courier New"/>
                    </a:rPr>
                    <a:t>}</a:t>
                  </a:r>
                  <a:endParaRPr/>
                </a:p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154" name="Google Shape;1154;p32"/>
                <p:cNvSpPr/>
                <p:nvPr/>
              </p:nvSpPr>
              <p:spPr>
                <a:xfrm>
                  <a:off x="0" y="3018"/>
                  <a:ext cx="3072" cy="3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</p:grpSp>
      <p:sp>
        <p:nvSpPr>
          <p:cNvPr id="1155" name="Google Shape;1155;p32"/>
          <p:cNvSpPr/>
          <p:nvPr/>
        </p:nvSpPr>
        <p:spPr>
          <a:xfrm>
            <a:off x="1524000" y="3048000"/>
            <a:ext cx="6781800" cy="156966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1 to sort in ascending order,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2 to sort in descending order: 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sz="12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Data items in original order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2   6   4   8  10  12  89  68  45  37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Data items in ascending order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2   4   6   8  10  12  37  45  68  89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56" name="Google Shape;1156;p32"/>
          <p:cNvSpPr/>
          <p:nvPr/>
        </p:nvSpPr>
        <p:spPr>
          <a:xfrm>
            <a:off x="1524000" y="4724400"/>
            <a:ext cx="6781800" cy="156966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1 to sort in ascending order,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2 to sort in descending order: 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sz="12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Data items in original order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2   6   4   8  10  12  89  68  45  37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Data items in descending order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89  68  45  37  12  10   8   6   4   2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/>
              <a:t>Soru</a:t>
            </a:r>
            <a:endParaRPr/>
          </a:p>
        </p:txBody>
      </p:sp>
      <p:sp>
        <p:nvSpPr>
          <p:cNvPr id="1162" name="Google Shape;1162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/>
              <a:t>İki zar rasgele 100 ker atılıyor en fazla denk gelen sayı çiftini bulan programı iki boyutlu dizi ve pointer kullanarak yapınız.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34"/>
          <p:cNvSpPr txBox="1"/>
          <p:nvPr/>
        </p:nvSpPr>
        <p:spPr>
          <a:xfrm>
            <a:off x="809943" y="0"/>
            <a:ext cx="7705817" cy="6986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&lt;stdio.h&gt;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&lt;time.h&gt;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&lt;stdlib.h&gt;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zaratama(int zar[])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i,j,k=0,birinci,ikinci;//k kaç tane kombinasyon olduğunu tutuyo,birinci ve ikinci kombinasyonlar ne geldiyse onu yazıyo örneğin 1-2 geldi bunu numara[1][2] artırarak kombinasyon..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numara[6][6]={0}; // tabibini sağlıyo,numara dizisi hangi kombinsayonda kaç tane gelmiş onu tutuyo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srand(time(0));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for(i=0;i&lt;100;i++) //100 atışa kadar devam edilir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birinci=rand()%6;//ilk zar atılır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ikinci=rand()%6;//ikinci zar atılır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numara[birinci][ikinci]++;//birinci ve ikinci atılan zarın kombinasyonu ilgili diziyi 1 arttırarak güncellenir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for(i=0;i&lt;6;i++)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 //hangi komninasyonun kaç defa geldiği ekrana yazılır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for(j=0;j&lt;6;j++)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zar[k]=numara[i][j]; k++; // zarların gelme sıklığı tutulur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printf("%d-%d gelme sayisi:%d ",(i+1),(j+1),numara[i][j]);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printf("\n\n");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zarkarsilastirma(int *zarptr) //karşılaştırmak için zar kombinasyonunu içeren dizinin pointeri alınır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buyuk=0,i,k,m; //buyuk değeri tutması için ve k,m değişkenleri de hangi kombinasyondan geliyorlarsa onu bulmak için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for(i=0;i&lt;36;i++) // 36 kombinasyon döngüye alınır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if(*(zarptr+i)&gt;buyuk)//pointerdaki değer buyuk değişkeni ile sınanır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{buyuk=*(zarptr+i);//buyukse buyuk değişkenine atanır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k=(i/6)+1; //ilk zarın rakamı tutulut. örneğin 25.dizi elemanı koyarsak k=5 yani ilk zarın 5 gelme durumu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m=(i%6)+1;// burda da ikinci zarın kaç geldiği tutulur 25 için k=2 yani yazarken çok gelen kombinasyon 5-2 olarak yazılacak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printf("En cok gelen kombinasyon %d-%d sayisi : %d \n\n",k,m,buyuk);//değerler ekrana yazılır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main()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d[100],z[36]={0};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deger;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*ptr,*ptr2;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*zarptr;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zaratama(z);//zar komninasyonlarının atanması için dizi atılır ve ekrana yazdırılır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zarptr=z;//dizi pointere alınır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zarkarsilastirma(zarptr); //zarlar kıyaslanır ve en fazla gelen kombinasyon yazılır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35"/>
          <p:cNvSpPr txBox="1">
            <a:spLocks noGrp="1"/>
          </p:cNvSpPr>
          <p:nvPr>
            <p:ph type="sldNum" idx="12"/>
          </p:nvPr>
        </p:nvSpPr>
        <p:spPr>
          <a:xfrm>
            <a:off x="1524000" y="1272222"/>
            <a:ext cx="53340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36</a:t>
            </a:fld>
            <a:endParaRPr/>
          </a:p>
        </p:txBody>
      </p:sp>
      <p:sp>
        <p:nvSpPr>
          <p:cNvPr id="1174" name="Google Shape;1174;p35"/>
          <p:cNvSpPr txBox="1">
            <a:spLocks noGrp="1"/>
          </p:cNvSpPr>
          <p:nvPr>
            <p:ph type="title"/>
          </p:nvPr>
        </p:nvSpPr>
        <p:spPr>
          <a:xfrm>
            <a:off x="2136648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Times New Roman"/>
              <a:buNone/>
            </a:pPr>
            <a:r>
              <a:rPr lang="tr-TR" sz="36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Tipindeki İşaretçiler</a:t>
            </a:r>
            <a:endParaRPr sz="18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5" name="Google Shape;1175;p35"/>
          <p:cNvSpPr txBox="1">
            <a:spLocks noGrp="1"/>
          </p:cNvSpPr>
          <p:nvPr>
            <p:ph type="body" idx="1"/>
          </p:nvPr>
        </p:nvSpPr>
        <p:spPr>
          <a:xfrm>
            <a:off x="2136648" y="1598820"/>
            <a:ext cx="8351840" cy="4824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20040" lvl="0" indent="-32004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tr-TR" sz="2600">
                <a:latin typeface="Times New Roman"/>
                <a:ea typeface="Times New Roman"/>
                <a:cs typeface="Times New Roman"/>
                <a:sym typeface="Times New Roman"/>
              </a:rPr>
              <a:t>void işaretçiler herhangi bir veri tipine ait olmayan işaretçilerdir. </a:t>
            </a:r>
            <a:endParaRPr/>
          </a:p>
          <a:p>
            <a:pPr marL="320040" lvl="0" indent="-320040" algn="just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tr-TR" sz="2600">
                <a:latin typeface="Times New Roman"/>
                <a:ea typeface="Times New Roman"/>
                <a:cs typeface="Times New Roman"/>
                <a:sym typeface="Times New Roman"/>
              </a:rPr>
              <a:t>Bu özelliğinden dolayı, void işaretçi </a:t>
            </a:r>
            <a:r>
              <a:rPr lang="tr-TR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genel işaretçi </a:t>
            </a:r>
            <a:r>
              <a:rPr lang="tr-TR" sz="26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tr-TR" sz="26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generic pointer</a:t>
            </a:r>
            <a:r>
              <a:rPr lang="tr-TR" sz="2600">
                <a:latin typeface="Times New Roman"/>
                <a:ea typeface="Times New Roman"/>
                <a:cs typeface="Times New Roman"/>
                <a:sym typeface="Times New Roman"/>
              </a:rPr>
              <a:t>) olarak da adlandırılır.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0040" lvl="0" indent="-320040" algn="just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tr-TR" sz="2600">
                <a:latin typeface="Times New Roman"/>
                <a:ea typeface="Times New Roman"/>
                <a:cs typeface="Times New Roman"/>
                <a:sym typeface="Times New Roman"/>
              </a:rPr>
              <a:t>void göstericiler, void anahtar sözcüğü ile bildirilir.</a:t>
            </a:r>
            <a:endParaRPr/>
          </a:p>
          <a:p>
            <a:pPr marL="320040" lvl="0" indent="-154940" algn="just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0040" lvl="0" indent="-320040" algn="just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Arial"/>
              <a:buChar char="•"/>
            </a:pPr>
            <a:r>
              <a:rPr lang="tr-TR" sz="26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Örnek: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tr-TR" sz="26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tr-TR" sz="2600" b="1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tr-TR" sz="26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tr-TR" sz="2600">
                <a:latin typeface="Courier New"/>
                <a:ea typeface="Courier New"/>
                <a:cs typeface="Courier New"/>
                <a:sym typeface="Courier New"/>
              </a:rPr>
              <a:t>*adr; 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2443</TotalTime>
  <Words>3431</Words>
  <Application>Microsoft Office PowerPoint</Application>
  <PresentationFormat>Widescreen</PresentationFormat>
  <Paragraphs>1011</Paragraphs>
  <Slides>36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Courier New</vt:lpstr>
      <vt:lpstr>Times New Roman</vt:lpstr>
      <vt:lpstr>Calibri</vt:lpstr>
      <vt:lpstr>Noto Sans Symbols</vt:lpstr>
      <vt:lpstr>Questrial</vt:lpstr>
      <vt:lpstr>Twentieth Century</vt:lpstr>
      <vt:lpstr>Office Teması</vt:lpstr>
      <vt:lpstr>Pointer, Dinamik Bellek ve Diziler</vt:lpstr>
      <vt:lpstr>Dinamik Hafıza Tahsisi</vt:lpstr>
      <vt:lpstr> </vt:lpstr>
      <vt:lpstr>Malloc</vt:lpstr>
      <vt:lpstr>PowerPoint Presentation</vt:lpstr>
      <vt:lpstr>PowerPoint Presentation</vt:lpstr>
      <vt:lpstr>PowerPoint Presentation</vt:lpstr>
      <vt:lpstr>Fonksiyon İşaretçileri</vt:lpstr>
      <vt:lpstr>PowerPoint Presentation</vt:lpstr>
      <vt:lpstr>PowerPoint Presentation</vt:lpstr>
      <vt:lpstr>Fonksiyonları Gösteren Göstericiler</vt:lpstr>
      <vt:lpstr>Fonksiyon İşaretçileri (devam…)</vt:lpstr>
      <vt:lpstr>Örnek: Fonksiyon İşaretçileri</vt:lpstr>
      <vt:lpstr>PowerPoint Presentation</vt:lpstr>
      <vt:lpstr> Using the const Qualifier with Pointers</vt:lpstr>
      <vt:lpstr>PowerPoint Presentation</vt:lpstr>
      <vt:lpstr> Bubble Sort Using Call-by-reference</vt:lpstr>
      <vt:lpstr>7.6 Bubble Sort Using Call-by-reference</vt:lpstr>
      <vt:lpstr>PowerPoint Presentation</vt:lpstr>
      <vt:lpstr>PowerPoint Presentation</vt:lpstr>
      <vt:lpstr>7.9 Arrays of Pointers</vt:lpstr>
      <vt:lpstr>7.10 Case Study: A Card Shuffling and Dealing Simulation</vt:lpstr>
      <vt:lpstr>7.10 Case Study: A Card Shuffling and Dealing Simulation</vt:lpstr>
      <vt:lpstr>7.10 Case Study: A Card Shuffling and Dealing Simulation</vt:lpstr>
      <vt:lpstr>7.10 Case Study: A Card Shuffling and Dealing Simulation</vt:lpstr>
      <vt:lpstr>PowerPoint Presentation</vt:lpstr>
      <vt:lpstr>PowerPoint Presentation</vt:lpstr>
      <vt:lpstr>PowerPoint Presentation</vt:lpstr>
      <vt:lpstr>7.11 Pointers to Functions</vt:lpstr>
      <vt:lpstr>7.11 Pointers to Functions</vt:lpstr>
      <vt:lpstr>PowerPoint Presentation</vt:lpstr>
      <vt:lpstr>PowerPoint Presentation</vt:lpstr>
      <vt:lpstr>PowerPoint Presentation</vt:lpstr>
      <vt:lpstr>Soru</vt:lpstr>
      <vt:lpstr>PowerPoint Presentation</vt:lpstr>
      <vt:lpstr>void Tipindeki İşaretçiler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Pointer, Dinamik Bellek ve Diziler</dc:title>
  <dc:creator>bd</dc:creator>
  <cp:lastModifiedBy>Berna</cp:lastModifiedBy>
  <cp:revision>7</cp:revision>
  <dcterms:created xsi:type="dcterms:W3CDTF">2022-03-11T12:13:32Z</dcterms:created>
  <dcterms:modified xsi:type="dcterms:W3CDTF">2025-03-11T07:52:44Z</dcterms:modified>
</cp:coreProperties>
</file>