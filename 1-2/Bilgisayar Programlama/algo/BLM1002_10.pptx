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67"/>
  </p:notesMasterIdLst>
  <p:sldIdLst>
    <p:sldId id="256" r:id="rId2"/>
    <p:sldId id="274" r:id="rId3"/>
    <p:sldId id="262" r:id="rId4"/>
    <p:sldId id="275" r:id="rId5"/>
    <p:sldId id="399" r:id="rId6"/>
    <p:sldId id="426" r:id="rId7"/>
    <p:sldId id="423" r:id="rId8"/>
    <p:sldId id="398" r:id="rId9"/>
    <p:sldId id="424" r:id="rId10"/>
    <p:sldId id="462" r:id="rId11"/>
    <p:sldId id="397" r:id="rId12"/>
    <p:sldId id="401" r:id="rId13"/>
    <p:sldId id="459" r:id="rId14"/>
    <p:sldId id="460" r:id="rId15"/>
    <p:sldId id="461" r:id="rId16"/>
    <p:sldId id="464" r:id="rId17"/>
    <p:sldId id="463" r:id="rId18"/>
    <p:sldId id="465" r:id="rId19"/>
    <p:sldId id="425" r:id="rId20"/>
    <p:sldId id="402" r:id="rId21"/>
    <p:sldId id="466" r:id="rId22"/>
    <p:sldId id="427" r:id="rId23"/>
    <p:sldId id="467" r:id="rId24"/>
    <p:sldId id="456" r:id="rId25"/>
    <p:sldId id="457" r:id="rId26"/>
    <p:sldId id="443" r:id="rId27"/>
    <p:sldId id="434" r:id="rId28"/>
    <p:sldId id="435" r:id="rId29"/>
    <p:sldId id="436" r:id="rId30"/>
    <p:sldId id="437" r:id="rId31"/>
    <p:sldId id="438" r:id="rId32"/>
    <p:sldId id="439" r:id="rId33"/>
    <p:sldId id="440" r:id="rId34"/>
    <p:sldId id="458" r:id="rId35"/>
    <p:sldId id="441" r:id="rId36"/>
    <p:sldId id="442" r:id="rId37"/>
    <p:sldId id="445" r:id="rId38"/>
    <p:sldId id="444" r:id="rId39"/>
    <p:sldId id="476" r:id="rId40"/>
    <p:sldId id="446" r:id="rId41"/>
    <p:sldId id="447" r:id="rId42"/>
    <p:sldId id="448" r:id="rId43"/>
    <p:sldId id="449" r:id="rId44"/>
    <p:sldId id="475" r:id="rId45"/>
    <p:sldId id="470" r:id="rId46"/>
    <p:sldId id="450" r:id="rId47"/>
    <p:sldId id="451" r:id="rId48"/>
    <p:sldId id="452" r:id="rId49"/>
    <p:sldId id="468" r:id="rId50"/>
    <p:sldId id="453" r:id="rId51"/>
    <p:sldId id="454" r:id="rId52"/>
    <p:sldId id="403" r:id="rId53"/>
    <p:sldId id="404" r:id="rId54"/>
    <p:sldId id="429" r:id="rId55"/>
    <p:sldId id="428" r:id="rId56"/>
    <p:sldId id="432" r:id="rId57"/>
    <p:sldId id="405" r:id="rId58"/>
    <p:sldId id="406" r:id="rId59"/>
    <p:sldId id="469" r:id="rId60"/>
    <p:sldId id="471" r:id="rId61"/>
    <p:sldId id="472" r:id="rId62"/>
    <p:sldId id="473" r:id="rId63"/>
    <p:sldId id="474" r:id="rId64"/>
    <p:sldId id="433" r:id="rId65"/>
    <p:sldId id="303" r:id="rId66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99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3238" autoAdjust="0"/>
  </p:normalViewPr>
  <p:slideViewPr>
    <p:cSldViewPr>
      <p:cViewPr varScale="1">
        <p:scale>
          <a:sx n="115" d="100"/>
          <a:sy n="115" d="100"/>
        </p:scale>
        <p:origin x="69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A2A135-22CC-429C-9706-1CC56B005689}" type="datetimeFigureOut">
              <a:rPr lang="tr-TR" smtClean="0"/>
              <a:pPr/>
              <a:t>23.04.2020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9281E5-013A-4FDC-BBE5-88D0D9098083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04686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251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4314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678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2501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5768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5768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5768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38330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3833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22332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581675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678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Yapılar int, </a:t>
            </a:r>
            <a:r>
              <a:rPr lang="tr-T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float</a:t>
            </a:r>
            <a:r>
              <a:rPr lang="tr-T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tr-T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</a:t>
            </a:r>
            <a:r>
              <a:rPr lang="tr-T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gibi farklı tipteki değişkenleri veya aynı türdeki birden çok değişkeni bir araya getirmeyi sağlar. Nesne tabanlı programlamanın da temelini oluşturan bu oluşumu iyi öğrenmek, ileriki zamanlarda C# ve JAVA gibi tamamen nesneye dayalı programlamayı benimsemiş gelişmiş dilleri öğrenmeye de yardımcı olacaktır.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531819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Yapılar int, </a:t>
            </a:r>
            <a:r>
              <a:rPr lang="tr-T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float</a:t>
            </a:r>
            <a:r>
              <a:rPr lang="tr-T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tr-T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</a:t>
            </a:r>
            <a:r>
              <a:rPr lang="tr-T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gibi farklı tipteki değişkenleri veya aynı türdeki birden çok değişkeni bir araya getirmeyi sağlar. Nesne tabanlı programlamanın da temelini oluşturan bu oluşumu iyi öğrenmek, ileriki zamanlarda C# ve JAVA gibi tamamen nesneye dayalı programlamayı benimsemiş gelişmiş dilleri öğrenmeye de yardımcı olacaktır.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531819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52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92520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Normalde</a:t>
            </a:r>
            <a:r>
              <a:rPr lang="tr-TR" baseline="0" dirty="0" smtClean="0"/>
              <a:t> kullanılacak bilgileri, ayrı birer değişken olarak tanımlamak zorunda kalırdık. Ve bu değişkenler kendi aralarında mantıksal bir bütünlük oluşturamazlardı. </a:t>
            </a:r>
            <a:r>
              <a:rPr lang="tr-TR" baseline="0" dirty="0" err="1" smtClean="0"/>
              <a:t>Structlar</a:t>
            </a:r>
            <a:r>
              <a:rPr lang="tr-TR" baseline="0" dirty="0" smtClean="0"/>
              <a:t> sayesinde bu değişkenleri mantıksal olarak gruplama şansımız olacak.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53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315377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Normalde</a:t>
            </a:r>
            <a:r>
              <a:rPr lang="tr-TR" baseline="0" dirty="0" smtClean="0"/>
              <a:t> kullanılacak bilgileri, ayrı birer değişken olarak tanımlamak zorunda kalırdık. Ve bu değişkenler kendi aralarında mantıksal bir bütünlük oluşturamazlardı. </a:t>
            </a:r>
            <a:r>
              <a:rPr lang="tr-TR" baseline="0" dirty="0" err="1" smtClean="0"/>
              <a:t>Structlar</a:t>
            </a:r>
            <a:r>
              <a:rPr lang="tr-TR" baseline="0" dirty="0" smtClean="0"/>
              <a:t> sayesinde bu değişkenleri mantıksal olarak gruplama şansımız olacak.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54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315377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Normalde</a:t>
            </a:r>
            <a:r>
              <a:rPr lang="tr-TR" baseline="0" dirty="0" smtClean="0"/>
              <a:t> kullanılacak bilgileri, ayrı birer değişken olarak tanımlamak zorunda kalırdık. Ve bu değişkenler kendi aralarında mantıksal bir bütünlük oluşturamazlardı. </a:t>
            </a:r>
            <a:r>
              <a:rPr lang="tr-TR" baseline="0" dirty="0" err="1" smtClean="0"/>
              <a:t>Structlar</a:t>
            </a:r>
            <a:r>
              <a:rPr lang="tr-TR" baseline="0" dirty="0" smtClean="0"/>
              <a:t> sayesinde bu değişkenleri mantıksal olarak gruplama şansımız olacak.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55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315377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Normalde</a:t>
            </a:r>
            <a:r>
              <a:rPr lang="tr-TR" baseline="0" dirty="0" smtClean="0"/>
              <a:t> kullanılacak bilgileri, ayrı birer değişken olarak tanımlamak zorunda kalırdık. Ve bu değişkenler kendi aralarında mantıksal bir bütünlük oluşturamazlardı. </a:t>
            </a:r>
            <a:r>
              <a:rPr lang="tr-TR" baseline="0" dirty="0" err="1" smtClean="0"/>
              <a:t>Structlar</a:t>
            </a:r>
            <a:r>
              <a:rPr lang="tr-TR" baseline="0" dirty="0" smtClean="0"/>
              <a:t> sayesinde bu değişkenleri mantıksal olarak gruplama şansımız olacak.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56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315377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57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18102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58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66027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65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8413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tr-TR" smtClean="0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97171-79D0-42B3-B601-05933AF6CC96}" type="datetime1">
              <a:rPr lang="tr-TR" smtClean="0"/>
              <a:t>23.04.2020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88463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88640"/>
            <a:ext cx="7772400" cy="784128"/>
          </a:xfrm>
        </p:spPr>
        <p:txBody>
          <a:bodyPr/>
          <a:lstStyle/>
          <a:p>
            <a:r>
              <a:rPr lang="tr-TR" dirty="0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972768"/>
            <a:ext cx="7846640" cy="5199432"/>
          </a:xfrm>
        </p:spPr>
        <p:txBody>
          <a:bodyPr/>
          <a:lstStyle/>
          <a:p>
            <a:pPr lvl="0"/>
            <a:r>
              <a:rPr lang="tr-TR" dirty="0" smtClean="0"/>
              <a:t>Asıl metin stillerini düzenle</a:t>
            </a:r>
          </a:p>
          <a:p>
            <a:pPr lvl="1"/>
            <a:r>
              <a:rPr lang="tr-TR" dirty="0" smtClean="0"/>
              <a:t>İkinci düzey</a:t>
            </a:r>
          </a:p>
          <a:p>
            <a:pPr lvl="2"/>
            <a:r>
              <a:rPr lang="tr-TR" dirty="0" smtClean="0"/>
              <a:t>Üçüncü düzey</a:t>
            </a:r>
          </a:p>
          <a:p>
            <a:pPr lvl="3"/>
            <a:r>
              <a:rPr lang="tr-TR" dirty="0" smtClean="0"/>
              <a:t>Dördüncü düzey</a:t>
            </a:r>
          </a:p>
          <a:p>
            <a:pPr lvl="4"/>
            <a:r>
              <a:rPr lang="tr-TR" dirty="0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832B0-644B-43AB-9262-7C873B8017E5}" type="datetime1">
              <a:rPr lang="tr-TR" smtClean="0"/>
              <a:t>23.04.2020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238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DC4C219-56F5-4B73-AD96-E31447157967}" type="datetime1">
              <a:rPr lang="tr-TR" smtClean="0"/>
              <a:t>23.04.2020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tr-TR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31120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552B-32E6-4114-B5A7-5F10B0501232}" type="datetime1">
              <a:rPr lang="tr-TR" smtClean="0"/>
              <a:t>23.04.2020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9719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99658-3096-4931-8B1D-FB4C694CBF80}" type="datetime1">
              <a:rPr lang="tr-TR" smtClean="0"/>
              <a:t>23.04.2020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814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6A9B906-27B2-4D67-B247-652D99669EE2}" type="datetime1">
              <a:rPr lang="tr-TR" smtClean="0"/>
              <a:t>23.04.2020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8777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8573-EA95-4DF6-A490-01251FBDE5FE}" type="datetime1">
              <a:rPr lang="tr-TR" smtClean="0"/>
              <a:t>23.04.2020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5515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D1E91-1795-4FA1-92A3-DC273EE887F9}" type="datetime1">
              <a:rPr lang="tr-TR" smtClean="0"/>
              <a:t>23.04.2020</a:t>
            </a:fld>
            <a:endParaRPr lang="tr-T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78019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7A15E-101C-4CDA-8A70-CCB4AD3AE908}" type="datetime1">
              <a:rPr lang="tr-TR" smtClean="0"/>
              <a:t>23.04.2020</a:t>
            </a:fld>
            <a:endParaRPr lang="tr-T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11870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389A4-A5B9-47CA-9DA4-D708F5715B2E}" type="datetime1">
              <a:rPr lang="tr-TR" smtClean="0"/>
              <a:t>23.04.2020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3944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74929-A170-4869-B8C0-A2721BFF7623}" type="datetime1">
              <a:rPr lang="tr-TR" smtClean="0"/>
              <a:t>23.04.2020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83267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9A56F63-D613-4E93-9129-B890C44EE98E}" type="datetime1">
              <a:rPr lang="tr-TR" smtClean="0"/>
              <a:t>23.04.2020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8023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Başlık"/>
          <p:cNvSpPr>
            <a:spLocks noGrp="1"/>
          </p:cNvSpPr>
          <p:nvPr>
            <p:ph type="ctrTitle"/>
          </p:nvPr>
        </p:nvSpPr>
        <p:spPr>
          <a:xfrm>
            <a:off x="104775" y="2062146"/>
            <a:ext cx="8929718" cy="1581168"/>
          </a:xfrm>
        </p:spPr>
        <p:txBody>
          <a:bodyPr>
            <a:normAutofit/>
          </a:bodyPr>
          <a:lstStyle/>
          <a:p>
            <a:pPr algn="ctr"/>
            <a:r>
              <a:rPr lang="tr-TR" sz="3400" dirty="0" smtClean="0">
                <a:latin typeface="Times New Roman" pitchFamily="18" charset="0"/>
                <a:cs typeface="Times New Roman" pitchFamily="18" charset="0"/>
              </a:rPr>
              <a:t>Bilgisayar programlama 1</a:t>
            </a:r>
            <a:r>
              <a:rPr lang="tr-TR" sz="3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tr-TR" sz="3400" dirty="0">
                <a:latin typeface="Times New Roman" pitchFamily="18" charset="0"/>
                <a:cs typeface="Times New Roman" pitchFamily="18" charset="0"/>
              </a:rPr>
            </a:br>
            <a:r>
              <a:rPr lang="tr-TR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tr-TR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tr-TR" sz="1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tr-TR" sz="1200" dirty="0" smtClean="0">
                <a:latin typeface="Times New Roman" pitchFamily="18" charset="0"/>
                <a:cs typeface="Times New Roman" pitchFamily="18" charset="0"/>
              </a:rPr>
            </a:br>
            <a:endParaRPr lang="tr-TR" sz="3600" cap="none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2 Alt Başlık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tr-TR" dirty="0" smtClean="0"/>
              <a:t>Marmara Üniversitesi</a:t>
            </a:r>
          </a:p>
          <a:p>
            <a:pPr algn="ctr"/>
            <a:r>
              <a:rPr lang="tr-TR" dirty="0" smtClean="0"/>
              <a:t>Teknoloji Fakültesi</a:t>
            </a:r>
            <a:endParaRPr lang="tr-TR" dirty="0"/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1</a:t>
            </a:fld>
            <a:endParaRPr lang="tr-TR"/>
          </a:p>
        </p:txBody>
      </p:sp>
      <p:sp>
        <p:nvSpPr>
          <p:cNvPr id="6" name="2 Alt Başlık"/>
          <p:cNvSpPr txBox="1">
            <a:spLocks/>
          </p:cNvSpPr>
          <p:nvPr/>
        </p:nvSpPr>
        <p:spPr>
          <a:xfrm>
            <a:off x="0" y="6072206"/>
            <a:ext cx="2214546" cy="685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None/>
              <a:tabLst/>
              <a:defRPr/>
            </a:pPr>
            <a:endParaRPr lang="tr-TR" sz="2600" dirty="0" smtClean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>
                <a:latin typeface="Times New Roman" pitchFamily="18" charset="0"/>
                <a:cs typeface="Times New Roman" pitchFamily="18" charset="0"/>
              </a:rPr>
              <a:t>Genel Bakış…</a:t>
            </a:r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4 İçerik Yer Tutucusu"/>
          <p:cNvSpPr>
            <a:spLocks noGrp="1"/>
          </p:cNvSpPr>
          <p:nvPr>
            <p:ph idx="1"/>
          </p:nvPr>
        </p:nvSpPr>
        <p:spPr>
          <a:xfrm>
            <a:off x="612648" y="1600200"/>
            <a:ext cx="7959880" cy="4614882"/>
          </a:xfrm>
        </p:spPr>
        <p:txBody>
          <a:bodyPr>
            <a:normAutofit/>
          </a:bodyPr>
          <a:lstStyle/>
          <a:p>
            <a:pPr>
              <a:buSzPct val="100000"/>
              <a:buFont typeface="Arial" pitchFamily="34" charset="0"/>
              <a:buChar char="•"/>
            </a:pPr>
            <a:r>
              <a:rPr lang="tr-TR" sz="2800" b="1" dirty="0" smtClean="0">
                <a:latin typeface="Times New Roman" pitchFamily="18" charset="0"/>
                <a:cs typeface="Times New Roman" pitchFamily="18" charset="0"/>
              </a:rPr>
              <a:t>Yapılar ve Birlikler</a:t>
            </a:r>
          </a:p>
          <a:p>
            <a:pPr lvl="1">
              <a:buSzPct val="100000"/>
              <a:buFont typeface="Arial" pitchFamily="34" charset="0"/>
              <a:buChar char="•"/>
            </a:pPr>
            <a:r>
              <a:rPr lang="tr-TR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tr-TR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tr-TR" sz="2400" dirty="0" smtClean="0">
                <a:latin typeface="Times New Roman" pitchFamily="18" charset="0"/>
                <a:cs typeface="Times New Roman" pitchFamily="18" charset="0"/>
              </a:rPr>
              <a:t> Deyimi / Sayma Sabitleri (</a:t>
            </a:r>
            <a:r>
              <a:rPr lang="tr-TR" sz="2400" dirty="0" err="1" smtClean="0">
                <a:latin typeface="Times New Roman" pitchFamily="18" charset="0"/>
                <a:cs typeface="Times New Roman" pitchFamily="18" charset="0"/>
              </a:rPr>
              <a:t>Enumeration</a:t>
            </a:r>
            <a:r>
              <a:rPr lang="tr-TR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400" dirty="0" err="1" smtClean="0">
                <a:latin typeface="Times New Roman" pitchFamily="18" charset="0"/>
                <a:cs typeface="Times New Roman" pitchFamily="18" charset="0"/>
              </a:rPr>
              <a:t>Constants</a:t>
            </a:r>
            <a:r>
              <a:rPr lang="tr-TR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>
              <a:buSzPct val="100000"/>
              <a:buFont typeface="Arial" pitchFamily="34" charset="0"/>
              <a:buChar char="•"/>
            </a:pPr>
            <a:r>
              <a:rPr lang="tr-TR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tr-TR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truct</a:t>
            </a:r>
            <a:r>
              <a:rPr lang="tr-TR" sz="2400" dirty="0" smtClean="0">
                <a:latin typeface="Times New Roman" pitchFamily="18" charset="0"/>
                <a:cs typeface="Times New Roman" pitchFamily="18" charset="0"/>
              </a:rPr>
              <a:t> Deyimi / Yapı (</a:t>
            </a:r>
            <a:r>
              <a:rPr lang="tr-TR" sz="2400" dirty="0" err="1" smtClean="0">
                <a:latin typeface="Times New Roman" pitchFamily="18" charset="0"/>
                <a:cs typeface="Times New Roman" pitchFamily="18" charset="0"/>
              </a:rPr>
              <a:t>Structures</a:t>
            </a:r>
            <a:r>
              <a:rPr lang="tr-TR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>
              <a:buSzPct val="100000"/>
              <a:buFont typeface="Arial" pitchFamily="34" charset="0"/>
              <a:buChar char="•"/>
            </a:pPr>
            <a:r>
              <a:rPr lang="tr-TR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tr-TR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ypedef</a:t>
            </a:r>
            <a:r>
              <a:rPr lang="tr-TR" sz="2400" dirty="0" smtClean="0">
                <a:latin typeface="Times New Roman" pitchFamily="18" charset="0"/>
                <a:cs typeface="Times New Roman" pitchFamily="18" charset="0"/>
              </a:rPr>
              <a:t> Deyimi </a:t>
            </a:r>
          </a:p>
          <a:p>
            <a:pPr lvl="1">
              <a:buSzPct val="100000"/>
              <a:buFont typeface="Arial" pitchFamily="34" charset="0"/>
              <a:buChar char="•"/>
            </a:pPr>
            <a:r>
              <a:rPr lang="tr-TR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tr-TR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nion</a:t>
            </a:r>
            <a:r>
              <a:rPr lang="tr-TR" sz="2400" dirty="0" smtClean="0">
                <a:latin typeface="Times New Roman" pitchFamily="18" charset="0"/>
                <a:cs typeface="Times New Roman" pitchFamily="18" charset="0"/>
              </a:rPr>
              <a:t> Deyimi / Birlik</a:t>
            </a:r>
          </a:p>
          <a:p>
            <a:pPr lvl="1">
              <a:buSzPct val="100000"/>
              <a:buFont typeface="Arial" pitchFamily="34" charset="0"/>
              <a:buChar char="•"/>
            </a:pPr>
            <a:endParaRPr lang="tr-TR" sz="2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SzPct val="100000"/>
              <a:buFont typeface="Arial" pitchFamily="34" charset="0"/>
              <a:buChar char="•"/>
            </a:pPr>
            <a:endParaRPr lang="tr-TR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820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031318" cy="990600"/>
          </a:xfrm>
        </p:spPr>
        <p:txBody>
          <a:bodyPr/>
          <a:lstStyle/>
          <a:p>
            <a:pPr algn="ctr"/>
            <a:r>
              <a:rPr lang="tr-TR" dirty="0">
                <a:solidFill>
                  <a:srgbClr val="808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tr-TR" dirty="0" smtClean="0">
                <a:solidFill>
                  <a:srgbClr val="808000"/>
                </a:solidFill>
                <a:latin typeface="Times New Roman" pitchFamily="18" charset="0"/>
                <a:cs typeface="Times New Roman" pitchFamily="18" charset="0"/>
              </a:rPr>
              <a:t>. BÖLÜM</a:t>
            </a:r>
            <a:endParaRPr lang="tr-TR" dirty="0">
              <a:solidFill>
                <a:srgbClr val="808000"/>
              </a:solidFill>
            </a:endParaRPr>
          </a:p>
        </p:txBody>
      </p:sp>
      <p:sp>
        <p:nvSpPr>
          <p:cNvPr id="4" name="2 İçerik Yer Tutucusu"/>
          <p:cNvSpPr>
            <a:spLocks noGrp="1"/>
          </p:cNvSpPr>
          <p:nvPr>
            <p:ph idx="1"/>
          </p:nvPr>
        </p:nvSpPr>
        <p:spPr>
          <a:xfrm>
            <a:off x="107504" y="2714620"/>
            <a:ext cx="8928992" cy="147161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400" dirty="0" smtClean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Enumeration</a:t>
            </a:r>
            <a:endParaRPr lang="tr-TR" sz="4400" dirty="0">
              <a:solidFill>
                <a:schemeClr val="accent4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24948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enum</a:t>
            </a:r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Deyimi</a:t>
            </a:r>
            <a:endParaRPr lang="tr-T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4 İçerik Yer Tutucusu"/>
          <p:cNvSpPr>
            <a:spLocks noGrp="1"/>
          </p:cNvSpPr>
          <p:nvPr>
            <p:ph idx="1"/>
          </p:nvPr>
        </p:nvSpPr>
        <p:spPr>
          <a:xfrm>
            <a:off x="612648" y="1628800"/>
            <a:ext cx="7775776" cy="4536504"/>
          </a:xfrm>
        </p:spPr>
        <p:txBody>
          <a:bodyPr>
            <a:normAutofit lnSpcReduction="10000"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Sayma </a:t>
            </a:r>
            <a:r>
              <a:rPr lang="tr-TR" sz="2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tipi</a:t>
            </a:r>
            <a:r>
              <a:rPr lang="en-US" sz="2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6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sabiti</a:t>
            </a:r>
            <a:r>
              <a:rPr lang="tr-TR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olarak </a:t>
            </a:r>
            <a:r>
              <a:rPr lang="tr-TR" sz="2600" dirty="0" smtClean="0">
                <a:latin typeface="Times New Roman" pitchFamily="18" charset="0"/>
                <a:cs typeface="Times New Roman" pitchFamily="18" charset="0"/>
              </a:rPr>
              <a:t>adlandırılırlar.</a:t>
            </a:r>
            <a:endParaRPr lang="tr-TR" sz="26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Bir </a:t>
            </a:r>
            <a:r>
              <a:rPr lang="tr-TR" sz="2600" dirty="0" smtClean="0">
                <a:latin typeface="Times New Roman" pitchFamily="18" charset="0"/>
                <a:cs typeface="Times New Roman" pitchFamily="18" charset="0"/>
              </a:rPr>
              <a:t>sayma tipi, </a:t>
            </a:r>
            <a:r>
              <a:rPr lang="tr-TR" sz="26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enum</a:t>
            </a:r>
            <a:r>
              <a:rPr lang="tr-TR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anahtar kelimesiyle tanıtılır ve tanıtıcılar ile temsil edilen </a:t>
            </a:r>
            <a:r>
              <a:rPr lang="tr-TR" sz="2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tamsayı </a:t>
            </a:r>
            <a:r>
              <a:rPr lang="tr-TR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sabitlerinin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600" b="1" dirty="0">
                <a:latin typeface="Times New Roman" pitchFamily="18" charset="0"/>
                <a:cs typeface="Times New Roman" pitchFamily="18" charset="0"/>
              </a:rPr>
              <a:t>kümesidir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tr-TR" sz="26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dirty="0" smtClean="0">
                <a:latin typeface="Times New Roman" pitchFamily="18" charset="0"/>
                <a:cs typeface="Times New Roman" pitchFamily="18" charset="0"/>
              </a:rPr>
              <a:t>Bu 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sayma sabitleri, </a:t>
            </a:r>
            <a:r>
              <a:rPr lang="tr-TR" sz="2600" u="sng" dirty="0">
                <a:latin typeface="Times New Roman" pitchFamily="18" charset="0"/>
                <a:cs typeface="Times New Roman" pitchFamily="18" charset="0"/>
              </a:rPr>
              <a:t>değerleri otomatik olarak belirlenen sembolik sabitlerdir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tr-TR" sz="26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dirty="0" err="1" smtClean="0">
                <a:latin typeface="Times New Roman" pitchFamily="18" charset="0"/>
                <a:cs typeface="Times New Roman" pitchFamily="18" charset="0"/>
              </a:rPr>
              <a:t>enum</a:t>
            </a:r>
            <a:r>
              <a:rPr lang="tr-TR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içindeki </a:t>
            </a:r>
            <a:r>
              <a:rPr lang="tr-TR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değerler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600" u="sng" dirty="0">
                <a:latin typeface="Times New Roman" pitchFamily="18" charset="0"/>
                <a:cs typeface="Times New Roman" pitchFamily="18" charset="0"/>
              </a:rPr>
              <a:t>aksi belirtilmedikçe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ile başlar ve </a:t>
            </a:r>
            <a:r>
              <a:rPr lang="tr-TR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arttırılır. </a:t>
            </a:r>
            <a:endParaRPr lang="tr-TR" sz="26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Bu tip, </a:t>
            </a:r>
            <a:r>
              <a:rPr lang="tr-TR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değişkenin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alabileceği </a:t>
            </a:r>
            <a:r>
              <a:rPr lang="tr-TR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değerlerin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sabit</a:t>
            </a:r>
            <a:r>
              <a:rPr lang="tr-TR" sz="2600" dirty="0" smtClean="0">
                <a:latin typeface="Times New Roman" pitchFamily="18" charset="0"/>
                <a:cs typeface="Times New Roman" pitchFamily="18" charset="0"/>
              </a:rPr>
              <a:t> olduğu 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durumlarda programı daha </a:t>
            </a:r>
            <a:r>
              <a:rPr lang="tr-TR" sz="26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okunabilir</a:t>
            </a:r>
            <a:r>
              <a:rPr lang="tr-TR" sz="2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hale getirmek için kullanılır. 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437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enum</a:t>
            </a:r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3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Deyimi </a:t>
            </a:r>
            <a:r>
              <a:rPr lang="tr-TR" sz="18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  <a:endParaRPr lang="tr-TR" sz="18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4 İçerik Yer Tutucusu"/>
          <p:cNvSpPr>
            <a:spLocks noGrp="1"/>
          </p:cNvSpPr>
          <p:nvPr>
            <p:ph idx="1"/>
          </p:nvPr>
        </p:nvSpPr>
        <p:spPr>
          <a:xfrm>
            <a:off x="612648" y="1628800"/>
            <a:ext cx="7775776" cy="4680520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dirty="0" smtClean="0">
                <a:latin typeface="Times New Roman" pitchFamily="18" charset="0"/>
                <a:cs typeface="Times New Roman" pitchFamily="18" charset="0"/>
              </a:rPr>
              <a:t>Mantıksal örnekler: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500" b="1" dirty="0" smtClean="0">
                <a:latin typeface="Times New Roman" pitchFamily="18" charset="0"/>
                <a:cs typeface="Times New Roman" pitchFamily="18" charset="0"/>
              </a:rPr>
              <a:t>Cinsiyet:</a:t>
            </a:r>
            <a:r>
              <a:rPr lang="tr-TR" sz="2500" dirty="0" smtClean="0">
                <a:latin typeface="Times New Roman" pitchFamily="18" charset="0"/>
                <a:cs typeface="Times New Roman" pitchFamily="18" charset="0"/>
              </a:rPr>
              <a:t> Kadın, Erkek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500" b="1" dirty="0" err="1" smtClean="0">
                <a:latin typeface="Times New Roman" pitchFamily="18" charset="0"/>
                <a:cs typeface="Times New Roman" pitchFamily="18" charset="0"/>
              </a:rPr>
              <a:t>Calisma_Durumu</a:t>
            </a:r>
            <a:r>
              <a:rPr lang="tr-TR" sz="25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tr-TR" sz="2500" dirty="0" smtClean="0">
                <a:latin typeface="Times New Roman" pitchFamily="18" charset="0"/>
                <a:cs typeface="Times New Roman" pitchFamily="18" charset="0"/>
              </a:rPr>
              <a:t> İssiz, </a:t>
            </a:r>
            <a:r>
              <a:rPr lang="tr-TR" sz="2500" dirty="0" err="1" smtClean="0">
                <a:latin typeface="Times New Roman" pitchFamily="18" charset="0"/>
                <a:cs typeface="Times New Roman" pitchFamily="18" charset="0"/>
              </a:rPr>
              <a:t>Calisan</a:t>
            </a:r>
            <a:r>
              <a:rPr lang="tr-TR" sz="25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tr-TR" sz="2500" dirty="0" err="1" smtClean="0">
                <a:latin typeface="Times New Roman" pitchFamily="18" charset="0"/>
                <a:cs typeface="Times New Roman" pitchFamily="18" charset="0"/>
              </a:rPr>
              <a:t>Ögrenci</a:t>
            </a:r>
            <a:r>
              <a:rPr lang="tr-TR" sz="2500" dirty="0" smtClean="0">
                <a:latin typeface="Times New Roman" pitchFamily="18" charset="0"/>
                <a:cs typeface="Times New Roman" pitchFamily="18" charset="0"/>
              </a:rPr>
              <a:t>, Emekli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500" b="1" dirty="0" err="1" smtClean="0">
                <a:latin typeface="Times New Roman" pitchFamily="18" charset="0"/>
                <a:cs typeface="Times New Roman" pitchFamily="18" charset="0"/>
              </a:rPr>
              <a:t>Evlilik_Durumu</a:t>
            </a:r>
            <a:r>
              <a:rPr lang="tr-TR" sz="25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tr-TR" sz="2500" dirty="0" smtClean="0">
                <a:latin typeface="Times New Roman" pitchFamily="18" charset="0"/>
                <a:cs typeface="Times New Roman" pitchFamily="18" charset="0"/>
              </a:rPr>
              <a:t> Evli, Bekar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500" b="1" dirty="0" err="1" smtClean="0">
                <a:latin typeface="Times New Roman" pitchFamily="18" charset="0"/>
                <a:cs typeface="Times New Roman" pitchFamily="18" charset="0"/>
              </a:rPr>
              <a:t>Egitim_Durumu</a:t>
            </a:r>
            <a:r>
              <a:rPr lang="tr-TR" sz="25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tr-TR" sz="2500" dirty="0" smtClean="0">
                <a:latin typeface="Times New Roman" pitchFamily="18" charset="0"/>
                <a:cs typeface="Times New Roman" pitchFamily="18" charset="0"/>
              </a:rPr>
              <a:t> İlkokul, Lise, </a:t>
            </a:r>
            <a:r>
              <a:rPr lang="tr-TR" sz="2500" dirty="0" err="1" smtClean="0">
                <a:latin typeface="Times New Roman" pitchFamily="18" charset="0"/>
                <a:cs typeface="Times New Roman" pitchFamily="18" charset="0"/>
              </a:rPr>
              <a:t>OnLisans</a:t>
            </a:r>
            <a:r>
              <a:rPr lang="tr-TR" sz="2500" dirty="0" smtClean="0">
                <a:latin typeface="Times New Roman" pitchFamily="18" charset="0"/>
                <a:cs typeface="Times New Roman" pitchFamily="18" charset="0"/>
              </a:rPr>
              <a:t>, Lisans, </a:t>
            </a:r>
            <a:r>
              <a:rPr lang="tr-TR" sz="2500" dirty="0" err="1" smtClean="0">
                <a:latin typeface="Times New Roman" pitchFamily="18" charset="0"/>
                <a:cs typeface="Times New Roman" pitchFamily="18" charset="0"/>
              </a:rPr>
              <a:t>LisansUstu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en-US" sz="2500" b="1" dirty="0" err="1" smtClean="0">
                <a:latin typeface="Times New Roman" pitchFamily="18" charset="0"/>
                <a:cs typeface="Times New Roman" pitchFamily="18" charset="0"/>
              </a:rPr>
              <a:t>Menu_Turu</a:t>
            </a: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dirty="0" err="1" smtClean="0">
                <a:latin typeface="Times New Roman" pitchFamily="18" charset="0"/>
                <a:cs typeface="Times New Roman" pitchFamily="18" charset="0"/>
              </a:rPr>
              <a:t>Topla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500" dirty="0" err="1" smtClean="0">
                <a:latin typeface="Times New Roman" pitchFamily="18" charset="0"/>
                <a:cs typeface="Times New Roman" pitchFamily="18" charset="0"/>
              </a:rPr>
              <a:t>Cikart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500" dirty="0" err="1" smtClean="0">
                <a:latin typeface="Times New Roman" pitchFamily="18" charset="0"/>
                <a:cs typeface="Times New Roman" pitchFamily="18" charset="0"/>
              </a:rPr>
              <a:t>Bol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, Carp</a:t>
            </a:r>
            <a:endParaRPr lang="tr-TR" sz="25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SzPct val="100000"/>
              <a:buNone/>
            </a:pPr>
            <a:endParaRPr lang="tr-TR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6924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enum</a:t>
            </a:r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3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Deyimi </a:t>
            </a:r>
            <a:r>
              <a:rPr lang="tr-TR" sz="18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  <a:endParaRPr lang="tr-TR" sz="18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4 İçerik Yer Tutucusu"/>
          <p:cNvSpPr>
            <a:spLocks noGrp="1"/>
          </p:cNvSpPr>
          <p:nvPr>
            <p:ph idx="1"/>
          </p:nvPr>
        </p:nvSpPr>
        <p:spPr>
          <a:xfrm>
            <a:off x="612648" y="1628800"/>
            <a:ext cx="7775776" cy="4896544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Hangisi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daha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anlaşılır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marL="365760" lvl="1" indent="0" algn="just">
              <a:buSzPct val="100000"/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365760" lvl="1" indent="0" algn="just">
              <a:buSzPct val="100000"/>
              <a:buNone/>
            </a:pPr>
            <a:r>
              <a:rPr lang="en-US" sz="22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b="1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kisi_cinsiyet</a:t>
            </a: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== 1)</a:t>
            </a:r>
          </a:p>
          <a:p>
            <a:pPr marL="365760" lvl="1" indent="0" algn="just">
              <a:buSzPct val="100000"/>
              <a:buNone/>
            </a:pP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365760" lvl="1" indent="0" algn="just">
              <a:buSzPct val="100000"/>
              <a:buNone/>
            </a:pP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65760" lvl="1" indent="0" algn="just">
              <a:buSzPct val="100000"/>
              <a:buNone/>
            </a:pPr>
            <a:endParaRPr lang="en-US" sz="2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5760" lvl="1" indent="0" algn="just">
              <a:buSzPct val="100000"/>
              <a:buNone/>
            </a:pP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4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endParaRPr lang="en-US" sz="4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5760" lvl="1" indent="0" algn="just">
              <a:buSzPct val="100000"/>
              <a:buNone/>
            </a:pPr>
            <a:endParaRPr lang="en-US" sz="2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5760" lvl="1" indent="0" algn="just">
              <a:buSzPct val="100000"/>
              <a:buNone/>
            </a:pPr>
            <a:r>
              <a:rPr lang="en-US" sz="22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200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kisi_cinsiyet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sz="2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Erkek</a:t>
            </a: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5760" lvl="1" indent="0" algn="just">
              <a:buSzPct val="100000"/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365760" lvl="1" indent="0" algn="just">
              <a:buSzPct val="100000"/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tr-TR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5760" lvl="1" indent="0" algn="just">
              <a:buSzPct val="100000"/>
              <a:buNone/>
            </a:pPr>
            <a:endParaRPr lang="tr-TR" sz="2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SzPct val="100000"/>
              <a:buNone/>
            </a:pPr>
            <a:endParaRPr lang="tr-TR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15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enum</a:t>
            </a:r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3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Deyimi </a:t>
            </a:r>
            <a:r>
              <a:rPr lang="tr-TR" sz="18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  <a:endParaRPr lang="tr-TR" sz="18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4 İçerik Yer Tutucusu"/>
          <p:cNvSpPr>
            <a:spLocks noGrp="1"/>
          </p:cNvSpPr>
          <p:nvPr>
            <p:ph idx="1"/>
          </p:nvPr>
        </p:nvSpPr>
        <p:spPr>
          <a:xfrm>
            <a:off x="612648" y="1628800"/>
            <a:ext cx="7775776" cy="4680520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dirty="0" smtClean="0">
                <a:latin typeface="Times New Roman" pitchFamily="18" charset="0"/>
                <a:cs typeface="Times New Roman" pitchFamily="18" charset="0"/>
              </a:rPr>
              <a:t>Genel yazım biçimi: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SzPct val="100000"/>
              <a:buNone/>
            </a:pPr>
            <a:endParaRPr lang="tr-TR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594360" lvl="2" indent="0" algn="just">
              <a:buSzPct val="100000"/>
              <a:buNone/>
            </a:pPr>
            <a:r>
              <a:rPr lang="en-US" sz="22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tr-TR" sz="2200" b="1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tr-TR" sz="22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tip_adı</a:t>
            </a:r>
            <a:endParaRPr lang="en-US" sz="2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94360" lvl="2" indent="0" algn="just">
              <a:buSzPct val="100000"/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94360" lvl="2" indent="0" algn="just">
              <a:buSzPct val="100000"/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tr-TR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değer_1, </a:t>
            </a:r>
            <a:endParaRPr lang="en-US" sz="2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94360" lvl="2" indent="0" algn="just">
              <a:buSzPct val="100000"/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tr-TR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değer_2, </a:t>
            </a:r>
            <a:endParaRPr lang="en-US" sz="2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94360" lvl="2" indent="0" algn="just">
              <a:buSzPct val="100000"/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tr-TR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..., </a:t>
            </a:r>
            <a:endParaRPr lang="en-US" sz="2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94360" lvl="2" indent="0" algn="just">
              <a:buSzPct val="100000"/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tr-TR" sz="2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değer_n</a:t>
            </a:r>
            <a:endParaRPr lang="en-US" sz="2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94360" lvl="2" indent="0" algn="just">
              <a:buSzPct val="100000"/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tr-TR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14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enum</a:t>
            </a:r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3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Deyimi </a:t>
            </a:r>
            <a:r>
              <a:rPr lang="tr-TR" sz="18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  <a:endParaRPr lang="tr-TR" sz="18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4 İçerik Yer Tutucusu"/>
          <p:cNvSpPr>
            <a:spLocks noGrp="1"/>
          </p:cNvSpPr>
          <p:nvPr>
            <p:ph idx="1"/>
          </p:nvPr>
        </p:nvSpPr>
        <p:spPr>
          <a:xfrm>
            <a:off x="612648" y="1628800"/>
            <a:ext cx="3887344" cy="4536504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 </a:t>
            </a:r>
          </a:p>
          <a:p>
            <a:pPr marL="320040" lvl="1" indent="0">
              <a:buSzPct val="100000"/>
              <a:buNone/>
            </a:pPr>
            <a:r>
              <a:rPr lang="tr-TR" sz="2100" b="1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21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eB</a:t>
            </a:r>
            <a:r>
              <a:rPr lang="tr-TR" sz="2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olumler</a:t>
            </a:r>
            <a:r>
              <a:rPr lang="tr-TR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marL="320040" lvl="1" indent="0">
              <a:buSzPct val="100000"/>
              <a:buNone/>
            </a:pPr>
            <a:r>
              <a:rPr lang="tr-TR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1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0040" lvl="1" indent="0">
              <a:buSzPct val="100000"/>
              <a:buNone/>
            </a:pPr>
            <a:r>
              <a:rPr lang="en-US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tr-TR" sz="2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programcilik</a:t>
            </a:r>
            <a:r>
              <a:rPr lang="tr-TR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21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0040" lvl="1" indent="0">
              <a:buSzPct val="100000"/>
              <a:buNone/>
            </a:pPr>
            <a:r>
              <a:rPr lang="en-US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tr-TR" sz="2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donanim</a:t>
            </a:r>
            <a:r>
              <a:rPr lang="tr-TR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21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0040" lvl="1" indent="0">
              <a:buSzPct val="100000"/>
              <a:buNone/>
            </a:pPr>
            <a:r>
              <a:rPr lang="en-US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tr-TR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muhasebe</a:t>
            </a:r>
            <a:r>
              <a:rPr lang="tr-TR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21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0040" lvl="1" indent="0">
              <a:buSzPct val="100000"/>
              <a:buNone/>
            </a:pPr>
            <a:r>
              <a:rPr lang="en-US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m</a:t>
            </a:r>
            <a:r>
              <a:rPr lang="tr-TR" sz="2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otor</a:t>
            </a:r>
            <a:endParaRPr lang="en-US" sz="21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0040" lvl="1" indent="0">
              <a:buSzPct val="100000"/>
              <a:buNone/>
            </a:pPr>
            <a:r>
              <a:rPr lang="tr-TR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tr-TR" sz="2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None/>
            </a:pPr>
            <a:endParaRPr lang="tr-TR" sz="2600" dirty="0" smtClean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320040" lvl="1" indent="0" algn="just">
              <a:buSzPct val="100000"/>
              <a:buNone/>
            </a:pPr>
            <a:endParaRPr lang="tr-TR" sz="2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8</a:t>
            </a:fld>
            <a:endParaRPr lang="tr-TR"/>
          </a:p>
        </p:txBody>
      </p:sp>
      <p:sp>
        <p:nvSpPr>
          <p:cNvPr id="3" name="Dikdörtgen 2"/>
          <p:cNvSpPr/>
          <p:nvPr/>
        </p:nvSpPr>
        <p:spPr>
          <a:xfrm>
            <a:off x="4644008" y="1988839"/>
            <a:ext cx="3995936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SzPct val="100000"/>
            </a:pP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Tanımı ile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alınan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değerler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tr-TR" sz="26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SzPct val="100000"/>
            </a:pPr>
            <a:endParaRPr lang="en-US" sz="2300" b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SzPct val="100000"/>
            </a:pPr>
            <a:r>
              <a:rPr lang="tr-TR" sz="2300" b="1" dirty="0" err="1" smtClean="0">
                <a:latin typeface="Times New Roman" pitchFamily="18" charset="0"/>
                <a:cs typeface="Times New Roman" pitchFamily="18" charset="0"/>
              </a:rPr>
              <a:t>programcilik</a:t>
            </a:r>
            <a:r>
              <a:rPr lang="tr-TR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300" dirty="0">
                <a:latin typeface="Times New Roman" pitchFamily="18" charset="0"/>
                <a:cs typeface="Times New Roman" pitchFamily="18" charset="0"/>
              </a:rPr>
              <a:t>için </a:t>
            </a:r>
            <a:r>
              <a:rPr lang="tr-TR" sz="2300" b="1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tr-TR" sz="2300" dirty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 lvl="1" algn="just">
              <a:buSzPct val="100000"/>
            </a:pPr>
            <a:r>
              <a:rPr lang="tr-TR" sz="2300" b="1" dirty="0" err="1">
                <a:latin typeface="Times New Roman" pitchFamily="18" charset="0"/>
                <a:cs typeface="Times New Roman" pitchFamily="18" charset="0"/>
              </a:rPr>
              <a:t>donanim</a:t>
            </a:r>
            <a:r>
              <a:rPr lang="tr-TR" sz="2300" dirty="0">
                <a:latin typeface="Times New Roman" pitchFamily="18" charset="0"/>
                <a:cs typeface="Times New Roman" pitchFamily="18" charset="0"/>
              </a:rPr>
              <a:t> için </a:t>
            </a:r>
            <a:r>
              <a:rPr lang="tr-TR" sz="23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tr-TR" sz="2300" dirty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 lvl="1" algn="just">
              <a:buSzPct val="100000"/>
            </a:pPr>
            <a:r>
              <a:rPr lang="tr-TR" sz="2300" b="1" dirty="0">
                <a:latin typeface="Times New Roman" pitchFamily="18" charset="0"/>
                <a:cs typeface="Times New Roman" pitchFamily="18" charset="0"/>
              </a:rPr>
              <a:t>muhasebe</a:t>
            </a:r>
            <a:r>
              <a:rPr lang="tr-TR" sz="2300" dirty="0">
                <a:latin typeface="Times New Roman" pitchFamily="18" charset="0"/>
                <a:cs typeface="Times New Roman" pitchFamily="18" charset="0"/>
              </a:rPr>
              <a:t> için </a:t>
            </a:r>
            <a:r>
              <a:rPr lang="tr-TR" sz="2300" b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tr-TR" sz="2300" dirty="0">
                <a:latin typeface="Times New Roman" pitchFamily="18" charset="0"/>
                <a:cs typeface="Times New Roman" pitchFamily="18" charset="0"/>
              </a:rPr>
              <a:t> ve </a:t>
            </a:r>
          </a:p>
          <a:p>
            <a:pPr lvl="1" algn="just">
              <a:buSzPct val="100000"/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motor</a:t>
            </a:r>
            <a:r>
              <a:rPr lang="tr-TR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300" dirty="0">
                <a:latin typeface="Times New Roman" pitchFamily="18" charset="0"/>
                <a:cs typeface="Times New Roman" pitchFamily="18" charset="0"/>
              </a:rPr>
              <a:t>için </a:t>
            </a:r>
            <a:r>
              <a:rPr lang="tr-TR" sz="2300" b="1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tr-TR" sz="2300" dirty="0">
                <a:latin typeface="Times New Roman" pitchFamily="18" charset="0"/>
                <a:cs typeface="Times New Roman" pitchFamily="18" charset="0"/>
              </a:rPr>
              <a:t> değerini </a:t>
            </a:r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SzPct val="100000"/>
            </a:pPr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ağ Ok 3"/>
          <p:cNvSpPr/>
          <p:nvPr/>
        </p:nvSpPr>
        <p:spPr>
          <a:xfrm>
            <a:off x="3635896" y="3140968"/>
            <a:ext cx="1152128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Dikdörtgen 6"/>
          <p:cNvSpPr/>
          <p:nvPr/>
        </p:nvSpPr>
        <p:spPr>
          <a:xfrm>
            <a:off x="1763688" y="5085184"/>
            <a:ext cx="53047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buSzPct val="100000"/>
            </a:pPr>
            <a:r>
              <a:rPr lang="en-US" u="sng" dirty="0" err="1" smtClean="0">
                <a:latin typeface="Times New Roman" pitchFamily="18" charset="0"/>
                <a:cs typeface="Times New Roman" pitchFamily="18" charset="0"/>
              </a:rPr>
              <a:t>Değerler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tr-TR" u="sng" dirty="0" smtClean="0">
                <a:latin typeface="Times New Roman" pitchFamily="18" charset="0"/>
                <a:cs typeface="Times New Roman" pitchFamily="18" charset="0"/>
              </a:rPr>
              <a:t>aksi </a:t>
            </a:r>
            <a:r>
              <a:rPr lang="tr-TR" u="sng" dirty="0">
                <a:latin typeface="Times New Roman" pitchFamily="18" charset="0"/>
                <a:cs typeface="Times New Roman" pitchFamily="18" charset="0"/>
              </a:rPr>
              <a:t>belirtilmedikçe</a:t>
            </a:r>
            <a:r>
              <a:rPr lang="tr-TR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tr-TR" dirty="0">
                <a:latin typeface="Times New Roman" pitchFamily="18" charset="0"/>
                <a:cs typeface="Times New Roman" pitchFamily="18" charset="0"/>
              </a:rPr>
              <a:t> ile başlar ve </a:t>
            </a:r>
            <a:r>
              <a:rPr lang="tr-TR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tr-TR" dirty="0">
                <a:latin typeface="Times New Roman" pitchFamily="18" charset="0"/>
                <a:cs typeface="Times New Roman" pitchFamily="18" charset="0"/>
              </a:rPr>
              <a:t> arttırılır. </a:t>
            </a:r>
          </a:p>
        </p:txBody>
      </p:sp>
    </p:spTree>
    <p:extLst>
      <p:ext uri="{BB962C8B-B14F-4D97-AF65-F5344CB8AC3E}">
        <p14:creationId xmlns:p14="http://schemas.microsoft.com/office/powerpoint/2010/main" val="2012004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enum</a:t>
            </a:r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3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Deyimi </a:t>
            </a:r>
            <a:r>
              <a:rPr lang="tr-TR" sz="18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  <a:endParaRPr lang="tr-TR" sz="18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4 İçerik Yer Tutucusu"/>
          <p:cNvSpPr>
            <a:spLocks noGrp="1"/>
          </p:cNvSpPr>
          <p:nvPr>
            <p:ph idx="1"/>
          </p:nvPr>
        </p:nvSpPr>
        <p:spPr>
          <a:xfrm>
            <a:off x="612648" y="1628800"/>
            <a:ext cx="4967464" cy="4824536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 </a:t>
            </a:r>
          </a:p>
          <a:p>
            <a:pPr marL="320040" lvl="1" indent="0">
              <a:buSzPct val="100000"/>
              <a:buNone/>
            </a:pPr>
            <a:r>
              <a:rPr lang="tr-TR" sz="1400" b="1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14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eB</a:t>
            </a:r>
            <a:r>
              <a:rPr lang="tr-TR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olumler</a:t>
            </a:r>
            <a:r>
              <a:rPr lang="tr-TR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marL="320040" lvl="1" indent="0">
              <a:buSzPct val="100000"/>
              <a:buNone/>
            </a:pPr>
            <a:r>
              <a:rPr lang="tr-TR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0040" lvl="1" indent="0">
              <a:buSzPct val="100000"/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tr-TR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programcilik</a:t>
            </a:r>
            <a:r>
              <a:rPr 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0040" lvl="1" indent="0">
              <a:buSzPct val="100000"/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tr-TR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donanim</a:t>
            </a:r>
            <a:r>
              <a:rPr 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0040" lvl="1" indent="0">
              <a:buSzPct val="100000"/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tr-TR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muhasebe</a:t>
            </a:r>
            <a:r>
              <a:rPr 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0040" lvl="1" indent="0">
              <a:buSzPct val="100000"/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m</a:t>
            </a:r>
            <a:r>
              <a:rPr lang="tr-TR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otor</a:t>
            </a: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0040" lvl="1" indent="0">
              <a:buSzPct val="100000"/>
              <a:buNone/>
            </a:pPr>
            <a:r>
              <a:rPr lang="tr-TR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0040" lvl="1" indent="0">
              <a:buSzPct val="100000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0040" lvl="1" indent="0">
              <a:buSzPct val="100000"/>
              <a:buNone/>
            </a:pPr>
            <a:r>
              <a:rPr lang="en-US" sz="14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main ()</a:t>
            </a:r>
          </a:p>
          <a:p>
            <a:pPr marL="320040" lvl="1" indent="0">
              <a:buSzPct val="100000"/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320040" lvl="1" indent="0">
              <a:buSzPct val="100000"/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800" b="1" dirty="0" err="1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18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</a:t>
            </a:r>
            <a:r>
              <a:rPr lang="tr-T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olumler</a:t>
            </a:r>
            <a:r>
              <a:rPr lang="tr-T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bolum_degiskeni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20040" lvl="1" indent="0">
              <a:buSzPct val="1000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bolum_degiskeni2;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0040" lvl="1" indent="0">
              <a:buSzPct val="100000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0040" lvl="1" indent="0">
              <a:buSzPct val="100000"/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tr-T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None/>
            </a:pPr>
            <a:endParaRPr lang="tr-TR" sz="2600" dirty="0" smtClean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320040" lvl="1" indent="0" algn="just">
              <a:buSzPct val="100000"/>
              <a:buNone/>
            </a:pPr>
            <a:endParaRPr lang="tr-TR" sz="2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9</a:t>
            </a:fld>
            <a:endParaRPr lang="tr-TR"/>
          </a:p>
        </p:txBody>
      </p:sp>
      <p:sp>
        <p:nvSpPr>
          <p:cNvPr id="7" name="TextBox 9"/>
          <p:cNvSpPr txBox="1"/>
          <p:nvPr/>
        </p:nvSpPr>
        <p:spPr>
          <a:xfrm>
            <a:off x="3347864" y="2060848"/>
            <a:ext cx="5616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 oluştur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tr-TR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lım</a:t>
            </a:r>
            <a:r>
              <a:rPr lang="tr-TR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 örneği uygulayalım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tr-TR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36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10</a:t>
            </a:fld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556792"/>
            <a:ext cx="6516456" cy="3821013"/>
          </a:xfrm>
          <a:prstGeom prst="rect">
            <a:avLst/>
          </a:prstGeom>
        </p:spPr>
      </p:pic>
      <p:sp>
        <p:nvSpPr>
          <p:cNvPr id="7" name="Metin kutusu 6"/>
          <p:cNvSpPr txBox="1"/>
          <p:nvPr/>
        </p:nvSpPr>
        <p:spPr>
          <a:xfrm>
            <a:off x="4404624" y="2060848"/>
            <a:ext cx="1944216" cy="646331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r-TR" dirty="0" smtClean="0"/>
              <a:t>Kullanıcı tanımlı veri türü</a:t>
            </a:r>
            <a:endParaRPr lang="tr-TR" dirty="0"/>
          </a:p>
        </p:txBody>
      </p:sp>
      <p:sp>
        <p:nvSpPr>
          <p:cNvPr id="10" name="Metin kutusu 9"/>
          <p:cNvSpPr txBox="1"/>
          <p:nvPr/>
        </p:nvSpPr>
        <p:spPr>
          <a:xfrm>
            <a:off x="4644008" y="4581128"/>
            <a:ext cx="1944216" cy="646331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tr-TR"/>
            </a:defPPr>
          </a:lstStyle>
          <a:p>
            <a:r>
              <a:rPr lang="tr-TR" dirty="0" err="1"/>
              <a:t>week</a:t>
            </a:r>
            <a:r>
              <a:rPr lang="tr-TR" dirty="0"/>
              <a:t> için değerler</a:t>
            </a:r>
          </a:p>
        </p:txBody>
      </p:sp>
    </p:spTree>
    <p:extLst>
      <p:ext uri="{BB962C8B-B14F-4D97-AF65-F5344CB8AC3E}">
        <p14:creationId xmlns:p14="http://schemas.microsoft.com/office/powerpoint/2010/main" val="182079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/>
          </a:bodyPr>
          <a:lstStyle/>
          <a:p>
            <a:r>
              <a:rPr lang="tr-TR" sz="36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</a:t>
            </a:r>
            <a:r>
              <a:rPr lang="tr-TR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Basit </a:t>
            </a:r>
            <a:r>
              <a:rPr lang="tr-TR" sz="36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enum</a:t>
            </a:r>
            <a:r>
              <a:rPr lang="tr-TR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Kullanımı</a:t>
            </a:r>
            <a:endParaRPr lang="tr-T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11</a:t>
            </a:fld>
            <a:endParaRPr lang="tr-TR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3431630"/>
            <a:ext cx="1896147" cy="52670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628800"/>
            <a:ext cx="4398640" cy="461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87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/>
          </a:bodyPr>
          <a:lstStyle/>
          <a:p>
            <a:r>
              <a:rPr lang="tr-TR" sz="36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Alıştırma:</a:t>
            </a:r>
            <a:r>
              <a:rPr lang="tr-TR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36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tr-TR" sz="36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tr-TR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Oluşturma</a:t>
            </a:r>
            <a:endParaRPr lang="tr-T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4 İçerik Yer Tutucusu"/>
          <p:cNvSpPr>
            <a:spLocks noGrp="1"/>
          </p:cNvSpPr>
          <p:nvPr>
            <p:ph idx="1"/>
          </p:nvPr>
        </p:nvSpPr>
        <p:spPr>
          <a:xfrm>
            <a:off x="612648" y="1628800"/>
            <a:ext cx="7775776" cy="4536504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dirty="0" smtClean="0">
                <a:latin typeface="Times New Roman" pitchFamily="18" charset="0"/>
                <a:cs typeface="Times New Roman" pitchFamily="18" charset="0"/>
              </a:rPr>
              <a:t>Aşağıdaki bilgiler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tr-TR" sz="2600" dirty="0" smtClean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tr-TR" sz="2600" b="1" dirty="0" err="1" smtClean="0">
                <a:latin typeface="Times New Roman" pitchFamily="18" charset="0"/>
                <a:cs typeface="Times New Roman" pitchFamily="18" charset="0"/>
              </a:rPr>
              <a:t>enum</a:t>
            </a:r>
            <a:r>
              <a:rPr lang="tr-TR" sz="2600" dirty="0" smtClean="0">
                <a:latin typeface="Times New Roman" pitchFamily="18" charset="0"/>
                <a:cs typeface="Times New Roman" pitchFamily="18" charset="0"/>
              </a:rPr>
              <a:t> tiplerini oluşturunuz: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500" b="1" dirty="0">
                <a:latin typeface="Times New Roman" pitchFamily="18" charset="0"/>
                <a:cs typeface="Times New Roman" pitchFamily="18" charset="0"/>
              </a:rPr>
              <a:t>Cinsiyet:</a:t>
            </a: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 Kadın, Erkek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500" b="1" dirty="0" err="1">
                <a:latin typeface="Times New Roman" pitchFamily="18" charset="0"/>
                <a:cs typeface="Times New Roman" pitchFamily="18" charset="0"/>
              </a:rPr>
              <a:t>Calisma_Durumu</a:t>
            </a:r>
            <a:r>
              <a:rPr lang="tr-TR" sz="25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 İssiz, </a:t>
            </a:r>
            <a:r>
              <a:rPr lang="tr-TR" sz="2500" dirty="0" err="1">
                <a:latin typeface="Times New Roman" pitchFamily="18" charset="0"/>
                <a:cs typeface="Times New Roman" pitchFamily="18" charset="0"/>
              </a:rPr>
              <a:t>Calisan</a:t>
            </a: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tr-TR" sz="2500" dirty="0" err="1">
                <a:latin typeface="Times New Roman" pitchFamily="18" charset="0"/>
                <a:cs typeface="Times New Roman" pitchFamily="18" charset="0"/>
              </a:rPr>
              <a:t>Ögrenci</a:t>
            </a: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, Emekli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500" b="1" dirty="0" err="1">
                <a:latin typeface="Times New Roman" pitchFamily="18" charset="0"/>
                <a:cs typeface="Times New Roman" pitchFamily="18" charset="0"/>
              </a:rPr>
              <a:t>Evlilik_Durumu</a:t>
            </a:r>
            <a:r>
              <a:rPr lang="tr-TR" sz="25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 Evli, Bekar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500" b="1" dirty="0" err="1">
                <a:latin typeface="Times New Roman" pitchFamily="18" charset="0"/>
                <a:cs typeface="Times New Roman" pitchFamily="18" charset="0"/>
              </a:rPr>
              <a:t>Egitim_Durumu</a:t>
            </a:r>
            <a:r>
              <a:rPr lang="tr-TR" sz="25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 İlkokul, Lise, </a:t>
            </a:r>
            <a:r>
              <a:rPr lang="tr-TR" sz="2500" dirty="0" err="1">
                <a:latin typeface="Times New Roman" pitchFamily="18" charset="0"/>
                <a:cs typeface="Times New Roman" pitchFamily="18" charset="0"/>
              </a:rPr>
              <a:t>OnLisans</a:t>
            </a: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, Lisans, </a:t>
            </a:r>
            <a:r>
              <a:rPr lang="tr-TR" sz="2500" dirty="0" err="1">
                <a:latin typeface="Times New Roman" pitchFamily="18" charset="0"/>
                <a:cs typeface="Times New Roman" pitchFamily="18" charset="0"/>
              </a:rPr>
              <a:t>LisansUstu</a:t>
            </a:r>
            <a:endParaRPr lang="tr-TR" sz="25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endParaRPr lang="tr-TR" sz="2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8584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424088"/>
          </a:xfrm>
        </p:spPr>
        <p:txBody>
          <a:bodyPr>
            <a:normAutofit fontScale="90000"/>
          </a:bodyPr>
          <a:lstStyle/>
          <a:p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5800" y="1124744"/>
            <a:ext cx="7772400" cy="5047456"/>
          </a:xfrm>
        </p:spPr>
        <p:txBody>
          <a:bodyPr>
            <a:normAutofit lnSpcReduction="10000"/>
          </a:bodyPr>
          <a:lstStyle/>
          <a:p>
            <a:r>
              <a:rPr lang="tr-TR" i="1" dirty="0" err="1"/>
              <a:t>enum</a:t>
            </a:r>
            <a:r>
              <a:rPr lang="tr-TR" i="1" dirty="0"/>
              <a:t> </a:t>
            </a:r>
            <a:r>
              <a:rPr lang="tr-TR" dirty="0"/>
              <a:t>bir anahtar sözcüktür. Derleyici küme ayraçları arasında isimlendirilmiş</a:t>
            </a:r>
          </a:p>
          <a:p>
            <a:r>
              <a:rPr lang="tr-TR" dirty="0"/>
              <a:t>değişmezleri </a:t>
            </a:r>
            <a:r>
              <a:rPr lang="tr-TR" i="1" dirty="0"/>
              <a:t>0 </a:t>
            </a:r>
            <a:r>
              <a:rPr lang="tr-TR" dirty="0"/>
              <a:t>değerinden başlayarak artan tamsayı değerleriyle eşler. Örnek :</a:t>
            </a:r>
          </a:p>
          <a:p>
            <a:r>
              <a:rPr lang="tr-TR" b="1" dirty="0" err="1"/>
              <a:t>enum</a:t>
            </a:r>
            <a:r>
              <a:rPr lang="tr-TR" b="1" dirty="0"/>
              <a:t> Renk {Sinek, Karo, Kupa, </a:t>
            </a:r>
            <a:r>
              <a:rPr lang="tr-TR" b="1" dirty="0" err="1"/>
              <a:t>Maca</a:t>
            </a:r>
            <a:r>
              <a:rPr lang="tr-TR" b="1" dirty="0"/>
              <a:t>};</a:t>
            </a:r>
          </a:p>
          <a:p>
            <a:r>
              <a:rPr lang="tr-TR" dirty="0"/>
              <a:t>Yukarıdaki bildirimle </a:t>
            </a:r>
            <a:r>
              <a:rPr lang="tr-TR" i="1" dirty="0"/>
              <a:t>Sinek </a:t>
            </a:r>
            <a:r>
              <a:rPr lang="tr-TR" dirty="0"/>
              <a:t>değişmezi </a:t>
            </a:r>
            <a:r>
              <a:rPr lang="tr-TR" i="1" dirty="0"/>
              <a:t>0</a:t>
            </a:r>
            <a:r>
              <a:rPr lang="tr-TR" dirty="0"/>
              <a:t>, </a:t>
            </a:r>
            <a:r>
              <a:rPr lang="tr-TR" i="1" dirty="0"/>
              <a:t>Karo </a:t>
            </a:r>
            <a:r>
              <a:rPr lang="tr-TR" dirty="0"/>
              <a:t>değişmezi </a:t>
            </a:r>
            <a:r>
              <a:rPr lang="tr-TR" i="1" dirty="0"/>
              <a:t>1</a:t>
            </a:r>
            <a:r>
              <a:rPr lang="tr-TR" dirty="0"/>
              <a:t>, </a:t>
            </a:r>
            <a:r>
              <a:rPr lang="tr-TR" i="1" dirty="0"/>
              <a:t>Kupa </a:t>
            </a:r>
            <a:r>
              <a:rPr lang="tr-TR" dirty="0"/>
              <a:t>değişmezi </a:t>
            </a:r>
            <a:r>
              <a:rPr lang="tr-TR" i="1" dirty="0"/>
              <a:t>2</a:t>
            </a:r>
            <a:r>
              <a:rPr lang="tr-TR" dirty="0"/>
              <a:t>, </a:t>
            </a:r>
            <a:r>
              <a:rPr lang="tr-TR" i="1" dirty="0" err="1" smtClean="0"/>
              <a:t>Maca</a:t>
            </a:r>
            <a:r>
              <a:rPr lang="tr-TR" i="1" dirty="0"/>
              <a:t> </a:t>
            </a:r>
            <a:r>
              <a:rPr lang="tr-TR" dirty="0" smtClean="0"/>
              <a:t>değişmezi </a:t>
            </a:r>
            <a:r>
              <a:rPr lang="tr-TR" dirty="0"/>
              <a:t>ise </a:t>
            </a:r>
            <a:r>
              <a:rPr lang="tr-TR" i="1" dirty="0"/>
              <a:t>3 </a:t>
            </a:r>
            <a:r>
              <a:rPr lang="tr-TR" dirty="0"/>
              <a:t>değerini alır.</a:t>
            </a:r>
          </a:p>
          <a:p>
            <a:r>
              <a:rPr lang="tr-TR" b="1" dirty="0" err="1"/>
              <a:t>enum</a:t>
            </a:r>
            <a:r>
              <a:rPr lang="tr-TR" b="1" dirty="0"/>
              <a:t> </a:t>
            </a:r>
            <a:r>
              <a:rPr lang="tr-TR" b="1" dirty="0" err="1"/>
              <a:t>Bool</a:t>
            </a:r>
            <a:r>
              <a:rPr lang="tr-TR" b="1" dirty="0"/>
              <a:t> {TRUE, FALSE};</a:t>
            </a:r>
          </a:p>
          <a:p>
            <a:r>
              <a:rPr lang="tr-TR" dirty="0"/>
              <a:t>burada </a:t>
            </a:r>
            <a:r>
              <a:rPr lang="tr-TR" i="1" dirty="0"/>
              <a:t>TRUE </a:t>
            </a:r>
            <a:r>
              <a:rPr lang="tr-TR" dirty="0"/>
              <a:t>değişmezi </a:t>
            </a:r>
            <a:r>
              <a:rPr lang="tr-TR" i="1" dirty="0"/>
              <a:t>0 FALSE </a:t>
            </a:r>
            <a:r>
              <a:rPr lang="tr-TR" dirty="0"/>
              <a:t>değişmezi ise </a:t>
            </a:r>
            <a:r>
              <a:rPr lang="tr-TR" i="1" dirty="0"/>
              <a:t>1 </a:t>
            </a:r>
            <a:r>
              <a:rPr lang="tr-TR" dirty="0"/>
              <a:t>değerini alır.</a:t>
            </a:r>
          </a:p>
          <a:p>
            <a:r>
              <a:rPr lang="en-US" b="1" dirty="0" err="1"/>
              <a:t>enum</a:t>
            </a:r>
            <a:r>
              <a:rPr lang="en-US" b="1" dirty="0"/>
              <a:t> Months {January, February, March, April, May, June, July, </a:t>
            </a:r>
            <a:r>
              <a:rPr lang="en-US" b="1" dirty="0" smtClean="0"/>
              <a:t>August,</a:t>
            </a:r>
            <a:r>
              <a:rPr lang="tr-TR" b="1" dirty="0" smtClean="0"/>
              <a:t> </a:t>
            </a:r>
            <a:r>
              <a:rPr lang="tr-TR" b="1" dirty="0" err="1" smtClean="0"/>
              <a:t>September</a:t>
            </a:r>
            <a:r>
              <a:rPr lang="tr-TR" b="1" dirty="0"/>
              <a:t>, </a:t>
            </a:r>
            <a:r>
              <a:rPr lang="tr-TR" b="1" dirty="0" err="1" smtClean="0"/>
              <a:t>October</a:t>
            </a:r>
            <a:r>
              <a:rPr lang="tr-TR" b="1" dirty="0"/>
              <a:t>, </a:t>
            </a:r>
            <a:r>
              <a:rPr lang="tr-TR" b="1" dirty="0" err="1"/>
              <a:t>November</a:t>
            </a:r>
            <a:r>
              <a:rPr lang="tr-TR" b="1" dirty="0"/>
              <a:t>, </a:t>
            </a:r>
            <a:r>
              <a:rPr lang="tr-TR" b="1" dirty="0" err="1"/>
              <a:t>December</a:t>
            </a:r>
            <a:r>
              <a:rPr lang="tr-TR" b="1" dirty="0" smtClean="0"/>
              <a:t>};</a:t>
            </a:r>
          </a:p>
          <a:p>
            <a:r>
              <a:rPr lang="tr-TR" dirty="0"/>
              <a:t>Bu bildirim ile numaralandırma değişmezlerine</a:t>
            </a:r>
          </a:p>
          <a:p>
            <a:r>
              <a:rPr lang="tr-TR" i="1" dirty="0" err="1"/>
              <a:t>January</a:t>
            </a:r>
            <a:r>
              <a:rPr lang="tr-TR" i="1" dirty="0"/>
              <a:t> = 0</a:t>
            </a:r>
            <a:r>
              <a:rPr lang="tr-TR" dirty="0"/>
              <a:t>, </a:t>
            </a:r>
            <a:r>
              <a:rPr lang="tr-TR" dirty="0" err="1"/>
              <a:t>February</a:t>
            </a:r>
            <a:r>
              <a:rPr lang="tr-TR" dirty="0"/>
              <a:t> = 1, ... </a:t>
            </a:r>
            <a:r>
              <a:rPr lang="tr-TR" i="1" dirty="0" err="1"/>
              <a:t>December</a:t>
            </a:r>
            <a:r>
              <a:rPr lang="tr-TR" i="1" dirty="0"/>
              <a:t> = 11 </a:t>
            </a:r>
            <a:r>
              <a:rPr lang="tr-TR" dirty="0"/>
              <a:t>biçiminde artan değerler verilir.</a:t>
            </a:r>
            <a:endParaRPr lang="tr-TR" b="1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2714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Numaralandırma değişmezlerine atama işleci ile küme ayraçları içinde değerler </a:t>
            </a:r>
            <a:r>
              <a:rPr lang="tr-TR" dirty="0" err="1" smtClean="0"/>
              <a:t>verilebilir,bu</a:t>
            </a:r>
            <a:r>
              <a:rPr lang="tr-TR" dirty="0" smtClean="0"/>
              <a:t> </a:t>
            </a:r>
            <a:r>
              <a:rPr lang="tr-TR" dirty="0"/>
              <a:t>biçimde değer verilmiş bir numaralandırma değişmezinden sonraki değişmezin </a:t>
            </a:r>
            <a:r>
              <a:rPr lang="tr-TR" dirty="0" err="1" smtClean="0"/>
              <a:t>değeriönceki</a:t>
            </a:r>
            <a:r>
              <a:rPr lang="tr-TR" dirty="0" smtClean="0"/>
              <a:t> </a:t>
            </a:r>
            <a:r>
              <a:rPr lang="tr-TR" dirty="0"/>
              <a:t>değerden bir fazlasıdır.</a:t>
            </a:r>
          </a:p>
          <a:p>
            <a:r>
              <a:rPr lang="en-US" b="1" dirty="0" err="1"/>
              <a:t>enum</a:t>
            </a:r>
            <a:r>
              <a:rPr lang="en-US" b="1" dirty="0"/>
              <a:t> Months {January = 1, February, March, April, May, June, </a:t>
            </a:r>
            <a:r>
              <a:rPr lang="en-US" b="1" dirty="0" smtClean="0"/>
              <a:t>July,</a:t>
            </a:r>
            <a:r>
              <a:rPr lang="tr-TR" b="1" dirty="0" err="1" smtClean="0"/>
              <a:t>August,September</a:t>
            </a:r>
            <a:r>
              <a:rPr lang="tr-TR" b="1" dirty="0"/>
              <a:t>, </a:t>
            </a:r>
            <a:r>
              <a:rPr lang="tr-TR" b="1" dirty="0" err="1"/>
              <a:t>Oktober</a:t>
            </a:r>
            <a:r>
              <a:rPr lang="tr-TR" b="1" dirty="0"/>
              <a:t>, </a:t>
            </a:r>
            <a:r>
              <a:rPr lang="tr-TR" b="1" dirty="0" err="1"/>
              <a:t>November</a:t>
            </a:r>
            <a:r>
              <a:rPr lang="tr-TR" b="1" dirty="0"/>
              <a:t>, </a:t>
            </a:r>
            <a:r>
              <a:rPr lang="tr-TR" b="1" dirty="0" err="1"/>
              <a:t>December</a:t>
            </a:r>
            <a:r>
              <a:rPr lang="tr-TR" b="1" dirty="0"/>
              <a:t>};</a:t>
            </a:r>
          </a:p>
          <a:p>
            <a:r>
              <a:rPr lang="tr-TR" dirty="0"/>
              <a:t>Bu bildirim ile numaralandırma değişmezlerine </a:t>
            </a:r>
            <a:r>
              <a:rPr lang="tr-TR" i="1" dirty="0" err="1"/>
              <a:t>January</a:t>
            </a:r>
            <a:r>
              <a:rPr lang="tr-TR" i="1" dirty="0"/>
              <a:t> = 1</a:t>
            </a:r>
            <a:r>
              <a:rPr lang="tr-TR" dirty="0"/>
              <a:t>, </a:t>
            </a:r>
            <a:r>
              <a:rPr lang="tr-TR" i="1" dirty="0" err="1"/>
              <a:t>February</a:t>
            </a:r>
            <a:r>
              <a:rPr lang="tr-TR" i="1" dirty="0"/>
              <a:t> = 2</a:t>
            </a:r>
            <a:r>
              <a:rPr lang="tr-TR" dirty="0"/>
              <a:t>, ... </a:t>
            </a:r>
            <a:r>
              <a:rPr lang="tr-TR" i="1" dirty="0" err="1" smtClean="0"/>
              <a:t>December</a:t>
            </a:r>
            <a:r>
              <a:rPr lang="tr-TR" i="1" dirty="0" smtClean="0"/>
              <a:t>= </a:t>
            </a:r>
            <a:r>
              <a:rPr lang="tr-TR" i="1" dirty="0"/>
              <a:t>12 </a:t>
            </a:r>
            <a:r>
              <a:rPr lang="tr-TR" dirty="0"/>
              <a:t>biçiminde artan değerler verilmiş olur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dirty="0" smtClean="0"/>
              <a:t>Bildirilen </a:t>
            </a:r>
            <a:r>
              <a:rPr lang="tr-TR" dirty="0"/>
              <a:t>bir numaralandırma türünden nesne tanımlamak da zorunlu değildir:</a:t>
            </a:r>
          </a:p>
          <a:p>
            <a:r>
              <a:rPr lang="en-US" b="1" dirty="0" err="1"/>
              <a:t>enum</a:t>
            </a:r>
            <a:r>
              <a:rPr lang="en-US" b="1" dirty="0"/>
              <a:t> {LOW = 10, HIGH = 20};</a:t>
            </a:r>
          </a:p>
          <a:p>
            <a:r>
              <a:rPr lang="tr-TR" dirty="0"/>
              <a:t>Yukarıdaki bildirim geçerlidir. Bildirilen türün bir ismi yoktur ama bu bildirimin görülür</a:t>
            </a:r>
          </a:p>
          <a:p>
            <a:r>
              <a:rPr lang="tr-TR" dirty="0"/>
              <a:t>olduğu her yerde </a:t>
            </a:r>
            <a:r>
              <a:rPr lang="tr-TR" i="1" dirty="0"/>
              <a:t>LOW </a:t>
            </a:r>
            <a:r>
              <a:rPr lang="tr-TR" dirty="0"/>
              <a:t>ve </a:t>
            </a:r>
            <a:r>
              <a:rPr lang="tr-TR" i="1" dirty="0"/>
              <a:t>HIGH </a:t>
            </a:r>
            <a:r>
              <a:rPr lang="tr-TR" dirty="0"/>
              <a:t>numaralandırma değişmezleri kullanılabilir.</a:t>
            </a: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83749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pPr marL="0" indent="0">
              <a:buNone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stdlib.h</a:t>
            </a:r>
            <a:r>
              <a:rPr lang="tr-TR" dirty="0"/>
              <a:t>&gt;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  </a:t>
            </a:r>
          </a:p>
          <a:p>
            <a:pPr marL="0" indent="0">
              <a:buNone/>
            </a:pPr>
            <a:r>
              <a:rPr lang="tr-TR" dirty="0" err="1"/>
              <a:t>enum</a:t>
            </a:r>
            <a:r>
              <a:rPr lang="tr-TR" dirty="0"/>
              <a:t> </a:t>
            </a:r>
            <a:r>
              <a:rPr lang="tr-TR" dirty="0" err="1"/>
              <a:t>Months</a:t>
            </a:r>
            <a:r>
              <a:rPr lang="tr-TR" dirty="0"/>
              <a:t> {</a:t>
            </a:r>
            <a:r>
              <a:rPr lang="tr-TR" dirty="0" err="1"/>
              <a:t>January</a:t>
            </a:r>
            <a:r>
              <a:rPr lang="tr-TR" dirty="0"/>
              <a:t> = 1, </a:t>
            </a:r>
            <a:r>
              <a:rPr lang="tr-TR" dirty="0" err="1"/>
              <a:t>February</a:t>
            </a:r>
            <a:r>
              <a:rPr lang="tr-TR" dirty="0"/>
              <a:t>, </a:t>
            </a:r>
            <a:r>
              <a:rPr lang="tr-TR" dirty="0" err="1"/>
              <a:t>March</a:t>
            </a:r>
            <a:r>
              <a:rPr lang="tr-TR" dirty="0"/>
              <a:t>, April, May, </a:t>
            </a:r>
          </a:p>
          <a:p>
            <a:pPr marL="0" indent="0">
              <a:buNone/>
            </a:pPr>
            <a:r>
              <a:rPr lang="tr-TR" dirty="0" err="1"/>
              <a:t>June</a:t>
            </a:r>
            <a:r>
              <a:rPr lang="tr-TR" dirty="0"/>
              <a:t>, </a:t>
            </a:r>
            <a:r>
              <a:rPr lang="tr-TR" dirty="0" err="1"/>
              <a:t>July,August,September</a:t>
            </a:r>
            <a:r>
              <a:rPr lang="tr-TR" dirty="0"/>
              <a:t>, </a:t>
            </a:r>
            <a:r>
              <a:rPr lang="tr-TR" dirty="0" err="1" smtClean="0"/>
              <a:t>October</a:t>
            </a:r>
            <a:r>
              <a:rPr lang="tr-TR" dirty="0"/>
              <a:t>, </a:t>
            </a:r>
            <a:r>
              <a:rPr lang="tr-TR" dirty="0" err="1"/>
              <a:t>November</a:t>
            </a:r>
            <a:r>
              <a:rPr lang="tr-TR" dirty="0"/>
              <a:t>, </a:t>
            </a:r>
            <a:r>
              <a:rPr lang="tr-TR" dirty="0" err="1"/>
              <a:t>December</a:t>
            </a:r>
            <a:r>
              <a:rPr lang="tr-TR" dirty="0"/>
              <a:t>};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  </a:t>
            </a:r>
          </a:p>
          <a:p>
            <a:pPr marL="0" indent="0">
              <a:buNone/>
            </a:pPr>
            <a:r>
              <a:rPr lang="tr-TR" dirty="0"/>
              <a:t>int main() </a:t>
            </a:r>
          </a:p>
          <a:p>
            <a:pPr marL="0" indent="0">
              <a:buNone/>
            </a:pPr>
            <a:r>
              <a:rPr lang="tr-TR" dirty="0"/>
              <a:t>{ </a:t>
            </a:r>
          </a:p>
          <a:p>
            <a:pPr marL="0" indent="0">
              <a:buNone/>
            </a:pPr>
            <a:r>
              <a:rPr lang="tr-TR" dirty="0"/>
              <a:t>   int i; </a:t>
            </a:r>
          </a:p>
          <a:p>
            <a:pPr marL="0" indent="0">
              <a:buNone/>
            </a:pPr>
            <a:r>
              <a:rPr lang="tr-TR" dirty="0"/>
              <a:t>   </a:t>
            </a:r>
            <a:r>
              <a:rPr lang="tr-TR" dirty="0" err="1"/>
              <a:t>for</a:t>
            </a:r>
            <a:r>
              <a:rPr lang="tr-TR" dirty="0"/>
              <a:t> (i=</a:t>
            </a:r>
            <a:r>
              <a:rPr lang="tr-TR" dirty="0" err="1"/>
              <a:t>January</a:t>
            </a:r>
            <a:r>
              <a:rPr lang="tr-TR" dirty="0"/>
              <a:t>; i&lt;=</a:t>
            </a:r>
            <a:r>
              <a:rPr lang="tr-TR" dirty="0" err="1"/>
              <a:t>December</a:t>
            </a:r>
            <a:r>
              <a:rPr lang="tr-TR" dirty="0"/>
              <a:t>; i++)       </a:t>
            </a:r>
          </a:p>
          <a:p>
            <a:pPr marL="0" indent="0">
              <a:buNone/>
            </a:pPr>
            <a:r>
              <a:rPr lang="tr-TR" dirty="0"/>
              <a:t>      </a:t>
            </a:r>
            <a:r>
              <a:rPr lang="tr-TR" dirty="0" err="1"/>
              <a:t>printf</a:t>
            </a:r>
            <a:r>
              <a:rPr lang="tr-TR" dirty="0"/>
              <a:t>("%d ", i); </a:t>
            </a:r>
          </a:p>
          <a:p>
            <a:pPr marL="0" indent="0">
              <a:buNone/>
            </a:pPr>
            <a:r>
              <a:rPr lang="tr-TR" dirty="0"/>
              <a:t>} </a:t>
            </a: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21893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Bildirimlerde numaralandırma ismi (</a:t>
            </a:r>
            <a:r>
              <a:rPr lang="tr-TR" i="1" dirty="0" err="1"/>
              <a:t>enumeration</a:t>
            </a:r>
            <a:r>
              <a:rPr lang="tr-TR" i="1" dirty="0"/>
              <a:t> </a:t>
            </a:r>
            <a:r>
              <a:rPr lang="tr-TR" i="1" dirty="0" err="1"/>
              <a:t>tag</a:t>
            </a:r>
            <a:r>
              <a:rPr lang="tr-TR" dirty="0"/>
              <a:t>) hiç belirtilmeyebilir. Bu </a:t>
            </a:r>
            <a:r>
              <a:rPr lang="tr-TR" dirty="0" err="1" smtClean="0"/>
              <a:t>durumdagenellikle</a:t>
            </a:r>
            <a:r>
              <a:rPr lang="tr-TR" dirty="0" smtClean="0"/>
              <a:t> </a:t>
            </a:r>
            <a:r>
              <a:rPr lang="tr-TR" dirty="0"/>
              <a:t>küme ayracının kapanmasından sonra o numaralandırma türünden nesne(</a:t>
            </a:r>
            <a:r>
              <a:rPr lang="tr-TR" dirty="0" err="1"/>
              <a:t>ler</a:t>
            </a:r>
            <a:r>
              <a:rPr lang="tr-TR" dirty="0"/>
              <a:t>)</a:t>
            </a:r>
          </a:p>
          <a:p>
            <a:r>
              <a:rPr lang="tr-TR" dirty="0"/>
              <a:t>tanımlanarak deyim sonlandırıcı atom ile bitirilir.</a:t>
            </a:r>
          </a:p>
          <a:p>
            <a:r>
              <a:rPr lang="en-US" b="1" dirty="0" err="1"/>
              <a:t>enum</a:t>
            </a:r>
            <a:r>
              <a:rPr lang="en-US" b="1" dirty="0"/>
              <a:t> {Sunday = 1, Monday, Tuesday, Wednesday, Thursday, </a:t>
            </a:r>
            <a:r>
              <a:rPr lang="en-US" b="1" dirty="0" smtClean="0"/>
              <a:t>Friday,</a:t>
            </a:r>
            <a:r>
              <a:rPr lang="tr-TR" b="1" dirty="0" err="1" smtClean="0"/>
              <a:t>Saturday</a:t>
            </a:r>
            <a:r>
              <a:rPr lang="tr-TR" b="1" dirty="0" smtClean="0"/>
              <a:t>}day1</a:t>
            </a:r>
            <a:r>
              <a:rPr lang="tr-TR" b="1" dirty="0"/>
              <a:t>, day2, day3;</a:t>
            </a:r>
          </a:p>
          <a:p>
            <a:r>
              <a:rPr lang="tr-TR" dirty="0"/>
              <a:t>Yukarıdaki örnekte </a:t>
            </a:r>
            <a:r>
              <a:rPr lang="tr-TR" i="1" dirty="0"/>
              <a:t>day1, day2, day3 </a:t>
            </a:r>
            <a:r>
              <a:rPr lang="tr-TR" dirty="0"/>
              <a:t>bildirimi yapılmış numaralandırma türünden (</a:t>
            </a:r>
            <a:r>
              <a:rPr lang="tr-TR" dirty="0" err="1" smtClean="0"/>
              <a:t>belirlibir</a:t>
            </a:r>
            <a:r>
              <a:rPr lang="tr-TR" dirty="0" smtClean="0"/>
              <a:t> </a:t>
            </a:r>
            <a:r>
              <a:rPr lang="tr-TR" dirty="0"/>
              <a:t>tür ismi seçilmemiştir) yaratılmış değişkenlerdir. Böyle bir bildirim + </a:t>
            </a:r>
            <a:r>
              <a:rPr lang="tr-TR" dirty="0" smtClean="0"/>
              <a:t>tanımlama işleminin </a:t>
            </a:r>
            <a:r>
              <a:rPr lang="tr-TR" dirty="0"/>
              <a:t>dezavantajı, artık bir daha aynı numaralandırma türünden başka bir </a:t>
            </a:r>
            <a:r>
              <a:rPr lang="tr-TR" dirty="0" smtClean="0"/>
              <a:t>değişkenin yaratılmamasıdır</a:t>
            </a:r>
            <a:r>
              <a:rPr lang="tr-TR" dirty="0"/>
              <a:t>.</a:t>
            </a: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8687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 err="1" smtClean="0"/>
              <a:t>Enum</a:t>
            </a:r>
            <a:r>
              <a:rPr lang="tr-TR" b="1" dirty="0" smtClean="0"/>
              <a:t> ve </a:t>
            </a:r>
            <a:r>
              <a:rPr lang="tr-TR" b="1" dirty="0" err="1"/>
              <a:t>typedef</a:t>
            </a:r>
            <a:r>
              <a:rPr lang="tr-TR" b="1" dirty="0"/>
              <a:t> Bildirimi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Bir </a:t>
            </a:r>
            <a:r>
              <a:rPr lang="tr-TR" dirty="0"/>
              <a:t>numaralandırma türü için de bir </a:t>
            </a:r>
            <a:r>
              <a:rPr lang="tr-TR" b="1" i="1" dirty="0" err="1"/>
              <a:t>typedef</a:t>
            </a:r>
            <a:r>
              <a:rPr lang="tr-TR" i="1" dirty="0"/>
              <a:t> </a:t>
            </a:r>
            <a:r>
              <a:rPr lang="tr-TR" dirty="0"/>
              <a:t>bildirimi yapılabilir. Böylece </a:t>
            </a:r>
            <a:r>
              <a:rPr lang="tr-TR" dirty="0" smtClean="0"/>
              <a:t>türün kullanımında </a:t>
            </a:r>
            <a:r>
              <a:rPr lang="tr-TR" dirty="0"/>
              <a:t>artık </a:t>
            </a:r>
            <a:r>
              <a:rPr lang="tr-TR" i="1" dirty="0" err="1"/>
              <a:t>enum</a:t>
            </a:r>
            <a:r>
              <a:rPr lang="tr-TR" i="1" dirty="0"/>
              <a:t> </a:t>
            </a:r>
            <a:r>
              <a:rPr lang="tr-TR" dirty="0"/>
              <a:t>anahtar sözcüğünün kullanılmasına gerek kalmaz:</a:t>
            </a:r>
          </a:p>
          <a:p>
            <a:r>
              <a:rPr lang="tr-TR" dirty="0" err="1"/>
              <a:t>typedef</a:t>
            </a:r>
            <a:r>
              <a:rPr lang="tr-TR" dirty="0"/>
              <a:t> </a:t>
            </a:r>
            <a:r>
              <a:rPr lang="tr-TR" dirty="0" err="1"/>
              <a:t>enum</a:t>
            </a:r>
            <a:r>
              <a:rPr lang="tr-TR" dirty="0"/>
              <a:t> </a:t>
            </a:r>
            <a:r>
              <a:rPr lang="tr-TR" dirty="0" err="1"/>
              <a:t>tagRenk</a:t>
            </a:r>
            <a:r>
              <a:rPr lang="tr-TR" dirty="0"/>
              <a:t>{SINEK, KARO, KUPA, MACA} Renk;</a:t>
            </a:r>
          </a:p>
          <a:p>
            <a:r>
              <a:rPr lang="tr-TR" dirty="0"/>
              <a:t>Bildiriminden sonra artık </a:t>
            </a:r>
            <a:r>
              <a:rPr lang="tr-TR" i="1" dirty="0" err="1"/>
              <a:t>enum</a:t>
            </a:r>
            <a:r>
              <a:rPr lang="tr-TR" i="1" dirty="0"/>
              <a:t> </a:t>
            </a:r>
            <a:r>
              <a:rPr lang="tr-TR" dirty="0"/>
              <a:t>anahtar sözcüğü kullanılmadan</a:t>
            </a:r>
          </a:p>
          <a:p>
            <a:r>
              <a:rPr lang="tr-TR" dirty="0"/>
              <a:t>Renk kart1, kart2, kart3, kart4;</a:t>
            </a:r>
          </a:p>
          <a:p>
            <a:r>
              <a:rPr lang="tr-TR" dirty="0"/>
              <a:t>gibi bir tanımlama yapılabilir. </a:t>
            </a:r>
            <a:endParaRPr lang="tr-TR" dirty="0" smtClean="0"/>
          </a:p>
          <a:p>
            <a:r>
              <a:rPr lang="tr-TR" i="1" dirty="0" err="1" smtClean="0"/>
              <a:t>typedef</a:t>
            </a:r>
            <a:r>
              <a:rPr lang="tr-TR" i="1" dirty="0" smtClean="0"/>
              <a:t> </a:t>
            </a:r>
            <a:r>
              <a:rPr lang="tr-TR" dirty="0"/>
              <a:t>bildiriminden sonra artık </a:t>
            </a:r>
            <a:r>
              <a:rPr lang="tr-TR" i="1" dirty="0"/>
              <a:t>Renk </a:t>
            </a:r>
            <a:r>
              <a:rPr lang="tr-TR" dirty="0"/>
              <a:t>bir tür ismi belirtir.</a:t>
            </a:r>
          </a:p>
          <a:p>
            <a:r>
              <a:rPr lang="tr-TR" dirty="0"/>
              <a:t>Şimdi de aşağıdaki örneğe bakalım:</a:t>
            </a:r>
          </a:p>
          <a:p>
            <a:r>
              <a:rPr lang="tr-TR" dirty="0" err="1"/>
              <a:t>typedef</a:t>
            </a:r>
            <a:r>
              <a:rPr lang="tr-TR" dirty="0"/>
              <a:t> </a:t>
            </a:r>
            <a:r>
              <a:rPr lang="tr-TR" dirty="0" err="1"/>
              <a:t>enum</a:t>
            </a:r>
            <a:r>
              <a:rPr lang="tr-TR" dirty="0"/>
              <a:t> {FALSE, TRUE} </a:t>
            </a:r>
            <a:r>
              <a:rPr lang="tr-TR" dirty="0" err="1"/>
              <a:t>Bool</a:t>
            </a:r>
            <a:r>
              <a:rPr lang="tr-TR" dirty="0"/>
              <a:t>;</a:t>
            </a:r>
          </a:p>
          <a:p>
            <a:r>
              <a:rPr lang="tr-TR" dirty="0"/>
              <a:t>Artık </a:t>
            </a:r>
            <a:r>
              <a:rPr lang="tr-TR" i="1" dirty="0" err="1"/>
              <a:t>Bool</a:t>
            </a:r>
            <a:r>
              <a:rPr lang="tr-TR" i="1" dirty="0"/>
              <a:t> </a:t>
            </a:r>
            <a:r>
              <a:rPr lang="tr-TR" dirty="0"/>
              <a:t>ismi </a:t>
            </a:r>
            <a:r>
              <a:rPr lang="tr-TR" i="1" dirty="0"/>
              <a:t>FALSE </a:t>
            </a:r>
            <a:r>
              <a:rPr lang="tr-TR" dirty="0"/>
              <a:t>ve </a:t>
            </a:r>
            <a:r>
              <a:rPr lang="tr-TR" i="1" dirty="0"/>
              <a:t>TRUE </a:t>
            </a:r>
            <a:r>
              <a:rPr lang="tr-TR" dirty="0"/>
              <a:t>değerlerini alabilen bir türün ismidir.</a:t>
            </a: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9391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2000" dirty="0"/>
              <a:t>Numaralandırma değişmezinin tamsayı değerini değil de ismini</a:t>
            </a:r>
            <a:br>
              <a:rPr lang="tr-TR" sz="2000" dirty="0"/>
            </a:br>
            <a:r>
              <a:rPr lang="tr-TR" sz="2000" dirty="0"/>
              <a:t>ekrana yazdırmanın doğrudan bir yolu yoktur. Bu amaçla bir işlev yazılabilir: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56878" y="1247608"/>
            <a:ext cx="7846640" cy="519943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pPr marL="0" indent="0">
              <a:buNone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stdlib.h</a:t>
            </a:r>
            <a:r>
              <a:rPr lang="tr-TR" dirty="0"/>
              <a:t>&gt;</a:t>
            </a:r>
          </a:p>
          <a:p>
            <a:pPr marL="0" indent="0">
              <a:buNone/>
            </a:pPr>
            <a:r>
              <a:rPr lang="tr-TR" b="1" dirty="0" err="1"/>
              <a:t>typedef</a:t>
            </a:r>
            <a:r>
              <a:rPr lang="tr-TR" b="1" dirty="0"/>
              <a:t> </a:t>
            </a:r>
            <a:r>
              <a:rPr lang="tr-TR" b="1" dirty="0" err="1"/>
              <a:t>enum</a:t>
            </a:r>
            <a:r>
              <a:rPr lang="tr-TR" b="1" dirty="0"/>
              <a:t> {Sunday, </a:t>
            </a:r>
            <a:r>
              <a:rPr lang="tr-TR" b="1" dirty="0" err="1"/>
              <a:t>Monday</a:t>
            </a:r>
            <a:r>
              <a:rPr lang="tr-TR" b="1" dirty="0"/>
              <a:t>, </a:t>
            </a:r>
            <a:r>
              <a:rPr lang="tr-TR" b="1" dirty="0" err="1"/>
              <a:t>Tuesday</a:t>
            </a:r>
            <a:r>
              <a:rPr lang="tr-TR" b="1" dirty="0"/>
              <a:t>, </a:t>
            </a:r>
            <a:r>
              <a:rPr lang="tr-TR" b="1" dirty="0" err="1"/>
              <a:t>Wednesday</a:t>
            </a:r>
            <a:r>
              <a:rPr lang="tr-TR" b="1" dirty="0"/>
              <a:t>, </a:t>
            </a:r>
            <a:r>
              <a:rPr lang="tr-TR" b="1" dirty="0" err="1"/>
              <a:t>Thursday</a:t>
            </a:r>
            <a:r>
              <a:rPr lang="tr-TR" b="1" dirty="0"/>
              <a:t>, </a:t>
            </a:r>
            <a:r>
              <a:rPr lang="tr-TR" b="1" dirty="0" err="1"/>
              <a:t>Friday</a:t>
            </a:r>
            <a:r>
              <a:rPr lang="tr-TR" b="1" dirty="0"/>
              <a:t>,</a:t>
            </a:r>
          </a:p>
          <a:p>
            <a:pPr marL="0" indent="0">
              <a:buNone/>
            </a:pPr>
            <a:r>
              <a:rPr lang="tr-TR" b="1" dirty="0" err="1"/>
              <a:t>Saturday</a:t>
            </a:r>
            <a:r>
              <a:rPr lang="tr-TR" b="1" dirty="0"/>
              <a:t>}</a:t>
            </a:r>
            <a:r>
              <a:rPr lang="tr-TR" b="1" dirty="0" err="1"/>
              <a:t>Days</a:t>
            </a:r>
            <a:r>
              <a:rPr lang="tr-TR" b="1" dirty="0"/>
              <a:t>;</a:t>
            </a:r>
          </a:p>
          <a:p>
            <a:pPr marL="0" indent="0">
              <a:buNone/>
            </a:pPr>
            <a:r>
              <a:rPr lang="tr-TR" dirty="0" err="1"/>
              <a:t>void</a:t>
            </a:r>
            <a:r>
              <a:rPr lang="tr-TR" dirty="0"/>
              <a:t> </a:t>
            </a:r>
            <a:r>
              <a:rPr lang="tr-TR" dirty="0" err="1"/>
              <a:t>print_day</a:t>
            </a:r>
            <a:r>
              <a:rPr lang="tr-TR" dirty="0"/>
              <a:t>(</a:t>
            </a:r>
            <a:r>
              <a:rPr lang="tr-TR" dirty="0" err="1"/>
              <a:t>Days</a:t>
            </a:r>
            <a:r>
              <a:rPr lang="tr-TR" dirty="0"/>
              <a:t> d)</a:t>
            </a:r>
          </a:p>
          <a:p>
            <a:pPr marL="0" indent="0">
              <a:buNone/>
            </a:pPr>
            <a:r>
              <a:rPr lang="tr-TR" dirty="0"/>
              <a:t>{</a:t>
            </a:r>
          </a:p>
          <a:p>
            <a:pPr marL="0" indent="0">
              <a:buNone/>
            </a:pPr>
            <a:r>
              <a:rPr lang="tr-TR" dirty="0"/>
              <a:t> </a:t>
            </a:r>
            <a:r>
              <a:rPr lang="tr-TR" dirty="0" err="1"/>
              <a:t>const</a:t>
            </a:r>
            <a:r>
              <a:rPr lang="tr-TR" dirty="0"/>
              <a:t> </a:t>
            </a:r>
            <a:r>
              <a:rPr lang="tr-TR" dirty="0" err="1"/>
              <a:t>char</a:t>
            </a:r>
            <a:r>
              <a:rPr lang="tr-TR" dirty="0"/>
              <a:t> *</a:t>
            </a:r>
            <a:r>
              <a:rPr lang="tr-TR" dirty="0" err="1"/>
              <a:t>gunler</a:t>
            </a:r>
            <a:r>
              <a:rPr lang="tr-TR" dirty="0"/>
              <a:t>[] = {"Sunday", "</a:t>
            </a:r>
            <a:r>
              <a:rPr lang="tr-TR" dirty="0" err="1"/>
              <a:t>Monday</a:t>
            </a:r>
            <a:r>
              <a:rPr lang="tr-TR" dirty="0"/>
              <a:t>", "</a:t>
            </a:r>
            <a:r>
              <a:rPr lang="tr-TR" dirty="0" err="1"/>
              <a:t>Tuesday</a:t>
            </a:r>
            <a:r>
              <a:rPr lang="tr-TR" dirty="0"/>
              <a:t>",</a:t>
            </a:r>
          </a:p>
          <a:p>
            <a:pPr marL="0" indent="0">
              <a:buNone/>
            </a:pPr>
            <a:r>
              <a:rPr lang="tr-TR" dirty="0"/>
              <a:t>"</a:t>
            </a:r>
            <a:r>
              <a:rPr lang="tr-TR" dirty="0" err="1"/>
              <a:t>Wednesday</a:t>
            </a:r>
            <a:r>
              <a:rPr lang="tr-TR" dirty="0"/>
              <a:t>", "</a:t>
            </a:r>
            <a:r>
              <a:rPr lang="tr-TR" dirty="0" err="1"/>
              <a:t>Thursday</a:t>
            </a:r>
            <a:r>
              <a:rPr lang="tr-TR" dirty="0"/>
              <a:t>", "</a:t>
            </a:r>
            <a:r>
              <a:rPr lang="tr-TR" dirty="0" err="1"/>
              <a:t>Friday</a:t>
            </a:r>
            <a:r>
              <a:rPr lang="tr-TR" dirty="0"/>
              <a:t>", "</a:t>
            </a:r>
            <a:r>
              <a:rPr lang="tr-TR" dirty="0" err="1"/>
              <a:t>Saturday</a:t>
            </a:r>
            <a:r>
              <a:rPr lang="tr-TR" dirty="0"/>
              <a:t>"};</a:t>
            </a:r>
          </a:p>
          <a:p>
            <a:pPr marL="0" indent="0">
              <a:buNone/>
            </a:pPr>
            <a:r>
              <a:rPr lang="tr-TR" dirty="0" err="1"/>
              <a:t>printf</a:t>
            </a:r>
            <a:r>
              <a:rPr lang="tr-TR" dirty="0"/>
              <a:t>("\n %d : %s ",d, </a:t>
            </a:r>
            <a:r>
              <a:rPr lang="tr-TR" dirty="0" err="1"/>
              <a:t>gunler</a:t>
            </a:r>
            <a:r>
              <a:rPr lang="tr-TR" dirty="0"/>
              <a:t>[d]);</a:t>
            </a:r>
          </a:p>
          <a:p>
            <a:pPr marL="0" indent="0">
              <a:buNone/>
            </a:pPr>
            <a:r>
              <a:rPr lang="tr-TR" dirty="0"/>
              <a:t>}</a:t>
            </a:r>
          </a:p>
          <a:p>
            <a:pPr marL="0" indent="0">
              <a:buNone/>
            </a:pPr>
            <a:r>
              <a:rPr lang="tr-TR" dirty="0"/>
              <a:t>int main()</a:t>
            </a:r>
          </a:p>
          <a:p>
            <a:pPr marL="0" indent="0">
              <a:buNone/>
            </a:pPr>
            <a:r>
              <a:rPr lang="tr-TR" dirty="0"/>
              <a:t>{</a:t>
            </a:r>
          </a:p>
          <a:p>
            <a:pPr marL="0" indent="0">
              <a:buNone/>
            </a:pPr>
            <a:r>
              <a:rPr lang="tr-TR" dirty="0" err="1"/>
              <a:t>Days</a:t>
            </a:r>
            <a:r>
              <a:rPr lang="tr-TR" dirty="0"/>
              <a:t> </a:t>
            </a:r>
            <a:r>
              <a:rPr lang="tr-TR" dirty="0" err="1"/>
              <a:t>deger</a:t>
            </a:r>
            <a:r>
              <a:rPr lang="tr-TR" dirty="0"/>
              <a:t>;</a:t>
            </a:r>
          </a:p>
          <a:p>
            <a:pPr marL="0" indent="0">
              <a:buNone/>
            </a:pPr>
            <a:r>
              <a:rPr lang="tr-TR" dirty="0"/>
              <a:t>int k;</a:t>
            </a:r>
          </a:p>
          <a:p>
            <a:pPr marL="0" indent="0">
              <a:buNone/>
            </a:pPr>
            <a:r>
              <a:rPr lang="tr-TR" dirty="0" err="1"/>
              <a:t>for</a:t>
            </a:r>
            <a:r>
              <a:rPr lang="tr-TR" dirty="0"/>
              <a:t> (k = 0; k &lt; 10; ++k) {</a:t>
            </a:r>
          </a:p>
          <a:p>
            <a:pPr marL="0" indent="0">
              <a:buNone/>
            </a:pPr>
            <a:r>
              <a:rPr lang="tr-TR" dirty="0" err="1"/>
              <a:t>deger</a:t>
            </a:r>
            <a:r>
              <a:rPr lang="tr-TR" dirty="0"/>
              <a:t> = (</a:t>
            </a:r>
            <a:r>
              <a:rPr lang="tr-TR" dirty="0" err="1"/>
              <a:t>Days</a:t>
            </a:r>
            <a:r>
              <a:rPr lang="tr-TR" dirty="0"/>
              <a:t>)(</a:t>
            </a:r>
            <a:r>
              <a:rPr lang="tr-TR" dirty="0" err="1"/>
              <a:t>rand</a:t>
            </a:r>
            <a:r>
              <a:rPr lang="tr-TR" dirty="0"/>
              <a:t>() % 7);</a:t>
            </a:r>
          </a:p>
          <a:p>
            <a:pPr marL="0" indent="0">
              <a:buNone/>
            </a:pPr>
            <a:r>
              <a:rPr lang="tr-TR" dirty="0" err="1"/>
              <a:t>print_day</a:t>
            </a:r>
            <a:r>
              <a:rPr lang="tr-TR" dirty="0"/>
              <a:t>(</a:t>
            </a:r>
            <a:r>
              <a:rPr lang="tr-TR" dirty="0" err="1"/>
              <a:t>deger</a:t>
            </a:r>
            <a:r>
              <a:rPr lang="tr-TR" dirty="0"/>
              <a:t>);</a:t>
            </a:r>
          </a:p>
          <a:p>
            <a:pPr marL="0" indent="0">
              <a:buNone/>
            </a:pPr>
            <a:r>
              <a:rPr lang="tr-TR" dirty="0"/>
              <a:t>}}</a:t>
            </a: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18</a:t>
            </a:fld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740" y="2276872"/>
            <a:ext cx="2152579" cy="286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59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031318" cy="990600"/>
          </a:xfrm>
        </p:spPr>
        <p:txBody>
          <a:bodyPr/>
          <a:lstStyle/>
          <a:p>
            <a:pPr algn="ctr"/>
            <a:endParaRPr lang="tr-TR" dirty="0">
              <a:solidFill>
                <a:srgbClr val="808000"/>
              </a:solidFill>
            </a:endParaRPr>
          </a:p>
        </p:txBody>
      </p:sp>
      <p:sp>
        <p:nvSpPr>
          <p:cNvPr id="4" name="2 İçerik Yer Tutucusu"/>
          <p:cNvSpPr>
            <a:spLocks noGrp="1"/>
          </p:cNvSpPr>
          <p:nvPr>
            <p:ph idx="1"/>
          </p:nvPr>
        </p:nvSpPr>
        <p:spPr>
          <a:xfrm>
            <a:off x="107504" y="2714620"/>
            <a:ext cx="8928992" cy="147161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tr-TR" sz="4400" dirty="0" smtClean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Yapılar</a:t>
            </a:r>
            <a:r>
              <a:rPr lang="en-US" sz="4400" dirty="0" smtClean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4400" dirty="0" err="1" smtClean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en-US" sz="4400" dirty="0" smtClean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tr-TR" sz="4400" dirty="0" smtClean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ve Birlikler</a:t>
            </a:r>
            <a:endParaRPr lang="tr-TR" sz="4400" dirty="0">
              <a:solidFill>
                <a:schemeClr val="accent4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95045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/>
          </a:bodyPr>
          <a:lstStyle/>
          <a:p>
            <a:r>
              <a:rPr lang="tr-TR" sz="36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tr-TR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(Yapı) Deyimi</a:t>
            </a:r>
            <a:endParaRPr lang="tr-T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4 İçerik Yer Tutucusu"/>
          <p:cNvSpPr>
            <a:spLocks noGrp="1"/>
          </p:cNvSpPr>
          <p:nvPr>
            <p:ph idx="1"/>
          </p:nvPr>
        </p:nvSpPr>
        <p:spPr>
          <a:xfrm>
            <a:off x="612648" y="1628800"/>
            <a:ext cx="7775776" cy="4536504"/>
          </a:xfrm>
        </p:spPr>
        <p:txBody>
          <a:bodyPr>
            <a:normAutofit lnSpcReduction="10000"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dirty="0" smtClean="0">
                <a:latin typeface="Times New Roman" pitchFamily="18" charset="0"/>
                <a:cs typeface="Times New Roman" pitchFamily="18" charset="0"/>
              </a:rPr>
              <a:t>Yapılar, </a:t>
            </a:r>
            <a:r>
              <a:rPr lang="tr-TR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farklı veri türlerine 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sahip değişkenlerin bir </a:t>
            </a:r>
            <a:r>
              <a:rPr lang="tr-TR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grup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olarak değerlendirilmesi ve bu grubun </a:t>
            </a:r>
            <a:r>
              <a:rPr lang="tr-TR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bir isimle 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kullanılması amacıyla tercih </a:t>
            </a:r>
            <a:r>
              <a:rPr lang="tr-TR" sz="2600" dirty="0" smtClean="0">
                <a:latin typeface="Times New Roman" pitchFamily="18" charset="0"/>
                <a:cs typeface="Times New Roman" pitchFamily="18" charset="0"/>
              </a:rPr>
              <a:t>edilen </a:t>
            </a:r>
            <a:r>
              <a:rPr lang="tr-TR" sz="26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kullanıcı tanımlı bir veri türüdür</a:t>
            </a:r>
            <a:r>
              <a:rPr lang="tr-TR" sz="2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Yapılar diziler gibi bellekte sürekli kalır. </a:t>
            </a:r>
            <a:endParaRPr lang="tr-TR" sz="26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dirty="0" smtClean="0">
                <a:latin typeface="Times New Roman" pitchFamily="18" charset="0"/>
                <a:cs typeface="Times New Roman" pitchFamily="18" charset="0"/>
              </a:rPr>
              <a:t>Bir 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yapı içerisindeki elemanlara </a:t>
            </a:r>
            <a:r>
              <a:rPr lang="tr-TR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üye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tr-TR" sz="2600" dirty="0" err="1">
                <a:latin typeface="Times New Roman" pitchFamily="18" charset="0"/>
                <a:cs typeface="Times New Roman" pitchFamily="18" charset="0"/>
              </a:rPr>
              <a:t>member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) denir. </a:t>
            </a:r>
            <a:endParaRPr lang="tr-TR" sz="26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Üyelerin</a:t>
            </a:r>
            <a:r>
              <a:rPr lang="tr-TR" sz="2600" dirty="0" smtClean="0">
                <a:latin typeface="Times New Roman" pitchFamily="18" charset="0"/>
                <a:cs typeface="Times New Roman" pitchFamily="18" charset="0"/>
              </a:rPr>
              <a:t> her biri </a:t>
            </a:r>
            <a:r>
              <a:rPr lang="tr-TR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farklı veri tipine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sahip olabilir. </a:t>
            </a:r>
            <a:endParaRPr lang="tr-TR" sz="26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dirty="0" smtClean="0">
                <a:latin typeface="Times New Roman" pitchFamily="18" charset="0"/>
                <a:cs typeface="Times New Roman" pitchFamily="18" charset="0"/>
              </a:rPr>
              <a:t>Yapılar sayesinde </a:t>
            </a:r>
            <a:r>
              <a:rPr lang="tr-TR" sz="2600" u="sng" dirty="0" smtClean="0">
                <a:latin typeface="Times New Roman" pitchFamily="18" charset="0"/>
                <a:cs typeface="Times New Roman" pitchFamily="18" charset="0"/>
              </a:rPr>
              <a:t>kendi veri tipinizi</a:t>
            </a:r>
            <a:r>
              <a:rPr lang="tr-TR" sz="2600" dirty="0" smtClean="0">
                <a:latin typeface="Times New Roman" pitchFamily="18" charset="0"/>
                <a:cs typeface="Times New Roman" pitchFamily="18" charset="0"/>
              </a:rPr>
              <a:t> üretmeniz mümkündür.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dirty="0" smtClean="0">
                <a:latin typeface="Times New Roman" pitchFamily="18" charset="0"/>
                <a:cs typeface="Times New Roman" pitchFamily="18" charset="0"/>
              </a:rPr>
              <a:t>Yapılar farklı programlama dillerinde </a:t>
            </a:r>
            <a:r>
              <a:rPr lang="tr-TR" sz="26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Record</a:t>
            </a:r>
            <a:r>
              <a:rPr lang="tr-TR" sz="2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(Kayıt) </a:t>
            </a:r>
            <a:r>
              <a:rPr lang="tr-TR" sz="2600" dirty="0" smtClean="0">
                <a:latin typeface="Times New Roman" pitchFamily="18" charset="0"/>
                <a:cs typeface="Times New Roman" pitchFamily="18" charset="0"/>
              </a:rPr>
              <a:t>olarak da geçerler. </a:t>
            </a:r>
            <a:endParaRPr lang="tr-TR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0453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4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tr-TR" sz="4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(Yapı) Deyimi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5800" y="1439696"/>
            <a:ext cx="7846640" cy="5199432"/>
          </a:xfrm>
        </p:spPr>
        <p:txBody>
          <a:bodyPr/>
          <a:lstStyle/>
          <a:p>
            <a:r>
              <a:rPr lang="tr-TR" dirty="0" smtClean="0"/>
              <a:t>Diziler aynı </a:t>
            </a:r>
            <a:r>
              <a:rPr lang="tr-TR" dirty="0"/>
              <a:t>türden nesneleri içinde tutabilirken, yapılar farklı türlerden nesneleri tutabilir.</a:t>
            </a:r>
          </a:p>
          <a:p>
            <a:r>
              <a:rPr lang="tr-TR" dirty="0"/>
              <a:t>Yapıların kullanılmasının ana nedeni budur. Çoğu zaman, türleri farklı bir takım </a:t>
            </a:r>
            <a:r>
              <a:rPr lang="tr-TR" dirty="0" err="1" smtClean="0"/>
              <a:t>nesneler,mantıksal</a:t>
            </a:r>
            <a:r>
              <a:rPr lang="tr-TR" dirty="0" smtClean="0"/>
              <a:t> </a:t>
            </a:r>
            <a:r>
              <a:rPr lang="tr-TR" dirty="0"/>
              <a:t>olarak bir bütün </a:t>
            </a:r>
            <a:r>
              <a:rPr lang="tr-TR" dirty="0" smtClean="0"/>
              <a:t>oluşturabilir.</a:t>
            </a:r>
          </a:p>
          <a:p>
            <a:r>
              <a:rPr lang="tr-TR" dirty="0" smtClean="0"/>
              <a:t>İsim</a:t>
            </a:r>
            <a:r>
              <a:rPr lang="tr-TR" dirty="0"/>
              <a:t>, yaş, cinsiyet, departman, ücret, </a:t>
            </a:r>
            <a:r>
              <a:rPr lang="tr-TR" dirty="0" smtClean="0"/>
              <a:t>öğrenim durumu </a:t>
            </a:r>
            <a:r>
              <a:rPr lang="tr-TR" dirty="0"/>
              <a:t>gibi bilgileri farklı türden nesneler içinde saklanabilir. </a:t>
            </a:r>
            <a:endParaRPr lang="tr-TR" dirty="0" smtClean="0"/>
          </a:p>
          <a:p>
            <a:endParaRPr lang="tr-TR" dirty="0"/>
          </a:p>
          <a:p>
            <a:r>
              <a:rPr lang="tr-TR" dirty="0" smtClean="0"/>
              <a:t>Bunların </a:t>
            </a:r>
            <a:r>
              <a:rPr lang="tr-TR" dirty="0"/>
              <a:t>tamamı </a:t>
            </a:r>
            <a:r>
              <a:rPr lang="tr-TR" dirty="0" err="1" smtClean="0"/>
              <a:t>birişyerinde</a:t>
            </a:r>
            <a:r>
              <a:rPr lang="tr-TR" dirty="0" smtClean="0"/>
              <a:t> </a:t>
            </a:r>
            <a:r>
              <a:rPr lang="tr-TR" dirty="0"/>
              <a:t>çalışan bir kişiye ait bilgiler olabilir. Aralarında mantıksal ilişki olan farklı </a:t>
            </a:r>
            <a:r>
              <a:rPr lang="tr-TR" dirty="0" smtClean="0"/>
              <a:t>türden veriler </a:t>
            </a:r>
            <a:r>
              <a:rPr lang="tr-TR" dirty="0"/>
              <a:t>yapılar içinde saklanabilir</a:t>
            </a: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66984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/>
          </a:bodyPr>
          <a:lstStyle/>
          <a:p>
            <a:r>
              <a:rPr lang="tr-TR" sz="36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tr-TR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Deyimi </a:t>
            </a:r>
            <a:r>
              <a:rPr lang="tr-TR" sz="1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  <a:endParaRPr lang="tr-T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4 İçerik Yer Tutucusu"/>
          <p:cNvSpPr>
            <a:spLocks noGrp="1"/>
          </p:cNvSpPr>
          <p:nvPr>
            <p:ph idx="1"/>
          </p:nvPr>
        </p:nvSpPr>
        <p:spPr>
          <a:xfrm>
            <a:off x="612648" y="1628800"/>
            <a:ext cx="7775776" cy="4536504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Yapılar int, </a:t>
            </a:r>
            <a:r>
              <a:rPr lang="tr-TR" sz="2800" dirty="0" err="1">
                <a:latin typeface="Times New Roman" pitchFamily="18" charset="0"/>
                <a:cs typeface="Times New Roman" pitchFamily="18" charset="0"/>
              </a:rPr>
              <a:t>float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tr-TR" sz="2800" dirty="0" err="1">
                <a:latin typeface="Times New Roman" pitchFamily="18" charset="0"/>
                <a:cs typeface="Times New Roman" pitchFamily="18" charset="0"/>
              </a:rPr>
              <a:t>char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 gibi farklı tipteki değişkenleri veya aynı türdeki </a:t>
            </a:r>
            <a:r>
              <a:rPr lang="tr-TR" sz="28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birden çok değişkeni bir araya getirmeyi sağlar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Nesne </a:t>
            </a:r>
            <a:r>
              <a:rPr lang="tr-TR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tabanlı programlamanın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 da </a:t>
            </a:r>
            <a:r>
              <a:rPr lang="tr-TR" sz="2800" b="1" dirty="0">
                <a:latin typeface="Times New Roman" pitchFamily="18" charset="0"/>
                <a:cs typeface="Times New Roman" pitchFamily="18" charset="0"/>
              </a:rPr>
              <a:t>temelini oluşturan </a:t>
            </a: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yaklaşımdır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tr-TR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İlerleyen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800" dirty="0" smtClean="0">
                <a:latin typeface="Times New Roman" pitchFamily="18" charset="0"/>
                <a:cs typeface="Times New Roman" pitchFamily="18" charset="0"/>
              </a:rPr>
              <a:t>zamanlarda </a:t>
            </a:r>
            <a:r>
              <a:rPr lang="tr-TR" sz="2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C#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 ve 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Java</a:t>
            </a:r>
            <a:r>
              <a:rPr lang="tr-TR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gibi tamamen nesneye dayalı programlamayı benimsemiş gelişmiş </a:t>
            </a:r>
            <a:r>
              <a:rPr lang="tr-TR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dilleri öğrenmeye de yardımcı olacaktır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SzPct val="100000"/>
              <a:buNone/>
            </a:pPr>
            <a:endParaRPr lang="tr-TR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4145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4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tr-TR" sz="4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Deyimi </a:t>
            </a:r>
            <a:r>
              <a:rPr lang="tr-T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tr-TR" i="1" dirty="0" err="1"/>
              <a:t>struct</a:t>
            </a:r>
            <a:r>
              <a:rPr lang="tr-TR" i="1" dirty="0"/>
              <a:t> </a:t>
            </a:r>
            <a:r>
              <a:rPr lang="tr-TR" dirty="0"/>
              <a:t>bir anahtar sözcüktür. Bildirimde mutlaka yer alması gerekir. </a:t>
            </a:r>
            <a:r>
              <a:rPr lang="tr-TR" i="1" dirty="0" err="1"/>
              <a:t>struct</a:t>
            </a:r>
            <a:r>
              <a:rPr lang="tr-TR" i="1" dirty="0"/>
              <a:t> </a:t>
            </a:r>
            <a:r>
              <a:rPr lang="tr-TR" dirty="0"/>
              <a:t>anahtar</a:t>
            </a:r>
          </a:p>
          <a:p>
            <a:r>
              <a:rPr lang="tr-TR" dirty="0"/>
              <a:t>sözcüğünü bir </a:t>
            </a:r>
            <a:r>
              <a:rPr lang="tr-TR" i="1" dirty="0"/>
              <a:t>yapı etiketi (</a:t>
            </a:r>
            <a:r>
              <a:rPr lang="tr-TR" i="1" dirty="0" err="1"/>
              <a:t>structure</a:t>
            </a:r>
            <a:r>
              <a:rPr lang="tr-TR" i="1" dirty="0"/>
              <a:t> </a:t>
            </a:r>
            <a:r>
              <a:rPr lang="tr-TR" i="1" dirty="0" err="1"/>
              <a:t>tag</a:t>
            </a:r>
            <a:r>
              <a:rPr lang="tr-TR" i="1" dirty="0"/>
              <a:t>) </a:t>
            </a:r>
            <a:r>
              <a:rPr lang="tr-TR" dirty="0"/>
              <a:t>izleyebilir. </a:t>
            </a:r>
            <a:endParaRPr lang="tr-TR" dirty="0" smtClean="0"/>
          </a:p>
          <a:p>
            <a:r>
              <a:rPr lang="tr-TR" i="1" dirty="0" smtClean="0"/>
              <a:t>Yapı </a:t>
            </a:r>
            <a:r>
              <a:rPr lang="tr-TR" i="1" dirty="0"/>
              <a:t>etiketi </a:t>
            </a:r>
            <a:r>
              <a:rPr lang="tr-TR" dirty="0"/>
              <a:t>C dilinin </a:t>
            </a:r>
            <a:r>
              <a:rPr lang="tr-TR" dirty="0" smtClean="0"/>
              <a:t>isimlendirme kurallarına </a:t>
            </a:r>
            <a:r>
              <a:rPr lang="tr-TR" dirty="0"/>
              <a:t>uygun olarak seçilmiş bir isimdir. Yapı etiketinden sonra bir blok yer alır. </a:t>
            </a:r>
            <a:r>
              <a:rPr lang="tr-TR" dirty="0" smtClean="0"/>
              <a:t>Bu blok </a:t>
            </a:r>
            <a:r>
              <a:rPr lang="tr-TR" dirty="0"/>
              <a:t>bildirime açık bir bölge belirler. Bu blok içinde yapı elemanlarının bildirimleri yapılır.</a:t>
            </a:r>
          </a:p>
          <a:p>
            <a:r>
              <a:rPr lang="tr-TR" dirty="0"/>
              <a:t>Örnek verelim:</a:t>
            </a:r>
          </a:p>
          <a:p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Date</a:t>
            </a:r>
            <a:r>
              <a:rPr lang="tr-TR" dirty="0"/>
              <a:t> {</a:t>
            </a:r>
          </a:p>
          <a:p>
            <a:r>
              <a:rPr lang="tr-TR" dirty="0"/>
              <a:t>int </a:t>
            </a:r>
            <a:r>
              <a:rPr lang="tr-TR" dirty="0" err="1"/>
              <a:t>day</a:t>
            </a:r>
            <a:r>
              <a:rPr lang="tr-TR" dirty="0"/>
              <a:t>, </a:t>
            </a:r>
            <a:r>
              <a:rPr lang="tr-TR" dirty="0" err="1"/>
              <a:t>month</a:t>
            </a:r>
            <a:r>
              <a:rPr lang="tr-TR" dirty="0"/>
              <a:t>, </a:t>
            </a:r>
            <a:r>
              <a:rPr lang="tr-TR" dirty="0" err="1"/>
              <a:t>year</a:t>
            </a:r>
            <a:r>
              <a:rPr lang="tr-TR" dirty="0"/>
              <a:t>;</a:t>
            </a:r>
          </a:p>
          <a:p>
            <a:r>
              <a:rPr lang="tr-TR" dirty="0"/>
              <a:t>};</a:t>
            </a:r>
          </a:p>
          <a:p>
            <a:r>
              <a:rPr lang="tr-TR" dirty="0" err="1"/>
              <a:t>struct</a:t>
            </a:r>
            <a:r>
              <a:rPr lang="tr-TR" dirty="0"/>
              <a:t> Point {</a:t>
            </a:r>
          </a:p>
          <a:p>
            <a:r>
              <a:rPr lang="tr-TR" dirty="0"/>
              <a:t>int x, y;</a:t>
            </a:r>
          </a:p>
          <a:p>
            <a:r>
              <a:rPr lang="tr-TR" dirty="0"/>
              <a:t>};</a:t>
            </a:r>
          </a:p>
          <a:p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Complex</a:t>
            </a:r>
            <a:r>
              <a:rPr lang="tr-TR" dirty="0"/>
              <a:t> {</a:t>
            </a:r>
          </a:p>
          <a:p>
            <a:r>
              <a:rPr lang="tr-TR" dirty="0" err="1"/>
              <a:t>double</a:t>
            </a:r>
            <a:r>
              <a:rPr lang="tr-TR" dirty="0"/>
              <a:t> </a:t>
            </a:r>
            <a:r>
              <a:rPr lang="tr-TR" dirty="0" err="1"/>
              <a:t>real</a:t>
            </a:r>
            <a:r>
              <a:rPr lang="tr-TR" dirty="0"/>
              <a:t>;</a:t>
            </a:r>
          </a:p>
          <a:p>
            <a:r>
              <a:rPr lang="tr-TR" dirty="0" err="1"/>
              <a:t>double</a:t>
            </a:r>
            <a:r>
              <a:rPr lang="tr-TR" dirty="0"/>
              <a:t> </a:t>
            </a:r>
            <a:r>
              <a:rPr lang="tr-TR" dirty="0" err="1"/>
              <a:t>imag</a:t>
            </a:r>
            <a:r>
              <a:rPr lang="tr-TR" dirty="0"/>
              <a:t>;</a:t>
            </a:r>
          </a:p>
          <a:p>
            <a:r>
              <a:rPr lang="tr-TR" dirty="0"/>
              <a:t>};</a:t>
            </a:r>
          </a:p>
          <a:p>
            <a:r>
              <a:rPr lang="tr-TR" dirty="0"/>
              <a:t>Yapı etiketleri (</a:t>
            </a:r>
            <a:r>
              <a:rPr lang="tr-TR" i="1" dirty="0" err="1"/>
              <a:t>structure</a:t>
            </a:r>
            <a:r>
              <a:rPr lang="tr-TR" i="1" dirty="0"/>
              <a:t> </a:t>
            </a:r>
            <a:r>
              <a:rPr lang="tr-TR" i="1" dirty="0" err="1"/>
              <a:t>tags</a:t>
            </a:r>
            <a:r>
              <a:rPr lang="tr-TR" dirty="0"/>
              <a:t>) isimlendirme kurallarına uymalıdır. </a:t>
            </a:r>
            <a:endParaRPr lang="tr-TR" dirty="0" smtClean="0"/>
          </a:p>
          <a:p>
            <a:r>
              <a:rPr lang="tr-TR" b="1" dirty="0" smtClean="0"/>
              <a:t>Ancak programcıların çoğu </a:t>
            </a:r>
            <a:r>
              <a:rPr lang="tr-TR" b="1" dirty="0"/>
              <a:t>yapı etiketlerinin ilk harflerini büyük, diğer harflerini küçük seçerler</a:t>
            </a: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5330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24</a:t>
            </a:fld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1833562"/>
            <a:ext cx="2638425" cy="1371600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3453060"/>
            <a:ext cx="4343400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996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25</a:t>
            </a:fld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589789"/>
            <a:ext cx="6360218" cy="407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734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b="1" dirty="0"/>
              <a:t>Yapıların Neden Kullanılır</a:t>
            </a:r>
          </a:p>
          <a:p>
            <a:r>
              <a:rPr lang="tr-TR" dirty="0"/>
              <a:t>Yapıların kullanılmasıyla bazı faydalar elde </a:t>
            </a:r>
            <a:r>
              <a:rPr lang="tr-TR" dirty="0" err="1" smtClean="0"/>
              <a:t>edilebilir:Birbirleri</a:t>
            </a:r>
            <a:r>
              <a:rPr lang="tr-TR" dirty="0" smtClean="0"/>
              <a:t> </a:t>
            </a:r>
            <a:r>
              <a:rPr lang="tr-TR" dirty="0"/>
              <a:t>ile ilişkili olan değişkenler yapı elemanları olarak bir yapı içinde toplanırsa </a:t>
            </a:r>
            <a:r>
              <a:rPr lang="tr-TR" dirty="0" smtClean="0"/>
              <a:t>algısal kolaylık </a:t>
            </a:r>
            <a:r>
              <a:rPr lang="tr-TR" dirty="0"/>
              <a:t>sağlanır. Örneğin düzlemde bir nokta, bir tarih bilgisi, bir depoda </a:t>
            </a:r>
            <a:r>
              <a:rPr lang="tr-TR" dirty="0" smtClean="0"/>
              <a:t>bulunan </a:t>
            </a:r>
            <a:r>
              <a:rPr lang="tr-TR" dirty="0" err="1" smtClean="0"/>
              <a:t>mamüllere</a:t>
            </a:r>
            <a:r>
              <a:rPr lang="tr-TR" dirty="0" smtClean="0"/>
              <a:t> </a:t>
            </a:r>
            <a:r>
              <a:rPr lang="tr-TR" dirty="0"/>
              <a:t>ilişkin özellikler bir yapı ile temsil edilebilir.</a:t>
            </a:r>
          </a:p>
          <a:p>
            <a:r>
              <a:rPr lang="tr-TR" dirty="0"/>
              <a:t>C dilinde bir işlev en fazla 8 - 10 parametre almalıdır. Daha fazla parametreye sahip</a:t>
            </a:r>
          </a:p>
          <a:p>
            <a:r>
              <a:rPr lang="tr-TR" dirty="0"/>
              <a:t>olması kötü bir tekniktir. </a:t>
            </a:r>
            <a:endParaRPr lang="tr-TR" dirty="0" smtClean="0"/>
          </a:p>
          <a:p>
            <a:r>
              <a:rPr lang="tr-TR" dirty="0" smtClean="0"/>
              <a:t>Bir </a:t>
            </a:r>
            <a:r>
              <a:rPr lang="tr-TR" dirty="0"/>
              <a:t>işlev çok fazla parametrik bilgiye gereksinim duyuyorsa, </a:t>
            </a:r>
            <a:r>
              <a:rPr lang="tr-TR" dirty="0" smtClean="0"/>
              <a:t>bu parametrik </a:t>
            </a:r>
            <a:r>
              <a:rPr lang="tr-TR" dirty="0"/>
              <a:t>bilgiler bir yapı biçiminde ifade edilmelidir. O yapı türünden bir </a:t>
            </a:r>
            <a:r>
              <a:rPr lang="tr-TR" dirty="0" smtClean="0"/>
              <a:t>değişken tanımlanmalı</a:t>
            </a:r>
            <a:r>
              <a:rPr lang="tr-TR" dirty="0"/>
              <a:t>, bu değişkenin adresi işleve parametre olarak gönderilmelidir. </a:t>
            </a:r>
            <a:endParaRPr lang="tr-TR" dirty="0" smtClean="0"/>
          </a:p>
          <a:p>
            <a:r>
              <a:rPr lang="tr-TR" dirty="0" smtClean="0"/>
              <a:t>Örneğin bir kişinin </a:t>
            </a:r>
            <a:r>
              <a:rPr lang="tr-TR" dirty="0"/>
              <a:t>nüfus cüzdan bilgilerini parametre olarak alıp bunları ekrana yazdıracak bir </a:t>
            </a:r>
            <a:r>
              <a:rPr lang="tr-TR" dirty="0" smtClean="0"/>
              <a:t>işlev tasarlayacak </a:t>
            </a:r>
            <a:r>
              <a:rPr lang="tr-TR" dirty="0"/>
              <a:t>olalım. </a:t>
            </a:r>
            <a:endParaRPr lang="tr-TR" dirty="0" smtClean="0"/>
          </a:p>
          <a:p>
            <a:r>
              <a:rPr lang="tr-TR" dirty="0" smtClean="0"/>
              <a:t>Nüfus </a:t>
            </a:r>
            <a:r>
              <a:rPr lang="tr-TR" dirty="0"/>
              <a:t>cüzdanı bilgilerinin hepsi bir yapı biçiminde ifade </a:t>
            </a:r>
            <a:r>
              <a:rPr lang="tr-TR"/>
              <a:t>edilebilir </a:t>
            </a:r>
            <a:r>
              <a:rPr lang="tr-TR" smtClean="0"/>
              <a:t>ve yalnızca </a:t>
            </a:r>
            <a:r>
              <a:rPr lang="tr-TR" dirty="0"/>
              <a:t>bu yapının adresi işleve gönderilebilir.</a:t>
            </a:r>
          </a:p>
          <a:p>
            <a:r>
              <a:rPr lang="tr-TR" dirty="0"/>
              <a:t>İşlevlerin tek bir geri dönüş değeri vardır. Oysa işlevlerin çok değişik bilgileri </a:t>
            </a:r>
            <a:r>
              <a:rPr lang="tr-TR" dirty="0" smtClean="0"/>
              <a:t>çağıran işleve </a:t>
            </a:r>
            <a:r>
              <a:rPr lang="tr-TR" dirty="0"/>
              <a:t>iletmesi istenebilir. Bu işlem şöyle yapılabilir: İletilecek bilgiler bir yapı </a:t>
            </a:r>
            <a:r>
              <a:rPr lang="tr-TR" dirty="0" smtClean="0"/>
              <a:t>biçiminde ifade </a:t>
            </a:r>
            <a:r>
              <a:rPr lang="tr-TR" dirty="0"/>
              <a:t>edilir. </a:t>
            </a:r>
            <a:endParaRPr lang="tr-TR" dirty="0" smtClean="0"/>
          </a:p>
          <a:p>
            <a:r>
              <a:rPr lang="tr-TR" dirty="0" smtClean="0"/>
              <a:t>Sonra </a:t>
            </a:r>
            <a:r>
              <a:rPr lang="tr-TR" dirty="0"/>
              <a:t>bu türden bir yapı değişkeni tanımlanarak adresi işleve gönderilir. </a:t>
            </a:r>
            <a:r>
              <a:rPr lang="tr-TR" dirty="0" smtClean="0"/>
              <a:t>İşlev de </a:t>
            </a:r>
            <a:r>
              <a:rPr lang="tr-TR" dirty="0"/>
              <a:t>bu yapı değişkeninin içini doldurur. Yani işlev çıkışında bilgiler yapı değişkeninin </a:t>
            </a:r>
            <a:r>
              <a:rPr lang="tr-TR" dirty="0" smtClean="0"/>
              <a:t>içinde olur</a:t>
            </a:r>
            <a:r>
              <a:rPr lang="tr-TR" dirty="0"/>
              <a:t>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2763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/>
              <a:t>Yapı Türünden Değişken Tanımlaması</a:t>
            </a:r>
            <a:endParaRPr lang="tr-TR" dirty="0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Global isim alanında tanımlanan bir yapı nesnesi</a:t>
            </a:r>
          </a:p>
          <a:p>
            <a:r>
              <a:rPr lang="tr-TR" dirty="0"/>
              <a:t>i) Dosya bilinirlik alanına aittir. Nesnenin tanımından sonra yer alan tüm işlevler bu </a:t>
            </a:r>
            <a:r>
              <a:rPr lang="tr-TR" dirty="0" smtClean="0"/>
              <a:t>yapı nesnesine </a:t>
            </a:r>
            <a:r>
              <a:rPr lang="tr-TR" dirty="0"/>
              <a:t>ulaşabilirler.</a:t>
            </a:r>
          </a:p>
          <a:p>
            <a:r>
              <a:rPr lang="tr-TR" dirty="0"/>
              <a:t>ii) Statik ömürlüdür. Programın çalışma zamanının başlangıcından, </a:t>
            </a:r>
            <a:r>
              <a:rPr lang="tr-TR" dirty="0" smtClean="0"/>
              <a:t>programın </a:t>
            </a:r>
            <a:r>
              <a:rPr lang="sv-SE" dirty="0" smtClean="0"/>
              <a:t>sonlanmasına </a:t>
            </a:r>
            <a:r>
              <a:rPr lang="sv-SE" dirty="0"/>
              <a:t>kadar bellekte yer kaplar.</a:t>
            </a:r>
          </a:p>
          <a:p>
            <a:r>
              <a:rPr lang="tr-TR" dirty="0"/>
              <a:t>iii) Statik ömürlü olduğu için </a:t>
            </a:r>
            <a:r>
              <a:rPr lang="tr-TR" dirty="0" err="1"/>
              <a:t>ilkdeğer</a:t>
            </a:r>
            <a:r>
              <a:rPr lang="tr-TR" dirty="0"/>
              <a:t> ataması yapılmadığı zaman, bellekte </a:t>
            </a:r>
            <a:r>
              <a:rPr lang="tr-TR" dirty="0" smtClean="0"/>
              <a:t>kapladığı bütün </a:t>
            </a:r>
            <a:r>
              <a:rPr lang="tr-TR" i="1" dirty="0" err="1"/>
              <a:t>byte</a:t>
            </a:r>
            <a:r>
              <a:rPr lang="tr-TR" i="1" dirty="0"/>
              <a:t> </a:t>
            </a:r>
            <a:r>
              <a:rPr lang="tr-TR" dirty="0" err="1"/>
              <a:t>lar</a:t>
            </a:r>
            <a:r>
              <a:rPr lang="tr-TR" dirty="0"/>
              <a:t> </a:t>
            </a:r>
            <a:r>
              <a:rPr lang="tr-TR" i="1" dirty="0"/>
              <a:t>0 </a:t>
            </a:r>
            <a:r>
              <a:rPr lang="tr-TR" dirty="0"/>
              <a:t>bitleriyle doldurulur. Pratik olarak bunun anlamı yapının </a:t>
            </a:r>
            <a:r>
              <a:rPr lang="tr-TR" dirty="0" smtClean="0"/>
              <a:t>tüm elemanlarının </a:t>
            </a:r>
            <a:r>
              <a:rPr lang="tr-TR" dirty="0"/>
              <a:t>değerinin </a:t>
            </a:r>
            <a:r>
              <a:rPr lang="tr-TR" i="1" dirty="0"/>
              <a:t>0 </a:t>
            </a:r>
            <a:r>
              <a:rPr lang="tr-TR" dirty="0"/>
              <a:t>olmasıdır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12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/>
              <a:t>Yapı Türünden Değişken Tanımlaması</a:t>
            </a:r>
            <a:endParaRPr lang="tr-TR" dirty="0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n-NO" dirty="0"/>
              <a:t>Yerel alanda tanımlanan bir yapı nesnesi</a:t>
            </a:r>
          </a:p>
          <a:p>
            <a:r>
              <a:rPr lang="tr-TR" dirty="0"/>
              <a:t>i) Blok bilinirlik alanına aittir. Yalnızca tanımlamasının yapıldığı blok içinde bu </a:t>
            </a:r>
            <a:r>
              <a:rPr lang="tr-TR" dirty="0" smtClean="0"/>
              <a:t>nesneye ulaşılabilir</a:t>
            </a:r>
            <a:r>
              <a:rPr lang="tr-TR" dirty="0"/>
              <a:t>.</a:t>
            </a:r>
          </a:p>
          <a:p>
            <a:r>
              <a:rPr lang="tr-TR" dirty="0"/>
              <a:t>ii) Otomatik ömürlüdür. Programın akışı, nesnenin tanımlandığı bloğa girdiğinde </a:t>
            </a:r>
            <a:r>
              <a:rPr lang="tr-TR" dirty="0" smtClean="0"/>
              <a:t>nesne yaratılır</a:t>
            </a:r>
            <a:r>
              <a:rPr lang="tr-TR" dirty="0"/>
              <a:t>. Programın akışı nesnenin tanımladığı bloğu terk ettiğinde nesne </a:t>
            </a:r>
            <a:r>
              <a:rPr lang="tr-TR" dirty="0" smtClean="0"/>
              <a:t>bellekten boşaltılır</a:t>
            </a:r>
            <a:r>
              <a:rPr lang="tr-TR" dirty="0"/>
              <a:t>.</a:t>
            </a:r>
          </a:p>
          <a:p>
            <a:r>
              <a:rPr lang="tr-TR" dirty="0"/>
              <a:t>iii) Otomatik ömürlü olduğu için </a:t>
            </a:r>
            <a:r>
              <a:rPr lang="tr-TR" dirty="0" err="1"/>
              <a:t>ilkdeğer</a:t>
            </a:r>
            <a:r>
              <a:rPr lang="tr-TR" dirty="0"/>
              <a:t> ataması yapılmadığı zaman, bellekte </a:t>
            </a:r>
            <a:r>
              <a:rPr lang="tr-TR" dirty="0" smtClean="0"/>
              <a:t>kapladığı alanda </a:t>
            </a:r>
            <a:r>
              <a:rPr lang="tr-TR" dirty="0"/>
              <a:t>çöp değerleri vardır. Pratik olarak bunun anlamı yapının tüm elemanlarının </a:t>
            </a:r>
            <a:r>
              <a:rPr lang="tr-TR" dirty="0" smtClean="0"/>
              <a:t>çöp değerleriyle </a:t>
            </a:r>
            <a:r>
              <a:rPr lang="tr-TR" dirty="0"/>
              <a:t>başlatılmasıdır.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28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4070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Sample</a:t>
            </a:r>
            <a:r>
              <a:rPr lang="tr-TR" dirty="0"/>
              <a:t> {</a:t>
            </a:r>
          </a:p>
          <a:p>
            <a:r>
              <a:rPr lang="tr-TR" dirty="0"/>
              <a:t>int i;</a:t>
            </a:r>
          </a:p>
          <a:p>
            <a:r>
              <a:rPr lang="tr-TR" dirty="0" err="1"/>
              <a:t>long</a:t>
            </a:r>
            <a:r>
              <a:rPr lang="tr-TR" dirty="0"/>
              <a:t> l;</a:t>
            </a:r>
          </a:p>
          <a:p>
            <a:r>
              <a:rPr lang="tr-TR" dirty="0" err="1"/>
              <a:t>double</a:t>
            </a:r>
            <a:r>
              <a:rPr lang="tr-TR" dirty="0"/>
              <a:t> d</a:t>
            </a:r>
            <a:r>
              <a:rPr lang="tr-TR" dirty="0" smtClean="0"/>
              <a:t>;};</a:t>
            </a:r>
            <a:endParaRPr lang="tr-TR" dirty="0"/>
          </a:p>
          <a:p>
            <a:r>
              <a:rPr lang="tr-TR" dirty="0"/>
              <a:t>int main()</a:t>
            </a:r>
          </a:p>
          <a:p>
            <a:r>
              <a:rPr lang="tr-TR" dirty="0"/>
              <a:t>{</a:t>
            </a:r>
          </a:p>
          <a:p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Sample</a:t>
            </a:r>
            <a:r>
              <a:rPr lang="tr-TR" dirty="0"/>
              <a:t> sam;</a:t>
            </a:r>
          </a:p>
          <a:p>
            <a:r>
              <a:rPr lang="tr-TR" dirty="0" err="1"/>
              <a:t>printf</a:t>
            </a:r>
            <a:r>
              <a:rPr lang="tr-TR" dirty="0"/>
              <a:t>("%d\n", </a:t>
            </a:r>
            <a:r>
              <a:rPr lang="tr-TR" dirty="0" err="1"/>
              <a:t>sizeof</a:t>
            </a:r>
            <a:r>
              <a:rPr lang="tr-TR" dirty="0"/>
              <a:t>(sam));</a:t>
            </a:r>
          </a:p>
          <a:p>
            <a:r>
              <a:rPr lang="tr-TR" dirty="0" err="1"/>
              <a:t>return</a:t>
            </a:r>
            <a:r>
              <a:rPr lang="tr-TR" dirty="0"/>
              <a:t> 0;</a:t>
            </a:r>
          </a:p>
          <a:p>
            <a:r>
              <a:rPr lang="tr-TR" dirty="0"/>
              <a:t>}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29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786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20170" y="448086"/>
            <a:ext cx="7722440" cy="824136"/>
          </a:xfrm>
        </p:spPr>
        <p:txBody>
          <a:bodyPr>
            <a:normAutofit fontScale="90000"/>
          </a:bodyPr>
          <a:lstStyle/>
          <a:p>
            <a:r>
              <a:rPr lang="tr-TR" b="1" dirty="0"/>
              <a:t>Yapı Bildirimi İle Değişken Tanımlamasının Birlikte Yapılması</a:t>
            </a:r>
            <a:br>
              <a:rPr lang="tr-TR" b="1" dirty="0"/>
            </a:br>
            <a:endParaRPr lang="tr-TR" dirty="0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>
          <a:xfrm>
            <a:off x="609600" y="1658568"/>
            <a:ext cx="7846640" cy="5199432"/>
          </a:xfrm>
        </p:spPr>
        <p:txBody>
          <a:bodyPr>
            <a:normAutofit/>
          </a:bodyPr>
          <a:lstStyle/>
          <a:p>
            <a:r>
              <a:rPr lang="tr-TR" dirty="0" smtClean="0"/>
              <a:t>Bir </a:t>
            </a:r>
            <a:r>
              <a:rPr lang="tr-TR" dirty="0"/>
              <a:t>yapı bildirimi sonlandırıcı atom ile sonlandırılmadan, yapı bildiriminin kapanan </a:t>
            </a:r>
            <a:r>
              <a:rPr lang="tr-TR" dirty="0" smtClean="0"/>
              <a:t>küme ayracından </a:t>
            </a:r>
            <a:r>
              <a:rPr lang="tr-TR" dirty="0"/>
              <a:t>hemen sonra bir değişken listesi yazılırsa yapı bildirimi ile </a:t>
            </a:r>
            <a:r>
              <a:rPr lang="tr-TR" dirty="0" smtClean="0"/>
              <a:t>değişken tanımlaması </a:t>
            </a:r>
            <a:r>
              <a:rPr lang="tr-TR" dirty="0"/>
              <a:t>bir arada yapılmış olur.</a:t>
            </a:r>
          </a:p>
          <a:p>
            <a:r>
              <a:rPr lang="tr-TR" b="1" dirty="0" err="1"/>
              <a:t>struct</a:t>
            </a:r>
            <a:r>
              <a:rPr lang="tr-TR" b="1" dirty="0"/>
              <a:t> </a:t>
            </a:r>
            <a:r>
              <a:rPr lang="tr-TR" b="1" dirty="0" err="1"/>
              <a:t>Date</a:t>
            </a:r>
            <a:r>
              <a:rPr lang="tr-TR" b="1" dirty="0"/>
              <a:t> {</a:t>
            </a:r>
          </a:p>
          <a:p>
            <a:r>
              <a:rPr lang="tr-TR" b="1" dirty="0"/>
              <a:t>int </a:t>
            </a:r>
            <a:r>
              <a:rPr lang="tr-TR" b="1" dirty="0" err="1"/>
              <a:t>day</a:t>
            </a:r>
            <a:r>
              <a:rPr lang="tr-TR" b="1" dirty="0"/>
              <a:t>, </a:t>
            </a:r>
            <a:r>
              <a:rPr lang="tr-TR" b="1" dirty="0" err="1"/>
              <a:t>month</a:t>
            </a:r>
            <a:r>
              <a:rPr lang="tr-TR" b="1" dirty="0"/>
              <a:t>, </a:t>
            </a:r>
            <a:r>
              <a:rPr lang="tr-TR" b="1" dirty="0" err="1"/>
              <a:t>year</a:t>
            </a:r>
            <a:r>
              <a:rPr lang="tr-TR" b="1" dirty="0"/>
              <a:t>;</a:t>
            </a:r>
          </a:p>
          <a:p>
            <a:r>
              <a:rPr lang="tr-TR" b="1" dirty="0"/>
              <a:t>}</a:t>
            </a:r>
            <a:r>
              <a:rPr lang="tr-TR" b="1" dirty="0" err="1"/>
              <a:t>bdate</a:t>
            </a:r>
            <a:r>
              <a:rPr lang="tr-TR" b="1" dirty="0"/>
              <a:t>, </a:t>
            </a:r>
            <a:r>
              <a:rPr lang="tr-TR" b="1" dirty="0" err="1"/>
              <a:t>edate</a:t>
            </a:r>
            <a:r>
              <a:rPr lang="tr-TR" b="1" dirty="0"/>
              <a:t>;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30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59231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Nokta işlecine (</a:t>
            </a:r>
            <a:r>
              <a:rPr lang="tr-TR" i="1" dirty="0" err="1"/>
              <a:t>dot</a:t>
            </a:r>
            <a:r>
              <a:rPr lang="tr-TR" i="1" dirty="0"/>
              <a:t> </a:t>
            </a:r>
            <a:r>
              <a:rPr lang="tr-TR" i="1" dirty="0" err="1"/>
              <a:t>operator</a:t>
            </a:r>
            <a:r>
              <a:rPr lang="tr-TR" dirty="0"/>
              <a:t>) ilişkin atom '.' </a:t>
            </a:r>
            <a:r>
              <a:rPr lang="tr-TR" dirty="0" err="1"/>
              <a:t>dır</a:t>
            </a:r>
            <a:r>
              <a:rPr lang="tr-TR" dirty="0"/>
              <a:t>. </a:t>
            </a:r>
            <a:endParaRPr lang="tr-TR" dirty="0" smtClean="0"/>
          </a:p>
          <a:p>
            <a:r>
              <a:rPr lang="tr-TR" dirty="0"/>
              <a:t>Bir yapı nesnesi tanımlanarak, bu yapı nesnesinin elemanlarına nokta işleci </a:t>
            </a:r>
            <a:r>
              <a:rPr lang="tr-TR" dirty="0" smtClean="0"/>
              <a:t>ile </a:t>
            </a:r>
            <a:r>
              <a:rPr lang="nn-NO" dirty="0" smtClean="0"/>
              <a:t>erişildiğinde </a:t>
            </a:r>
            <a:r>
              <a:rPr lang="nn-NO" dirty="0"/>
              <a:t>artık bu elemanların her biri ayrı bir nesne olarak ele alınır. Bu </a:t>
            </a:r>
            <a:r>
              <a:rPr lang="nn-NO" dirty="0" smtClean="0"/>
              <a:t>nesnelerin,</a:t>
            </a:r>
            <a:r>
              <a:rPr lang="tr-TR" dirty="0" smtClean="0"/>
              <a:t> yapı </a:t>
            </a:r>
            <a:r>
              <a:rPr lang="tr-TR" dirty="0"/>
              <a:t>dışında tanımlanan nesnelerden herhangi bir farkı yoktur. 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31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5884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Örnek</a:t>
            </a:r>
            <a:endParaRPr lang="tr-TR" dirty="0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r>
              <a:rPr lang="tr-TR" dirty="0" err="1"/>
              <a:t>struct</a:t>
            </a:r>
            <a:r>
              <a:rPr lang="tr-TR" dirty="0"/>
              <a:t> Urun{</a:t>
            </a:r>
          </a:p>
          <a:p>
            <a:r>
              <a:rPr lang="tr-TR" dirty="0"/>
              <a:t> </a:t>
            </a:r>
            <a:r>
              <a:rPr lang="tr-TR" dirty="0" err="1"/>
              <a:t>float</a:t>
            </a:r>
            <a:r>
              <a:rPr lang="tr-TR" dirty="0"/>
              <a:t> </a:t>
            </a:r>
            <a:r>
              <a:rPr lang="tr-TR" dirty="0" err="1"/>
              <a:t>satis</a:t>
            </a:r>
            <a:r>
              <a:rPr lang="tr-TR" dirty="0"/>
              <a:t>;</a:t>
            </a:r>
          </a:p>
          <a:p>
            <a:r>
              <a:rPr lang="tr-TR" dirty="0" err="1"/>
              <a:t>float</a:t>
            </a:r>
            <a:r>
              <a:rPr lang="tr-TR" dirty="0"/>
              <a:t>  </a:t>
            </a:r>
            <a:r>
              <a:rPr lang="tr-TR" dirty="0" err="1"/>
              <a:t>kdv</a:t>
            </a:r>
            <a:r>
              <a:rPr lang="tr-TR" dirty="0"/>
              <a:t>;</a:t>
            </a:r>
          </a:p>
          <a:p>
            <a:r>
              <a:rPr lang="tr-TR" dirty="0" err="1"/>
              <a:t>float</a:t>
            </a:r>
            <a:r>
              <a:rPr lang="tr-TR" dirty="0"/>
              <a:t> </a:t>
            </a:r>
            <a:r>
              <a:rPr lang="tr-TR" dirty="0" err="1"/>
              <a:t>kdvlisatis</a:t>
            </a:r>
            <a:r>
              <a:rPr lang="tr-TR" dirty="0"/>
              <a:t>;</a:t>
            </a:r>
          </a:p>
          <a:p>
            <a:r>
              <a:rPr lang="tr-TR" dirty="0"/>
              <a:t>};</a:t>
            </a:r>
          </a:p>
          <a:p>
            <a:r>
              <a:rPr lang="tr-TR" dirty="0"/>
              <a:t>int main()</a:t>
            </a:r>
          </a:p>
          <a:p>
            <a:r>
              <a:rPr lang="tr-TR" dirty="0"/>
              <a:t>{</a:t>
            </a:r>
          </a:p>
          <a:p>
            <a:r>
              <a:rPr lang="tr-TR" dirty="0" err="1"/>
              <a:t>struct</a:t>
            </a:r>
            <a:r>
              <a:rPr lang="tr-TR" dirty="0"/>
              <a:t> Urun </a:t>
            </a:r>
            <a:r>
              <a:rPr lang="tr-TR" dirty="0" err="1"/>
              <a:t>ornek</a:t>
            </a:r>
            <a:r>
              <a:rPr lang="tr-TR" dirty="0"/>
              <a:t>;</a:t>
            </a:r>
          </a:p>
          <a:p>
            <a:r>
              <a:rPr lang="tr-TR" dirty="0" err="1"/>
              <a:t>ornek.satis</a:t>
            </a:r>
            <a:r>
              <a:rPr lang="tr-TR" dirty="0"/>
              <a:t>=100;</a:t>
            </a:r>
          </a:p>
          <a:p>
            <a:r>
              <a:rPr lang="tr-TR" dirty="0" err="1"/>
              <a:t>ornek.kdv</a:t>
            </a:r>
            <a:r>
              <a:rPr lang="tr-TR" dirty="0"/>
              <a:t>=0.08;</a:t>
            </a:r>
          </a:p>
          <a:p>
            <a:r>
              <a:rPr lang="tr-TR" dirty="0" err="1"/>
              <a:t>ornek.kdvlisatis</a:t>
            </a:r>
            <a:r>
              <a:rPr lang="tr-TR" dirty="0"/>
              <a:t>= </a:t>
            </a:r>
            <a:r>
              <a:rPr lang="tr-TR" dirty="0" err="1"/>
              <a:t>ornek.satis+ornek.satis</a:t>
            </a:r>
            <a:r>
              <a:rPr lang="tr-TR" dirty="0"/>
              <a:t>*</a:t>
            </a:r>
            <a:r>
              <a:rPr lang="tr-TR" dirty="0" err="1"/>
              <a:t>ornek.kdv</a:t>
            </a:r>
            <a:r>
              <a:rPr lang="tr-TR" dirty="0"/>
              <a:t>;</a:t>
            </a:r>
          </a:p>
          <a:p>
            <a:r>
              <a:rPr lang="tr-TR" dirty="0" err="1"/>
              <a:t>printf</a:t>
            </a:r>
            <a:r>
              <a:rPr lang="tr-TR" dirty="0"/>
              <a:t>("</a:t>
            </a:r>
            <a:r>
              <a:rPr lang="tr-TR" dirty="0" err="1"/>
              <a:t>satis</a:t>
            </a:r>
            <a:r>
              <a:rPr lang="tr-TR" dirty="0"/>
              <a:t>= %f\n </a:t>
            </a:r>
            <a:r>
              <a:rPr lang="tr-TR" dirty="0" err="1"/>
              <a:t>kdv</a:t>
            </a:r>
            <a:r>
              <a:rPr lang="tr-TR" dirty="0"/>
              <a:t>= %f\n </a:t>
            </a:r>
            <a:r>
              <a:rPr lang="tr-TR" dirty="0" err="1"/>
              <a:t>kdvlisatis</a:t>
            </a:r>
            <a:r>
              <a:rPr lang="tr-TR" dirty="0"/>
              <a:t> = %f\n", </a:t>
            </a:r>
            <a:r>
              <a:rPr lang="tr-TR" dirty="0" err="1"/>
              <a:t>ornek.satis,ornek.kdv,ornek.kdvlisatis</a:t>
            </a:r>
            <a:r>
              <a:rPr lang="tr-TR" dirty="0"/>
              <a:t>);</a:t>
            </a:r>
          </a:p>
          <a:p>
            <a:r>
              <a:rPr lang="tr-TR" dirty="0" err="1"/>
              <a:t>return</a:t>
            </a:r>
            <a:r>
              <a:rPr lang="tr-TR" dirty="0"/>
              <a:t> 0;</a:t>
            </a:r>
          </a:p>
          <a:p>
            <a:r>
              <a:rPr lang="tr-TR" dirty="0"/>
              <a:t>}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32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901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85800" y="504698"/>
            <a:ext cx="7772400" cy="784128"/>
          </a:xfrm>
        </p:spPr>
        <p:txBody>
          <a:bodyPr>
            <a:normAutofit fontScale="90000"/>
          </a:bodyPr>
          <a:lstStyle/>
          <a:p>
            <a:r>
              <a:rPr lang="tr-TR" b="1" dirty="0"/>
              <a:t>Yapı Elemanlarının Bellekteki Yerleşimi</a:t>
            </a:r>
            <a:br>
              <a:rPr lang="tr-TR" b="1" dirty="0"/>
            </a:br>
            <a:endParaRPr lang="tr-TR" dirty="0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lang="tr-TR" dirty="0" smtClean="0"/>
          </a:p>
          <a:p>
            <a:r>
              <a:rPr lang="tr-TR" sz="4500" dirty="0" smtClean="0"/>
              <a:t>Yapı </a:t>
            </a:r>
            <a:r>
              <a:rPr lang="tr-TR" sz="4500" dirty="0"/>
              <a:t>elemanları belleğe, bildirimde ilk yazılan eleman küçük sayısal adreste olacak</a:t>
            </a:r>
          </a:p>
          <a:p>
            <a:r>
              <a:rPr lang="tr-TR" sz="4500" dirty="0"/>
              <a:t>biçimde, bitişik olarak yerleştirilir. </a:t>
            </a:r>
            <a:endParaRPr lang="tr-TR" dirty="0" smtClean="0"/>
          </a:p>
          <a:p>
            <a:r>
              <a:rPr lang="tr-TR" dirty="0" err="1" smtClean="0"/>
              <a:t>struct</a:t>
            </a:r>
            <a:r>
              <a:rPr lang="tr-TR" dirty="0" smtClean="0"/>
              <a:t> </a:t>
            </a:r>
            <a:r>
              <a:rPr lang="tr-TR" dirty="0" err="1"/>
              <a:t>Sample</a:t>
            </a:r>
            <a:r>
              <a:rPr lang="tr-TR" dirty="0"/>
              <a:t>{</a:t>
            </a:r>
          </a:p>
          <a:p>
            <a:r>
              <a:rPr lang="tr-TR" dirty="0"/>
              <a:t>int i;</a:t>
            </a:r>
          </a:p>
          <a:p>
            <a:r>
              <a:rPr lang="tr-TR" dirty="0" err="1"/>
              <a:t>long</a:t>
            </a:r>
            <a:r>
              <a:rPr lang="tr-TR" dirty="0"/>
              <a:t> l;</a:t>
            </a:r>
          </a:p>
          <a:p>
            <a:r>
              <a:rPr lang="tr-TR" dirty="0" err="1"/>
              <a:t>double</a:t>
            </a:r>
            <a:r>
              <a:rPr lang="tr-TR" dirty="0"/>
              <a:t> d;</a:t>
            </a:r>
          </a:p>
          <a:p>
            <a:r>
              <a:rPr lang="tr-TR" dirty="0"/>
              <a:t>};</a:t>
            </a:r>
          </a:p>
          <a:p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r>
              <a:rPr lang="tr-TR" dirty="0"/>
              <a:t>int main()</a:t>
            </a:r>
          </a:p>
          <a:p>
            <a:r>
              <a:rPr lang="tr-TR" dirty="0"/>
              <a:t>{</a:t>
            </a:r>
          </a:p>
          <a:p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Sample</a:t>
            </a:r>
            <a:r>
              <a:rPr lang="tr-TR" dirty="0"/>
              <a:t> sam;</a:t>
            </a:r>
          </a:p>
          <a:p>
            <a:r>
              <a:rPr lang="tr-TR" dirty="0" err="1"/>
              <a:t>printf</a:t>
            </a:r>
            <a:r>
              <a:rPr lang="tr-TR" dirty="0"/>
              <a:t>("</a:t>
            </a:r>
            <a:r>
              <a:rPr lang="tr-TR" dirty="0" err="1"/>
              <a:t>sam.i'nin</a:t>
            </a:r>
            <a:r>
              <a:rPr lang="tr-TR" dirty="0"/>
              <a:t> adresi = %p\n", &amp;</a:t>
            </a:r>
            <a:r>
              <a:rPr lang="tr-TR" dirty="0" err="1"/>
              <a:t>sam.i</a:t>
            </a:r>
            <a:r>
              <a:rPr lang="tr-TR" dirty="0"/>
              <a:t>);</a:t>
            </a:r>
          </a:p>
          <a:p>
            <a:r>
              <a:rPr lang="tr-TR" dirty="0" err="1"/>
              <a:t>printf</a:t>
            </a:r>
            <a:r>
              <a:rPr lang="tr-TR" dirty="0"/>
              <a:t>("</a:t>
            </a:r>
            <a:r>
              <a:rPr lang="tr-TR" dirty="0" err="1"/>
              <a:t>sam.l'nin</a:t>
            </a:r>
            <a:r>
              <a:rPr lang="tr-TR" dirty="0"/>
              <a:t> adresi = %p\n", &amp;</a:t>
            </a:r>
            <a:r>
              <a:rPr lang="tr-TR" dirty="0" err="1"/>
              <a:t>sam.l</a:t>
            </a:r>
            <a:r>
              <a:rPr lang="tr-TR" dirty="0"/>
              <a:t>);</a:t>
            </a:r>
          </a:p>
          <a:p>
            <a:r>
              <a:rPr lang="tr-TR" dirty="0" err="1"/>
              <a:t>printf</a:t>
            </a:r>
            <a:r>
              <a:rPr lang="tr-TR" dirty="0"/>
              <a:t>("</a:t>
            </a:r>
            <a:r>
              <a:rPr lang="tr-TR" dirty="0" err="1"/>
              <a:t>sam.d'nin</a:t>
            </a:r>
            <a:r>
              <a:rPr lang="tr-TR" dirty="0"/>
              <a:t> adresi = %p\n", &amp;</a:t>
            </a:r>
            <a:r>
              <a:rPr lang="tr-TR" dirty="0" err="1"/>
              <a:t>sam.d</a:t>
            </a:r>
            <a:r>
              <a:rPr lang="tr-TR" dirty="0"/>
              <a:t>);</a:t>
            </a:r>
          </a:p>
          <a:p>
            <a:r>
              <a:rPr lang="tr-TR" dirty="0" err="1"/>
              <a:t>return</a:t>
            </a:r>
            <a:r>
              <a:rPr lang="tr-TR" dirty="0"/>
              <a:t> 0;</a:t>
            </a:r>
          </a:p>
          <a:p>
            <a:r>
              <a:rPr lang="tr-TR" dirty="0"/>
              <a:t>}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33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9828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r>
              <a:rPr lang="tr-TR" dirty="0" err="1" smtClean="0"/>
              <a:t>struct</a:t>
            </a:r>
            <a:r>
              <a:rPr lang="tr-TR" dirty="0" smtClean="0"/>
              <a:t> </a:t>
            </a:r>
            <a:r>
              <a:rPr lang="tr-TR" dirty="0"/>
              <a:t>zaman {int </a:t>
            </a:r>
            <a:r>
              <a:rPr lang="tr-TR" dirty="0" err="1"/>
              <a:t>saat;int</a:t>
            </a:r>
            <a:r>
              <a:rPr lang="tr-TR" dirty="0"/>
              <a:t> </a:t>
            </a:r>
            <a:r>
              <a:rPr lang="tr-TR" dirty="0" err="1"/>
              <a:t>dakika;int</a:t>
            </a:r>
            <a:r>
              <a:rPr lang="tr-TR" dirty="0"/>
              <a:t> saniye; }; </a:t>
            </a:r>
          </a:p>
          <a:p>
            <a:endParaRPr lang="tr-TR" dirty="0"/>
          </a:p>
          <a:p>
            <a:r>
              <a:rPr lang="tr-TR" dirty="0"/>
              <a:t>int hesapla(zaman x) {</a:t>
            </a:r>
            <a:r>
              <a:rPr lang="tr-TR" dirty="0" err="1"/>
              <a:t>return</a:t>
            </a:r>
            <a:r>
              <a:rPr lang="tr-TR" dirty="0"/>
              <a:t>(</a:t>
            </a:r>
            <a:r>
              <a:rPr lang="tr-TR" dirty="0" err="1"/>
              <a:t>x.saat</a:t>
            </a:r>
            <a:r>
              <a:rPr lang="tr-TR" dirty="0"/>
              <a:t>*3600+x.dakika*60+x.saniye);  }</a:t>
            </a:r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 main() </a:t>
            </a:r>
          </a:p>
          <a:p>
            <a:r>
              <a:rPr lang="tr-TR" dirty="0"/>
              <a:t>{zaman t;</a:t>
            </a:r>
          </a:p>
          <a:p>
            <a:r>
              <a:rPr lang="tr-TR" dirty="0" err="1"/>
              <a:t>printf</a:t>
            </a:r>
            <a:r>
              <a:rPr lang="tr-TR" dirty="0"/>
              <a:t>("Saat:");</a:t>
            </a:r>
            <a:r>
              <a:rPr lang="tr-TR" dirty="0" err="1"/>
              <a:t>scanf</a:t>
            </a:r>
            <a:r>
              <a:rPr lang="tr-TR" dirty="0"/>
              <a:t>("%d",&amp;</a:t>
            </a:r>
            <a:r>
              <a:rPr lang="tr-TR" dirty="0" err="1"/>
              <a:t>t.saat</a:t>
            </a:r>
            <a:r>
              <a:rPr lang="tr-TR" dirty="0"/>
              <a:t>);</a:t>
            </a:r>
          </a:p>
          <a:p>
            <a:r>
              <a:rPr lang="tr-TR" dirty="0" err="1"/>
              <a:t>printf</a:t>
            </a:r>
            <a:r>
              <a:rPr lang="tr-TR" dirty="0"/>
              <a:t>("Dakika:");</a:t>
            </a:r>
            <a:r>
              <a:rPr lang="tr-TR" dirty="0" err="1"/>
              <a:t>scanf</a:t>
            </a:r>
            <a:r>
              <a:rPr lang="tr-TR" dirty="0"/>
              <a:t>("%d",&amp;</a:t>
            </a:r>
            <a:r>
              <a:rPr lang="tr-TR" dirty="0" err="1"/>
              <a:t>t.dakika</a:t>
            </a:r>
            <a:r>
              <a:rPr lang="tr-TR" dirty="0"/>
              <a:t>);</a:t>
            </a:r>
          </a:p>
          <a:p>
            <a:r>
              <a:rPr lang="tr-TR" dirty="0" err="1"/>
              <a:t>printf</a:t>
            </a:r>
            <a:r>
              <a:rPr lang="tr-TR" dirty="0"/>
              <a:t>("Saniye:");</a:t>
            </a:r>
            <a:r>
              <a:rPr lang="tr-TR" dirty="0" err="1"/>
              <a:t>scanf</a:t>
            </a:r>
            <a:r>
              <a:rPr lang="tr-TR" dirty="0"/>
              <a:t>("%d",&amp;</a:t>
            </a:r>
            <a:r>
              <a:rPr lang="tr-TR" dirty="0" err="1"/>
              <a:t>t.saniye</a:t>
            </a:r>
            <a:r>
              <a:rPr lang="tr-TR" dirty="0"/>
              <a:t>);</a:t>
            </a:r>
          </a:p>
          <a:p>
            <a:r>
              <a:rPr lang="tr-TR" dirty="0"/>
              <a:t>int sure=hesapla(t);</a:t>
            </a:r>
            <a:r>
              <a:rPr lang="tr-TR" dirty="0" err="1"/>
              <a:t>printf</a:t>
            </a:r>
            <a:r>
              <a:rPr lang="tr-TR" dirty="0"/>
              <a:t>("%d saniye </a:t>
            </a:r>
            <a:r>
              <a:rPr lang="tr-TR" dirty="0" err="1"/>
              <a:t>eder",sure</a:t>
            </a:r>
            <a:r>
              <a:rPr lang="tr-TR" dirty="0"/>
              <a:t>); }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34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528628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n-NO" b="1" dirty="0"/>
              <a:t>Yapı Elemanı Olarak Dizilerin Kullanılması</a:t>
            </a:r>
            <a:br>
              <a:rPr lang="nn-NO" b="1" dirty="0"/>
            </a:br>
            <a:endParaRPr lang="tr-TR" dirty="0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dirty="0" smtClean="0"/>
              <a:t>Yapının </a:t>
            </a:r>
            <a:r>
              <a:rPr lang="tr-TR" dirty="0"/>
              <a:t>bir elemanı herhangi türden bir dizi olabilir. Bu durumda da yapının </a:t>
            </a:r>
            <a:r>
              <a:rPr lang="tr-TR" dirty="0" smtClean="0"/>
              <a:t>dizi elemanının </a:t>
            </a:r>
            <a:r>
              <a:rPr lang="tr-TR" dirty="0"/>
              <a:t>ismi bir nesne belirtmez, bir adres bilgisidir. </a:t>
            </a:r>
            <a:endParaRPr lang="tr-TR" dirty="0" smtClean="0"/>
          </a:p>
          <a:p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r>
              <a:rPr lang="tr-TR" dirty="0"/>
              <a:t>#define NAME_LEN 20</a:t>
            </a:r>
          </a:p>
          <a:p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Person</a:t>
            </a:r>
            <a:r>
              <a:rPr lang="tr-TR" dirty="0"/>
              <a:t> {</a:t>
            </a:r>
          </a:p>
          <a:p>
            <a:r>
              <a:rPr lang="tr-TR" dirty="0" err="1"/>
              <a:t>char</a:t>
            </a:r>
            <a:r>
              <a:rPr lang="tr-TR" dirty="0"/>
              <a:t> name[NAME_LEN];</a:t>
            </a:r>
          </a:p>
          <a:p>
            <a:r>
              <a:rPr lang="tr-TR" dirty="0"/>
              <a:t>int </a:t>
            </a:r>
            <a:r>
              <a:rPr lang="tr-TR" dirty="0" err="1"/>
              <a:t>no</a:t>
            </a:r>
            <a:r>
              <a:rPr lang="tr-TR" dirty="0"/>
              <a:t>;</a:t>
            </a:r>
          </a:p>
          <a:p>
            <a:r>
              <a:rPr lang="tr-TR" dirty="0"/>
              <a:t>};</a:t>
            </a:r>
          </a:p>
          <a:p>
            <a:r>
              <a:rPr lang="tr-TR" dirty="0"/>
              <a:t>int main()</a:t>
            </a:r>
          </a:p>
          <a:p>
            <a:r>
              <a:rPr lang="tr-TR" dirty="0"/>
              <a:t>{</a:t>
            </a:r>
          </a:p>
          <a:p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Person</a:t>
            </a:r>
            <a:r>
              <a:rPr lang="tr-TR" dirty="0"/>
              <a:t> </a:t>
            </a:r>
            <a:r>
              <a:rPr lang="tr-TR" dirty="0" err="1"/>
              <a:t>per</a:t>
            </a:r>
            <a:r>
              <a:rPr lang="tr-TR" dirty="0"/>
              <a:t>;</a:t>
            </a:r>
          </a:p>
          <a:p>
            <a:r>
              <a:rPr lang="tr-TR" dirty="0" err="1"/>
              <a:t>gets</a:t>
            </a:r>
            <a:r>
              <a:rPr lang="tr-TR" dirty="0"/>
              <a:t>(per.name);</a:t>
            </a:r>
          </a:p>
          <a:p>
            <a:r>
              <a:rPr lang="tr-TR" dirty="0" err="1"/>
              <a:t>puts</a:t>
            </a:r>
            <a:r>
              <a:rPr lang="tr-TR" dirty="0"/>
              <a:t>(per.name);</a:t>
            </a:r>
          </a:p>
          <a:p>
            <a:r>
              <a:rPr lang="tr-TR" dirty="0" err="1"/>
              <a:t>putchar</a:t>
            </a:r>
            <a:r>
              <a:rPr lang="tr-TR" dirty="0"/>
              <a:t>(per.name[3]);</a:t>
            </a:r>
          </a:p>
          <a:p>
            <a:r>
              <a:rPr lang="tr-TR" dirty="0" err="1" smtClean="0"/>
              <a:t>return</a:t>
            </a:r>
            <a:r>
              <a:rPr lang="tr-TR" dirty="0" smtClean="0"/>
              <a:t> </a:t>
            </a:r>
            <a:r>
              <a:rPr lang="tr-TR" dirty="0"/>
              <a:t>0;</a:t>
            </a:r>
          </a:p>
          <a:p>
            <a:r>
              <a:rPr lang="tr-TR" dirty="0"/>
              <a:t>}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35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36394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/>
              <a:t>Yapı Elemanı Olarak Gösterici Değişkenlerin Kullanılması</a:t>
            </a:r>
            <a:br>
              <a:rPr lang="tr-TR" b="1" dirty="0"/>
            </a:br>
            <a:endParaRPr lang="tr-TR" dirty="0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dirty="0" smtClean="0"/>
              <a:t>Yapının </a:t>
            </a:r>
            <a:r>
              <a:rPr lang="tr-TR" dirty="0"/>
              <a:t>bir elemanı herhangi türden bir gösterici olabilir. Aşağıdaki örneği inceleyin:</a:t>
            </a:r>
          </a:p>
          <a:p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Person</a:t>
            </a:r>
            <a:r>
              <a:rPr lang="tr-TR" dirty="0"/>
              <a:t> {</a:t>
            </a:r>
          </a:p>
          <a:p>
            <a:r>
              <a:rPr lang="tr-TR" dirty="0" err="1"/>
              <a:t>char</a:t>
            </a:r>
            <a:r>
              <a:rPr lang="tr-TR" dirty="0"/>
              <a:t> *</a:t>
            </a:r>
            <a:r>
              <a:rPr lang="tr-TR" dirty="0" err="1"/>
              <a:t>name_ptr</a:t>
            </a:r>
            <a:r>
              <a:rPr lang="tr-TR" dirty="0"/>
              <a:t>;</a:t>
            </a:r>
          </a:p>
          <a:p>
            <a:r>
              <a:rPr lang="tr-TR" dirty="0"/>
              <a:t>int </a:t>
            </a:r>
            <a:r>
              <a:rPr lang="tr-TR" dirty="0" err="1"/>
              <a:t>no</a:t>
            </a:r>
            <a:r>
              <a:rPr lang="tr-TR" dirty="0"/>
              <a:t>;</a:t>
            </a:r>
          </a:p>
          <a:p>
            <a:r>
              <a:rPr lang="tr-TR" dirty="0"/>
              <a:t>};</a:t>
            </a:r>
          </a:p>
          <a:p>
            <a:r>
              <a:rPr lang="tr-TR" dirty="0"/>
              <a:t>int main()</a:t>
            </a:r>
          </a:p>
          <a:p>
            <a:r>
              <a:rPr lang="tr-TR" dirty="0"/>
              <a:t>{</a:t>
            </a:r>
          </a:p>
          <a:p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Person</a:t>
            </a:r>
            <a:r>
              <a:rPr lang="tr-TR" dirty="0"/>
              <a:t> </a:t>
            </a:r>
            <a:r>
              <a:rPr lang="tr-TR" dirty="0" err="1"/>
              <a:t>per</a:t>
            </a:r>
            <a:r>
              <a:rPr lang="tr-TR" dirty="0"/>
              <a:t>;</a:t>
            </a:r>
          </a:p>
          <a:p>
            <a:r>
              <a:rPr lang="tr-TR" dirty="0"/>
              <a:t>per.name_ptr = "Necati Ergin";</a:t>
            </a:r>
          </a:p>
          <a:p>
            <a:r>
              <a:rPr lang="tr-TR" dirty="0"/>
              <a:t>per.no = 125;</a:t>
            </a:r>
          </a:p>
          <a:p>
            <a:r>
              <a:rPr lang="pt-BR" dirty="0"/>
              <a:t>printf("%s %d\n", per.name_ptr, per.no);</a:t>
            </a:r>
          </a:p>
          <a:p>
            <a:r>
              <a:rPr lang="tr-TR" dirty="0" err="1"/>
              <a:t>return</a:t>
            </a:r>
            <a:r>
              <a:rPr lang="tr-TR" dirty="0"/>
              <a:t> 0;</a:t>
            </a:r>
          </a:p>
          <a:p>
            <a:r>
              <a:rPr lang="tr-TR" dirty="0"/>
              <a:t>}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36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3341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tr-TR" dirty="0"/>
              <a:t>*per.name_ptr</a:t>
            </a:r>
          </a:p>
          <a:p>
            <a:pPr marL="0" indent="0">
              <a:buNone/>
            </a:pPr>
            <a:r>
              <a:rPr lang="tr-TR" dirty="0" err="1"/>
              <a:t>per.name_ptr</a:t>
            </a:r>
            <a:r>
              <a:rPr lang="tr-TR" dirty="0"/>
              <a:t>[n]</a:t>
            </a:r>
          </a:p>
          <a:p>
            <a:pPr marL="0" indent="0">
              <a:buNone/>
            </a:pPr>
            <a:r>
              <a:rPr lang="tr-TR" dirty="0"/>
              <a:t>ifadelerine gösterici hatası oluşturmadan atama yapabilmek için, önce eleman olan</a:t>
            </a:r>
          </a:p>
          <a:p>
            <a:pPr marL="0" indent="0">
              <a:buNone/>
            </a:pPr>
            <a:r>
              <a:rPr lang="tr-TR" dirty="0"/>
              <a:t>göstericinin güvenilir bir yeri göstermesi gerekir.</a:t>
            </a:r>
          </a:p>
          <a:p>
            <a:pPr marL="0" indent="0">
              <a:buNone/>
            </a:pPr>
            <a:r>
              <a:rPr lang="tr-TR" dirty="0"/>
              <a:t>Bir yapının elemanının bir gösterici olması çoğu zaman, yapı nesnesinin dinamik olarak</a:t>
            </a:r>
          </a:p>
          <a:p>
            <a:pPr marL="0" indent="0">
              <a:buNone/>
            </a:pPr>
            <a:r>
              <a:rPr lang="tr-TR" dirty="0"/>
              <a:t>elde edilen bir bellek alanını kullanması amacıyla istenir. </a:t>
            </a: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pPr marL="0" indent="0">
              <a:buNone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stdlib.h</a:t>
            </a:r>
            <a:r>
              <a:rPr lang="tr-TR" dirty="0"/>
              <a:t>&gt;</a:t>
            </a:r>
          </a:p>
          <a:p>
            <a:pPr marL="0" indent="0">
              <a:buNone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string.h</a:t>
            </a:r>
            <a:r>
              <a:rPr lang="tr-TR" dirty="0"/>
              <a:t>&gt;</a:t>
            </a:r>
          </a:p>
          <a:p>
            <a:pPr marL="0" indent="0">
              <a:buNone/>
            </a:pPr>
            <a:r>
              <a:rPr lang="tr-TR" dirty="0"/>
              <a:t>#define ARRAY_SIZE 100</a:t>
            </a:r>
          </a:p>
          <a:p>
            <a:pPr marL="0" indent="0">
              <a:buNone/>
            </a:pPr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Person</a:t>
            </a:r>
            <a:r>
              <a:rPr lang="tr-TR" dirty="0"/>
              <a:t> {</a:t>
            </a:r>
          </a:p>
          <a:p>
            <a:pPr marL="0" indent="0">
              <a:buNone/>
            </a:pPr>
            <a:r>
              <a:rPr lang="tr-TR" dirty="0" err="1"/>
              <a:t>char</a:t>
            </a:r>
            <a:r>
              <a:rPr lang="tr-TR" dirty="0"/>
              <a:t> *</a:t>
            </a:r>
            <a:r>
              <a:rPr lang="tr-TR" dirty="0" err="1"/>
              <a:t>name_ptr</a:t>
            </a:r>
            <a:r>
              <a:rPr lang="tr-TR" dirty="0"/>
              <a:t>;</a:t>
            </a:r>
          </a:p>
          <a:p>
            <a:pPr marL="0" indent="0">
              <a:buNone/>
            </a:pPr>
            <a:r>
              <a:rPr lang="tr-TR" dirty="0"/>
              <a:t>int </a:t>
            </a:r>
            <a:r>
              <a:rPr lang="tr-TR" dirty="0" err="1"/>
              <a:t>no</a:t>
            </a:r>
            <a:r>
              <a:rPr lang="tr-TR" dirty="0"/>
              <a:t>;</a:t>
            </a:r>
          </a:p>
          <a:p>
            <a:pPr marL="0" indent="0">
              <a:buNone/>
            </a:pPr>
            <a:r>
              <a:rPr lang="tr-TR" dirty="0" smtClean="0"/>
              <a:t>};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37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55984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İçerik Yer Tutucusu 4"/>
          <p:cNvSpPr>
            <a:spLocks noGrp="1"/>
          </p:cNvSpPr>
          <p:nvPr>
            <p:ph idx="1"/>
          </p:nvPr>
        </p:nvSpPr>
        <p:spPr>
          <a:xfrm>
            <a:off x="251520" y="244906"/>
            <a:ext cx="9073008" cy="6384731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tr-TR" sz="4400" dirty="0"/>
              <a:t>int main</a:t>
            </a:r>
          </a:p>
          <a:p>
            <a:pPr marL="0" indent="0">
              <a:buNone/>
            </a:pPr>
            <a:r>
              <a:rPr lang="tr-TR" sz="4400" dirty="0" smtClean="0"/>
              <a:t>()</a:t>
            </a:r>
            <a:endParaRPr lang="tr-TR" sz="4400" dirty="0"/>
          </a:p>
          <a:p>
            <a:pPr marL="0" indent="0">
              <a:buNone/>
            </a:pPr>
            <a:r>
              <a:rPr lang="tr-TR" sz="4400" dirty="0"/>
              <a:t>{</a:t>
            </a:r>
          </a:p>
          <a:p>
            <a:pPr marL="0" indent="0">
              <a:buNone/>
            </a:pPr>
            <a:r>
              <a:rPr lang="tr-TR" sz="4400" dirty="0" err="1"/>
              <a:t>struct</a:t>
            </a:r>
            <a:r>
              <a:rPr lang="tr-TR" sz="4400" dirty="0"/>
              <a:t> </a:t>
            </a:r>
            <a:r>
              <a:rPr lang="tr-TR" sz="4400" dirty="0" err="1"/>
              <a:t>Person</a:t>
            </a:r>
            <a:r>
              <a:rPr lang="tr-TR" sz="4400" dirty="0"/>
              <a:t> </a:t>
            </a:r>
            <a:r>
              <a:rPr lang="tr-TR" sz="4400" dirty="0" err="1"/>
              <a:t>per</a:t>
            </a:r>
            <a:r>
              <a:rPr lang="tr-TR" sz="4400" dirty="0"/>
              <a:t>;</a:t>
            </a:r>
          </a:p>
          <a:p>
            <a:pPr marL="0" indent="0">
              <a:buNone/>
            </a:pPr>
            <a:r>
              <a:rPr lang="tr-TR" sz="4400" dirty="0" err="1"/>
              <a:t>char</a:t>
            </a:r>
            <a:r>
              <a:rPr lang="tr-TR" sz="4400" dirty="0"/>
              <a:t> </a:t>
            </a:r>
            <a:r>
              <a:rPr lang="tr-TR" sz="4400" dirty="0" err="1"/>
              <a:t>name_entry</a:t>
            </a:r>
            <a:r>
              <a:rPr lang="tr-TR" sz="4400" dirty="0"/>
              <a:t>[ARRAY_SIZE];</a:t>
            </a:r>
          </a:p>
          <a:p>
            <a:pPr marL="0" indent="0">
              <a:buNone/>
            </a:pPr>
            <a:r>
              <a:rPr lang="tr-TR" sz="4400" dirty="0" err="1"/>
              <a:t>printf</a:t>
            </a:r>
            <a:r>
              <a:rPr lang="tr-TR" sz="4400" dirty="0"/>
              <a:t>("ismi giriniz : ");</a:t>
            </a:r>
          </a:p>
          <a:p>
            <a:pPr marL="0" indent="0">
              <a:buNone/>
            </a:pPr>
            <a:r>
              <a:rPr lang="tr-TR" sz="4400" dirty="0" err="1"/>
              <a:t>gets</a:t>
            </a:r>
            <a:r>
              <a:rPr lang="tr-TR" sz="4400" dirty="0"/>
              <a:t>(</a:t>
            </a:r>
            <a:r>
              <a:rPr lang="tr-TR" sz="4400" dirty="0" err="1"/>
              <a:t>name_entry</a:t>
            </a:r>
            <a:r>
              <a:rPr lang="tr-TR" sz="4400" dirty="0"/>
              <a:t>);</a:t>
            </a:r>
          </a:p>
          <a:p>
            <a:pPr marL="0" indent="0">
              <a:buNone/>
            </a:pPr>
            <a:r>
              <a:rPr lang="tr-TR" sz="4400" dirty="0"/>
              <a:t>per.name_ptr = (</a:t>
            </a:r>
            <a:r>
              <a:rPr lang="tr-TR" sz="4400" dirty="0" err="1"/>
              <a:t>char</a:t>
            </a:r>
            <a:r>
              <a:rPr lang="tr-TR" sz="4400" dirty="0"/>
              <a:t> *)</a:t>
            </a:r>
            <a:r>
              <a:rPr lang="tr-TR" sz="4400" dirty="0" err="1"/>
              <a:t>malloc</a:t>
            </a:r>
            <a:r>
              <a:rPr lang="tr-TR" sz="4400" dirty="0"/>
              <a:t>(</a:t>
            </a:r>
            <a:r>
              <a:rPr lang="tr-TR" sz="4400" dirty="0" err="1"/>
              <a:t>strlen</a:t>
            </a:r>
            <a:r>
              <a:rPr lang="tr-TR" sz="4400" dirty="0"/>
              <a:t>(</a:t>
            </a:r>
            <a:r>
              <a:rPr lang="tr-TR" sz="4400" dirty="0" err="1"/>
              <a:t>name_entry</a:t>
            </a:r>
            <a:r>
              <a:rPr lang="tr-TR" sz="4400" dirty="0"/>
              <a:t>) + 1);</a:t>
            </a:r>
          </a:p>
          <a:p>
            <a:pPr marL="0" indent="0">
              <a:buNone/>
            </a:pPr>
            <a:r>
              <a:rPr lang="tr-TR" sz="4400" dirty="0" err="1"/>
              <a:t>if</a:t>
            </a:r>
            <a:r>
              <a:rPr lang="tr-TR" sz="4400" dirty="0"/>
              <a:t> (per.name_ptr == NULL) {</a:t>
            </a:r>
          </a:p>
          <a:p>
            <a:pPr marL="0" indent="0">
              <a:buNone/>
            </a:pPr>
            <a:r>
              <a:rPr lang="tr-TR" sz="4400" dirty="0" err="1"/>
              <a:t>printf</a:t>
            </a:r>
            <a:r>
              <a:rPr lang="tr-TR" sz="4400" dirty="0"/>
              <a:t>("bellek tahsis edilemiyor!\n");</a:t>
            </a:r>
          </a:p>
          <a:p>
            <a:pPr marL="0" indent="0">
              <a:buNone/>
            </a:pPr>
            <a:r>
              <a:rPr lang="tr-TR" sz="4400" dirty="0" err="1"/>
              <a:t>exit</a:t>
            </a:r>
            <a:r>
              <a:rPr lang="tr-TR" sz="4400" dirty="0"/>
              <a:t>(EXIT_FAILURE);</a:t>
            </a:r>
          </a:p>
          <a:p>
            <a:pPr marL="0" indent="0">
              <a:buNone/>
            </a:pPr>
            <a:r>
              <a:rPr lang="tr-TR" sz="4400" dirty="0"/>
              <a:t>}</a:t>
            </a:r>
          </a:p>
          <a:p>
            <a:pPr marL="0" indent="0">
              <a:buNone/>
            </a:pPr>
            <a:r>
              <a:rPr lang="tr-TR" sz="4400" dirty="0" err="1">
                <a:solidFill>
                  <a:srgbClr val="FF0000"/>
                </a:solidFill>
              </a:rPr>
              <a:t>strcpy</a:t>
            </a:r>
            <a:r>
              <a:rPr lang="tr-TR" sz="4400" dirty="0">
                <a:solidFill>
                  <a:srgbClr val="FF0000"/>
                </a:solidFill>
              </a:rPr>
              <a:t>(</a:t>
            </a:r>
            <a:r>
              <a:rPr lang="tr-TR" sz="4400" dirty="0" err="1">
                <a:solidFill>
                  <a:srgbClr val="FF0000"/>
                </a:solidFill>
              </a:rPr>
              <a:t>per.name_ptr</a:t>
            </a:r>
            <a:r>
              <a:rPr lang="tr-TR" sz="4400" dirty="0">
                <a:solidFill>
                  <a:srgbClr val="FF0000"/>
                </a:solidFill>
              </a:rPr>
              <a:t>, </a:t>
            </a:r>
            <a:r>
              <a:rPr lang="tr-TR" sz="4400" dirty="0" err="1">
                <a:solidFill>
                  <a:srgbClr val="FF0000"/>
                </a:solidFill>
              </a:rPr>
              <a:t>name_entry</a:t>
            </a:r>
            <a:r>
              <a:rPr lang="tr-TR" sz="4400" dirty="0">
                <a:solidFill>
                  <a:srgbClr val="FF0000"/>
                </a:solidFill>
              </a:rPr>
              <a:t>);</a:t>
            </a:r>
          </a:p>
          <a:p>
            <a:pPr marL="0" indent="0">
              <a:buNone/>
            </a:pPr>
            <a:r>
              <a:rPr lang="tr-TR" sz="4400" dirty="0" err="1"/>
              <a:t>printf</a:t>
            </a:r>
            <a:r>
              <a:rPr lang="tr-TR" sz="4400" dirty="0"/>
              <a:t>("</a:t>
            </a:r>
            <a:r>
              <a:rPr lang="tr-TR" sz="4400" dirty="0" err="1"/>
              <a:t>numarayi</a:t>
            </a:r>
            <a:r>
              <a:rPr lang="tr-TR" sz="4400" dirty="0"/>
              <a:t> giriniz : ");</a:t>
            </a:r>
          </a:p>
          <a:p>
            <a:pPr marL="0" indent="0">
              <a:buNone/>
            </a:pPr>
            <a:r>
              <a:rPr lang="tr-TR" sz="4400" dirty="0" err="1"/>
              <a:t>scanf</a:t>
            </a:r>
            <a:r>
              <a:rPr lang="tr-TR" sz="4400" dirty="0"/>
              <a:t>("%d", &amp;per.no);</a:t>
            </a:r>
          </a:p>
          <a:p>
            <a:pPr marL="0" indent="0">
              <a:buNone/>
            </a:pPr>
            <a:r>
              <a:rPr lang="pt-BR" sz="4400" dirty="0"/>
              <a:t>printf("isim = %s\nNo : %d\n", per.name_ptr, per.no);</a:t>
            </a:r>
          </a:p>
          <a:p>
            <a:pPr marL="0" indent="0">
              <a:buNone/>
            </a:pPr>
            <a:r>
              <a:rPr lang="tr-TR" sz="4400" dirty="0"/>
              <a:t>/*...*/</a:t>
            </a:r>
          </a:p>
          <a:p>
            <a:pPr marL="0" indent="0">
              <a:buNone/>
            </a:pPr>
            <a:r>
              <a:rPr lang="tr-TR" sz="4400" dirty="0" err="1"/>
              <a:t>free</a:t>
            </a:r>
            <a:r>
              <a:rPr lang="tr-TR" sz="4400" dirty="0"/>
              <a:t>(</a:t>
            </a:r>
            <a:r>
              <a:rPr lang="tr-TR" sz="4400" dirty="0" err="1"/>
              <a:t>per.name_ptr</a:t>
            </a:r>
            <a:r>
              <a:rPr lang="tr-TR" sz="4400" dirty="0"/>
              <a:t>);</a:t>
            </a:r>
          </a:p>
          <a:p>
            <a:pPr marL="0" indent="0">
              <a:buNone/>
            </a:pPr>
            <a:r>
              <a:rPr lang="tr-TR" sz="4400" dirty="0" err="1"/>
              <a:t>return</a:t>
            </a:r>
            <a:r>
              <a:rPr lang="tr-TR" sz="4400" dirty="0"/>
              <a:t> 0;</a:t>
            </a:r>
          </a:p>
          <a:p>
            <a:pPr marL="0" indent="0">
              <a:buNone/>
            </a:pPr>
            <a:r>
              <a:rPr lang="tr-TR" dirty="0"/>
              <a:t>}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38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3400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39</a:t>
            </a:fld>
            <a:endParaRPr lang="tr-TR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37" y="519982"/>
            <a:ext cx="7878663" cy="562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8491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715163" y="312636"/>
            <a:ext cx="7772400" cy="784128"/>
          </a:xfrm>
        </p:spPr>
        <p:txBody>
          <a:bodyPr>
            <a:normAutofit fontScale="90000"/>
          </a:bodyPr>
          <a:lstStyle/>
          <a:p>
            <a:r>
              <a:rPr lang="tr-TR" b="1" dirty="0"/>
              <a:t>Yapı Değişkenlerine </a:t>
            </a:r>
            <a:r>
              <a:rPr lang="tr-TR" b="1" dirty="0" err="1"/>
              <a:t>İlkdeğer</a:t>
            </a:r>
            <a:r>
              <a:rPr lang="tr-TR" b="1" dirty="0"/>
              <a:t> Verilmesi</a:t>
            </a:r>
            <a:br>
              <a:rPr lang="tr-TR" b="1" dirty="0"/>
            </a:br>
            <a:endParaRPr lang="tr-TR" dirty="0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>
          <a:xfrm>
            <a:off x="755576" y="1232554"/>
            <a:ext cx="7846640" cy="5199432"/>
          </a:xfrm>
        </p:spPr>
        <p:txBody>
          <a:bodyPr>
            <a:normAutofit fontScale="70000" lnSpcReduction="20000"/>
          </a:bodyPr>
          <a:lstStyle/>
          <a:p>
            <a:r>
              <a:rPr lang="tr-TR" dirty="0" smtClean="0"/>
              <a:t>Dizilere </a:t>
            </a:r>
            <a:r>
              <a:rPr lang="tr-TR" dirty="0" err="1"/>
              <a:t>ilkdeğer</a:t>
            </a:r>
            <a:r>
              <a:rPr lang="tr-TR" dirty="0"/>
              <a:t> vermeye ilişkin özel bir sözdizimi olduğunu biliyorsunuz. Yapı</a:t>
            </a:r>
          </a:p>
          <a:p>
            <a:r>
              <a:rPr lang="tr-TR" dirty="0"/>
              <a:t>değişkenlerine de benzer bir </a:t>
            </a:r>
            <a:r>
              <a:rPr lang="tr-TR" dirty="0" err="1"/>
              <a:t>sözdizimle</a:t>
            </a:r>
            <a:r>
              <a:rPr lang="tr-TR" dirty="0"/>
              <a:t> </a:t>
            </a:r>
            <a:r>
              <a:rPr lang="tr-TR" dirty="0" err="1"/>
              <a:t>ilkdeğer</a:t>
            </a:r>
            <a:r>
              <a:rPr lang="tr-TR" dirty="0"/>
              <a:t> verilebilir. Verilen </a:t>
            </a:r>
            <a:r>
              <a:rPr lang="tr-TR" dirty="0" err="1"/>
              <a:t>ilkdeğerler</a:t>
            </a:r>
            <a:r>
              <a:rPr lang="tr-TR" dirty="0"/>
              <a:t> sırası ile</a:t>
            </a:r>
          </a:p>
          <a:p>
            <a:r>
              <a:rPr lang="tr-TR" dirty="0"/>
              <a:t>yapı elemanlarına yerleştirilir. Daha az sayıda yapı elemanına </a:t>
            </a:r>
            <a:r>
              <a:rPr lang="tr-TR" dirty="0" err="1"/>
              <a:t>ilkdeğer</a:t>
            </a:r>
            <a:r>
              <a:rPr lang="tr-TR" dirty="0"/>
              <a:t> verilebilir. Bu</a:t>
            </a:r>
          </a:p>
          <a:p>
            <a:r>
              <a:rPr lang="tr-TR" dirty="0"/>
              <a:t>durumda </a:t>
            </a:r>
            <a:r>
              <a:rPr lang="tr-TR" dirty="0" err="1"/>
              <a:t>ilkdeğer</a:t>
            </a:r>
            <a:r>
              <a:rPr lang="tr-TR" dirty="0"/>
              <a:t> verilmemiş yapı elemanları otomatik olarak </a:t>
            </a:r>
            <a:r>
              <a:rPr lang="tr-TR" i="1" dirty="0"/>
              <a:t>0 </a:t>
            </a:r>
            <a:r>
              <a:rPr lang="tr-TR" dirty="0"/>
              <a:t>değeri alır.</a:t>
            </a:r>
          </a:p>
          <a:p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Date</a:t>
            </a:r>
            <a:r>
              <a:rPr lang="tr-TR" dirty="0"/>
              <a:t> {</a:t>
            </a:r>
          </a:p>
          <a:p>
            <a:r>
              <a:rPr lang="tr-TR" dirty="0"/>
              <a:t>int </a:t>
            </a:r>
            <a:r>
              <a:rPr lang="tr-TR" dirty="0" err="1"/>
              <a:t>day</a:t>
            </a:r>
            <a:r>
              <a:rPr lang="tr-TR" dirty="0"/>
              <a:t>, </a:t>
            </a:r>
            <a:r>
              <a:rPr lang="tr-TR" dirty="0" err="1"/>
              <a:t>month</a:t>
            </a:r>
            <a:r>
              <a:rPr lang="tr-TR" dirty="0"/>
              <a:t>, </a:t>
            </a:r>
            <a:r>
              <a:rPr lang="tr-TR" dirty="0" err="1"/>
              <a:t>year</a:t>
            </a:r>
            <a:r>
              <a:rPr lang="tr-TR" dirty="0"/>
              <a:t>;</a:t>
            </a:r>
          </a:p>
          <a:p>
            <a:r>
              <a:rPr lang="tr-TR" dirty="0"/>
              <a:t>};</a:t>
            </a:r>
          </a:p>
          <a:p>
            <a:r>
              <a:rPr lang="tr-TR" dirty="0"/>
              <a:t>int main()</a:t>
            </a:r>
          </a:p>
          <a:p>
            <a:r>
              <a:rPr lang="tr-TR" dirty="0"/>
              <a:t>{</a:t>
            </a:r>
          </a:p>
          <a:p>
            <a:r>
              <a:rPr lang="en-US" dirty="0" err="1"/>
              <a:t>struct</a:t>
            </a:r>
            <a:r>
              <a:rPr lang="en-US" dirty="0"/>
              <a:t> Date x = {10, 12, </a:t>
            </a:r>
            <a:r>
              <a:rPr lang="tr-TR" dirty="0" smtClean="0"/>
              <a:t>2018}</a:t>
            </a:r>
            <a:r>
              <a:rPr lang="en-US" dirty="0" smtClean="0"/>
              <a:t>;</a:t>
            </a:r>
            <a:endParaRPr lang="en-US" dirty="0"/>
          </a:p>
          <a:p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Date</a:t>
            </a:r>
            <a:r>
              <a:rPr lang="tr-TR" dirty="0"/>
              <a:t> y = {10};</a:t>
            </a:r>
          </a:p>
          <a:p>
            <a:r>
              <a:rPr lang="tr-TR" dirty="0" err="1"/>
              <a:t>printf</a:t>
            </a:r>
            <a:r>
              <a:rPr lang="tr-TR" dirty="0"/>
              <a:t>("%d %d %d\n", </a:t>
            </a:r>
            <a:r>
              <a:rPr lang="tr-TR" dirty="0" err="1"/>
              <a:t>x.day</a:t>
            </a:r>
            <a:r>
              <a:rPr lang="tr-TR" dirty="0"/>
              <a:t>, </a:t>
            </a:r>
            <a:r>
              <a:rPr lang="tr-TR" dirty="0" err="1"/>
              <a:t>x.month</a:t>
            </a:r>
            <a:r>
              <a:rPr lang="tr-TR" dirty="0"/>
              <a:t>, </a:t>
            </a:r>
            <a:r>
              <a:rPr lang="tr-TR" dirty="0" err="1"/>
              <a:t>x.year</a:t>
            </a:r>
            <a:r>
              <a:rPr lang="tr-TR" dirty="0"/>
              <a:t>);</a:t>
            </a:r>
          </a:p>
          <a:p>
            <a:r>
              <a:rPr lang="en-US" dirty="0" err="1"/>
              <a:t>printf</a:t>
            </a:r>
            <a:r>
              <a:rPr lang="en-US" dirty="0"/>
              <a:t>("%d %d %d\n", </a:t>
            </a:r>
            <a:r>
              <a:rPr lang="en-US" dirty="0" err="1"/>
              <a:t>y.day</a:t>
            </a:r>
            <a:r>
              <a:rPr lang="en-US" dirty="0"/>
              <a:t>, </a:t>
            </a:r>
            <a:r>
              <a:rPr lang="en-US" dirty="0" err="1"/>
              <a:t>y.month</a:t>
            </a:r>
            <a:r>
              <a:rPr lang="en-US" dirty="0"/>
              <a:t>, </a:t>
            </a:r>
            <a:r>
              <a:rPr lang="en-US" dirty="0" err="1"/>
              <a:t>y.year</a:t>
            </a:r>
            <a:r>
              <a:rPr lang="en-US" dirty="0"/>
              <a:t>);</a:t>
            </a:r>
          </a:p>
          <a:p>
            <a:r>
              <a:rPr lang="tr-TR" dirty="0" err="1"/>
              <a:t>return</a:t>
            </a:r>
            <a:r>
              <a:rPr lang="tr-TR" dirty="0"/>
              <a:t> 0;</a:t>
            </a:r>
          </a:p>
          <a:p>
            <a:r>
              <a:rPr lang="tr-TR" dirty="0"/>
              <a:t>}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40</a:t>
            </a:fld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539" y="2443760"/>
            <a:ext cx="226695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67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dirty="0"/>
              <a:t>Dizilerde olduğu gibi, yapılarda da bir yapı nesnesinin elemanlarından daha fazla </a:t>
            </a:r>
            <a:r>
              <a:rPr lang="tr-TR" dirty="0" smtClean="0"/>
              <a:t>sayıda elemana </a:t>
            </a:r>
            <a:r>
              <a:rPr lang="tr-TR" dirty="0" err="1"/>
              <a:t>ilkdeğer</a:t>
            </a:r>
            <a:r>
              <a:rPr lang="tr-TR" dirty="0"/>
              <a:t> vermek geçersizdir. Yapının içinde yazı tutmak için bildirilen </a:t>
            </a:r>
            <a:r>
              <a:rPr lang="tr-TR" i="1" dirty="0" err="1" smtClean="0"/>
              <a:t>char</a:t>
            </a:r>
            <a:r>
              <a:rPr lang="tr-TR" i="1" dirty="0"/>
              <a:t> </a:t>
            </a:r>
            <a:r>
              <a:rPr lang="tr-TR" dirty="0" smtClean="0"/>
              <a:t>türden </a:t>
            </a:r>
            <a:r>
              <a:rPr lang="tr-TR" dirty="0"/>
              <a:t>bir dizi var ise bu diziye de çift tırnak içinde ayrıca </a:t>
            </a:r>
            <a:r>
              <a:rPr lang="tr-TR" dirty="0" err="1"/>
              <a:t>ilkdeğer</a:t>
            </a:r>
            <a:r>
              <a:rPr lang="tr-TR" dirty="0"/>
              <a:t> verilebilir:</a:t>
            </a:r>
          </a:p>
          <a:p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r>
              <a:rPr lang="tr-TR" dirty="0"/>
              <a:t>#define MAX_NAME_LEN 20</a:t>
            </a:r>
          </a:p>
          <a:p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Person</a:t>
            </a:r>
            <a:r>
              <a:rPr lang="tr-TR" dirty="0"/>
              <a:t> {</a:t>
            </a:r>
          </a:p>
          <a:p>
            <a:r>
              <a:rPr lang="tr-TR" dirty="0" err="1"/>
              <a:t>char</a:t>
            </a:r>
            <a:r>
              <a:rPr lang="tr-TR" dirty="0"/>
              <a:t> name[MAX_NAME_LEN + 1];</a:t>
            </a:r>
          </a:p>
          <a:p>
            <a:r>
              <a:rPr lang="tr-TR" dirty="0"/>
              <a:t>int </a:t>
            </a:r>
            <a:r>
              <a:rPr lang="tr-TR" dirty="0" err="1"/>
              <a:t>no</a:t>
            </a:r>
            <a:r>
              <a:rPr lang="tr-TR" dirty="0"/>
              <a:t>;</a:t>
            </a:r>
          </a:p>
          <a:p>
            <a:r>
              <a:rPr lang="tr-TR" dirty="0"/>
              <a:t>};</a:t>
            </a:r>
          </a:p>
          <a:p>
            <a:r>
              <a:rPr lang="tr-TR" dirty="0"/>
              <a:t>int main()</a:t>
            </a:r>
          </a:p>
          <a:p>
            <a:r>
              <a:rPr lang="tr-TR" dirty="0"/>
              <a:t>{</a:t>
            </a:r>
          </a:p>
          <a:p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Person</a:t>
            </a:r>
            <a:r>
              <a:rPr lang="tr-TR" dirty="0"/>
              <a:t> </a:t>
            </a:r>
            <a:r>
              <a:rPr lang="tr-TR" dirty="0" err="1"/>
              <a:t>per</a:t>
            </a:r>
            <a:r>
              <a:rPr lang="tr-TR" dirty="0"/>
              <a:t> = {"Mustafa", 256};</a:t>
            </a:r>
          </a:p>
          <a:p>
            <a:r>
              <a:rPr lang="pt-BR" dirty="0"/>
              <a:t>printf("isim : %s\nNo : %d\n", per.name, per.no);</a:t>
            </a:r>
          </a:p>
          <a:p>
            <a:r>
              <a:rPr lang="tr-TR" dirty="0" err="1"/>
              <a:t>return</a:t>
            </a:r>
            <a:r>
              <a:rPr lang="tr-TR" dirty="0"/>
              <a:t> 0;</a:t>
            </a:r>
          </a:p>
          <a:p>
            <a:r>
              <a:rPr lang="tr-TR" dirty="0"/>
              <a:t>}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41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938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>
          <a:xfrm>
            <a:off x="612648" y="1600200"/>
            <a:ext cx="8639872" cy="5257800"/>
          </a:xfrm>
        </p:spPr>
        <p:txBody>
          <a:bodyPr>
            <a:normAutofit fontScale="62500" lnSpcReduction="20000"/>
          </a:bodyPr>
          <a:lstStyle/>
          <a:p>
            <a:r>
              <a:rPr lang="tr-TR" dirty="0"/>
              <a:t>Yapı elemanı olan dizinin bütün elemanlarına değil de, belirli sayıda elemanına </a:t>
            </a:r>
            <a:r>
              <a:rPr lang="tr-TR" dirty="0" err="1"/>
              <a:t>ilkdeğer</a:t>
            </a:r>
            <a:endParaRPr lang="tr-TR" dirty="0"/>
          </a:p>
          <a:p>
            <a:r>
              <a:rPr lang="tr-TR" dirty="0"/>
              <a:t>vermek mümkündür. </a:t>
            </a:r>
            <a:endParaRPr lang="tr-TR" dirty="0" smtClean="0"/>
          </a:p>
          <a:p>
            <a:r>
              <a:rPr lang="tr-TR" dirty="0" err="1" smtClean="0"/>
              <a:t>struct</a:t>
            </a:r>
            <a:r>
              <a:rPr lang="tr-TR" dirty="0" smtClean="0"/>
              <a:t> </a:t>
            </a:r>
            <a:r>
              <a:rPr lang="tr-TR" dirty="0" err="1"/>
              <a:t>Sample</a:t>
            </a:r>
            <a:r>
              <a:rPr lang="tr-TR" dirty="0"/>
              <a:t> {</a:t>
            </a:r>
          </a:p>
          <a:p>
            <a:r>
              <a:rPr lang="tr-TR" dirty="0"/>
              <a:t>int x;</a:t>
            </a:r>
          </a:p>
          <a:p>
            <a:r>
              <a:rPr lang="tr-TR" dirty="0"/>
              <a:t>int a[10];</a:t>
            </a:r>
          </a:p>
          <a:p>
            <a:r>
              <a:rPr lang="tr-TR" dirty="0" err="1"/>
              <a:t>double</a:t>
            </a:r>
            <a:r>
              <a:rPr lang="tr-TR" dirty="0"/>
              <a:t> d;</a:t>
            </a:r>
          </a:p>
          <a:p>
            <a:r>
              <a:rPr lang="tr-TR" dirty="0"/>
              <a:t>};</a:t>
            </a:r>
          </a:p>
          <a:p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r>
              <a:rPr lang="tr-TR" dirty="0"/>
              <a:t>int main()</a:t>
            </a:r>
          </a:p>
          <a:p>
            <a:r>
              <a:rPr lang="tr-TR" dirty="0"/>
              <a:t>{</a:t>
            </a:r>
          </a:p>
          <a:p>
            <a:r>
              <a:rPr lang="en-US" dirty="0" err="1"/>
              <a:t>struct</a:t>
            </a:r>
            <a:r>
              <a:rPr lang="en-US" dirty="0"/>
              <a:t> Sample </a:t>
            </a:r>
            <a:r>
              <a:rPr lang="en-US" dirty="0" err="1"/>
              <a:t>sam</a:t>
            </a:r>
            <a:r>
              <a:rPr lang="en-US" dirty="0"/>
              <a:t> = {20, 1, 2, 3, 7.8};</a:t>
            </a:r>
          </a:p>
          <a:p>
            <a:r>
              <a:rPr lang="tr-TR" dirty="0"/>
              <a:t>int k;</a:t>
            </a:r>
          </a:p>
          <a:p>
            <a:r>
              <a:rPr lang="tr-TR" dirty="0" err="1"/>
              <a:t>printf</a:t>
            </a:r>
            <a:r>
              <a:rPr lang="tr-TR" dirty="0"/>
              <a:t>("</a:t>
            </a:r>
            <a:r>
              <a:rPr lang="tr-TR" dirty="0" err="1"/>
              <a:t>sam.x</a:t>
            </a:r>
            <a:r>
              <a:rPr lang="tr-TR" dirty="0"/>
              <a:t> = %d\n", </a:t>
            </a:r>
            <a:r>
              <a:rPr lang="tr-TR" dirty="0" err="1"/>
              <a:t>sam.x</a:t>
            </a:r>
            <a:r>
              <a:rPr lang="tr-TR" dirty="0"/>
              <a:t>);</a:t>
            </a:r>
          </a:p>
          <a:p>
            <a:r>
              <a:rPr lang="nn-NO" dirty="0"/>
              <a:t>for (k = 0; k &lt; 10; ++k)</a:t>
            </a:r>
          </a:p>
          <a:p>
            <a:r>
              <a:rPr lang="tr-TR" dirty="0" err="1"/>
              <a:t>printf</a:t>
            </a:r>
            <a:r>
              <a:rPr lang="tr-TR" dirty="0"/>
              <a:t>("</a:t>
            </a:r>
            <a:r>
              <a:rPr lang="tr-TR" dirty="0" err="1"/>
              <a:t>sam.a</a:t>
            </a:r>
            <a:r>
              <a:rPr lang="tr-TR" dirty="0"/>
              <a:t>[%d] = %d\n", k, </a:t>
            </a:r>
            <a:r>
              <a:rPr lang="tr-TR" dirty="0" err="1"/>
              <a:t>sam.a</a:t>
            </a:r>
            <a:r>
              <a:rPr lang="tr-TR" dirty="0"/>
              <a:t>[k]);</a:t>
            </a:r>
          </a:p>
          <a:p>
            <a:r>
              <a:rPr lang="tr-TR" dirty="0" err="1"/>
              <a:t>printf</a:t>
            </a:r>
            <a:r>
              <a:rPr lang="tr-TR" dirty="0"/>
              <a:t>("</a:t>
            </a:r>
            <a:r>
              <a:rPr lang="tr-TR" dirty="0" err="1"/>
              <a:t>sam.d</a:t>
            </a:r>
            <a:r>
              <a:rPr lang="tr-TR" dirty="0"/>
              <a:t> = %</a:t>
            </a:r>
            <a:r>
              <a:rPr lang="tr-TR" dirty="0" err="1"/>
              <a:t>lf</a:t>
            </a:r>
            <a:r>
              <a:rPr lang="tr-TR" dirty="0"/>
              <a:t>\n", </a:t>
            </a:r>
            <a:r>
              <a:rPr lang="tr-TR" dirty="0" err="1"/>
              <a:t>sam.d</a:t>
            </a:r>
            <a:r>
              <a:rPr lang="tr-TR" dirty="0"/>
              <a:t>);</a:t>
            </a:r>
          </a:p>
          <a:p>
            <a:r>
              <a:rPr lang="tr-TR" dirty="0" err="1"/>
              <a:t>return</a:t>
            </a:r>
            <a:r>
              <a:rPr lang="tr-TR" dirty="0"/>
              <a:t> 0;</a:t>
            </a:r>
          </a:p>
          <a:p>
            <a:r>
              <a:rPr lang="tr-TR" dirty="0"/>
              <a:t>}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42</a:t>
            </a:fld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2348880"/>
            <a:ext cx="187642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297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Aynı örneği </a:t>
            </a:r>
          </a:p>
          <a:p>
            <a:r>
              <a:rPr lang="en-US" dirty="0" err="1" smtClean="0"/>
              <a:t>struct</a:t>
            </a:r>
            <a:r>
              <a:rPr lang="en-US" dirty="0" smtClean="0"/>
              <a:t> </a:t>
            </a:r>
            <a:r>
              <a:rPr lang="en-US" dirty="0"/>
              <a:t>Sample </a:t>
            </a:r>
            <a:r>
              <a:rPr lang="en-US" dirty="0" err="1"/>
              <a:t>sam</a:t>
            </a:r>
            <a:r>
              <a:rPr lang="en-US" dirty="0"/>
              <a:t> = {20, {1, 2, 3}, 7.8</a:t>
            </a:r>
            <a:r>
              <a:rPr lang="en-US" dirty="0" smtClean="0"/>
              <a:t>};</a:t>
            </a:r>
            <a:r>
              <a:rPr lang="tr-TR" dirty="0" smtClean="0"/>
              <a:t> </a:t>
            </a:r>
          </a:p>
          <a:p>
            <a:r>
              <a:rPr lang="tr-TR" dirty="0" smtClean="0"/>
              <a:t>Değer ataması ile deneyiniz.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43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8079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277" y="972768"/>
            <a:ext cx="8313445" cy="4499391"/>
          </a:xfrm>
          <a:prstGeom prst="rect">
            <a:avLst/>
          </a:prstGeom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44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949640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Örnek: Değer alma ve görüntüleme 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77280" y="764704"/>
            <a:ext cx="8566720" cy="5983560"/>
          </a:xfrm>
        </p:spPr>
        <p:txBody>
          <a:bodyPr>
            <a:normAutofit fontScale="70000" lnSpcReduction="20000"/>
          </a:bodyPr>
          <a:lstStyle/>
          <a:p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stdlib.h</a:t>
            </a:r>
            <a:r>
              <a:rPr lang="tr-TR" dirty="0"/>
              <a:t>&gt;</a:t>
            </a:r>
          </a:p>
          <a:p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person</a:t>
            </a:r>
            <a:r>
              <a:rPr lang="tr-TR" dirty="0"/>
              <a:t> {</a:t>
            </a:r>
          </a:p>
          <a:p>
            <a:r>
              <a:rPr lang="tr-TR" dirty="0"/>
              <a:t>   int </a:t>
            </a:r>
            <a:r>
              <a:rPr lang="tr-TR" dirty="0" err="1"/>
              <a:t>age</a:t>
            </a:r>
            <a:r>
              <a:rPr lang="tr-TR" dirty="0"/>
              <a:t>;</a:t>
            </a:r>
          </a:p>
          <a:p>
            <a:r>
              <a:rPr lang="tr-TR" dirty="0"/>
              <a:t>   </a:t>
            </a:r>
            <a:r>
              <a:rPr lang="tr-TR" dirty="0" err="1"/>
              <a:t>float</a:t>
            </a:r>
            <a:r>
              <a:rPr lang="tr-TR" dirty="0"/>
              <a:t> </a:t>
            </a:r>
            <a:r>
              <a:rPr lang="tr-TR" dirty="0" err="1"/>
              <a:t>weight</a:t>
            </a:r>
            <a:r>
              <a:rPr lang="tr-TR" dirty="0"/>
              <a:t>;</a:t>
            </a:r>
          </a:p>
          <a:p>
            <a:r>
              <a:rPr lang="tr-TR" dirty="0"/>
              <a:t>   </a:t>
            </a:r>
            <a:r>
              <a:rPr lang="tr-TR" dirty="0" err="1"/>
              <a:t>char</a:t>
            </a:r>
            <a:r>
              <a:rPr lang="tr-TR" dirty="0"/>
              <a:t> name[30];};</a:t>
            </a:r>
          </a:p>
          <a:p>
            <a:r>
              <a:rPr lang="tr-TR" dirty="0"/>
              <a:t>int main()</a:t>
            </a:r>
          </a:p>
          <a:p>
            <a:r>
              <a:rPr lang="tr-TR" dirty="0"/>
              <a:t>{ </a:t>
            </a:r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person</a:t>
            </a:r>
            <a:r>
              <a:rPr lang="tr-TR" dirty="0"/>
              <a:t> *</a:t>
            </a:r>
            <a:r>
              <a:rPr lang="tr-TR" dirty="0" err="1"/>
              <a:t>ptr</a:t>
            </a:r>
            <a:r>
              <a:rPr lang="tr-TR" dirty="0"/>
              <a:t>;</a:t>
            </a:r>
          </a:p>
          <a:p>
            <a:r>
              <a:rPr lang="tr-TR" dirty="0"/>
              <a:t>   int i, n;</a:t>
            </a:r>
          </a:p>
          <a:p>
            <a:r>
              <a:rPr lang="tr-TR" dirty="0"/>
              <a:t>   </a:t>
            </a:r>
            <a:r>
              <a:rPr lang="tr-TR" dirty="0" err="1"/>
              <a:t>printf</a:t>
            </a:r>
            <a:r>
              <a:rPr lang="tr-TR" dirty="0"/>
              <a:t>("</a:t>
            </a:r>
            <a:r>
              <a:rPr lang="tr-TR" dirty="0" err="1"/>
              <a:t>Enter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 of </a:t>
            </a:r>
            <a:r>
              <a:rPr lang="tr-TR" dirty="0" err="1"/>
              <a:t>persons</a:t>
            </a:r>
            <a:r>
              <a:rPr lang="tr-TR" dirty="0"/>
              <a:t>: ");</a:t>
            </a:r>
          </a:p>
          <a:p>
            <a:r>
              <a:rPr lang="tr-TR" dirty="0"/>
              <a:t>   </a:t>
            </a:r>
            <a:r>
              <a:rPr lang="tr-TR" dirty="0" err="1"/>
              <a:t>scanf</a:t>
            </a:r>
            <a:r>
              <a:rPr lang="tr-TR" dirty="0"/>
              <a:t>("%d", &amp;n);</a:t>
            </a:r>
          </a:p>
          <a:p>
            <a:r>
              <a:rPr lang="tr-TR" b="1" dirty="0"/>
              <a:t>   </a:t>
            </a:r>
            <a:r>
              <a:rPr lang="tr-TR" b="1" dirty="0" err="1"/>
              <a:t>ptr</a:t>
            </a:r>
            <a:r>
              <a:rPr lang="tr-TR" b="1" dirty="0"/>
              <a:t> = (</a:t>
            </a:r>
            <a:r>
              <a:rPr lang="tr-TR" b="1" dirty="0" err="1"/>
              <a:t>struct</a:t>
            </a:r>
            <a:r>
              <a:rPr lang="tr-TR" b="1" dirty="0"/>
              <a:t> </a:t>
            </a:r>
            <a:r>
              <a:rPr lang="tr-TR" b="1" dirty="0" err="1"/>
              <a:t>person</a:t>
            </a:r>
            <a:r>
              <a:rPr lang="tr-TR" b="1" dirty="0"/>
              <a:t>*) </a:t>
            </a:r>
            <a:r>
              <a:rPr lang="tr-TR" b="1" dirty="0" err="1"/>
              <a:t>malloc</a:t>
            </a:r>
            <a:r>
              <a:rPr lang="tr-TR" b="1" dirty="0"/>
              <a:t>(n * </a:t>
            </a:r>
            <a:r>
              <a:rPr lang="tr-TR" b="1" dirty="0" err="1"/>
              <a:t>sizeof</a:t>
            </a:r>
            <a:r>
              <a:rPr lang="tr-TR" b="1" dirty="0"/>
              <a:t>(</a:t>
            </a:r>
            <a:r>
              <a:rPr lang="tr-TR" b="1" dirty="0" err="1"/>
              <a:t>struct</a:t>
            </a:r>
            <a:r>
              <a:rPr lang="tr-TR" b="1" dirty="0"/>
              <a:t> </a:t>
            </a:r>
            <a:r>
              <a:rPr lang="tr-TR" b="1" dirty="0" err="1"/>
              <a:t>person</a:t>
            </a:r>
            <a:r>
              <a:rPr lang="tr-TR" b="1" dirty="0" smtClean="0"/>
              <a:t>));</a:t>
            </a:r>
            <a:endParaRPr lang="tr-TR" b="1" dirty="0"/>
          </a:p>
          <a:p>
            <a:r>
              <a:rPr lang="tr-TR" dirty="0"/>
              <a:t>   </a:t>
            </a:r>
            <a:r>
              <a:rPr lang="tr-TR" dirty="0" err="1"/>
              <a:t>for</a:t>
            </a:r>
            <a:r>
              <a:rPr lang="tr-TR" dirty="0"/>
              <a:t>(i = 0; i &lt; n; ++i)</a:t>
            </a:r>
          </a:p>
          <a:p>
            <a:r>
              <a:rPr lang="tr-TR" dirty="0"/>
              <a:t>   { </a:t>
            </a:r>
            <a:r>
              <a:rPr lang="tr-TR" dirty="0" err="1"/>
              <a:t>printf</a:t>
            </a:r>
            <a:r>
              <a:rPr lang="tr-TR" dirty="0"/>
              <a:t>("</a:t>
            </a:r>
            <a:r>
              <a:rPr lang="tr-TR" dirty="0" err="1"/>
              <a:t>Enter</a:t>
            </a:r>
            <a:r>
              <a:rPr lang="tr-TR" dirty="0"/>
              <a:t> </a:t>
            </a:r>
            <a:r>
              <a:rPr lang="tr-TR" dirty="0" err="1"/>
              <a:t>first</a:t>
            </a:r>
            <a:r>
              <a:rPr lang="tr-TR" dirty="0"/>
              <a:t> name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age</a:t>
            </a:r>
            <a:r>
              <a:rPr lang="tr-TR" dirty="0"/>
              <a:t> </a:t>
            </a:r>
            <a:r>
              <a:rPr lang="tr-TR" dirty="0" err="1"/>
              <a:t>respectively</a:t>
            </a:r>
            <a:r>
              <a:rPr lang="tr-TR" dirty="0"/>
              <a:t>: ");</a:t>
            </a:r>
          </a:p>
          <a:p>
            <a:r>
              <a:rPr lang="tr-TR" dirty="0"/>
              <a:t>       //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access</a:t>
            </a:r>
            <a:r>
              <a:rPr lang="tr-TR" dirty="0"/>
              <a:t> </a:t>
            </a:r>
            <a:r>
              <a:rPr lang="tr-TR" dirty="0" err="1"/>
              <a:t>members</a:t>
            </a:r>
            <a:r>
              <a:rPr lang="tr-TR" dirty="0"/>
              <a:t> of 1st </a:t>
            </a:r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person</a:t>
            </a:r>
            <a:r>
              <a:rPr lang="tr-TR" dirty="0"/>
              <a:t>,</a:t>
            </a:r>
          </a:p>
          <a:p>
            <a:r>
              <a:rPr lang="tr-TR" dirty="0"/>
              <a:t>       // </a:t>
            </a:r>
            <a:r>
              <a:rPr lang="tr-TR" dirty="0" err="1"/>
              <a:t>ptr</a:t>
            </a:r>
            <a:r>
              <a:rPr lang="tr-TR" dirty="0"/>
              <a:t>-&gt;name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ptr</a:t>
            </a:r>
            <a:r>
              <a:rPr lang="tr-TR" dirty="0"/>
              <a:t>-&gt;</a:t>
            </a:r>
            <a:r>
              <a:rPr lang="tr-TR" dirty="0" err="1"/>
              <a:t>age</a:t>
            </a:r>
            <a:r>
              <a:rPr lang="tr-TR" dirty="0"/>
              <a:t> is </a:t>
            </a:r>
            <a:r>
              <a:rPr lang="tr-TR" dirty="0" err="1"/>
              <a:t>used</a:t>
            </a:r>
            <a:endParaRPr lang="tr-TR" dirty="0"/>
          </a:p>
          <a:p>
            <a:r>
              <a:rPr lang="tr-TR" dirty="0"/>
              <a:t>       </a:t>
            </a:r>
            <a:r>
              <a:rPr lang="tr-TR" dirty="0" err="1"/>
              <a:t>scanf</a:t>
            </a:r>
            <a:r>
              <a:rPr lang="tr-TR" dirty="0"/>
              <a:t>("%s %d", (</a:t>
            </a:r>
            <a:r>
              <a:rPr lang="tr-TR" dirty="0" err="1"/>
              <a:t>ptr+i</a:t>
            </a:r>
            <a:r>
              <a:rPr lang="tr-TR" dirty="0"/>
              <a:t>)-&gt;name, &amp;(</a:t>
            </a:r>
            <a:r>
              <a:rPr lang="tr-TR" dirty="0" err="1"/>
              <a:t>ptr+i</a:t>
            </a:r>
            <a:r>
              <a:rPr lang="tr-TR" dirty="0"/>
              <a:t>)-&gt;</a:t>
            </a:r>
            <a:r>
              <a:rPr lang="tr-TR" dirty="0" err="1"/>
              <a:t>age</a:t>
            </a:r>
            <a:r>
              <a:rPr lang="tr-TR" dirty="0"/>
              <a:t>);}</a:t>
            </a:r>
          </a:p>
          <a:p>
            <a:r>
              <a:rPr lang="tr-TR" dirty="0"/>
              <a:t>   </a:t>
            </a:r>
            <a:r>
              <a:rPr lang="tr-TR" dirty="0" err="1"/>
              <a:t>printf</a:t>
            </a:r>
            <a:r>
              <a:rPr lang="tr-TR" dirty="0"/>
              <a:t>("</a:t>
            </a:r>
            <a:r>
              <a:rPr lang="tr-TR" dirty="0" err="1"/>
              <a:t>Displaying</a:t>
            </a:r>
            <a:r>
              <a:rPr lang="tr-TR" dirty="0"/>
              <a:t> Information:\n");</a:t>
            </a:r>
          </a:p>
          <a:p>
            <a:r>
              <a:rPr lang="tr-TR" dirty="0"/>
              <a:t>   </a:t>
            </a:r>
            <a:r>
              <a:rPr lang="tr-TR" dirty="0" err="1"/>
              <a:t>for</a:t>
            </a:r>
            <a:r>
              <a:rPr lang="tr-TR" dirty="0"/>
              <a:t>(i = 0; i &lt; n; ++i)</a:t>
            </a:r>
          </a:p>
          <a:p>
            <a:r>
              <a:rPr lang="tr-TR" dirty="0"/>
              <a:t>       </a:t>
            </a:r>
            <a:r>
              <a:rPr lang="tr-TR" dirty="0" err="1"/>
              <a:t>printf</a:t>
            </a:r>
            <a:r>
              <a:rPr lang="tr-TR" dirty="0"/>
              <a:t>("Name: %s\</a:t>
            </a:r>
            <a:r>
              <a:rPr lang="tr-TR" dirty="0" err="1"/>
              <a:t>tAge</a:t>
            </a:r>
            <a:r>
              <a:rPr lang="tr-TR" dirty="0"/>
              <a:t>: %d\n", (</a:t>
            </a:r>
            <a:r>
              <a:rPr lang="tr-TR" dirty="0" err="1"/>
              <a:t>ptr+i</a:t>
            </a:r>
            <a:r>
              <a:rPr lang="tr-TR" dirty="0"/>
              <a:t>)-&gt;name, (</a:t>
            </a:r>
            <a:r>
              <a:rPr lang="tr-TR" dirty="0" err="1"/>
              <a:t>ptr+i</a:t>
            </a:r>
            <a:r>
              <a:rPr lang="tr-TR" dirty="0"/>
              <a:t>)-&gt;</a:t>
            </a:r>
            <a:r>
              <a:rPr lang="tr-TR" dirty="0" err="1"/>
              <a:t>age</a:t>
            </a:r>
            <a:r>
              <a:rPr lang="tr-TR" dirty="0"/>
              <a:t>);}</a:t>
            </a: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45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718372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/>
              <a:t>Ok İşleci</a:t>
            </a:r>
            <a:br>
              <a:rPr lang="tr-TR" b="1" dirty="0"/>
            </a:br>
            <a:endParaRPr lang="tr-TR" dirty="0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>
          <a:xfrm>
            <a:off x="286416" y="891460"/>
            <a:ext cx="8153400" cy="4495800"/>
          </a:xfrm>
        </p:spPr>
        <p:txBody>
          <a:bodyPr>
            <a:normAutofit/>
          </a:bodyPr>
          <a:lstStyle/>
          <a:p>
            <a:r>
              <a:rPr lang="tr-TR" dirty="0" smtClean="0"/>
              <a:t>Bir </a:t>
            </a:r>
            <a:r>
              <a:rPr lang="tr-TR" dirty="0"/>
              <a:t>yapı türünden adres söz konusu olduğunda bu adresteki yapı nesnesinin belirli </a:t>
            </a:r>
            <a:r>
              <a:rPr lang="tr-TR" dirty="0" smtClean="0"/>
              <a:t>bir elemanına </a:t>
            </a:r>
            <a:r>
              <a:rPr lang="tr-TR" dirty="0"/>
              <a:t>erişmek için üç ayrı işleç kullanılabilir: Öncelik işleci, içerik işleci, nokta işleci.</a:t>
            </a:r>
          </a:p>
          <a:p>
            <a:r>
              <a:rPr lang="tr-TR" dirty="0"/>
              <a:t>Bu erişim, ismi </a:t>
            </a:r>
            <a:r>
              <a:rPr lang="tr-TR" i="1" dirty="0"/>
              <a:t>ok işleci </a:t>
            </a:r>
            <a:r>
              <a:rPr lang="tr-TR" dirty="0"/>
              <a:t>olan tek bir işleçle yapılabilir.</a:t>
            </a:r>
          </a:p>
          <a:p>
            <a:r>
              <a:rPr lang="tr-TR" dirty="0"/>
              <a:t>Ok işleci - ve &gt; karakterlerinin </a:t>
            </a:r>
            <a:r>
              <a:rPr lang="tr-TR" dirty="0" err="1"/>
              <a:t>yanyana</a:t>
            </a:r>
            <a:r>
              <a:rPr lang="tr-TR" dirty="0"/>
              <a:t> getirilmesiyle oluşturulur. İki terimli </a:t>
            </a:r>
            <a:r>
              <a:rPr lang="tr-TR" dirty="0" err="1" smtClean="0"/>
              <a:t>araekkonumunda</a:t>
            </a:r>
            <a:r>
              <a:rPr lang="tr-TR" dirty="0" smtClean="0"/>
              <a:t> </a:t>
            </a:r>
            <a:r>
              <a:rPr lang="tr-TR" dirty="0"/>
              <a:t>(</a:t>
            </a:r>
            <a:r>
              <a:rPr lang="tr-TR" i="1" dirty="0" err="1"/>
              <a:t>Binary</a:t>
            </a:r>
            <a:r>
              <a:rPr lang="tr-TR" i="1" dirty="0"/>
              <a:t> </a:t>
            </a:r>
            <a:r>
              <a:rPr lang="tr-TR" i="1" dirty="0" err="1"/>
              <a:t>infix</a:t>
            </a:r>
            <a:r>
              <a:rPr lang="tr-TR" dirty="0"/>
              <a:t>) bir işleçtir. Ok işleci öncelik tablosunun en yüksek </a:t>
            </a:r>
            <a:r>
              <a:rPr lang="tr-TR" dirty="0" smtClean="0"/>
              <a:t>öncelik seviyesindedir.</a:t>
            </a:r>
          </a:p>
          <a:p>
            <a:r>
              <a:rPr lang="tr-TR" dirty="0" smtClean="0"/>
              <a:t> </a:t>
            </a:r>
            <a:r>
              <a:rPr lang="tr-TR" dirty="0"/>
              <a:t>-&gt; işlecinin sol terimi bir yapı türünden adres olmalıdır. İşlecin sağ </a:t>
            </a:r>
            <a:r>
              <a:rPr lang="tr-TR" dirty="0" smtClean="0"/>
              <a:t>terimi ise </a:t>
            </a:r>
            <a:r>
              <a:rPr lang="tr-TR" dirty="0"/>
              <a:t>ilgili yapının bir elemanı olmalıdır. İşleç, sol terimi olan adresteki yapı nesnesinin, </a:t>
            </a:r>
            <a:r>
              <a:rPr lang="tr-TR" dirty="0" smtClean="0"/>
              <a:t>sağ </a:t>
            </a:r>
            <a:r>
              <a:rPr lang="fi-FI" dirty="0" smtClean="0"/>
              <a:t>terimi </a:t>
            </a:r>
            <a:r>
              <a:rPr lang="fi-FI" dirty="0"/>
              <a:t>olan isimli elemanına erişmek için kullanılır.</a:t>
            </a:r>
          </a:p>
          <a:p>
            <a:r>
              <a:rPr lang="tr-TR" i="1" dirty="0" err="1"/>
              <a:t>ptr</a:t>
            </a:r>
            <a:r>
              <a:rPr lang="tr-TR" dirty="0"/>
              <a:t>, bir yapı türünden bir nesnenin adresini tutuyor olsun. Aşağıdaki iki ifade eşdeğerdir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46</a:t>
            </a:fld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01" y="4861082"/>
            <a:ext cx="8777695" cy="139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737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/>
              <a:t>Yapı Nesnesinin Değerinin İşleve Gönderilmesi</a:t>
            </a:r>
            <a:br>
              <a:rPr lang="tr-TR" b="1" dirty="0"/>
            </a:br>
            <a:endParaRPr lang="tr-TR" dirty="0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 smtClean="0"/>
              <a:t>Bir </a:t>
            </a:r>
            <a:r>
              <a:rPr lang="tr-TR" b="1" dirty="0"/>
              <a:t>işleve gönderilen argüman olan ifade, işlevin ilgili parametre değişkenine kopyalanır.</a:t>
            </a:r>
          </a:p>
          <a:p>
            <a:r>
              <a:rPr lang="tr-TR" dirty="0"/>
              <a:t>Bu durumda bir işlevin parametre değişkeni bir yapı türünden ise, işlev aynı </a:t>
            </a:r>
            <a:r>
              <a:rPr lang="tr-TR" dirty="0" smtClean="0"/>
              <a:t>yapı türünden </a:t>
            </a:r>
            <a:r>
              <a:rPr lang="tr-TR" dirty="0"/>
              <a:t>bir nesne ile çağrılabilir. Aynı türden yapı nesnelerinin atama işleciyle </a:t>
            </a:r>
            <a:r>
              <a:rPr lang="tr-TR" dirty="0" smtClean="0"/>
              <a:t>birbirine atanabileceğini </a:t>
            </a:r>
            <a:r>
              <a:rPr lang="tr-TR" dirty="0"/>
              <a:t>biliyorsunuz. </a:t>
            </a:r>
            <a:endParaRPr lang="tr-TR" dirty="0" smtClean="0"/>
          </a:p>
          <a:p>
            <a:r>
              <a:rPr lang="tr-TR" dirty="0" smtClean="0"/>
              <a:t>Böyle </a:t>
            </a:r>
            <a:r>
              <a:rPr lang="tr-TR" dirty="0"/>
              <a:t>bir atama blok kopyalaması anlamına geldiği için, </a:t>
            </a:r>
            <a:r>
              <a:rPr lang="tr-TR" dirty="0" smtClean="0"/>
              <a:t>hem bellek </a:t>
            </a:r>
            <a:r>
              <a:rPr lang="tr-TR" dirty="0"/>
              <a:t>hem de işlem zamanı açısından göreli bir kayba neden olur. </a:t>
            </a:r>
            <a:endParaRPr lang="tr-TR" dirty="0" smtClean="0"/>
          </a:p>
          <a:p>
            <a:r>
              <a:rPr lang="tr-TR" dirty="0" smtClean="0"/>
              <a:t>Üstelik </a:t>
            </a:r>
            <a:r>
              <a:rPr lang="tr-TR" dirty="0"/>
              <a:t>bu </a:t>
            </a:r>
            <a:r>
              <a:rPr lang="tr-TR" dirty="0" smtClean="0"/>
              <a:t>yöntemle, işlev </a:t>
            </a:r>
            <a:r>
              <a:rPr lang="tr-TR" dirty="0"/>
              <a:t>kendisine gönderilen argümanları değiştiremez. Çünkü işlev değerle çağırılmaktadır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47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1510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r>
              <a:rPr lang="tr-TR" dirty="0"/>
              <a:t>#define MAX_NAME_LEN 16</a:t>
            </a:r>
          </a:p>
          <a:p>
            <a:r>
              <a:rPr lang="tr-TR" dirty="0"/>
              <a:t>#define MAX_FNAME_LEN 24</a:t>
            </a:r>
          </a:p>
          <a:p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Person</a:t>
            </a:r>
            <a:r>
              <a:rPr lang="tr-TR" dirty="0"/>
              <a:t> {</a:t>
            </a:r>
          </a:p>
          <a:p>
            <a:r>
              <a:rPr lang="tr-TR" dirty="0" err="1"/>
              <a:t>char</a:t>
            </a:r>
            <a:r>
              <a:rPr lang="tr-TR" dirty="0"/>
              <a:t> name[MAX_NAME_LEN + 1];</a:t>
            </a:r>
          </a:p>
          <a:p>
            <a:r>
              <a:rPr lang="tr-TR" dirty="0" err="1"/>
              <a:t>char</a:t>
            </a:r>
            <a:r>
              <a:rPr lang="tr-TR" dirty="0"/>
              <a:t> </a:t>
            </a:r>
            <a:r>
              <a:rPr lang="tr-TR" dirty="0" err="1"/>
              <a:t>fname</a:t>
            </a:r>
            <a:r>
              <a:rPr lang="tr-TR" dirty="0"/>
              <a:t>[MAX_FNAME_LEN + 1];</a:t>
            </a:r>
          </a:p>
          <a:p>
            <a:r>
              <a:rPr lang="tr-TR" dirty="0"/>
              <a:t>int </a:t>
            </a:r>
            <a:r>
              <a:rPr lang="tr-TR" dirty="0" err="1"/>
              <a:t>no</a:t>
            </a:r>
            <a:r>
              <a:rPr lang="tr-TR" dirty="0"/>
              <a:t>;</a:t>
            </a:r>
          </a:p>
          <a:p>
            <a:r>
              <a:rPr lang="tr-TR" dirty="0" err="1"/>
              <a:t>double</a:t>
            </a:r>
            <a:r>
              <a:rPr lang="tr-TR" dirty="0"/>
              <a:t> </a:t>
            </a:r>
            <a:r>
              <a:rPr lang="tr-TR" dirty="0" err="1"/>
              <a:t>wage</a:t>
            </a:r>
            <a:r>
              <a:rPr lang="tr-TR" dirty="0"/>
              <a:t>;</a:t>
            </a:r>
          </a:p>
          <a:p>
            <a:r>
              <a:rPr lang="tr-TR" dirty="0"/>
              <a:t>};</a:t>
            </a:r>
          </a:p>
          <a:p>
            <a:r>
              <a:rPr lang="tr-TR" dirty="0" err="1"/>
              <a:t>void</a:t>
            </a:r>
            <a:r>
              <a:rPr lang="tr-TR" dirty="0"/>
              <a:t> </a:t>
            </a:r>
            <a:r>
              <a:rPr lang="tr-TR" dirty="0" err="1"/>
              <a:t>display_person</a:t>
            </a:r>
            <a:r>
              <a:rPr lang="tr-TR" dirty="0"/>
              <a:t>(</a:t>
            </a:r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Person</a:t>
            </a:r>
            <a:r>
              <a:rPr lang="tr-TR" dirty="0"/>
              <a:t> </a:t>
            </a:r>
            <a:r>
              <a:rPr lang="tr-TR" dirty="0" err="1"/>
              <a:t>per</a:t>
            </a:r>
            <a:r>
              <a:rPr lang="tr-TR" dirty="0"/>
              <a:t>)</a:t>
            </a:r>
          </a:p>
          <a:p>
            <a:r>
              <a:rPr lang="tr-TR" dirty="0"/>
              <a:t>{</a:t>
            </a:r>
          </a:p>
          <a:p>
            <a:r>
              <a:rPr lang="tr-TR" dirty="0" err="1"/>
              <a:t>printf</a:t>
            </a:r>
            <a:r>
              <a:rPr lang="tr-TR" dirty="0"/>
              <a:t>("%d %s %s %.2lf\n", per.no, per.name, </a:t>
            </a:r>
            <a:r>
              <a:rPr lang="tr-TR" dirty="0" err="1"/>
              <a:t>per.fname</a:t>
            </a:r>
            <a:r>
              <a:rPr lang="tr-TR" dirty="0"/>
              <a:t>, </a:t>
            </a:r>
            <a:r>
              <a:rPr lang="tr-TR" dirty="0" err="1"/>
              <a:t>per.wage</a:t>
            </a:r>
            <a:r>
              <a:rPr lang="tr-TR" dirty="0"/>
              <a:t>);</a:t>
            </a:r>
          </a:p>
          <a:p>
            <a:r>
              <a:rPr lang="tr-TR" dirty="0"/>
              <a:t>}</a:t>
            </a:r>
          </a:p>
          <a:p>
            <a:r>
              <a:rPr lang="tr-TR" dirty="0"/>
              <a:t>int main()</a:t>
            </a:r>
          </a:p>
          <a:p>
            <a:r>
              <a:rPr lang="tr-TR" dirty="0"/>
              <a:t>{</a:t>
            </a:r>
          </a:p>
          <a:p>
            <a:r>
              <a:rPr lang="it-IT" dirty="0"/>
              <a:t>struct Person person = {"Necati", "ERGIN", 2345, 3.56};</a:t>
            </a:r>
          </a:p>
          <a:p>
            <a:r>
              <a:rPr lang="tr-TR" dirty="0" err="1"/>
              <a:t>display_person</a:t>
            </a:r>
            <a:r>
              <a:rPr lang="tr-TR" dirty="0"/>
              <a:t>(</a:t>
            </a:r>
            <a:r>
              <a:rPr lang="tr-TR" dirty="0" err="1"/>
              <a:t>person</a:t>
            </a:r>
            <a:r>
              <a:rPr lang="tr-TR" dirty="0"/>
              <a:t>);</a:t>
            </a:r>
          </a:p>
          <a:p>
            <a:r>
              <a:rPr lang="tr-TR" dirty="0" err="1"/>
              <a:t>return</a:t>
            </a:r>
            <a:r>
              <a:rPr lang="tr-TR" dirty="0"/>
              <a:t> 0;</a:t>
            </a:r>
          </a:p>
          <a:p>
            <a:r>
              <a:rPr lang="tr-TR" dirty="0"/>
              <a:t>}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48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5869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Böyle bir fonksiyon kullanımında yapı elemanının değerleri fonksiyon içinde değiştirilebilir mi???</a:t>
            </a:r>
          </a:p>
          <a:p>
            <a:r>
              <a:rPr lang="tr-TR" dirty="0" smtClean="0"/>
              <a:t>Deneyiniz 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49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686194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pPr marL="0" indent="0">
              <a:buNone/>
            </a:pPr>
            <a:r>
              <a:rPr lang="tr-TR" dirty="0"/>
              <a:t>#define MAX_NAME_LEN 16</a:t>
            </a:r>
          </a:p>
          <a:p>
            <a:pPr marL="0" indent="0">
              <a:buNone/>
            </a:pPr>
            <a:r>
              <a:rPr lang="tr-TR" dirty="0"/>
              <a:t>#define MAX_FNAME_LEN 24</a:t>
            </a:r>
          </a:p>
          <a:p>
            <a:pPr marL="0" indent="0">
              <a:buNone/>
            </a:pPr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Person</a:t>
            </a:r>
            <a:r>
              <a:rPr lang="tr-TR" dirty="0"/>
              <a:t> {</a:t>
            </a:r>
          </a:p>
          <a:p>
            <a:pPr marL="0" indent="0">
              <a:buNone/>
            </a:pPr>
            <a:r>
              <a:rPr lang="tr-TR" dirty="0" err="1"/>
              <a:t>char</a:t>
            </a:r>
            <a:r>
              <a:rPr lang="tr-TR" dirty="0"/>
              <a:t> name[MAX_NAME_LEN + 1];</a:t>
            </a:r>
          </a:p>
          <a:p>
            <a:pPr marL="0" indent="0">
              <a:buNone/>
            </a:pPr>
            <a:r>
              <a:rPr lang="tr-TR" dirty="0" err="1"/>
              <a:t>char</a:t>
            </a:r>
            <a:r>
              <a:rPr lang="tr-TR" dirty="0"/>
              <a:t> </a:t>
            </a:r>
            <a:r>
              <a:rPr lang="tr-TR" dirty="0" err="1"/>
              <a:t>fname</a:t>
            </a:r>
            <a:r>
              <a:rPr lang="tr-TR" dirty="0"/>
              <a:t>[MAX_FNAME_LEN + 1];</a:t>
            </a:r>
          </a:p>
          <a:p>
            <a:pPr marL="0" indent="0">
              <a:buNone/>
            </a:pPr>
            <a:r>
              <a:rPr lang="tr-TR" dirty="0"/>
              <a:t>int </a:t>
            </a:r>
            <a:r>
              <a:rPr lang="tr-TR" dirty="0" err="1"/>
              <a:t>no</a:t>
            </a:r>
            <a:r>
              <a:rPr lang="tr-TR" dirty="0"/>
              <a:t>;</a:t>
            </a:r>
          </a:p>
          <a:p>
            <a:pPr marL="0" indent="0">
              <a:buNone/>
            </a:pPr>
            <a:r>
              <a:rPr lang="tr-TR" dirty="0" err="1"/>
              <a:t>double</a:t>
            </a:r>
            <a:r>
              <a:rPr lang="tr-TR" dirty="0"/>
              <a:t> </a:t>
            </a:r>
            <a:r>
              <a:rPr lang="tr-TR" dirty="0" err="1"/>
              <a:t>wage</a:t>
            </a:r>
            <a:r>
              <a:rPr lang="tr-TR" dirty="0"/>
              <a:t>;</a:t>
            </a:r>
          </a:p>
          <a:p>
            <a:pPr marL="0" indent="0">
              <a:buNone/>
            </a:pPr>
            <a:r>
              <a:rPr lang="tr-TR" dirty="0"/>
              <a:t>};</a:t>
            </a:r>
          </a:p>
          <a:p>
            <a:pPr marL="0" indent="0">
              <a:buNone/>
            </a:pPr>
            <a:r>
              <a:rPr lang="tr-TR" dirty="0" err="1"/>
              <a:t>void</a:t>
            </a:r>
            <a:r>
              <a:rPr lang="tr-TR" dirty="0"/>
              <a:t> </a:t>
            </a:r>
            <a:r>
              <a:rPr lang="tr-TR" dirty="0" err="1"/>
              <a:t>display_person</a:t>
            </a:r>
            <a:r>
              <a:rPr lang="tr-TR" dirty="0"/>
              <a:t>(</a:t>
            </a:r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Person</a:t>
            </a:r>
            <a:r>
              <a:rPr lang="tr-TR" dirty="0"/>
              <a:t> </a:t>
            </a:r>
            <a:r>
              <a:rPr lang="tr-TR" dirty="0" err="1"/>
              <a:t>per</a:t>
            </a:r>
            <a:r>
              <a:rPr lang="tr-TR" dirty="0"/>
              <a:t>)</a:t>
            </a:r>
          </a:p>
          <a:p>
            <a:pPr marL="0" indent="0">
              <a:buNone/>
            </a:pPr>
            <a:r>
              <a:rPr lang="tr-TR" dirty="0"/>
              <a:t>{</a:t>
            </a:r>
            <a:r>
              <a:rPr lang="tr-TR" dirty="0" err="1"/>
              <a:t>per.wage</a:t>
            </a:r>
            <a:r>
              <a:rPr lang="tr-TR" dirty="0"/>
              <a:t> = 5.60;</a:t>
            </a:r>
          </a:p>
          <a:p>
            <a:pPr marL="0" indent="0">
              <a:buNone/>
            </a:pPr>
            <a:r>
              <a:rPr lang="tr-TR" dirty="0" err="1"/>
              <a:t>printf</a:t>
            </a:r>
            <a:r>
              <a:rPr lang="tr-TR" dirty="0"/>
              <a:t>("%d %s %s </a:t>
            </a:r>
            <a:r>
              <a:rPr lang="tr-TR" dirty="0" err="1"/>
              <a:t>Maas</a:t>
            </a:r>
            <a:r>
              <a:rPr lang="tr-TR" dirty="0"/>
              <a:t>:%.2lf\n", per.no, per.name, </a:t>
            </a:r>
            <a:r>
              <a:rPr lang="tr-TR" dirty="0" err="1"/>
              <a:t>per.fname</a:t>
            </a:r>
            <a:r>
              <a:rPr lang="tr-TR" dirty="0"/>
              <a:t>, </a:t>
            </a:r>
            <a:r>
              <a:rPr lang="tr-TR" dirty="0" err="1"/>
              <a:t>per.wage</a:t>
            </a:r>
            <a:r>
              <a:rPr lang="tr-TR" dirty="0"/>
              <a:t>);</a:t>
            </a:r>
          </a:p>
          <a:p>
            <a:pPr marL="0" indent="0">
              <a:buNone/>
            </a:pPr>
            <a:r>
              <a:rPr lang="tr-TR" dirty="0"/>
              <a:t>}</a:t>
            </a:r>
          </a:p>
          <a:p>
            <a:pPr marL="0" indent="0">
              <a:buNone/>
            </a:pPr>
            <a:r>
              <a:rPr lang="tr-TR" dirty="0"/>
              <a:t>int main()</a:t>
            </a:r>
          </a:p>
          <a:p>
            <a:pPr marL="0" indent="0">
              <a:buNone/>
            </a:pPr>
            <a:r>
              <a:rPr lang="tr-TR" dirty="0"/>
              <a:t>{</a:t>
            </a:r>
          </a:p>
          <a:p>
            <a:pPr marL="0" indent="0">
              <a:buNone/>
            </a:pPr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Person</a:t>
            </a:r>
            <a:r>
              <a:rPr lang="tr-TR" dirty="0"/>
              <a:t> </a:t>
            </a:r>
            <a:r>
              <a:rPr lang="tr-TR" dirty="0" err="1"/>
              <a:t>person</a:t>
            </a:r>
            <a:r>
              <a:rPr lang="tr-TR" dirty="0"/>
              <a:t> = {"Necati", "ERGIN", 2345, 3.56};</a:t>
            </a:r>
          </a:p>
          <a:p>
            <a:pPr marL="0" indent="0">
              <a:buNone/>
            </a:pPr>
            <a:r>
              <a:rPr lang="tr-TR" dirty="0" err="1"/>
              <a:t>display_person</a:t>
            </a:r>
            <a:r>
              <a:rPr lang="tr-TR" dirty="0"/>
              <a:t>(</a:t>
            </a:r>
            <a:r>
              <a:rPr lang="tr-TR" dirty="0" err="1"/>
              <a:t>person</a:t>
            </a:r>
            <a:r>
              <a:rPr lang="tr-TR" dirty="0"/>
              <a:t>);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 err="1"/>
              <a:t>printf</a:t>
            </a:r>
            <a:r>
              <a:rPr lang="tr-TR" dirty="0"/>
              <a:t>("\n Ana programdaki </a:t>
            </a:r>
            <a:r>
              <a:rPr lang="tr-TR" dirty="0" err="1"/>
              <a:t>maas</a:t>
            </a:r>
            <a:r>
              <a:rPr lang="tr-TR" dirty="0"/>
              <a:t> %f",</a:t>
            </a:r>
            <a:r>
              <a:rPr lang="tr-TR" dirty="0" err="1"/>
              <a:t>person.wage</a:t>
            </a:r>
            <a:r>
              <a:rPr lang="tr-TR" dirty="0"/>
              <a:t>);}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50</a:t>
            </a:fld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4" y="3105053"/>
            <a:ext cx="240030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0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Pointer</a:t>
            </a:r>
            <a:r>
              <a:rPr lang="tr-TR" dirty="0" smtClean="0"/>
              <a:t> gücü </a:t>
            </a:r>
            <a:endParaRPr lang="tr-TR" dirty="0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r>
              <a:rPr lang="en-US" dirty="0"/>
              <a:t>#define MAX_NAME_LEN 16</a:t>
            </a:r>
          </a:p>
          <a:p>
            <a:r>
              <a:rPr lang="en-US" dirty="0"/>
              <a:t>#define MAX_FNAME_LEN 24</a:t>
            </a:r>
          </a:p>
          <a:p>
            <a:r>
              <a:rPr lang="en-US" dirty="0" err="1"/>
              <a:t>struct</a:t>
            </a:r>
            <a:r>
              <a:rPr lang="en-US" dirty="0"/>
              <a:t> Person {</a:t>
            </a:r>
          </a:p>
          <a:p>
            <a:r>
              <a:rPr lang="en-US" dirty="0"/>
              <a:t>char name[MAX_NAME_LEN + 1];</a:t>
            </a:r>
          </a:p>
          <a:p>
            <a:r>
              <a:rPr lang="en-US" dirty="0"/>
              <a:t>char </a:t>
            </a:r>
            <a:r>
              <a:rPr lang="en-US" dirty="0" err="1"/>
              <a:t>fname</a:t>
            </a:r>
            <a:r>
              <a:rPr lang="en-US" dirty="0"/>
              <a:t>[MAX_FNAME_LEN + 1];</a:t>
            </a:r>
          </a:p>
          <a:p>
            <a:r>
              <a:rPr lang="en-US" dirty="0" err="1"/>
              <a:t>int</a:t>
            </a:r>
            <a:r>
              <a:rPr lang="en-US" dirty="0"/>
              <a:t> no;</a:t>
            </a:r>
          </a:p>
          <a:p>
            <a:r>
              <a:rPr lang="en-US" dirty="0"/>
              <a:t>double wage;</a:t>
            </a:r>
          </a:p>
          <a:p>
            <a:r>
              <a:rPr lang="en-US" dirty="0"/>
              <a:t>};</a:t>
            </a:r>
          </a:p>
          <a:p>
            <a:r>
              <a:rPr lang="en-US" dirty="0"/>
              <a:t>void </a:t>
            </a:r>
            <a:r>
              <a:rPr lang="en-US" dirty="0" err="1"/>
              <a:t>display_person</a:t>
            </a:r>
            <a:r>
              <a:rPr lang="en-US" dirty="0"/>
              <a:t>( </a:t>
            </a:r>
            <a:r>
              <a:rPr lang="en-US" dirty="0" err="1"/>
              <a:t>struct</a:t>
            </a:r>
            <a:r>
              <a:rPr lang="en-US" dirty="0"/>
              <a:t> Person *</a:t>
            </a:r>
            <a:r>
              <a:rPr lang="en-US" dirty="0" err="1"/>
              <a:t>ptr</a:t>
            </a:r>
            <a:r>
              <a:rPr lang="en-US" dirty="0"/>
              <a:t>)</a:t>
            </a:r>
          </a:p>
          <a:p>
            <a:r>
              <a:rPr lang="en-US" dirty="0"/>
              <a:t>{</a:t>
            </a:r>
            <a:r>
              <a:rPr lang="en-US" dirty="0" err="1"/>
              <a:t>ptr</a:t>
            </a:r>
            <a:r>
              <a:rPr lang="en-US" dirty="0"/>
              <a:t>-&gt;wage = 5.60;</a:t>
            </a:r>
          </a:p>
          <a:p>
            <a:r>
              <a:rPr lang="en-US" dirty="0" err="1"/>
              <a:t>printf</a:t>
            </a:r>
            <a:r>
              <a:rPr lang="en-US" dirty="0"/>
              <a:t>("%d %s %s %.2lf\n", </a:t>
            </a:r>
            <a:r>
              <a:rPr lang="en-US" dirty="0" err="1"/>
              <a:t>ptr</a:t>
            </a:r>
            <a:r>
              <a:rPr lang="en-US" dirty="0"/>
              <a:t>-&gt;no, </a:t>
            </a:r>
            <a:r>
              <a:rPr lang="en-US" dirty="0" err="1"/>
              <a:t>ptr</a:t>
            </a:r>
            <a:r>
              <a:rPr lang="en-US" dirty="0"/>
              <a:t>-&gt;name, </a:t>
            </a:r>
            <a:r>
              <a:rPr lang="en-US" dirty="0" err="1"/>
              <a:t>ptr</a:t>
            </a:r>
            <a:r>
              <a:rPr lang="en-US" dirty="0"/>
              <a:t>-&gt;</a:t>
            </a:r>
            <a:r>
              <a:rPr lang="en-US" dirty="0" err="1"/>
              <a:t>fname</a:t>
            </a:r>
            <a:r>
              <a:rPr lang="en-US" dirty="0"/>
              <a:t>, </a:t>
            </a:r>
            <a:r>
              <a:rPr lang="en-US" dirty="0" err="1"/>
              <a:t>ptr</a:t>
            </a:r>
            <a:r>
              <a:rPr lang="en-US" dirty="0"/>
              <a:t>-&gt;wage);}</a:t>
            </a:r>
          </a:p>
          <a:p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r>
              <a:rPr lang="en-US" dirty="0"/>
              <a:t>{</a:t>
            </a:r>
          </a:p>
          <a:p>
            <a:r>
              <a:rPr lang="en-US" dirty="0" err="1"/>
              <a:t>struct</a:t>
            </a:r>
            <a:r>
              <a:rPr lang="en-US" dirty="0"/>
              <a:t> Person </a:t>
            </a:r>
            <a:r>
              <a:rPr lang="en-US" dirty="0" err="1"/>
              <a:t>person</a:t>
            </a:r>
            <a:r>
              <a:rPr lang="en-US" dirty="0"/>
              <a:t> = {"</a:t>
            </a:r>
            <a:r>
              <a:rPr lang="en-US" dirty="0" err="1"/>
              <a:t>Necati</a:t>
            </a:r>
            <a:r>
              <a:rPr lang="en-US" dirty="0"/>
              <a:t>", "ERGIN", 2345, 3.56};</a:t>
            </a:r>
          </a:p>
          <a:p>
            <a:r>
              <a:rPr lang="en-US" dirty="0" err="1"/>
              <a:t>display_person</a:t>
            </a:r>
            <a:r>
              <a:rPr lang="en-US" dirty="0"/>
              <a:t>(&amp;person);</a:t>
            </a:r>
          </a:p>
          <a:p>
            <a:r>
              <a:rPr lang="en-US" dirty="0" err="1"/>
              <a:t>printf</a:t>
            </a:r>
            <a:r>
              <a:rPr lang="en-US" dirty="0"/>
              <a:t>("\n %f",</a:t>
            </a:r>
            <a:r>
              <a:rPr lang="en-US" dirty="0" err="1"/>
              <a:t>person.wage</a:t>
            </a:r>
            <a:r>
              <a:rPr lang="en-US" dirty="0"/>
              <a:t>);</a:t>
            </a:r>
          </a:p>
          <a:p>
            <a:r>
              <a:rPr lang="en-US" dirty="0"/>
              <a:t>return 0;</a:t>
            </a:r>
          </a:p>
          <a:p>
            <a:r>
              <a:rPr lang="en-US" dirty="0"/>
              <a:t>}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51</a:t>
            </a:fld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2348880"/>
            <a:ext cx="371475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998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/>
          </a:bodyPr>
          <a:lstStyle/>
          <a:p>
            <a:r>
              <a:rPr lang="tr-TR" sz="36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tr-TR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Deyimi </a:t>
            </a:r>
            <a:r>
              <a:rPr lang="tr-TR" sz="1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  <a:endParaRPr lang="tr-T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4 İçerik Yer Tutucusu"/>
          <p:cNvSpPr>
            <a:spLocks noGrp="1"/>
          </p:cNvSpPr>
          <p:nvPr>
            <p:ph idx="1"/>
          </p:nvPr>
        </p:nvSpPr>
        <p:spPr>
          <a:xfrm>
            <a:off x="612648" y="1628800"/>
            <a:ext cx="7775776" cy="4536504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dirty="0" smtClean="0">
                <a:latin typeface="Times New Roman" pitchFamily="18" charset="0"/>
                <a:cs typeface="Times New Roman" pitchFamily="18" charset="0"/>
              </a:rPr>
              <a:t>Yapı gösterimi aşağıdaki gibidir:</a:t>
            </a:r>
          </a:p>
          <a:p>
            <a:pPr marL="0" indent="0" algn="just">
              <a:buSzPct val="100000"/>
              <a:buNone/>
            </a:pPr>
            <a:endParaRPr lang="tr-TR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320040" lvl="1" indent="0" algn="just">
              <a:buSzPct val="100000"/>
              <a:buNone/>
            </a:pPr>
            <a:r>
              <a:rPr lang="tr-TR" sz="2000" b="1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tr-TR" sz="20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yapı_adı</a:t>
            </a:r>
            <a:endParaRPr lang="en-US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0040" lvl="1" indent="0" algn="just">
              <a:buSzPct val="100000"/>
              <a:buNone/>
            </a:pPr>
            <a:r>
              <a:rPr lang="tr-T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320040" lvl="1" indent="0" algn="just">
              <a:buSzPct val="100000"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tr-TR" sz="2000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veri_tipi</a:t>
            </a:r>
            <a:r>
              <a:rPr lang="tr-T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değişken_ismi</a:t>
            </a:r>
            <a:r>
              <a:rPr lang="en-US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tr-T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tr-T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0040" lvl="1" indent="0" algn="just">
              <a:buSzPct val="100000"/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veri_tipi</a:t>
            </a:r>
            <a:r>
              <a:rPr lang="tr-T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değişken_ismi</a:t>
            </a:r>
            <a:r>
              <a:rPr 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tr-T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tr-T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0040" lvl="1" indent="0" algn="just">
              <a:buSzPct val="100000"/>
              <a:buNone/>
            </a:pP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tr-T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0040" lvl="1" indent="0" algn="just">
              <a:buSzPct val="100000"/>
              <a:buNone/>
            </a:pP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tr-T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52</a:t>
            </a:fld>
            <a:endParaRPr lang="tr-TR"/>
          </a:p>
        </p:txBody>
      </p:sp>
      <p:sp>
        <p:nvSpPr>
          <p:cNvPr id="3" name="Right Brace 2"/>
          <p:cNvSpPr/>
          <p:nvPr/>
        </p:nvSpPr>
        <p:spPr>
          <a:xfrm>
            <a:off x="5436096" y="2348880"/>
            <a:ext cx="288032" cy="2448272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TextBox 4"/>
          <p:cNvSpPr txBox="1"/>
          <p:nvPr/>
        </p:nvSpPr>
        <p:spPr>
          <a:xfrm>
            <a:off x="5929456" y="3342183"/>
            <a:ext cx="2825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Mantıksal Gruplama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31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/>
          </a:bodyPr>
          <a:lstStyle/>
          <a:p>
            <a:r>
              <a:rPr lang="tr-TR" sz="36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tr-TR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Deyimi </a:t>
            </a:r>
            <a:r>
              <a:rPr lang="tr-TR" sz="1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  <a:endParaRPr lang="tr-T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4 İçerik Yer Tutucusu"/>
          <p:cNvSpPr>
            <a:spLocks noGrp="1"/>
          </p:cNvSpPr>
          <p:nvPr>
            <p:ph idx="1"/>
          </p:nvPr>
        </p:nvSpPr>
        <p:spPr>
          <a:xfrm>
            <a:off x="612648" y="1628800"/>
            <a:ext cx="7775776" cy="4536504"/>
          </a:xfrm>
        </p:spPr>
        <p:txBody>
          <a:bodyPr>
            <a:normAutofit/>
          </a:bodyPr>
          <a:lstStyle/>
          <a:p>
            <a:pPr algn="just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tr-TR" sz="24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</a:t>
            </a:r>
            <a:r>
              <a:rPr lang="tr-TR" sz="24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400" dirty="0" smtClean="0">
                <a:latin typeface="Times New Roman" pitchFamily="18" charset="0"/>
                <a:cs typeface="Times New Roman" pitchFamily="18" charset="0"/>
              </a:rPr>
              <a:t>Bir üniversitedeki öğrencilerin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bilgilerini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programda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kullanalım</a:t>
            </a:r>
            <a:r>
              <a:rPr lang="tr-TR" sz="2400" dirty="0" smtClean="0">
                <a:latin typeface="Times New Roman" pitchFamily="18" charset="0"/>
                <a:cs typeface="Times New Roman" pitchFamily="18" charset="0"/>
              </a:rPr>
              <a:t>.Kullanılacak bilgiler aşağıdaki gibi olsun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nasıl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tanımlarız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?</a:t>
            </a:r>
            <a:endParaRPr lang="tr-TR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100" dirty="0" smtClean="0">
                <a:latin typeface="Times New Roman" pitchFamily="18" charset="0"/>
                <a:cs typeface="Times New Roman" pitchFamily="18" charset="0"/>
              </a:rPr>
              <a:t>Öğrenci Numarası 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100" dirty="0" smtClean="0">
                <a:latin typeface="Times New Roman" pitchFamily="18" charset="0"/>
                <a:cs typeface="Times New Roman" pitchFamily="18" charset="0"/>
              </a:rPr>
              <a:t>Öğrenci Adı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100" dirty="0" smtClean="0">
                <a:latin typeface="Times New Roman" pitchFamily="18" charset="0"/>
                <a:cs typeface="Times New Roman" pitchFamily="18" charset="0"/>
              </a:rPr>
              <a:t>Öğrenci Soyadı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100" dirty="0" smtClean="0">
                <a:latin typeface="Times New Roman" pitchFamily="18" charset="0"/>
                <a:cs typeface="Times New Roman" pitchFamily="18" charset="0"/>
              </a:rPr>
              <a:t>Öğrenci Cinsiyeti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100" dirty="0" smtClean="0">
                <a:latin typeface="Times New Roman" pitchFamily="18" charset="0"/>
                <a:cs typeface="Times New Roman" pitchFamily="18" charset="0"/>
              </a:rPr>
              <a:t>Öğrenci Fakültesi/Bölümü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100" dirty="0" smtClean="0">
                <a:latin typeface="Times New Roman" pitchFamily="18" charset="0"/>
                <a:cs typeface="Times New Roman" pitchFamily="18" charset="0"/>
              </a:rPr>
              <a:t>Öğrenci  Genel Not Ortalaması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endParaRPr lang="tr-TR" sz="21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53</a:t>
            </a:fld>
            <a:endParaRPr lang="tr-TR"/>
          </a:p>
        </p:txBody>
      </p:sp>
      <p:sp>
        <p:nvSpPr>
          <p:cNvPr id="9" name="4 İçerik Yer Tutucusu"/>
          <p:cNvSpPr txBox="1">
            <a:spLocks/>
          </p:cNvSpPr>
          <p:nvPr/>
        </p:nvSpPr>
        <p:spPr>
          <a:xfrm>
            <a:off x="5004048" y="3068960"/>
            <a:ext cx="4536504" cy="453650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No;</a:t>
            </a:r>
          </a:p>
          <a:p>
            <a:pPr lvl="1" algn="just"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Ad[50];</a:t>
            </a:r>
          </a:p>
          <a:p>
            <a:pPr lvl="1" algn="just"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Soyad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[50];</a:t>
            </a:r>
          </a:p>
          <a:p>
            <a:pPr lvl="1" algn="just"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Cinsiyet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 algn="just"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FakulteBolum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 algn="just"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GenelOrtalama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tr-TR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5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/>
          </a:bodyPr>
          <a:lstStyle/>
          <a:p>
            <a:r>
              <a:rPr lang="tr-TR" sz="36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tr-TR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Deyimi </a:t>
            </a:r>
            <a:r>
              <a:rPr lang="tr-TR" sz="1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  <a:endParaRPr lang="tr-T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4 İçerik Yer Tutucusu"/>
          <p:cNvSpPr>
            <a:spLocks noGrp="1"/>
          </p:cNvSpPr>
          <p:nvPr>
            <p:ph idx="1"/>
          </p:nvPr>
        </p:nvSpPr>
        <p:spPr>
          <a:xfrm>
            <a:off x="612648" y="1628800"/>
            <a:ext cx="7775776" cy="4536504"/>
          </a:xfrm>
        </p:spPr>
        <p:txBody>
          <a:bodyPr>
            <a:normAutofit/>
          </a:bodyPr>
          <a:lstStyle/>
          <a:p>
            <a:pPr marL="0" indent="0" algn="ctr">
              <a:spcAft>
                <a:spcPts val="1200"/>
              </a:spcAft>
              <a:buSzPct val="100000"/>
              <a:buNone/>
            </a:pPr>
            <a:r>
              <a:rPr lang="tr-TR" sz="3000" dirty="0" smtClean="0">
                <a:latin typeface="Times New Roman" pitchFamily="18" charset="0"/>
                <a:cs typeface="Times New Roman" pitchFamily="18" charset="0"/>
              </a:rPr>
              <a:t>Değişkenleri </a:t>
            </a:r>
            <a:r>
              <a:rPr lang="tr-TR" sz="3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tek tek tanımlamak</a:t>
            </a:r>
            <a:r>
              <a:rPr lang="tr-TR" sz="3000" dirty="0" smtClean="0">
                <a:latin typeface="Times New Roman" pitchFamily="18" charset="0"/>
                <a:cs typeface="Times New Roman" pitchFamily="18" charset="0"/>
              </a:rPr>
              <a:t> zorundayız.</a:t>
            </a:r>
          </a:p>
          <a:p>
            <a:pPr marL="0" indent="0" algn="ctr">
              <a:spcAft>
                <a:spcPts val="1200"/>
              </a:spcAft>
              <a:buSzPct val="100000"/>
              <a:buNone/>
            </a:pPr>
            <a:r>
              <a:rPr lang="en-US" sz="3000" dirty="0" err="1" smtClean="0">
                <a:latin typeface="Times New Roman" pitchFamily="18" charset="0"/>
                <a:cs typeface="Times New Roman" pitchFamily="18" charset="0"/>
              </a:rPr>
              <a:t>Değişkenler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 smtClean="0">
                <a:latin typeface="Times New Roman" pitchFamily="18" charset="0"/>
                <a:cs typeface="Times New Roman" pitchFamily="18" charset="0"/>
              </a:rPr>
              <a:t>arasında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3000" dirty="0" smtClean="0">
                <a:latin typeface="Times New Roman" pitchFamily="18" charset="0"/>
                <a:cs typeface="Times New Roman" pitchFamily="18" charset="0"/>
              </a:rPr>
              <a:t>bir </a:t>
            </a:r>
            <a:r>
              <a:rPr lang="tr-TR" sz="3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bütünlük olmaz</a:t>
            </a:r>
            <a:r>
              <a:rPr lang="tr-TR" sz="3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ctr">
              <a:spcAft>
                <a:spcPts val="1200"/>
              </a:spcAft>
              <a:buSzPct val="100000"/>
              <a:buNone/>
            </a:pPr>
            <a:r>
              <a:rPr lang="tr-TR" sz="3000" dirty="0" smtClean="0">
                <a:latin typeface="Times New Roman" pitchFamily="18" charset="0"/>
                <a:cs typeface="Times New Roman" pitchFamily="18" charset="0"/>
              </a:rPr>
              <a:t>Bu bilgiler aynı öğrenciye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3000" dirty="0" smtClean="0">
                <a:latin typeface="Times New Roman" pitchFamily="18" charset="0"/>
                <a:cs typeface="Times New Roman" pitchFamily="18" charset="0"/>
              </a:rPr>
              <a:t>mi ait yoksa başka bir öğrenciye mi </a:t>
            </a:r>
            <a:r>
              <a:rPr lang="tr-TR" sz="30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ayırt edemeyiz</a:t>
            </a:r>
            <a:r>
              <a:rPr lang="tr-TR" sz="3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ctr">
              <a:spcAft>
                <a:spcPts val="1200"/>
              </a:spcAft>
              <a:buSzPct val="100000"/>
              <a:buNone/>
            </a:pPr>
            <a:r>
              <a:rPr lang="tr-TR" sz="3000" i="1" dirty="0" smtClean="0">
                <a:latin typeface="Times New Roman" pitchFamily="18" charset="0"/>
                <a:cs typeface="Times New Roman" pitchFamily="18" charset="0"/>
              </a:rPr>
              <a:t>Birden fazla öğrenci için nasıl bir tanım yapacağız?</a:t>
            </a:r>
          </a:p>
          <a:p>
            <a:pPr lvl="1" algn="ctr">
              <a:buSzPct val="100000"/>
              <a:buFont typeface="Arial" panose="020B0604020202020204" pitchFamily="34" charset="0"/>
              <a:buChar char="•"/>
            </a:pPr>
            <a:endParaRPr lang="tr-TR" sz="3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54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256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/>
          </a:bodyPr>
          <a:lstStyle/>
          <a:p>
            <a:r>
              <a:rPr lang="tr-TR" sz="36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tr-TR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Deyimi </a:t>
            </a:r>
            <a:r>
              <a:rPr lang="tr-TR" sz="1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  <a:endParaRPr lang="tr-T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4 İçerik Yer Tutucusu"/>
          <p:cNvSpPr>
            <a:spLocks noGrp="1"/>
          </p:cNvSpPr>
          <p:nvPr>
            <p:ph idx="1"/>
          </p:nvPr>
        </p:nvSpPr>
        <p:spPr>
          <a:xfrm>
            <a:off x="612648" y="1628800"/>
            <a:ext cx="7775776" cy="4536504"/>
          </a:xfrm>
        </p:spPr>
        <p:txBody>
          <a:bodyPr>
            <a:normAutofit/>
          </a:bodyPr>
          <a:lstStyle/>
          <a:p>
            <a:pPr algn="just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tr-TR" sz="24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</a:t>
            </a:r>
            <a:r>
              <a:rPr lang="tr-TR" sz="24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Bu </a:t>
            </a:r>
            <a:r>
              <a:rPr lang="tr-TR" sz="2400" dirty="0" smtClean="0">
                <a:latin typeface="Times New Roman" pitchFamily="18" charset="0"/>
                <a:cs typeface="Times New Roman" pitchFamily="18" charset="0"/>
              </a:rPr>
              <a:t>öğrencilerin bilgilerini </a:t>
            </a:r>
            <a:r>
              <a:rPr lang="tr-TR" sz="2600" b="1" dirty="0" err="1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tr-TR" sz="24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400" dirty="0" smtClean="0">
                <a:latin typeface="Times New Roman" pitchFamily="18" charset="0"/>
                <a:cs typeface="Times New Roman" pitchFamily="18" charset="0"/>
              </a:rPr>
              <a:t>kullanarak ifade edelim.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 smtClean="0">
                <a:latin typeface="Times New Roman" pitchFamily="18" charset="0"/>
                <a:cs typeface="Times New Roman" pitchFamily="18" charset="0"/>
              </a:rPr>
              <a:t>Kullanılacak bilgiler aşağıdaki gibi olsun: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100" dirty="0" smtClean="0">
                <a:latin typeface="Times New Roman" pitchFamily="18" charset="0"/>
                <a:cs typeface="Times New Roman" pitchFamily="18" charset="0"/>
              </a:rPr>
              <a:t>Öğrenci Numarası 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100" dirty="0" smtClean="0">
                <a:latin typeface="Times New Roman" pitchFamily="18" charset="0"/>
                <a:cs typeface="Times New Roman" pitchFamily="18" charset="0"/>
              </a:rPr>
              <a:t>Öğrenci Adı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100" dirty="0" smtClean="0">
                <a:latin typeface="Times New Roman" pitchFamily="18" charset="0"/>
                <a:cs typeface="Times New Roman" pitchFamily="18" charset="0"/>
              </a:rPr>
              <a:t>Öğrenci Soyadı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100" dirty="0" smtClean="0">
                <a:latin typeface="Times New Roman" pitchFamily="18" charset="0"/>
                <a:cs typeface="Times New Roman" pitchFamily="18" charset="0"/>
              </a:rPr>
              <a:t>Öğrenci Cinsiyeti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100" dirty="0" smtClean="0">
                <a:latin typeface="Times New Roman" pitchFamily="18" charset="0"/>
                <a:cs typeface="Times New Roman" pitchFamily="18" charset="0"/>
              </a:rPr>
              <a:t>Öğrenci Fakültesi/Bölümü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100" dirty="0" smtClean="0">
                <a:latin typeface="Times New Roman" pitchFamily="18" charset="0"/>
                <a:cs typeface="Times New Roman" pitchFamily="18" charset="0"/>
              </a:rPr>
              <a:t>Öğrenci  Genel Not Ortalaması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endParaRPr lang="tr-TR" sz="21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55</a:t>
            </a:fld>
            <a:endParaRPr lang="tr-T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076" y="3356992"/>
            <a:ext cx="3251404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441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/>
          </a:bodyPr>
          <a:lstStyle/>
          <a:p>
            <a:r>
              <a:rPr lang="tr-TR" sz="36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tr-TR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Deyimi </a:t>
            </a:r>
            <a:r>
              <a:rPr lang="tr-TR" sz="1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  <a:endParaRPr lang="tr-T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4 İçerik Yer Tutucusu"/>
          <p:cNvSpPr>
            <a:spLocks noGrp="1"/>
          </p:cNvSpPr>
          <p:nvPr>
            <p:ph idx="1"/>
          </p:nvPr>
        </p:nvSpPr>
        <p:spPr>
          <a:xfrm>
            <a:off x="612648" y="1628800"/>
            <a:ext cx="8279832" cy="4536504"/>
          </a:xfrm>
        </p:spPr>
        <p:txBody>
          <a:bodyPr>
            <a:normAutofit/>
          </a:bodyPr>
          <a:lstStyle/>
          <a:p>
            <a:pPr marL="0" indent="0" algn="ctr">
              <a:spcAft>
                <a:spcPts val="1200"/>
              </a:spcAft>
              <a:buSzPct val="100000"/>
              <a:buNone/>
            </a:pPr>
            <a:endParaRPr lang="en-US" sz="4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spcAft>
                <a:spcPts val="1200"/>
              </a:spcAft>
              <a:buSzPct val="100000"/>
              <a:buNone/>
            </a:pPr>
            <a:r>
              <a:rPr lang="en-US" sz="4400" b="1" dirty="0" err="1" smtClean="0">
                <a:latin typeface="Times New Roman" pitchFamily="18" charset="0"/>
                <a:cs typeface="Times New Roman" pitchFamily="18" charset="0"/>
              </a:rPr>
              <a:t>Ogrenci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varlığı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4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entity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4400" dirty="0" err="1" smtClean="0">
                <a:latin typeface="Times New Roman" pitchFamily="18" charset="0"/>
                <a:cs typeface="Times New Roman" pitchFamily="18" charset="0"/>
              </a:rPr>
              <a:t>içerisinde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u="sng" dirty="0" err="1" smtClean="0">
                <a:latin typeface="Times New Roman" pitchFamily="18" charset="0"/>
                <a:cs typeface="Times New Roman" pitchFamily="18" charset="0"/>
              </a:rPr>
              <a:t>öğrenci</a:t>
            </a:r>
            <a:r>
              <a:rPr lang="en-US" sz="4400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u="sng" dirty="0" err="1" smtClean="0">
                <a:latin typeface="Times New Roman" pitchFamily="18" charset="0"/>
                <a:cs typeface="Times New Roman" pitchFamily="18" charset="0"/>
              </a:rPr>
              <a:t>ile</a:t>
            </a:r>
            <a:r>
              <a:rPr lang="en-US" sz="4400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u="sng" dirty="0" err="1" smtClean="0">
                <a:latin typeface="Times New Roman" pitchFamily="18" charset="0"/>
                <a:cs typeface="Times New Roman" pitchFamily="18" charset="0"/>
              </a:rPr>
              <a:t>ilgili</a:t>
            </a:r>
            <a:r>
              <a:rPr lang="en-US" sz="4400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u="sng" dirty="0" err="1" smtClean="0">
                <a:latin typeface="Times New Roman" pitchFamily="18" charset="0"/>
                <a:cs typeface="Times New Roman" pitchFamily="18" charset="0"/>
              </a:rPr>
              <a:t>bilgileri</a:t>
            </a:r>
            <a:r>
              <a:rPr lang="en-US" sz="4400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kapsüllemiş</a:t>
            </a:r>
            <a:r>
              <a:rPr lang="en-US" sz="4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4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encapsulation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4400" dirty="0" err="1" smtClean="0">
                <a:latin typeface="Times New Roman" pitchFamily="18" charset="0"/>
                <a:cs typeface="Times New Roman" pitchFamily="18" charset="0"/>
              </a:rPr>
              <a:t>olduk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tr-TR" sz="44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ctr">
              <a:buSzPct val="100000"/>
              <a:buFont typeface="Arial" panose="020B0604020202020204" pitchFamily="34" charset="0"/>
              <a:buChar char="•"/>
            </a:pPr>
            <a:endParaRPr lang="tr-TR" sz="4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56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99833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/>
          </a:bodyPr>
          <a:lstStyle/>
          <a:p>
            <a:r>
              <a:rPr lang="tr-TR" sz="36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tr-TR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Deyimi </a:t>
            </a:r>
            <a:r>
              <a:rPr lang="tr-TR" sz="1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  <a:endParaRPr lang="tr-T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21301" y="1870865"/>
            <a:ext cx="4244747" cy="93610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57</a:t>
            </a:fld>
            <a:endParaRPr lang="tr-T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1628800"/>
            <a:ext cx="3251404" cy="2304256"/>
          </a:xfrm>
          <a:prstGeom prst="rect">
            <a:avLst/>
          </a:prstGeom>
        </p:spPr>
      </p:pic>
      <p:sp>
        <p:nvSpPr>
          <p:cNvPr id="9" name="Right Brace 8"/>
          <p:cNvSpPr/>
          <p:nvPr/>
        </p:nvSpPr>
        <p:spPr>
          <a:xfrm rot="5400000">
            <a:off x="6434882" y="2744924"/>
            <a:ext cx="360040" cy="864096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TextBox 9"/>
          <p:cNvSpPr txBox="1"/>
          <p:nvPr/>
        </p:nvSpPr>
        <p:spPr>
          <a:xfrm>
            <a:off x="5148064" y="3411949"/>
            <a:ext cx="3329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Öğrenci tanımlama ve değer atama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60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58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 idx="4294967295"/>
          </p:nvPr>
        </p:nvSpPr>
        <p:spPr>
          <a:xfrm>
            <a:off x="2314554" y="-114452"/>
            <a:ext cx="8423275" cy="1207294"/>
          </a:xfrm>
        </p:spPr>
        <p:txBody>
          <a:bodyPr vert="horz" anchor="ctr">
            <a:noAutofit/>
          </a:bodyPr>
          <a:lstStyle/>
          <a:p>
            <a:r>
              <a:rPr lang="tr-TR" sz="18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 </a:t>
            </a:r>
            <a:r>
              <a:rPr lang="tr-TR" sz="18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tr-TR" sz="1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18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Okuma</a:t>
            </a:r>
            <a:r>
              <a:rPr lang="tr-TR" sz="1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ve </a:t>
            </a:r>
            <a:r>
              <a:rPr lang="tr-TR" sz="18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Yazma</a:t>
            </a:r>
            <a:br>
              <a:rPr lang="tr-TR" sz="18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tr-TR" sz="1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tr-TR" sz="1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tr-TR" sz="18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struct_uygulama.pdf DOSYASINA BAK</a:t>
            </a:r>
            <a:endParaRPr lang="tr-TR" sz="105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92" y="803652"/>
            <a:ext cx="6000000" cy="420952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345" y="5162762"/>
            <a:ext cx="8057143" cy="1695238"/>
          </a:xfrm>
          <a:prstGeom prst="rect">
            <a:avLst/>
          </a:prstGeom>
        </p:spPr>
      </p:pic>
      <p:sp>
        <p:nvSpPr>
          <p:cNvPr id="12" name="Right Brace 11"/>
          <p:cNvSpPr/>
          <p:nvPr/>
        </p:nvSpPr>
        <p:spPr>
          <a:xfrm>
            <a:off x="6804248" y="1058306"/>
            <a:ext cx="576064" cy="3948014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TextBox 12"/>
          <p:cNvSpPr txBox="1"/>
          <p:nvPr/>
        </p:nvSpPr>
        <p:spPr>
          <a:xfrm>
            <a:off x="7401624" y="2801480"/>
            <a:ext cx="1090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Okuma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ight Brace 13"/>
          <p:cNvSpPr/>
          <p:nvPr/>
        </p:nvSpPr>
        <p:spPr>
          <a:xfrm flipH="1">
            <a:off x="526192" y="5348604"/>
            <a:ext cx="362412" cy="1323553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-206711" y="5749463"/>
            <a:ext cx="1090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Yazma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569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van 3"/>
          <p:cNvSpPr>
            <a:spLocks noGrp="1"/>
          </p:cNvSpPr>
          <p:nvPr>
            <p:ph type="title"/>
          </p:nvPr>
        </p:nvSpPr>
        <p:spPr>
          <a:xfrm>
            <a:off x="468660" y="116632"/>
            <a:ext cx="7772400" cy="784128"/>
          </a:xfrm>
        </p:spPr>
        <p:txBody>
          <a:bodyPr>
            <a:normAutofit fontScale="90000"/>
          </a:bodyPr>
          <a:lstStyle/>
          <a:p>
            <a:r>
              <a:rPr lang="tr-TR" b="1" dirty="0"/>
              <a:t>Yapı Dizileri</a:t>
            </a:r>
            <a:br>
              <a:rPr lang="tr-TR" b="1" dirty="0"/>
            </a:br>
            <a:endParaRPr lang="tr-TR" dirty="0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>
          <a:xfrm>
            <a:off x="285869" y="788122"/>
            <a:ext cx="8206680" cy="5839544"/>
          </a:xfrm>
        </p:spPr>
        <p:txBody>
          <a:bodyPr>
            <a:normAutofit fontScale="62500" lnSpcReduction="20000"/>
          </a:bodyPr>
          <a:lstStyle/>
          <a:p>
            <a:r>
              <a:rPr lang="tr-TR" dirty="0" smtClean="0"/>
              <a:t>Yapılar </a:t>
            </a:r>
            <a:r>
              <a:rPr lang="tr-TR" dirty="0"/>
              <a:t>da bir tür belirttiğine göre yapı türünden de diziler söz konusu olabilir. Bir </a:t>
            </a:r>
            <a:r>
              <a:rPr lang="tr-TR" dirty="0" smtClean="0"/>
              <a:t>yapı dizisi </a:t>
            </a:r>
            <a:r>
              <a:rPr lang="tr-TR" dirty="0"/>
              <a:t>elemanları bellekte bitişik olarak yerleştirilen , elemanları aynı yapı türünden </a:t>
            </a:r>
            <a:r>
              <a:rPr lang="tr-TR" dirty="0" smtClean="0"/>
              <a:t>olan bir </a:t>
            </a:r>
            <a:r>
              <a:rPr lang="tr-TR" dirty="0"/>
              <a:t>dizidir.</a:t>
            </a:r>
          </a:p>
          <a:p>
            <a:r>
              <a:rPr lang="tr-TR" dirty="0"/>
              <a:t>Yapı dizilerine de </a:t>
            </a:r>
            <a:r>
              <a:rPr lang="tr-TR" dirty="0" err="1"/>
              <a:t>ilkdeğer</a:t>
            </a:r>
            <a:r>
              <a:rPr lang="tr-TR" dirty="0"/>
              <a:t> verilebilir. </a:t>
            </a:r>
            <a:r>
              <a:rPr lang="tr-TR" dirty="0" err="1"/>
              <a:t>İlkdeğer</a:t>
            </a:r>
            <a:r>
              <a:rPr lang="tr-TR" dirty="0"/>
              <a:t> verme sırasında kullanılan içteki  </a:t>
            </a:r>
            <a:r>
              <a:rPr lang="tr-TR" dirty="0" smtClean="0"/>
              <a:t>küme ayraçları </a:t>
            </a:r>
            <a:r>
              <a:rPr lang="tr-TR" dirty="0"/>
              <a:t>okunabilirliği artırır. Örnek</a:t>
            </a:r>
            <a:r>
              <a:rPr lang="tr-TR" dirty="0" smtClean="0"/>
              <a:t>: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 smtClean="0"/>
              <a:t>stdio.h</a:t>
            </a:r>
            <a:r>
              <a:rPr lang="tr-TR" dirty="0" smtClean="0"/>
              <a:t>&gt;</a:t>
            </a:r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r>
              <a:rPr lang="tr-TR" dirty="0" err="1" smtClean="0"/>
              <a:t>struct</a:t>
            </a:r>
            <a:r>
              <a:rPr lang="tr-TR" dirty="0" smtClean="0"/>
              <a:t> </a:t>
            </a:r>
            <a:r>
              <a:rPr lang="tr-TR" dirty="0" err="1"/>
              <a:t>Date</a:t>
            </a:r>
            <a:r>
              <a:rPr lang="tr-TR" dirty="0"/>
              <a:t> {</a:t>
            </a:r>
          </a:p>
          <a:p>
            <a:pPr marL="0" indent="0">
              <a:buNone/>
            </a:pPr>
            <a:r>
              <a:rPr lang="tr-TR" dirty="0"/>
              <a:t>int d, m, y;</a:t>
            </a:r>
          </a:p>
          <a:p>
            <a:pPr marL="0" indent="0">
              <a:buNone/>
            </a:pPr>
            <a:r>
              <a:rPr lang="tr-TR" dirty="0"/>
              <a:t>};</a:t>
            </a:r>
          </a:p>
          <a:p>
            <a:pPr marL="0" indent="0">
              <a:buNone/>
            </a:pPr>
            <a:r>
              <a:rPr lang="tr-TR" dirty="0"/>
              <a:t>int main()</a:t>
            </a:r>
          </a:p>
          <a:p>
            <a:pPr marL="0" indent="0">
              <a:buNone/>
            </a:pPr>
            <a:r>
              <a:rPr lang="tr-TR" dirty="0" smtClean="0"/>
              <a:t>{</a:t>
            </a:r>
            <a:r>
              <a:rPr lang="tr-TR" dirty="0" err="1" smtClean="0"/>
              <a:t>struct</a:t>
            </a:r>
            <a:r>
              <a:rPr lang="tr-TR" dirty="0" smtClean="0"/>
              <a:t> </a:t>
            </a:r>
            <a:r>
              <a:rPr lang="tr-TR" dirty="0" err="1"/>
              <a:t>Date</a:t>
            </a:r>
            <a:r>
              <a:rPr lang="tr-TR" dirty="0"/>
              <a:t> </a:t>
            </a:r>
            <a:r>
              <a:rPr lang="tr-TR" dirty="0" err="1"/>
              <a:t>bdates</a:t>
            </a:r>
            <a:r>
              <a:rPr lang="tr-TR" dirty="0"/>
              <a:t>[5] = {{10, 10, 2002}, {4, 3, 2001},</a:t>
            </a:r>
          </a:p>
          <a:p>
            <a:pPr marL="0" indent="0">
              <a:buNone/>
            </a:pPr>
            <a:r>
              <a:rPr lang="tr-TR" dirty="0"/>
              <a:t>{21, 6, 1967}, {22, 8, 1956}, {11, 3, 1970}};</a:t>
            </a:r>
          </a:p>
          <a:p>
            <a:pPr marL="0" indent="0">
              <a:buNone/>
            </a:pPr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Date</a:t>
            </a:r>
            <a:r>
              <a:rPr lang="tr-TR" dirty="0"/>
              <a:t> *</a:t>
            </a:r>
            <a:r>
              <a:rPr lang="tr-TR" dirty="0" err="1"/>
              <a:t>pdate</a:t>
            </a:r>
            <a:r>
              <a:rPr lang="tr-TR" dirty="0"/>
              <a:t>;</a:t>
            </a:r>
          </a:p>
          <a:p>
            <a:pPr marL="0" indent="0">
              <a:buNone/>
            </a:pPr>
            <a:r>
              <a:rPr lang="tr-TR" dirty="0"/>
              <a:t>int i;</a:t>
            </a:r>
          </a:p>
          <a:p>
            <a:pPr marL="0" indent="0">
              <a:buNone/>
            </a:pPr>
            <a:r>
              <a:rPr lang="tr-TR" dirty="0" err="1"/>
              <a:t>pdate</a:t>
            </a:r>
            <a:r>
              <a:rPr lang="tr-TR" dirty="0"/>
              <a:t> = </a:t>
            </a:r>
            <a:r>
              <a:rPr lang="tr-TR" dirty="0" err="1"/>
              <a:t>bdates</a:t>
            </a:r>
            <a:r>
              <a:rPr lang="tr-TR" dirty="0"/>
              <a:t>;</a:t>
            </a:r>
          </a:p>
          <a:p>
            <a:pPr marL="0" indent="0">
              <a:buNone/>
            </a:pPr>
            <a:r>
              <a:rPr lang="tr-TR" dirty="0" err="1"/>
              <a:t>for</a:t>
            </a:r>
            <a:r>
              <a:rPr lang="tr-TR" dirty="0"/>
              <a:t> (i = 0; i &lt; 5; ++i) {</a:t>
            </a:r>
          </a:p>
          <a:p>
            <a:pPr marL="0" indent="0">
              <a:buNone/>
            </a:pPr>
            <a:r>
              <a:rPr lang="tr-TR" dirty="0" err="1"/>
              <a:t>printf</a:t>
            </a:r>
            <a:r>
              <a:rPr lang="tr-TR" dirty="0"/>
              <a:t>("%02d / %02d / %04d\n", </a:t>
            </a:r>
            <a:r>
              <a:rPr lang="tr-TR" dirty="0" err="1"/>
              <a:t>pdate</a:t>
            </a:r>
            <a:r>
              <a:rPr lang="tr-TR" dirty="0"/>
              <a:t>-&gt;d, </a:t>
            </a:r>
            <a:r>
              <a:rPr lang="tr-TR" dirty="0" err="1"/>
              <a:t>pdate</a:t>
            </a:r>
            <a:r>
              <a:rPr lang="tr-TR" dirty="0"/>
              <a:t>-&gt;m, </a:t>
            </a:r>
            <a:r>
              <a:rPr lang="tr-TR" dirty="0" err="1"/>
              <a:t>pdate</a:t>
            </a:r>
            <a:r>
              <a:rPr lang="tr-TR" dirty="0"/>
              <a:t>-&gt;y);</a:t>
            </a:r>
          </a:p>
          <a:p>
            <a:pPr marL="0" indent="0">
              <a:buNone/>
            </a:pPr>
            <a:r>
              <a:rPr lang="tr-TR" dirty="0"/>
              <a:t>++</a:t>
            </a:r>
            <a:r>
              <a:rPr lang="tr-TR" dirty="0" err="1"/>
              <a:t>pdate</a:t>
            </a:r>
            <a:r>
              <a:rPr lang="tr-TR" dirty="0" smtClean="0"/>
              <a:t>;}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return</a:t>
            </a:r>
            <a:r>
              <a:rPr lang="tr-TR" dirty="0"/>
              <a:t> 0;</a:t>
            </a:r>
          </a:p>
          <a:p>
            <a:pPr marL="0" indent="0">
              <a:buNone/>
            </a:pPr>
            <a:r>
              <a:rPr lang="tr-TR" dirty="0"/>
              <a:t>}</a:t>
            </a:r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59</a:t>
            </a:fld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1340768"/>
            <a:ext cx="4112650" cy="2175806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0467" y="1700808"/>
            <a:ext cx="1381125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733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ea typeface="ＭＳ Ｐゴシック" pitchFamily="34" charset="-128"/>
              </a:rPr>
              <a:t>Not: ==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ea typeface="ＭＳ Ｐゴシック" pitchFamily="34" charset="-128"/>
              </a:rPr>
              <a:t>Karşılaştırma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ea typeface="ＭＳ Ｐゴシック" pitchFamily="34" charset="-128"/>
              </a:rPr>
              <a:t>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ea typeface="ＭＳ Ｐゴシック" pitchFamily="34" charset="-128"/>
              </a:rPr>
              <a:t>çalışmıyor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 err="1">
                <a:ea typeface="ＭＳ Ｐゴシック" panose="020B0600070205080204" pitchFamily="34" charset="-128"/>
              </a:rPr>
              <a:t>struct</a:t>
            </a:r>
            <a:r>
              <a:rPr lang="en-US" altLang="tr-TR" dirty="0">
                <a:ea typeface="ＭＳ Ｐゴシック" panose="020B0600070205080204" pitchFamily="34" charset="-128"/>
              </a:rPr>
              <a:t> Box { </a:t>
            </a:r>
            <a:r>
              <a:rPr lang="en-US" altLang="tr-TR" dirty="0" err="1">
                <a:ea typeface="ＭＳ Ｐゴシック" panose="020B0600070205080204" pitchFamily="34" charset="-128"/>
              </a:rPr>
              <a:t>int</a:t>
            </a:r>
            <a:r>
              <a:rPr lang="en-US" altLang="tr-TR" dirty="0">
                <a:ea typeface="ＭＳ Ｐゴシック" panose="020B0600070205080204" pitchFamily="34" charset="-128"/>
              </a:rPr>
              <a:t> width, length, height; }; </a:t>
            </a:r>
          </a:p>
          <a:p>
            <a:endParaRPr lang="en-US" altLang="tr-TR" dirty="0">
              <a:ea typeface="ＭＳ Ｐゴシック" panose="020B0600070205080204" pitchFamily="34" charset="-128"/>
            </a:endParaRPr>
          </a:p>
          <a:p>
            <a:r>
              <a:rPr lang="en-US" altLang="tr-TR" dirty="0" err="1">
                <a:ea typeface="ＭＳ Ｐゴシック" panose="020B0600070205080204" pitchFamily="34" charset="-128"/>
              </a:rPr>
              <a:t>int</a:t>
            </a:r>
            <a:r>
              <a:rPr lang="en-US" altLang="tr-TR" dirty="0">
                <a:ea typeface="ＭＳ Ｐゴシック" panose="020B0600070205080204" pitchFamily="34" charset="-128"/>
              </a:rPr>
              <a:t> main() </a:t>
            </a:r>
          </a:p>
          <a:p>
            <a:r>
              <a:rPr lang="en-US" altLang="tr-TR" dirty="0">
                <a:ea typeface="ＭＳ Ｐゴシック" panose="020B0600070205080204" pitchFamily="34" charset="-128"/>
              </a:rPr>
              <a:t>{</a:t>
            </a:r>
          </a:p>
          <a:p>
            <a:r>
              <a:rPr lang="en-US" altLang="tr-TR" dirty="0">
                <a:ea typeface="ＭＳ Ｐゴシック" panose="020B0600070205080204" pitchFamily="34" charset="-128"/>
              </a:rPr>
              <a:t>	</a:t>
            </a:r>
            <a:r>
              <a:rPr lang="en-US" altLang="tr-TR" dirty="0" err="1">
                <a:ea typeface="ＭＳ Ｐゴシック" panose="020B0600070205080204" pitchFamily="34" charset="-128"/>
              </a:rPr>
              <a:t>struct</a:t>
            </a:r>
            <a:r>
              <a:rPr lang="en-US" altLang="tr-TR" dirty="0">
                <a:ea typeface="ＭＳ Ｐゴシック" panose="020B0600070205080204" pitchFamily="34" charset="-128"/>
              </a:rPr>
              <a:t> Box b, c;</a:t>
            </a:r>
          </a:p>
          <a:p>
            <a:r>
              <a:rPr lang="en-US" altLang="tr-TR" dirty="0">
                <a:ea typeface="ＭＳ Ｐゴシック" panose="020B0600070205080204" pitchFamily="34" charset="-128"/>
              </a:rPr>
              <a:t>	</a:t>
            </a:r>
            <a:r>
              <a:rPr lang="en-US" altLang="tr-TR" dirty="0" err="1">
                <a:ea typeface="ＭＳ Ｐゴシック" panose="020B0600070205080204" pitchFamily="34" charset="-128"/>
              </a:rPr>
              <a:t>b.width</a:t>
            </a:r>
            <a:r>
              <a:rPr lang="en-US" altLang="tr-TR" dirty="0">
                <a:ea typeface="ＭＳ Ｐゴシック" panose="020B0600070205080204" pitchFamily="34" charset="-128"/>
              </a:rPr>
              <a:t> = 5; </a:t>
            </a:r>
            <a:r>
              <a:rPr lang="en-US" altLang="tr-TR" dirty="0" err="1">
                <a:ea typeface="ＭＳ Ｐゴシック" panose="020B0600070205080204" pitchFamily="34" charset="-128"/>
              </a:rPr>
              <a:t>b.length</a:t>
            </a:r>
            <a:r>
              <a:rPr lang="en-US" altLang="tr-TR" dirty="0">
                <a:ea typeface="ＭＳ Ｐゴシック" panose="020B0600070205080204" pitchFamily="34" charset="-128"/>
              </a:rPr>
              <a:t>=1; </a:t>
            </a:r>
            <a:r>
              <a:rPr lang="en-US" altLang="tr-TR" dirty="0" err="1">
                <a:ea typeface="ＭＳ Ｐゴシック" panose="020B0600070205080204" pitchFamily="34" charset="-128"/>
              </a:rPr>
              <a:t>b.height</a:t>
            </a:r>
            <a:r>
              <a:rPr lang="en-US" altLang="tr-TR" dirty="0">
                <a:ea typeface="ＭＳ Ｐゴシック" panose="020B0600070205080204" pitchFamily="34" charset="-128"/>
              </a:rPr>
              <a:t> = 2;</a:t>
            </a:r>
          </a:p>
          <a:p>
            <a:r>
              <a:rPr lang="en-US" altLang="tr-TR" dirty="0">
                <a:ea typeface="ＭＳ Ｐゴシック" panose="020B0600070205080204" pitchFamily="34" charset="-128"/>
              </a:rPr>
              <a:t>	c = b;	</a:t>
            </a:r>
          </a:p>
          <a:p>
            <a:r>
              <a:rPr lang="en-US" altLang="tr-TR" dirty="0">
                <a:ea typeface="ＭＳ Ｐゴシック" panose="020B0600070205080204" pitchFamily="34" charset="-128"/>
              </a:rPr>
              <a:t>      	if (</a:t>
            </a:r>
            <a:r>
              <a:rPr lang="en-US" altLang="tr-TR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 == b</a:t>
            </a:r>
            <a:r>
              <a:rPr lang="en-US" altLang="tr-TR" dirty="0">
                <a:ea typeface="ＭＳ Ｐゴシック" panose="020B0600070205080204" pitchFamily="34" charset="-128"/>
              </a:rPr>
              <a:t>)	/* </a:t>
            </a:r>
            <a:r>
              <a:rPr lang="en-US" altLang="tr-TR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Error when you compile! </a:t>
            </a:r>
            <a:r>
              <a:rPr lang="en-US" altLang="tr-TR" b="1" dirty="0">
                <a:ea typeface="ＭＳ Ｐゴシック" panose="020B0600070205080204" pitchFamily="34" charset="-128"/>
              </a:rPr>
              <a:t>*/</a:t>
            </a:r>
          </a:p>
          <a:p>
            <a:r>
              <a:rPr lang="en-US" altLang="tr-TR" dirty="0">
                <a:ea typeface="ＭＳ Ｐゴシック" panose="020B0600070205080204" pitchFamily="34" charset="-128"/>
              </a:rPr>
              <a:t>		</a:t>
            </a:r>
            <a:r>
              <a:rPr lang="en-US" altLang="tr-TR" dirty="0" err="1">
                <a:ea typeface="ＭＳ Ｐゴシック" panose="020B0600070205080204" pitchFamily="34" charset="-128"/>
              </a:rPr>
              <a:t>printf</a:t>
            </a:r>
            <a:r>
              <a:rPr lang="en-US" altLang="tr-TR" dirty="0">
                <a:ea typeface="ＭＳ Ｐゴシック" panose="020B0600070205080204" pitchFamily="34" charset="-128"/>
              </a:rPr>
              <a:t>(“c and b are identical\n”);</a:t>
            </a:r>
          </a:p>
          <a:p>
            <a:r>
              <a:rPr lang="en-US" altLang="tr-TR" dirty="0">
                <a:ea typeface="ＭＳ Ｐゴシック" panose="020B0600070205080204" pitchFamily="34" charset="-128"/>
              </a:rPr>
              <a:t>	else</a:t>
            </a:r>
          </a:p>
          <a:p>
            <a:r>
              <a:rPr lang="en-US" altLang="tr-TR" dirty="0">
                <a:ea typeface="ＭＳ Ｐゴシック" panose="020B0600070205080204" pitchFamily="34" charset="-128"/>
              </a:rPr>
              <a:t>		</a:t>
            </a:r>
            <a:r>
              <a:rPr lang="en-US" altLang="tr-TR" dirty="0" err="1">
                <a:ea typeface="ＭＳ Ｐゴシック" panose="020B0600070205080204" pitchFamily="34" charset="-128"/>
              </a:rPr>
              <a:t>printf</a:t>
            </a:r>
            <a:r>
              <a:rPr lang="en-US" altLang="tr-TR" dirty="0">
                <a:ea typeface="ＭＳ Ｐゴシック" panose="020B0600070205080204" pitchFamily="34" charset="-128"/>
              </a:rPr>
              <a:t>(“c and b are different\n”);</a:t>
            </a:r>
          </a:p>
          <a:p>
            <a:r>
              <a:rPr lang="en-US" altLang="tr-TR" dirty="0">
                <a:ea typeface="ＭＳ Ｐゴシック" panose="020B0600070205080204" pitchFamily="34" charset="-128"/>
              </a:rPr>
              <a:t>} t</a:t>
            </a:r>
          </a:p>
          <a:p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60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28631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Kendimiz yazmalıyız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altLang="tr-TR" sz="1200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altLang="tr-TR" sz="1200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math.h</a:t>
            </a:r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en-US" altLang="tr-TR" sz="1200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tr-TR" sz="1200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Box { </a:t>
            </a:r>
            <a:r>
              <a:rPr lang="en-US" altLang="tr-TR" sz="1200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width, height , length; };</a:t>
            </a:r>
          </a:p>
          <a:p>
            <a:endParaRPr lang="en-US" altLang="tr-TR" sz="1200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tr-TR" sz="1200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tr-TR" sz="1200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IsEqual</a:t>
            </a:r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tr-TR" sz="1200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Box b, </a:t>
            </a:r>
            <a:r>
              <a:rPr lang="en-US" altLang="tr-TR" sz="1200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Box c) </a:t>
            </a:r>
          </a:p>
          <a:p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if (</a:t>
            </a:r>
            <a:r>
              <a:rPr lang="en-US" altLang="tr-TR" sz="1200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b.width</a:t>
            </a:r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US" altLang="tr-TR" sz="1200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c.width</a:t>
            </a:r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&amp;&amp;</a:t>
            </a:r>
          </a:p>
          <a:p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altLang="tr-TR" sz="1200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b.length</a:t>
            </a:r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US" altLang="tr-TR" sz="1200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c.length</a:t>
            </a:r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&amp;&amp;</a:t>
            </a:r>
          </a:p>
          <a:p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altLang="tr-TR" sz="1200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b.height</a:t>
            </a:r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US" altLang="tr-TR" sz="1200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c.height</a:t>
            </a:r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 	return 1;</a:t>
            </a:r>
          </a:p>
          <a:p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else</a:t>
            </a:r>
          </a:p>
          <a:p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	return 0;</a:t>
            </a:r>
          </a:p>
          <a:p>
            <a:r>
              <a:rPr lang="en-US" altLang="tr-TR" sz="1200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		</a:t>
            </a:r>
          </a:p>
          <a:p>
            <a:endParaRPr lang="tr-TR" sz="1200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61</a:t>
            </a:fld>
            <a:endParaRPr lang="tr-TR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915816" y="4147023"/>
            <a:ext cx="5707360" cy="2308324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tr-TR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tr-TR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altLang="tr-TR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Box b, c;</a:t>
            </a:r>
          </a:p>
          <a:p>
            <a:r>
              <a:rPr lang="en-US" altLang="tr-TR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tr-TR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b.width</a:t>
            </a:r>
            <a:r>
              <a:rPr lang="en-US" altLang="tr-TR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5; </a:t>
            </a:r>
            <a:r>
              <a:rPr lang="en-US" altLang="tr-TR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b.length</a:t>
            </a:r>
            <a:r>
              <a:rPr lang="en-US" altLang="tr-TR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=1; </a:t>
            </a:r>
            <a:r>
              <a:rPr lang="en-US" altLang="tr-TR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b.height</a:t>
            </a:r>
            <a:r>
              <a:rPr lang="en-US" altLang="tr-TR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2;</a:t>
            </a:r>
          </a:p>
          <a:p>
            <a:r>
              <a:rPr lang="en-US" altLang="tr-TR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c = b;	</a:t>
            </a:r>
          </a:p>
          <a:p>
            <a:r>
              <a:rPr lang="en-US" altLang="tr-TR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n-US" altLang="tr-TR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if (</a:t>
            </a:r>
            <a:r>
              <a:rPr lang="en-US" altLang="tr-TR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IsEqual</a:t>
            </a:r>
            <a:r>
              <a:rPr lang="en-US" altLang="tr-TR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tr-TR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b,c</a:t>
            </a:r>
            <a:r>
              <a:rPr lang="en-US" altLang="tr-TR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US" altLang="tr-TR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tr-TR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tr-TR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("c and b are identical\n");</a:t>
            </a:r>
          </a:p>
          <a:p>
            <a:r>
              <a:rPr lang="en-US" altLang="tr-TR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else</a:t>
            </a:r>
          </a:p>
          <a:p>
            <a:r>
              <a:rPr lang="en-US" altLang="tr-TR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tr-TR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tr-TR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("c and b are different\n");</a:t>
            </a: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598038"/>
            <a:ext cx="3725133" cy="316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0219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3">
                    <a:lumMod val="50000"/>
                  </a:schemeClr>
                </a:solidFill>
                <a:ea typeface="ＭＳ Ｐゴシック" pitchFamily="34" charset="-128"/>
              </a:rPr>
              <a:t>Example</a:t>
            </a:r>
          </a:p>
        </p:txBody>
      </p:sp>
      <p:graphicFrame>
        <p:nvGraphicFramePr>
          <p:cNvPr id="16431" name="Group 47"/>
          <p:cNvGraphicFramePr>
            <a:graphicFrameLocks noGrp="1"/>
          </p:cNvGraphicFramePr>
          <p:nvPr/>
        </p:nvGraphicFramePr>
        <p:xfrm>
          <a:off x="762000" y="914400"/>
          <a:ext cx="1371600" cy="1608249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41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Box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0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width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length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height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440" name="Group 56"/>
          <p:cNvGraphicFramePr>
            <a:graphicFrameLocks noGrp="1"/>
          </p:cNvGraphicFramePr>
          <p:nvPr/>
        </p:nvGraphicFramePr>
        <p:xfrm>
          <a:off x="762000" y="2743200"/>
          <a:ext cx="1371600" cy="1168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Circle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radius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715" name="Rectangle 6"/>
          <p:cNvSpPr>
            <a:spLocks noChangeArrowheads="1"/>
          </p:cNvSpPr>
          <p:nvPr/>
        </p:nvSpPr>
        <p:spPr bwMode="auto">
          <a:xfrm>
            <a:off x="3347864" y="0"/>
            <a:ext cx="5796136" cy="6165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tr-TR" sz="2200" dirty="0">
                <a:ea typeface="ＭＳ Ｐゴシック" panose="020B0600070205080204" pitchFamily="34" charset="-128"/>
              </a:rPr>
              <a:t>#include &lt;</a:t>
            </a:r>
            <a:r>
              <a:rPr lang="en-US" altLang="tr-TR" sz="2200" dirty="0" err="1">
                <a:ea typeface="ＭＳ Ｐゴシック" panose="020B0600070205080204" pitchFamily="34" charset="-128"/>
              </a:rPr>
              <a:t>stdio.h</a:t>
            </a:r>
            <a:r>
              <a:rPr lang="en-US" altLang="tr-TR" sz="2200" dirty="0">
                <a:ea typeface="ＭＳ Ｐゴシック" panose="020B0600070205080204" pitchFamily="34" charset="-128"/>
              </a:rPr>
              <a:t>&gt;</a:t>
            </a:r>
          </a:p>
          <a:p>
            <a:endParaRPr lang="en-US" altLang="tr-TR" sz="800" dirty="0">
              <a:ea typeface="ＭＳ Ｐゴシック" panose="020B0600070205080204" pitchFamily="34" charset="-128"/>
            </a:endParaRPr>
          </a:p>
          <a:p>
            <a:r>
              <a:rPr lang="en-US" altLang="tr-TR" sz="2200" dirty="0" err="1">
                <a:solidFill>
                  <a:srgbClr val="0070C0"/>
                </a:solidFill>
                <a:ea typeface="ＭＳ Ｐゴシック" panose="020B0600070205080204" pitchFamily="34" charset="-128"/>
              </a:rPr>
              <a:t>typedef</a:t>
            </a:r>
            <a:r>
              <a:rPr lang="en-US" altLang="tr-TR" sz="22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tr-TR" sz="2200" dirty="0" err="1">
                <a:solidFill>
                  <a:srgbClr val="0070C0"/>
                </a:solidFill>
                <a:ea typeface="ＭＳ Ｐゴシック" panose="020B0600070205080204" pitchFamily="34" charset="-128"/>
              </a:rPr>
              <a:t>struct</a:t>
            </a:r>
            <a:r>
              <a:rPr lang="en-US" altLang="tr-TR" sz="22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 </a:t>
            </a:r>
          </a:p>
          <a:p>
            <a:r>
              <a:rPr lang="en-US" altLang="tr-TR" sz="2200" dirty="0">
                <a:ea typeface="ＭＳ Ｐゴシック" panose="020B0600070205080204" pitchFamily="34" charset="-128"/>
              </a:rPr>
              <a:t>{</a:t>
            </a:r>
          </a:p>
          <a:p>
            <a:r>
              <a:rPr lang="en-US" altLang="tr-TR" sz="2200" dirty="0">
                <a:ea typeface="ＭＳ Ｐゴシック" panose="020B0600070205080204" pitchFamily="34" charset="-128"/>
              </a:rPr>
              <a:t>	</a:t>
            </a:r>
            <a:r>
              <a:rPr lang="en-US" altLang="tr-TR" sz="2200" dirty="0" err="1">
                <a:ea typeface="ＭＳ Ｐゴシック" panose="020B0600070205080204" pitchFamily="34" charset="-128"/>
              </a:rPr>
              <a:t>int</a:t>
            </a:r>
            <a:r>
              <a:rPr lang="en-US" altLang="tr-TR" sz="2200" dirty="0">
                <a:ea typeface="ＭＳ Ｐゴシック" panose="020B0600070205080204" pitchFamily="34" charset="-128"/>
              </a:rPr>
              <a:t> width;</a:t>
            </a:r>
          </a:p>
          <a:p>
            <a:r>
              <a:rPr lang="en-US" altLang="tr-TR" sz="2200" dirty="0">
                <a:ea typeface="ＭＳ Ｐゴシック" panose="020B0600070205080204" pitchFamily="34" charset="-128"/>
              </a:rPr>
              <a:t>	</a:t>
            </a:r>
            <a:r>
              <a:rPr lang="en-US" altLang="tr-TR" sz="2200" dirty="0" err="1">
                <a:ea typeface="ＭＳ Ｐゴシック" panose="020B0600070205080204" pitchFamily="34" charset="-128"/>
              </a:rPr>
              <a:t>int</a:t>
            </a:r>
            <a:r>
              <a:rPr lang="en-US" altLang="tr-TR" sz="2200" dirty="0">
                <a:ea typeface="ＭＳ Ｐゴシック" panose="020B0600070205080204" pitchFamily="34" charset="-128"/>
              </a:rPr>
              <a:t> length;</a:t>
            </a:r>
          </a:p>
          <a:p>
            <a:r>
              <a:rPr lang="en-US" altLang="tr-TR" sz="2200" dirty="0">
                <a:ea typeface="ＭＳ Ｐゴシック" panose="020B0600070205080204" pitchFamily="34" charset="-128"/>
              </a:rPr>
              <a:t>	</a:t>
            </a:r>
            <a:r>
              <a:rPr lang="en-US" altLang="tr-TR" sz="2200" dirty="0" err="1">
                <a:ea typeface="ＭＳ Ｐゴシック" panose="020B0600070205080204" pitchFamily="34" charset="-128"/>
              </a:rPr>
              <a:t>int</a:t>
            </a:r>
            <a:r>
              <a:rPr lang="en-US" altLang="tr-TR" sz="2200" dirty="0">
                <a:ea typeface="ＭＳ Ｐゴシック" panose="020B0600070205080204" pitchFamily="34" charset="-128"/>
              </a:rPr>
              <a:t> height;</a:t>
            </a:r>
          </a:p>
          <a:p>
            <a:r>
              <a:rPr lang="en-US" altLang="tr-TR" sz="2200" dirty="0">
                <a:ea typeface="ＭＳ Ｐゴシック" panose="020B0600070205080204" pitchFamily="34" charset="-128"/>
              </a:rPr>
              <a:t>} </a:t>
            </a:r>
            <a:r>
              <a:rPr lang="en-US" altLang="tr-TR" sz="22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Box</a:t>
            </a:r>
            <a:r>
              <a:rPr lang="en-US" altLang="tr-TR" sz="2200" dirty="0">
                <a:ea typeface="ＭＳ Ｐゴシック" panose="020B0600070205080204" pitchFamily="34" charset="-128"/>
              </a:rPr>
              <a:t>;</a:t>
            </a:r>
          </a:p>
          <a:p>
            <a:pPr lvl="2"/>
            <a:endParaRPr lang="en-US" altLang="tr-TR" sz="800" dirty="0">
              <a:ea typeface="ＭＳ Ｐゴシック" panose="020B0600070205080204" pitchFamily="34" charset="-128"/>
            </a:endParaRPr>
          </a:p>
          <a:p>
            <a:r>
              <a:rPr lang="en-US" altLang="tr-TR" sz="2200" dirty="0" err="1">
                <a:solidFill>
                  <a:srgbClr val="0070C0"/>
                </a:solidFill>
                <a:ea typeface="ＭＳ Ｐゴシック" panose="020B0600070205080204" pitchFamily="34" charset="-128"/>
              </a:rPr>
              <a:t>typedef</a:t>
            </a:r>
            <a:r>
              <a:rPr lang="en-US" altLang="tr-TR" sz="22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tr-TR" sz="2200" dirty="0" err="1">
                <a:solidFill>
                  <a:srgbClr val="0070C0"/>
                </a:solidFill>
                <a:ea typeface="ＭＳ Ｐゴシック" panose="020B0600070205080204" pitchFamily="34" charset="-128"/>
              </a:rPr>
              <a:t>struct</a:t>
            </a:r>
            <a:r>
              <a:rPr lang="en-US" altLang="tr-TR" sz="22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tr-TR" sz="2200" dirty="0">
                <a:ea typeface="ＭＳ Ｐゴシック" panose="020B0600070205080204" pitchFamily="34" charset="-128"/>
              </a:rPr>
              <a:t>{  double radius; } </a:t>
            </a:r>
            <a:r>
              <a:rPr lang="en-US" altLang="tr-TR" sz="22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Circle</a:t>
            </a:r>
            <a:r>
              <a:rPr lang="en-US" altLang="tr-TR" sz="2200" dirty="0">
                <a:ea typeface="ＭＳ Ｐゴシック" panose="020B0600070205080204" pitchFamily="34" charset="-128"/>
              </a:rPr>
              <a:t>;</a:t>
            </a:r>
          </a:p>
          <a:p>
            <a:pPr>
              <a:buFont typeface="Wingdings" panose="05000000000000000000" pitchFamily="2" charset="2"/>
              <a:buNone/>
            </a:pPr>
            <a:endParaRPr lang="en-US" altLang="tr-TR" sz="800" dirty="0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tr-TR" sz="2200" dirty="0" err="1">
                <a:ea typeface="ＭＳ Ｐゴシック" panose="020B0600070205080204" pitchFamily="34" charset="-128"/>
              </a:rPr>
              <a:t>int</a:t>
            </a:r>
            <a:r>
              <a:rPr lang="en-US" altLang="tr-TR" sz="2200" dirty="0">
                <a:ea typeface="ＭＳ Ｐゴシック" panose="020B0600070205080204" pitchFamily="34" charset="-128"/>
              </a:rPr>
              <a:t> main()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tr-TR" sz="2200" dirty="0">
                <a:ea typeface="ＭＳ Ｐゴシック" panose="020B0600070205080204" pitchFamily="34" charset="-128"/>
              </a:rPr>
              <a:t>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tr-TR" sz="2200" dirty="0">
                <a:ea typeface="ＭＳ Ｐゴシック" panose="020B0600070205080204" pitchFamily="34" charset="-128"/>
              </a:rPr>
              <a:t>	</a:t>
            </a:r>
            <a:r>
              <a:rPr lang="en-US" altLang="tr-TR" sz="22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Box</a:t>
            </a:r>
            <a:r>
              <a:rPr lang="en-US" altLang="tr-TR" sz="2200" dirty="0">
                <a:ea typeface="ＭＳ Ｐゴシック" panose="020B0600070205080204" pitchFamily="34" charset="-128"/>
              </a:rPr>
              <a:t> b; 	/* instead of </a:t>
            </a:r>
            <a:r>
              <a:rPr lang="en-US" altLang="tr-TR" sz="2200" dirty="0" err="1">
                <a:ea typeface="ＭＳ Ｐゴシック" panose="020B0600070205080204" pitchFamily="34" charset="-128"/>
              </a:rPr>
              <a:t>struct</a:t>
            </a:r>
            <a:r>
              <a:rPr lang="en-US" altLang="tr-TR" sz="2200" dirty="0">
                <a:ea typeface="ＭＳ Ｐゴシック" panose="020B0600070205080204" pitchFamily="34" charset="-128"/>
              </a:rPr>
              <a:t> Box */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tr-TR" sz="2200" dirty="0">
                <a:ea typeface="ＭＳ Ｐゴシック" panose="020B0600070205080204" pitchFamily="34" charset="-128"/>
              </a:rPr>
              <a:t>	</a:t>
            </a:r>
            <a:r>
              <a:rPr lang="en-US" altLang="tr-TR" sz="22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Circle</a:t>
            </a:r>
            <a:r>
              <a:rPr lang="en-US" altLang="tr-TR" sz="2200" dirty="0">
                <a:ea typeface="ＭＳ Ｐゴシック" panose="020B0600070205080204" pitchFamily="34" charset="-128"/>
              </a:rPr>
              <a:t> c;	/* instead of </a:t>
            </a:r>
            <a:r>
              <a:rPr lang="en-US" altLang="tr-TR" sz="2200" dirty="0" err="1">
                <a:ea typeface="ＭＳ Ｐゴシック" panose="020B0600070205080204" pitchFamily="34" charset="-128"/>
              </a:rPr>
              <a:t>struct</a:t>
            </a:r>
            <a:r>
              <a:rPr lang="en-US" altLang="tr-TR" sz="2200" dirty="0">
                <a:ea typeface="ＭＳ Ｐゴシック" panose="020B0600070205080204" pitchFamily="34" charset="-128"/>
              </a:rPr>
              <a:t> Circle */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tr-TR" sz="2200" dirty="0">
                <a:ea typeface="ＭＳ Ｐゴシック" panose="020B0600070205080204" pitchFamily="34" charset="-128"/>
              </a:rPr>
              <a:t>	</a:t>
            </a:r>
            <a:r>
              <a:rPr lang="en-US" altLang="tr-TR" sz="2200" dirty="0" err="1">
                <a:ea typeface="ＭＳ Ｐゴシック" panose="020B0600070205080204" pitchFamily="34" charset="-128"/>
              </a:rPr>
              <a:t>b.width</a:t>
            </a:r>
            <a:r>
              <a:rPr lang="en-US" altLang="tr-TR" sz="2200" dirty="0">
                <a:ea typeface="ＭＳ Ｐゴシック" panose="020B0600070205080204" pitchFamily="34" charset="-128"/>
              </a:rPr>
              <a:t> = 10;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tr-TR" sz="2200" dirty="0">
                <a:ea typeface="ＭＳ Ｐゴシック" panose="020B0600070205080204" pitchFamily="34" charset="-128"/>
              </a:rPr>
              <a:t>	</a:t>
            </a:r>
            <a:r>
              <a:rPr lang="en-US" altLang="tr-TR" sz="2200" dirty="0" err="1">
                <a:ea typeface="ＭＳ Ｐゴシック" panose="020B0600070205080204" pitchFamily="34" charset="-128"/>
              </a:rPr>
              <a:t>b.length</a:t>
            </a:r>
            <a:r>
              <a:rPr lang="en-US" altLang="tr-TR" sz="2200" dirty="0">
                <a:ea typeface="ＭＳ Ｐゴシック" panose="020B0600070205080204" pitchFamily="34" charset="-128"/>
              </a:rPr>
              <a:t> = 30;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tr-TR" sz="2200" dirty="0">
                <a:ea typeface="ＭＳ Ｐゴシック" panose="020B0600070205080204" pitchFamily="34" charset="-128"/>
              </a:rPr>
              <a:t>	</a:t>
            </a:r>
            <a:r>
              <a:rPr lang="en-US" altLang="tr-TR" sz="2200" dirty="0" err="1">
                <a:ea typeface="ＭＳ Ｐゴシック" panose="020B0600070205080204" pitchFamily="34" charset="-128"/>
              </a:rPr>
              <a:t>b.height</a:t>
            </a:r>
            <a:r>
              <a:rPr lang="en-US" altLang="tr-TR" sz="2200" dirty="0">
                <a:ea typeface="ＭＳ Ｐゴシック" panose="020B0600070205080204" pitchFamily="34" charset="-128"/>
              </a:rPr>
              <a:t> = 10;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tr-TR" sz="2200" dirty="0">
                <a:ea typeface="ＭＳ Ｐゴシック" panose="020B0600070205080204" pitchFamily="34" charset="-128"/>
              </a:rPr>
              <a:t>	</a:t>
            </a:r>
            <a:r>
              <a:rPr lang="en-US" altLang="tr-TR" sz="2200" dirty="0" err="1">
                <a:ea typeface="ＭＳ Ｐゴシック" panose="020B0600070205080204" pitchFamily="34" charset="-128"/>
              </a:rPr>
              <a:t>c.radius</a:t>
            </a:r>
            <a:r>
              <a:rPr lang="en-US" altLang="tr-TR" sz="2200" dirty="0">
                <a:ea typeface="ＭＳ Ｐゴシック" panose="020B0600070205080204" pitchFamily="34" charset="-128"/>
              </a:rPr>
              <a:t> = 10;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tr-TR" sz="2200" dirty="0">
                <a:ea typeface="ＭＳ Ｐゴシック" panose="020B0600070205080204" pitchFamily="34" charset="-128"/>
              </a:rPr>
              <a:t>}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62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142657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math.h</a:t>
            </a:r>
            <a:r>
              <a:rPr lang="tr-TR" dirty="0"/>
              <a:t>&gt;</a:t>
            </a:r>
          </a:p>
          <a:p>
            <a:r>
              <a:rPr lang="tr-TR" dirty="0" err="1"/>
              <a:t>typedef</a:t>
            </a:r>
            <a:r>
              <a:rPr lang="tr-TR" dirty="0"/>
              <a:t> </a:t>
            </a:r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koor</a:t>
            </a:r>
            <a:endParaRPr lang="tr-TR" dirty="0"/>
          </a:p>
          <a:p>
            <a:r>
              <a:rPr lang="tr-TR" dirty="0"/>
              <a:t>{</a:t>
            </a:r>
          </a:p>
          <a:p>
            <a:r>
              <a:rPr lang="tr-TR" dirty="0"/>
              <a:t>      </a:t>
            </a:r>
          </a:p>
          <a:p>
            <a:r>
              <a:rPr lang="tr-TR" dirty="0"/>
              <a:t>      int x;</a:t>
            </a:r>
          </a:p>
          <a:p>
            <a:r>
              <a:rPr lang="tr-TR" dirty="0"/>
              <a:t>      int y;</a:t>
            </a:r>
          </a:p>
          <a:p>
            <a:r>
              <a:rPr lang="tr-TR" dirty="0"/>
              <a:t>};</a:t>
            </a:r>
          </a:p>
          <a:p>
            <a:r>
              <a:rPr lang="tr-TR" dirty="0"/>
              <a:t>int main()</a:t>
            </a:r>
          </a:p>
          <a:p>
            <a:r>
              <a:rPr lang="tr-TR" dirty="0"/>
              <a:t>{ </a:t>
            </a:r>
            <a:r>
              <a:rPr lang="tr-TR" dirty="0" err="1"/>
              <a:t>float</a:t>
            </a:r>
            <a:r>
              <a:rPr lang="tr-TR" dirty="0"/>
              <a:t> </a:t>
            </a:r>
            <a:r>
              <a:rPr lang="tr-TR" dirty="0" err="1"/>
              <a:t>uzaklik</a:t>
            </a:r>
            <a:r>
              <a:rPr lang="tr-TR" dirty="0"/>
              <a:t>;</a:t>
            </a:r>
          </a:p>
          <a:p>
            <a:r>
              <a:rPr lang="tr-TR" dirty="0" err="1"/>
              <a:t>koor</a:t>
            </a:r>
            <a:r>
              <a:rPr lang="tr-TR" dirty="0"/>
              <a:t> </a:t>
            </a:r>
            <a:r>
              <a:rPr lang="tr-TR" dirty="0" err="1"/>
              <a:t>a,b</a:t>
            </a:r>
            <a:r>
              <a:rPr lang="tr-TR" dirty="0"/>
              <a:t>;</a:t>
            </a:r>
          </a:p>
          <a:p>
            <a:r>
              <a:rPr lang="tr-TR" dirty="0" err="1"/>
              <a:t>scanf</a:t>
            </a:r>
            <a:r>
              <a:rPr lang="tr-TR" dirty="0"/>
              <a:t>("%d %d", &amp;</a:t>
            </a:r>
            <a:r>
              <a:rPr lang="tr-TR" dirty="0" err="1"/>
              <a:t>a.x</a:t>
            </a:r>
            <a:r>
              <a:rPr lang="tr-TR" dirty="0"/>
              <a:t>, &amp;</a:t>
            </a:r>
            <a:r>
              <a:rPr lang="tr-TR" dirty="0" err="1"/>
              <a:t>a.y</a:t>
            </a:r>
            <a:r>
              <a:rPr lang="tr-TR" dirty="0"/>
              <a:t>);</a:t>
            </a:r>
          </a:p>
          <a:p>
            <a:r>
              <a:rPr lang="tr-TR" dirty="0" err="1"/>
              <a:t>scanf</a:t>
            </a:r>
            <a:r>
              <a:rPr lang="tr-TR" dirty="0"/>
              <a:t>("%d %d", &amp;</a:t>
            </a:r>
            <a:r>
              <a:rPr lang="tr-TR" dirty="0" err="1"/>
              <a:t>b.x</a:t>
            </a:r>
            <a:r>
              <a:rPr lang="tr-TR" dirty="0"/>
              <a:t>, &amp;</a:t>
            </a:r>
            <a:r>
              <a:rPr lang="tr-TR" dirty="0" err="1"/>
              <a:t>b.y</a:t>
            </a:r>
            <a:r>
              <a:rPr lang="tr-TR" dirty="0"/>
              <a:t>);</a:t>
            </a:r>
          </a:p>
          <a:p>
            <a:endParaRPr lang="tr-TR" dirty="0"/>
          </a:p>
          <a:p>
            <a:r>
              <a:rPr lang="tr-TR" dirty="0" err="1"/>
              <a:t>uzaklik</a:t>
            </a:r>
            <a:r>
              <a:rPr lang="tr-TR" dirty="0"/>
              <a:t>= (</a:t>
            </a:r>
            <a:r>
              <a:rPr lang="tr-TR" dirty="0" err="1"/>
              <a:t>float</a:t>
            </a:r>
            <a:r>
              <a:rPr lang="tr-TR" dirty="0"/>
              <a:t>)</a:t>
            </a:r>
            <a:r>
              <a:rPr lang="tr-TR" dirty="0" err="1"/>
              <a:t>sqrt</a:t>
            </a:r>
            <a:r>
              <a:rPr lang="tr-TR" dirty="0"/>
              <a:t>(</a:t>
            </a:r>
            <a:r>
              <a:rPr lang="tr-TR" dirty="0" err="1"/>
              <a:t>pow</a:t>
            </a:r>
            <a:r>
              <a:rPr lang="tr-TR" dirty="0"/>
              <a:t>((</a:t>
            </a:r>
            <a:r>
              <a:rPr lang="tr-TR" dirty="0" err="1"/>
              <a:t>a.x-b.x</a:t>
            </a:r>
            <a:r>
              <a:rPr lang="tr-TR" dirty="0"/>
              <a:t>),2)+</a:t>
            </a:r>
            <a:r>
              <a:rPr lang="tr-TR" dirty="0" err="1"/>
              <a:t>pow</a:t>
            </a:r>
            <a:r>
              <a:rPr lang="tr-TR" dirty="0"/>
              <a:t>((</a:t>
            </a:r>
            <a:r>
              <a:rPr lang="tr-TR" dirty="0" err="1"/>
              <a:t>a.y-b.y</a:t>
            </a:r>
            <a:r>
              <a:rPr lang="tr-TR" dirty="0"/>
              <a:t>),2));</a:t>
            </a:r>
          </a:p>
          <a:p>
            <a:r>
              <a:rPr lang="tr-TR" dirty="0" err="1"/>
              <a:t>printf</a:t>
            </a:r>
            <a:r>
              <a:rPr lang="tr-TR" dirty="0"/>
              <a:t>("</a:t>
            </a:r>
            <a:r>
              <a:rPr lang="tr-TR" dirty="0" err="1"/>
              <a:t>sonuc</a:t>
            </a:r>
            <a:r>
              <a:rPr lang="tr-TR" dirty="0"/>
              <a:t>=%f",</a:t>
            </a:r>
            <a:r>
              <a:rPr lang="tr-TR" dirty="0" err="1"/>
              <a:t>uzaklik</a:t>
            </a:r>
            <a:r>
              <a:rPr lang="tr-TR" dirty="0"/>
              <a:t>);}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63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482017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Ödev</a:t>
            </a:r>
            <a:endParaRPr lang="tr-TR" dirty="0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tr-TR" dirty="0"/>
              <a:t>SORU:</a:t>
            </a:r>
          </a:p>
          <a:p>
            <a:r>
              <a:rPr lang="tr-TR" dirty="0"/>
              <a:t>Metin (en fazla 20 karakter) , uzunluğu, sesli sayısı, sessiz sayısı gibi alanların olduğu 15 elemanlı  bir </a:t>
            </a:r>
            <a:r>
              <a:rPr lang="tr-TR" dirty="0" err="1"/>
              <a:t>struct</a:t>
            </a:r>
            <a:r>
              <a:rPr lang="tr-TR" dirty="0"/>
              <a:t> dizisi </a:t>
            </a:r>
            <a:r>
              <a:rPr lang="tr-TR"/>
              <a:t>tanımlayınız</a:t>
            </a:r>
            <a:r>
              <a:rPr lang="tr-TR" smtClean="0"/>
              <a:t>.</a:t>
            </a:r>
          </a:p>
          <a:p>
            <a:endParaRPr lang="tr-TR" dirty="0"/>
          </a:p>
          <a:p>
            <a:pPr lvl="0"/>
            <a:r>
              <a:rPr lang="tr-TR" dirty="0"/>
              <a:t>Değer atama: Bu </a:t>
            </a:r>
            <a:r>
              <a:rPr lang="tr-TR" dirty="0" err="1"/>
              <a:t>struct</a:t>
            </a:r>
            <a:r>
              <a:rPr lang="tr-TR" dirty="0"/>
              <a:t> içerisine öncelikle değer girişi yapan  veya değerleri program içinde atayan </a:t>
            </a:r>
            <a:r>
              <a:rPr lang="tr-TR" dirty="0" err="1"/>
              <a:t>atayan</a:t>
            </a:r>
            <a:r>
              <a:rPr lang="tr-TR" dirty="0"/>
              <a:t> bir </a:t>
            </a:r>
            <a:r>
              <a:rPr lang="tr-TR" dirty="0" err="1"/>
              <a:t>fonskiyon</a:t>
            </a:r>
            <a:r>
              <a:rPr lang="tr-TR" dirty="0"/>
              <a:t> yazınız.</a:t>
            </a:r>
          </a:p>
          <a:p>
            <a:pPr lvl="0"/>
            <a:r>
              <a:rPr lang="tr-TR" dirty="0"/>
              <a:t>Hesap: </a:t>
            </a:r>
            <a:r>
              <a:rPr lang="tr-TR" dirty="0" err="1"/>
              <a:t>struct’ın</a:t>
            </a:r>
            <a:r>
              <a:rPr lang="tr-TR" dirty="0"/>
              <a:t> uzunluk, sesli ve sessiz harf sayısını tutan değerlerin otomatik hesaplanması ve atanması ile ilgili işlemleri yapan ayrı bir fonksiyon yazınız.</a:t>
            </a:r>
          </a:p>
          <a:p>
            <a:pPr lvl="0"/>
            <a:r>
              <a:rPr lang="tr-TR" dirty="0"/>
              <a:t>Görüntüleme: Program sonunda ise </a:t>
            </a:r>
            <a:r>
              <a:rPr lang="tr-TR" dirty="0" err="1"/>
              <a:t>struct</a:t>
            </a:r>
            <a:r>
              <a:rPr lang="tr-TR" dirty="0"/>
              <a:t> elemanlarını bir fonksiyon aracılığı ile yazdırınız.</a:t>
            </a:r>
          </a:p>
          <a:p>
            <a:pPr lvl="0"/>
            <a:r>
              <a:rPr lang="tr-TR" dirty="0"/>
              <a:t>Benzerlik: Geçen hafta yazdığınız benzerlik fonksiyonunu kullanarak birbirine en çok benzeyen dizi elemanının hangileri olduğunu  ve benzerlik değerini ekrana yazdırınız.</a:t>
            </a:r>
          </a:p>
          <a:p>
            <a:r>
              <a:rPr lang="tr-TR" dirty="0"/>
              <a:t> </a:t>
            </a:r>
          </a:p>
          <a:p>
            <a:r>
              <a:rPr lang="tr-TR" dirty="0"/>
              <a:t> </a:t>
            </a:r>
          </a:p>
          <a:p>
            <a:pPr lvl="0"/>
            <a:r>
              <a:rPr lang="tr-TR" dirty="0"/>
              <a:t>Eleman limon uzunluk: 5, sesli harf: 2 sessiz harf: 3</a:t>
            </a:r>
          </a:p>
          <a:p>
            <a:pPr lvl="0"/>
            <a:r>
              <a:rPr lang="tr-TR" dirty="0"/>
              <a:t>Eleman bilgisayar uzunluk: 10 sesli harf: 4 sessiz harf: 6</a:t>
            </a:r>
          </a:p>
          <a:p>
            <a:pPr lvl="0"/>
            <a:r>
              <a:rPr lang="tr-TR" dirty="0"/>
              <a:t>Eleman liman uzunluk: 5, sesli harf: 2 sessiz harf: 3</a:t>
            </a:r>
          </a:p>
          <a:p>
            <a:r>
              <a:rPr lang="tr-TR" dirty="0"/>
              <a:t>…….</a:t>
            </a:r>
          </a:p>
          <a:p>
            <a:r>
              <a:rPr lang="tr-TR" dirty="0"/>
              <a:t> </a:t>
            </a:r>
          </a:p>
          <a:p>
            <a:r>
              <a:rPr lang="tr-TR" dirty="0"/>
              <a:t>Benzerlik:   En çok benzeyen elemanlar   limon ile liman </a:t>
            </a:r>
          </a:p>
          <a:p>
            <a:endParaRPr lang="tr-TR" dirty="0"/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64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5078146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tr-TR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89D34F3-C30E-42B3-B3FB-7DE9F1DA43CC}" type="slidenum">
              <a:rPr lang="tr-TR" smtClean="0"/>
              <a:pPr/>
              <a:t>65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1259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 Yazı Tipi">
  <a:themeElements>
    <a:clrScheme name="Wood Type Yazı Tipi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 Yazı Tipi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 Yazı Tipi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Tahta Yazı</Template>
  <TotalTime>23449</TotalTime>
  <Words>4270</Words>
  <Application>Microsoft Office PowerPoint</Application>
  <PresentationFormat>Ekran Gösterisi (4:3)</PresentationFormat>
  <Paragraphs>732</Paragraphs>
  <Slides>65</Slides>
  <Notes>22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9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65</vt:i4>
      </vt:variant>
    </vt:vector>
  </HeadingPairs>
  <TitlesOfParts>
    <vt:vector size="75" baseType="lpstr">
      <vt:lpstr>ＭＳ Ｐゴシック</vt:lpstr>
      <vt:lpstr>Arial</vt:lpstr>
      <vt:lpstr>Calibri</vt:lpstr>
      <vt:lpstr>Consolas</vt:lpstr>
      <vt:lpstr>Courier New</vt:lpstr>
      <vt:lpstr>Rockwell</vt:lpstr>
      <vt:lpstr>Rockwell Condensed</vt:lpstr>
      <vt:lpstr>Times New Roman</vt:lpstr>
      <vt:lpstr>Wingdings</vt:lpstr>
      <vt:lpstr>Wood Type Yazı Tipi</vt:lpstr>
      <vt:lpstr>Bilgisayar programlama 1   </vt:lpstr>
      <vt:lpstr>Genel Bakış…</vt:lpstr>
      <vt:lpstr>2. BÖLÜM</vt:lpstr>
      <vt:lpstr>enum Deyimi</vt:lpstr>
      <vt:lpstr>enum Deyimi (devam…)</vt:lpstr>
      <vt:lpstr>enum Deyimi (devam…)</vt:lpstr>
      <vt:lpstr>enum Deyimi (devam…)</vt:lpstr>
      <vt:lpstr>enum Deyimi (devam…)</vt:lpstr>
      <vt:lpstr>enum Deyimi (devam…)</vt:lpstr>
      <vt:lpstr>PowerPoint Sunusu</vt:lpstr>
      <vt:lpstr>Örnek: Basit enum Kullanımı</vt:lpstr>
      <vt:lpstr>Alıştırma: enum Oluşturma</vt:lpstr>
      <vt:lpstr>PowerPoint Sunusu</vt:lpstr>
      <vt:lpstr>PowerPoint Sunusu</vt:lpstr>
      <vt:lpstr>PowerPoint Sunusu</vt:lpstr>
      <vt:lpstr>PowerPoint Sunusu</vt:lpstr>
      <vt:lpstr>Enum ve typedef Bildirimi</vt:lpstr>
      <vt:lpstr>Numaralandırma değişmezinin tamsayı değerini değil de ismini ekrana yazdırmanın doğrudan bir yolu yoktur. Bu amaçla bir işlev yazılabilir:</vt:lpstr>
      <vt:lpstr>PowerPoint Sunusu</vt:lpstr>
      <vt:lpstr>struct (Yapı) Deyimi</vt:lpstr>
      <vt:lpstr>struct (Yapı) Deyimi</vt:lpstr>
      <vt:lpstr>struct Deyimi (devam…)</vt:lpstr>
      <vt:lpstr>struct Deyimi (devam…)</vt:lpstr>
      <vt:lpstr>PowerPoint Sunusu</vt:lpstr>
      <vt:lpstr>PowerPoint Sunusu</vt:lpstr>
      <vt:lpstr>PowerPoint Sunusu</vt:lpstr>
      <vt:lpstr>Yapı Türünden Değişken Tanımlaması</vt:lpstr>
      <vt:lpstr>Yapı Türünden Değişken Tanımlaması</vt:lpstr>
      <vt:lpstr>PowerPoint Sunusu</vt:lpstr>
      <vt:lpstr>Yapı Bildirimi İle Değişken Tanımlamasının Birlikte Yapılması </vt:lpstr>
      <vt:lpstr>PowerPoint Sunusu</vt:lpstr>
      <vt:lpstr>Örnek</vt:lpstr>
      <vt:lpstr>Yapı Elemanlarının Bellekteki Yerleşimi </vt:lpstr>
      <vt:lpstr>PowerPoint Sunusu</vt:lpstr>
      <vt:lpstr>Yapı Elemanı Olarak Dizilerin Kullanılması </vt:lpstr>
      <vt:lpstr>Yapı Elemanı Olarak Gösterici Değişkenlerin Kullanılması </vt:lpstr>
      <vt:lpstr>PowerPoint Sunusu</vt:lpstr>
      <vt:lpstr>PowerPoint Sunusu</vt:lpstr>
      <vt:lpstr>PowerPoint Sunusu</vt:lpstr>
      <vt:lpstr>Yapı Değişkenlerine İlkdeğer Verilmesi </vt:lpstr>
      <vt:lpstr>PowerPoint Sunusu</vt:lpstr>
      <vt:lpstr>PowerPoint Sunusu</vt:lpstr>
      <vt:lpstr>PowerPoint Sunusu</vt:lpstr>
      <vt:lpstr>PowerPoint Sunusu</vt:lpstr>
      <vt:lpstr>Örnek: Değer alma ve görüntüleme </vt:lpstr>
      <vt:lpstr>Ok İşleci </vt:lpstr>
      <vt:lpstr>Yapı Nesnesinin Değerinin İşleve Gönderilmesi </vt:lpstr>
      <vt:lpstr>PowerPoint Sunusu</vt:lpstr>
      <vt:lpstr>PowerPoint Sunusu</vt:lpstr>
      <vt:lpstr>PowerPoint Sunusu</vt:lpstr>
      <vt:lpstr>Pointer gücü </vt:lpstr>
      <vt:lpstr>struct Deyimi (devam…)</vt:lpstr>
      <vt:lpstr>struct Deyimi (devam…)</vt:lpstr>
      <vt:lpstr>struct Deyimi (devam…)</vt:lpstr>
      <vt:lpstr>struct Deyimi (devam…)</vt:lpstr>
      <vt:lpstr>struct Deyimi (devam…)</vt:lpstr>
      <vt:lpstr>struct Deyimi (devam…)</vt:lpstr>
      <vt:lpstr>Örnek: struct Okuma ve Yazma  struct_uygulama.pdf DOSYASINA BAK</vt:lpstr>
      <vt:lpstr>Yapı Dizileri </vt:lpstr>
      <vt:lpstr>Not: == Karşılaştırma çalışmıyor</vt:lpstr>
      <vt:lpstr>Kendimiz yazmalıyız</vt:lpstr>
      <vt:lpstr>Example</vt:lpstr>
      <vt:lpstr>PowerPoint Sunusu</vt:lpstr>
      <vt:lpstr>Ödev</vt:lpstr>
      <vt:lpstr>PowerPoint Sunusu</vt:lpstr>
    </vt:vector>
  </TitlesOfParts>
  <Company>Maltepe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YAZILIM KALİTESİ  (Concepts of Programming Languages)  Öğr. Gör. Fatih YÜCALAR fatihy@maltepe.edu.tr</dc:title>
  <dc:creator>Fatih Yücalar</dc:creator>
  <cp:lastModifiedBy>Buket Doğan</cp:lastModifiedBy>
  <cp:revision>691</cp:revision>
  <dcterms:created xsi:type="dcterms:W3CDTF">2009-02-19T19:45:44Z</dcterms:created>
  <dcterms:modified xsi:type="dcterms:W3CDTF">2020-04-23T20:21:29Z</dcterms:modified>
</cp:coreProperties>
</file>