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51"/>
  </p:notesMasterIdLst>
  <p:sldIdLst>
    <p:sldId id="256" r:id="rId2"/>
    <p:sldId id="302" r:id="rId3"/>
    <p:sldId id="303" r:id="rId4"/>
    <p:sldId id="304" r:id="rId5"/>
    <p:sldId id="310" r:id="rId6"/>
    <p:sldId id="260" r:id="rId7"/>
    <p:sldId id="263" r:id="rId8"/>
    <p:sldId id="264" r:id="rId9"/>
    <p:sldId id="265" r:id="rId10"/>
    <p:sldId id="266" r:id="rId11"/>
    <p:sldId id="267" r:id="rId12"/>
    <p:sldId id="268" r:id="rId13"/>
    <p:sldId id="270" r:id="rId14"/>
    <p:sldId id="309" r:id="rId15"/>
    <p:sldId id="299" r:id="rId16"/>
    <p:sldId id="291" r:id="rId17"/>
    <p:sldId id="300" r:id="rId18"/>
    <p:sldId id="277" r:id="rId19"/>
    <p:sldId id="279" r:id="rId20"/>
    <p:sldId id="314" r:id="rId21"/>
    <p:sldId id="280" r:id="rId22"/>
    <p:sldId id="311" r:id="rId23"/>
    <p:sldId id="312" r:id="rId24"/>
    <p:sldId id="313" r:id="rId25"/>
    <p:sldId id="281" r:id="rId26"/>
    <p:sldId id="318" r:id="rId27"/>
    <p:sldId id="319" r:id="rId28"/>
    <p:sldId id="306" r:id="rId29"/>
    <p:sldId id="307" r:id="rId30"/>
    <p:sldId id="308" r:id="rId31"/>
    <p:sldId id="301" r:id="rId32"/>
    <p:sldId id="284" r:id="rId33"/>
    <p:sldId id="295" r:id="rId34"/>
    <p:sldId id="296" r:id="rId35"/>
    <p:sldId id="298" r:id="rId36"/>
    <p:sldId id="297" r:id="rId37"/>
    <p:sldId id="285" r:id="rId38"/>
    <p:sldId id="317" r:id="rId39"/>
    <p:sldId id="293" r:id="rId40"/>
    <p:sldId id="286" r:id="rId41"/>
    <p:sldId id="287" r:id="rId42"/>
    <p:sldId id="288" r:id="rId43"/>
    <p:sldId id="274" r:id="rId44"/>
    <p:sldId id="261" r:id="rId45"/>
    <p:sldId id="275" r:id="rId46"/>
    <p:sldId id="315" r:id="rId47"/>
    <p:sldId id="316" r:id="rId48"/>
    <p:sldId id="262" r:id="rId49"/>
    <p:sldId id="305"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23" autoAdjust="0"/>
    <p:restoredTop sz="94660"/>
  </p:normalViewPr>
  <p:slideViewPr>
    <p:cSldViewPr snapToGrid="0">
      <p:cViewPr varScale="1">
        <p:scale>
          <a:sx n="88" d="100"/>
          <a:sy n="88" d="100"/>
        </p:scale>
        <p:origin x="413"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3F592-C0D3-46F2-A013-2BDB57FCFB6D}" type="datetimeFigureOut">
              <a:rPr lang="tr-TR" smtClean="0"/>
              <a:t>17.03.2025</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C7F8D0-47F0-48AE-BBDE-89A593E735B6}" type="slidenum">
              <a:rPr lang="tr-TR" smtClean="0"/>
              <a:t>‹#›</a:t>
            </a:fld>
            <a:endParaRPr lang="tr-TR"/>
          </a:p>
        </p:txBody>
      </p:sp>
    </p:spTree>
    <p:extLst>
      <p:ext uri="{BB962C8B-B14F-4D97-AF65-F5344CB8AC3E}">
        <p14:creationId xmlns:p14="http://schemas.microsoft.com/office/powerpoint/2010/main" val="2978036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3F6F0397-0873-4E96-8B50-8D137B1D5A79}" type="slidenum">
              <a:rPr lang="en-US" altLang="en-US"/>
              <a:pPr eaLnBrk="1" hangingPunct="1">
                <a:spcBef>
                  <a:spcPct val="0"/>
                </a:spcBef>
              </a:pPr>
              <a:t>18</a:t>
            </a:fld>
            <a:endParaRPr lang="en-US" alt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99039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1A8D6B93-5808-401E-9E27-87405618234E}" type="slidenum">
              <a:rPr lang="en-US" altLang="en-US"/>
              <a:pPr eaLnBrk="1" hangingPunct="1">
                <a:spcBef>
                  <a:spcPct val="0"/>
                </a:spcBef>
              </a:pPr>
              <a:t>19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r>
              <a:rPr lang="en-US" altLang="en-US" smtClean="0">
                <a:latin typeface="Times New Roman" panose="02020603050405020304" pitchFamily="18" charset="0"/>
              </a:rPr>
              <a:t>Do the following:</a:t>
            </a:r>
          </a:p>
          <a:p>
            <a:pPr eaLnBrk="1" hangingPunct="1"/>
            <a:r>
              <a:rPr lang="en-US" altLang="en-US" smtClean="0">
                <a:latin typeface="Times New Roman" panose="02020603050405020304" pitchFamily="18" charset="0"/>
              </a:rPr>
              <a:t>      int a[ ] = {1, 5};</a:t>
            </a:r>
          </a:p>
          <a:p>
            <a:pPr eaLnBrk="1" hangingPunct="1"/>
            <a:r>
              <a:rPr lang="en-US" altLang="en-US" smtClean="0">
                <a:latin typeface="Times New Roman" panose="02020603050405020304" pitchFamily="18" charset="0"/>
              </a:rPr>
              <a:t>      int *p = a;</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     p = a;</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    p = a;</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    printf(“%d\n”, *p);</a:t>
            </a:r>
          </a:p>
          <a:p>
            <a:pPr eaLnBrk="1" hangingPunct="1"/>
            <a:r>
              <a:rPr lang="en-US" altLang="en-US" smtClean="0">
                <a:latin typeface="Times New Roman" panose="02020603050405020304" pitchFamily="18" charset="0"/>
              </a:rPr>
              <a:t>And see what you get.  Which of these increment p vs increment *p?  *p++, ++*p, *++p???  Using *p++ is dangerous unless you are clear in what you are doing.</a:t>
            </a:r>
          </a:p>
        </p:txBody>
      </p:sp>
    </p:spTree>
    <p:extLst>
      <p:ext uri="{BB962C8B-B14F-4D97-AF65-F5344CB8AC3E}">
        <p14:creationId xmlns:p14="http://schemas.microsoft.com/office/powerpoint/2010/main" val="1838641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59DF29E2-6B6C-4403-95EB-460B961CA152}" type="slidenum">
              <a:rPr lang="en-US" altLang="en-US"/>
              <a:pPr eaLnBrk="1" hangingPunct="1">
                <a:spcBef>
                  <a:spcPct val="0"/>
                </a:spcBef>
              </a:pPr>
              <a:t>21</a:t>
            </a:fld>
            <a:endParaRPr lang="en-US" alt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366886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28932E14-9007-4B8E-8D3E-47B778442FDB}" type="slidenum">
              <a:rPr lang="en-US" altLang="en-US"/>
              <a:pPr eaLnBrk="1" hangingPunct="1">
                <a:spcBef>
                  <a:spcPct val="0"/>
                </a:spcBef>
              </a:pPr>
              <a:t>25</a:t>
            </a:fld>
            <a:endParaRPr lang="en-US" alt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p:spPr>
        <p:txBody>
          <a:bodyPr/>
          <a:lstStyle/>
          <a:p>
            <a:pPr eaLnBrk="1" hangingPunct="1"/>
            <a:r>
              <a:rPr lang="en-US" altLang="en-US" smtClean="0">
                <a:latin typeface="Times New Roman" panose="02020603050405020304" pitchFamily="18" charset="0"/>
              </a:rPr>
              <a:t>NOTE:  if you do char *string, then string is a pointer variable that currently is not pointing anywhere.  If you were to do</a:t>
            </a:r>
          </a:p>
          <a:p>
            <a:pPr eaLnBrk="1" hangingPunct="1"/>
            <a:r>
              <a:rPr lang="en-US" altLang="en-US" smtClean="0">
                <a:latin typeface="Times New Roman" panose="02020603050405020304" pitchFamily="18" charset="0"/>
              </a:rPr>
              <a:t>      string=“hello”;     or</a:t>
            </a:r>
          </a:p>
          <a:p>
            <a:pPr eaLnBrk="1" hangingPunct="1"/>
            <a:r>
              <a:rPr lang="en-US" altLang="en-US" smtClean="0">
                <a:latin typeface="Times New Roman" panose="02020603050405020304" pitchFamily="18" charset="0"/>
              </a:rPr>
              <a:t>      char(“%s”, string);</a:t>
            </a:r>
          </a:p>
          <a:p>
            <a:pPr eaLnBrk="1" hangingPunct="1"/>
            <a:r>
              <a:rPr lang="en-US" altLang="en-US" smtClean="0">
                <a:latin typeface="Times New Roman" panose="02020603050405020304" pitchFamily="18" charset="0"/>
              </a:rPr>
              <a:t>You would have a run-time error because string does not have allocated memory (yet).  You could, however, do this:</a:t>
            </a:r>
          </a:p>
          <a:p>
            <a:pPr eaLnBrk="1" hangingPunct="1"/>
            <a:r>
              <a:rPr lang="en-US" altLang="en-US" smtClean="0">
                <a:latin typeface="Times New Roman" panose="02020603050405020304" pitchFamily="18" charset="0"/>
              </a:rPr>
              <a:t>       char s[10];</a:t>
            </a:r>
          </a:p>
          <a:p>
            <a:pPr eaLnBrk="1" hangingPunct="1"/>
            <a:r>
              <a:rPr lang="en-US" altLang="en-US" smtClean="0">
                <a:latin typeface="Times New Roman" panose="02020603050405020304" pitchFamily="18" charset="0"/>
              </a:rPr>
              <a:t>       …</a:t>
            </a:r>
          </a:p>
          <a:p>
            <a:pPr eaLnBrk="1" hangingPunct="1"/>
            <a:r>
              <a:rPr lang="en-US" altLang="en-US" smtClean="0">
                <a:latin typeface="Times New Roman" panose="02020603050405020304" pitchFamily="18" charset="0"/>
              </a:rPr>
              <a:t>       string = s;</a:t>
            </a:r>
          </a:p>
          <a:p>
            <a:pPr eaLnBrk="1" hangingPunct="1"/>
            <a:r>
              <a:rPr lang="en-US" altLang="en-US" smtClean="0">
                <a:latin typeface="Times New Roman" panose="02020603050405020304" pitchFamily="18" charset="0"/>
              </a:rPr>
              <a:t>The variable string is merely a pointer whereas s is an array.  string, prior to doing string=s had nothing to point to and therefore could not be operated upon.  s on the other hand was allocated memory when s was created.</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We learn how to allocate memory for strings in C chapter 6 by using calloc.  For now, just use arrays to declare strings.</a:t>
            </a:r>
          </a:p>
        </p:txBody>
      </p:sp>
    </p:spTree>
    <p:extLst>
      <p:ext uri="{BB962C8B-B14F-4D97-AF65-F5344CB8AC3E}">
        <p14:creationId xmlns:p14="http://schemas.microsoft.com/office/powerpoint/2010/main" val="931723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A4A4BE87-2C5A-4BCD-ADE8-C96B5050F948}" type="slidenum">
              <a:rPr lang="en-US" altLang="en-US"/>
              <a:pPr eaLnBrk="1" hangingPunct="1">
                <a:spcBef>
                  <a:spcPct val="0"/>
                </a:spcBef>
              </a:pPr>
              <a:t>32</a:t>
            </a:fld>
            <a:endParaRPr lang="en-US"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r>
              <a:rPr lang="en-US" altLang="en-US" smtClean="0">
                <a:latin typeface="Times New Roman" panose="02020603050405020304" pitchFamily="18" charset="0"/>
              </a:rPr>
              <a:t>We discuss mapping functions in CSC 507, but here is a bit of information.  The compiler sets up a mapping function so that the array access</a:t>
            </a:r>
          </a:p>
          <a:p>
            <a:pPr eaLnBrk="1" hangingPunct="1"/>
            <a:r>
              <a:rPr lang="en-US" altLang="en-US" smtClean="0">
                <a:latin typeface="Times New Roman" panose="02020603050405020304" pitchFamily="18" charset="0"/>
              </a:rPr>
              <a:t>     a[i]   or b[i][j]  </a:t>
            </a:r>
          </a:p>
          <a:p>
            <a:pPr eaLnBrk="1" hangingPunct="1"/>
            <a:r>
              <a:rPr lang="en-US" altLang="en-US" smtClean="0">
                <a:latin typeface="Times New Roman" panose="02020603050405020304" pitchFamily="18" charset="0"/>
              </a:rPr>
              <a:t>Can be translated into a memory location.  This makes array accesses efficient.  Without a mapping function, the actual memory location for an array reference like b[i][j] would have to be determined at run-time.  </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Usually, computing a mapping function is straight-forward for a compiler.  But because a C function might be in a file that does not include the array’s declaration, the compiler still must know what the array’s dimensions are to set up the mapping function.  The only dimension not necessary is the number of rows (the first dimension).  Therefore, the following are required in either a prototype that defines a function, or in the array’s header:</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int a[ ]	// one dimension, no other values needed</a:t>
            </a:r>
          </a:p>
          <a:p>
            <a:pPr eaLnBrk="1" hangingPunct="1"/>
            <a:r>
              <a:rPr lang="en-US" altLang="en-US" smtClean="0">
                <a:latin typeface="Times New Roman" panose="02020603050405020304" pitchFamily="18" charset="0"/>
              </a:rPr>
              <a:t>int b[ ][10] 	// two dimensions, number of rows not needed</a:t>
            </a:r>
          </a:p>
          <a:p>
            <a:pPr eaLnBrk="1" hangingPunct="1"/>
            <a:r>
              <a:rPr lang="en-US" altLang="en-US" smtClean="0">
                <a:latin typeface="Times New Roman" panose="02020603050405020304" pitchFamily="18" charset="0"/>
              </a:rPr>
              <a:t>int c[ ][10][20][30]  // four dimensions, number of rows not needed</a:t>
            </a:r>
          </a:p>
        </p:txBody>
      </p:sp>
    </p:spTree>
    <p:extLst>
      <p:ext uri="{BB962C8B-B14F-4D97-AF65-F5344CB8AC3E}">
        <p14:creationId xmlns:p14="http://schemas.microsoft.com/office/powerpoint/2010/main" val="3067030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
        <p:nvSpPr>
          <p:cNvPr id="3072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89EA064E-92A9-4504-8B9C-3BA1768DA8D2}" type="slidenum">
              <a:rPr lang="en-US" altLang="en-US"/>
              <a:pPr eaLnBrk="1" hangingPunct="1">
                <a:spcBef>
                  <a:spcPct val="0"/>
                </a:spcBef>
              </a:pPr>
              <a:t>37</a:t>
            </a:fld>
            <a:endParaRPr lang="en-US" altLang="en-US"/>
          </a:p>
        </p:txBody>
      </p:sp>
    </p:spTree>
    <p:extLst>
      <p:ext uri="{BB962C8B-B14F-4D97-AF65-F5344CB8AC3E}">
        <p14:creationId xmlns:p14="http://schemas.microsoft.com/office/powerpoint/2010/main" val="2111137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843B3B35-C2B4-4D34-ADA8-A478E5DA87C0}" type="slidenum">
              <a:rPr lang="en-US" altLang="en-US"/>
              <a:pPr eaLnBrk="1" hangingPunct="1">
                <a:spcBef>
                  <a:spcPct val="0"/>
                </a:spcBef>
              </a:pPr>
              <a:t>40</a:t>
            </a:fld>
            <a:endParaRPr lang="en-US" alt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690365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F5CBCA73-DF7E-4BEC-9ACA-8553C8283DA4}" type="slidenum">
              <a:rPr lang="en-US" altLang="en-US"/>
              <a:pPr eaLnBrk="1" hangingPunct="1">
                <a:spcBef>
                  <a:spcPct val="0"/>
                </a:spcBef>
              </a:pPr>
              <a:t>41</a:t>
            </a:fld>
            <a:endParaRPr lang="en-US" alt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pPr eaLnBrk="1" hangingPunct="1"/>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882762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F1727FC5-9469-4C9D-BBB4-95508B698C15}" type="slidenum">
              <a:rPr lang="en-US" altLang="en-US"/>
              <a:pPr eaLnBrk="1" hangingPunct="1">
                <a:spcBef>
                  <a:spcPct val="0"/>
                </a:spcBef>
              </a:pPr>
              <a:t>42</a:t>
            </a:fld>
            <a:endParaRPr lang="en-US" alt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eaLnBrk="1" hangingPunct="1"/>
            <a:r>
              <a:rPr lang="en-US" altLang="en-US" smtClean="0">
                <a:latin typeface="Times New Roman" panose="02020603050405020304" pitchFamily="18" charset="0"/>
              </a:rPr>
              <a:t>The reason that the compiler must “know” about the array dimensions is to set up a mapping function.  A mapping function is generated by the compiler so that, at run time, the operation a[i][j] can be converted into a memory location access easily.  The mapping function for an array of N rows and M columns looks like this in C:</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a[i][j] = OFFSET + i * M + j</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Where OFFSET is the starting location for a.  See if you can figure out why the formula is as it is.  But notice that while we need to know M (number of columns), we don’t need N (number of rows).  Therefore, when you pass the array to a function, you must specify the number of columns but not the number of rows.</a:t>
            </a:r>
          </a:p>
          <a:p>
            <a:pPr eaLnBrk="1" hangingPunct="1"/>
            <a:endParaRPr lang="en-US" altLang="en-US" smtClean="0">
              <a:latin typeface="Times New Roman" panose="02020603050405020304" pitchFamily="18" charset="0"/>
            </a:endParaRPr>
          </a:p>
          <a:p>
            <a:pPr eaLnBrk="1" hangingPunct="1"/>
            <a:r>
              <a:rPr lang="en-US" altLang="en-US" smtClean="0">
                <a:latin typeface="Times New Roman" panose="02020603050405020304" pitchFamily="18" charset="0"/>
              </a:rPr>
              <a:t>We study this in more detail in CSC 507.</a:t>
            </a:r>
          </a:p>
        </p:txBody>
      </p:sp>
    </p:spTree>
    <p:extLst>
      <p:ext uri="{BB962C8B-B14F-4D97-AF65-F5344CB8AC3E}">
        <p14:creationId xmlns:p14="http://schemas.microsoft.com/office/powerpoint/2010/main" val="128708121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smtClean="0"/>
              <a:t>Asıl alt başlık stilini düzenlemek için tıklayın</a:t>
            </a:r>
            <a:endParaRPr lang="en-US" dirty="0"/>
          </a:p>
        </p:txBody>
      </p:sp>
      <p:sp>
        <p:nvSpPr>
          <p:cNvPr id="4" name="Date Placeholder 3"/>
          <p:cNvSpPr>
            <a:spLocks noGrp="1"/>
          </p:cNvSpPr>
          <p:nvPr>
            <p:ph type="dt" sz="half" idx="10"/>
          </p:nvPr>
        </p:nvSpPr>
        <p:spPr/>
        <p:txBody>
          <a:bodyPr/>
          <a:lstStyle/>
          <a:p>
            <a:fld id="{AB89C656-9BB6-401A-B057-4B3A6B8BDF76}" type="datetime1">
              <a:rPr lang="en-US" smtClean="0"/>
              <a:t>3/17/2025</a:t>
            </a:fld>
            <a:endParaRPr lang="en-US" dirty="0"/>
          </a:p>
        </p:txBody>
      </p:sp>
      <p:sp>
        <p:nvSpPr>
          <p:cNvPr id="5" name="Footer Placeholder 4"/>
          <p:cNvSpPr>
            <a:spLocks noGrp="1"/>
          </p:cNvSpPr>
          <p:nvPr>
            <p:ph type="ftr" sz="quarter" idx="11"/>
          </p:nvPr>
        </p:nvSpPr>
        <p:spPr/>
        <p:txBody>
          <a:bodyPr/>
          <a:lstStyle/>
          <a:p>
            <a:r>
              <a:rPr lang="en-US" smtClean="0"/>
              <a:t>Bilgisayar Programlama 1</a:t>
            </a:r>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9C814FBB-27CF-4348-A128-3E7E4DC22409}" type="datetime1">
              <a:rPr lang="en-US" smtClean="0"/>
              <a:t>3/17/2025</a:t>
            </a:fld>
            <a:endParaRPr lang="en-US" dirty="0"/>
          </a:p>
        </p:txBody>
      </p:sp>
      <p:sp>
        <p:nvSpPr>
          <p:cNvPr id="5" name="Footer Placeholder 4"/>
          <p:cNvSpPr>
            <a:spLocks noGrp="1"/>
          </p:cNvSpPr>
          <p:nvPr>
            <p:ph type="ftr" sz="quarter" idx="11"/>
          </p:nvPr>
        </p:nvSpPr>
        <p:spPr/>
        <p:txBody>
          <a:bodyPr/>
          <a:lstStyle/>
          <a:p>
            <a:r>
              <a:rPr lang="en-US" smtClean="0"/>
              <a:t>Bilgisayar Programlama 1</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tr-TR" smtClean="0"/>
              <a:t>Asıl başlık stili için tıklatın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a:xfrm>
            <a:off x="8593667" y="6272784"/>
            <a:ext cx="2644309" cy="365125"/>
          </a:xfrm>
        </p:spPr>
        <p:txBody>
          <a:bodyPr/>
          <a:lstStyle/>
          <a:p>
            <a:fld id="{75878810-1D0C-4AD6-A3B1-26E8E033101F}" type="datetime1">
              <a:rPr lang="en-US" smtClean="0"/>
              <a:t>3/17/2025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r>
              <a:rPr lang="en-US" smtClean="0"/>
              <a:t>Bilgisayar Programlama 1</a:t>
            </a:r>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fld id="{C87F3F64-2FA3-4486-A02E-D3DF2B7CCE50}" type="datetime1">
              <a:rPr lang="en-US" smtClean="0"/>
              <a:t>3/17/2025</a:t>
            </a:fld>
            <a:endParaRPr lang="en-US" dirty="0"/>
          </a:p>
        </p:txBody>
      </p:sp>
      <p:sp>
        <p:nvSpPr>
          <p:cNvPr id="6" name="Footer Placeholder 5"/>
          <p:cNvSpPr>
            <a:spLocks noGrp="1"/>
          </p:cNvSpPr>
          <p:nvPr>
            <p:ph type="ftr" sz="quarter" idx="11"/>
          </p:nvPr>
        </p:nvSpPr>
        <p:spPr/>
        <p:txBody>
          <a:bodyPr/>
          <a:lstStyle/>
          <a:p>
            <a:r>
              <a:rPr lang="en-US" smtClean="0"/>
              <a:t>Bilgisayar Programlama 1</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smtClean="0"/>
              <a:t>Asıl başlık stili için tıklatın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4D61C072-05C3-4196-BB75-E0BF76576201}" type="datetime1">
              <a:rPr lang="en-US" smtClean="0"/>
              <a:t>3/17/2025</a:t>
            </a:fld>
            <a:endParaRPr lang="en-US" dirty="0"/>
          </a:p>
        </p:txBody>
      </p:sp>
      <p:sp>
        <p:nvSpPr>
          <p:cNvPr id="8" name="Footer Placeholder 7"/>
          <p:cNvSpPr>
            <a:spLocks noGrp="1"/>
          </p:cNvSpPr>
          <p:nvPr>
            <p:ph type="ftr" sz="quarter" idx="11"/>
          </p:nvPr>
        </p:nvSpPr>
        <p:spPr/>
        <p:txBody>
          <a:bodyPr/>
          <a:lstStyle/>
          <a:p>
            <a:r>
              <a:rPr lang="en-US" smtClean="0"/>
              <a:t>Bilgisayar Programlama 1</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A614525A-9FCF-4D45-B733-49B6BEB5F06B}" type="datetime1">
              <a:rPr lang="en-US" smtClean="0"/>
              <a:t>3/17/2025</a:t>
            </a:fld>
            <a:endParaRPr lang="en-US" dirty="0"/>
          </a:p>
        </p:txBody>
      </p:sp>
      <p:sp>
        <p:nvSpPr>
          <p:cNvPr id="4" name="Footer Placeholder 3"/>
          <p:cNvSpPr>
            <a:spLocks noGrp="1"/>
          </p:cNvSpPr>
          <p:nvPr>
            <p:ph type="ftr" sz="quarter" idx="11"/>
          </p:nvPr>
        </p:nvSpPr>
        <p:spPr/>
        <p:txBody>
          <a:bodyPr/>
          <a:lstStyle/>
          <a:p>
            <a:r>
              <a:rPr lang="en-US" smtClean="0"/>
              <a:t>Bilgisayar Programlama 1</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7C0A4D-9E0E-4ABB-B766-A177154BF7A9}" type="datetime1">
              <a:rPr lang="en-US" smtClean="0"/>
              <a:t>3/17/2025</a:t>
            </a:fld>
            <a:endParaRPr lang="en-US" dirty="0"/>
          </a:p>
        </p:txBody>
      </p:sp>
      <p:sp>
        <p:nvSpPr>
          <p:cNvPr id="3" name="Footer Placeholder 2"/>
          <p:cNvSpPr>
            <a:spLocks noGrp="1"/>
          </p:cNvSpPr>
          <p:nvPr>
            <p:ph type="ftr" sz="quarter" idx="11"/>
          </p:nvPr>
        </p:nvSpPr>
        <p:spPr/>
        <p:txBody>
          <a:bodyPr/>
          <a:lstStyle/>
          <a:p>
            <a:r>
              <a:rPr lang="en-US" smtClean="0"/>
              <a:t>Bilgisayar Programlama 1</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tr-TR" smtClean="0"/>
              <a:t>Asıl başlık stili için tıklatın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E32EA1E3-32F4-4CC7-B998-0CFD424F37C0}" type="datetime1">
              <a:rPr lang="en-US" smtClean="0"/>
              <a:t>3/17/2025</a:t>
            </a:fld>
            <a:endParaRPr lang="en-US" dirty="0"/>
          </a:p>
        </p:txBody>
      </p:sp>
      <p:sp>
        <p:nvSpPr>
          <p:cNvPr id="6" name="Footer Placeholder 5"/>
          <p:cNvSpPr>
            <a:spLocks noGrp="1"/>
          </p:cNvSpPr>
          <p:nvPr>
            <p:ph type="ftr" sz="quarter" idx="11"/>
          </p:nvPr>
        </p:nvSpPr>
        <p:spPr/>
        <p:txBody>
          <a:bodyPr/>
          <a:lstStyle/>
          <a:p>
            <a:r>
              <a:rPr lang="en-US" smtClean="0"/>
              <a:t>Bilgisayar Programlama 1</a:t>
            </a:r>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tr-TR" smtClean="0"/>
              <a:t>Asıl başlık stili için tıklatın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D08DFAFB-258C-403C-B830-8868FA0F01A1}" type="datetime1">
              <a:rPr lang="en-US" smtClean="0"/>
              <a:t>3/17/2025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67C34888-E10C-4D81-8B8A-FA2EACAE7224}" type="datetime1">
              <a:rPr lang="en-US" smtClean="0"/>
              <a:t>3/17/2025</a:t>
            </a:fld>
            <a:endParaRPr lang="en-US" dirty="0"/>
          </a:p>
        </p:txBody>
      </p:sp>
      <p:sp>
        <p:nvSpPr>
          <p:cNvPr id="5" name="Footer Placeholder 4"/>
          <p:cNvSpPr>
            <a:spLocks noGrp="1"/>
          </p:cNvSpPr>
          <p:nvPr>
            <p:ph type="ftr" sz="quarter" idx="11"/>
          </p:nvPr>
        </p:nvSpPr>
        <p:spPr/>
        <p:txBody>
          <a:bodyPr/>
          <a:lstStyle/>
          <a:p>
            <a:r>
              <a:rPr lang="en-US" smtClean="0"/>
              <a:t>Bilgisayar Programlama 1</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F3960A2-AFC5-4EFE-A376-D32230384109}" type="datetime1">
              <a:rPr lang="en-US" smtClean="0"/>
              <a:t>3/17/2025</a:t>
            </a:fld>
            <a:endParaRPr lang="en-US" dirty="0"/>
          </a:p>
        </p:txBody>
      </p:sp>
      <p:sp>
        <p:nvSpPr>
          <p:cNvPr id="5" name="Footer Placeholder 4"/>
          <p:cNvSpPr>
            <a:spLocks noGrp="1"/>
          </p:cNvSpPr>
          <p:nvPr>
            <p:ph type="ftr" sz="quarter" idx="11"/>
          </p:nvPr>
        </p:nvSpPr>
        <p:spPr/>
        <p:txBody>
          <a:bodyPr/>
          <a:lstStyle/>
          <a:p>
            <a:r>
              <a:rPr lang="en-US" smtClean="0"/>
              <a:t>Bilgisayar Programlama 1</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Başlık ve Tablo">
    <p:spTree>
      <p:nvGrpSpPr>
        <p:cNvPr id="1" name=""/>
        <p:cNvGrpSpPr/>
        <p:nvPr/>
      </p:nvGrpSpPr>
      <p:grpSpPr>
        <a:xfrm>
          <a:off x="0" y="0"/>
          <a:ext cx="0" cy="0"/>
          <a:chOff x="0" y="0"/>
          <a:chExt cx="0" cy="0"/>
        </a:xfrm>
      </p:grpSpPr>
      <p:sp>
        <p:nvSpPr>
          <p:cNvPr id="2" name="Unvan 1"/>
          <p:cNvSpPr>
            <a:spLocks noGrp="1"/>
          </p:cNvSpPr>
          <p:nvPr>
            <p:ph type="title"/>
          </p:nvPr>
        </p:nvSpPr>
        <p:spPr>
          <a:xfrm>
            <a:off x="609600" y="274638"/>
            <a:ext cx="10972800" cy="1143000"/>
          </a:xfrm>
        </p:spPr>
        <p:txBody>
          <a:bodyPr/>
          <a:lstStyle/>
          <a:p>
            <a:r>
              <a:rPr lang="tr-TR" smtClean="0"/>
              <a:t>Asıl başlık stili için tıklatın</a:t>
            </a:r>
            <a:endParaRPr lang="tr-TR"/>
          </a:p>
        </p:txBody>
      </p:sp>
      <p:sp>
        <p:nvSpPr>
          <p:cNvPr id="3" name="Tablo Yer Tutucusu 2"/>
          <p:cNvSpPr>
            <a:spLocks noGrp="1"/>
          </p:cNvSpPr>
          <p:nvPr>
            <p:ph type="tbl" idx="1"/>
          </p:nvPr>
        </p:nvSpPr>
        <p:spPr>
          <a:xfrm>
            <a:off x="609600" y="1600203"/>
            <a:ext cx="10972800" cy="4525963"/>
          </a:xfrm>
        </p:spPr>
        <p:txBody>
          <a:bodyPr/>
          <a:lstStyle/>
          <a:p>
            <a:endParaRPr lang="tr-TR"/>
          </a:p>
        </p:txBody>
      </p:sp>
      <p:sp>
        <p:nvSpPr>
          <p:cNvPr id="4" name="Veri Yer Tutucusu 3"/>
          <p:cNvSpPr>
            <a:spLocks noGrp="1"/>
          </p:cNvSpPr>
          <p:nvPr>
            <p:ph type="dt" sz="half" idx="10"/>
          </p:nvPr>
        </p:nvSpPr>
        <p:spPr>
          <a:xfrm>
            <a:off x="609600" y="6245225"/>
            <a:ext cx="2844800" cy="476250"/>
          </a:xfrm>
        </p:spPr>
        <p:txBody>
          <a:bodyPr/>
          <a:lstStyle>
            <a:lvl1pPr>
              <a:defRPr/>
            </a:lvl1pPr>
          </a:lstStyle>
          <a:p>
            <a:fld id="{B815E317-3643-4CF4-9E6F-2780748B299A}" type="datetime1">
              <a:rPr lang="tr-TR" altLang="tr-TR" smtClean="0"/>
              <a:t>17.03.2025</a:t>
            </a:fld>
            <a:endParaRPr lang="tr-TR" altLang="tr-TR"/>
          </a:p>
        </p:txBody>
      </p:sp>
      <p:sp>
        <p:nvSpPr>
          <p:cNvPr id="5" name="Altbilgi Yer Tutucusu 4"/>
          <p:cNvSpPr>
            <a:spLocks noGrp="1"/>
          </p:cNvSpPr>
          <p:nvPr>
            <p:ph type="ftr" sz="quarter" idx="11"/>
          </p:nvPr>
        </p:nvSpPr>
        <p:spPr>
          <a:xfrm>
            <a:off x="4165600" y="6245225"/>
            <a:ext cx="3860800" cy="476250"/>
          </a:xfrm>
        </p:spPr>
        <p:txBody>
          <a:bodyPr/>
          <a:lstStyle>
            <a:lvl1pPr>
              <a:defRPr/>
            </a:lvl1pPr>
          </a:lstStyle>
          <a:p>
            <a:r>
              <a:rPr lang="nn-NO" altLang="tr-TR" smtClean="0"/>
              <a:t>BLM 1002 – Bilgsayar Programlama 1</a:t>
            </a:r>
            <a:endParaRPr lang="tr-TR" altLang="tr-TR"/>
          </a:p>
        </p:txBody>
      </p:sp>
      <p:sp>
        <p:nvSpPr>
          <p:cNvPr id="6" name="Slayt Numarası Yer Tutucusu 5"/>
          <p:cNvSpPr>
            <a:spLocks noGrp="1"/>
          </p:cNvSpPr>
          <p:nvPr>
            <p:ph type="sldNum" sz="quarter" idx="12"/>
          </p:nvPr>
        </p:nvSpPr>
        <p:spPr>
          <a:xfrm>
            <a:off x="8737600" y="6245225"/>
            <a:ext cx="2844800" cy="476250"/>
          </a:xfrm>
        </p:spPr>
        <p:txBody>
          <a:bodyPr/>
          <a:lstStyle>
            <a:lvl1pPr>
              <a:defRPr/>
            </a:lvl1pPr>
          </a:lstStyle>
          <a:p>
            <a:fld id="{25DAF0A7-AD7E-4B12-AF79-1230EEE6A28C}" type="slidenum">
              <a:rPr lang="tr-TR" altLang="tr-TR"/>
              <a:pPr/>
              <a:t>‹#›</a:t>
            </a:fld>
            <a:endParaRPr lang="tr-TR" altLang="tr-TR"/>
          </a:p>
        </p:txBody>
      </p:sp>
    </p:spTree>
    <p:extLst>
      <p:ext uri="{BB962C8B-B14F-4D97-AF65-F5344CB8AC3E}">
        <p14:creationId xmlns:p14="http://schemas.microsoft.com/office/powerpoint/2010/main" val="2272112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3AAD3CA4-462B-421D-B4A3-ED61FAAF611C}" type="datetime1">
              <a:rPr lang="en-US" smtClean="0"/>
              <a:t>3/17/2025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US" smtClean="0"/>
              <a:t>Bilgisayar Programlama 1</a:t>
            </a:r>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Lst>
  <p:hf hd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err="1" smtClean="0"/>
              <a:t>poInter</a:t>
            </a:r>
            <a:r>
              <a:rPr lang="tr-TR" dirty="0" smtClean="0"/>
              <a:t> ve </a:t>
            </a:r>
            <a:r>
              <a:rPr lang="tr-TR" dirty="0" err="1" smtClean="0"/>
              <a:t>array</a:t>
            </a:r>
            <a:endParaRPr lang="tr-TR" dirty="0"/>
          </a:p>
        </p:txBody>
      </p:sp>
      <p:sp>
        <p:nvSpPr>
          <p:cNvPr id="3" name="Alt Başlık 2"/>
          <p:cNvSpPr>
            <a:spLocks noGrp="1"/>
          </p:cNvSpPr>
          <p:nvPr>
            <p:ph type="subTitle" idx="1"/>
          </p:nvPr>
        </p:nvSpPr>
        <p:spPr/>
        <p:txBody>
          <a:bodyPr/>
          <a:lstStyle/>
          <a:p>
            <a:endParaRPr lang="tr-TR"/>
          </a:p>
        </p:txBody>
      </p:sp>
      <p:sp>
        <p:nvSpPr>
          <p:cNvPr id="4" name="Altbilgi Yer Tutucusu 3"/>
          <p:cNvSpPr>
            <a:spLocks noGrp="1"/>
          </p:cNvSpPr>
          <p:nvPr>
            <p:ph type="ftr" sz="quarter" idx="11"/>
          </p:nvPr>
        </p:nvSpPr>
        <p:spPr/>
        <p:txBody>
          <a:bodyPr/>
          <a:lstStyle/>
          <a:p>
            <a:r>
              <a:rPr lang="en-US" smtClean="0"/>
              <a:t>Bilgisayar Programlama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pPr/>
              <a:t>1</a:t>
            </a:fld>
            <a:endParaRPr lang="en-US" dirty="0"/>
          </a:p>
        </p:txBody>
      </p:sp>
    </p:spTree>
    <p:extLst>
      <p:ext uri="{BB962C8B-B14F-4D97-AF65-F5344CB8AC3E}">
        <p14:creationId xmlns:p14="http://schemas.microsoft.com/office/powerpoint/2010/main" val="3301927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Dinamik Hafıza Tahsisi</a:t>
            </a:r>
            <a:endParaRPr lang="en-US" dirty="0"/>
          </a:p>
        </p:txBody>
      </p:sp>
      <p:sp>
        <p:nvSpPr>
          <p:cNvPr id="3" name="İçerik Yer Tutucusu 2"/>
          <p:cNvSpPr>
            <a:spLocks noGrp="1"/>
          </p:cNvSpPr>
          <p:nvPr>
            <p:ph idx="1"/>
          </p:nvPr>
        </p:nvSpPr>
        <p:spPr/>
        <p:txBody>
          <a:bodyPr>
            <a:normAutofit fontScale="92500" lnSpcReduction="10000"/>
          </a:bodyPr>
          <a:lstStyle/>
          <a:p>
            <a:r>
              <a:rPr lang="tr-TR" dirty="0" smtClean="0"/>
              <a:t>Standart kütüphanedeki </a:t>
            </a:r>
            <a:r>
              <a:rPr lang="tr-TR" dirty="0" err="1" smtClean="0"/>
              <a:t>malloc</a:t>
            </a:r>
            <a:r>
              <a:rPr lang="tr-TR" dirty="0" smtClean="0"/>
              <a:t>(), </a:t>
            </a:r>
            <a:r>
              <a:rPr lang="tr-TR" dirty="0" err="1" smtClean="0"/>
              <a:t>calloc</a:t>
            </a:r>
            <a:r>
              <a:rPr lang="tr-TR" dirty="0" smtClean="0"/>
              <a:t>(), </a:t>
            </a:r>
            <a:r>
              <a:rPr lang="tr-TR" dirty="0" err="1" smtClean="0"/>
              <a:t>realloc</a:t>
            </a:r>
            <a:r>
              <a:rPr lang="tr-TR" dirty="0" smtClean="0"/>
              <a:t>(), </a:t>
            </a:r>
            <a:r>
              <a:rPr lang="tr-TR" dirty="0" err="1" smtClean="0"/>
              <a:t>free</a:t>
            </a:r>
            <a:r>
              <a:rPr lang="tr-TR" dirty="0" smtClean="0"/>
              <a:t>() fonksiyonları ile program dinamik olarak bellek alanı isteyebilir</a:t>
            </a:r>
            <a:r>
              <a:rPr lang="en-US" dirty="0" smtClean="0"/>
              <a:t>. </a:t>
            </a:r>
            <a:endParaRPr lang="en-US" dirty="0"/>
          </a:p>
          <a:p>
            <a:r>
              <a:rPr lang="tr-TR" dirty="0" smtClean="0"/>
              <a:t>İstenen belleğin başlangıç adresi bir işaretçide tutularak ile bu bellek üzerinde işlem yapılır. </a:t>
            </a:r>
            <a:endParaRPr lang="en-US" dirty="0"/>
          </a:p>
          <a:p>
            <a:r>
              <a:rPr lang="en-US" i="1" dirty="0"/>
              <a:t>void</a:t>
            </a:r>
            <a:r>
              <a:rPr lang="en-US" dirty="0"/>
              <a:t>* </a:t>
            </a:r>
            <a:r>
              <a:rPr lang="en-US" dirty="0" err="1"/>
              <a:t>malloc</a:t>
            </a:r>
            <a:r>
              <a:rPr lang="en-US" dirty="0"/>
              <a:t>(</a:t>
            </a:r>
            <a:r>
              <a:rPr lang="en-US" i="1" dirty="0" err="1"/>
              <a:t>boyut</a:t>
            </a:r>
            <a:r>
              <a:rPr lang="en-US" dirty="0"/>
              <a:t>) </a:t>
            </a:r>
          </a:p>
          <a:p>
            <a:pPr marL="411480" lvl="1" indent="0">
              <a:buNone/>
            </a:pPr>
            <a:r>
              <a:rPr lang="tr-TR" i="1" dirty="0" smtClean="0"/>
              <a:t>boyut </a:t>
            </a:r>
            <a:r>
              <a:rPr lang="tr-TR" dirty="0" err="1" smtClean="0"/>
              <a:t>byte</a:t>
            </a:r>
            <a:r>
              <a:rPr lang="tr-TR" dirty="0" smtClean="0"/>
              <a:t> kadar yeni bellek alanı ayırır. </a:t>
            </a:r>
          </a:p>
          <a:p>
            <a:r>
              <a:rPr lang="en-US" i="1" dirty="0" smtClean="0"/>
              <a:t>void</a:t>
            </a:r>
            <a:r>
              <a:rPr lang="en-US" dirty="0"/>
              <a:t>* </a:t>
            </a:r>
            <a:r>
              <a:rPr lang="en-US" dirty="0" err="1"/>
              <a:t>calloc</a:t>
            </a:r>
            <a:r>
              <a:rPr lang="en-US" dirty="0"/>
              <a:t>(</a:t>
            </a:r>
            <a:r>
              <a:rPr lang="en-US" i="1" dirty="0" err="1"/>
              <a:t>adet</a:t>
            </a:r>
            <a:r>
              <a:rPr lang="en-US" i="1" dirty="0"/>
              <a:t>, </a:t>
            </a:r>
            <a:r>
              <a:rPr lang="en-US" i="1" dirty="0" err="1"/>
              <a:t>boyut</a:t>
            </a:r>
            <a:r>
              <a:rPr lang="en-US" dirty="0"/>
              <a:t>) </a:t>
            </a:r>
          </a:p>
          <a:p>
            <a:pPr marL="411480" lvl="1" indent="0">
              <a:buNone/>
            </a:pPr>
            <a:r>
              <a:rPr lang="tr-TR" i="1" dirty="0" smtClean="0"/>
              <a:t>boyut*adet </a:t>
            </a:r>
            <a:r>
              <a:rPr lang="tr-TR" dirty="0" err="1" smtClean="0"/>
              <a:t>byte</a:t>
            </a:r>
            <a:r>
              <a:rPr lang="tr-TR" dirty="0" smtClean="0"/>
              <a:t> kadar yeni bellek alanı ayırır. </a:t>
            </a:r>
          </a:p>
          <a:p>
            <a:r>
              <a:rPr lang="en-US" i="1" dirty="0" smtClean="0"/>
              <a:t>void</a:t>
            </a:r>
            <a:r>
              <a:rPr lang="en-US" dirty="0"/>
              <a:t>* </a:t>
            </a:r>
            <a:r>
              <a:rPr lang="en-US" dirty="0" err="1"/>
              <a:t>realloc</a:t>
            </a:r>
            <a:r>
              <a:rPr lang="en-US" dirty="0"/>
              <a:t>(</a:t>
            </a:r>
            <a:r>
              <a:rPr lang="en-US" i="1" dirty="0" err="1"/>
              <a:t>işaretçi</a:t>
            </a:r>
            <a:r>
              <a:rPr lang="en-US" dirty="0"/>
              <a:t>, </a:t>
            </a:r>
            <a:r>
              <a:rPr lang="en-US" i="1" dirty="0" err="1"/>
              <a:t>boyut</a:t>
            </a:r>
            <a:r>
              <a:rPr lang="en-US" dirty="0"/>
              <a:t>) </a:t>
            </a:r>
          </a:p>
          <a:p>
            <a:pPr marL="411480" lvl="1" indent="0">
              <a:buNone/>
            </a:pPr>
            <a:r>
              <a:rPr lang="tr-TR" i="1" dirty="0" smtClean="0"/>
              <a:t>işaretçi </a:t>
            </a:r>
            <a:r>
              <a:rPr lang="tr-TR" dirty="0" smtClean="0"/>
              <a:t>tarafından işaret edilen bellek alanını </a:t>
            </a:r>
            <a:r>
              <a:rPr lang="tr-TR" i="1" dirty="0" smtClean="0"/>
              <a:t>boyut </a:t>
            </a:r>
            <a:r>
              <a:rPr lang="tr-TR" dirty="0" err="1" smtClean="0"/>
              <a:t>byte</a:t>
            </a:r>
            <a:r>
              <a:rPr lang="tr-TR" dirty="0" smtClean="0"/>
              <a:t> kadar        olacak şekilde değiştirir. </a:t>
            </a:r>
          </a:p>
          <a:p>
            <a:r>
              <a:rPr lang="tr-TR" dirty="0" err="1" smtClean="0"/>
              <a:t>free</a:t>
            </a:r>
            <a:r>
              <a:rPr lang="tr-TR" dirty="0" smtClean="0"/>
              <a:t>(işaretçi) </a:t>
            </a:r>
          </a:p>
          <a:p>
            <a:pPr marL="411480" lvl="1" indent="0">
              <a:buNone/>
            </a:pPr>
            <a:r>
              <a:rPr lang="tr-TR" dirty="0" smtClean="0"/>
              <a:t> </a:t>
            </a:r>
            <a:r>
              <a:rPr lang="tr-TR" i="1" dirty="0" smtClean="0"/>
              <a:t>işaretçi</a:t>
            </a:r>
            <a:r>
              <a:rPr lang="tr-TR" dirty="0" smtClean="0"/>
              <a:t> için ayrılan bellek alanı geri verilir.</a:t>
            </a:r>
            <a:endParaRPr lang="en-US" dirty="0"/>
          </a:p>
          <a:p>
            <a:endParaRPr lang="en-US" dirty="0"/>
          </a:p>
        </p:txBody>
      </p:sp>
      <p:sp>
        <p:nvSpPr>
          <p:cNvPr id="4" name="Altbilgi Yer Tutucusu 3"/>
          <p:cNvSpPr>
            <a:spLocks noGrp="1"/>
          </p:cNvSpPr>
          <p:nvPr>
            <p:ph type="ftr" sz="quarter" idx="11"/>
          </p:nvPr>
        </p:nvSpPr>
        <p:spPr/>
        <p:txBody>
          <a:bodyPr/>
          <a:lstStyle/>
          <a:p>
            <a:r>
              <a:rPr lang="nn-NO" smtClean="0"/>
              <a:t>BLM 1002 – Bilgsayar Programlama 1</a:t>
            </a:r>
            <a:endParaRPr lang="tr-TR"/>
          </a:p>
        </p:txBody>
      </p:sp>
      <p:sp>
        <p:nvSpPr>
          <p:cNvPr id="5" name="Slayt Numarası Yer Tutucusu 4"/>
          <p:cNvSpPr>
            <a:spLocks noGrp="1"/>
          </p:cNvSpPr>
          <p:nvPr>
            <p:ph type="sldNum" sz="quarter" idx="12"/>
          </p:nvPr>
        </p:nvSpPr>
        <p:spPr/>
        <p:txBody>
          <a:bodyPr>
            <a:normAutofit/>
          </a:bodyPr>
          <a:lstStyle/>
          <a:p>
            <a:fld id="{389D34F3-C30E-42B3-B3FB-7DE9F1DA43CC}" type="slidenum">
              <a:rPr lang="tr-TR" smtClean="0"/>
              <a:pPr/>
              <a:t>2</a:t>
            </a:fld>
            <a:endParaRPr lang="tr-TR"/>
          </a:p>
        </p:txBody>
      </p:sp>
    </p:spTree>
    <p:extLst>
      <p:ext uri="{BB962C8B-B14F-4D97-AF65-F5344CB8AC3E}">
        <p14:creationId xmlns:p14="http://schemas.microsoft.com/office/powerpoint/2010/main" val="15511407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2152649" y="1104543"/>
            <a:ext cx="8229600" cy="570711"/>
          </a:xfrm>
        </p:spPr>
        <p:txBody>
          <a:bodyPr>
            <a:normAutofit fontScale="90000"/>
          </a:bodyPr>
          <a:lstStyle/>
          <a:p>
            <a:r>
              <a:rPr lang="tr-TR" sz="3000" dirty="0"/>
              <a:t/>
            </a:r>
            <a:br>
              <a:rPr lang="tr-TR" sz="3000" dirty="0"/>
            </a:br>
            <a:endParaRPr lang="tr-TR" altLang="tr-TR" sz="3000" b="1" dirty="0"/>
          </a:p>
        </p:txBody>
      </p:sp>
      <p:sp>
        <p:nvSpPr>
          <p:cNvPr id="3" name="Dikdörtgen 2"/>
          <p:cNvSpPr/>
          <p:nvPr/>
        </p:nvSpPr>
        <p:spPr>
          <a:xfrm>
            <a:off x="2152651" y="1675252"/>
            <a:ext cx="2749550" cy="4339650"/>
          </a:xfrm>
          <a:prstGeom prst="rect">
            <a:avLst/>
          </a:prstGeom>
        </p:spPr>
        <p:txBody>
          <a:bodyPr wrap="square">
            <a:spAutoFit/>
          </a:bodyPr>
          <a:lstStyle/>
          <a:p>
            <a:pPr algn="just"/>
            <a:r>
              <a:rPr lang="tr-TR" sz="1200" b="1" dirty="0" err="1"/>
              <a:t>malloc</a:t>
            </a:r>
            <a:r>
              <a:rPr lang="tr-TR" sz="1200" b="1" dirty="0"/>
              <a:t> fonksiyonu</a:t>
            </a:r>
          </a:p>
          <a:p>
            <a:pPr algn="just"/>
            <a:r>
              <a:rPr lang="tr-TR" sz="1200" i="1" dirty="0" err="1"/>
              <a:t>malloc</a:t>
            </a:r>
            <a:r>
              <a:rPr lang="tr-TR" sz="1200" i="1" dirty="0"/>
              <a:t> </a:t>
            </a:r>
            <a:r>
              <a:rPr lang="tr-TR" sz="1200" dirty="0"/>
              <a:t>fonksiyonu programın çalışma zamanı sırasında bellekten dinamik bir blok elde etmek için kullanılır. Fonksiyonun </a:t>
            </a:r>
            <a:r>
              <a:rPr lang="tr-TR" sz="1200" i="1" dirty="0" err="1"/>
              <a:t>stdlib.h</a:t>
            </a:r>
            <a:r>
              <a:rPr lang="tr-TR" sz="1200" i="1" dirty="0"/>
              <a:t> </a:t>
            </a:r>
            <a:r>
              <a:rPr lang="tr-TR" sz="1200" dirty="0"/>
              <a:t>başlık dosyası içindeki bildirimi aşağıdaki gibidir:</a:t>
            </a:r>
          </a:p>
          <a:p>
            <a:pPr algn="just"/>
            <a:r>
              <a:rPr lang="tr-TR" sz="1200" dirty="0"/>
              <a:t>void *</a:t>
            </a:r>
            <a:r>
              <a:rPr lang="tr-TR" sz="1200" dirty="0" err="1"/>
              <a:t>malloc</a:t>
            </a:r>
            <a:r>
              <a:rPr lang="tr-TR" sz="1200" dirty="0"/>
              <a:t>(</a:t>
            </a:r>
            <a:r>
              <a:rPr lang="tr-TR" sz="1200" dirty="0" err="1"/>
              <a:t>size_t</a:t>
            </a:r>
            <a:r>
              <a:rPr lang="tr-TR" sz="1200" dirty="0"/>
              <a:t> </a:t>
            </a:r>
            <a:r>
              <a:rPr lang="tr-TR" sz="1200" dirty="0" err="1"/>
              <a:t>nbyte</a:t>
            </a:r>
            <a:r>
              <a:rPr lang="tr-TR" sz="1200" dirty="0"/>
              <a:t>);</a:t>
            </a:r>
          </a:p>
          <a:p>
            <a:pPr algn="just"/>
            <a:r>
              <a:rPr lang="tr-TR" sz="1200" dirty="0" err="1"/>
              <a:t>size_t</a:t>
            </a:r>
            <a:r>
              <a:rPr lang="tr-TR" sz="1200" dirty="0"/>
              <a:t> türünün derleyiciyi yazanların seçimine bağlı olarak </a:t>
            </a:r>
            <a:r>
              <a:rPr lang="tr-TR" sz="1200" dirty="0" err="1"/>
              <a:t>unsigned</a:t>
            </a:r>
            <a:r>
              <a:rPr lang="tr-TR" sz="1200" dirty="0"/>
              <a:t> int ya da </a:t>
            </a:r>
            <a:r>
              <a:rPr lang="tr-TR" sz="1200" dirty="0" err="1"/>
              <a:t>unsigned</a:t>
            </a:r>
            <a:r>
              <a:rPr lang="tr-TR" sz="1200" dirty="0"/>
              <a:t> </a:t>
            </a:r>
            <a:r>
              <a:rPr lang="tr-TR" sz="1200" dirty="0" err="1"/>
              <a:t>long</a:t>
            </a:r>
            <a:r>
              <a:rPr lang="tr-TR" sz="1200" dirty="0"/>
              <a:t> türlerinden birinin yeni tür ismi olarak tanımlanması gerektiğini, ve sistemlerin hemen hemen hepsinde </a:t>
            </a:r>
            <a:r>
              <a:rPr lang="tr-TR" sz="1200" dirty="0" err="1"/>
              <a:t>size_t</a:t>
            </a:r>
            <a:r>
              <a:rPr lang="tr-TR" sz="1200" dirty="0"/>
              <a:t> türünün </a:t>
            </a:r>
            <a:r>
              <a:rPr lang="tr-TR" sz="1200" dirty="0" err="1"/>
              <a:t>unsigned</a:t>
            </a:r>
            <a:r>
              <a:rPr lang="tr-TR" sz="1200" dirty="0"/>
              <a:t> int türü olduğunu hatırlayalım. </a:t>
            </a:r>
          </a:p>
          <a:p>
            <a:pPr algn="just"/>
            <a:r>
              <a:rPr lang="tr-TR" sz="1200" dirty="0"/>
              <a:t>Fonksiyona gönderilecek </a:t>
            </a:r>
            <a:r>
              <a:rPr lang="tr-TR" sz="1200" dirty="0" err="1"/>
              <a:t>arguman</a:t>
            </a:r>
            <a:r>
              <a:rPr lang="tr-TR" sz="1200" dirty="0"/>
              <a:t> ayrılmak istenen bloğun </a:t>
            </a:r>
            <a:r>
              <a:rPr lang="tr-TR" sz="1200" dirty="0" err="1"/>
              <a:t>byte</a:t>
            </a:r>
            <a:r>
              <a:rPr lang="tr-TR" sz="1200" dirty="0"/>
              <a:t> olarak uzunluğudur. Ayrılan alanın sürekli (</a:t>
            </a:r>
            <a:r>
              <a:rPr lang="tr-TR" sz="1200" dirty="0" err="1"/>
              <a:t>contigious</a:t>
            </a:r>
            <a:r>
              <a:rPr lang="tr-TR" sz="1200" dirty="0"/>
              <a:t>) olması garanti altına alınmıştır. </a:t>
            </a:r>
            <a:r>
              <a:rPr lang="tr-TR" sz="1200" dirty="0" err="1"/>
              <a:t>malloc</a:t>
            </a:r>
            <a:r>
              <a:rPr lang="tr-TR" sz="1200" dirty="0"/>
              <a:t> fonksiyonunun geri dönüş değeri elde edilen bellek bloğunun başlangıç adresidir.</a:t>
            </a:r>
          </a:p>
        </p:txBody>
      </p:sp>
      <p:sp>
        <p:nvSpPr>
          <p:cNvPr id="2" name="Altbilgi Yer Tutucusu 1"/>
          <p:cNvSpPr>
            <a:spLocks noGrp="1"/>
          </p:cNvSpPr>
          <p:nvPr>
            <p:ph type="ftr" sz="quarter" idx="11"/>
          </p:nvPr>
        </p:nvSpPr>
        <p:spPr/>
        <p:txBody>
          <a:bodyPr/>
          <a:lstStyle/>
          <a:p>
            <a:r>
              <a:rPr lang="nn-NO" altLang="tr-TR" smtClean="0"/>
              <a:t>BLM 1002 – Bilgsayar Programlama 1</a:t>
            </a:r>
            <a:endParaRPr lang="tr-TR" altLang="tr-TR" dirty="0"/>
          </a:p>
        </p:txBody>
      </p:sp>
      <p:pic>
        <p:nvPicPr>
          <p:cNvPr id="8194" name="Picture 2" descr="İlgili resi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00" y="1823683"/>
            <a:ext cx="5448300" cy="3064670"/>
          </a:xfrm>
          <a:prstGeom prst="rect">
            <a:avLst/>
          </a:prstGeom>
          <a:noFill/>
          <a:extLst>
            <a:ext uri="{909E8E84-426E-40DD-AFC4-6F175D3DCCD1}">
              <a14:hiddenFill xmlns:a14="http://schemas.microsoft.com/office/drawing/2010/main">
                <a:solidFill>
                  <a:srgbClr val="FFFFFF"/>
                </a:solidFill>
              </a14:hiddenFill>
            </a:ext>
          </a:extLst>
        </p:spPr>
      </p:pic>
      <p:sp>
        <p:nvSpPr>
          <p:cNvPr id="4" name="Slayt Numarası Yer Tutucusu 3"/>
          <p:cNvSpPr>
            <a:spLocks noGrp="1"/>
          </p:cNvSpPr>
          <p:nvPr>
            <p:ph type="sldNum" sz="quarter" idx="12"/>
          </p:nvPr>
        </p:nvSpPr>
        <p:spPr/>
        <p:txBody>
          <a:bodyPr/>
          <a:lstStyle/>
          <a:p>
            <a:fld id="{25DAF0A7-AD7E-4B12-AF79-1230EEE6A28C}" type="slidenum">
              <a:rPr lang="tr-TR" altLang="tr-TR" smtClean="0"/>
              <a:pPr/>
              <a:t>3</a:t>
            </a:fld>
            <a:endParaRPr lang="tr-TR" altLang="tr-TR"/>
          </a:p>
        </p:txBody>
      </p:sp>
    </p:spTree>
    <p:extLst>
      <p:ext uri="{BB962C8B-B14F-4D97-AF65-F5344CB8AC3E}">
        <p14:creationId xmlns:p14="http://schemas.microsoft.com/office/powerpoint/2010/main" val="27972325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p:cNvSpPr/>
          <p:nvPr/>
        </p:nvSpPr>
        <p:spPr>
          <a:xfrm>
            <a:off x="1919536" y="129174"/>
            <a:ext cx="4572000" cy="7294305"/>
          </a:xfrm>
          <a:prstGeom prst="rect">
            <a:avLst/>
          </a:prstGeom>
        </p:spPr>
        <p:txBody>
          <a:bodyPr>
            <a:spAutoFit/>
          </a:bodyPr>
          <a:lstStyle/>
          <a:p>
            <a:r>
              <a:rPr lang="en-US" dirty="0"/>
              <a:t>#include &lt;</a:t>
            </a:r>
            <a:r>
              <a:rPr lang="en-US" dirty="0" err="1"/>
              <a:t>stdio.h</a:t>
            </a:r>
            <a:r>
              <a:rPr lang="en-US" dirty="0"/>
              <a:t>&gt;</a:t>
            </a:r>
          </a:p>
          <a:p>
            <a:r>
              <a:rPr lang="en-US" dirty="0"/>
              <a:t>#include &lt;</a:t>
            </a:r>
            <a:r>
              <a:rPr lang="en-US" dirty="0" err="1"/>
              <a:t>stdlib.h</a:t>
            </a:r>
            <a:r>
              <a:rPr lang="en-US" dirty="0"/>
              <a:t>&gt;</a:t>
            </a:r>
          </a:p>
          <a:p>
            <a:endParaRPr lang="en-US" dirty="0"/>
          </a:p>
          <a:p>
            <a:r>
              <a:rPr lang="en-US" dirty="0" err="1"/>
              <a:t>int</a:t>
            </a:r>
            <a:r>
              <a:rPr lang="en-US" dirty="0"/>
              <a:t> main(){</a:t>
            </a:r>
          </a:p>
          <a:p>
            <a:r>
              <a:rPr lang="en-US" dirty="0" err="1"/>
              <a:t>int</a:t>
            </a:r>
            <a:r>
              <a:rPr lang="en-US" dirty="0"/>
              <a:t> *</a:t>
            </a:r>
            <a:r>
              <a:rPr lang="en-US" dirty="0" err="1"/>
              <a:t>x,i,N,toplam</a:t>
            </a:r>
            <a:r>
              <a:rPr lang="en-US" dirty="0"/>
              <a:t>=0;</a:t>
            </a:r>
          </a:p>
          <a:p>
            <a:r>
              <a:rPr lang="en-US" dirty="0"/>
              <a:t>float </a:t>
            </a:r>
            <a:r>
              <a:rPr lang="en-US" dirty="0" err="1"/>
              <a:t>ortalama</a:t>
            </a:r>
            <a:r>
              <a:rPr lang="en-US" dirty="0"/>
              <a:t>;</a:t>
            </a:r>
          </a:p>
          <a:p>
            <a:r>
              <a:rPr lang="en-US" dirty="0" err="1"/>
              <a:t>printf</a:t>
            </a:r>
            <a:r>
              <a:rPr lang="en-US" dirty="0"/>
              <a:t>("</a:t>
            </a:r>
            <a:r>
              <a:rPr lang="en-US" dirty="0" err="1"/>
              <a:t>Eleman</a:t>
            </a:r>
            <a:r>
              <a:rPr lang="en-US" dirty="0"/>
              <a:t> </a:t>
            </a:r>
            <a:r>
              <a:rPr lang="en-US" dirty="0" err="1"/>
              <a:t>sayisi</a:t>
            </a:r>
            <a:r>
              <a:rPr lang="en-US" dirty="0"/>
              <a:t> ");</a:t>
            </a:r>
          </a:p>
          <a:p>
            <a:r>
              <a:rPr lang="en-US" dirty="0" err="1"/>
              <a:t>scanf</a:t>
            </a:r>
            <a:r>
              <a:rPr lang="en-US" dirty="0"/>
              <a:t>("%</a:t>
            </a:r>
            <a:r>
              <a:rPr lang="en-US" dirty="0" err="1"/>
              <a:t>d",&amp;N</a:t>
            </a:r>
            <a:r>
              <a:rPr lang="en-US" dirty="0"/>
              <a:t>);</a:t>
            </a:r>
          </a:p>
          <a:p>
            <a:r>
              <a:rPr lang="en-US" dirty="0"/>
              <a:t>x = (</a:t>
            </a:r>
            <a:r>
              <a:rPr lang="en-US" dirty="0" err="1"/>
              <a:t>int</a:t>
            </a:r>
            <a:r>
              <a:rPr lang="en-US" dirty="0"/>
              <a:t> *) </a:t>
            </a:r>
            <a:r>
              <a:rPr lang="en-US" dirty="0" err="1"/>
              <a:t>malloc</a:t>
            </a:r>
            <a:r>
              <a:rPr lang="en-US" dirty="0"/>
              <a:t>(N*</a:t>
            </a:r>
            <a:r>
              <a:rPr lang="en-US" dirty="0" err="1"/>
              <a:t>sizeof</a:t>
            </a:r>
            <a:r>
              <a:rPr lang="en-US" dirty="0"/>
              <a:t>(</a:t>
            </a:r>
            <a:r>
              <a:rPr lang="en-US" dirty="0" err="1"/>
              <a:t>int</a:t>
            </a:r>
            <a:r>
              <a:rPr lang="en-US" dirty="0"/>
              <a:t>));</a:t>
            </a:r>
          </a:p>
          <a:p>
            <a:endParaRPr lang="en-US" dirty="0"/>
          </a:p>
          <a:p>
            <a:r>
              <a:rPr lang="en-US" dirty="0" err="1"/>
              <a:t>printf</a:t>
            </a:r>
            <a:r>
              <a:rPr lang="en-US" dirty="0"/>
              <a:t>("</a:t>
            </a:r>
            <a:r>
              <a:rPr lang="en-US" dirty="0" err="1"/>
              <a:t>Elemanlari</a:t>
            </a:r>
            <a:r>
              <a:rPr lang="en-US" dirty="0"/>
              <a:t> </a:t>
            </a:r>
            <a:r>
              <a:rPr lang="en-US" dirty="0" err="1"/>
              <a:t>girin</a:t>
            </a:r>
            <a:r>
              <a:rPr lang="en-US" dirty="0"/>
              <a:t>:\n");</a:t>
            </a:r>
          </a:p>
          <a:p>
            <a:r>
              <a:rPr lang="en-US" dirty="0"/>
              <a:t>for(</a:t>
            </a:r>
            <a:r>
              <a:rPr lang="en-US" dirty="0" err="1"/>
              <a:t>i</a:t>
            </a:r>
            <a:r>
              <a:rPr lang="en-US" dirty="0"/>
              <a:t>=0;i&lt;</a:t>
            </a:r>
            <a:r>
              <a:rPr lang="en-US" dirty="0" err="1"/>
              <a:t>N;i</a:t>
            </a:r>
            <a:r>
              <a:rPr lang="en-US" dirty="0"/>
              <a:t>++){</a:t>
            </a:r>
          </a:p>
          <a:p>
            <a:r>
              <a:rPr lang="en-US" dirty="0"/>
              <a:t>   </a:t>
            </a:r>
            <a:r>
              <a:rPr lang="en-US" dirty="0" err="1"/>
              <a:t>printf</a:t>
            </a:r>
            <a:r>
              <a:rPr lang="en-US" dirty="0"/>
              <a:t>("%</a:t>
            </a:r>
            <a:r>
              <a:rPr lang="en-US" dirty="0" err="1"/>
              <a:t>d.eleman</a:t>
            </a:r>
            <a:r>
              <a:rPr lang="en-US" dirty="0"/>
              <a:t> </a:t>
            </a:r>
            <a:r>
              <a:rPr lang="en-US" dirty="0" err="1"/>
              <a:t>adresi</a:t>
            </a:r>
            <a:r>
              <a:rPr lang="en-US" dirty="0"/>
              <a:t>:%p = ",i+1,x+i);</a:t>
            </a:r>
          </a:p>
          <a:p>
            <a:endParaRPr lang="en-US" dirty="0"/>
          </a:p>
          <a:p>
            <a:r>
              <a:rPr lang="en-US" dirty="0"/>
              <a:t>   </a:t>
            </a:r>
            <a:r>
              <a:rPr lang="en-US" dirty="0" err="1"/>
              <a:t>scanf</a:t>
            </a:r>
            <a:r>
              <a:rPr lang="en-US" dirty="0"/>
              <a:t>("%</a:t>
            </a:r>
            <a:r>
              <a:rPr lang="en-US" dirty="0" err="1"/>
              <a:t>d",&amp;x</a:t>
            </a:r>
            <a:r>
              <a:rPr lang="en-US" dirty="0"/>
              <a:t>[</a:t>
            </a:r>
            <a:r>
              <a:rPr lang="en-US" dirty="0" err="1"/>
              <a:t>i</a:t>
            </a:r>
            <a:r>
              <a:rPr lang="en-US" dirty="0"/>
              <a:t>]);  </a:t>
            </a:r>
          </a:p>
          <a:p>
            <a:r>
              <a:rPr lang="en-US" dirty="0"/>
              <a:t>    // x[</a:t>
            </a:r>
            <a:r>
              <a:rPr lang="en-US" dirty="0" err="1"/>
              <a:t>i</a:t>
            </a:r>
            <a:r>
              <a:rPr lang="en-US" dirty="0"/>
              <a:t>] </a:t>
            </a:r>
            <a:r>
              <a:rPr lang="en-US" dirty="0" err="1"/>
              <a:t>ile</a:t>
            </a:r>
            <a:r>
              <a:rPr lang="en-US" dirty="0"/>
              <a:t> *(</a:t>
            </a:r>
            <a:r>
              <a:rPr lang="en-US" dirty="0" err="1"/>
              <a:t>x+i</a:t>
            </a:r>
            <a:r>
              <a:rPr lang="en-US" dirty="0"/>
              <a:t>) </a:t>
            </a:r>
            <a:r>
              <a:rPr lang="en-US" dirty="0" err="1"/>
              <a:t>aynı</a:t>
            </a:r>
            <a:r>
              <a:rPr lang="en-US" dirty="0"/>
              <a:t>      </a:t>
            </a:r>
            <a:r>
              <a:rPr lang="en-US" dirty="0" err="1"/>
              <a:t>anlamda</a:t>
            </a:r>
            <a:r>
              <a:rPr lang="en-US" dirty="0"/>
              <a:t> !</a:t>
            </a:r>
          </a:p>
          <a:p>
            <a:r>
              <a:rPr lang="en-US" dirty="0"/>
              <a:t>    </a:t>
            </a:r>
            <a:r>
              <a:rPr lang="en-US" dirty="0" err="1"/>
              <a:t>toplam</a:t>
            </a:r>
            <a:r>
              <a:rPr lang="en-US" dirty="0"/>
              <a:t> += x[</a:t>
            </a:r>
            <a:r>
              <a:rPr lang="en-US" dirty="0" err="1"/>
              <a:t>i</a:t>
            </a:r>
            <a:r>
              <a:rPr lang="en-US" dirty="0"/>
              <a:t>];</a:t>
            </a:r>
          </a:p>
          <a:p>
            <a:r>
              <a:rPr lang="en-US" dirty="0"/>
              <a:t>}</a:t>
            </a:r>
          </a:p>
          <a:p>
            <a:r>
              <a:rPr lang="en-US" dirty="0"/>
              <a:t>free(x);  // </a:t>
            </a:r>
            <a:r>
              <a:rPr lang="en-US" dirty="0" err="1"/>
              <a:t>ayrılan</a:t>
            </a:r>
            <a:r>
              <a:rPr lang="en-US" dirty="0"/>
              <a:t> </a:t>
            </a:r>
            <a:r>
              <a:rPr lang="en-US" dirty="0" err="1"/>
              <a:t>yer</a:t>
            </a:r>
            <a:r>
              <a:rPr lang="en-US" dirty="0"/>
              <a:t> </a:t>
            </a:r>
            <a:r>
              <a:rPr lang="en-US" dirty="0" err="1"/>
              <a:t>boşaltılıyor</a:t>
            </a:r>
            <a:r>
              <a:rPr lang="en-US" dirty="0"/>
              <a:t>...</a:t>
            </a:r>
          </a:p>
          <a:p>
            <a:r>
              <a:rPr lang="en-US" dirty="0" err="1"/>
              <a:t>ortalama</a:t>
            </a:r>
            <a:r>
              <a:rPr lang="en-US" dirty="0"/>
              <a:t> = (float) </a:t>
            </a:r>
            <a:r>
              <a:rPr lang="en-US" dirty="0" err="1"/>
              <a:t>toplam</a:t>
            </a:r>
            <a:r>
              <a:rPr lang="en-US" dirty="0"/>
              <a:t>/N;</a:t>
            </a:r>
          </a:p>
          <a:p>
            <a:r>
              <a:rPr lang="en-US" dirty="0" err="1"/>
              <a:t>printf</a:t>
            </a:r>
            <a:r>
              <a:rPr lang="en-US" dirty="0"/>
              <a:t>("Bu %d </a:t>
            </a:r>
            <a:r>
              <a:rPr lang="en-US" dirty="0" err="1"/>
              <a:t>sayinin</a:t>
            </a:r>
            <a:r>
              <a:rPr lang="en-US" dirty="0"/>
              <a:t> </a:t>
            </a:r>
            <a:r>
              <a:rPr lang="en-US" dirty="0" err="1"/>
              <a:t>ortlamasi</a:t>
            </a:r>
            <a:r>
              <a:rPr lang="en-US" dirty="0"/>
              <a:t> %f </a:t>
            </a:r>
            <a:r>
              <a:rPr lang="en-US" dirty="0" err="1"/>
              <a:t>dir</a:t>
            </a:r>
            <a:r>
              <a:rPr lang="en-US" dirty="0"/>
              <a:t>\n",</a:t>
            </a:r>
            <a:r>
              <a:rPr lang="en-US" dirty="0" err="1"/>
              <a:t>N,ortalama</a:t>
            </a:r>
            <a:r>
              <a:rPr lang="en-US" dirty="0"/>
              <a:t>);         </a:t>
            </a:r>
          </a:p>
          <a:p>
            <a:endParaRPr lang="en-US" dirty="0"/>
          </a:p>
          <a:p>
            <a:r>
              <a:rPr lang="en-US" dirty="0"/>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7928" y="3352800"/>
            <a:ext cx="4484422" cy="12432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ltbilgi Yer Tutucusu 1"/>
          <p:cNvSpPr>
            <a:spLocks noGrp="1"/>
          </p:cNvSpPr>
          <p:nvPr>
            <p:ph type="ftr" sz="quarter" idx="11"/>
          </p:nvPr>
        </p:nvSpPr>
        <p:spPr/>
        <p:txBody>
          <a:bodyPr/>
          <a:lstStyle/>
          <a:p>
            <a:r>
              <a:rPr lang="nn-NO" smtClean="0"/>
              <a:t>BLM 1002 – Bilgsayar Programlama 1</a:t>
            </a:r>
            <a:endParaRPr lang="tr-TR"/>
          </a:p>
        </p:txBody>
      </p:sp>
      <p:sp>
        <p:nvSpPr>
          <p:cNvPr id="3" name="Slayt Numarası Yer Tutucusu 2"/>
          <p:cNvSpPr>
            <a:spLocks noGrp="1"/>
          </p:cNvSpPr>
          <p:nvPr>
            <p:ph type="sldNum" sz="quarter" idx="12"/>
          </p:nvPr>
        </p:nvSpPr>
        <p:spPr/>
        <p:txBody>
          <a:bodyPr>
            <a:normAutofit/>
          </a:bodyPr>
          <a:lstStyle/>
          <a:p>
            <a:fld id="{389D34F3-C30E-42B3-B3FB-7DE9F1DA43CC}" type="slidenum">
              <a:rPr lang="tr-TR" smtClean="0"/>
              <a:pPr/>
              <a:t>4</a:t>
            </a:fld>
            <a:endParaRPr lang="tr-TR"/>
          </a:p>
        </p:txBody>
      </p:sp>
    </p:spTree>
    <p:extLst>
      <p:ext uri="{BB962C8B-B14F-4D97-AF65-F5344CB8AC3E}">
        <p14:creationId xmlns:p14="http://schemas.microsoft.com/office/powerpoint/2010/main" val="410091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635111" y="515390"/>
            <a:ext cx="4040584" cy="5451778"/>
          </a:xfrm>
        </p:spPr>
        <p:txBody>
          <a:bodyPr>
            <a:noAutofit/>
          </a:bodyPr>
          <a:lstStyle/>
          <a:p>
            <a:r>
              <a:rPr lang="tr-TR" sz="700" dirty="0"/>
              <a:t>#</a:t>
            </a:r>
            <a:r>
              <a:rPr lang="tr-TR" sz="700" dirty="0" err="1"/>
              <a:t>include</a:t>
            </a:r>
            <a:r>
              <a:rPr lang="tr-TR" sz="700" dirty="0"/>
              <a:t> &lt;</a:t>
            </a:r>
            <a:r>
              <a:rPr lang="tr-TR" sz="700" dirty="0" err="1"/>
              <a:t>stdio.h</a:t>
            </a:r>
            <a:r>
              <a:rPr lang="tr-TR" sz="700" dirty="0" smtClean="0"/>
              <a:t>&gt;</a:t>
            </a:r>
            <a:endParaRPr lang="tr-TR" sz="700" dirty="0"/>
          </a:p>
          <a:p>
            <a:pPr marL="0" indent="0">
              <a:buNone/>
              <a:tabLst>
                <a:tab pos="92075" algn="l"/>
              </a:tabLst>
            </a:pPr>
            <a:r>
              <a:rPr lang="tr-TR" sz="1050" dirty="0" err="1"/>
              <a:t>void</a:t>
            </a:r>
            <a:r>
              <a:rPr lang="tr-TR" sz="1050" dirty="0"/>
              <a:t> </a:t>
            </a:r>
            <a:r>
              <a:rPr lang="tr-TR" sz="1050" dirty="0" err="1"/>
              <a:t>getSumAndMean</a:t>
            </a:r>
            <a:r>
              <a:rPr lang="tr-TR" sz="1050" dirty="0"/>
              <a:t>(</a:t>
            </a:r>
            <a:r>
              <a:rPr lang="tr-TR" sz="1050" dirty="0" err="1"/>
              <a:t>float</a:t>
            </a:r>
            <a:r>
              <a:rPr lang="tr-TR" sz="1050" dirty="0"/>
              <a:t>   * </a:t>
            </a:r>
            <a:r>
              <a:rPr lang="tr-TR" sz="1050" dirty="0" err="1"/>
              <a:t>fvals</a:t>
            </a:r>
            <a:r>
              <a:rPr lang="tr-TR" sz="1050" dirty="0"/>
              <a:t>, </a:t>
            </a:r>
            <a:r>
              <a:rPr lang="tr-TR" sz="1050" dirty="0" err="1"/>
              <a:t>int</a:t>
            </a:r>
            <a:r>
              <a:rPr lang="tr-TR" sz="1050" dirty="0"/>
              <a:t> size, </a:t>
            </a:r>
            <a:r>
              <a:rPr lang="tr-TR" sz="1050" dirty="0" err="1"/>
              <a:t>float</a:t>
            </a:r>
            <a:r>
              <a:rPr lang="tr-TR" sz="1050" dirty="0"/>
              <a:t>* s, </a:t>
            </a:r>
            <a:r>
              <a:rPr lang="tr-TR" sz="1050" dirty="0" err="1"/>
              <a:t>float</a:t>
            </a:r>
            <a:r>
              <a:rPr lang="tr-TR" sz="1050" dirty="0"/>
              <a:t>* m</a:t>
            </a:r>
            <a:r>
              <a:rPr lang="tr-TR" sz="1050" dirty="0" smtClean="0"/>
              <a:t>);</a:t>
            </a:r>
            <a:endParaRPr lang="tr-TR" sz="1050" dirty="0"/>
          </a:p>
          <a:p>
            <a:pPr marL="0" indent="0">
              <a:buNone/>
              <a:tabLst>
                <a:tab pos="92075" algn="l"/>
              </a:tabLst>
            </a:pPr>
            <a:r>
              <a:rPr lang="tr-TR" sz="1050" dirty="0" err="1"/>
              <a:t>int</a:t>
            </a:r>
            <a:r>
              <a:rPr lang="tr-TR" sz="1050" dirty="0"/>
              <a:t> main()</a:t>
            </a:r>
          </a:p>
          <a:p>
            <a:pPr marL="0" indent="0">
              <a:buNone/>
              <a:tabLst>
                <a:tab pos="92075" algn="l"/>
              </a:tabLst>
            </a:pPr>
            <a:r>
              <a:rPr lang="tr-TR" sz="1050" dirty="0"/>
              <a:t>{</a:t>
            </a:r>
          </a:p>
          <a:p>
            <a:pPr marL="0" indent="0">
              <a:buNone/>
              <a:tabLst>
                <a:tab pos="92075" algn="l"/>
              </a:tabLst>
            </a:pPr>
            <a:r>
              <a:rPr lang="tr-TR" sz="1050" dirty="0"/>
              <a:t>	</a:t>
            </a:r>
            <a:r>
              <a:rPr lang="tr-TR" sz="1050" dirty="0" err="1"/>
              <a:t>int</a:t>
            </a:r>
            <a:r>
              <a:rPr lang="tr-TR" sz="1050" dirty="0"/>
              <a:t> i, N;</a:t>
            </a:r>
          </a:p>
          <a:p>
            <a:pPr marL="0" indent="0">
              <a:buNone/>
              <a:tabLst>
                <a:tab pos="92075" algn="l"/>
              </a:tabLst>
            </a:pPr>
            <a:r>
              <a:rPr lang="tr-TR" sz="1050" dirty="0"/>
              <a:t>	</a:t>
            </a:r>
            <a:r>
              <a:rPr lang="tr-TR" sz="1050" dirty="0" err="1"/>
              <a:t>float</a:t>
            </a:r>
            <a:r>
              <a:rPr lang="tr-TR" sz="1050" dirty="0"/>
              <a:t> *</a:t>
            </a:r>
            <a:r>
              <a:rPr lang="tr-TR" sz="1050" dirty="0" err="1"/>
              <a:t>arr</a:t>
            </a:r>
            <a:r>
              <a:rPr lang="tr-TR" sz="1050" dirty="0"/>
              <a:t>;</a:t>
            </a:r>
          </a:p>
          <a:p>
            <a:pPr marL="0" indent="0">
              <a:buNone/>
              <a:tabLst>
                <a:tab pos="92075" algn="l"/>
              </a:tabLst>
            </a:pPr>
            <a:r>
              <a:rPr lang="tr-TR" sz="1050" dirty="0"/>
              <a:t>	</a:t>
            </a:r>
            <a:r>
              <a:rPr lang="tr-TR" sz="1050" dirty="0" err="1"/>
              <a:t>float</a:t>
            </a:r>
            <a:r>
              <a:rPr lang="tr-TR" sz="1050" dirty="0"/>
              <a:t> </a:t>
            </a:r>
            <a:r>
              <a:rPr lang="tr-TR" sz="1050" dirty="0" err="1"/>
              <a:t>sum</a:t>
            </a:r>
            <a:r>
              <a:rPr lang="tr-TR" sz="1050" dirty="0"/>
              <a:t>=0, </a:t>
            </a:r>
            <a:r>
              <a:rPr lang="tr-TR" sz="1050" dirty="0" err="1"/>
              <a:t>mean</a:t>
            </a:r>
            <a:r>
              <a:rPr lang="tr-TR" sz="1050" dirty="0"/>
              <a:t>=0; </a:t>
            </a:r>
          </a:p>
          <a:p>
            <a:pPr marL="0" indent="0">
              <a:buNone/>
              <a:tabLst>
                <a:tab pos="92075" algn="l"/>
              </a:tabLst>
            </a:pPr>
            <a:r>
              <a:rPr lang="tr-TR" sz="1050" dirty="0"/>
              <a:t>	</a:t>
            </a:r>
            <a:r>
              <a:rPr lang="tr-TR" sz="1050" dirty="0" err="1"/>
              <a:t>printf</a:t>
            </a:r>
            <a:r>
              <a:rPr lang="tr-TR" sz="1050" dirty="0" smtClean="0"/>
              <a:t>("How </a:t>
            </a:r>
            <a:r>
              <a:rPr lang="tr-TR" sz="1050" dirty="0" err="1" smtClean="0"/>
              <a:t>many</a:t>
            </a:r>
            <a:r>
              <a:rPr lang="tr-TR" sz="1050" dirty="0" smtClean="0"/>
              <a:t> </a:t>
            </a:r>
            <a:r>
              <a:rPr lang="tr-TR" sz="1050" dirty="0" err="1" smtClean="0"/>
              <a:t>elements</a:t>
            </a:r>
            <a:r>
              <a:rPr lang="tr-TR" sz="1050" dirty="0" smtClean="0"/>
              <a:t>? ");</a:t>
            </a:r>
            <a:endParaRPr lang="tr-TR" sz="1050" dirty="0"/>
          </a:p>
          <a:p>
            <a:pPr marL="0" indent="0">
              <a:buNone/>
              <a:tabLst>
                <a:tab pos="92075" algn="l"/>
              </a:tabLst>
            </a:pPr>
            <a:r>
              <a:rPr lang="tr-TR" sz="1050" dirty="0"/>
              <a:t>	</a:t>
            </a:r>
            <a:r>
              <a:rPr lang="tr-TR" sz="1050" dirty="0" err="1"/>
              <a:t>scanf</a:t>
            </a:r>
            <a:r>
              <a:rPr lang="tr-TR" sz="1050" dirty="0"/>
              <a:t>("%</a:t>
            </a:r>
            <a:r>
              <a:rPr lang="tr-TR" sz="1050" dirty="0" err="1"/>
              <a:t>d",&amp;N</a:t>
            </a:r>
            <a:r>
              <a:rPr lang="tr-TR" sz="1050" dirty="0"/>
              <a:t>);</a:t>
            </a:r>
          </a:p>
          <a:p>
            <a:pPr marL="0" indent="0">
              <a:buNone/>
              <a:tabLst>
                <a:tab pos="92075" algn="l"/>
              </a:tabLst>
            </a:pPr>
            <a:r>
              <a:rPr lang="tr-TR" sz="1050" dirty="0"/>
              <a:t>	</a:t>
            </a:r>
            <a:r>
              <a:rPr lang="tr-TR" sz="1050" dirty="0" err="1"/>
              <a:t>arr</a:t>
            </a:r>
            <a:r>
              <a:rPr lang="tr-TR" sz="1050" dirty="0"/>
              <a:t> = (</a:t>
            </a:r>
            <a:r>
              <a:rPr lang="tr-TR" sz="1050" dirty="0" err="1"/>
              <a:t>float</a:t>
            </a:r>
            <a:r>
              <a:rPr lang="tr-TR" sz="1050" dirty="0"/>
              <a:t>*)</a:t>
            </a:r>
            <a:r>
              <a:rPr lang="tr-TR" sz="1050" dirty="0" err="1"/>
              <a:t>malloc</a:t>
            </a:r>
            <a:r>
              <a:rPr lang="tr-TR" sz="1050" dirty="0"/>
              <a:t>(</a:t>
            </a:r>
            <a:r>
              <a:rPr lang="tr-TR" sz="1050" dirty="0" err="1"/>
              <a:t>sizeof</a:t>
            </a:r>
            <a:r>
              <a:rPr lang="tr-TR" sz="1050" dirty="0"/>
              <a:t>(</a:t>
            </a:r>
            <a:r>
              <a:rPr lang="tr-TR" sz="1050" dirty="0" err="1"/>
              <a:t>float</a:t>
            </a:r>
            <a:r>
              <a:rPr lang="tr-TR" sz="1050" dirty="0"/>
              <a:t>)*N</a:t>
            </a:r>
            <a:r>
              <a:rPr lang="tr-TR" sz="1050" dirty="0" smtClean="0"/>
              <a:t>);</a:t>
            </a:r>
            <a:endParaRPr lang="tr-TR" sz="1050" dirty="0"/>
          </a:p>
          <a:p>
            <a:pPr marL="0" indent="0">
              <a:buNone/>
              <a:tabLst>
                <a:tab pos="92075" algn="l"/>
              </a:tabLst>
            </a:pPr>
            <a:r>
              <a:rPr lang="tr-TR" sz="1050" dirty="0"/>
              <a:t>	</a:t>
            </a:r>
            <a:r>
              <a:rPr lang="tr-TR" sz="1050" dirty="0" err="1"/>
              <a:t>printf</a:t>
            </a:r>
            <a:r>
              <a:rPr lang="tr-TR" sz="1050" dirty="0"/>
              <a:t>("</a:t>
            </a:r>
            <a:r>
              <a:rPr lang="tr-TR" sz="1050" dirty="0" err="1"/>
              <a:t>Input</a:t>
            </a:r>
            <a:r>
              <a:rPr lang="tr-TR" sz="1050" dirty="0"/>
              <a:t> %d </a:t>
            </a:r>
            <a:r>
              <a:rPr lang="tr-TR" sz="1050" dirty="0" err="1"/>
              <a:t>float</a:t>
            </a:r>
            <a:r>
              <a:rPr lang="tr-TR" sz="1050" dirty="0"/>
              <a:t> </a:t>
            </a:r>
            <a:r>
              <a:rPr lang="tr-TR" sz="1050" dirty="0" err="1"/>
              <a:t>values</a:t>
            </a:r>
            <a:r>
              <a:rPr lang="tr-TR" sz="1050" dirty="0"/>
              <a:t>.\</a:t>
            </a:r>
            <a:r>
              <a:rPr lang="tr-TR" sz="1050" dirty="0" err="1"/>
              <a:t>n",N</a:t>
            </a:r>
            <a:r>
              <a:rPr lang="tr-TR" sz="1050" dirty="0"/>
              <a:t>);</a:t>
            </a:r>
          </a:p>
          <a:p>
            <a:pPr marL="0" indent="0">
              <a:buNone/>
              <a:tabLst>
                <a:tab pos="92075" algn="l"/>
              </a:tabLst>
            </a:pPr>
            <a:r>
              <a:rPr lang="tr-TR" sz="1050" dirty="0"/>
              <a:t>	</a:t>
            </a:r>
            <a:r>
              <a:rPr lang="tr-TR" sz="1050" dirty="0" err="1"/>
              <a:t>for</a:t>
            </a:r>
            <a:r>
              <a:rPr lang="tr-TR" sz="1050" dirty="0"/>
              <a:t> (i=0;i&lt;</a:t>
            </a:r>
            <a:r>
              <a:rPr lang="tr-TR" sz="1050" dirty="0" err="1"/>
              <a:t>N;i</a:t>
            </a:r>
            <a:r>
              <a:rPr lang="tr-TR" sz="1050" dirty="0"/>
              <a:t>++) {</a:t>
            </a:r>
          </a:p>
          <a:p>
            <a:pPr marL="0" indent="0">
              <a:buNone/>
              <a:tabLst>
                <a:tab pos="92075" algn="l"/>
              </a:tabLst>
            </a:pPr>
            <a:r>
              <a:rPr lang="tr-TR" sz="1050" dirty="0"/>
              <a:t>		</a:t>
            </a:r>
            <a:r>
              <a:rPr lang="tr-TR" sz="1050" dirty="0" err="1"/>
              <a:t>scanf</a:t>
            </a:r>
            <a:r>
              <a:rPr lang="tr-TR" sz="1050" dirty="0"/>
              <a:t>("%f",&amp;</a:t>
            </a:r>
            <a:r>
              <a:rPr lang="tr-TR" sz="1050" dirty="0" err="1"/>
              <a:t>arr</a:t>
            </a:r>
            <a:r>
              <a:rPr lang="tr-TR" sz="1050" dirty="0"/>
              <a:t>[i</a:t>
            </a:r>
            <a:r>
              <a:rPr lang="tr-TR" sz="1050" dirty="0" smtClean="0"/>
              <a:t>]);</a:t>
            </a:r>
            <a:r>
              <a:rPr lang="tr-TR" sz="1050" dirty="0"/>
              <a:t>	}</a:t>
            </a:r>
          </a:p>
          <a:p>
            <a:pPr marL="0" indent="0">
              <a:buNone/>
              <a:tabLst>
                <a:tab pos="92075" algn="l"/>
              </a:tabLst>
            </a:pPr>
            <a:r>
              <a:rPr lang="tr-TR" sz="1050" dirty="0"/>
              <a:t>	</a:t>
            </a:r>
            <a:r>
              <a:rPr lang="tr-TR" sz="1050" dirty="0" err="1"/>
              <a:t>getSumAndMean</a:t>
            </a:r>
            <a:r>
              <a:rPr lang="tr-TR" sz="1050" dirty="0"/>
              <a:t>(</a:t>
            </a:r>
            <a:r>
              <a:rPr lang="tr-TR" sz="1050" dirty="0" err="1"/>
              <a:t>arr</a:t>
            </a:r>
            <a:r>
              <a:rPr lang="tr-TR" sz="1050" dirty="0"/>
              <a:t>, N, &amp;</a:t>
            </a:r>
            <a:r>
              <a:rPr lang="tr-TR" sz="1050" dirty="0" err="1"/>
              <a:t>sum</a:t>
            </a:r>
            <a:r>
              <a:rPr lang="tr-TR" sz="1050" dirty="0"/>
              <a:t>, &amp;</a:t>
            </a:r>
            <a:r>
              <a:rPr lang="tr-TR" sz="1050" dirty="0" err="1"/>
              <a:t>mean</a:t>
            </a:r>
            <a:r>
              <a:rPr lang="tr-TR" sz="1050" dirty="0"/>
              <a:t>);</a:t>
            </a:r>
          </a:p>
          <a:p>
            <a:pPr marL="0" indent="0">
              <a:buNone/>
              <a:tabLst>
                <a:tab pos="92075" algn="l"/>
              </a:tabLst>
            </a:pPr>
            <a:r>
              <a:rPr lang="tr-TR" sz="1050" dirty="0"/>
              <a:t>	</a:t>
            </a:r>
            <a:r>
              <a:rPr lang="tr-TR" sz="1050" dirty="0" err="1"/>
              <a:t>printf</a:t>
            </a:r>
            <a:r>
              <a:rPr lang="tr-TR" sz="1050" dirty="0"/>
              <a:t>("</a:t>
            </a:r>
            <a:r>
              <a:rPr lang="tr-TR" sz="1050" dirty="0" err="1"/>
              <a:t>sum</a:t>
            </a:r>
            <a:r>
              <a:rPr lang="tr-TR" sz="1050" dirty="0"/>
              <a:t>=%f , </a:t>
            </a:r>
            <a:r>
              <a:rPr lang="tr-TR" sz="1050" dirty="0" err="1"/>
              <a:t>mean</a:t>
            </a:r>
            <a:r>
              <a:rPr lang="tr-TR" sz="1050" dirty="0"/>
              <a:t>=%f\n",</a:t>
            </a:r>
            <a:r>
              <a:rPr lang="tr-TR" sz="1050" dirty="0" err="1"/>
              <a:t>sum,mean</a:t>
            </a:r>
            <a:r>
              <a:rPr lang="tr-TR" sz="1050" dirty="0"/>
              <a:t>);</a:t>
            </a:r>
          </a:p>
          <a:p>
            <a:pPr marL="0" indent="0">
              <a:buNone/>
              <a:tabLst>
                <a:tab pos="92075" algn="l"/>
              </a:tabLst>
            </a:pPr>
            <a:r>
              <a:rPr lang="tr-TR" sz="1050" dirty="0"/>
              <a:t>	</a:t>
            </a:r>
            <a:r>
              <a:rPr lang="tr-TR" sz="1050" dirty="0" err="1"/>
              <a:t>free</a:t>
            </a:r>
            <a:r>
              <a:rPr lang="tr-TR" sz="1050" dirty="0"/>
              <a:t>(</a:t>
            </a:r>
            <a:r>
              <a:rPr lang="tr-TR" sz="1050" dirty="0" err="1"/>
              <a:t>arr</a:t>
            </a:r>
            <a:r>
              <a:rPr lang="tr-TR" sz="1050" dirty="0" smtClean="0"/>
              <a:t>);</a:t>
            </a:r>
            <a:endParaRPr lang="tr-TR" sz="1050" dirty="0"/>
          </a:p>
          <a:p>
            <a:pPr marL="0" indent="0">
              <a:buNone/>
              <a:tabLst>
                <a:tab pos="92075" algn="l"/>
              </a:tabLst>
            </a:pPr>
            <a:r>
              <a:rPr lang="tr-TR" sz="1050" dirty="0"/>
              <a:t>	</a:t>
            </a:r>
            <a:r>
              <a:rPr lang="tr-TR" sz="1050" dirty="0" err="1"/>
              <a:t>return</a:t>
            </a:r>
            <a:r>
              <a:rPr lang="tr-TR" sz="1050" dirty="0"/>
              <a:t> 0; </a:t>
            </a:r>
          </a:p>
          <a:p>
            <a:pPr marL="0" indent="0">
              <a:buNone/>
              <a:tabLst>
                <a:tab pos="92075" algn="l"/>
              </a:tabLst>
            </a:pPr>
            <a:r>
              <a:rPr lang="tr-TR" sz="1050" dirty="0" smtClean="0"/>
              <a:t>}</a:t>
            </a:r>
          </a:p>
        </p:txBody>
      </p:sp>
      <p:sp>
        <p:nvSpPr>
          <p:cNvPr id="6" name="İçerik Yer Tutucusu 2"/>
          <p:cNvSpPr txBox="1">
            <a:spLocks/>
          </p:cNvSpPr>
          <p:nvPr/>
        </p:nvSpPr>
        <p:spPr>
          <a:xfrm>
            <a:off x="4829695" y="515389"/>
            <a:ext cx="6567054" cy="5771803"/>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Font typeface="Wingdings" pitchFamily="2" charset="2"/>
              <a:buNone/>
              <a:tabLst>
                <a:tab pos="92075" algn="l"/>
              </a:tabLst>
            </a:pPr>
            <a:r>
              <a:rPr lang="tr-TR" sz="2400" dirty="0" err="1" smtClean="0"/>
              <a:t>void</a:t>
            </a:r>
            <a:r>
              <a:rPr lang="tr-TR" sz="2400" dirty="0" smtClean="0"/>
              <a:t> </a:t>
            </a:r>
            <a:r>
              <a:rPr lang="tr-TR" sz="2400" dirty="0" err="1" smtClean="0"/>
              <a:t>getSumAndMean</a:t>
            </a:r>
            <a:r>
              <a:rPr lang="tr-TR" sz="2400" dirty="0" smtClean="0"/>
              <a:t>( </a:t>
            </a:r>
            <a:r>
              <a:rPr lang="tr-TR" sz="2400" dirty="0" err="1" smtClean="0"/>
              <a:t>float</a:t>
            </a:r>
            <a:r>
              <a:rPr lang="tr-TR" sz="2400" dirty="0" smtClean="0"/>
              <a:t>   * </a:t>
            </a:r>
            <a:r>
              <a:rPr lang="tr-TR" sz="2400" dirty="0" err="1" smtClean="0"/>
              <a:t>fvals</a:t>
            </a:r>
            <a:r>
              <a:rPr lang="tr-TR" sz="2400" dirty="0" smtClean="0"/>
              <a:t>, </a:t>
            </a:r>
            <a:r>
              <a:rPr lang="tr-TR" sz="2400" dirty="0" err="1" smtClean="0"/>
              <a:t>int</a:t>
            </a:r>
            <a:r>
              <a:rPr lang="tr-TR" sz="2400" dirty="0" smtClean="0"/>
              <a:t> size, </a:t>
            </a:r>
            <a:r>
              <a:rPr lang="tr-TR" sz="2400" dirty="0" err="1" smtClean="0"/>
              <a:t>float</a:t>
            </a:r>
            <a:r>
              <a:rPr lang="tr-TR" sz="2400" dirty="0" smtClean="0"/>
              <a:t>* s, </a:t>
            </a:r>
            <a:r>
              <a:rPr lang="tr-TR" sz="2400" dirty="0" err="1" smtClean="0"/>
              <a:t>float</a:t>
            </a:r>
            <a:r>
              <a:rPr lang="tr-TR" sz="2400" dirty="0" smtClean="0"/>
              <a:t>* m)</a:t>
            </a:r>
          </a:p>
          <a:p>
            <a:pPr marL="0" indent="0">
              <a:buFont typeface="Wingdings" pitchFamily="2" charset="2"/>
              <a:buNone/>
              <a:tabLst>
                <a:tab pos="92075" algn="l"/>
              </a:tabLst>
            </a:pPr>
            <a:r>
              <a:rPr lang="tr-TR" sz="2400" dirty="0" smtClean="0"/>
              <a:t>{</a:t>
            </a:r>
          </a:p>
          <a:p>
            <a:pPr marL="0" indent="0">
              <a:buFont typeface="Wingdings" pitchFamily="2" charset="2"/>
              <a:buNone/>
              <a:tabLst>
                <a:tab pos="92075" algn="l"/>
              </a:tabLst>
            </a:pPr>
            <a:r>
              <a:rPr lang="tr-TR" sz="2400" dirty="0" smtClean="0"/>
              <a:t>	</a:t>
            </a:r>
            <a:r>
              <a:rPr lang="tr-TR" sz="2400" dirty="0" err="1" smtClean="0"/>
              <a:t>float</a:t>
            </a:r>
            <a:r>
              <a:rPr lang="tr-TR" sz="2400" dirty="0" smtClean="0"/>
              <a:t> </a:t>
            </a:r>
            <a:r>
              <a:rPr lang="tr-TR" sz="2400" dirty="0" err="1" smtClean="0"/>
              <a:t>sum</a:t>
            </a:r>
            <a:r>
              <a:rPr lang="tr-TR" sz="2400" dirty="0" smtClean="0"/>
              <a:t>=0;</a:t>
            </a:r>
          </a:p>
          <a:p>
            <a:pPr marL="0" indent="0">
              <a:buFont typeface="Wingdings" pitchFamily="2" charset="2"/>
              <a:buNone/>
              <a:tabLst>
                <a:tab pos="92075" algn="l"/>
              </a:tabLst>
            </a:pPr>
            <a:r>
              <a:rPr lang="tr-TR" sz="2400" dirty="0" smtClean="0"/>
              <a:t>	</a:t>
            </a:r>
            <a:r>
              <a:rPr lang="tr-TR" sz="2400" dirty="0" err="1" smtClean="0"/>
              <a:t>int</a:t>
            </a:r>
            <a:r>
              <a:rPr lang="tr-TR" sz="2400" dirty="0" smtClean="0"/>
              <a:t> i;</a:t>
            </a:r>
          </a:p>
          <a:p>
            <a:pPr marL="0" indent="0">
              <a:buFont typeface="Wingdings" pitchFamily="2" charset="2"/>
              <a:buNone/>
              <a:tabLst>
                <a:tab pos="92075" algn="l"/>
              </a:tabLst>
            </a:pPr>
            <a:r>
              <a:rPr lang="tr-TR" sz="2400" dirty="0" smtClean="0"/>
              <a:t>	</a:t>
            </a:r>
            <a:r>
              <a:rPr lang="tr-TR" sz="2400" dirty="0" err="1" smtClean="0"/>
              <a:t>for</a:t>
            </a:r>
            <a:r>
              <a:rPr lang="tr-TR" sz="2400" dirty="0" smtClean="0"/>
              <a:t> (i=0;i&lt;</a:t>
            </a:r>
            <a:r>
              <a:rPr lang="tr-TR" sz="2400" dirty="0" err="1" smtClean="0"/>
              <a:t>size;i</a:t>
            </a:r>
            <a:r>
              <a:rPr lang="tr-TR" sz="2400" dirty="0" smtClean="0"/>
              <a:t>++) { </a:t>
            </a:r>
            <a:r>
              <a:rPr lang="tr-TR" sz="2400" dirty="0" err="1" smtClean="0"/>
              <a:t>sum</a:t>
            </a:r>
            <a:r>
              <a:rPr lang="tr-TR" sz="2400" dirty="0" smtClean="0"/>
              <a:t>+=</a:t>
            </a:r>
            <a:r>
              <a:rPr lang="tr-TR" sz="2400" dirty="0" err="1" smtClean="0"/>
              <a:t>fvals</a:t>
            </a:r>
            <a:r>
              <a:rPr lang="tr-TR" sz="2400" dirty="0" smtClean="0"/>
              <a:t>[i];}</a:t>
            </a:r>
          </a:p>
          <a:p>
            <a:pPr marL="0" indent="0">
              <a:buFont typeface="Wingdings" pitchFamily="2" charset="2"/>
              <a:buNone/>
              <a:tabLst>
                <a:tab pos="92075" algn="l"/>
              </a:tabLst>
            </a:pPr>
            <a:r>
              <a:rPr lang="tr-TR" sz="2400" dirty="0" smtClean="0"/>
              <a:t>	*s=</a:t>
            </a:r>
            <a:r>
              <a:rPr lang="tr-TR" sz="2400" dirty="0" err="1" smtClean="0"/>
              <a:t>sum</a:t>
            </a:r>
            <a:r>
              <a:rPr lang="tr-TR" sz="2400" dirty="0" smtClean="0"/>
              <a:t>;</a:t>
            </a:r>
          </a:p>
          <a:p>
            <a:pPr marL="0" indent="0">
              <a:buFont typeface="Wingdings" pitchFamily="2" charset="2"/>
              <a:buNone/>
              <a:tabLst>
                <a:tab pos="92075" algn="l"/>
              </a:tabLst>
            </a:pPr>
            <a:r>
              <a:rPr lang="tr-TR" sz="2400" dirty="0" smtClean="0"/>
              <a:t>	*m=*s/size;</a:t>
            </a:r>
          </a:p>
          <a:p>
            <a:pPr marL="0" indent="0">
              <a:buFont typeface="Wingdings" pitchFamily="2" charset="2"/>
              <a:buNone/>
              <a:tabLst>
                <a:tab pos="92075" algn="l"/>
              </a:tabLst>
            </a:pPr>
            <a:r>
              <a:rPr lang="tr-TR" sz="2400" dirty="0" smtClean="0"/>
              <a:t>}</a:t>
            </a:r>
            <a:endParaRPr lang="tr-TR" sz="2400" dirty="0"/>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4" name="Slayt Numarası Yer Tutucusu 3"/>
          <p:cNvSpPr>
            <a:spLocks noGrp="1"/>
          </p:cNvSpPr>
          <p:nvPr>
            <p:ph type="sldNum" sz="quarter" idx="12"/>
          </p:nvPr>
        </p:nvSpPr>
        <p:spPr/>
        <p:txBody>
          <a:bodyPr/>
          <a:lstStyle/>
          <a:p>
            <a:fld id="{4FAB73BC-B049-4115-A692-8D63A059BFB8}" type="slidenum">
              <a:rPr lang="en-US" smtClean="0"/>
              <a:t>5</a:t>
            </a:fld>
            <a:endParaRPr lang="en-US" dirty="0"/>
          </a:p>
        </p:txBody>
      </p:sp>
    </p:spTree>
    <p:extLst>
      <p:ext uri="{BB962C8B-B14F-4D97-AF65-F5344CB8AC3E}">
        <p14:creationId xmlns:p14="http://schemas.microsoft.com/office/powerpoint/2010/main" val="34859940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Dikkat!</a:t>
            </a:r>
            <a:endParaRPr lang="tr-TR" dirty="0"/>
          </a:p>
        </p:txBody>
      </p:sp>
      <p:sp>
        <p:nvSpPr>
          <p:cNvPr id="3" name="İçerik Yer Tutucusu 2"/>
          <p:cNvSpPr>
            <a:spLocks noGrp="1"/>
          </p:cNvSpPr>
          <p:nvPr>
            <p:ph idx="1"/>
          </p:nvPr>
        </p:nvSpPr>
        <p:spPr>
          <a:xfrm>
            <a:off x="1069848" y="1744336"/>
            <a:ext cx="10058400" cy="4050792"/>
          </a:xfrm>
        </p:spPr>
        <p:txBody>
          <a:bodyPr/>
          <a:lstStyle/>
          <a:p>
            <a:r>
              <a:rPr lang="tr-TR" dirty="0" smtClean="0"/>
              <a:t>Tanımlanmayan bir değişkenin adresini atayamazsınız.</a:t>
            </a:r>
          </a:p>
          <a:p>
            <a:r>
              <a:rPr lang="tr-TR" dirty="0" smtClean="0"/>
              <a:t>X bir adres olmadığı için tanımlamayı *</a:t>
            </a:r>
            <a:r>
              <a:rPr lang="tr-TR" dirty="0" err="1" smtClean="0"/>
              <a:t>ptr</a:t>
            </a:r>
            <a:r>
              <a:rPr lang="tr-TR" dirty="0" smtClean="0"/>
              <a:t>=x olarak yapamazsınız.</a:t>
            </a:r>
            <a:endParaRPr lang="tr-TR" dirty="0"/>
          </a:p>
        </p:txBody>
      </p:sp>
      <p:pic>
        <p:nvPicPr>
          <p:cNvPr id="4" name="Resim 3"/>
          <p:cNvPicPr>
            <a:picLocks noChangeAspect="1"/>
          </p:cNvPicPr>
          <p:nvPr/>
        </p:nvPicPr>
        <p:blipFill>
          <a:blip r:embed="rId2"/>
          <a:stretch>
            <a:fillRect/>
          </a:stretch>
        </p:blipFill>
        <p:spPr>
          <a:xfrm>
            <a:off x="1069848" y="2772706"/>
            <a:ext cx="8469181" cy="4014736"/>
          </a:xfrm>
          <a:prstGeom prst="rect">
            <a:avLst/>
          </a:prstGeom>
        </p:spPr>
      </p:pic>
      <p:sp>
        <p:nvSpPr>
          <p:cNvPr id="5" name="Altbilgi Yer Tutucusu 4"/>
          <p:cNvSpPr>
            <a:spLocks noGrp="1"/>
          </p:cNvSpPr>
          <p:nvPr>
            <p:ph type="ftr" sz="quarter" idx="11"/>
          </p:nvPr>
        </p:nvSpPr>
        <p:spPr/>
        <p:txBody>
          <a:bodyPr/>
          <a:lstStyle/>
          <a:p>
            <a:r>
              <a:rPr lang="en-US" smtClean="0"/>
              <a:t>Bilgisayar Programlama 1</a:t>
            </a:r>
            <a:endParaRPr lang="en-US" dirty="0"/>
          </a:p>
        </p:txBody>
      </p:sp>
      <p:sp>
        <p:nvSpPr>
          <p:cNvPr id="6" name="Slayt Numarası Yer Tutucusu 5"/>
          <p:cNvSpPr>
            <a:spLocks noGrp="1"/>
          </p:cNvSpPr>
          <p:nvPr>
            <p:ph type="sldNum" sz="quarter" idx="12"/>
          </p:nvPr>
        </p:nvSpPr>
        <p:spPr/>
        <p:txBody>
          <a:bodyPr/>
          <a:lstStyle/>
          <a:p>
            <a:fld id="{4FAB73BC-B049-4115-A692-8D63A059BFB8}" type="slidenum">
              <a:rPr lang="en-US" smtClean="0"/>
              <a:t>6</a:t>
            </a:fld>
            <a:endParaRPr lang="en-US" dirty="0"/>
          </a:p>
        </p:txBody>
      </p:sp>
    </p:spTree>
    <p:extLst>
      <p:ext uri="{BB962C8B-B14F-4D97-AF65-F5344CB8AC3E}">
        <p14:creationId xmlns:p14="http://schemas.microsoft.com/office/powerpoint/2010/main" val="20391417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tr-TR" altLang="tr-TR" dirty="0" smtClean="0"/>
              <a:t>Diziler-</a:t>
            </a:r>
            <a:r>
              <a:rPr lang="en-US" altLang="tr-TR" dirty="0" smtClean="0"/>
              <a:t>Arrays</a:t>
            </a:r>
          </a:p>
        </p:txBody>
      </p:sp>
      <p:sp>
        <p:nvSpPr>
          <p:cNvPr id="3" name="Content Placeholder 2"/>
          <p:cNvSpPr>
            <a:spLocks noGrp="1"/>
          </p:cNvSpPr>
          <p:nvPr>
            <p:ph idx="1"/>
          </p:nvPr>
        </p:nvSpPr>
        <p:spPr/>
        <p:txBody>
          <a:bodyPr/>
          <a:lstStyle/>
          <a:p>
            <a:r>
              <a:rPr lang="tr-TR" dirty="0"/>
              <a:t>Dizi, ortak bir adla atıfta bulunulan aynı türdeki değişkenlerin bir koleksiyonudur</a:t>
            </a:r>
            <a:r>
              <a:rPr lang="tr-TR" dirty="0" smtClean="0"/>
              <a:t>.</a:t>
            </a:r>
          </a:p>
          <a:p>
            <a:r>
              <a:rPr lang="tr-TR" altLang="tr-TR" dirty="0" smtClean="0"/>
              <a:t>Tanımlama </a:t>
            </a:r>
            <a:endParaRPr lang="en-US" altLang="tr-TR" dirty="0" smtClean="0"/>
          </a:p>
          <a:p>
            <a:pPr lvl="1">
              <a:buFont typeface="Arial" panose="020B0604020202020204" pitchFamily="34" charset="0"/>
              <a:buNone/>
            </a:pPr>
            <a:r>
              <a:rPr lang="en-US" altLang="tr-TR" dirty="0" smtClean="0"/>
              <a:t>type </a:t>
            </a:r>
            <a:r>
              <a:rPr lang="en-US" altLang="tr-TR" dirty="0" err="1" smtClean="0"/>
              <a:t>var_name</a:t>
            </a:r>
            <a:r>
              <a:rPr lang="en-US" altLang="tr-TR" dirty="0" smtClean="0"/>
              <a:t>[</a:t>
            </a:r>
            <a:r>
              <a:rPr lang="tr-TR" altLang="tr-TR" dirty="0" smtClean="0"/>
              <a:t>boyut</a:t>
            </a:r>
            <a:r>
              <a:rPr lang="en-US" altLang="tr-TR" dirty="0" smtClean="0"/>
              <a:t>]</a:t>
            </a:r>
          </a:p>
          <a:p>
            <a:pPr lvl="1">
              <a:buFont typeface="Arial" panose="020B0604020202020204" pitchFamily="34" charset="0"/>
              <a:buNone/>
            </a:pPr>
            <a:endParaRPr lang="en-US" altLang="tr-TR" dirty="0" smtClean="0"/>
          </a:p>
        </p:txBody>
      </p:sp>
      <p:sp>
        <p:nvSpPr>
          <p:cNvPr id="4" name="Footer Placeholder 3"/>
          <p:cNvSpPr>
            <a:spLocks noGrp="1"/>
          </p:cNvSpPr>
          <p:nvPr>
            <p:ph type="ftr" sz="quarter" idx="11"/>
          </p:nvPr>
        </p:nvSpPr>
        <p:spPr/>
        <p:txBody>
          <a:bodyPr/>
          <a:lstStyle/>
          <a:p>
            <a:pPr>
              <a:defRPr/>
            </a:pPr>
            <a:r>
              <a:rPr lang="en-US" smtClean="0"/>
              <a:t>Bilgisayar Programlama 1</a:t>
            </a:r>
            <a:endParaRPr lang="en-US"/>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2CDBD9C-1371-44F2-897A-DDF75154D45E}" type="slidenum">
              <a:rPr lang="en-US" altLang="tr-TR">
                <a:solidFill>
                  <a:srgbClr val="898989"/>
                </a:solidFill>
              </a:rPr>
              <a:pPr/>
              <a:t>7</a:t>
            </a:fld>
            <a:endParaRPr lang="en-US" altLang="tr-TR">
              <a:solidFill>
                <a:srgbClr val="898989"/>
              </a:solidFill>
            </a:endParaRPr>
          </a:p>
        </p:txBody>
      </p:sp>
      <p:sp>
        <p:nvSpPr>
          <p:cNvPr id="6" name="TextBox 5"/>
          <p:cNvSpPr txBox="1">
            <a:spLocks noChangeArrowheads="1"/>
          </p:cNvSpPr>
          <p:nvPr/>
        </p:nvSpPr>
        <p:spPr bwMode="auto">
          <a:xfrm>
            <a:off x="2149312" y="3761296"/>
            <a:ext cx="3037101" cy="646331"/>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int A[6];</a:t>
            </a:r>
          </a:p>
          <a:p>
            <a:r>
              <a:rPr lang="en-US" altLang="tr-TR"/>
              <a:t>double d[15];</a:t>
            </a:r>
          </a:p>
        </p:txBody>
      </p:sp>
    </p:spTree>
    <p:extLst>
      <p:ext uri="{BB962C8B-B14F-4D97-AF65-F5344CB8AC3E}">
        <p14:creationId xmlns:p14="http://schemas.microsoft.com/office/powerpoint/2010/main" val="11056325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tr-TR" altLang="tr-TR" dirty="0" smtClean="0"/>
              <a:t>Dizi tanımı-</a:t>
            </a:r>
            <a:r>
              <a:rPr lang="en-US" altLang="tr-TR" dirty="0" smtClean="0"/>
              <a:t>Array Initialization</a:t>
            </a:r>
          </a:p>
        </p:txBody>
      </p:sp>
      <p:sp>
        <p:nvSpPr>
          <p:cNvPr id="3" name="Content Placeholder 2"/>
          <p:cNvSpPr>
            <a:spLocks noGrp="1"/>
          </p:cNvSpPr>
          <p:nvPr>
            <p:ph idx="1"/>
          </p:nvPr>
        </p:nvSpPr>
        <p:spPr/>
        <p:txBody>
          <a:bodyPr/>
          <a:lstStyle/>
          <a:p>
            <a:pPr>
              <a:buFont typeface="Arial" panose="020B0604020202020204" pitchFamily="34" charset="0"/>
              <a:buNone/>
            </a:pPr>
            <a:endParaRPr lang="en-US" altLang="tr-TR" dirty="0" smtClean="0"/>
          </a:p>
          <a:p>
            <a:pPr>
              <a:buFont typeface="Arial" panose="020B0604020202020204" pitchFamily="34" charset="0"/>
              <a:buNone/>
            </a:pPr>
            <a:r>
              <a:rPr lang="en-US" altLang="tr-TR" dirty="0" smtClean="0"/>
              <a:t>Static initialization</a:t>
            </a:r>
          </a:p>
          <a:p>
            <a:pPr>
              <a:buFont typeface="Arial" panose="020B0604020202020204" pitchFamily="34" charset="0"/>
              <a:buNone/>
            </a:pPr>
            <a:endParaRPr lang="en-US" altLang="tr-TR" dirty="0" smtClean="0"/>
          </a:p>
          <a:p>
            <a:pPr>
              <a:buFont typeface="Arial" panose="020B0604020202020204" pitchFamily="34" charset="0"/>
              <a:buNone/>
            </a:pPr>
            <a:r>
              <a:rPr lang="en-US" altLang="tr-TR" dirty="0" smtClean="0"/>
              <a:t>Run time initialization</a:t>
            </a:r>
          </a:p>
          <a:p>
            <a:pPr>
              <a:buFont typeface="Arial" panose="020B0604020202020204" pitchFamily="34" charset="0"/>
              <a:buNone/>
            </a:pPr>
            <a:endParaRPr lang="en-US" altLang="tr-TR" dirty="0" smtClean="0"/>
          </a:p>
        </p:txBody>
      </p:sp>
      <p:sp>
        <p:nvSpPr>
          <p:cNvPr id="4" name="Footer Placeholder 3"/>
          <p:cNvSpPr>
            <a:spLocks noGrp="1"/>
          </p:cNvSpPr>
          <p:nvPr>
            <p:ph type="ftr" sz="quarter" idx="11"/>
          </p:nvPr>
        </p:nvSpPr>
        <p:spPr/>
        <p:txBody>
          <a:bodyPr/>
          <a:lstStyle/>
          <a:p>
            <a:pPr>
              <a:defRPr/>
            </a:pPr>
            <a:r>
              <a:rPr lang="en-US" smtClean="0"/>
              <a:t>Bilgisayar Programlama 1</a:t>
            </a:r>
            <a:endParaRPr lang="en-US"/>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6957CBA-4EB4-4FD7-904F-57F7F6E626D0}" type="slidenum">
              <a:rPr lang="en-US" altLang="tr-TR">
                <a:solidFill>
                  <a:srgbClr val="898989"/>
                </a:solidFill>
              </a:rPr>
              <a:pPr/>
              <a:t>8</a:t>
            </a:fld>
            <a:endParaRPr lang="en-US" altLang="tr-TR">
              <a:solidFill>
                <a:srgbClr val="898989"/>
              </a:solidFill>
            </a:endParaRPr>
          </a:p>
        </p:txBody>
      </p:sp>
      <p:sp>
        <p:nvSpPr>
          <p:cNvPr id="6" name="TextBox 5"/>
          <p:cNvSpPr txBox="1">
            <a:spLocks noChangeArrowheads="1"/>
          </p:cNvSpPr>
          <p:nvPr/>
        </p:nvSpPr>
        <p:spPr bwMode="auto">
          <a:xfrm>
            <a:off x="4226357" y="3821113"/>
            <a:ext cx="6242050" cy="369887"/>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int month_days[] = {31, 28, 31, 30, 31, 30, 31, 31, 30, 31, 30, 31};</a:t>
            </a:r>
          </a:p>
        </p:txBody>
      </p:sp>
      <p:sp>
        <p:nvSpPr>
          <p:cNvPr id="7" name="TextBox 6"/>
          <p:cNvSpPr txBox="1">
            <a:spLocks noChangeArrowheads="1"/>
          </p:cNvSpPr>
          <p:nvPr/>
        </p:nvSpPr>
        <p:spPr bwMode="auto">
          <a:xfrm>
            <a:off x="2667001" y="5029201"/>
            <a:ext cx="1891865" cy="1200329"/>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int i;</a:t>
            </a:r>
          </a:p>
          <a:p>
            <a:r>
              <a:rPr lang="en-US" altLang="tr-TR"/>
              <a:t>int A[6];</a:t>
            </a:r>
          </a:p>
          <a:p>
            <a:r>
              <a:rPr lang="en-US" altLang="tr-TR"/>
              <a:t>for(i = 0; i &lt; 6; i++)</a:t>
            </a:r>
            <a:br>
              <a:rPr lang="en-US" altLang="tr-TR"/>
            </a:br>
            <a:r>
              <a:rPr lang="en-US" altLang="tr-TR"/>
              <a:t>	A[i] = 6 - i;</a:t>
            </a:r>
          </a:p>
        </p:txBody>
      </p:sp>
    </p:spTree>
    <p:extLst>
      <p:ext uri="{BB962C8B-B14F-4D97-AF65-F5344CB8AC3E}">
        <p14:creationId xmlns:p14="http://schemas.microsoft.com/office/powerpoint/2010/main" val="3954147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tr-TR" altLang="tr-TR" dirty="0" smtClean="0"/>
              <a:t>Bellek adresleri</a:t>
            </a:r>
            <a:endParaRPr lang="en-US" altLang="tr-TR" dirty="0" smtClean="0"/>
          </a:p>
        </p:txBody>
      </p:sp>
      <p:sp>
        <p:nvSpPr>
          <p:cNvPr id="3" name="Content Placeholder 2"/>
          <p:cNvSpPr>
            <a:spLocks noGrp="1"/>
          </p:cNvSpPr>
          <p:nvPr>
            <p:ph idx="1"/>
          </p:nvPr>
        </p:nvSpPr>
        <p:spPr>
          <a:xfrm>
            <a:off x="1981200" y="1600201"/>
            <a:ext cx="6096000" cy="4525963"/>
          </a:xfrm>
        </p:spPr>
        <p:txBody>
          <a:bodyPr rtlCol="0">
            <a:normAutofit/>
          </a:bodyPr>
          <a:lstStyle/>
          <a:p>
            <a:pPr>
              <a:defRPr/>
            </a:pPr>
            <a:r>
              <a:rPr lang="tr-TR" dirty="0" smtClean="0"/>
              <a:t>Bellek </a:t>
            </a:r>
            <a:r>
              <a:rPr lang="tr-TR" dirty="0"/>
              <a:t>ayrı ayrı </a:t>
            </a:r>
            <a:r>
              <a:rPr lang="tr-TR" dirty="0" err="1" smtClean="0"/>
              <a:t>adreslenebilen</a:t>
            </a:r>
            <a:r>
              <a:rPr lang="tr-TR" dirty="0" smtClean="0"/>
              <a:t> en küçüğü </a:t>
            </a:r>
            <a:r>
              <a:rPr lang="tr-TR" dirty="0"/>
              <a:t>bir bayt </a:t>
            </a:r>
            <a:r>
              <a:rPr lang="tr-TR" dirty="0" smtClean="0"/>
              <a:t>parçalardan oluşur.</a:t>
            </a:r>
            <a:r>
              <a:rPr lang="tr-TR" dirty="0"/>
              <a:t/>
            </a:r>
            <a:br>
              <a:rPr lang="tr-TR" dirty="0"/>
            </a:br>
            <a:r>
              <a:rPr lang="tr-TR" dirty="0"/>
              <a:t>- bellekten isteyebileceğiniz minimum veri 1 bayttır</a:t>
            </a:r>
            <a:br>
              <a:rPr lang="tr-TR" dirty="0"/>
            </a:br>
            <a:r>
              <a:rPr lang="tr-TR" dirty="0"/>
              <a:t/>
            </a:r>
            <a:br>
              <a:rPr lang="tr-TR" dirty="0"/>
            </a:br>
            <a:r>
              <a:rPr lang="tr-TR" dirty="0"/>
              <a:t>Her baytın bir adresi vardır.</a:t>
            </a:r>
            <a:endParaRPr lang="en-US" dirty="0" smtClean="0"/>
          </a:p>
          <a:p>
            <a:pPr>
              <a:defRPr/>
            </a:pPr>
            <a:endParaRPr lang="en-US" dirty="0" smtClean="0"/>
          </a:p>
          <a:p>
            <a:pPr>
              <a:buNone/>
              <a:defRPr/>
            </a:pPr>
            <a:r>
              <a:rPr lang="en-US" dirty="0" smtClean="0"/>
              <a:t>	32 bit </a:t>
            </a:r>
            <a:r>
              <a:rPr lang="tr-TR" dirty="0" smtClean="0"/>
              <a:t>işlemci</a:t>
            </a:r>
            <a:r>
              <a:rPr lang="tr-TR" dirty="0"/>
              <a:t> </a:t>
            </a:r>
            <a:r>
              <a:rPr lang="tr-TR" dirty="0" smtClean="0"/>
              <a:t>için </a:t>
            </a:r>
            <a:r>
              <a:rPr lang="tr-TR" dirty="0" err="1" smtClean="0"/>
              <a:t>adreslenebilen</a:t>
            </a:r>
            <a:r>
              <a:rPr lang="tr-TR" dirty="0" smtClean="0"/>
              <a:t> alan </a:t>
            </a:r>
            <a:r>
              <a:rPr lang="en-US" dirty="0" smtClean="0"/>
              <a:t>2</a:t>
            </a:r>
            <a:r>
              <a:rPr lang="en-US" baseline="30000" dirty="0" smtClean="0"/>
              <a:t>32</a:t>
            </a:r>
            <a:r>
              <a:rPr lang="en-US" dirty="0" smtClean="0"/>
              <a:t> </a:t>
            </a:r>
            <a:r>
              <a:rPr lang="tr-TR" dirty="0" smtClean="0"/>
              <a:t>bayt </a:t>
            </a:r>
            <a:r>
              <a:rPr lang="tr-TR" dirty="0" err="1" smtClean="0"/>
              <a:t>dır</a:t>
            </a:r>
            <a:endParaRPr lang="tr-TR" dirty="0" smtClean="0"/>
          </a:p>
        </p:txBody>
      </p:sp>
      <p:graphicFrame>
        <p:nvGraphicFramePr>
          <p:cNvPr id="5" name="Table 4"/>
          <p:cNvGraphicFramePr>
            <a:graphicFrameLocks noGrp="1"/>
          </p:cNvGraphicFramePr>
          <p:nvPr>
            <p:extLst>
              <p:ext uri="{D42A27DB-BD31-4B8C-83A1-F6EECF244321}">
                <p14:modId xmlns:p14="http://schemas.microsoft.com/office/powerpoint/2010/main" val="1398181602"/>
              </p:ext>
            </p:extLst>
          </p:nvPr>
        </p:nvGraphicFramePr>
        <p:xfrm>
          <a:off x="8688186" y="540326"/>
          <a:ext cx="1981200" cy="5562600"/>
        </p:xfrm>
        <a:graphic>
          <a:graphicData uri="http://schemas.openxmlformats.org/drawingml/2006/table">
            <a:tbl>
              <a:tblPr bandRow="1">
                <a:tableStyleId>{5C22544A-7EE6-4342-B048-85BDC9FD1C3A}</a:tableStyleId>
              </a:tblPr>
              <a:tblGrid>
                <a:gridCol w="609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70840">
                <a:tc>
                  <a:txBody>
                    <a:bodyPr/>
                    <a:lstStyle/>
                    <a:p>
                      <a:pPr algn="ctr"/>
                      <a:r>
                        <a:rPr lang="en-US" sz="1200" dirty="0" smtClean="0"/>
                        <a:t>0A</a:t>
                      </a:r>
                      <a:endParaRPr lang="en-US" sz="1200" dirty="0"/>
                    </a:p>
                  </a:txBody>
                  <a:tcPr>
                    <a:solidFill>
                      <a:schemeClr val="tx2">
                        <a:lumMod val="60000"/>
                        <a:lumOff val="40000"/>
                      </a:schemeClr>
                    </a:solidFill>
                  </a:tcPr>
                </a:tc>
                <a:tc>
                  <a:txBody>
                    <a:bodyPr/>
                    <a:lstStyle/>
                    <a:p>
                      <a:pPr algn="ctr"/>
                      <a:r>
                        <a:rPr lang="en-US" sz="1200" dirty="0" smtClean="0"/>
                        <a:t>0x00001234</a:t>
                      </a:r>
                      <a:endParaRPr lang="en-US" sz="1200" dirty="0"/>
                    </a:p>
                  </a:txBody>
                  <a:tcPr>
                    <a:solidFill>
                      <a:schemeClr val="tx2">
                        <a:lumMod val="60000"/>
                        <a:lumOff val="40000"/>
                      </a:schemeClr>
                    </a:solidFill>
                  </a:tcPr>
                </a:tc>
                <a:extLst>
                  <a:ext uri="{0D108BD9-81ED-4DB2-BD59-A6C34878D82A}">
                    <a16:rowId xmlns:a16="http://schemas.microsoft.com/office/drawing/2014/main" val="10000"/>
                  </a:ext>
                </a:extLst>
              </a:tr>
              <a:tr h="370840">
                <a:tc>
                  <a:txBody>
                    <a:bodyPr/>
                    <a:lstStyle/>
                    <a:p>
                      <a:pPr algn="ctr"/>
                      <a:r>
                        <a:rPr lang="en-US" sz="1200" dirty="0" smtClean="0"/>
                        <a:t>23</a:t>
                      </a:r>
                      <a:endParaRPr lang="en-US" sz="1200" dirty="0"/>
                    </a:p>
                  </a:txBody>
                  <a:tcPr>
                    <a:solidFill>
                      <a:schemeClr val="tx2">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smtClean="0"/>
                        <a:t>0x00001235</a:t>
                      </a:r>
                    </a:p>
                  </a:txBody>
                  <a:tcPr>
                    <a:solidFill>
                      <a:schemeClr val="tx2">
                        <a:lumMod val="60000"/>
                        <a:lumOff val="40000"/>
                      </a:schemeClr>
                    </a:solidFill>
                  </a:tcPr>
                </a:tc>
                <a:extLst>
                  <a:ext uri="{0D108BD9-81ED-4DB2-BD59-A6C34878D82A}">
                    <a16:rowId xmlns:a16="http://schemas.microsoft.com/office/drawing/2014/main" val="10001"/>
                  </a:ext>
                </a:extLst>
              </a:tr>
              <a:tr h="370840">
                <a:tc>
                  <a:txBody>
                    <a:bodyPr/>
                    <a:lstStyle/>
                    <a:p>
                      <a:pPr algn="ctr"/>
                      <a:r>
                        <a:rPr lang="en-US" sz="1200" dirty="0" smtClean="0"/>
                        <a:t>6C</a:t>
                      </a:r>
                      <a:endParaRPr lang="en-US" sz="1200" dirty="0"/>
                    </a:p>
                  </a:txBody>
                  <a:tcPr>
                    <a:solidFill>
                      <a:schemeClr val="tx2">
                        <a:lumMod val="60000"/>
                        <a:lumOff val="40000"/>
                      </a:schemeClr>
                    </a:solidFill>
                  </a:tcPr>
                </a:tc>
                <a:tc>
                  <a:txBody>
                    <a:bodyPr/>
                    <a:lstStyle/>
                    <a:p>
                      <a:pPr algn="ctr"/>
                      <a:r>
                        <a:rPr lang="en-US" sz="1200" dirty="0" smtClean="0"/>
                        <a:t>0x00001236</a:t>
                      </a:r>
                      <a:endParaRPr lang="en-US" sz="1200" dirty="0"/>
                    </a:p>
                  </a:txBody>
                  <a:tcPr>
                    <a:solidFill>
                      <a:schemeClr val="tx2">
                        <a:lumMod val="60000"/>
                        <a:lumOff val="40000"/>
                      </a:schemeClr>
                    </a:solidFill>
                  </a:tcPr>
                </a:tc>
                <a:extLst>
                  <a:ext uri="{0D108BD9-81ED-4DB2-BD59-A6C34878D82A}">
                    <a16:rowId xmlns:a16="http://schemas.microsoft.com/office/drawing/2014/main" val="10002"/>
                  </a:ext>
                </a:extLst>
              </a:tr>
              <a:tr h="370840">
                <a:tc>
                  <a:txBody>
                    <a:bodyPr/>
                    <a:lstStyle/>
                    <a:p>
                      <a:pPr algn="ctr"/>
                      <a:r>
                        <a:rPr lang="en-US" sz="1200" dirty="0" smtClean="0"/>
                        <a:t>1D</a:t>
                      </a:r>
                      <a:endParaRPr lang="en-US" sz="1200" dirty="0"/>
                    </a:p>
                  </a:txBody>
                  <a:tcPr>
                    <a:solidFill>
                      <a:schemeClr val="tx2">
                        <a:lumMod val="60000"/>
                        <a:lumOff val="40000"/>
                      </a:schemeClr>
                    </a:solidFill>
                  </a:tcPr>
                </a:tc>
                <a:tc>
                  <a:txBody>
                    <a:bodyPr/>
                    <a:lstStyle/>
                    <a:p>
                      <a:pPr algn="ctr"/>
                      <a:r>
                        <a:rPr lang="en-US" sz="1200" dirty="0" smtClean="0"/>
                        <a:t>0x00001237</a:t>
                      </a:r>
                      <a:endParaRPr lang="en-US" sz="1200" dirty="0"/>
                    </a:p>
                  </a:txBody>
                  <a:tcPr>
                    <a:solidFill>
                      <a:schemeClr val="tx2">
                        <a:lumMod val="60000"/>
                        <a:lumOff val="40000"/>
                      </a:schemeClr>
                    </a:solidFill>
                  </a:tcPr>
                </a:tc>
                <a:extLst>
                  <a:ext uri="{0D108BD9-81ED-4DB2-BD59-A6C34878D82A}">
                    <a16:rowId xmlns:a16="http://schemas.microsoft.com/office/drawing/2014/main" val="10003"/>
                  </a:ext>
                </a:extLst>
              </a:tr>
              <a:tr h="370840">
                <a:tc>
                  <a:txBody>
                    <a:bodyPr/>
                    <a:lstStyle/>
                    <a:p>
                      <a:pPr algn="ctr"/>
                      <a:r>
                        <a:rPr lang="en-US" sz="1200" dirty="0" smtClean="0"/>
                        <a:t>‘W’</a:t>
                      </a:r>
                      <a:endParaRPr lang="en-US" sz="1200" dirty="0"/>
                    </a:p>
                  </a:txBody>
                  <a:tcPr>
                    <a:solidFill>
                      <a:schemeClr val="tx2">
                        <a:lumMod val="20000"/>
                        <a:lumOff val="80000"/>
                      </a:schemeClr>
                    </a:solidFill>
                  </a:tcPr>
                </a:tc>
                <a:tc>
                  <a:txBody>
                    <a:bodyPr/>
                    <a:lstStyle/>
                    <a:p>
                      <a:pPr algn="ctr"/>
                      <a:r>
                        <a:rPr lang="en-US" sz="1200" dirty="0" smtClean="0"/>
                        <a:t>0x00001238</a:t>
                      </a:r>
                      <a:endParaRPr lang="en-US" sz="1200" dirty="0"/>
                    </a:p>
                  </a:txBody>
                  <a:tcPr>
                    <a:solidFill>
                      <a:schemeClr val="tx2">
                        <a:lumMod val="20000"/>
                        <a:lumOff val="80000"/>
                      </a:schemeClr>
                    </a:solidFill>
                  </a:tcPr>
                </a:tc>
                <a:extLst>
                  <a:ext uri="{0D108BD9-81ED-4DB2-BD59-A6C34878D82A}">
                    <a16:rowId xmlns:a16="http://schemas.microsoft.com/office/drawing/2014/main" val="10004"/>
                  </a:ext>
                </a:extLst>
              </a:tr>
              <a:tr h="370840">
                <a:tc>
                  <a:txBody>
                    <a:bodyPr/>
                    <a:lstStyle/>
                    <a:p>
                      <a:pPr algn="ctr"/>
                      <a:r>
                        <a:rPr lang="en-US" sz="1200" dirty="0" smtClean="0"/>
                        <a:t>‘o’</a:t>
                      </a:r>
                      <a:endParaRPr lang="en-US" sz="1200" dirty="0"/>
                    </a:p>
                  </a:txBody>
                  <a:tcPr>
                    <a:solidFill>
                      <a:schemeClr val="tx2">
                        <a:lumMod val="20000"/>
                        <a:lumOff val="80000"/>
                      </a:schemeClr>
                    </a:solidFill>
                  </a:tcPr>
                </a:tc>
                <a:tc>
                  <a:txBody>
                    <a:bodyPr/>
                    <a:lstStyle/>
                    <a:p>
                      <a:pPr algn="ctr"/>
                      <a:r>
                        <a:rPr lang="en-US" sz="1200" dirty="0" smtClean="0"/>
                        <a:t>0x00001239</a:t>
                      </a:r>
                      <a:endParaRPr lang="en-US" sz="1200" dirty="0"/>
                    </a:p>
                  </a:txBody>
                  <a:tcPr>
                    <a:solidFill>
                      <a:schemeClr val="tx2">
                        <a:lumMod val="20000"/>
                        <a:lumOff val="80000"/>
                      </a:schemeClr>
                    </a:solidFill>
                  </a:tcPr>
                </a:tc>
                <a:extLst>
                  <a:ext uri="{0D108BD9-81ED-4DB2-BD59-A6C34878D82A}">
                    <a16:rowId xmlns:a16="http://schemas.microsoft.com/office/drawing/2014/main" val="10005"/>
                  </a:ext>
                </a:extLst>
              </a:tr>
              <a:tr h="370840">
                <a:tc>
                  <a:txBody>
                    <a:bodyPr/>
                    <a:lstStyle/>
                    <a:p>
                      <a:pPr algn="ctr"/>
                      <a:r>
                        <a:rPr lang="en-US" sz="1200" dirty="0" smtClean="0"/>
                        <a:t>‘w’</a:t>
                      </a:r>
                      <a:endParaRPr lang="en-US" sz="1200" dirty="0"/>
                    </a:p>
                  </a:txBody>
                  <a:tcPr>
                    <a:solidFill>
                      <a:schemeClr val="tx2">
                        <a:lumMod val="20000"/>
                        <a:lumOff val="80000"/>
                      </a:schemeClr>
                    </a:solidFill>
                  </a:tcPr>
                </a:tc>
                <a:tc>
                  <a:txBody>
                    <a:bodyPr/>
                    <a:lstStyle/>
                    <a:p>
                      <a:pPr algn="ctr"/>
                      <a:r>
                        <a:rPr lang="en-US" sz="1200" dirty="0" smtClean="0"/>
                        <a:t>0x0000123A</a:t>
                      </a:r>
                      <a:endParaRPr lang="en-US" sz="1200" dirty="0"/>
                    </a:p>
                  </a:txBody>
                  <a:tcPr>
                    <a:solidFill>
                      <a:schemeClr val="tx2">
                        <a:lumMod val="20000"/>
                        <a:lumOff val="80000"/>
                      </a:schemeClr>
                    </a:solidFill>
                  </a:tcPr>
                </a:tc>
                <a:extLst>
                  <a:ext uri="{0D108BD9-81ED-4DB2-BD59-A6C34878D82A}">
                    <a16:rowId xmlns:a16="http://schemas.microsoft.com/office/drawing/2014/main" val="10006"/>
                  </a:ext>
                </a:extLst>
              </a:tr>
              <a:tr h="370840">
                <a:tc>
                  <a:txBody>
                    <a:bodyPr/>
                    <a:lstStyle/>
                    <a:p>
                      <a:pPr algn="ctr"/>
                      <a:r>
                        <a:rPr lang="en-US" sz="1200" dirty="0" smtClean="0"/>
                        <a:t>‘\0’</a:t>
                      </a:r>
                      <a:endParaRPr lang="en-US" sz="1200" dirty="0"/>
                    </a:p>
                  </a:txBody>
                  <a:tcPr>
                    <a:solidFill>
                      <a:schemeClr val="tx2">
                        <a:lumMod val="20000"/>
                        <a:lumOff val="80000"/>
                      </a:schemeClr>
                    </a:solidFill>
                  </a:tcPr>
                </a:tc>
                <a:tc>
                  <a:txBody>
                    <a:bodyPr/>
                    <a:lstStyle/>
                    <a:p>
                      <a:pPr algn="ctr"/>
                      <a:r>
                        <a:rPr lang="en-US" sz="1200" dirty="0" smtClean="0"/>
                        <a:t>0x0000123B</a:t>
                      </a:r>
                      <a:endParaRPr lang="en-US" sz="1200" dirty="0"/>
                    </a:p>
                  </a:txBody>
                  <a:tcPr>
                    <a:solidFill>
                      <a:schemeClr val="tx2">
                        <a:lumMod val="20000"/>
                        <a:lumOff val="80000"/>
                      </a:schemeClr>
                    </a:solidFill>
                  </a:tcPr>
                </a:tc>
                <a:extLst>
                  <a:ext uri="{0D108BD9-81ED-4DB2-BD59-A6C34878D82A}">
                    <a16:rowId xmlns:a16="http://schemas.microsoft.com/office/drawing/2014/main" val="10007"/>
                  </a:ext>
                </a:extLst>
              </a:tr>
              <a:tr h="370840">
                <a:tc>
                  <a:txBody>
                    <a:bodyPr/>
                    <a:lstStyle/>
                    <a:p>
                      <a:pPr algn="ctr"/>
                      <a:r>
                        <a:rPr lang="en-US" sz="1200" dirty="0" smtClean="0"/>
                        <a:t>.</a:t>
                      </a:r>
                      <a:endParaRPr lang="en-US" sz="1200" dirty="0"/>
                    </a:p>
                  </a:txBody>
                  <a:tcPr>
                    <a:solidFill>
                      <a:schemeClr val="bg1"/>
                    </a:solidFill>
                  </a:tcPr>
                </a:tc>
                <a:tc>
                  <a:txBody>
                    <a:bodyPr/>
                    <a:lstStyle/>
                    <a:p>
                      <a:pPr algn="l"/>
                      <a:r>
                        <a:rPr lang="en-US" sz="1200" dirty="0" smtClean="0"/>
                        <a:t>.</a:t>
                      </a:r>
                      <a:endParaRPr lang="en-US" sz="1200" dirty="0"/>
                    </a:p>
                  </a:txBody>
                  <a:tcPr>
                    <a:solidFill>
                      <a:schemeClr val="bg1"/>
                    </a:solidFill>
                  </a:tcPr>
                </a:tc>
                <a:extLst>
                  <a:ext uri="{0D108BD9-81ED-4DB2-BD59-A6C34878D82A}">
                    <a16:rowId xmlns:a16="http://schemas.microsoft.com/office/drawing/2014/main" val="10008"/>
                  </a:ext>
                </a:extLst>
              </a:tr>
              <a:tr h="370840">
                <a:tc>
                  <a:txBody>
                    <a:bodyPr/>
                    <a:lstStyle/>
                    <a:p>
                      <a:pPr algn="ctr"/>
                      <a:r>
                        <a:rPr lang="en-US" sz="1200" dirty="0" smtClean="0"/>
                        <a:t>.</a:t>
                      </a:r>
                      <a:endParaRPr lang="en-US" sz="1200" dirty="0"/>
                    </a:p>
                  </a:txBody>
                  <a:tcPr>
                    <a:solidFill>
                      <a:schemeClr val="bg1"/>
                    </a:solidFill>
                  </a:tcPr>
                </a:tc>
                <a:tc>
                  <a:txBody>
                    <a:bodyPr/>
                    <a:lstStyle/>
                    <a:p>
                      <a:pPr algn="l"/>
                      <a:r>
                        <a:rPr lang="en-US" sz="1200" dirty="0" smtClean="0"/>
                        <a:t>.</a:t>
                      </a:r>
                      <a:endParaRPr lang="en-US" sz="1200" dirty="0"/>
                    </a:p>
                  </a:txBody>
                  <a:tcPr>
                    <a:solidFill>
                      <a:schemeClr val="bg1"/>
                    </a:solidFill>
                  </a:tcPr>
                </a:tc>
                <a:extLst>
                  <a:ext uri="{0D108BD9-81ED-4DB2-BD59-A6C34878D82A}">
                    <a16:rowId xmlns:a16="http://schemas.microsoft.com/office/drawing/2014/main" val="10009"/>
                  </a:ext>
                </a:extLst>
              </a:tr>
              <a:tr h="370840">
                <a:tc>
                  <a:txBody>
                    <a:bodyPr/>
                    <a:lstStyle/>
                    <a:p>
                      <a:pPr algn="ctr"/>
                      <a:r>
                        <a:rPr lang="en-US" sz="1200" dirty="0" smtClean="0"/>
                        <a:t>.</a:t>
                      </a:r>
                      <a:endParaRPr lang="en-US" sz="1200" dirty="0"/>
                    </a:p>
                  </a:txBody>
                  <a:tcPr>
                    <a:solidFill>
                      <a:schemeClr val="bg1"/>
                    </a:solidFill>
                  </a:tcPr>
                </a:tc>
                <a:tc>
                  <a:txBody>
                    <a:bodyPr/>
                    <a:lstStyle/>
                    <a:p>
                      <a:pPr algn="l"/>
                      <a:r>
                        <a:rPr lang="en-US" sz="1200" dirty="0" smtClean="0"/>
                        <a:t>.</a:t>
                      </a:r>
                      <a:endParaRPr lang="en-US" sz="1200" dirty="0"/>
                    </a:p>
                  </a:txBody>
                  <a:tcPr>
                    <a:solidFill>
                      <a:schemeClr val="bg1"/>
                    </a:solidFill>
                  </a:tcPr>
                </a:tc>
                <a:extLst>
                  <a:ext uri="{0D108BD9-81ED-4DB2-BD59-A6C34878D82A}">
                    <a16:rowId xmlns:a16="http://schemas.microsoft.com/office/drawing/2014/main" val="10010"/>
                  </a:ext>
                </a:extLst>
              </a:tr>
              <a:tr h="370840">
                <a:tc>
                  <a:txBody>
                    <a:bodyPr/>
                    <a:lstStyle/>
                    <a:p>
                      <a:pPr algn="ctr"/>
                      <a:endParaRPr lang="en-US" sz="1200" dirty="0"/>
                    </a:p>
                  </a:txBody>
                  <a:tcPr>
                    <a:solidFill>
                      <a:schemeClr val="tx2">
                        <a:lumMod val="60000"/>
                        <a:lumOff val="40000"/>
                      </a:schemeClr>
                    </a:solidFill>
                  </a:tcPr>
                </a:tc>
                <a:tc>
                  <a:txBody>
                    <a:bodyPr/>
                    <a:lstStyle/>
                    <a:p>
                      <a:pPr algn="ctr"/>
                      <a:r>
                        <a:rPr lang="en-US" sz="1200" dirty="0" smtClean="0"/>
                        <a:t>0x24680975</a:t>
                      </a:r>
                      <a:endParaRPr lang="en-US" sz="1200" dirty="0"/>
                    </a:p>
                  </a:txBody>
                  <a:tcPr>
                    <a:solidFill>
                      <a:schemeClr val="tx2">
                        <a:lumMod val="60000"/>
                        <a:lumOff val="40000"/>
                      </a:schemeClr>
                    </a:solidFill>
                  </a:tcPr>
                </a:tc>
                <a:extLst>
                  <a:ext uri="{0D108BD9-81ED-4DB2-BD59-A6C34878D82A}">
                    <a16:rowId xmlns:a16="http://schemas.microsoft.com/office/drawing/2014/main" val="10011"/>
                  </a:ext>
                </a:extLst>
              </a:tr>
              <a:tr h="370840">
                <a:tc>
                  <a:txBody>
                    <a:bodyPr/>
                    <a:lstStyle/>
                    <a:p>
                      <a:pPr algn="ctr"/>
                      <a:endParaRPr lang="en-US" sz="1200" dirty="0"/>
                    </a:p>
                  </a:txBody>
                  <a:tcPr>
                    <a:solidFill>
                      <a:schemeClr val="tx2">
                        <a:lumMod val="60000"/>
                        <a:lumOff val="40000"/>
                      </a:schemeClr>
                    </a:solidFill>
                  </a:tcPr>
                </a:tc>
                <a:tc>
                  <a:txBody>
                    <a:bodyPr/>
                    <a:lstStyle/>
                    <a:p>
                      <a:pPr algn="ctr"/>
                      <a:r>
                        <a:rPr lang="en-US" sz="1200" dirty="0" smtClean="0"/>
                        <a:t>0x24680976</a:t>
                      </a:r>
                      <a:endParaRPr lang="en-US" sz="1200" dirty="0"/>
                    </a:p>
                  </a:txBody>
                  <a:tcPr>
                    <a:solidFill>
                      <a:schemeClr val="tx2">
                        <a:lumMod val="60000"/>
                        <a:lumOff val="40000"/>
                      </a:schemeClr>
                    </a:solidFill>
                  </a:tcPr>
                </a:tc>
                <a:extLst>
                  <a:ext uri="{0D108BD9-81ED-4DB2-BD59-A6C34878D82A}">
                    <a16:rowId xmlns:a16="http://schemas.microsoft.com/office/drawing/2014/main" val="10012"/>
                  </a:ext>
                </a:extLst>
              </a:tr>
              <a:tr h="370840">
                <a:tc>
                  <a:txBody>
                    <a:bodyPr/>
                    <a:lstStyle/>
                    <a:p>
                      <a:pPr algn="ctr"/>
                      <a:endParaRPr lang="en-US" sz="1200" dirty="0"/>
                    </a:p>
                  </a:txBody>
                  <a:tcPr>
                    <a:solidFill>
                      <a:schemeClr val="tx2">
                        <a:lumMod val="60000"/>
                        <a:lumOff val="40000"/>
                      </a:schemeClr>
                    </a:solidFill>
                  </a:tcPr>
                </a:tc>
                <a:tc>
                  <a:txBody>
                    <a:bodyPr/>
                    <a:lstStyle/>
                    <a:p>
                      <a:pPr algn="ctr"/>
                      <a:r>
                        <a:rPr lang="en-US" sz="1200" dirty="0" smtClean="0"/>
                        <a:t>0x24680977</a:t>
                      </a:r>
                      <a:endParaRPr lang="en-US" sz="1200" dirty="0"/>
                    </a:p>
                  </a:txBody>
                  <a:tcPr>
                    <a:solidFill>
                      <a:schemeClr val="tx2">
                        <a:lumMod val="60000"/>
                        <a:lumOff val="40000"/>
                      </a:schemeClr>
                    </a:solidFill>
                  </a:tcPr>
                </a:tc>
                <a:extLst>
                  <a:ext uri="{0D108BD9-81ED-4DB2-BD59-A6C34878D82A}">
                    <a16:rowId xmlns:a16="http://schemas.microsoft.com/office/drawing/2014/main" val="10013"/>
                  </a:ext>
                </a:extLst>
              </a:tr>
              <a:tr h="370840">
                <a:tc>
                  <a:txBody>
                    <a:bodyPr/>
                    <a:lstStyle/>
                    <a:p>
                      <a:pPr algn="ctr"/>
                      <a:endParaRPr lang="en-US" sz="1200" dirty="0"/>
                    </a:p>
                  </a:txBody>
                  <a:tcPr>
                    <a:solidFill>
                      <a:schemeClr val="tx2">
                        <a:lumMod val="60000"/>
                        <a:lumOff val="40000"/>
                      </a:schemeClr>
                    </a:solidFill>
                  </a:tcPr>
                </a:tc>
                <a:tc>
                  <a:txBody>
                    <a:bodyPr/>
                    <a:lstStyle/>
                    <a:p>
                      <a:pPr algn="ctr"/>
                      <a:r>
                        <a:rPr lang="en-US" sz="1200" dirty="0" smtClean="0"/>
                        <a:t>0x24680978</a:t>
                      </a:r>
                      <a:endParaRPr lang="en-US" sz="1200" dirty="0"/>
                    </a:p>
                  </a:txBody>
                  <a:tcPr>
                    <a:solidFill>
                      <a:schemeClr val="tx2">
                        <a:lumMod val="60000"/>
                        <a:lumOff val="40000"/>
                      </a:schemeClr>
                    </a:solidFill>
                  </a:tcPr>
                </a:tc>
                <a:extLst>
                  <a:ext uri="{0D108BD9-81ED-4DB2-BD59-A6C34878D82A}">
                    <a16:rowId xmlns:a16="http://schemas.microsoft.com/office/drawing/2014/main" val="10014"/>
                  </a:ext>
                </a:extLst>
              </a:tr>
            </a:tbl>
          </a:graphicData>
        </a:graphic>
      </p:graphicFrame>
      <p:sp>
        <p:nvSpPr>
          <p:cNvPr id="6" name="Footer Placeholder 5"/>
          <p:cNvSpPr>
            <a:spLocks noGrp="1"/>
          </p:cNvSpPr>
          <p:nvPr>
            <p:ph type="ftr" sz="quarter" idx="11"/>
          </p:nvPr>
        </p:nvSpPr>
        <p:spPr/>
        <p:txBody>
          <a:bodyPr/>
          <a:lstStyle/>
          <a:p>
            <a:pPr>
              <a:defRPr/>
            </a:pPr>
            <a:r>
              <a:rPr lang="en-US" smtClean="0"/>
              <a:t>Bilgisayar Programlama 1</a:t>
            </a:r>
            <a:endParaRPr lang="en-US"/>
          </a:p>
        </p:txBody>
      </p:sp>
      <p:sp>
        <p:nvSpPr>
          <p:cNvPr id="7" name="Slide Number Placeholder 6"/>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C6E90D9-49C2-47CE-9C9C-7042236D32F0}" type="slidenum">
              <a:rPr lang="en-US" altLang="tr-TR">
                <a:solidFill>
                  <a:srgbClr val="898989"/>
                </a:solidFill>
              </a:rPr>
              <a:pPr/>
              <a:t>9</a:t>
            </a:fld>
            <a:endParaRPr lang="en-US" altLang="tr-TR">
              <a:solidFill>
                <a:srgbClr val="898989"/>
              </a:solidFill>
            </a:endParaRPr>
          </a:p>
        </p:txBody>
      </p:sp>
    </p:spTree>
    <p:extLst>
      <p:ext uri="{BB962C8B-B14F-4D97-AF65-F5344CB8AC3E}">
        <p14:creationId xmlns:p14="http://schemas.microsoft.com/office/powerpoint/2010/main" val="734585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tr-TR" dirty="0" smtClean="0"/>
              <a:t>Array –</a:t>
            </a:r>
            <a:r>
              <a:rPr lang="tr-TR" altLang="tr-TR" dirty="0" smtClean="0"/>
              <a:t> bir elemana </a:t>
            </a:r>
            <a:r>
              <a:rPr lang="tr-TR" altLang="tr-TR" dirty="0" err="1" smtClean="0"/>
              <a:t>ulasma</a:t>
            </a:r>
            <a:endParaRPr lang="en-US" altLang="tr-TR" dirty="0" smtClean="0"/>
          </a:p>
        </p:txBody>
      </p:sp>
      <p:sp>
        <p:nvSpPr>
          <p:cNvPr id="3" name="Content Placeholder 2"/>
          <p:cNvSpPr>
            <a:spLocks noGrp="1"/>
          </p:cNvSpPr>
          <p:nvPr>
            <p:ph idx="1"/>
          </p:nvPr>
        </p:nvSpPr>
        <p:spPr/>
        <p:txBody>
          <a:bodyPr rtlCol="0">
            <a:normAutofit fontScale="92500" lnSpcReduction="20000"/>
          </a:bodyPr>
          <a:lstStyle/>
          <a:p>
            <a:pPr>
              <a:buNone/>
              <a:defRPr/>
            </a:pPr>
            <a:r>
              <a:rPr lang="en-US" dirty="0" err="1" smtClean="0"/>
              <a:t>int</a:t>
            </a:r>
            <a:r>
              <a:rPr lang="en-US" dirty="0" smtClean="0"/>
              <a:t> A[6];</a:t>
            </a:r>
          </a:p>
          <a:p>
            <a:pPr>
              <a:buNone/>
              <a:defRPr/>
            </a:pPr>
            <a:endParaRPr lang="en-US" dirty="0"/>
          </a:p>
          <a:p>
            <a:pPr>
              <a:buNone/>
              <a:defRPr/>
            </a:pPr>
            <a:endParaRPr lang="en-US" dirty="0" smtClean="0"/>
          </a:p>
          <a:p>
            <a:pPr>
              <a:buNone/>
              <a:defRPr/>
            </a:pPr>
            <a:endParaRPr lang="en-US" dirty="0" smtClean="0"/>
          </a:p>
          <a:p>
            <a:pPr>
              <a:buNone/>
              <a:defRPr/>
            </a:pPr>
            <a:r>
              <a:rPr lang="en-US" dirty="0" smtClean="0"/>
              <a:t>6 </a:t>
            </a:r>
            <a:r>
              <a:rPr lang="tr-TR" dirty="0" smtClean="0"/>
              <a:t>eleman</a:t>
            </a:r>
            <a:r>
              <a:rPr lang="en-US" dirty="0" smtClean="0"/>
              <a:t> </a:t>
            </a:r>
            <a:r>
              <a:rPr lang="tr-TR" dirty="0" smtClean="0"/>
              <a:t>her biri 4 bayt</a:t>
            </a:r>
          </a:p>
          <a:p>
            <a:pPr>
              <a:buNone/>
              <a:defRPr/>
            </a:pPr>
            <a:r>
              <a:rPr lang="en-US" dirty="0" smtClean="0"/>
              <a:t/>
            </a:r>
            <a:br>
              <a:rPr lang="en-US" dirty="0" smtClean="0"/>
            </a:br>
            <a:r>
              <a:rPr lang="tr-TR" dirty="0" smtClean="0"/>
              <a:t>toplam büyüklük</a:t>
            </a:r>
            <a:r>
              <a:rPr lang="en-US" dirty="0" smtClean="0"/>
              <a:t>= 6 x 4 = 24 </a:t>
            </a:r>
            <a:r>
              <a:rPr lang="tr-TR" dirty="0" smtClean="0"/>
              <a:t>bayt </a:t>
            </a:r>
            <a:endParaRPr lang="en-US" dirty="0" smtClean="0"/>
          </a:p>
          <a:p>
            <a:pPr>
              <a:buNone/>
              <a:defRPr/>
            </a:pPr>
            <a:endParaRPr lang="en-US" dirty="0" smtClean="0"/>
          </a:p>
          <a:p>
            <a:pPr>
              <a:buNone/>
              <a:defRPr/>
            </a:pPr>
            <a:r>
              <a:rPr lang="tr-TR" dirty="0" smtClean="0"/>
              <a:t>    Okuma </a:t>
            </a:r>
            <a:endParaRPr lang="en-US" dirty="0" smtClean="0"/>
          </a:p>
          <a:p>
            <a:pPr>
              <a:buNone/>
              <a:defRPr/>
            </a:pPr>
            <a:r>
              <a:rPr lang="en-US" dirty="0" smtClean="0"/>
              <a:t/>
            </a:r>
            <a:br>
              <a:rPr lang="en-US" dirty="0" smtClean="0"/>
            </a:br>
            <a:r>
              <a:rPr lang="tr-TR" dirty="0"/>
              <a:t>Y</a:t>
            </a:r>
            <a:r>
              <a:rPr lang="tr-TR" dirty="0" smtClean="0"/>
              <a:t>azma </a:t>
            </a:r>
            <a:r>
              <a:rPr lang="en-US" dirty="0" smtClean="0"/>
              <a:t/>
            </a:r>
            <a:br>
              <a:rPr lang="en-US" dirty="0" smtClean="0"/>
            </a:br>
            <a:endParaRPr lang="en-US" dirty="0" smtClean="0"/>
          </a:p>
        </p:txBody>
      </p:sp>
      <p:graphicFrame>
        <p:nvGraphicFramePr>
          <p:cNvPr id="4" name="Table 3"/>
          <p:cNvGraphicFramePr>
            <a:graphicFrameLocks noGrp="1"/>
          </p:cNvGraphicFramePr>
          <p:nvPr/>
        </p:nvGraphicFramePr>
        <p:xfrm>
          <a:off x="3200400" y="1935163"/>
          <a:ext cx="6096000" cy="1112838"/>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946">
                <a:tc>
                  <a:txBody>
                    <a:bodyPr/>
                    <a:lstStyle/>
                    <a:p>
                      <a:pPr algn="ctr"/>
                      <a:r>
                        <a:rPr lang="en-US" sz="1800" dirty="0" smtClean="0"/>
                        <a:t>A[0]</a:t>
                      </a:r>
                      <a:endParaRPr lang="en-US" sz="1800" dirty="0"/>
                    </a:p>
                  </a:txBody>
                  <a:tcPr marT="45733" marB="45733"/>
                </a:tc>
                <a:tc>
                  <a:txBody>
                    <a:bodyPr/>
                    <a:lstStyle/>
                    <a:p>
                      <a:pPr algn="ctr"/>
                      <a:r>
                        <a:rPr lang="en-US" sz="1800" smtClean="0"/>
                        <a:t>A[1</a:t>
                      </a:r>
                      <a:r>
                        <a:rPr lang="en-US" sz="1800" dirty="0" smtClean="0"/>
                        <a:t>]</a:t>
                      </a:r>
                      <a:endParaRPr lang="en-US" sz="1800" dirty="0"/>
                    </a:p>
                  </a:txBody>
                  <a:tcPr marT="45733" marB="45733"/>
                </a:tc>
                <a:tc>
                  <a:txBody>
                    <a:bodyPr/>
                    <a:lstStyle/>
                    <a:p>
                      <a:pPr algn="ctr"/>
                      <a:r>
                        <a:rPr lang="en-US" sz="1800" smtClean="0"/>
                        <a:t>A[2</a:t>
                      </a:r>
                      <a:r>
                        <a:rPr lang="en-US" sz="1800" dirty="0" smtClean="0"/>
                        <a:t>]</a:t>
                      </a:r>
                      <a:endParaRPr lang="en-US" sz="1800" dirty="0"/>
                    </a:p>
                  </a:txBody>
                  <a:tcPr marT="45733" marB="45733"/>
                </a:tc>
                <a:tc>
                  <a:txBody>
                    <a:bodyPr/>
                    <a:lstStyle/>
                    <a:p>
                      <a:pPr algn="ctr"/>
                      <a:r>
                        <a:rPr lang="en-US" sz="1800" dirty="0" smtClean="0"/>
                        <a:t>A[3]</a:t>
                      </a:r>
                      <a:endParaRPr lang="en-US" sz="1800" dirty="0"/>
                    </a:p>
                  </a:txBody>
                  <a:tcPr marT="45733" marB="45733"/>
                </a:tc>
                <a:tc>
                  <a:txBody>
                    <a:bodyPr/>
                    <a:lstStyle/>
                    <a:p>
                      <a:pPr algn="ctr"/>
                      <a:r>
                        <a:rPr lang="en-US" sz="1800" smtClean="0"/>
                        <a:t>A[4</a:t>
                      </a:r>
                      <a:r>
                        <a:rPr lang="en-US" sz="1800" dirty="0" smtClean="0"/>
                        <a:t>]</a:t>
                      </a:r>
                      <a:endParaRPr lang="en-US" sz="1800" dirty="0"/>
                    </a:p>
                  </a:txBody>
                  <a:tcPr marT="45733" marB="45733"/>
                </a:tc>
                <a:tc>
                  <a:txBody>
                    <a:bodyPr/>
                    <a:lstStyle/>
                    <a:p>
                      <a:pPr algn="ctr"/>
                      <a:r>
                        <a:rPr lang="en-US" sz="1800" smtClean="0"/>
                        <a:t>A[5</a:t>
                      </a:r>
                      <a:r>
                        <a:rPr lang="en-US" sz="1800" dirty="0" smtClean="0"/>
                        <a:t>]</a:t>
                      </a:r>
                      <a:endParaRPr lang="en-US" sz="1800" dirty="0"/>
                    </a:p>
                  </a:txBody>
                  <a:tcPr marT="45733" marB="45733"/>
                </a:tc>
                <a:extLst>
                  <a:ext uri="{0D108BD9-81ED-4DB2-BD59-A6C34878D82A}">
                    <a16:rowId xmlns:a16="http://schemas.microsoft.com/office/drawing/2014/main" val="10000"/>
                  </a:ext>
                </a:extLst>
              </a:tr>
              <a:tr h="370946">
                <a:tc>
                  <a:txBody>
                    <a:bodyPr/>
                    <a:lstStyle/>
                    <a:p>
                      <a:pPr algn="ctr"/>
                      <a:r>
                        <a:rPr lang="en-US" sz="1800" dirty="0" smtClean="0"/>
                        <a:t>0x1000</a:t>
                      </a:r>
                      <a:endParaRPr lang="en-US" sz="1800" dirty="0"/>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0x1004</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0x1008</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0x1012</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0x1016</a:t>
                      </a:r>
                      <a:endParaRPr lang="en-US" sz="1800" dirty="0"/>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0x1020</a:t>
                      </a:r>
                    </a:p>
                  </a:txBody>
                  <a:tcPr marT="45733" marB="45733"/>
                </a:tc>
                <a:extLst>
                  <a:ext uri="{0D108BD9-81ED-4DB2-BD59-A6C34878D82A}">
                    <a16:rowId xmlns:a16="http://schemas.microsoft.com/office/drawing/2014/main" val="10001"/>
                  </a:ext>
                </a:extLst>
              </a:tr>
              <a:tr h="370946">
                <a:tc>
                  <a:txBody>
                    <a:bodyPr/>
                    <a:lstStyle/>
                    <a:p>
                      <a:pPr algn="ctr"/>
                      <a:r>
                        <a:rPr lang="en-US" sz="1800" dirty="0" smtClean="0"/>
                        <a:t>6</a:t>
                      </a:r>
                      <a:endParaRPr lang="en-US" sz="1800" dirty="0"/>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5</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4</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3</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2</a:t>
                      </a:r>
                      <a:endParaRPr lang="en-US" sz="1800" dirty="0"/>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a:t>
                      </a:r>
                    </a:p>
                  </a:txBody>
                  <a:tcPr marT="45733" marB="45733"/>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pPr>
              <a:defRPr/>
            </a:pPr>
            <a:r>
              <a:rPr lang="en-US" smtClean="0"/>
              <a:t>Bilgisayar Programlama 1</a:t>
            </a:r>
            <a:endParaRPr lang="en-US"/>
          </a:p>
        </p:txBody>
      </p:sp>
      <p:sp>
        <p:nvSpPr>
          <p:cNvPr id="6" name="Slide Number Placeholder 5"/>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E955291-D1D7-44AD-9570-DF7C40B8C6BC}" type="slidenum">
              <a:rPr lang="en-US" altLang="tr-TR">
                <a:solidFill>
                  <a:srgbClr val="898989"/>
                </a:solidFill>
              </a:rPr>
              <a:pPr/>
              <a:t>10</a:t>
            </a:fld>
            <a:endParaRPr lang="en-US" altLang="tr-TR">
              <a:solidFill>
                <a:srgbClr val="898989"/>
              </a:solidFill>
            </a:endParaRPr>
          </a:p>
        </p:txBody>
      </p:sp>
      <p:sp>
        <p:nvSpPr>
          <p:cNvPr id="7" name="TextBox 6"/>
          <p:cNvSpPr txBox="1">
            <a:spLocks noChangeArrowheads="1"/>
          </p:cNvSpPr>
          <p:nvPr/>
        </p:nvSpPr>
        <p:spPr bwMode="auto">
          <a:xfrm>
            <a:off x="2990973" y="4725332"/>
            <a:ext cx="1544638" cy="36988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int tmp = A[2];</a:t>
            </a:r>
          </a:p>
        </p:txBody>
      </p:sp>
      <p:sp>
        <p:nvSpPr>
          <p:cNvPr id="8" name="TextBox 7"/>
          <p:cNvSpPr txBox="1">
            <a:spLocks noChangeArrowheads="1"/>
          </p:cNvSpPr>
          <p:nvPr/>
        </p:nvSpPr>
        <p:spPr bwMode="auto">
          <a:xfrm>
            <a:off x="3037788" y="5356294"/>
            <a:ext cx="976313" cy="36988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A[3] = 5;</a:t>
            </a:r>
          </a:p>
        </p:txBody>
      </p:sp>
    </p:spTree>
    <p:extLst>
      <p:ext uri="{BB962C8B-B14F-4D97-AF65-F5344CB8AC3E}">
        <p14:creationId xmlns:p14="http://schemas.microsoft.com/office/powerpoint/2010/main" val="28115473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820467" y="-271826"/>
            <a:ext cx="10058400" cy="1609344"/>
          </a:xfrm>
        </p:spPr>
        <p:txBody>
          <a:bodyPr/>
          <a:lstStyle/>
          <a:p>
            <a:r>
              <a:rPr lang="en-US" altLang="tr-TR" dirty="0" smtClean="0"/>
              <a:t>Strings</a:t>
            </a:r>
          </a:p>
        </p:txBody>
      </p:sp>
      <p:sp>
        <p:nvSpPr>
          <p:cNvPr id="3" name="Content Placeholder 2"/>
          <p:cNvSpPr>
            <a:spLocks noGrp="1"/>
          </p:cNvSpPr>
          <p:nvPr>
            <p:ph idx="1"/>
          </p:nvPr>
        </p:nvSpPr>
        <p:spPr>
          <a:xfrm>
            <a:off x="1981200" y="1219200"/>
            <a:ext cx="8229600" cy="5181600"/>
          </a:xfrm>
        </p:spPr>
        <p:txBody>
          <a:bodyPr/>
          <a:lstStyle/>
          <a:p>
            <a:endParaRPr lang="en-US" altLang="tr-TR" sz="2400" dirty="0"/>
          </a:p>
        </p:txBody>
      </p:sp>
      <p:pic>
        <p:nvPicPr>
          <p:cNvPr id="4" name="Picture 3" descr="5_string.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486150"/>
            <a:ext cx="7310438"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1"/>
          </p:nvPr>
        </p:nvSpPr>
        <p:spPr/>
        <p:txBody>
          <a:bodyPr/>
          <a:lstStyle/>
          <a:p>
            <a:pPr>
              <a:defRPr/>
            </a:pPr>
            <a:r>
              <a:rPr lang="en-US" smtClean="0"/>
              <a:t>Bilgisayar Programlama 1</a:t>
            </a:r>
            <a:endParaRPr lang="en-US" dirty="0"/>
          </a:p>
        </p:txBody>
      </p:sp>
      <p:sp>
        <p:nvSpPr>
          <p:cNvPr id="6" name="Slide Number Placeholder 5"/>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B858B59-0D4D-49FA-B889-BA9A9E155396}" type="slidenum">
              <a:rPr lang="en-US" altLang="tr-TR">
                <a:solidFill>
                  <a:srgbClr val="898989"/>
                </a:solidFill>
              </a:rPr>
              <a:pPr/>
              <a:t>11</a:t>
            </a:fld>
            <a:endParaRPr lang="en-US" altLang="tr-TR">
              <a:solidFill>
                <a:srgbClr val="898989"/>
              </a:solidFill>
            </a:endParaRPr>
          </a:p>
        </p:txBody>
      </p:sp>
      <p:sp>
        <p:nvSpPr>
          <p:cNvPr id="7" name="TextBox 6"/>
          <p:cNvSpPr txBox="1">
            <a:spLocks noChangeArrowheads="1"/>
          </p:cNvSpPr>
          <p:nvPr/>
        </p:nvSpPr>
        <p:spPr bwMode="auto">
          <a:xfrm>
            <a:off x="2667000" y="2514601"/>
            <a:ext cx="2850589" cy="36933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dirty="0"/>
              <a:t>char string[] = “hello world</a:t>
            </a:r>
            <a:r>
              <a:rPr lang="en-US" altLang="tr-TR" dirty="0" smtClean="0"/>
              <a:t>”;</a:t>
            </a:r>
            <a:endParaRPr lang="en-US" altLang="tr-TR" dirty="0"/>
          </a:p>
        </p:txBody>
      </p:sp>
    </p:spTree>
    <p:extLst>
      <p:ext uri="{BB962C8B-B14F-4D97-AF65-F5344CB8AC3E}">
        <p14:creationId xmlns:p14="http://schemas.microsoft.com/office/powerpoint/2010/main" val="1370843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tr-TR" dirty="0" smtClean="0"/>
              <a:t>NULL character ‘\0’</a:t>
            </a:r>
          </a:p>
        </p:txBody>
      </p:sp>
      <p:sp>
        <p:nvSpPr>
          <p:cNvPr id="3" name="Content Placeholder 2"/>
          <p:cNvSpPr>
            <a:spLocks noGrp="1"/>
          </p:cNvSpPr>
          <p:nvPr>
            <p:ph idx="1"/>
          </p:nvPr>
        </p:nvSpPr>
        <p:spPr/>
        <p:txBody>
          <a:bodyPr rtlCol="0">
            <a:normAutofit/>
          </a:bodyPr>
          <a:lstStyle/>
          <a:p>
            <a:pPr>
              <a:buNone/>
              <a:defRPr/>
            </a:pPr>
            <a:endParaRPr lang="en-US" dirty="0" smtClean="0"/>
          </a:p>
          <a:p>
            <a:pPr>
              <a:buNone/>
              <a:defRPr/>
            </a:pPr>
            <a:endParaRPr lang="en-US" dirty="0" smtClean="0"/>
          </a:p>
          <a:p>
            <a:pPr>
              <a:defRPr/>
            </a:pPr>
            <a:r>
              <a:rPr lang="tr-TR" dirty="0" err="1" smtClean="0"/>
              <a:t>String</a:t>
            </a:r>
            <a:r>
              <a:rPr lang="tr-TR" dirty="0" smtClean="0"/>
              <a:t> in nerede son bulduğunu belirtir</a:t>
            </a:r>
            <a:endParaRPr lang="en-US" dirty="0" smtClean="0"/>
          </a:p>
          <a:p>
            <a:pPr>
              <a:defRPr/>
            </a:pPr>
            <a:r>
              <a:rPr lang="en-US" dirty="0" smtClean="0"/>
              <a:t>‘\0’ </a:t>
            </a:r>
            <a:r>
              <a:rPr lang="tr-TR" dirty="0" err="1" smtClean="0"/>
              <a:t>null</a:t>
            </a:r>
            <a:r>
              <a:rPr lang="tr-TR" dirty="0" smtClean="0"/>
              <a:t> karakter bunu belirtir.</a:t>
            </a:r>
            <a:endParaRPr lang="en-US" dirty="0" smtClean="0"/>
          </a:p>
        </p:txBody>
      </p:sp>
      <p:sp>
        <p:nvSpPr>
          <p:cNvPr id="4" name="Footer Placeholder 3"/>
          <p:cNvSpPr>
            <a:spLocks noGrp="1"/>
          </p:cNvSpPr>
          <p:nvPr>
            <p:ph type="ftr" sz="quarter" idx="11"/>
          </p:nvPr>
        </p:nvSpPr>
        <p:spPr/>
        <p:txBody>
          <a:bodyPr/>
          <a:lstStyle/>
          <a:p>
            <a:pPr>
              <a:defRPr/>
            </a:pPr>
            <a:r>
              <a:rPr lang="en-US" smtClean="0"/>
              <a:t>Bilgisayar Programlama 1</a:t>
            </a:r>
            <a:endParaRPr lang="en-US"/>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1FE400BA-5B9F-4070-B725-213439AF4435}" type="slidenum">
              <a:rPr lang="en-US" altLang="tr-TR">
                <a:solidFill>
                  <a:srgbClr val="898989"/>
                </a:solidFill>
              </a:rPr>
              <a:pPr/>
              <a:t>12</a:t>
            </a:fld>
            <a:endParaRPr lang="en-US" altLang="tr-TR">
              <a:solidFill>
                <a:srgbClr val="898989"/>
              </a:solidFill>
            </a:endParaRPr>
          </a:p>
        </p:txBody>
      </p:sp>
      <p:sp>
        <p:nvSpPr>
          <p:cNvPr id="6" name="TextBox 5"/>
          <p:cNvSpPr txBox="1">
            <a:spLocks noChangeArrowheads="1"/>
          </p:cNvSpPr>
          <p:nvPr/>
        </p:nvSpPr>
        <p:spPr bwMode="auto">
          <a:xfrm>
            <a:off x="2826385" y="2194560"/>
            <a:ext cx="2851150" cy="64611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a:t>char string[] = “hello world”;</a:t>
            </a:r>
          </a:p>
          <a:p>
            <a:r>
              <a:rPr lang="en-US" altLang="tr-TR"/>
              <a:t>printf(“%s”, string);</a:t>
            </a:r>
          </a:p>
        </p:txBody>
      </p:sp>
    </p:spTree>
    <p:extLst>
      <p:ext uri="{BB962C8B-B14F-4D97-AF65-F5344CB8AC3E}">
        <p14:creationId xmlns:p14="http://schemas.microsoft.com/office/powerpoint/2010/main" val="18548365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tr-TR" dirty="0" smtClean="0"/>
              <a:t>pointer</a:t>
            </a:r>
          </a:p>
        </p:txBody>
      </p:sp>
      <p:sp>
        <p:nvSpPr>
          <p:cNvPr id="3" name="Content Placeholder 2"/>
          <p:cNvSpPr>
            <a:spLocks noGrp="1"/>
          </p:cNvSpPr>
          <p:nvPr>
            <p:ph idx="1"/>
          </p:nvPr>
        </p:nvSpPr>
        <p:spPr/>
        <p:txBody>
          <a:bodyPr rtlCol="0">
            <a:normAutofit/>
          </a:bodyPr>
          <a:lstStyle/>
          <a:p>
            <a:pPr>
              <a:buNone/>
              <a:defRPr/>
            </a:pPr>
            <a:r>
              <a:rPr lang="en-US" dirty="0" err="1" smtClean="0"/>
              <a:t>int</a:t>
            </a:r>
            <a:r>
              <a:rPr lang="en-US" dirty="0" smtClean="0"/>
              <a:t> x = 1, y = 2, z[10];</a:t>
            </a:r>
          </a:p>
          <a:p>
            <a:pPr>
              <a:buNone/>
              <a:defRPr/>
            </a:pPr>
            <a:r>
              <a:rPr lang="en-US" dirty="0" err="1" smtClean="0"/>
              <a:t>int</a:t>
            </a:r>
            <a:r>
              <a:rPr lang="en-US" dirty="0" smtClean="0"/>
              <a:t> *</a:t>
            </a:r>
            <a:r>
              <a:rPr lang="en-US" dirty="0" err="1" smtClean="0"/>
              <a:t>ip</a:t>
            </a:r>
            <a:r>
              <a:rPr lang="en-US" dirty="0" smtClean="0"/>
              <a:t>;		/* </a:t>
            </a:r>
            <a:r>
              <a:rPr lang="tr-TR" dirty="0" err="1" smtClean="0"/>
              <a:t>integer</a:t>
            </a:r>
            <a:r>
              <a:rPr lang="tr-TR" dirty="0" smtClean="0"/>
              <a:t> </a:t>
            </a:r>
            <a:r>
              <a:rPr lang="tr-TR" dirty="0" err="1" smtClean="0"/>
              <a:t>pointer</a:t>
            </a:r>
            <a:r>
              <a:rPr lang="en-US" dirty="0" smtClean="0"/>
              <a:t>*/</a:t>
            </a:r>
          </a:p>
          <a:p>
            <a:pPr>
              <a:buNone/>
              <a:defRPr/>
            </a:pPr>
            <a:endParaRPr lang="en-US" dirty="0" smtClean="0"/>
          </a:p>
          <a:p>
            <a:pPr>
              <a:buNone/>
              <a:defRPr/>
            </a:pPr>
            <a:r>
              <a:rPr lang="en-US" dirty="0" err="1" smtClean="0"/>
              <a:t>ip</a:t>
            </a:r>
            <a:r>
              <a:rPr lang="en-US" dirty="0" smtClean="0"/>
              <a:t> = &amp;x;		/* x</a:t>
            </a:r>
            <a:r>
              <a:rPr lang="tr-TR" dirty="0" smtClean="0"/>
              <a:t> in adresi </a:t>
            </a:r>
            <a:r>
              <a:rPr lang="en-US" dirty="0" smtClean="0"/>
              <a:t> */</a:t>
            </a:r>
          </a:p>
          <a:p>
            <a:pPr>
              <a:buNone/>
              <a:defRPr/>
            </a:pPr>
            <a:r>
              <a:rPr lang="en-US" dirty="0" smtClean="0"/>
              <a:t>y = *</a:t>
            </a:r>
            <a:r>
              <a:rPr lang="en-US" dirty="0" err="1" smtClean="0"/>
              <a:t>ip</a:t>
            </a:r>
            <a:r>
              <a:rPr lang="en-US" dirty="0" smtClean="0"/>
              <a:t>;		/* </a:t>
            </a:r>
            <a:r>
              <a:rPr lang="tr-TR" dirty="0" smtClean="0"/>
              <a:t>ip </a:t>
            </a:r>
            <a:r>
              <a:rPr lang="tr-TR" dirty="0" err="1" smtClean="0"/>
              <a:t>nin</a:t>
            </a:r>
            <a:r>
              <a:rPr lang="tr-TR" dirty="0" smtClean="0"/>
              <a:t> değeri </a:t>
            </a:r>
            <a:r>
              <a:rPr lang="en-US" dirty="0" smtClean="0"/>
              <a:t>*</a:t>
            </a:r>
            <a:r>
              <a:rPr lang="tr-TR" dirty="0" smtClean="0"/>
              <a:t>  y =1 oldu</a:t>
            </a:r>
            <a:r>
              <a:rPr lang="en-US" dirty="0" smtClean="0"/>
              <a:t>/</a:t>
            </a:r>
            <a:r>
              <a:rPr lang="tr-TR" dirty="0" smtClean="0"/>
              <a:t> </a:t>
            </a:r>
            <a:endParaRPr lang="en-US" dirty="0" smtClean="0"/>
          </a:p>
          <a:p>
            <a:pPr>
              <a:buNone/>
              <a:defRPr/>
            </a:pPr>
            <a:r>
              <a:rPr lang="en-US" dirty="0" smtClean="0"/>
              <a:t>*</a:t>
            </a:r>
            <a:r>
              <a:rPr lang="en-US" dirty="0" err="1" smtClean="0"/>
              <a:t>ip</a:t>
            </a:r>
            <a:r>
              <a:rPr lang="en-US" dirty="0" smtClean="0"/>
              <a:t> = 0;		/* </a:t>
            </a:r>
            <a:r>
              <a:rPr lang="tr-TR" dirty="0" smtClean="0"/>
              <a:t>ip nin gösterdiği yere değer atama  x=0 oldu </a:t>
            </a:r>
            <a:r>
              <a:rPr lang="en-US" dirty="0" smtClean="0"/>
              <a:t>*/</a:t>
            </a:r>
          </a:p>
          <a:p>
            <a:pPr>
              <a:buNone/>
              <a:defRPr/>
            </a:pPr>
            <a:r>
              <a:rPr lang="en-US" dirty="0" err="1" smtClean="0"/>
              <a:t>ip</a:t>
            </a:r>
            <a:r>
              <a:rPr lang="en-US" dirty="0" smtClean="0"/>
              <a:t> = &amp;z[0];		/* </a:t>
            </a:r>
            <a:r>
              <a:rPr lang="tr-TR" dirty="0" smtClean="0"/>
              <a:t>z dizisinin ilk elemanının adresi </a:t>
            </a:r>
            <a:r>
              <a:rPr lang="en-US" dirty="0" smtClean="0"/>
              <a:t>*/</a:t>
            </a:r>
          </a:p>
        </p:txBody>
      </p:sp>
      <p:sp>
        <p:nvSpPr>
          <p:cNvPr id="4" name="Footer Placeholder 3"/>
          <p:cNvSpPr>
            <a:spLocks noGrp="1"/>
          </p:cNvSpPr>
          <p:nvPr>
            <p:ph type="ftr" sz="quarter" idx="11"/>
          </p:nvPr>
        </p:nvSpPr>
        <p:spPr/>
        <p:txBody>
          <a:bodyPr/>
          <a:lstStyle/>
          <a:p>
            <a:pPr>
              <a:defRPr/>
            </a:pPr>
            <a:r>
              <a:rPr lang="en-US" smtClean="0"/>
              <a:t>Bilgisayar Programlama 1</a:t>
            </a:r>
            <a:endParaRPr lang="en-US"/>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9A61D46-6B6B-416A-A71E-054402338BA0}" type="slidenum">
              <a:rPr lang="en-US" altLang="tr-TR">
                <a:solidFill>
                  <a:srgbClr val="898989"/>
                </a:solidFill>
              </a:rPr>
              <a:pPr/>
              <a:t>13</a:t>
            </a:fld>
            <a:endParaRPr lang="en-US" altLang="tr-TR">
              <a:solidFill>
                <a:srgbClr val="898989"/>
              </a:solidFill>
            </a:endParaRPr>
          </a:p>
        </p:txBody>
      </p:sp>
    </p:spTree>
    <p:extLst>
      <p:ext uri="{BB962C8B-B14F-4D97-AF65-F5344CB8AC3E}">
        <p14:creationId xmlns:p14="http://schemas.microsoft.com/office/powerpoint/2010/main" val="29252980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Kendiniz de deneyin lütfen</a:t>
            </a:r>
            <a:endParaRPr lang="tr-TR" dirty="0"/>
          </a:p>
        </p:txBody>
      </p:sp>
      <p:sp>
        <p:nvSpPr>
          <p:cNvPr id="3" name="İçerik Yer Tutucusu 2"/>
          <p:cNvSpPr>
            <a:spLocks noGrp="1"/>
          </p:cNvSpPr>
          <p:nvPr>
            <p:ph idx="1"/>
          </p:nvPr>
        </p:nvSpPr>
        <p:spPr/>
        <p:txBody>
          <a:bodyPr>
            <a:normAutofit fontScale="70000" lnSpcReduction="20000"/>
          </a:bodyPr>
          <a:lstStyle/>
          <a:p>
            <a:r>
              <a:rPr lang="tr-TR" dirty="0" err="1"/>
              <a:t>int</a:t>
            </a:r>
            <a:r>
              <a:rPr lang="tr-TR" dirty="0"/>
              <a:t> main() </a:t>
            </a:r>
          </a:p>
          <a:p>
            <a:r>
              <a:rPr lang="tr-TR" dirty="0"/>
              <a:t>{ </a:t>
            </a:r>
          </a:p>
          <a:p>
            <a:endParaRPr lang="tr-TR" dirty="0"/>
          </a:p>
          <a:p>
            <a:r>
              <a:rPr lang="tr-TR" dirty="0" err="1"/>
              <a:t>int</a:t>
            </a:r>
            <a:r>
              <a:rPr lang="tr-TR" dirty="0"/>
              <a:t> x = 1, y = 2, z[10];</a:t>
            </a:r>
          </a:p>
          <a:p>
            <a:r>
              <a:rPr lang="tr-TR" dirty="0" err="1"/>
              <a:t>int</a:t>
            </a:r>
            <a:r>
              <a:rPr lang="tr-TR" dirty="0"/>
              <a:t> *ip;		/* </a:t>
            </a:r>
            <a:r>
              <a:rPr lang="tr-TR" dirty="0" err="1"/>
              <a:t>integer</a:t>
            </a:r>
            <a:r>
              <a:rPr lang="tr-TR" dirty="0"/>
              <a:t> </a:t>
            </a:r>
            <a:r>
              <a:rPr lang="tr-TR" dirty="0" err="1"/>
              <a:t>pointer</a:t>
            </a:r>
            <a:r>
              <a:rPr lang="tr-TR" dirty="0"/>
              <a:t>*/</a:t>
            </a:r>
          </a:p>
          <a:p>
            <a:endParaRPr lang="tr-TR" dirty="0"/>
          </a:p>
          <a:p>
            <a:r>
              <a:rPr lang="tr-TR" dirty="0"/>
              <a:t>ip = &amp;x;		/* x in adresi  */</a:t>
            </a:r>
          </a:p>
          <a:p>
            <a:r>
              <a:rPr lang="tr-TR" dirty="0" err="1"/>
              <a:t>printf</a:t>
            </a:r>
            <a:r>
              <a:rPr lang="tr-TR" dirty="0"/>
              <a:t>( "\n x=%d  y=%d ip </a:t>
            </a:r>
            <a:r>
              <a:rPr lang="tr-TR" dirty="0" err="1"/>
              <a:t>degeri</a:t>
            </a:r>
            <a:r>
              <a:rPr lang="tr-TR" dirty="0"/>
              <a:t>=%d", </a:t>
            </a:r>
            <a:r>
              <a:rPr lang="tr-TR" dirty="0" err="1"/>
              <a:t>x,y</a:t>
            </a:r>
            <a:r>
              <a:rPr lang="tr-TR" dirty="0"/>
              <a:t>,*ip);</a:t>
            </a:r>
          </a:p>
          <a:p>
            <a:r>
              <a:rPr lang="tr-TR" dirty="0"/>
              <a:t>y = *ip;		/* ip </a:t>
            </a:r>
            <a:r>
              <a:rPr lang="tr-TR" dirty="0" err="1"/>
              <a:t>nin</a:t>
            </a:r>
            <a:r>
              <a:rPr lang="tr-TR" dirty="0"/>
              <a:t> değeri *  y 1 oldu*/ </a:t>
            </a:r>
          </a:p>
          <a:p>
            <a:r>
              <a:rPr lang="tr-TR" dirty="0" err="1"/>
              <a:t>printf</a:t>
            </a:r>
            <a:r>
              <a:rPr lang="tr-TR" dirty="0"/>
              <a:t>( "\n x=%d  y=%d ip </a:t>
            </a:r>
            <a:r>
              <a:rPr lang="tr-TR" dirty="0" err="1"/>
              <a:t>degeri</a:t>
            </a:r>
            <a:r>
              <a:rPr lang="tr-TR" dirty="0"/>
              <a:t>=%d", </a:t>
            </a:r>
            <a:r>
              <a:rPr lang="tr-TR" dirty="0" err="1"/>
              <a:t>x,y</a:t>
            </a:r>
            <a:r>
              <a:rPr lang="tr-TR" dirty="0"/>
              <a:t>,*ip);</a:t>
            </a:r>
          </a:p>
          <a:p>
            <a:r>
              <a:rPr lang="tr-TR" dirty="0"/>
              <a:t>*ip = 0;		/* ip </a:t>
            </a:r>
            <a:r>
              <a:rPr lang="tr-TR" dirty="0" err="1"/>
              <a:t>nin</a:t>
            </a:r>
            <a:r>
              <a:rPr lang="tr-TR" dirty="0"/>
              <a:t> gösterdiği yere değer atama  x 0 oldu */</a:t>
            </a:r>
          </a:p>
          <a:p>
            <a:r>
              <a:rPr lang="tr-TR" dirty="0" err="1"/>
              <a:t>printf</a:t>
            </a:r>
            <a:r>
              <a:rPr lang="tr-TR" dirty="0"/>
              <a:t>( "\n x=%d  y=%d ip </a:t>
            </a:r>
            <a:r>
              <a:rPr lang="tr-TR" dirty="0" err="1"/>
              <a:t>degeri</a:t>
            </a:r>
            <a:r>
              <a:rPr lang="tr-TR" dirty="0"/>
              <a:t>=%d", </a:t>
            </a:r>
            <a:r>
              <a:rPr lang="tr-TR" dirty="0" err="1"/>
              <a:t>x,y</a:t>
            </a:r>
            <a:r>
              <a:rPr lang="tr-TR" dirty="0"/>
              <a:t>,*ip);</a:t>
            </a:r>
          </a:p>
          <a:p>
            <a:r>
              <a:rPr lang="tr-TR" dirty="0"/>
              <a:t>ip = &amp;z[0];		/* z dizisinin ilk elemanının adresi */}</a:t>
            </a:r>
          </a:p>
        </p:txBody>
      </p:sp>
      <p:sp>
        <p:nvSpPr>
          <p:cNvPr id="4" name="Altbilgi Yer Tutucusu 3"/>
          <p:cNvSpPr>
            <a:spLocks noGrp="1"/>
          </p:cNvSpPr>
          <p:nvPr>
            <p:ph type="ftr" sz="quarter" idx="11"/>
          </p:nvPr>
        </p:nvSpPr>
        <p:spPr/>
        <p:txBody>
          <a:bodyPr/>
          <a:lstStyle/>
          <a:p>
            <a:r>
              <a:rPr lang="en-US" smtClean="0"/>
              <a:t>Bilgisayar Programlama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14</a:t>
            </a:fld>
            <a:endParaRPr lang="en-US" dirty="0"/>
          </a:p>
        </p:txBody>
      </p:sp>
      <p:pic>
        <p:nvPicPr>
          <p:cNvPr id="6" name="Resim 5"/>
          <p:cNvPicPr>
            <a:picLocks noChangeAspect="1"/>
          </p:cNvPicPr>
          <p:nvPr/>
        </p:nvPicPr>
        <p:blipFill>
          <a:blip r:embed="rId2"/>
          <a:stretch>
            <a:fillRect/>
          </a:stretch>
        </p:blipFill>
        <p:spPr>
          <a:xfrm>
            <a:off x="6320408" y="2194559"/>
            <a:ext cx="3492503" cy="1123675"/>
          </a:xfrm>
          <a:prstGeom prst="rect">
            <a:avLst/>
          </a:prstGeom>
        </p:spPr>
      </p:pic>
    </p:spTree>
    <p:extLst>
      <p:ext uri="{BB962C8B-B14F-4D97-AF65-F5344CB8AC3E}">
        <p14:creationId xmlns:p14="http://schemas.microsoft.com/office/powerpoint/2010/main" val="1718507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99241" y="197963"/>
            <a:ext cx="10129007" cy="5974237"/>
          </a:xfrm>
        </p:spPr>
        <p:txBody>
          <a:bodyPr>
            <a:normAutofit fontScale="92500" lnSpcReduction="20000"/>
          </a:bodyPr>
          <a:lstStyle/>
          <a:p>
            <a:r>
              <a:rPr lang="tr-TR" dirty="0"/>
              <a:t>#</a:t>
            </a:r>
            <a:r>
              <a:rPr lang="tr-TR" dirty="0" err="1"/>
              <a:t>include</a:t>
            </a:r>
            <a:r>
              <a:rPr lang="tr-TR" dirty="0"/>
              <a:t> &lt;</a:t>
            </a:r>
            <a:r>
              <a:rPr lang="tr-TR" dirty="0" err="1"/>
              <a:t>stdio.h</a:t>
            </a:r>
            <a:r>
              <a:rPr lang="tr-TR" dirty="0"/>
              <a:t>&gt;</a:t>
            </a:r>
          </a:p>
          <a:p>
            <a:endParaRPr lang="tr-TR" dirty="0"/>
          </a:p>
          <a:p>
            <a:r>
              <a:rPr lang="tr-TR" dirty="0"/>
              <a:t> main()</a:t>
            </a:r>
          </a:p>
          <a:p>
            <a:r>
              <a:rPr lang="tr-TR" dirty="0"/>
              <a:t>{</a:t>
            </a:r>
          </a:p>
          <a:p>
            <a:r>
              <a:rPr lang="tr-TR" dirty="0"/>
              <a:t>    </a:t>
            </a:r>
            <a:r>
              <a:rPr lang="tr-TR" dirty="0" err="1"/>
              <a:t>int</a:t>
            </a:r>
            <a:r>
              <a:rPr lang="tr-TR" dirty="0"/>
              <a:t> </a:t>
            </a:r>
            <a:r>
              <a:rPr lang="tr-TR" dirty="0" err="1"/>
              <a:t>nums</a:t>
            </a:r>
            <a:r>
              <a:rPr lang="tr-TR" dirty="0"/>
              <a:t>[] = {10,20,30,40,50,60,70,80};</a:t>
            </a:r>
          </a:p>
          <a:p>
            <a:r>
              <a:rPr lang="tr-TR" dirty="0"/>
              <a:t>    </a:t>
            </a:r>
            <a:r>
              <a:rPr lang="tr-TR" dirty="0" err="1"/>
              <a:t>int</a:t>
            </a:r>
            <a:r>
              <a:rPr lang="tr-TR" dirty="0"/>
              <a:t> *a = </a:t>
            </a:r>
            <a:r>
              <a:rPr lang="tr-TR" dirty="0" err="1"/>
              <a:t>nums</a:t>
            </a:r>
            <a:r>
              <a:rPr lang="tr-TR" dirty="0"/>
              <a:t>;</a:t>
            </a:r>
          </a:p>
          <a:p>
            <a:r>
              <a:rPr lang="tr-TR" dirty="0"/>
              <a:t>    </a:t>
            </a:r>
            <a:r>
              <a:rPr lang="tr-TR" dirty="0" err="1"/>
              <a:t>int</a:t>
            </a:r>
            <a:r>
              <a:rPr lang="tr-TR" dirty="0"/>
              <a:t> *b = a ;</a:t>
            </a:r>
          </a:p>
          <a:p>
            <a:endParaRPr lang="tr-TR" dirty="0"/>
          </a:p>
          <a:p>
            <a:r>
              <a:rPr lang="tr-TR" dirty="0"/>
              <a:t>    </a:t>
            </a:r>
            <a:r>
              <a:rPr lang="tr-TR" dirty="0" err="1"/>
              <a:t>printf</a:t>
            </a:r>
            <a:r>
              <a:rPr lang="tr-TR" dirty="0"/>
              <a:t>("</a:t>
            </a:r>
            <a:r>
              <a:rPr lang="tr-TR" dirty="0" err="1"/>
              <a:t>sizeof</a:t>
            </a:r>
            <a:r>
              <a:rPr lang="tr-TR" dirty="0"/>
              <a:t>(</a:t>
            </a:r>
            <a:r>
              <a:rPr lang="tr-TR" dirty="0" err="1"/>
              <a:t>int</a:t>
            </a:r>
            <a:r>
              <a:rPr lang="tr-TR" dirty="0"/>
              <a:t>) = %d\n", </a:t>
            </a:r>
            <a:r>
              <a:rPr lang="tr-TR" dirty="0" err="1"/>
              <a:t>sizeof</a:t>
            </a:r>
            <a:r>
              <a:rPr lang="tr-TR" dirty="0"/>
              <a:t>(</a:t>
            </a:r>
            <a:r>
              <a:rPr lang="tr-TR" dirty="0" err="1"/>
              <a:t>int</a:t>
            </a:r>
            <a:r>
              <a:rPr lang="tr-TR" dirty="0"/>
              <a:t>));</a:t>
            </a:r>
          </a:p>
          <a:p>
            <a:r>
              <a:rPr lang="tr-TR" dirty="0"/>
              <a:t>    </a:t>
            </a:r>
            <a:r>
              <a:rPr lang="tr-TR" dirty="0" err="1"/>
              <a:t>printf</a:t>
            </a:r>
            <a:r>
              <a:rPr lang="tr-TR" dirty="0"/>
              <a:t>("%p\n", a + 0);</a:t>
            </a:r>
          </a:p>
          <a:p>
            <a:r>
              <a:rPr lang="tr-TR" dirty="0"/>
              <a:t>    </a:t>
            </a:r>
            <a:r>
              <a:rPr lang="tr-TR" dirty="0" err="1"/>
              <a:t>printf</a:t>
            </a:r>
            <a:r>
              <a:rPr lang="tr-TR" dirty="0"/>
              <a:t>("%p\n", a + 1);</a:t>
            </a:r>
          </a:p>
          <a:p>
            <a:r>
              <a:rPr lang="tr-TR" dirty="0"/>
              <a:t>    </a:t>
            </a:r>
            <a:r>
              <a:rPr lang="tr-TR" dirty="0" err="1"/>
              <a:t>printf</a:t>
            </a:r>
            <a:r>
              <a:rPr lang="tr-TR" dirty="0"/>
              <a:t>("%p\n", a + 2);</a:t>
            </a:r>
          </a:p>
          <a:p>
            <a:r>
              <a:rPr lang="tr-TR" dirty="0"/>
              <a:t>    printf("%d\n", </a:t>
            </a:r>
            <a:r>
              <a:rPr lang="tr-TR" dirty="0" smtClean="0"/>
              <a:t>*b);</a:t>
            </a:r>
            <a:endParaRPr lang="tr-TR" dirty="0"/>
          </a:p>
          <a:p>
            <a:r>
              <a:rPr lang="tr-TR" dirty="0"/>
              <a:t>    printf("%d\n", </a:t>
            </a:r>
            <a:r>
              <a:rPr lang="tr-TR" dirty="0" smtClean="0"/>
              <a:t>*b+2);</a:t>
            </a:r>
            <a:endParaRPr lang="tr-TR" dirty="0"/>
          </a:p>
          <a:p>
            <a:r>
              <a:rPr lang="tr-TR" dirty="0"/>
              <a:t>    </a:t>
            </a:r>
            <a:r>
              <a:rPr lang="tr-TR" dirty="0" err="1"/>
              <a:t>printf</a:t>
            </a:r>
            <a:r>
              <a:rPr lang="tr-TR" dirty="0"/>
              <a:t>("%d\n", *(b)+2);</a:t>
            </a:r>
          </a:p>
          <a:p>
            <a:r>
              <a:rPr lang="tr-TR" dirty="0"/>
              <a:t>    </a:t>
            </a:r>
            <a:r>
              <a:rPr lang="tr-TR" dirty="0" err="1"/>
              <a:t>printf</a:t>
            </a:r>
            <a:r>
              <a:rPr lang="tr-TR" dirty="0"/>
              <a:t>("%p\n", b - 1);}</a:t>
            </a:r>
          </a:p>
        </p:txBody>
      </p:sp>
      <p:sp>
        <p:nvSpPr>
          <p:cNvPr id="4" name="Altbilgi Yer Tutucusu 3"/>
          <p:cNvSpPr>
            <a:spLocks noGrp="1"/>
          </p:cNvSpPr>
          <p:nvPr>
            <p:ph type="ftr" sz="quarter" idx="11"/>
          </p:nvPr>
        </p:nvSpPr>
        <p:spPr/>
        <p:txBody>
          <a:bodyPr/>
          <a:lstStyle/>
          <a:p>
            <a:r>
              <a:rPr lang="en-US" smtClean="0"/>
              <a:t>Bilgisayar Programlama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15</a:t>
            </a:fld>
            <a:endParaRPr lang="en-US" dirty="0"/>
          </a:p>
        </p:txBody>
      </p:sp>
      <p:pic>
        <p:nvPicPr>
          <p:cNvPr id="7" name="Picture 6"/>
          <p:cNvPicPr/>
          <p:nvPr/>
        </p:nvPicPr>
        <p:blipFill rotWithShape="1">
          <a:blip r:embed="rId2"/>
          <a:srcRect l="19238" t="69463" r="65705" b="8205"/>
          <a:stretch/>
        </p:blipFill>
        <p:spPr bwMode="auto">
          <a:xfrm>
            <a:off x="6786018" y="1449329"/>
            <a:ext cx="4186781" cy="246952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592437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612741" y="1376655"/>
            <a:ext cx="10110153" cy="5078691"/>
          </a:xfrm>
        </p:spPr>
        <p:txBody>
          <a:bodyPr>
            <a:normAutofit fontScale="70000" lnSpcReduction="20000"/>
          </a:bodyPr>
          <a:lstStyle/>
          <a:p>
            <a:pPr marL="0" indent="0">
              <a:buNone/>
            </a:pPr>
            <a:r>
              <a:rPr lang="tr-TR" dirty="0"/>
              <a:t>#</a:t>
            </a:r>
            <a:r>
              <a:rPr lang="tr-TR" dirty="0" err="1"/>
              <a:t>include</a:t>
            </a:r>
            <a:r>
              <a:rPr lang="tr-TR" dirty="0"/>
              <a:t> &lt;</a:t>
            </a:r>
            <a:r>
              <a:rPr lang="tr-TR" dirty="0" err="1"/>
              <a:t>stdio.h</a:t>
            </a:r>
            <a:r>
              <a:rPr lang="tr-TR" dirty="0"/>
              <a:t>&gt;</a:t>
            </a:r>
          </a:p>
          <a:p>
            <a:pPr marL="0" indent="0">
              <a:buNone/>
            </a:pPr>
            <a:endParaRPr lang="tr-TR" dirty="0"/>
          </a:p>
          <a:p>
            <a:pPr marL="0" indent="0">
              <a:buNone/>
            </a:pPr>
            <a:r>
              <a:rPr lang="tr-TR" dirty="0"/>
              <a:t>#define PRPTR(p) </a:t>
            </a:r>
            <a:r>
              <a:rPr lang="tr-TR" dirty="0" err="1"/>
              <a:t>printf</a:t>
            </a:r>
            <a:r>
              <a:rPr lang="tr-TR" dirty="0"/>
              <a:t>("%p\n", p)</a:t>
            </a:r>
          </a:p>
          <a:p>
            <a:pPr marL="0" indent="0">
              <a:buNone/>
            </a:pPr>
            <a:r>
              <a:rPr lang="tr-TR" dirty="0"/>
              <a:t>#define </a:t>
            </a:r>
            <a:r>
              <a:rPr lang="tr-TR" dirty="0" err="1"/>
              <a:t>deger</a:t>
            </a:r>
            <a:r>
              <a:rPr lang="tr-TR" dirty="0"/>
              <a:t>(z) </a:t>
            </a:r>
            <a:r>
              <a:rPr lang="tr-TR" dirty="0" err="1"/>
              <a:t>printf</a:t>
            </a:r>
            <a:r>
              <a:rPr lang="tr-TR" dirty="0"/>
              <a:t>("%d\n", z)</a:t>
            </a:r>
          </a:p>
          <a:p>
            <a:pPr marL="0" indent="0">
              <a:buNone/>
            </a:pPr>
            <a:r>
              <a:rPr lang="tr-TR" dirty="0" err="1"/>
              <a:t>int</a:t>
            </a:r>
            <a:r>
              <a:rPr lang="tr-TR" dirty="0"/>
              <a:t> main()</a:t>
            </a:r>
          </a:p>
          <a:p>
            <a:pPr marL="0" indent="0">
              <a:buNone/>
            </a:pPr>
            <a:r>
              <a:rPr lang="tr-TR" dirty="0"/>
              <a:t>{</a:t>
            </a:r>
          </a:p>
          <a:p>
            <a:pPr marL="0" indent="0">
              <a:buNone/>
            </a:pPr>
            <a:r>
              <a:rPr lang="tr-TR" dirty="0"/>
              <a:t>    </a:t>
            </a:r>
            <a:r>
              <a:rPr lang="tr-TR" dirty="0" err="1"/>
              <a:t>int</a:t>
            </a:r>
            <a:r>
              <a:rPr lang="tr-TR" dirty="0"/>
              <a:t> </a:t>
            </a:r>
            <a:r>
              <a:rPr lang="tr-TR" dirty="0" err="1"/>
              <a:t>nums</a:t>
            </a:r>
            <a:r>
              <a:rPr lang="tr-TR" dirty="0"/>
              <a:t>[] = {10,20,30,40,50,60,70,80};</a:t>
            </a:r>
          </a:p>
          <a:p>
            <a:pPr marL="0" indent="0">
              <a:buNone/>
            </a:pPr>
            <a:r>
              <a:rPr lang="tr-TR" dirty="0"/>
              <a:t>    </a:t>
            </a:r>
            <a:r>
              <a:rPr lang="tr-TR" dirty="0" err="1"/>
              <a:t>int</a:t>
            </a:r>
            <a:r>
              <a:rPr lang="tr-TR" dirty="0"/>
              <a:t> *a = </a:t>
            </a:r>
            <a:r>
              <a:rPr lang="tr-TR" dirty="0" err="1"/>
              <a:t>nums</a:t>
            </a:r>
            <a:r>
              <a:rPr lang="tr-TR" dirty="0"/>
              <a:t>;</a:t>
            </a:r>
          </a:p>
          <a:p>
            <a:pPr marL="0" indent="0">
              <a:buNone/>
            </a:pPr>
            <a:r>
              <a:rPr lang="tr-TR" dirty="0"/>
              <a:t>    </a:t>
            </a:r>
            <a:r>
              <a:rPr lang="tr-TR" dirty="0" err="1"/>
              <a:t>int</a:t>
            </a:r>
            <a:r>
              <a:rPr lang="tr-TR" dirty="0"/>
              <a:t> *b = a ;</a:t>
            </a:r>
          </a:p>
          <a:p>
            <a:pPr marL="0" indent="0">
              <a:buNone/>
            </a:pPr>
            <a:endParaRPr lang="tr-TR" dirty="0"/>
          </a:p>
          <a:p>
            <a:pPr marL="0" indent="0">
              <a:buNone/>
            </a:pPr>
            <a:r>
              <a:rPr lang="tr-TR" dirty="0"/>
              <a:t>    </a:t>
            </a:r>
            <a:r>
              <a:rPr lang="tr-TR" dirty="0" err="1"/>
              <a:t>printf</a:t>
            </a:r>
            <a:r>
              <a:rPr lang="tr-TR" dirty="0"/>
              <a:t>("</a:t>
            </a:r>
            <a:r>
              <a:rPr lang="tr-TR" dirty="0" err="1"/>
              <a:t>sizeof</a:t>
            </a:r>
            <a:r>
              <a:rPr lang="tr-TR" dirty="0"/>
              <a:t>(</a:t>
            </a:r>
            <a:r>
              <a:rPr lang="tr-TR" dirty="0" err="1"/>
              <a:t>int</a:t>
            </a:r>
            <a:r>
              <a:rPr lang="tr-TR" dirty="0"/>
              <a:t>) = %d\n", </a:t>
            </a:r>
            <a:r>
              <a:rPr lang="tr-TR" dirty="0" err="1"/>
              <a:t>sizeof</a:t>
            </a:r>
            <a:r>
              <a:rPr lang="tr-TR" dirty="0"/>
              <a:t>(</a:t>
            </a:r>
            <a:r>
              <a:rPr lang="tr-TR" dirty="0" err="1"/>
              <a:t>int</a:t>
            </a:r>
            <a:r>
              <a:rPr lang="tr-TR" dirty="0"/>
              <a:t>));</a:t>
            </a:r>
          </a:p>
          <a:p>
            <a:pPr marL="0" indent="0">
              <a:buNone/>
            </a:pPr>
            <a:r>
              <a:rPr lang="tr-TR" dirty="0"/>
              <a:t>    PRPTR(a + 0);</a:t>
            </a:r>
          </a:p>
          <a:p>
            <a:pPr marL="0" indent="0">
              <a:buNone/>
            </a:pPr>
            <a:r>
              <a:rPr lang="tr-TR" dirty="0"/>
              <a:t>    PRPTR(a + 1);</a:t>
            </a:r>
          </a:p>
          <a:p>
            <a:pPr marL="0" indent="0">
              <a:buNone/>
            </a:pPr>
            <a:r>
              <a:rPr lang="tr-TR" dirty="0"/>
              <a:t>    PRPTR(b + 2);</a:t>
            </a:r>
          </a:p>
          <a:p>
            <a:pPr marL="0" indent="0">
              <a:buNone/>
            </a:pPr>
            <a:r>
              <a:rPr lang="tr-TR" dirty="0"/>
              <a:t>    </a:t>
            </a:r>
            <a:r>
              <a:rPr lang="tr-TR" dirty="0" err="1"/>
              <a:t>deger</a:t>
            </a:r>
            <a:r>
              <a:rPr lang="tr-TR" dirty="0"/>
              <a:t> (*(b)+2);</a:t>
            </a:r>
          </a:p>
          <a:p>
            <a:pPr marL="0" indent="0">
              <a:buNone/>
            </a:pPr>
            <a:r>
              <a:rPr lang="tr-TR" dirty="0"/>
              <a:t>    PRPTR(b - 1);</a:t>
            </a:r>
          </a:p>
          <a:p>
            <a:pPr marL="0" indent="0">
              <a:buNone/>
            </a:pPr>
            <a:r>
              <a:rPr lang="tr-TR" dirty="0" smtClean="0"/>
              <a:t>}</a:t>
            </a:r>
            <a:endParaRPr lang="tr-TR" dirty="0"/>
          </a:p>
          <a:p>
            <a:endParaRPr lang="tr-TR" dirty="0"/>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4" name="Slayt Numarası Yer Tutucusu 3"/>
          <p:cNvSpPr>
            <a:spLocks noGrp="1"/>
          </p:cNvSpPr>
          <p:nvPr>
            <p:ph type="sldNum" sz="quarter" idx="12"/>
          </p:nvPr>
        </p:nvSpPr>
        <p:spPr/>
        <p:txBody>
          <a:bodyPr/>
          <a:lstStyle/>
          <a:p>
            <a:fld id="{4FAB73BC-B049-4115-A692-8D63A059BFB8}" type="slidenum">
              <a:rPr lang="en-US" smtClean="0"/>
              <a:t>16</a:t>
            </a:fld>
            <a:endParaRPr lang="en-US" dirty="0"/>
          </a:p>
        </p:txBody>
      </p:sp>
      <p:sp>
        <p:nvSpPr>
          <p:cNvPr id="5" name="Unvan 1"/>
          <p:cNvSpPr>
            <a:spLocks noGrp="1"/>
          </p:cNvSpPr>
          <p:nvPr>
            <p:ph type="title"/>
          </p:nvPr>
        </p:nvSpPr>
        <p:spPr>
          <a:xfrm>
            <a:off x="768190" y="-80977"/>
            <a:ext cx="10058400" cy="1609344"/>
          </a:xfrm>
        </p:spPr>
        <p:txBody>
          <a:bodyPr/>
          <a:lstStyle/>
          <a:p>
            <a:r>
              <a:rPr lang="tr-TR" dirty="0" smtClean="0"/>
              <a:t>EV ÖDEVİ:Aynı örnek defıne kullanımı ile </a:t>
            </a:r>
            <a:endParaRPr lang="tr-TR" dirty="0"/>
          </a:p>
        </p:txBody>
      </p:sp>
      <p:pic>
        <p:nvPicPr>
          <p:cNvPr id="6" name="Picture 5"/>
          <p:cNvPicPr/>
          <p:nvPr/>
        </p:nvPicPr>
        <p:blipFill rotWithShape="1">
          <a:blip r:embed="rId2"/>
          <a:srcRect l="50363" t="31348" r="35452" b="47161"/>
          <a:stretch/>
        </p:blipFill>
        <p:spPr bwMode="auto">
          <a:xfrm>
            <a:off x="6202272" y="2142260"/>
            <a:ext cx="4300265" cy="252553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054963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SORU??</a:t>
            </a:r>
            <a:endParaRPr lang="tr-TR" dirty="0"/>
          </a:p>
        </p:txBody>
      </p:sp>
      <p:sp>
        <p:nvSpPr>
          <p:cNvPr id="3" name="İçerik Yer Tutucusu 2"/>
          <p:cNvSpPr>
            <a:spLocks noGrp="1"/>
          </p:cNvSpPr>
          <p:nvPr>
            <p:ph idx="1"/>
          </p:nvPr>
        </p:nvSpPr>
        <p:spPr>
          <a:xfrm>
            <a:off x="1348033" y="1970579"/>
            <a:ext cx="10204421" cy="4581050"/>
          </a:xfrm>
        </p:spPr>
        <p:txBody>
          <a:bodyPr>
            <a:normAutofit fontScale="77500" lnSpcReduction="20000"/>
          </a:bodyPr>
          <a:lstStyle/>
          <a:p>
            <a:r>
              <a:rPr lang="tr-TR" dirty="0"/>
              <a:t>#</a:t>
            </a:r>
            <a:r>
              <a:rPr lang="tr-TR" dirty="0" err="1"/>
              <a:t>include</a:t>
            </a:r>
            <a:r>
              <a:rPr lang="tr-TR" dirty="0"/>
              <a:t> &lt;</a:t>
            </a:r>
            <a:r>
              <a:rPr lang="tr-TR" dirty="0" err="1"/>
              <a:t>stdio.h</a:t>
            </a:r>
            <a:r>
              <a:rPr lang="tr-TR" dirty="0"/>
              <a:t>&gt;</a:t>
            </a:r>
          </a:p>
          <a:p>
            <a:r>
              <a:rPr lang="tr-TR" dirty="0"/>
              <a:t>main()</a:t>
            </a:r>
          </a:p>
          <a:p>
            <a:r>
              <a:rPr lang="tr-TR" dirty="0"/>
              <a:t>{</a:t>
            </a:r>
          </a:p>
          <a:p>
            <a:endParaRPr lang="tr-TR" dirty="0"/>
          </a:p>
          <a:p>
            <a:r>
              <a:rPr lang="tr-TR" dirty="0" err="1"/>
              <a:t>int</a:t>
            </a:r>
            <a:r>
              <a:rPr lang="tr-TR" dirty="0"/>
              <a:t> x, * y, z, * q;</a:t>
            </a:r>
          </a:p>
          <a:p>
            <a:r>
              <a:rPr lang="tr-TR" dirty="0"/>
              <a:t>x = 3;</a:t>
            </a:r>
          </a:p>
          <a:p>
            <a:r>
              <a:rPr lang="tr-TR" dirty="0"/>
              <a:t>y = &amp; x; // y, </a:t>
            </a:r>
            <a:r>
              <a:rPr lang="tr-TR" dirty="0" err="1"/>
              <a:t>x'i</a:t>
            </a:r>
            <a:r>
              <a:rPr lang="tr-TR" dirty="0"/>
              <a:t> gösterir</a:t>
            </a:r>
          </a:p>
          <a:p>
            <a:r>
              <a:rPr lang="tr-TR" dirty="0" err="1"/>
              <a:t>printf</a:t>
            </a:r>
            <a:r>
              <a:rPr lang="tr-TR" dirty="0"/>
              <a:t> ("% d\n", x); // </a:t>
            </a:r>
            <a:r>
              <a:rPr lang="tr-TR" dirty="0" smtClean="0"/>
              <a:t>3</a:t>
            </a:r>
            <a:endParaRPr lang="tr-TR" dirty="0"/>
          </a:p>
          <a:p>
            <a:r>
              <a:rPr lang="tr-TR" dirty="0"/>
              <a:t>printf ("% </a:t>
            </a:r>
            <a:r>
              <a:rPr lang="tr-TR" dirty="0" smtClean="0"/>
              <a:t>p\n</a:t>
            </a:r>
            <a:r>
              <a:rPr lang="tr-TR" dirty="0"/>
              <a:t>", y); // x'in adresini verir, </a:t>
            </a:r>
          </a:p>
          <a:p>
            <a:r>
              <a:rPr lang="tr-TR" dirty="0"/>
              <a:t>printf ("% d \n", * y); // y'nin işaret ettiği </a:t>
            </a:r>
            <a:r>
              <a:rPr lang="tr-TR" dirty="0" smtClean="0"/>
              <a:t>değeri </a:t>
            </a:r>
            <a:r>
              <a:rPr lang="tr-TR" dirty="0"/>
              <a:t>veya </a:t>
            </a:r>
            <a:r>
              <a:rPr lang="tr-TR" dirty="0" smtClean="0"/>
              <a:t>3 </a:t>
            </a:r>
            <a:r>
              <a:rPr lang="tr-TR" dirty="0"/>
              <a:t>çıktısını verir</a:t>
            </a:r>
          </a:p>
          <a:p>
            <a:r>
              <a:rPr lang="tr-TR" dirty="0" err="1"/>
              <a:t>printf</a:t>
            </a:r>
            <a:r>
              <a:rPr lang="tr-TR" dirty="0"/>
              <a:t> ("% d \n", * y + 1); // 4 (</a:t>
            </a:r>
            <a:r>
              <a:rPr lang="tr-TR" dirty="0" smtClean="0"/>
              <a:t>y'nin gösterdiği değere 1 </a:t>
            </a:r>
            <a:r>
              <a:rPr lang="tr-TR" dirty="0"/>
              <a:t> </a:t>
            </a:r>
            <a:r>
              <a:rPr lang="tr-TR" dirty="0" smtClean="0"/>
              <a:t>ekle)</a:t>
            </a:r>
            <a:endParaRPr lang="tr-TR" dirty="0"/>
          </a:p>
          <a:p>
            <a:r>
              <a:rPr lang="tr-TR" dirty="0" err="1"/>
              <a:t>printf</a:t>
            </a:r>
            <a:r>
              <a:rPr lang="tr-TR" dirty="0"/>
              <a:t> ("% d \n", * (y + 1)); // bu, bellekteki x öğesinden sonraki öğeyi çıktı - nedir?</a:t>
            </a:r>
          </a:p>
          <a:p>
            <a:r>
              <a:rPr lang="tr-TR" dirty="0"/>
              <a:t>z = * (&amp; x); // z eşittir 3 (neyi &amp; x gösterir, yani x</a:t>
            </a:r>
            <a:r>
              <a:rPr lang="tr-TR" dirty="0" smtClean="0"/>
              <a:t>)</a:t>
            </a:r>
          </a:p>
          <a:p>
            <a:r>
              <a:rPr lang="tr-TR" dirty="0" err="1"/>
              <a:t>printf</a:t>
            </a:r>
            <a:r>
              <a:rPr lang="tr-TR" dirty="0"/>
              <a:t> ("% d \n", z</a:t>
            </a:r>
            <a:r>
              <a:rPr lang="tr-TR" dirty="0" smtClean="0"/>
              <a:t>); }</a:t>
            </a:r>
            <a:endParaRPr lang="tr-TR" dirty="0"/>
          </a:p>
        </p:txBody>
      </p:sp>
      <p:sp>
        <p:nvSpPr>
          <p:cNvPr id="4" name="Altbilgi Yer Tutucusu 3"/>
          <p:cNvSpPr>
            <a:spLocks noGrp="1"/>
          </p:cNvSpPr>
          <p:nvPr>
            <p:ph type="ftr" sz="quarter" idx="11"/>
          </p:nvPr>
        </p:nvSpPr>
        <p:spPr/>
        <p:txBody>
          <a:bodyPr/>
          <a:lstStyle/>
          <a:p>
            <a:r>
              <a:rPr lang="en-US" dirty="0" err="1" smtClean="0"/>
              <a:t>Bilgisayar</a:t>
            </a:r>
            <a:r>
              <a:rPr lang="en-US" dirty="0" smtClean="0"/>
              <a:t> </a:t>
            </a:r>
            <a:r>
              <a:rPr lang="en-US" dirty="0" err="1" smtClean="0"/>
              <a:t>Programlama</a:t>
            </a:r>
            <a:r>
              <a:rPr lang="en-US" dirty="0" smtClean="0"/>
              <a:t>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17</a:t>
            </a:fld>
            <a:endParaRPr lang="en-US" dirty="0"/>
          </a:p>
        </p:txBody>
      </p:sp>
      <p:pic>
        <p:nvPicPr>
          <p:cNvPr id="8" name="Resim 7"/>
          <p:cNvPicPr>
            <a:picLocks noChangeAspect="1"/>
          </p:cNvPicPr>
          <p:nvPr/>
        </p:nvPicPr>
        <p:blipFill>
          <a:blip r:embed="rId2"/>
          <a:stretch>
            <a:fillRect/>
          </a:stretch>
        </p:blipFill>
        <p:spPr>
          <a:xfrm>
            <a:off x="6284027" y="1719165"/>
            <a:ext cx="3591493" cy="2777421"/>
          </a:xfrm>
          <a:prstGeom prst="rect">
            <a:avLst/>
          </a:prstGeom>
        </p:spPr>
      </p:pic>
    </p:spTree>
    <p:extLst>
      <p:ext uri="{BB962C8B-B14F-4D97-AF65-F5344CB8AC3E}">
        <p14:creationId xmlns:p14="http://schemas.microsoft.com/office/powerpoint/2010/main" val="26810002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133600" y="-228600"/>
            <a:ext cx="7772400" cy="1143000"/>
          </a:xfrm>
        </p:spPr>
        <p:txBody>
          <a:bodyPr/>
          <a:lstStyle/>
          <a:p>
            <a:r>
              <a:rPr lang="tr-TR" altLang="en-US" dirty="0"/>
              <a:t>Dizi ve </a:t>
            </a:r>
            <a:r>
              <a:rPr lang="tr-TR" altLang="en-US" dirty="0" err="1"/>
              <a:t>poınter</a:t>
            </a:r>
            <a:endParaRPr lang="en-US" altLang="en-US" dirty="0" smtClean="0"/>
          </a:p>
        </p:txBody>
      </p:sp>
      <p:sp>
        <p:nvSpPr>
          <p:cNvPr id="5123" name="Rectangle 3"/>
          <p:cNvSpPr>
            <a:spLocks noGrp="1" noChangeArrowheads="1"/>
          </p:cNvSpPr>
          <p:nvPr>
            <p:ph type="body" idx="1"/>
          </p:nvPr>
        </p:nvSpPr>
        <p:spPr>
          <a:xfrm>
            <a:off x="1790700" y="1420305"/>
            <a:ext cx="8458200" cy="5943600"/>
          </a:xfrm>
        </p:spPr>
        <p:txBody>
          <a:bodyPr>
            <a:normAutofit/>
          </a:bodyPr>
          <a:lstStyle/>
          <a:p>
            <a:pPr eaLnBrk="1" hangingPunct="1">
              <a:lnSpc>
                <a:spcPct val="80000"/>
              </a:lnSpc>
            </a:pPr>
            <a:r>
              <a:rPr lang="tr-TR" altLang="en-US" dirty="0" smtClean="0"/>
              <a:t>Dizi tanımla</a:t>
            </a:r>
            <a:r>
              <a:rPr lang="tr-TR" altLang="en-US" dirty="0"/>
              <a:t> </a:t>
            </a:r>
            <a:r>
              <a:rPr lang="tr-TR" altLang="en-US" dirty="0" smtClean="0"/>
              <a:t>işlemi değişken adı ve [] sembolleri ile yapılır</a:t>
            </a:r>
            <a:endParaRPr lang="en-US" altLang="en-US" dirty="0" smtClean="0"/>
          </a:p>
          <a:p>
            <a:pPr lvl="1" eaLnBrk="1" hangingPunct="1">
              <a:lnSpc>
                <a:spcPct val="80000"/>
              </a:lnSpc>
            </a:pPr>
            <a:r>
              <a:rPr lang="en-US" altLang="en-US" dirty="0" err="1" smtClean="0"/>
              <a:t>int</a:t>
            </a:r>
            <a:r>
              <a:rPr lang="en-US" altLang="en-US" dirty="0" smtClean="0"/>
              <a:t> x[5];</a:t>
            </a:r>
            <a:endParaRPr lang="tr-TR" altLang="en-US" dirty="0" smtClean="0"/>
          </a:p>
          <a:p>
            <a:pPr lvl="1">
              <a:lnSpc>
                <a:spcPct val="80000"/>
              </a:lnSpc>
            </a:pPr>
            <a:r>
              <a:rPr lang="tr-TR" dirty="0"/>
              <a:t>Diziyi başlangıç değerlerine </a:t>
            </a:r>
            <a:r>
              <a:rPr lang="tr-TR" dirty="0" smtClean="0"/>
              <a:t>yukarıdaki </a:t>
            </a:r>
            <a:r>
              <a:rPr lang="tr-TR" dirty="0"/>
              <a:t>şekilde </a:t>
            </a:r>
            <a:r>
              <a:rPr lang="tr-TR" dirty="0" smtClean="0"/>
              <a:t>başlatmadığınız </a:t>
            </a:r>
            <a:r>
              <a:rPr lang="tr-TR" dirty="0"/>
              <a:t>sürece, bildirirken dizinin boyutunu [] içine eklemelisiniz:</a:t>
            </a:r>
            <a:r>
              <a:rPr lang="en-US" altLang="en-US" dirty="0" smtClean="0"/>
              <a:t>	</a:t>
            </a:r>
            <a:endParaRPr lang="tr-TR" altLang="en-US" dirty="0" smtClean="0"/>
          </a:p>
          <a:p>
            <a:pPr lvl="1" eaLnBrk="1" hangingPunct="1">
              <a:lnSpc>
                <a:spcPct val="80000"/>
              </a:lnSpc>
            </a:pPr>
            <a:r>
              <a:rPr lang="en-US" altLang="en-US" dirty="0" err="1" smtClean="0"/>
              <a:t>int</a:t>
            </a:r>
            <a:r>
              <a:rPr lang="en-US" altLang="en-US" dirty="0" smtClean="0"/>
              <a:t> </a:t>
            </a:r>
            <a:r>
              <a:rPr lang="en-US" altLang="en-US" dirty="0"/>
              <a:t>x [ ] = {1, 2, 3, 4, 5};</a:t>
            </a:r>
          </a:p>
          <a:p>
            <a:pPr lvl="1">
              <a:lnSpc>
                <a:spcPct val="80000"/>
              </a:lnSpc>
            </a:pPr>
            <a:r>
              <a:rPr lang="tr-TR" dirty="0"/>
              <a:t>boyutu&gt; = başlatıldığı öğe sayısı olduğu sürece başlangıç durumuna getirirken boyutu da ekleyebilirsiniz (bu durumda kalan dizi öğeleri başlatılmaz</a:t>
            </a:r>
            <a:r>
              <a:rPr lang="tr-TR" dirty="0" smtClean="0"/>
              <a:t>)</a:t>
            </a:r>
          </a:p>
          <a:p>
            <a:pPr lvl="1">
              <a:lnSpc>
                <a:spcPct val="80000"/>
              </a:lnSpc>
            </a:pPr>
            <a:r>
              <a:rPr lang="tr-TR" dirty="0"/>
              <a:t>C dizileri </a:t>
            </a:r>
            <a:r>
              <a:rPr lang="tr-TR" dirty="0">
                <a:solidFill>
                  <a:srgbClr val="FF0000"/>
                </a:solidFill>
              </a:rPr>
              <a:t>ilginçtir</a:t>
            </a:r>
            <a:r>
              <a:rPr lang="tr-TR" dirty="0"/>
              <a:t>, çünkü dizi için bildirdiğiniz değişken aslında ilk dizi elemanının bir göstergesidir</a:t>
            </a:r>
            <a:r>
              <a:rPr lang="tr-TR" dirty="0" smtClean="0"/>
              <a:t>.</a:t>
            </a:r>
          </a:p>
          <a:p>
            <a:pPr lvl="1">
              <a:lnSpc>
                <a:spcPct val="80000"/>
              </a:lnSpc>
            </a:pPr>
            <a:endParaRPr lang="tr-TR" altLang="en-US" dirty="0"/>
          </a:p>
          <a:p>
            <a:pPr lvl="1">
              <a:lnSpc>
                <a:spcPct val="80000"/>
              </a:lnSpc>
            </a:pPr>
            <a:r>
              <a:rPr lang="tr-TR" dirty="0"/>
              <a:t>Dizi öğeleriyle işaretçiler aracılığıyla veya [] kullanarak etkileşim </a:t>
            </a:r>
            <a:r>
              <a:rPr lang="tr-TR" dirty="0" smtClean="0"/>
              <a:t>kurabilirsiniz</a:t>
            </a:r>
          </a:p>
          <a:p>
            <a:pPr lvl="1">
              <a:lnSpc>
                <a:spcPct val="80000"/>
              </a:lnSpc>
            </a:pPr>
            <a:endParaRPr lang="tr-TR" altLang="en-US" dirty="0">
              <a:solidFill>
                <a:srgbClr val="FF0000"/>
              </a:solidFill>
            </a:endParaRPr>
          </a:p>
          <a:p>
            <a:pPr lvl="1">
              <a:lnSpc>
                <a:spcPct val="80000"/>
              </a:lnSpc>
            </a:pPr>
            <a:r>
              <a:rPr lang="tr-TR" dirty="0">
                <a:solidFill>
                  <a:srgbClr val="FF0000"/>
                </a:solidFill>
              </a:rPr>
              <a:t>C'deki işaretçilerin ilgi çekici özelliklerinden biri, işaretçileri aritmetik üzerinden değiştirme yeteneğidir.</a:t>
            </a:r>
            <a:endParaRPr lang="en-US" altLang="en-US" dirty="0">
              <a:solidFill>
                <a:srgbClr val="FF0000"/>
              </a:solidFill>
            </a:endParaRPr>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18</a:t>
            </a:fld>
            <a:endParaRPr lang="en-US" dirty="0"/>
          </a:p>
        </p:txBody>
      </p:sp>
    </p:spTree>
    <p:extLst>
      <p:ext uri="{BB962C8B-B14F-4D97-AF65-F5344CB8AC3E}">
        <p14:creationId xmlns:p14="http://schemas.microsoft.com/office/powerpoint/2010/main" val="40929023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286000" y="0"/>
            <a:ext cx="7772400" cy="1143000"/>
          </a:xfrm>
        </p:spPr>
        <p:txBody>
          <a:bodyPr/>
          <a:lstStyle/>
          <a:p>
            <a:pPr eaLnBrk="1" hangingPunct="1"/>
            <a:r>
              <a:rPr lang="tr-TR" altLang="en-US" dirty="0" smtClean="0"/>
              <a:t>Dizi ve </a:t>
            </a:r>
            <a:r>
              <a:rPr lang="tr-TR" altLang="en-US" dirty="0" err="1" smtClean="0"/>
              <a:t>poınter</a:t>
            </a:r>
            <a:endParaRPr lang="en-US" altLang="en-US" dirty="0" smtClean="0"/>
          </a:p>
        </p:txBody>
      </p:sp>
      <p:sp>
        <p:nvSpPr>
          <p:cNvPr id="7171" name="Rectangle 3"/>
          <p:cNvSpPr>
            <a:spLocks noGrp="1" noChangeArrowheads="1"/>
          </p:cNvSpPr>
          <p:nvPr>
            <p:ph type="body" sz="half" idx="1"/>
          </p:nvPr>
        </p:nvSpPr>
        <p:spPr>
          <a:xfrm>
            <a:off x="1752600" y="914400"/>
            <a:ext cx="8610600" cy="838200"/>
          </a:xfrm>
        </p:spPr>
        <p:txBody>
          <a:bodyPr>
            <a:normAutofit fontScale="92500"/>
          </a:bodyPr>
          <a:lstStyle/>
          <a:p>
            <a:r>
              <a:rPr lang="tr-TR" sz="2400" dirty="0"/>
              <a:t>Burada bir </a:t>
            </a:r>
            <a:r>
              <a:rPr lang="tr-TR" sz="2400" dirty="0" smtClean="0"/>
              <a:t>diziyi döngüde kullanmanın iki </a:t>
            </a:r>
            <a:r>
              <a:rPr lang="tr-TR" sz="2400" dirty="0"/>
              <a:t>yolunu görüyoruz, normal </a:t>
            </a:r>
            <a:r>
              <a:rPr lang="tr-TR" sz="2400" dirty="0" smtClean="0"/>
              <a:t>yol ve işaretçi </a:t>
            </a:r>
            <a:r>
              <a:rPr lang="tr-TR" sz="2400" dirty="0"/>
              <a:t>aritmetiği kullanan bir yöntem</a:t>
            </a:r>
            <a:endParaRPr lang="en-US" altLang="en-US" sz="2400" dirty="0"/>
          </a:p>
        </p:txBody>
      </p:sp>
      <p:sp>
        <p:nvSpPr>
          <p:cNvPr id="7172" name="Rectangle 6"/>
          <p:cNvSpPr>
            <a:spLocks noGrp="1" noChangeArrowheads="1"/>
          </p:cNvSpPr>
          <p:nvPr>
            <p:ph type="body" sz="half" idx="2"/>
          </p:nvPr>
        </p:nvSpPr>
        <p:spPr>
          <a:xfrm>
            <a:off x="1338607" y="2820988"/>
            <a:ext cx="9582346" cy="3073138"/>
          </a:xfrm>
        </p:spPr>
        <p:txBody>
          <a:bodyPr>
            <a:normAutofit fontScale="92500" lnSpcReduction="20000"/>
          </a:bodyPr>
          <a:lstStyle/>
          <a:p>
            <a:pPr lvl="1" eaLnBrk="1" hangingPunct="1">
              <a:lnSpc>
                <a:spcPct val="90000"/>
              </a:lnSpc>
            </a:pPr>
            <a:r>
              <a:rPr lang="en-US" altLang="en-US" sz="2000" dirty="0" err="1" smtClean="0"/>
              <a:t>pj</a:t>
            </a:r>
            <a:r>
              <a:rPr lang="en-US" altLang="en-US" sz="2000" dirty="0" smtClean="0"/>
              <a:t> </a:t>
            </a:r>
            <a:r>
              <a:rPr lang="tr-TR" altLang="en-US" sz="2000" dirty="0" smtClean="0"/>
              <a:t>bir </a:t>
            </a:r>
            <a:r>
              <a:rPr lang="tr-TR" altLang="en-US" sz="2000" dirty="0" err="1" smtClean="0"/>
              <a:t>integer</a:t>
            </a:r>
            <a:r>
              <a:rPr lang="tr-TR" altLang="en-US" sz="2000" dirty="0" smtClean="0"/>
              <a:t> </a:t>
            </a:r>
            <a:r>
              <a:rPr lang="tr-TR" altLang="en-US" sz="2000" dirty="0" err="1" smtClean="0"/>
              <a:t>pointer</a:t>
            </a:r>
            <a:r>
              <a:rPr lang="tr-TR" altLang="en-US" sz="2000" dirty="0" smtClean="0"/>
              <a:t> ve a dizini göstermektedir, yani a dizisinin ilk elemanı olan a[0]</a:t>
            </a:r>
            <a:endParaRPr lang="en-US" altLang="en-US" sz="2000" dirty="0"/>
          </a:p>
          <a:p>
            <a:pPr marL="274320" lvl="1" indent="0" eaLnBrk="1" hangingPunct="1">
              <a:lnSpc>
                <a:spcPct val="90000"/>
              </a:lnSpc>
              <a:buNone/>
            </a:pPr>
            <a:endParaRPr lang="en-US" altLang="en-US" sz="2000" dirty="0"/>
          </a:p>
          <a:p>
            <a:pPr lvl="1" eaLnBrk="1" hangingPunct="1">
              <a:lnSpc>
                <a:spcPct val="90000"/>
              </a:lnSpc>
            </a:pPr>
            <a:r>
              <a:rPr lang="tr-TR" altLang="en-US" sz="2000" dirty="0" smtClean="0"/>
              <a:t>Döngü </a:t>
            </a:r>
            <a:r>
              <a:rPr lang="en-US" altLang="en-US" sz="2000" dirty="0" smtClean="0"/>
              <a:t> </a:t>
            </a:r>
            <a:r>
              <a:rPr lang="en-US" altLang="en-US" sz="2000" dirty="0" err="1"/>
              <a:t>pj</a:t>
            </a:r>
            <a:r>
              <a:rPr lang="en-US" altLang="en-US" sz="2000" dirty="0"/>
              <a:t> &lt; a + </a:t>
            </a:r>
            <a:r>
              <a:rPr lang="en-US" altLang="en-US" sz="2000" dirty="0" smtClean="0"/>
              <a:t>n</a:t>
            </a:r>
            <a:r>
              <a:rPr lang="tr-TR" altLang="en-US" sz="2000" dirty="0" smtClean="0"/>
              <a:t> şartı </a:t>
            </a:r>
            <a:r>
              <a:rPr lang="tr-TR" altLang="en-US" sz="2000" dirty="0" err="1" smtClean="0"/>
              <a:t>doğrı</a:t>
            </a:r>
            <a:r>
              <a:rPr lang="tr-TR" altLang="en-US" sz="2000" dirty="0" smtClean="0"/>
              <a:t> olduğu sürece devam edecektir</a:t>
            </a:r>
            <a:endParaRPr lang="en-US" altLang="en-US" sz="2000" dirty="0"/>
          </a:p>
          <a:p>
            <a:pPr lvl="2" eaLnBrk="1" hangingPunct="1">
              <a:lnSpc>
                <a:spcPct val="90000"/>
              </a:lnSpc>
            </a:pPr>
            <a:r>
              <a:rPr lang="en-US" altLang="en-US" sz="1800" dirty="0" err="1"/>
              <a:t>pj</a:t>
            </a:r>
            <a:r>
              <a:rPr lang="en-US" altLang="en-US" sz="1800" dirty="0"/>
              <a:t> </a:t>
            </a:r>
            <a:r>
              <a:rPr lang="en-US" altLang="en-US" sz="1800" dirty="0" smtClean="0"/>
              <a:t>pointer</a:t>
            </a:r>
            <a:r>
              <a:rPr lang="en-US" altLang="en-US" sz="1800" dirty="0"/>
              <a:t>, </a:t>
            </a:r>
            <a:r>
              <a:rPr lang="tr-TR" altLang="en-US" sz="1800" dirty="0" smtClean="0"/>
              <a:t>yani  bir adrestir. </a:t>
            </a:r>
            <a:endParaRPr lang="en-US" altLang="en-US" sz="1800" dirty="0"/>
          </a:p>
          <a:p>
            <a:pPr lvl="2"/>
            <a:r>
              <a:rPr lang="tr-TR" sz="1800" dirty="0"/>
              <a:t>a, n öğesinin bir dizisinin başlangıcını gösteren bir işarettir, bu nedenle a + n dizinin </a:t>
            </a:r>
            <a:r>
              <a:rPr lang="tr-TR" sz="1800" dirty="0" smtClean="0"/>
              <a:t>boyutudur</a:t>
            </a:r>
            <a:endParaRPr lang="tr-TR" altLang="en-US" sz="1800" dirty="0"/>
          </a:p>
          <a:p>
            <a:pPr lvl="2"/>
            <a:r>
              <a:rPr lang="tr-TR" sz="1800" dirty="0" err="1"/>
              <a:t>pj</a:t>
            </a:r>
            <a:r>
              <a:rPr lang="tr-TR" sz="1800" dirty="0"/>
              <a:t> ++, işaretçiyi dizideki bir sonraki öğeye işaret edecek şekilde </a:t>
            </a:r>
            <a:r>
              <a:rPr lang="tr-TR" sz="1800" dirty="0" smtClean="0"/>
              <a:t>artırır</a:t>
            </a:r>
          </a:p>
          <a:p>
            <a:pPr lvl="2"/>
            <a:endParaRPr lang="tr-TR" sz="1800" dirty="0">
              <a:solidFill>
                <a:srgbClr val="FF0000"/>
              </a:solidFill>
            </a:endParaRPr>
          </a:p>
          <a:p>
            <a:pPr lvl="2"/>
            <a:r>
              <a:rPr lang="tr-TR" sz="1800" dirty="0" smtClean="0">
                <a:solidFill>
                  <a:srgbClr val="FF0000"/>
                </a:solidFill>
              </a:rPr>
              <a:t>(* </a:t>
            </a:r>
            <a:r>
              <a:rPr lang="tr-TR" sz="1800" dirty="0" err="1">
                <a:solidFill>
                  <a:srgbClr val="FF0000"/>
                </a:solidFill>
              </a:rPr>
              <a:t>p</a:t>
            </a:r>
            <a:r>
              <a:rPr lang="tr-TR" sz="1800" dirty="0" err="1" smtClean="0">
                <a:solidFill>
                  <a:srgbClr val="FF0000"/>
                </a:solidFill>
              </a:rPr>
              <a:t>j</a:t>
            </a:r>
            <a:r>
              <a:rPr lang="tr-TR" sz="1800" dirty="0">
                <a:solidFill>
                  <a:srgbClr val="FF0000"/>
                </a:solidFill>
              </a:rPr>
              <a:t>) ++ talimatı “</a:t>
            </a:r>
            <a:r>
              <a:rPr lang="tr-TR" sz="1800" dirty="0" err="1">
                <a:solidFill>
                  <a:srgbClr val="FF0000"/>
                </a:solidFill>
              </a:rPr>
              <a:t>pj'nin</a:t>
            </a:r>
            <a:r>
              <a:rPr lang="tr-TR" sz="1800" dirty="0">
                <a:solidFill>
                  <a:srgbClr val="FF0000"/>
                </a:solidFill>
              </a:rPr>
              <a:t> neyi işaret </a:t>
            </a:r>
            <a:r>
              <a:rPr lang="tr-TR" sz="1800" dirty="0" smtClean="0">
                <a:solidFill>
                  <a:srgbClr val="FF0000"/>
                </a:solidFill>
              </a:rPr>
              <a:t>ettiğini bul  </a:t>
            </a:r>
            <a:r>
              <a:rPr lang="tr-TR" sz="1800" dirty="0">
                <a:solidFill>
                  <a:srgbClr val="FF0000"/>
                </a:solidFill>
              </a:rPr>
              <a:t>ve onu </a:t>
            </a:r>
            <a:r>
              <a:rPr lang="tr-TR" sz="1800" dirty="0" smtClean="0">
                <a:solidFill>
                  <a:srgbClr val="FF0000"/>
                </a:solidFill>
              </a:rPr>
              <a:t>artır komutudur</a:t>
            </a:r>
          </a:p>
          <a:p>
            <a:pPr lvl="1"/>
            <a:r>
              <a:rPr lang="en-US" altLang="en-US" sz="2000" dirty="0" smtClean="0"/>
              <a:t>NOT:  </a:t>
            </a:r>
            <a:r>
              <a:rPr lang="tr-TR" sz="2000" dirty="0"/>
              <a:t>(* </a:t>
            </a:r>
            <a:r>
              <a:rPr lang="tr-TR" sz="2000" dirty="0" err="1"/>
              <a:t>Pj</a:t>
            </a:r>
            <a:r>
              <a:rPr lang="tr-TR" sz="2000" dirty="0"/>
              <a:t>) ++; </a:t>
            </a:r>
            <a:r>
              <a:rPr lang="tr-TR" sz="2000" dirty="0" err="1"/>
              <a:t>pj'nin</a:t>
            </a:r>
            <a:r>
              <a:rPr lang="tr-TR" sz="2000" dirty="0"/>
              <a:t> </a:t>
            </a:r>
            <a:r>
              <a:rPr lang="tr-TR" sz="2000" dirty="0" smtClean="0"/>
              <a:t>gösterdiğini </a:t>
            </a:r>
            <a:r>
              <a:rPr lang="tr-TR" sz="2000" dirty="0"/>
              <a:t>artırır, * (</a:t>
            </a:r>
            <a:r>
              <a:rPr lang="tr-TR" sz="2000" dirty="0" err="1"/>
              <a:t>pj</a:t>
            </a:r>
            <a:r>
              <a:rPr lang="tr-TR" sz="2000" dirty="0"/>
              <a:t> ++); işaretçiyi sonraki dizi öğesine işaret edecek şekilde artırır</a:t>
            </a:r>
            <a:endParaRPr lang="tr-TR" altLang="en-US" sz="2000" dirty="0" smtClean="0"/>
          </a:p>
          <a:p>
            <a:pPr lvl="1" eaLnBrk="1" hangingPunct="1">
              <a:lnSpc>
                <a:spcPct val="90000"/>
              </a:lnSpc>
            </a:pPr>
            <a:endParaRPr lang="tr-TR" altLang="en-US" sz="2000" dirty="0"/>
          </a:p>
        </p:txBody>
      </p:sp>
      <p:sp>
        <p:nvSpPr>
          <p:cNvPr id="7173" name="Text Box 4"/>
          <p:cNvSpPr txBox="1">
            <a:spLocks noChangeArrowheads="1"/>
          </p:cNvSpPr>
          <p:nvPr/>
        </p:nvSpPr>
        <p:spPr bwMode="auto">
          <a:xfrm>
            <a:off x="2910526" y="1673264"/>
            <a:ext cx="207620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dirty="0" err="1"/>
              <a:t>int</a:t>
            </a:r>
            <a:r>
              <a:rPr lang="en-US" altLang="en-US" sz="1800" dirty="0"/>
              <a:t> j; </a:t>
            </a:r>
          </a:p>
          <a:p>
            <a:pPr eaLnBrk="1" hangingPunct="1">
              <a:spcBef>
                <a:spcPct val="0"/>
              </a:spcBef>
              <a:buFontTx/>
              <a:buNone/>
            </a:pPr>
            <a:r>
              <a:rPr lang="en-US" altLang="en-US" sz="1800" dirty="0"/>
              <a:t>for(j = 0; j &lt; </a:t>
            </a:r>
            <a:r>
              <a:rPr lang="tr-TR" altLang="en-US" sz="1800" dirty="0" smtClean="0"/>
              <a:t>N</a:t>
            </a:r>
            <a:r>
              <a:rPr lang="en-US" altLang="en-US" sz="1800" dirty="0" smtClean="0"/>
              <a:t>; </a:t>
            </a:r>
            <a:r>
              <a:rPr lang="en-US" altLang="en-US" sz="1800" dirty="0" err="1"/>
              <a:t>j++</a:t>
            </a:r>
            <a:r>
              <a:rPr lang="en-US" altLang="en-US" sz="1800" dirty="0"/>
              <a:t>)</a:t>
            </a:r>
          </a:p>
          <a:p>
            <a:pPr eaLnBrk="1" hangingPunct="1">
              <a:spcBef>
                <a:spcPct val="0"/>
              </a:spcBef>
              <a:buFontTx/>
              <a:buNone/>
            </a:pPr>
            <a:r>
              <a:rPr lang="en-US" altLang="en-US" sz="1800" dirty="0"/>
              <a:t>     a[j]++;</a:t>
            </a:r>
          </a:p>
        </p:txBody>
      </p:sp>
      <p:sp>
        <p:nvSpPr>
          <p:cNvPr id="7174" name="Text Box 5"/>
          <p:cNvSpPr txBox="1">
            <a:spLocks noChangeArrowheads="1"/>
          </p:cNvSpPr>
          <p:nvPr/>
        </p:nvSpPr>
        <p:spPr bwMode="auto">
          <a:xfrm>
            <a:off x="6477000" y="1828800"/>
            <a:ext cx="2738438"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dirty="0"/>
              <a:t> </a:t>
            </a:r>
            <a:r>
              <a:rPr lang="en-US" altLang="en-US" sz="1800" dirty="0" err="1"/>
              <a:t>int</a:t>
            </a:r>
            <a:r>
              <a:rPr lang="en-US" altLang="en-US" sz="1800" dirty="0"/>
              <a:t> *</a:t>
            </a:r>
            <a:r>
              <a:rPr lang="en-US" altLang="en-US" sz="1800" dirty="0" err="1"/>
              <a:t>pj</a:t>
            </a:r>
            <a:r>
              <a:rPr lang="en-US" altLang="en-US" sz="1800" dirty="0"/>
              <a:t>;</a:t>
            </a:r>
          </a:p>
          <a:p>
            <a:pPr eaLnBrk="1" hangingPunct="1">
              <a:spcBef>
                <a:spcPct val="0"/>
              </a:spcBef>
              <a:buFontTx/>
              <a:buNone/>
            </a:pPr>
            <a:r>
              <a:rPr lang="en-US" altLang="en-US" sz="1800" dirty="0"/>
              <a:t> for(</a:t>
            </a:r>
            <a:r>
              <a:rPr lang="en-US" altLang="en-US" sz="1800" dirty="0" err="1"/>
              <a:t>pj</a:t>
            </a:r>
            <a:r>
              <a:rPr lang="en-US" altLang="en-US" sz="1800" dirty="0"/>
              <a:t> = a; </a:t>
            </a:r>
            <a:r>
              <a:rPr lang="en-US" altLang="en-US" sz="1800" dirty="0" err="1"/>
              <a:t>pj</a:t>
            </a:r>
            <a:r>
              <a:rPr lang="en-US" altLang="en-US" sz="1800" dirty="0"/>
              <a:t> &lt; a + n; </a:t>
            </a:r>
            <a:r>
              <a:rPr lang="en-US" altLang="en-US" sz="1800" dirty="0" err="1"/>
              <a:t>pj</a:t>
            </a:r>
            <a:r>
              <a:rPr lang="en-US" altLang="en-US" sz="1800" dirty="0"/>
              <a:t>++)</a:t>
            </a:r>
          </a:p>
          <a:p>
            <a:pPr eaLnBrk="1" hangingPunct="1">
              <a:spcBef>
                <a:spcPct val="0"/>
              </a:spcBef>
              <a:buFontTx/>
              <a:buNone/>
            </a:pPr>
            <a:r>
              <a:rPr lang="en-US" altLang="en-US" sz="1800" dirty="0"/>
              <a:t>       (*</a:t>
            </a:r>
            <a:r>
              <a:rPr lang="en-US" altLang="en-US" sz="1800" dirty="0" err="1"/>
              <a:t>pj</a:t>
            </a:r>
            <a:r>
              <a:rPr lang="en-US" altLang="en-US" sz="1800" dirty="0"/>
              <a:t>)++;</a:t>
            </a:r>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19</a:t>
            </a:fld>
            <a:endParaRPr lang="en-US" dirty="0"/>
          </a:p>
        </p:txBody>
      </p:sp>
    </p:spTree>
    <p:extLst>
      <p:ext uri="{BB962C8B-B14F-4D97-AF65-F5344CB8AC3E}">
        <p14:creationId xmlns:p14="http://schemas.microsoft.com/office/powerpoint/2010/main" val="35796680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Ekrana ne YAZAR??</a:t>
            </a:r>
            <a:endParaRPr lang="tr-TR" dirty="0"/>
          </a:p>
        </p:txBody>
      </p:sp>
      <p:sp>
        <p:nvSpPr>
          <p:cNvPr id="3" name="İçerik Yer Tutucusu 2"/>
          <p:cNvSpPr>
            <a:spLocks noGrp="1"/>
          </p:cNvSpPr>
          <p:nvPr>
            <p:ph sz="half" idx="1"/>
          </p:nvPr>
        </p:nvSpPr>
        <p:spPr/>
        <p:txBody>
          <a:bodyPr/>
          <a:lstStyle/>
          <a:p>
            <a:pPr marL="0" indent="0">
              <a:buNone/>
            </a:pPr>
            <a:r>
              <a:rPr lang="en-US" dirty="0"/>
              <a:t>#include&lt;</a:t>
            </a:r>
            <a:r>
              <a:rPr lang="en-US" dirty="0" err="1"/>
              <a:t>stdio.h</a:t>
            </a:r>
            <a:r>
              <a:rPr lang="en-US" dirty="0"/>
              <a:t>&gt;</a:t>
            </a:r>
          </a:p>
          <a:p>
            <a:pPr marL="0" indent="0">
              <a:buNone/>
            </a:pPr>
            <a:r>
              <a:rPr lang="en-US" dirty="0"/>
              <a:t># define N 5</a:t>
            </a:r>
          </a:p>
          <a:p>
            <a:pPr marL="0" indent="0">
              <a:buNone/>
            </a:pPr>
            <a:r>
              <a:rPr lang="en-US" dirty="0" err="1"/>
              <a:t>int</a:t>
            </a:r>
            <a:r>
              <a:rPr lang="en-US" dirty="0"/>
              <a:t> main()</a:t>
            </a:r>
          </a:p>
          <a:p>
            <a:pPr marL="0" indent="0">
              <a:buNone/>
            </a:pPr>
            <a:r>
              <a:rPr lang="en-US" dirty="0"/>
              <a:t>{    </a:t>
            </a:r>
            <a:r>
              <a:rPr lang="en-US" dirty="0" err="1"/>
              <a:t>int</a:t>
            </a:r>
            <a:r>
              <a:rPr lang="en-US" dirty="0"/>
              <a:t> a[]={1,2,3,4,5};</a:t>
            </a:r>
          </a:p>
          <a:p>
            <a:pPr marL="0" indent="0">
              <a:buNone/>
            </a:pPr>
            <a:r>
              <a:rPr lang="en-US" dirty="0"/>
              <a:t>    </a:t>
            </a:r>
            <a:r>
              <a:rPr lang="en-US" dirty="0" err="1"/>
              <a:t>int</a:t>
            </a:r>
            <a:r>
              <a:rPr lang="en-US" dirty="0"/>
              <a:t> *</a:t>
            </a:r>
            <a:r>
              <a:rPr lang="en-US" dirty="0" err="1"/>
              <a:t>pj</a:t>
            </a:r>
            <a:r>
              <a:rPr lang="en-US" dirty="0"/>
              <a:t>;</a:t>
            </a:r>
          </a:p>
          <a:p>
            <a:pPr marL="0" indent="0">
              <a:buNone/>
            </a:pPr>
            <a:r>
              <a:rPr lang="en-US" dirty="0"/>
              <a:t>    </a:t>
            </a:r>
          </a:p>
          <a:p>
            <a:pPr marL="0" indent="0">
              <a:buNone/>
            </a:pPr>
            <a:r>
              <a:rPr lang="en-US" dirty="0"/>
              <a:t> for(</a:t>
            </a:r>
            <a:r>
              <a:rPr lang="en-US" dirty="0" err="1"/>
              <a:t>pj</a:t>
            </a:r>
            <a:r>
              <a:rPr lang="en-US" dirty="0"/>
              <a:t> = a; </a:t>
            </a:r>
            <a:r>
              <a:rPr lang="en-US" dirty="0" err="1"/>
              <a:t>pj</a:t>
            </a:r>
            <a:r>
              <a:rPr lang="en-US" dirty="0"/>
              <a:t> &lt; a + N; </a:t>
            </a:r>
            <a:r>
              <a:rPr lang="en-US" dirty="0" err="1"/>
              <a:t>pj</a:t>
            </a:r>
            <a:r>
              <a:rPr lang="en-US" dirty="0"/>
              <a:t>++)</a:t>
            </a:r>
          </a:p>
          <a:p>
            <a:pPr marL="0" indent="0">
              <a:buNone/>
            </a:pPr>
            <a:r>
              <a:rPr lang="en-US" dirty="0"/>
              <a:t>      {(*</a:t>
            </a:r>
            <a:r>
              <a:rPr lang="en-US" dirty="0" err="1"/>
              <a:t>pj</a:t>
            </a:r>
            <a:r>
              <a:rPr lang="en-US" dirty="0"/>
              <a:t>)++;</a:t>
            </a:r>
          </a:p>
          <a:p>
            <a:pPr marL="0" indent="0">
              <a:buNone/>
            </a:pPr>
            <a:r>
              <a:rPr lang="en-US" dirty="0"/>
              <a:t>      </a:t>
            </a:r>
            <a:r>
              <a:rPr lang="en-US" dirty="0" err="1"/>
              <a:t>printf</a:t>
            </a:r>
            <a:r>
              <a:rPr lang="en-US" dirty="0"/>
              <a:t>("\n %d",*</a:t>
            </a:r>
            <a:r>
              <a:rPr lang="en-US" dirty="0" err="1"/>
              <a:t>pj</a:t>
            </a:r>
            <a:r>
              <a:rPr lang="en-US" dirty="0"/>
              <a:t>);  }}</a:t>
            </a:r>
            <a:endParaRPr lang="tr-TR" dirty="0"/>
          </a:p>
        </p:txBody>
      </p:sp>
      <p:sp>
        <p:nvSpPr>
          <p:cNvPr id="4" name="İçerik Yer Tutucusu 3"/>
          <p:cNvSpPr>
            <a:spLocks noGrp="1"/>
          </p:cNvSpPr>
          <p:nvPr>
            <p:ph sz="half" idx="2"/>
          </p:nvPr>
        </p:nvSpPr>
        <p:spPr>
          <a:xfrm>
            <a:off x="6353666" y="1951348"/>
            <a:ext cx="4765438" cy="4220852"/>
          </a:xfrm>
        </p:spPr>
        <p:txBody>
          <a:bodyPr/>
          <a:lstStyle/>
          <a:p>
            <a:pPr marL="0" indent="0">
              <a:buNone/>
            </a:pPr>
            <a:r>
              <a:rPr lang="en-US" dirty="0"/>
              <a:t>#include&lt;</a:t>
            </a:r>
            <a:r>
              <a:rPr lang="en-US" dirty="0" err="1"/>
              <a:t>stdio.h</a:t>
            </a:r>
            <a:r>
              <a:rPr lang="en-US" dirty="0"/>
              <a:t>&gt;</a:t>
            </a:r>
          </a:p>
          <a:p>
            <a:pPr marL="0" indent="0">
              <a:buNone/>
            </a:pPr>
            <a:r>
              <a:rPr lang="en-US" dirty="0"/>
              <a:t># define N 5</a:t>
            </a:r>
          </a:p>
          <a:p>
            <a:pPr marL="0" indent="0">
              <a:buNone/>
            </a:pPr>
            <a:r>
              <a:rPr lang="en-US" dirty="0" err="1"/>
              <a:t>int</a:t>
            </a:r>
            <a:r>
              <a:rPr lang="en-US" dirty="0"/>
              <a:t> main()</a:t>
            </a:r>
          </a:p>
          <a:p>
            <a:pPr marL="0" indent="0">
              <a:buNone/>
            </a:pPr>
            <a:r>
              <a:rPr lang="en-US" dirty="0"/>
              <a:t>{    </a:t>
            </a:r>
            <a:r>
              <a:rPr lang="en-US" dirty="0" err="1"/>
              <a:t>int</a:t>
            </a:r>
            <a:r>
              <a:rPr lang="en-US" dirty="0"/>
              <a:t> a[]={1,2,3,4,5};</a:t>
            </a:r>
          </a:p>
          <a:p>
            <a:pPr marL="0" indent="0">
              <a:buNone/>
            </a:pPr>
            <a:r>
              <a:rPr lang="en-US" dirty="0"/>
              <a:t>    </a:t>
            </a:r>
            <a:r>
              <a:rPr lang="en-US" dirty="0" err="1"/>
              <a:t>int</a:t>
            </a:r>
            <a:r>
              <a:rPr lang="en-US" dirty="0"/>
              <a:t> j,*</a:t>
            </a:r>
            <a:r>
              <a:rPr lang="en-US" dirty="0" err="1"/>
              <a:t>pj</a:t>
            </a:r>
            <a:r>
              <a:rPr lang="en-US" dirty="0"/>
              <a:t>;</a:t>
            </a:r>
          </a:p>
          <a:p>
            <a:pPr marL="0" indent="0">
              <a:buNone/>
            </a:pPr>
            <a:r>
              <a:rPr lang="en-US" dirty="0"/>
              <a:t>    </a:t>
            </a:r>
          </a:p>
          <a:p>
            <a:pPr marL="0" indent="0">
              <a:buNone/>
            </a:pPr>
            <a:r>
              <a:rPr lang="en-US" dirty="0"/>
              <a:t> for(j = 0; j &lt; N; </a:t>
            </a:r>
            <a:r>
              <a:rPr lang="en-US" dirty="0" err="1"/>
              <a:t>j++</a:t>
            </a:r>
            <a:r>
              <a:rPr lang="en-US" dirty="0"/>
              <a:t>)</a:t>
            </a:r>
          </a:p>
          <a:p>
            <a:pPr marL="0" indent="0">
              <a:buNone/>
            </a:pPr>
            <a:r>
              <a:rPr lang="en-US" dirty="0"/>
              <a:t>    {a[j]++;</a:t>
            </a:r>
          </a:p>
          <a:p>
            <a:pPr marL="0" indent="0">
              <a:buNone/>
            </a:pPr>
            <a:r>
              <a:rPr lang="en-US" dirty="0"/>
              <a:t>      </a:t>
            </a:r>
            <a:r>
              <a:rPr lang="en-US" dirty="0" err="1"/>
              <a:t>printf</a:t>
            </a:r>
            <a:r>
              <a:rPr lang="en-US" dirty="0"/>
              <a:t>("\n %</a:t>
            </a:r>
            <a:r>
              <a:rPr lang="en-US" dirty="0" err="1"/>
              <a:t>d",a</a:t>
            </a:r>
            <a:r>
              <a:rPr lang="en-US" dirty="0"/>
              <a:t>[j]);  }}</a:t>
            </a:r>
            <a:endParaRPr lang="tr-TR" dirty="0"/>
          </a:p>
        </p:txBody>
      </p:sp>
      <p:sp>
        <p:nvSpPr>
          <p:cNvPr id="5" name="Altbilgi Yer Tutucusu 4"/>
          <p:cNvSpPr>
            <a:spLocks noGrp="1"/>
          </p:cNvSpPr>
          <p:nvPr>
            <p:ph type="ftr" sz="quarter" idx="11"/>
          </p:nvPr>
        </p:nvSpPr>
        <p:spPr/>
        <p:txBody>
          <a:bodyPr/>
          <a:lstStyle/>
          <a:p>
            <a:r>
              <a:rPr lang="en-US" smtClean="0"/>
              <a:t>Bilgisayar Programlama 1</a:t>
            </a:r>
            <a:endParaRPr lang="en-US" dirty="0"/>
          </a:p>
        </p:txBody>
      </p:sp>
      <p:sp>
        <p:nvSpPr>
          <p:cNvPr id="6" name="Slayt Numarası Yer Tutucusu 5"/>
          <p:cNvSpPr>
            <a:spLocks noGrp="1"/>
          </p:cNvSpPr>
          <p:nvPr>
            <p:ph type="sldNum" sz="quarter" idx="12"/>
          </p:nvPr>
        </p:nvSpPr>
        <p:spPr/>
        <p:txBody>
          <a:bodyPr/>
          <a:lstStyle/>
          <a:p>
            <a:fld id="{4FAB73BC-B049-4115-A692-8D63A059BFB8}" type="slidenum">
              <a:rPr lang="en-US" smtClean="0"/>
              <a:t>20</a:t>
            </a:fld>
            <a:endParaRPr lang="en-US" dirty="0"/>
          </a:p>
        </p:txBody>
      </p:sp>
      <p:pic>
        <p:nvPicPr>
          <p:cNvPr id="7" name="Resim 6"/>
          <p:cNvPicPr>
            <a:picLocks noChangeAspect="1"/>
          </p:cNvPicPr>
          <p:nvPr/>
        </p:nvPicPr>
        <p:blipFill>
          <a:blip r:embed="rId2"/>
          <a:stretch>
            <a:fillRect/>
          </a:stretch>
        </p:blipFill>
        <p:spPr>
          <a:xfrm>
            <a:off x="9381708" y="431589"/>
            <a:ext cx="1503820" cy="1572803"/>
          </a:xfrm>
          <a:prstGeom prst="rect">
            <a:avLst/>
          </a:prstGeom>
        </p:spPr>
      </p:pic>
    </p:spTree>
    <p:extLst>
      <p:ext uri="{BB962C8B-B14F-4D97-AF65-F5344CB8AC3E}">
        <p14:creationId xmlns:p14="http://schemas.microsoft.com/office/powerpoint/2010/main" val="14020904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26"/>
          <p:cNvSpPr>
            <a:spLocks noGrp="1" noChangeArrowheads="1"/>
          </p:cNvSpPr>
          <p:nvPr>
            <p:ph type="title"/>
          </p:nvPr>
        </p:nvSpPr>
        <p:spPr>
          <a:xfrm>
            <a:off x="1088136" y="0"/>
            <a:ext cx="10940466" cy="1022071"/>
          </a:xfrm>
        </p:spPr>
        <p:txBody>
          <a:bodyPr>
            <a:normAutofit fontScale="90000"/>
          </a:bodyPr>
          <a:lstStyle/>
          <a:p>
            <a:pPr eaLnBrk="1" hangingPunct="1"/>
            <a:r>
              <a:rPr lang="tr-TR" altLang="en-US" dirty="0" smtClean="0"/>
              <a:t>Örnek-Böyle sorular sınavlarda sorulabilir </a:t>
            </a:r>
            <a:endParaRPr lang="en-US" altLang="en-US" dirty="0" smtClean="0"/>
          </a:p>
        </p:txBody>
      </p:sp>
      <p:sp>
        <p:nvSpPr>
          <p:cNvPr id="8195" name="Text Box 1028"/>
          <p:cNvSpPr txBox="1">
            <a:spLocks noChangeArrowheads="1"/>
          </p:cNvSpPr>
          <p:nvPr/>
        </p:nvSpPr>
        <p:spPr bwMode="auto">
          <a:xfrm>
            <a:off x="1168924" y="823035"/>
            <a:ext cx="8639900" cy="56323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dirty="0"/>
              <a:t>#include&lt;</a:t>
            </a:r>
            <a:r>
              <a:rPr lang="en-US" altLang="en-US" sz="1800" dirty="0" err="1"/>
              <a:t>stdio.h</a:t>
            </a:r>
            <a:r>
              <a:rPr lang="en-US" altLang="en-US" sz="1800" dirty="0"/>
              <a:t>&gt;</a:t>
            </a:r>
          </a:p>
          <a:p>
            <a:pPr eaLnBrk="1" hangingPunct="1">
              <a:spcBef>
                <a:spcPct val="0"/>
              </a:spcBef>
              <a:buFontTx/>
              <a:buNone/>
            </a:pPr>
            <a:endParaRPr lang="en-US" altLang="en-US" sz="1800" dirty="0"/>
          </a:p>
          <a:p>
            <a:pPr eaLnBrk="1" hangingPunct="1">
              <a:spcBef>
                <a:spcPct val="0"/>
              </a:spcBef>
              <a:buFontTx/>
              <a:buNone/>
            </a:pPr>
            <a:r>
              <a:rPr lang="en-US" altLang="en-US" sz="1800" dirty="0" err="1"/>
              <a:t>int</a:t>
            </a:r>
            <a:r>
              <a:rPr lang="en-US" altLang="en-US" sz="1800" dirty="0"/>
              <a:t> main()</a:t>
            </a:r>
          </a:p>
          <a:p>
            <a:pPr eaLnBrk="1" hangingPunct="1">
              <a:spcBef>
                <a:spcPct val="0"/>
              </a:spcBef>
              <a:buFontTx/>
              <a:buNone/>
            </a:pPr>
            <a:r>
              <a:rPr lang="en-US" altLang="en-US" sz="1800" dirty="0"/>
              <a:t>{</a:t>
            </a:r>
          </a:p>
          <a:p>
            <a:pPr eaLnBrk="1" hangingPunct="1">
              <a:spcBef>
                <a:spcPct val="0"/>
              </a:spcBef>
              <a:buFontTx/>
              <a:buNone/>
            </a:pPr>
            <a:r>
              <a:rPr lang="en-US" altLang="en-US" sz="1800" dirty="0" err="1"/>
              <a:t>int</a:t>
            </a:r>
            <a:r>
              <a:rPr lang="en-US" altLang="en-US" sz="1800" dirty="0"/>
              <a:t> x[4] = {12, 20, 39, 43}, *y;</a:t>
            </a:r>
          </a:p>
          <a:p>
            <a:pPr eaLnBrk="1" hangingPunct="1">
              <a:spcBef>
                <a:spcPct val="0"/>
              </a:spcBef>
              <a:buFontTx/>
              <a:buNone/>
            </a:pPr>
            <a:r>
              <a:rPr lang="en-US" altLang="en-US" sz="1800" dirty="0"/>
              <a:t>y = &amp;x[0];		// y points to the beginning of the array</a:t>
            </a:r>
          </a:p>
          <a:p>
            <a:pPr eaLnBrk="1" hangingPunct="1">
              <a:spcBef>
                <a:spcPct val="0"/>
              </a:spcBef>
              <a:buFontTx/>
              <a:buNone/>
            </a:pPr>
            <a:r>
              <a:rPr lang="en-US" altLang="en-US" sz="1800" dirty="0" err="1"/>
              <a:t>printf</a:t>
            </a:r>
            <a:r>
              <a:rPr lang="en-US" altLang="en-US" sz="1800" dirty="0"/>
              <a:t>("%d\n", x[0]);	// 12 </a:t>
            </a:r>
          </a:p>
          <a:p>
            <a:pPr eaLnBrk="1" hangingPunct="1">
              <a:spcBef>
                <a:spcPct val="0"/>
              </a:spcBef>
              <a:buFontTx/>
              <a:buNone/>
            </a:pPr>
            <a:r>
              <a:rPr lang="en-US" altLang="en-US" sz="1800" dirty="0" err="1"/>
              <a:t>printf</a:t>
            </a:r>
            <a:r>
              <a:rPr lang="en-US" altLang="en-US" sz="1800" dirty="0"/>
              <a:t>("%d\n", *y);		// 12</a:t>
            </a:r>
          </a:p>
          <a:p>
            <a:pPr eaLnBrk="1" hangingPunct="1">
              <a:spcBef>
                <a:spcPct val="0"/>
              </a:spcBef>
              <a:buFontTx/>
              <a:buNone/>
            </a:pPr>
            <a:r>
              <a:rPr lang="en-US" altLang="en-US" sz="1800" dirty="0" err="1"/>
              <a:t>printf</a:t>
            </a:r>
            <a:r>
              <a:rPr lang="en-US" altLang="en-US" sz="1800" dirty="0"/>
              <a:t>("%d\n", *y+1);	// 13 (12 + 1)</a:t>
            </a:r>
          </a:p>
          <a:p>
            <a:pPr eaLnBrk="1" hangingPunct="1">
              <a:spcBef>
                <a:spcPct val="0"/>
              </a:spcBef>
              <a:buFontTx/>
              <a:buNone/>
            </a:pPr>
            <a:r>
              <a:rPr lang="en-US" altLang="en-US" sz="1800" dirty="0" err="1"/>
              <a:t>printf</a:t>
            </a:r>
            <a:r>
              <a:rPr lang="en-US" altLang="en-US" sz="1800" dirty="0"/>
              <a:t>("%d\n", (*y)+1);	// 13</a:t>
            </a:r>
          </a:p>
          <a:p>
            <a:pPr eaLnBrk="1" hangingPunct="1">
              <a:spcBef>
                <a:spcPct val="0"/>
              </a:spcBef>
              <a:buFontTx/>
              <a:buNone/>
            </a:pPr>
            <a:r>
              <a:rPr lang="en-US" altLang="en-US" sz="1800" dirty="0" err="1"/>
              <a:t>printf</a:t>
            </a:r>
            <a:r>
              <a:rPr lang="en-US" altLang="en-US" sz="1800" dirty="0"/>
              <a:t>("%d\n", *(y+1));	// x[1]   20</a:t>
            </a:r>
          </a:p>
          <a:p>
            <a:pPr eaLnBrk="1" hangingPunct="1">
              <a:spcBef>
                <a:spcPct val="0"/>
              </a:spcBef>
              <a:buFontTx/>
              <a:buNone/>
            </a:pPr>
            <a:r>
              <a:rPr lang="en-US" altLang="en-US" sz="1800" dirty="0"/>
              <a:t>y+=2;			// y x[2]</a:t>
            </a:r>
          </a:p>
          <a:p>
            <a:pPr eaLnBrk="1" hangingPunct="1">
              <a:spcBef>
                <a:spcPct val="0"/>
              </a:spcBef>
              <a:buFontTx/>
              <a:buNone/>
            </a:pPr>
            <a:r>
              <a:rPr lang="en-US" altLang="en-US" sz="1800" dirty="0" err="1"/>
              <a:t>printf</a:t>
            </a:r>
            <a:r>
              <a:rPr lang="en-US" altLang="en-US" sz="1800" dirty="0"/>
              <a:t>("%d\n", *y);		// 39</a:t>
            </a:r>
          </a:p>
          <a:p>
            <a:pPr eaLnBrk="1" hangingPunct="1">
              <a:spcBef>
                <a:spcPct val="0"/>
              </a:spcBef>
              <a:buFontTx/>
              <a:buNone/>
            </a:pPr>
            <a:r>
              <a:rPr lang="en-US" altLang="en-US" sz="1800" dirty="0"/>
              <a:t>*y = 38;			// x[2] </a:t>
            </a:r>
            <a:r>
              <a:rPr lang="en-US" altLang="en-US" sz="1800" dirty="0" err="1"/>
              <a:t>yi</a:t>
            </a:r>
            <a:r>
              <a:rPr lang="en-US" altLang="en-US" sz="1800" dirty="0"/>
              <a:t> 38 yap</a:t>
            </a:r>
          </a:p>
          <a:p>
            <a:pPr eaLnBrk="1" hangingPunct="1">
              <a:spcBef>
                <a:spcPct val="0"/>
              </a:spcBef>
              <a:buFontTx/>
              <a:buNone/>
            </a:pPr>
            <a:r>
              <a:rPr lang="en-US" altLang="en-US" sz="1800" dirty="0" err="1"/>
              <a:t>printf</a:t>
            </a:r>
            <a:r>
              <a:rPr lang="en-US" altLang="en-US" sz="1800" dirty="0"/>
              <a:t>("%d\n", *y-1);	// x[2] - 1 or 37</a:t>
            </a:r>
          </a:p>
          <a:p>
            <a:pPr eaLnBrk="1" hangingPunct="1">
              <a:spcBef>
                <a:spcPct val="0"/>
              </a:spcBef>
              <a:buFontTx/>
              <a:buNone/>
            </a:pPr>
            <a:r>
              <a:rPr lang="en-US" altLang="en-US" sz="1800" dirty="0"/>
              <a:t>*y++;			// </a:t>
            </a:r>
            <a:r>
              <a:rPr lang="en-US" altLang="en-US" sz="1800" dirty="0" err="1"/>
              <a:t>y'yi</a:t>
            </a:r>
            <a:r>
              <a:rPr lang="en-US" altLang="en-US" sz="1800" dirty="0"/>
              <a:t> </a:t>
            </a:r>
            <a:r>
              <a:rPr lang="en-US" altLang="en-US" sz="1800" dirty="0" err="1"/>
              <a:t>sonraki</a:t>
            </a:r>
            <a:r>
              <a:rPr lang="en-US" altLang="en-US" sz="1800" dirty="0"/>
              <a:t> </a:t>
            </a:r>
            <a:r>
              <a:rPr lang="en-US" altLang="en-US" sz="1800" dirty="0" err="1"/>
              <a:t>dizi</a:t>
            </a:r>
            <a:r>
              <a:rPr lang="en-US" altLang="en-US" sz="1800" dirty="0"/>
              <a:t> </a:t>
            </a:r>
            <a:r>
              <a:rPr lang="en-US" altLang="en-US" sz="1800" dirty="0" err="1"/>
              <a:t>öğesinde</a:t>
            </a:r>
            <a:r>
              <a:rPr lang="en-US" altLang="en-US" sz="1800" dirty="0"/>
              <a:t> </a:t>
            </a:r>
            <a:r>
              <a:rPr lang="en-US" altLang="en-US" sz="1800" dirty="0" err="1"/>
              <a:t>gösterecek</a:t>
            </a:r>
            <a:r>
              <a:rPr lang="en-US" altLang="en-US" sz="1800" dirty="0"/>
              <a:t> </a:t>
            </a:r>
            <a:r>
              <a:rPr lang="en-US" altLang="en-US" sz="1800" dirty="0" err="1"/>
              <a:t>şekilde</a:t>
            </a:r>
            <a:r>
              <a:rPr lang="en-US" altLang="en-US" sz="1800" dirty="0"/>
              <a:t> </a:t>
            </a:r>
            <a:r>
              <a:rPr lang="en-US" altLang="en-US" sz="1800" dirty="0" err="1"/>
              <a:t>ayarlar</a:t>
            </a:r>
            <a:endParaRPr lang="en-US" altLang="en-US" sz="1800" dirty="0"/>
          </a:p>
          <a:p>
            <a:pPr eaLnBrk="1" hangingPunct="1">
              <a:spcBef>
                <a:spcPct val="0"/>
              </a:spcBef>
              <a:buFontTx/>
              <a:buNone/>
            </a:pPr>
            <a:r>
              <a:rPr lang="en-US" altLang="en-US" sz="1800" dirty="0" err="1"/>
              <a:t>printf</a:t>
            </a:r>
            <a:r>
              <a:rPr lang="en-US" altLang="en-US" sz="1800" dirty="0"/>
              <a:t>("%d\n", *y);		// x[3] (43)</a:t>
            </a:r>
          </a:p>
          <a:p>
            <a:pPr eaLnBrk="1" hangingPunct="1">
              <a:spcBef>
                <a:spcPct val="0"/>
              </a:spcBef>
              <a:buFontTx/>
              <a:buNone/>
            </a:pPr>
            <a:r>
              <a:rPr lang="en-US" altLang="en-US" sz="1800" dirty="0"/>
              <a:t>(*y)++;			// y </a:t>
            </a:r>
            <a:r>
              <a:rPr lang="en-US" altLang="en-US" sz="1800" dirty="0" err="1"/>
              <a:t>nin</a:t>
            </a:r>
            <a:r>
              <a:rPr lang="en-US" altLang="en-US" sz="1800" dirty="0"/>
              <a:t> </a:t>
            </a:r>
            <a:r>
              <a:rPr lang="en-US" altLang="en-US" sz="1800" dirty="0" err="1"/>
              <a:t>değerini</a:t>
            </a:r>
            <a:r>
              <a:rPr lang="en-US" altLang="en-US" sz="1800" dirty="0"/>
              <a:t> 1 </a:t>
            </a:r>
            <a:r>
              <a:rPr lang="en-US" altLang="en-US" sz="1800" dirty="0" err="1"/>
              <a:t>artırır</a:t>
            </a:r>
            <a:endParaRPr lang="en-US" altLang="en-US" sz="1800" dirty="0"/>
          </a:p>
          <a:p>
            <a:pPr eaLnBrk="1" hangingPunct="1">
              <a:spcBef>
                <a:spcPct val="0"/>
              </a:spcBef>
              <a:buFontTx/>
              <a:buNone/>
            </a:pPr>
            <a:r>
              <a:rPr lang="en-US" altLang="en-US" sz="1800" dirty="0" err="1"/>
              <a:t>printf</a:t>
            </a:r>
            <a:r>
              <a:rPr lang="en-US" altLang="en-US" sz="1800" dirty="0"/>
              <a:t>("%d\n", *y);		//  x[3] (44)</a:t>
            </a:r>
          </a:p>
          <a:p>
            <a:pPr eaLnBrk="1" hangingPunct="1">
              <a:spcBef>
                <a:spcPct val="0"/>
              </a:spcBef>
              <a:buFontTx/>
              <a:buNone/>
            </a:pPr>
            <a:r>
              <a:rPr lang="en-US" altLang="en-US" sz="1800" dirty="0"/>
              <a:t>}</a:t>
            </a:r>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21</a:t>
            </a:fld>
            <a:endParaRPr lang="en-US" dirty="0"/>
          </a:p>
        </p:txBody>
      </p:sp>
      <p:pic>
        <p:nvPicPr>
          <p:cNvPr id="4" name="Resim 3"/>
          <p:cNvPicPr>
            <a:picLocks noChangeAspect="1"/>
          </p:cNvPicPr>
          <p:nvPr/>
        </p:nvPicPr>
        <p:blipFill>
          <a:blip r:embed="rId3"/>
          <a:stretch>
            <a:fillRect/>
          </a:stretch>
        </p:blipFill>
        <p:spPr>
          <a:xfrm>
            <a:off x="7612861" y="1022071"/>
            <a:ext cx="1810511" cy="2041640"/>
          </a:xfrm>
          <a:prstGeom prst="rect">
            <a:avLst/>
          </a:prstGeom>
        </p:spPr>
      </p:pic>
    </p:spTree>
    <p:extLst>
      <p:ext uri="{BB962C8B-B14F-4D97-AF65-F5344CB8AC3E}">
        <p14:creationId xmlns:p14="http://schemas.microsoft.com/office/powerpoint/2010/main" val="32274582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tr-TR" dirty="0" smtClean="0"/>
              <a:t>Pointers </a:t>
            </a:r>
            <a:r>
              <a:rPr lang="tr-TR" altLang="tr-TR" dirty="0" smtClean="0"/>
              <a:t>ve </a:t>
            </a:r>
            <a:r>
              <a:rPr lang="en-US" altLang="tr-TR" dirty="0" smtClean="0"/>
              <a:t> arrays</a:t>
            </a:r>
          </a:p>
        </p:txBody>
      </p:sp>
      <p:sp>
        <p:nvSpPr>
          <p:cNvPr id="14339" name="Content Placeholder 2"/>
          <p:cNvSpPr>
            <a:spLocks noGrp="1"/>
          </p:cNvSpPr>
          <p:nvPr>
            <p:ph idx="1"/>
          </p:nvPr>
        </p:nvSpPr>
        <p:spPr/>
        <p:txBody>
          <a:bodyPr/>
          <a:lstStyle/>
          <a:p>
            <a:r>
              <a:rPr lang="en-US" altLang="tr-TR" dirty="0" smtClean="0"/>
              <a:t>Pointers </a:t>
            </a:r>
            <a:r>
              <a:rPr lang="tr-TR" altLang="tr-TR" dirty="0" smtClean="0"/>
              <a:t>ve </a:t>
            </a:r>
            <a:r>
              <a:rPr lang="en-US" altLang="tr-TR" dirty="0" smtClean="0"/>
              <a:t> arrays </a:t>
            </a:r>
            <a:r>
              <a:rPr lang="tr-TR" altLang="tr-TR" dirty="0" smtClean="0"/>
              <a:t>birbiriyle son derece ilişkili programlama öğeleridir.</a:t>
            </a:r>
            <a:endParaRPr lang="en-US" altLang="tr-TR" dirty="0" smtClean="0"/>
          </a:p>
          <a:p>
            <a:pPr>
              <a:buFont typeface="Arial" panose="020B0604020202020204" pitchFamily="34" charset="0"/>
              <a:buNone/>
            </a:pPr>
            <a:r>
              <a:rPr lang="en-US" altLang="tr-TR" dirty="0" smtClean="0"/>
              <a:t>char a[] = “Hello World”;</a:t>
            </a:r>
          </a:p>
          <a:p>
            <a:pPr>
              <a:buFont typeface="Arial" panose="020B0604020202020204" pitchFamily="34" charset="0"/>
              <a:buNone/>
            </a:pPr>
            <a:r>
              <a:rPr lang="en-US" altLang="tr-TR" dirty="0" smtClean="0"/>
              <a:t>char *p = &amp;a[0];</a:t>
            </a:r>
          </a:p>
        </p:txBody>
      </p:sp>
      <p:pic>
        <p:nvPicPr>
          <p:cNvPr id="14340" name="Picture 3" descr="5_pointers_and_arrays.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3429001"/>
            <a:ext cx="8531225" cy="179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1"/>
          </p:nvPr>
        </p:nvSpPr>
        <p:spPr/>
        <p:txBody>
          <a:bodyPr/>
          <a:lstStyle/>
          <a:p>
            <a:pPr>
              <a:defRPr/>
            </a:pPr>
            <a:r>
              <a:rPr lang="en-US" smtClean="0"/>
              <a:t>Bilgisayar Programlama 1</a:t>
            </a:r>
            <a:endParaRPr lang="en-US"/>
          </a:p>
        </p:txBody>
      </p:sp>
      <p:sp>
        <p:nvSpPr>
          <p:cNvPr id="6" name="Slide Number Placeholder 5"/>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022045-E6A3-4F0F-9E06-6B1109B4A91F}" type="slidenum">
              <a:rPr lang="en-US" altLang="tr-TR">
                <a:solidFill>
                  <a:srgbClr val="898989"/>
                </a:solidFill>
              </a:rPr>
              <a:pPr/>
              <a:t>22</a:t>
            </a:fld>
            <a:endParaRPr lang="en-US" altLang="tr-TR">
              <a:solidFill>
                <a:srgbClr val="898989"/>
              </a:solidFill>
            </a:endParaRPr>
          </a:p>
        </p:txBody>
      </p:sp>
    </p:spTree>
    <p:extLst>
      <p:ext uri="{BB962C8B-B14F-4D97-AF65-F5344CB8AC3E}">
        <p14:creationId xmlns:p14="http://schemas.microsoft.com/office/powerpoint/2010/main" val="23173795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제목 1"/>
          <p:cNvSpPr>
            <a:spLocks noGrp="1"/>
          </p:cNvSpPr>
          <p:nvPr>
            <p:ph type="title"/>
          </p:nvPr>
        </p:nvSpPr>
        <p:spPr>
          <a:xfrm>
            <a:off x="845405" y="-138822"/>
            <a:ext cx="10058400" cy="1609344"/>
          </a:xfrm>
        </p:spPr>
        <p:txBody>
          <a:bodyPr/>
          <a:lstStyle/>
          <a:p>
            <a:r>
              <a:rPr lang="en-US" altLang="ko-KR" b="1" u="sng" dirty="0" smtClean="0"/>
              <a:t>String </a:t>
            </a:r>
            <a:r>
              <a:rPr lang="tr-TR" altLang="ko-KR" b="1" u="sng" dirty="0" smtClean="0"/>
              <a:t>girişi</a:t>
            </a:r>
            <a:endParaRPr lang="ko-KR" altLang="en-US" b="1" u="sng" dirty="0" smtClean="0"/>
          </a:p>
        </p:txBody>
      </p:sp>
      <p:sp>
        <p:nvSpPr>
          <p:cNvPr id="9219" name="내용 개체 틀 2"/>
          <p:cNvSpPr>
            <a:spLocks noGrp="1"/>
          </p:cNvSpPr>
          <p:nvPr>
            <p:ph idx="1"/>
          </p:nvPr>
        </p:nvSpPr>
        <p:spPr>
          <a:xfrm>
            <a:off x="609600" y="1474788"/>
            <a:ext cx="10972800" cy="4525962"/>
          </a:xfrm>
        </p:spPr>
        <p:txBody>
          <a:bodyPr>
            <a:normAutofit fontScale="92500" lnSpcReduction="10000"/>
          </a:bodyPr>
          <a:lstStyle/>
          <a:p>
            <a:r>
              <a:rPr lang="en-US" altLang="ko-KR" sz="2000" dirty="0" smtClean="0"/>
              <a:t>Example1)</a:t>
            </a:r>
          </a:p>
          <a:p>
            <a:pPr lvl="1" eaLnBrk="1" hangingPunct="1">
              <a:lnSpc>
                <a:spcPct val="90000"/>
              </a:lnSpc>
              <a:buFont typeface="Wingdings" pitchFamily="2" charset="2"/>
              <a:buNone/>
            </a:pPr>
            <a:r>
              <a:rPr lang="en-US" altLang="ko-KR" sz="1600" b="1" dirty="0" smtClean="0">
                <a:solidFill>
                  <a:srgbClr val="0000CC"/>
                </a:solidFill>
                <a:latin typeface="Courier New" pitchFamily="49" charset="0"/>
                <a:cs typeface="Courier New" pitchFamily="49" charset="0"/>
              </a:rPr>
              <a:t>char</a:t>
            </a:r>
            <a:r>
              <a:rPr lang="en-US" altLang="ko-KR" sz="1600" b="1" dirty="0" smtClean="0">
                <a:latin typeface="Courier New" pitchFamily="49" charset="0"/>
                <a:cs typeface="Courier New" pitchFamily="49" charset="0"/>
              </a:rPr>
              <a:t> *name; </a:t>
            </a:r>
          </a:p>
          <a:p>
            <a:pPr lvl="1" eaLnBrk="1" hangingPunct="1">
              <a:lnSpc>
                <a:spcPct val="90000"/>
              </a:lnSpc>
              <a:buFont typeface="Wingdings" pitchFamily="2" charset="2"/>
              <a:buNone/>
            </a:pPr>
            <a:r>
              <a:rPr lang="en-US" altLang="ko-KR" sz="1600" b="1" dirty="0" err="1" smtClean="0">
                <a:latin typeface="Courier New" pitchFamily="49" charset="0"/>
                <a:cs typeface="Courier New" pitchFamily="49" charset="0"/>
              </a:rPr>
              <a:t>scanf</a:t>
            </a:r>
            <a:r>
              <a:rPr lang="en-US" altLang="ko-KR" sz="1600" b="1" dirty="0" smtClean="0">
                <a:latin typeface="Courier New" pitchFamily="49" charset="0"/>
                <a:cs typeface="Courier New" pitchFamily="49" charset="0"/>
              </a:rPr>
              <a:t>("%s", name);</a:t>
            </a:r>
          </a:p>
          <a:p>
            <a:pPr lvl="1" eaLnBrk="1" hangingPunct="1">
              <a:lnSpc>
                <a:spcPct val="90000"/>
              </a:lnSpc>
              <a:buFont typeface="Wingdings" pitchFamily="2" charset="2"/>
              <a:buNone/>
            </a:pPr>
            <a:endParaRPr lang="en-US" altLang="ko-KR" sz="2400" dirty="0" smtClean="0"/>
          </a:p>
          <a:p>
            <a:r>
              <a:rPr lang="en-US" altLang="ko-KR" sz="2000" dirty="0" smtClean="0"/>
              <a:t>Example2)</a:t>
            </a:r>
          </a:p>
          <a:p>
            <a:pPr lvl="1" eaLnBrk="1" hangingPunct="1">
              <a:lnSpc>
                <a:spcPct val="90000"/>
              </a:lnSpc>
              <a:buFont typeface="Wingdings" pitchFamily="2" charset="2"/>
              <a:buNone/>
            </a:pPr>
            <a:r>
              <a:rPr lang="en-US" altLang="ko-KR" sz="1600" b="1" dirty="0" smtClean="0">
                <a:solidFill>
                  <a:srgbClr val="0000CC"/>
                </a:solidFill>
                <a:latin typeface="Courier New" pitchFamily="49" charset="0"/>
                <a:cs typeface="Courier New" pitchFamily="49" charset="0"/>
              </a:rPr>
              <a:t>char</a:t>
            </a:r>
            <a:r>
              <a:rPr lang="en-US" altLang="ko-KR" sz="1600" b="1" dirty="0" smtClean="0">
                <a:latin typeface="Courier New" pitchFamily="49" charset="0"/>
                <a:cs typeface="Courier New" pitchFamily="49" charset="0"/>
              </a:rPr>
              <a:t> name[81]; </a:t>
            </a:r>
          </a:p>
          <a:p>
            <a:pPr lvl="1" eaLnBrk="1" hangingPunct="1">
              <a:lnSpc>
                <a:spcPct val="90000"/>
              </a:lnSpc>
              <a:buFont typeface="Wingdings" pitchFamily="2" charset="2"/>
              <a:buNone/>
            </a:pPr>
            <a:r>
              <a:rPr lang="en-US" altLang="ko-KR" sz="1600" b="1" dirty="0" err="1" smtClean="0">
                <a:latin typeface="Courier New" pitchFamily="49" charset="0"/>
                <a:cs typeface="Courier New" pitchFamily="49" charset="0"/>
              </a:rPr>
              <a:t>scanf</a:t>
            </a:r>
            <a:r>
              <a:rPr lang="en-US" altLang="ko-KR" sz="1600" b="1" dirty="0" smtClean="0">
                <a:latin typeface="Courier New" pitchFamily="49" charset="0"/>
                <a:cs typeface="Courier New" pitchFamily="49" charset="0"/>
              </a:rPr>
              <a:t>("%s", name);</a:t>
            </a:r>
          </a:p>
          <a:p>
            <a:pPr lvl="1" eaLnBrk="1" hangingPunct="1">
              <a:lnSpc>
                <a:spcPct val="90000"/>
              </a:lnSpc>
              <a:buFont typeface="Wingdings" pitchFamily="2" charset="2"/>
              <a:buNone/>
            </a:pPr>
            <a:endParaRPr lang="en-US" altLang="ko-KR" sz="2400" dirty="0" smtClean="0"/>
          </a:p>
          <a:p>
            <a:r>
              <a:rPr lang="en-US" altLang="ko-KR" sz="2000" dirty="0" smtClean="0"/>
              <a:t>Example3)</a:t>
            </a:r>
          </a:p>
          <a:p>
            <a:pPr lvl="1" eaLnBrk="1" hangingPunct="1">
              <a:lnSpc>
                <a:spcPct val="90000"/>
              </a:lnSpc>
              <a:buFont typeface="Wingdings" pitchFamily="2" charset="2"/>
              <a:buNone/>
            </a:pPr>
            <a:r>
              <a:rPr lang="en-US" altLang="ko-KR" sz="1600" b="1" dirty="0" smtClean="0">
                <a:solidFill>
                  <a:srgbClr val="0000CC"/>
                </a:solidFill>
                <a:latin typeface="Courier New" pitchFamily="49" charset="0"/>
                <a:cs typeface="Courier New" pitchFamily="49" charset="0"/>
              </a:rPr>
              <a:t>char</a:t>
            </a:r>
            <a:r>
              <a:rPr lang="en-US" altLang="ko-KR" sz="1600" b="1" dirty="0" smtClean="0">
                <a:latin typeface="Courier New" pitchFamily="49" charset="0"/>
                <a:cs typeface="Courier New" pitchFamily="49" charset="0"/>
              </a:rPr>
              <a:t> *name; </a:t>
            </a:r>
          </a:p>
          <a:p>
            <a:pPr lvl="1" eaLnBrk="1" hangingPunct="1">
              <a:lnSpc>
                <a:spcPct val="90000"/>
              </a:lnSpc>
              <a:buFont typeface="Wingdings" pitchFamily="2" charset="2"/>
              <a:buNone/>
            </a:pPr>
            <a:r>
              <a:rPr lang="en-US" altLang="ko-KR" sz="1600" b="1" dirty="0" smtClean="0">
                <a:latin typeface="Courier New" pitchFamily="49" charset="0"/>
                <a:cs typeface="Courier New" pitchFamily="49" charset="0"/>
              </a:rPr>
              <a:t>name=(char*)</a:t>
            </a:r>
            <a:r>
              <a:rPr lang="en-US" altLang="ko-KR" sz="1600" b="1" dirty="0" err="1" smtClean="0">
                <a:latin typeface="Courier New" pitchFamily="49" charset="0"/>
                <a:cs typeface="Courier New" pitchFamily="49" charset="0"/>
              </a:rPr>
              <a:t>malloc</a:t>
            </a:r>
            <a:r>
              <a:rPr lang="en-US" altLang="ko-KR" sz="1600" b="1" dirty="0" smtClean="0">
                <a:latin typeface="Courier New" pitchFamily="49" charset="0"/>
                <a:cs typeface="Courier New" pitchFamily="49" charset="0"/>
              </a:rPr>
              <a:t>(</a:t>
            </a:r>
            <a:r>
              <a:rPr lang="en-US" altLang="ko-KR" sz="1600" b="1" dirty="0" err="1" smtClean="0">
                <a:latin typeface="Courier New" pitchFamily="49" charset="0"/>
                <a:cs typeface="Courier New" pitchFamily="49" charset="0"/>
              </a:rPr>
              <a:t>sizeof</a:t>
            </a:r>
            <a:r>
              <a:rPr lang="en-US" altLang="ko-KR" sz="1600" b="1" dirty="0" smtClean="0">
                <a:latin typeface="Courier New" pitchFamily="49" charset="0"/>
                <a:cs typeface="Courier New" pitchFamily="49" charset="0"/>
              </a:rPr>
              <a:t>(char)*81);</a:t>
            </a:r>
          </a:p>
          <a:p>
            <a:pPr lvl="1" eaLnBrk="1" hangingPunct="1">
              <a:lnSpc>
                <a:spcPct val="90000"/>
              </a:lnSpc>
              <a:buFont typeface="Wingdings" pitchFamily="2" charset="2"/>
              <a:buNone/>
            </a:pPr>
            <a:r>
              <a:rPr lang="en-US" altLang="ko-KR" sz="1600" b="1" dirty="0" err="1" smtClean="0">
                <a:latin typeface="Courier New" pitchFamily="49" charset="0"/>
                <a:cs typeface="Courier New" pitchFamily="49" charset="0"/>
              </a:rPr>
              <a:t>scanf</a:t>
            </a:r>
            <a:r>
              <a:rPr lang="en-US" altLang="ko-KR" sz="1600" b="1" dirty="0" smtClean="0">
                <a:latin typeface="Courier New" pitchFamily="49" charset="0"/>
                <a:cs typeface="Courier New" pitchFamily="49" charset="0"/>
              </a:rPr>
              <a:t>("%s", name);</a:t>
            </a:r>
          </a:p>
          <a:p>
            <a:pPr lvl="1" eaLnBrk="1" hangingPunct="1">
              <a:lnSpc>
                <a:spcPct val="90000"/>
              </a:lnSpc>
              <a:buFont typeface="Wingdings" pitchFamily="2" charset="2"/>
              <a:buNone/>
            </a:pPr>
            <a:r>
              <a:rPr lang="en-US" altLang="ko-KR" sz="1600" b="1" dirty="0" smtClean="0">
                <a:latin typeface="Courier New" pitchFamily="49" charset="0"/>
                <a:cs typeface="Courier New" pitchFamily="49" charset="0"/>
              </a:rPr>
              <a:t>…</a:t>
            </a:r>
          </a:p>
          <a:p>
            <a:pPr lvl="1" eaLnBrk="1" hangingPunct="1">
              <a:lnSpc>
                <a:spcPct val="90000"/>
              </a:lnSpc>
              <a:buFont typeface="Wingdings" pitchFamily="2" charset="2"/>
              <a:buNone/>
            </a:pPr>
            <a:endParaRPr lang="en-US" altLang="ko-KR" sz="1600" b="1" dirty="0" smtClean="0">
              <a:latin typeface="Courier New" pitchFamily="49" charset="0"/>
              <a:cs typeface="Courier New" pitchFamily="49" charset="0"/>
            </a:endParaRPr>
          </a:p>
          <a:p>
            <a:pPr lvl="1" eaLnBrk="1" hangingPunct="1">
              <a:lnSpc>
                <a:spcPct val="90000"/>
              </a:lnSpc>
              <a:buFont typeface="Wingdings" pitchFamily="2" charset="2"/>
              <a:buNone/>
            </a:pPr>
            <a:r>
              <a:rPr lang="en-US" altLang="ko-KR" sz="1600" b="1" dirty="0" smtClean="0">
                <a:latin typeface="Courier New" pitchFamily="49" charset="0"/>
                <a:cs typeface="Courier New" pitchFamily="49" charset="0"/>
              </a:rPr>
              <a:t>free(name); // </a:t>
            </a:r>
            <a:r>
              <a:rPr lang="tr-TR" altLang="ko-KR" sz="1600" b="1" dirty="0" smtClean="0">
                <a:latin typeface="Courier New" pitchFamily="49" charset="0"/>
                <a:cs typeface="Courier New" pitchFamily="49" charset="0"/>
              </a:rPr>
              <a:t>bellekten kaldırma- </a:t>
            </a:r>
            <a:r>
              <a:rPr lang="en-US" altLang="ko-KR" sz="1600" b="1" dirty="0" smtClean="0">
                <a:latin typeface="Courier New" pitchFamily="49" charset="0"/>
                <a:cs typeface="Courier New" pitchFamily="49" charset="0"/>
              </a:rPr>
              <a:t>deallocate </a:t>
            </a:r>
            <a:r>
              <a:rPr lang="tr-TR" altLang="ko-KR" sz="1600" b="1" dirty="0" smtClean="0">
                <a:latin typeface="Courier New" pitchFamily="49" charset="0"/>
                <a:cs typeface="Courier New" pitchFamily="49" charset="0"/>
              </a:rPr>
              <a:t>name</a:t>
            </a:r>
            <a:endParaRPr lang="en-US" altLang="ko-KR" sz="2400" dirty="0" smtClean="0"/>
          </a:p>
          <a:p>
            <a:pPr>
              <a:buFont typeface="Wingdings" pitchFamily="2" charset="2"/>
              <a:buNone/>
            </a:pPr>
            <a:endParaRPr lang="en-US" altLang="ko-KR" sz="2800" dirty="0" smtClean="0"/>
          </a:p>
          <a:p>
            <a:pPr>
              <a:buFont typeface="Wingdings" pitchFamily="2" charset="2"/>
              <a:buNone/>
            </a:pPr>
            <a:endParaRPr lang="ko-KR" altLang="en-US" sz="2800" dirty="0" smtClean="0"/>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23</a:t>
            </a:fld>
            <a:endParaRPr lang="en-US" dirty="0"/>
          </a:p>
        </p:txBody>
      </p:sp>
    </p:spTree>
    <p:extLst>
      <p:ext uri="{BB962C8B-B14F-4D97-AF65-F5344CB8AC3E}">
        <p14:creationId xmlns:p14="http://schemas.microsoft.com/office/powerpoint/2010/main" val="2678841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p:txBody>
          <a:bodyPr>
            <a:normAutofit fontScale="32500" lnSpcReduction="20000"/>
          </a:bodyPr>
          <a:lstStyle/>
          <a:p>
            <a:pPr marL="0" indent="0">
              <a:buNone/>
            </a:pPr>
            <a:r>
              <a:rPr lang="tr-TR" sz="4300" dirty="0"/>
              <a:t>#include &lt;stdio.h&gt;</a:t>
            </a:r>
          </a:p>
          <a:p>
            <a:pPr marL="0" indent="0">
              <a:buNone/>
            </a:pPr>
            <a:r>
              <a:rPr lang="tr-TR" sz="4300" dirty="0"/>
              <a:t>#include &lt;string.h&gt;</a:t>
            </a:r>
          </a:p>
          <a:p>
            <a:pPr marL="0" indent="0">
              <a:buNone/>
            </a:pPr>
            <a:r>
              <a:rPr lang="tr-TR" sz="4300" dirty="0"/>
              <a:t>int main()</a:t>
            </a:r>
          </a:p>
          <a:p>
            <a:pPr marL="0" indent="0">
              <a:buNone/>
            </a:pPr>
            <a:r>
              <a:rPr lang="tr-TR" sz="4300" dirty="0"/>
              <a:t>{</a:t>
            </a:r>
          </a:p>
          <a:p>
            <a:pPr marL="0" indent="0">
              <a:buNone/>
            </a:pPr>
            <a:r>
              <a:rPr lang="tr-TR" sz="4300" dirty="0"/>
              <a:t>	char metin[] = "Ara sinava az kaldi...";</a:t>
            </a:r>
          </a:p>
          <a:p>
            <a:pPr marL="0" indent="0">
              <a:buNone/>
            </a:pPr>
            <a:r>
              <a:rPr lang="tr-TR" sz="4300" dirty="0"/>
              <a:t>	char *p = metin;</a:t>
            </a:r>
          </a:p>
          <a:p>
            <a:pPr marL="0" indent="0">
              <a:buNone/>
            </a:pPr>
            <a:r>
              <a:rPr lang="tr-TR" sz="4300" dirty="0"/>
              <a:t>	int i;</a:t>
            </a:r>
          </a:p>
          <a:p>
            <a:pPr marL="0" indent="0">
              <a:buNone/>
            </a:pPr>
            <a:r>
              <a:rPr lang="tr-TR" sz="4300" dirty="0"/>
              <a:t>    	putchar(*(p+1));</a:t>
            </a:r>
          </a:p>
          <a:p>
            <a:pPr marL="822960" lvl="3" indent="0">
              <a:buNone/>
            </a:pPr>
            <a:r>
              <a:rPr lang="tr-TR" sz="4300" dirty="0"/>
              <a:t>  putchar('\n');</a:t>
            </a:r>
          </a:p>
          <a:p>
            <a:pPr marL="0" indent="0">
              <a:buNone/>
            </a:pPr>
            <a:r>
              <a:rPr lang="tr-TR" sz="4300" dirty="0"/>
              <a:t>	for (i=0; i&lt;strlen(metin); i++) putchar(*(p+i));</a:t>
            </a:r>
          </a:p>
          <a:p>
            <a:pPr marL="0" indent="0">
              <a:buNone/>
            </a:pPr>
            <a:r>
              <a:rPr lang="tr-TR" sz="4300" dirty="0" smtClean="0"/>
              <a:t>	putchar</a:t>
            </a:r>
            <a:r>
              <a:rPr lang="tr-TR" sz="4300" dirty="0"/>
              <a:t>('\n');</a:t>
            </a:r>
          </a:p>
          <a:p>
            <a:pPr marL="0" indent="0">
              <a:buNone/>
            </a:pPr>
            <a:r>
              <a:rPr lang="tr-TR" sz="4300" dirty="0"/>
              <a:t>	for (i=0; i&lt;strlen(metin); i++) putchar(p[i]);</a:t>
            </a:r>
          </a:p>
          <a:p>
            <a:pPr marL="0" indent="0">
              <a:buNone/>
            </a:pPr>
            <a:r>
              <a:rPr lang="tr-TR" sz="4300" dirty="0" smtClean="0"/>
              <a:t>}</a:t>
            </a:r>
            <a:endParaRPr lang="tr-TR" sz="4300" dirty="0"/>
          </a:p>
          <a:p>
            <a:pPr marL="0" indent="0">
              <a:buNone/>
            </a:pPr>
            <a:endParaRPr lang="tr-TR" dirty="0"/>
          </a:p>
        </p:txBody>
      </p:sp>
      <p:sp>
        <p:nvSpPr>
          <p:cNvPr id="4" name="Altbilgi Yer Tutucusu 3"/>
          <p:cNvSpPr>
            <a:spLocks noGrp="1"/>
          </p:cNvSpPr>
          <p:nvPr>
            <p:ph type="ftr" sz="quarter" idx="11"/>
          </p:nvPr>
        </p:nvSpPr>
        <p:spPr/>
        <p:txBody>
          <a:bodyPr/>
          <a:lstStyle/>
          <a:p>
            <a:r>
              <a:rPr lang="en-US" dirty="0" err="1" smtClean="0"/>
              <a:t>Bilgisayar</a:t>
            </a:r>
            <a:r>
              <a:rPr lang="en-US" dirty="0" smtClean="0"/>
              <a:t> </a:t>
            </a:r>
            <a:r>
              <a:rPr lang="en-US" dirty="0" err="1" smtClean="0"/>
              <a:t>Programlama</a:t>
            </a:r>
            <a:r>
              <a:rPr lang="en-US" dirty="0" smtClean="0"/>
              <a:t>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24</a:t>
            </a:fld>
            <a:endParaRPr lang="en-US" dirty="0"/>
          </a:p>
        </p:txBody>
      </p:sp>
      <p:pic>
        <p:nvPicPr>
          <p:cNvPr id="6" name="Picture 5"/>
          <p:cNvPicPr/>
          <p:nvPr/>
        </p:nvPicPr>
        <p:blipFill rotWithShape="1">
          <a:blip r:embed="rId2"/>
          <a:srcRect l="48947" t="31704" r="26477" b="46631"/>
          <a:stretch/>
        </p:blipFill>
        <p:spPr bwMode="auto">
          <a:xfrm>
            <a:off x="6921318" y="3050811"/>
            <a:ext cx="3894727" cy="168665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0981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09800" y="-228600"/>
            <a:ext cx="7772400" cy="1143000"/>
          </a:xfrm>
        </p:spPr>
        <p:txBody>
          <a:bodyPr/>
          <a:lstStyle/>
          <a:p>
            <a:pPr eaLnBrk="1" hangingPunct="1"/>
            <a:r>
              <a:rPr lang="en-US" altLang="en-US" dirty="0" smtClean="0"/>
              <a:t>Strings</a:t>
            </a:r>
          </a:p>
        </p:txBody>
      </p:sp>
      <p:sp>
        <p:nvSpPr>
          <p:cNvPr id="9219" name="Rectangle 3"/>
          <p:cNvSpPr>
            <a:spLocks noGrp="1" noChangeArrowheads="1"/>
          </p:cNvSpPr>
          <p:nvPr>
            <p:ph type="body" idx="1"/>
          </p:nvPr>
        </p:nvSpPr>
        <p:spPr>
          <a:xfrm>
            <a:off x="1569720" y="1399903"/>
            <a:ext cx="8610600" cy="6019800"/>
          </a:xfrm>
        </p:spPr>
        <p:txBody>
          <a:bodyPr>
            <a:normAutofit/>
          </a:bodyPr>
          <a:lstStyle/>
          <a:p>
            <a:pPr eaLnBrk="1" hangingPunct="1">
              <a:lnSpc>
                <a:spcPct val="80000"/>
              </a:lnSpc>
            </a:pPr>
            <a:r>
              <a:rPr lang="tr-TR" altLang="en-US" sz="2400" dirty="0" smtClean="0"/>
              <a:t>C de  </a:t>
            </a:r>
            <a:r>
              <a:rPr lang="en-US" altLang="en-US" sz="2400" dirty="0" smtClean="0"/>
              <a:t>string </a:t>
            </a:r>
            <a:r>
              <a:rPr lang="tr-TR" altLang="en-US" sz="2400" dirty="0" smtClean="0"/>
              <a:t>tip yoktur</a:t>
            </a:r>
            <a:r>
              <a:rPr lang="en-US" altLang="en-US" sz="2400" dirty="0" smtClean="0"/>
              <a:t>, </a:t>
            </a:r>
            <a:r>
              <a:rPr lang="tr-TR" altLang="en-US" sz="2400" dirty="0" smtClean="0"/>
              <a:t>karakter dizileri tanımlanarak </a:t>
            </a:r>
            <a:r>
              <a:rPr lang="tr-TR" altLang="en-US" sz="2400" dirty="0" err="1" smtClean="0"/>
              <a:t>string</a:t>
            </a:r>
            <a:r>
              <a:rPr lang="tr-TR" altLang="en-US" sz="2400" dirty="0" smtClean="0"/>
              <a:t> uygulamaları yapılır </a:t>
            </a:r>
            <a:endParaRPr lang="en-US" altLang="en-US" sz="2400" dirty="0"/>
          </a:p>
          <a:p>
            <a:pPr lvl="1">
              <a:lnSpc>
                <a:spcPct val="80000"/>
              </a:lnSpc>
            </a:pPr>
            <a:r>
              <a:rPr lang="tr-TR" sz="2000" dirty="0" err="1" smtClean="0"/>
              <a:t>char</a:t>
            </a:r>
            <a:r>
              <a:rPr lang="tr-TR" sz="2000" dirty="0" smtClean="0"/>
              <a:t> </a:t>
            </a:r>
            <a:r>
              <a:rPr lang="tr-TR" sz="2000" dirty="0" err="1"/>
              <a:t>str</a:t>
            </a:r>
            <a:r>
              <a:rPr lang="tr-TR" sz="2000" dirty="0"/>
              <a:t> [10]; // </a:t>
            </a:r>
            <a:r>
              <a:rPr lang="tr-TR" sz="2000" dirty="0" err="1"/>
              <a:t>str</a:t>
            </a:r>
            <a:r>
              <a:rPr lang="tr-TR" sz="2000" dirty="0"/>
              <a:t>, 10 </a:t>
            </a:r>
            <a:r>
              <a:rPr lang="tr-TR" sz="2000" dirty="0" smtClean="0"/>
              <a:t>karakterden oluşan </a:t>
            </a:r>
            <a:r>
              <a:rPr lang="tr-TR" sz="2000" dirty="0"/>
              <a:t>bir </a:t>
            </a:r>
            <a:r>
              <a:rPr lang="tr-TR" sz="2000" dirty="0" smtClean="0"/>
              <a:t>dizidir</a:t>
            </a:r>
          </a:p>
          <a:p>
            <a:pPr lvl="1">
              <a:lnSpc>
                <a:spcPct val="80000"/>
              </a:lnSpc>
            </a:pPr>
            <a:r>
              <a:rPr lang="tr-TR" sz="2000" dirty="0" smtClean="0"/>
              <a:t>char </a:t>
            </a:r>
            <a:r>
              <a:rPr lang="tr-TR" sz="2000" dirty="0"/>
              <a:t>* str; // str belirtilmemiş uzunluktaki bir </a:t>
            </a:r>
            <a:r>
              <a:rPr lang="tr-TR" sz="2000" dirty="0" smtClean="0"/>
              <a:t>stringin </a:t>
            </a:r>
            <a:r>
              <a:rPr lang="tr-TR" sz="2000" dirty="0"/>
              <a:t>başlangıcını </a:t>
            </a:r>
            <a:r>
              <a:rPr lang="tr-TR" sz="2000" dirty="0" smtClean="0"/>
              <a:t>gösterir</a:t>
            </a:r>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25</a:t>
            </a:fld>
            <a:endParaRPr lang="en-US" dirty="0"/>
          </a:p>
        </p:txBody>
      </p:sp>
    </p:spTree>
    <p:extLst>
      <p:ext uri="{BB962C8B-B14F-4D97-AF65-F5344CB8AC3E}">
        <p14:creationId xmlns:p14="http://schemas.microsoft.com/office/powerpoint/2010/main" val="2999514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Strings</a:t>
            </a:r>
            <a:endParaRPr lang="tr-TR" dirty="0"/>
          </a:p>
        </p:txBody>
      </p:sp>
      <p:sp>
        <p:nvSpPr>
          <p:cNvPr id="3" name="Content Placeholder 2"/>
          <p:cNvSpPr>
            <a:spLocks noGrp="1"/>
          </p:cNvSpPr>
          <p:nvPr>
            <p:ph idx="1"/>
          </p:nvPr>
        </p:nvSpPr>
        <p:spPr/>
        <p:txBody>
          <a:bodyPr>
            <a:normAutofit/>
          </a:bodyPr>
          <a:lstStyle/>
          <a:p>
            <a:pPr>
              <a:lnSpc>
                <a:spcPct val="80000"/>
              </a:lnSpc>
            </a:pPr>
            <a:r>
              <a:rPr lang="tr-TR" sz="2400" dirty="0"/>
              <a:t>Çok sayıda dize işlevine sahip bir string.h kütüphanesi vardır, hepsi karakter dizileri üzerinde çalışır ve şunları içerir:</a:t>
            </a:r>
          </a:p>
          <a:p>
            <a:pPr lvl="1">
              <a:lnSpc>
                <a:spcPct val="80000"/>
              </a:lnSpc>
            </a:pPr>
            <a:r>
              <a:rPr lang="tr-TR" sz="2000" dirty="0"/>
              <a:t>strcpy (s1, s2) - s2'yi s1'e kopyalar (son karakter olarak ‘\ 0’ dahil)</a:t>
            </a:r>
          </a:p>
          <a:p>
            <a:pPr lvl="1">
              <a:lnSpc>
                <a:spcPct val="80000"/>
              </a:lnSpc>
            </a:pPr>
            <a:r>
              <a:rPr lang="tr-TR" sz="2000" dirty="0"/>
              <a:t>strncpy (s1, s2, n) - aynı ancak yalnızca s2'ye kadar n kopyaya kadar kopyalar</a:t>
            </a:r>
          </a:p>
          <a:p>
            <a:pPr lvl="1">
              <a:lnSpc>
                <a:spcPct val="80000"/>
              </a:lnSpc>
            </a:pPr>
            <a:r>
              <a:rPr lang="tr-TR" sz="2000" dirty="0"/>
              <a:t>strcmp (s1, s2) - s1 &lt;s2 ise negatif bir int, s1 = = s2 ise 0 ve s1&gt; s2 ise pozitif bir int döndürür</a:t>
            </a:r>
          </a:p>
          <a:p>
            <a:pPr lvl="1">
              <a:lnSpc>
                <a:spcPct val="80000"/>
              </a:lnSpc>
            </a:pPr>
            <a:r>
              <a:rPr lang="tr-TR" sz="2000" dirty="0"/>
              <a:t>strncmp (s1, s2, n) - aynı ancak yalnızca n karakterle karşılaştırır</a:t>
            </a:r>
          </a:p>
          <a:p>
            <a:pPr lvl="1">
              <a:lnSpc>
                <a:spcPct val="80000"/>
              </a:lnSpc>
            </a:pPr>
            <a:r>
              <a:rPr lang="tr-TR" sz="2000" dirty="0"/>
              <a:t>strcat (s1, s2) - s2'yi s1'e birleştirir (bu s1'i değiştirir, ancak s2'yi değiştirmez)</a:t>
            </a:r>
          </a:p>
          <a:p>
            <a:endParaRPr lang="tr-TR" dirty="0"/>
          </a:p>
        </p:txBody>
      </p:sp>
      <p:sp>
        <p:nvSpPr>
          <p:cNvPr id="4" name="Footer Placeholder 3"/>
          <p:cNvSpPr>
            <a:spLocks noGrp="1"/>
          </p:cNvSpPr>
          <p:nvPr>
            <p:ph type="ftr" sz="quarter" idx="11"/>
          </p:nvPr>
        </p:nvSpPr>
        <p:spPr/>
        <p:txBody>
          <a:bodyPr/>
          <a:lstStyle/>
          <a:p>
            <a:r>
              <a:rPr lang="en-US" smtClean="0"/>
              <a:t>Bilgisayar Programlama 1</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26</a:t>
            </a:fld>
            <a:endParaRPr lang="en-US" dirty="0"/>
          </a:p>
        </p:txBody>
      </p:sp>
    </p:spTree>
    <p:extLst>
      <p:ext uri="{BB962C8B-B14F-4D97-AF65-F5344CB8AC3E}">
        <p14:creationId xmlns:p14="http://schemas.microsoft.com/office/powerpoint/2010/main" val="3497409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Strings</a:t>
            </a:r>
            <a:endParaRPr lang="tr-TR" dirty="0"/>
          </a:p>
        </p:txBody>
      </p:sp>
      <p:sp>
        <p:nvSpPr>
          <p:cNvPr id="3" name="Content Placeholder 2"/>
          <p:cNvSpPr>
            <a:spLocks noGrp="1"/>
          </p:cNvSpPr>
          <p:nvPr>
            <p:ph idx="1"/>
          </p:nvPr>
        </p:nvSpPr>
        <p:spPr/>
        <p:txBody>
          <a:bodyPr/>
          <a:lstStyle/>
          <a:p>
            <a:pPr lvl="1">
              <a:lnSpc>
                <a:spcPct val="80000"/>
              </a:lnSpc>
            </a:pPr>
            <a:r>
              <a:rPr lang="tr-TR" sz="2000" dirty="0"/>
              <a:t>strncat (s1, s2, n) - aynı ancak yalnızca n karaktere kadar birleştirir</a:t>
            </a:r>
          </a:p>
          <a:p>
            <a:pPr lvl="1">
              <a:lnSpc>
                <a:spcPct val="80000"/>
              </a:lnSpc>
            </a:pPr>
            <a:r>
              <a:rPr lang="tr-TR" sz="2000" dirty="0"/>
              <a:t>strlen (s1) - s1 tamsayı uzunluğunu döndürür</a:t>
            </a:r>
          </a:p>
          <a:p>
            <a:pPr lvl="1">
              <a:lnSpc>
                <a:spcPct val="80000"/>
              </a:lnSpc>
            </a:pPr>
            <a:r>
              <a:rPr lang="tr-TR" sz="2000" dirty="0"/>
              <a:t>strchr (s1, ch) - s1'deki ilk ch oluşumuna bir işaretçi döndürür (veya ch yoksa NULL)</a:t>
            </a:r>
          </a:p>
          <a:p>
            <a:pPr lvl="1">
              <a:lnSpc>
                <a:spcPct val="80000"/>
              </a:lnSpc>
            </a:pPr>
            <a:r>
              <a:rPr lang="tr-TR" sz="2000" dirty="0"/>
              <a:t>strpbrk (s1, s2) - s1'de s2'deki bir karakterle eşleşen herhangi bir karakterin ilk oluşumuna (veya yok ise NULL) bir işaretçi döndürür</a:t>
            </a:r>
          </a:p>
          <a:p>
            <a:pPr lvl="1">
              <a:lnSpc>
                <a:spcPct val="80000"/>
              </a:lnSpc>
            </a:pPr>
            <a:r>
              <a:rPr lang="tr-TR" sz="2000" dirty="0"/>
              <a:t>strstr (s1, s2) - Fonksiyon başlangıç adresi s1 olan yazı içinde başlangıç adresi s2 olan yazıyı arar. Eğer aranılan yazı bulunursa fonksiyonun geri dönüş değeri bulunan yerin adresidir. Eğer yazı bulunmazsa fonksiyon NULL adresine geri döner. Fonksiyonu </a:t>
            </a:r>
            <a:r>
              <a:rPr lang="tr-TR" dirty="0"/>
              <a:t>mystrstr</a:t>
            </a:r>
            <a:r>
              <a:rPr lang="tr-TR" sz="2000" dirty="0"/>
              <a:t> ismiyle tanımlayınız.</a:t>
            </a:r>
            <a:endParaRPr lang="en-US" altLang="en-US" sz="2000" dirty="0"/>
          </a:p>
          <a:p>
            <a:endParaRPr lang="tr-TR" dirty="0"/>
          </a:p>
        </p:txBody>
      </p:sp>
      <p:sp>
        <p:nvSpPr>
          <p:cNvPr id="4" name="Footer Placeholder 3"/>
          <p:cNvSpPr>
            <a:spLocks noGrp="1"/>
          </p:cNvSpPr>
          <p:nvPr>
            <p:ph type="ftr" sz="quarter" idx="11"/>
          </p:nvPr>
        </p:nvSpPr>
        <p:spPr/>
        <p:txBody>
          <a:bodyPr/>
          <a:lstStyle/>
          <a:p>
            <a:r>
              <a:rPr lang="en-US" smtClean="0"/>
              <a:t>Bilgisayar Programlama 1</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27</a:t>
            </a:fld>
            <a:endParaRPr lang="en-US" dirty="0"/>
          </a:p>
        </p:txBody>
      </p:sp>
    </p:spTree>
    <p:extLst>
      <p:ext uri="{BB962C8B-B14F-4D97-AF65-F5344CB8AC3E}">
        <p14:creationId xmlns:p14="http://schemas.microsoft.com/office/powerpoint/2010/main" val="2594389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DİKKAT</a:t>
            </a:r>
            <a:endParaRPr lang="tr-TR" dirty="0"/>
          </a:p>
        </p:txBody>
      </p:sp>
      <p:sp>
        <p:nvSpPr>
          <p:cNvPr id="3" name="İçerik Yer Tutucusu 2"/>
          <p:cNvSpPr>
            <a:spLocks noGrp="1"/>
          </p:cNvSpPr>
          <p:nvPr>
            <p:ph idx="1"/>
          </p:nvPr>
        </p:nvSpPr>
        <p:spPr/>
        <p:txBody>
          <a:bodyPr>
            <a:normAutofit lnSpcReduction="10000"/>
          </a:bodyPr>
          <a:lstStyle/>
          <a:p>
            <a:r>
              <a:rPr lang="tr-TR" b="1" dirty="0" err="1"/>
              <a:t>Strings</a:t>
            </a:r>
            <a:r>
              <a:rPr lang="tr-TR" b="1" dirty="0"/>
              <a:t> </a:t>
            </a:r>
            <a:r>
              <a:rPr lang="tr-TR" b="1" dirty="0" err="1"/>
              <a:t>using</a:t>
            </a:r>
            <a:r>
              <a:rPr lang="tr-TR" b="1" dirty="0"/>
              <a:t> </a:t>
            </a:r>
            <a:r>
              <a:rPr lang="tr-TR" b="1" dirty="0" err="1"/>
              <a:t>character</a:t>
            </a:r>
            <a:r>
              <a:rPr lang="tr-TR" b="1" dirty="0"/>
              <a:t> </a:t>
            </a:r>
            <a:r>
              <a:rPr lang="tr-TR" b="1" dirty="0" err="1" smtClean="0"/>
              <a:t>pointers</a:t>
            </a:r>
            <a:endParaRPr lang="tr-TR" b="1" dirty="0" smtClean="0"/>
          </a:p>
          <a:p>
            <a:r>
              <a:rPr lang="tr-TR" dirty="0" smtClean="0"/>
              <a:t>Paylaşılan </a:t>
            </a:r>
            <a:r>
              <a:rPr lang="tr-TR" dirty="0"/>
              <a:t>bir </a:t>
            </a:r>
            <a:r>
              <a:rPr lang="tr-TR" dirty="0" err="1"/>
              <a:t>segmentteki</a:t>
            </a:r>
            <a:r>
              <a:rPr lang="tr-TR" dirty="0"/>
              <a:t> salt </a:t>
            </a:r>
            <a:r>
              <a:rPr lang="tr-TR" dirty="0" smtClean="0"/>
              <a:t>okunur </a:t>
            </a:r>
            <a:r>
              <a:rPr lang="tr-TR" dirty="0" err="1" smtClean="0"/>
              <a:t>string</a:t>
            </a:r>
            <a:endParaRPr lang="tr-TR" dirty="0" smtClean="0"/>
          </a:p>
          <a:p>
            <a:r>
              <a:rPr lang="tr-TR" dirty="0" smtClean="0"/>
              <a:t>Bir </a:t>
            </a:r>
            <a:r>
              <a:rPr lang="tr-TR" dirty="0" err="1" smtClean="0"/>
              <a:t>string</a:t>
            </a:r>
            <a:r>
              <a:rPr lang="tr-TR" dirty="0" smtClean="0"/>
              <a:t> </a:t>
            </a:r>
            <a:r>
              <a:rPr lang="tr-TR" dirty="0"/>
              <a:t>değeri doğrudan bir işaretçiye atandığında, derleyicilerin çoğunda, işlevler arasında paylaşılan salt okunur bir blokta (genellikle veri </a:t>
            </a:r>
            <a:r>
              <a:rPr lang="tr-TR" dirty="0" err="1"/>
              <a:t>segmentinde</a:t>
            </a:r>
            <a:r>
              <a:rPr lang="tr-TR" dirty="0"/>
              <a:t>) depolanır.</a:t>
            </a:r>
            <a:br>
              <a:rPr lang="tr-TR" dirty="0"/>
            </a:br>
            <a:r>
              <a:rPr lang="tr-TR" dirty="0"/>
              <a:t/>
            </a:r>
            <a:br>
              <a:rPr lang="tr-TR" dirty="0"/>
            </a:br>
            <a:r>
              <a:rPr lang="tr-TR" dirty="0"/>
              <a:t/>
            </a:r>
            <a:br>
              <a:rPr lang="tr-TR" dirty="0"/>
            </a:br>
            <a:r>
              <a:rPr lang="tr-TR" dirty="0" err="1"/>
              <a:t>char</a:t>
            </a:r>
            <a:r>
              <a:rPr lang="tr-TR" dirty="0"/>
              <a:t> * </a:t>
            </a:r>
            <a:r>
              <a:rPr lang="tr-TR" dirty="0" err="1"/>
              <a:t>str</a:t>
            </a:r>
            <a:r>
              <a:rPr lang="tr-TR" dirty="0"/>
              <a:t> = "</a:t>
            </a:r>
            <a:r>
              <a:rPr lang="tr-TR" dirty="0" err="1"/>
              <a:t>GfG</a:t>
            </a:r>
            <a:r>
              <a:rPr lang="tr-TR" dirty="0"/>
              <a:t>";</a:t>
            </a:r>
            <a:br>
              <a:rPr lang="tr-TR" dirty="0"/>
            </a:br>
            <a:r>
              <a:rPr lang="tr-TR" dirty="0"/>
              <a:t/>
            </a:r>
            <a:br>
              <a:rPr lang="tr-TR" dirty="0"/>
            </a:br>
            <a:r>
              <a:rPr lang="tr-TR" dirty="0"/>
              <a:t>Yukarıdaki satırda “</a:t>
            </a:r>
            <a:r>
              <a:rPr lang="tr-TR" dirty="0" err="1"/>
              <a:t>GfG</a:t>
            </a:r>
            <a:r>
              <a:rPr lang="tr-TR" dirty="0"/>
              <a:t>” paylaşılan bir salt okunur konumda saklanır, ancak </a:t>
            </a:r>
            <a:r>
              <a:rPr lang="tr-TR" dirty="0" err="1"/>
              <a:t>pointer</a:t>
            </a:r>
            <a:r>
              <a:rPr lang="tr-TR" dirty="0"/>
              <a:t> </a:t>
            </a:r>
            <a:r>
              <a:rPr lang="tr-TR" dirty="0" err="1"/>
              <a:t>str</a:t>
            </a:r>
            <a:r>
              <a:rPr lang="tr-TR" dirty="0"/>
              <a:t> bir okuma-yazma belleğinde saklanır. Başka bir şeyi işaret etmek için </a:t>
            </a:r>
            <a:r>
              <a:rPr lang="tr-TR" dirty="0" err="1"/>
              <a:t>str'yi</a:t>
            </a:r>
            <a:r>
              <a:rPr lang="tr-TR" dirty="0"/>
              <a:t> değiştirebilirsiniz </a:t>
            </a:r>
            <a:r>
              <a:rPr lang="tr-TR" dirty="0">
                <a:solidFill>
                  <a:srgbClr val="FF0000"/>
                </a:solidFill>
              </a:rPr>
              <a:t>ancak şu anki </a:t>
            </a:r>
            <a:r>
              <a:rPr lang="tr-TR" dirty="0" err="1">
                <a:solidFill>
                  <a:srgbClr val="FF0000"/>
                </a:solidFill>
              </a:rPr>
              <a:t>str'de</a:t>
            </a:r>
            <a:r>
              <a:rPr lang="tr-TR" dirty="0">
                <a:solidFill>
                  <a:srgbClr val="FF0000"/>
                </a:solidFill>
              </a:rPr>
              <a:t> değeri değiştiremezsiniz</a:t>
            </a:r>
            <a:r>
              <a:rPr lang="tr-TR" dirty="0"/>
              <a:t>. Bu nedenle, bu tür bir dize yalnızca programın sonraki bir aşamasında dize değiştirmek istemediğimizde kullanılmalıdır.</a:t>
            </a:r>
          </a:p>
        </p:txBody>
      </p:sp>
      <p:sp>
        <p:nvSpPr>
          <p:cNvPr id="4" name="Altbilgi Yer Tutucusu 3"/>
          <p:cNvSpPr>
            <a:spLocks noGrp="1"/>
          </p:cNvSpPr>
          <p:nvPr>
            <p:ph type="ftr" sz="quarter" idx="11"/>
          </p:nvPr>
        </p:nvSpPr>
        <p:spPr/>
        <p:txBody>
          <a:bodyPr/>
          <a:lstStyle/>
          <a:p>
            <a:r>
              <a:rPr lang="en-US" smtClean="0"/>
              <a:t>Bilgisayar Programlama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28</a:t>
            </a:fld>
            <a:endParaRPr lang="en-US" dirty="0"/>
          </a:p>
        </p:txBody>
      </p:sp>
    </p:spTree>
    <p:extLst>
      <p:ext uri="{BB962C8B-B14F-4D97-AF65-F5344CB8AC3E}">
        <p14:creationId xmlns:p14="http://schemas.microsoft.com/office/powerpoint/2010/main" val="1195355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50829" y="226243"/>
            <a:ext cx="10977419" cy="5945957"/>
          </a:xfrm>
        </p:spPr>
        <p:txBody>
          <a:bodyPr>
            <a:normAutofit fontScale="92500" lnSpcReduction="20000"/>
          </a:bodyPr>
          <a:lstStyle/>
          <a:p>
            <a:r>
              <a:rPr lang="tr-TR" b="1" dirty="0" err="1" smtClean="0"/>
              <a:t>String</a:t>
            </a:r>
            <a:r>
              <a:rPr lang="tr-TR" b="1" dirty="0" smtClean="0"/>
              <a:t> değiştirme</a:t>
            </a:r>
            <a:endParaRPr lang="en-US" b="1" dirty="0"/>
          </a:p>
          <a:p>
            <a:r>
              <a:rPr lang="tr-TR" b="1" dirty="0" smtClean="0"/>
              <a:t>Aşağıdaki ilk Program Hata verecektir </a:t>
            </a:r>
            <a:r>
              <a:rPr lang="en-US" b="1" dirty="0" smtClean="0"/>
              <a:t>(segmentation </a:t>
            </a:r>
            <a:r>
              <a:rPr lang="en-US" b="1" dirty="0"/>
              <a:t>fault error) </a:t>
            </a:r>
            <a:endParaRPr lang="tr-TR" b="1" dirty="0" smtClean="0"/>
          </a:p>
          <a:p>
            <a:r>
              <a:rPr lang="tr-TR" b="1" dirty="0" smtClean="0"/>
              <a:t>Çünkü </a:t>
            </a:r>
            <a:r>
              <a:rPr lang="en-US" b="1" dirty="0" smtClean="0"/>
              <a:t>*(</a:t>
            </a:r>
            <a:r>
              <a:rPr lang="en-US" b="1" dirty="0"/>
              <a:t>str+1) = ‘</a:t>
            </a:r>
            <a:r>
              <a:rPr lang="en-US" b="1" dirty="0" smtClean="0"/>
              <a:t>n’</a:t>
            </a:r>
            <a:r>
              <a:rPr lang="tr-TR" b="1" dirty="0" smtClean="0"/>
              <a:t> </a:t>
            </a:r>
            <a:r>
              <a:rPr lang="en-US" b="1" dirty="0" smtClean="0"/>
              <a:t>read </a:t>
            </a:r>
            <a:r>
              <a:rPr lang="en-US" b="1" dirty="0"/>
              <a:t>only </a:t>
            </a:r>
            <a:r>
              <a:rPr lang="en-US" b="1" dirty="0" smtClean="0"/>
              <a:t>memory</a:t>
            </a:r>
            <a:r>
              <a:rPr lang="tr-TR" b="1" dirty="0"/>
              <a:t> </a:t>
            </a:r>
            <a:r>
              <a:rPr lang="tr-TR" b="1" dirty="0" smtClean="0"/>
              <a:t>alanına yazmaya çalışır.</a:t>
            </a:r>
            <a:endParaRPr lang="en-US" b="1" dirty="0"/>
          </a:p>
          <a:p>
            <a:r>
              <a:rPr lang="en-US" dirty="0" err="1">
                <a:solidFill>
                  <a:srgbClr val="FF0000"/>
                </a:solidFill>
              </a:rPr>
              <a:t>int</a:t>
            </a:r>
            <a:r>
              <a:rPr lang="en-US" dirty="0">
                <a:solidFill>
                  <a:srgbClr val="FF0000"/>
                </a:solidFill>
              </a:rPr>
              <a:t> main() </a:t>
            </a:r>
          </a:p>
          <a:p>
            <a:r>
              <a:rPr lang="en-US" dirty="0">
                <a:solidFill>
                  <a:srgbClr val="FF0000"/>
                </a:solidFill>
              </a:rPr>
              <a:t>{ </a:t>
            </a:r>
            <a:r>
              <a:rPr lang="en-US" dirty="0" smtClean="0">
                <a:solidFill>
                  <a:srgbClr val="FF0000"/>
                </a:solidFill>
              </a:rPr>
              <a:t>char </a:t>
            </a:r>
            <a:r>
              <a:rPr lang="en-US" dirty="0">
                <a:solidFill>
                  <a:srgbClr val="FF0000"/>
                </a:solidFill>
              </a:rPr>
              <a:t>*</a:t>
            </a:r>
            <a:r>
              <a:rPr lang="en-US" dirty="0" err="1">
                <a:solidFill>
                  <a:srgbClr val="FF0000"/>
                </a:solidFill>
              </a:rPr>
              <a:t>str</a:t>
            </a:r>
            <a:r>
              <a:rPr lang="en-US" dirty="0">
                <a:solidFill>
                  <a:srgbClr val="FF0000"/>
                </a:solidFill>
              </a:rPr>
              <a:t>;  </a:t>
            </a:r>
          </a:p>
          <a:p>
            <a:r>
              <a:rPr lang="en-US" dirty="0">
                <a:solidFill>
                  <a:srgbClr val="FF0000"/>
                </a:solidFill>
              </a:rPr>
              <a:t> </a:t>
            </a:r>
            <a:r>
              <a:rPr lang="en-US" dirty="0" err="1">
                <a:solidFill>
                  <a:srgbClr val="FF0000"/>
                </a:solidFill>
              </a:rPr>
              <a:t>str</a:t>
            </a:r>
            <a:r>
              <a:rPr lang="en-US" dirty="0">
                <a:solidFill>
                  <a:srgbClr val="FF0000"/>
                </a:solidFill>
              </a:rPr>
              <a:t> = "</a:t>
            </a:r>
            <a:r>
              <a:rPr lang="en-US" dirty="0" err="1">
                <a:solidFill>
                  <a:srgbClr val="FF0000"/>
                </a:solidFill>
              </a:rPr>
              <a:t>GfG</a:t>
            </a:r>
            <a:r>
              <a:rPr lang="en-US" dirty="0">
                <a:solidFill>
                  <a:srgbClr val="FF0000"/>
                </a:solidFill>
              </a:rPr>
              <a:t>";     /* Stored in read only part of data segment */</a:t>
            </a:r>
          </a:p>
          <a:p>
            <a:r>
              <a:rPr lang="en-US" dirty="0">
                <a:solidFill>
                  <a:srgbClr val="FF0000"/>
                </a:solidFill>
              </a:rPr>
              <a:t> *(str+1) = 'n'; /* Problem:  trying to modify read only memory */</a:t>
            </a:r>
          </a:p>
          <a:p>
            <a:r>
              <a:rPr lang="en-US" dirty="0">
                <a:solidFill>
                  <a:srgbClr val="FF0000"/>
                </a:solidFill>
              </a:rPr>
              <a:t>  puts(</a:t>
            </a:r>
            <a:r>
              <a:rPr lang="en-US" dirty="0" err="1">
                <a:solidFill>
                  <a:srgbClr val="FF0000"/>
                </a:solidFill>
              </a:rPr>
              <a:t>str</a:t>
            </a:r>
            <a:r>
              <a:rPr lang="en-US" dirty="0">
                <a:solidFill>
                  <a:srgbClr val="FF0000"/>
                </a:solidFill>
              </a:rPr>
              <a:t>); </a:t>
            </a:r>
          </a:p>
          <a:p>
            <a:r>
              <a:rPr lang="en-US" dirty="0" smtClean="0">
                <a:solidFill>
                  <a:srgbClr val="FF0000"/>
                </a:solidFill>
              </a:rPr>
              <a:t>} </a:t>
            </a:r>
            <a:endParaRPr lang="en-US" dirty="0">
              <a:solidFill>
                <a:srgbClr val="FF0000"/>
              </a:solidFill>
            </a:endParaRPr>
          </a:p>
          <a:p>
            <a:r>
              <a:rPr lang="tr-TR" dirty="0" smtClean="0"/>
              <a:t>Aşağıdaki </a:t>
            </a:r>
            <a:r>
              <a:rPr lang="tr-TR" dirty="0" err="1" smtClean="0"/>
              <a:t>progra</a:t>
            </a:r>
            <a:r>
              <a:rPr lang="tr-TR" dirty="0" smtClean="0"/>
              <a:t> sorunsuz çalışır, çünkü </a:t>
            </a:r>
            <a:r>
              <a:rPr lang="en-US" dirty="0" err="1" smtClean="0"/>
              <a:t>str</a:t>
            </a:r>
            <a:r>
              <a:rPr lang="en-US" dirty="0"/>
              <a:t>[] </a:t>
            </a:r>
            <a:r>
              <a:rPr lang="tr-TR" dirty="0" smtClean="0"/>
              <a:t>yazılabilir </a:t>
            </a:r>
            <a:r>
              <a:rPr lang="en-US" dirty="0" smtClean="0"/>
              <a:t>stack segment</a:t>
            </a:r>
            <a:r>
              <a:rPr lang="tr-TR" dirty="0" smtClean="0"/>
              <a:t> alanındadır.</a:t>
            </a:r>
            <a:endParaRPr lang="en-US" dirty="0"/>
          </a:p>
          <a:p>
            <a:r>
              <a:rPr lang="en-US" dirty="0" err="1"/>
              <a:t>int</a:t>
            </a:r>
            <a:r>
              <a:rPr lang="en-US" dirty="0"/>
              <a:t> main() </a:t>
            </a:r>
          </a:p>
          <a:p>
            <a:r>
              <a:rPr lang="en-US" dirty="0"/>
              <a:t> </a:t>
            </a:r>
          </a:p>
          <a:p>
            <a:r>
              <a:rPr lang="en-US" dirty="0"/>
              <a:t>{  char </a:t>
            </a:r>
            <a:r>
              <a:rPr lang="en-US" dirty="0" err="1"/>
              <a:t>str</a:t>
            </a:r>
            <a:r>
              <a:rPr lang="en-US" dirty="0"/>
              <a:t>[] = "</a:t>
            </a:r>
            <a:r>
              <a:rPr lang="en-US" dirty="0" err="1"/>
              <a:t>GfG</a:t>
            </a:r>
            <a:r>
              <a:rPr lang="en-US" dirty="0"/>
              <a:t>";  /* Stored in stack segment like other auto variables */</a:t>
            </a:r>
          </a:p>
          <a:p>
            <a:r>
              <a:rPr lang="en-US" dirty="0"/>
              <a:t> *(str+1) = 'n';   /* No problem: String is now </a:t>
            </a:r>
            <a:r>
              <a:rPr lang="en-US" dirty="0" err="1"/>
              <a:t>GnG</a:t>
            </a:r>
            <a:r>
              <a:rPr lang="en-US" dirty="0"/>
              <a:t> */</a:t>
            </a:r>
          </a:p>
          <a:p>
            <a:r>
              <a:rPr lang="en-US" dirty="0"/>
              <a:t> puts(</a:t>
            </a:r>
            <a:r>
              <a:rPr lang="en-US" dirty="0" err="1"/>
              <a:t>str</a:t>
            </a:r>
            <a:r>
              <a:rPr lang="en-US" dirty="0"/>
              <a:t>); </a:t>
            </a:r>
          </a:p>
          <a:p>
            <a:r>
              <a:rPr lang="en-US" dirty="0"/>
              <a:t> return 0;} } </a:t>
            </a:r>
          </a:p>
        </p:txBody>
      </p:sp>
      <p:sp>
        <p:nvSpPr>
          <p:cNvPr id="4" name="Altbilgi Yer Tutucusu 3"/>
          <p:cNvSpPr>
            <a:spLocks noGrp="1"/>
          </p:cNvSpPr>
          <p:nvPr>
            <p:ph type="ftr" sz="quarter" idx="11"/>
          </p:nvPr>
        </p:nvSpPr>
        <p:spPr/>
        <p:txBody>
          <a:bodyPr/>
          <a:lstStyle/>
          <a:p>
            <a:r>
              <a:rPr lang="en-US" smtClean="0"/>
              <a:t>Bilgisayar Programlama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29</a:t>
            </a:fld>
            <a:endParaRPr lang="en-US" dirty="0"/>
          </a:p>
        </p:txBody>
      </p:sp>
    </p:spTree>
    <p:extLst>
      <p:ext uri="{BB962C8B-B14F-4D97-AF65-F5344CB8AC3E}">
        <p14:creationId xmlns:p14="http://schemas.microsoft.com/office/powerpoint/2010/main" val="14990432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688157" y="329938"/>
            <a:ext cx="10440091" cy="5842262"/>
          </a:xfrm>
        </p:spPr>
        <p:txBody>
          <a:bodyPr>
            <a:normAutofit/>
          </a:bodyPr>
          <a:lstStyle/>
          <a:p>
            <a:pPr marL="0" indent="0">
              <a:buNone/>
            </a:pPr>
            <a:endParaRPr lang="tr-TR" dirty="0"/>
          </a:p>
          <a:p>
            <a:pPr marL="0" indent="0">
              <a:buNone/>
            </a:pPr>
            <a:r>
              <a:rPr lang="tr-TR" dirty="0" err="1"/>
              <a:t>int</a:t>
            </a:r>
            <a:r>
              <a:rPr lang="tr-TR" dirty="0"/>
              <a:t> main() </a:t>
            </a:r>
          </a:p>
          <a:p>
            <a:pPr marL="0" indent="0">
              <a:buNone/>
            </a:pPr>
            <a:r>
              <a:rPr lang="tr-TR" dirty="0"/>
              <a:t>{ </a:t>
            </a:r>
          </a:p>
          <a:p>
            <a:pPr marL="0" indent="0">
              <a:buNone/>
            </a:pPr>
            <a:r>
              <a:rPr lang="tr-TR" dirty="0"/>
              <a:t>  </a:t>
            </a:r>
            <a:r>
              <a:rPr lang="tr-TR" dirty="0" err="1"/>
              <a:t>int</a:t>
            </a:r>
            <a:r>
              <a:rPr lang="tr-TR" dirty="0"/>
              <a:t> size = 4; </a:t>
            </a:r>
          </a:p>
          <a:p>
            <a:pPr marL="0" indent="0">
              <a:buNone/>
            </a:pPr>
            <a:r>
              <a:rPr lang="tr-TR" dirty="0"/>
              <a:t>  /* </a:t>
            </a:r>
            <a:r>
              <a:rPr lang="tr-TR" dirty="0" err="1"/>
              <a:t>Stored</a:t>
            </a:r>
            <a:r>
              <a:rPr lang="tr-TR" dirty="0"/>
              <a:t> in </a:t>
            </a:r>
            <a:r>
              <a:rPr lang="tr-TR" dirty="0" err="1"/>
              <a:t>heap</a:t>
            </a:r>
            <a:r>
              <a:rPr lang="tr-TR" dirty="0"/>
              <a:t> </a:t>
            </a:r>
            <a:r>
              <a:rPr lang="tr-TR" dirty="0" err="1"/>
              <a:t>segment</a:t>
            </a:r>
            <a:r>
              <a:rPr lang="tr-TR" dirty="0"/>
              <a:t> </a:t>
            </a:r>
            <a:r>
              <a:rPr lang="tr-TR" dirty="0" err="1"/>
              <a:t>like</a:t>
            </a:r>
            <a:r>
              <a:rPr lang="tr-TR" dirty="0"/>
              <a:t> </a:t>
            </a:r>
            <a:r>
              <a:rPr lang="tr-TR" dirty="0" err="1"/>
              <a:t>other</a:t>
            </a:r>
            <a:r>
              <a:rPr lang="tr-TR" dirty="0"/>
              <a:t> </a:t>
            </a:r>
            <a:r>
              <a:rPr lang="tr-TR" dirty="0" err="1"/>
              <a:t>dynamically</a:t>
            </a:r>
            <a:r>
              <a:rPr lang="tr-TR" dirty="0"/>
              <a:t> </a:t>
            </a:r>
            <a:r>
              <a:rPr lang="tr-TR" dirty="0" err="1"/>
              <a:t>allocated</a:t>
            </a:r>
            <a:r>
              <a:rPr lang="tr-TR" dirty="0"/>
              <a:t> </a:t>
            </a:r>
            <a:r>
              <a:rPr lang="tr-TR" dirty="0" err="1"/>
              <a:t>things</a:t>
            </a:r>
            <a:r>
              <a:rPr lang="tr-TR" dirty="0"/>
              <a:t> */</a:t>
            </a:r>
          </a:p>
          <a:p>
            <a:pPr marL="0" indent="0">
              <a:buNone/>
            </a:pPr>
            <a:r>
              <a:rPr lang="tr-TR" dirty="0"/>
              <a:t>  </a:t>
            </a:r>
            <a:r>
              <a:rPr lang="tr-TR" dirty="0" err="1"/>
              <a:t>char</a:t>
            </a:r>
            <a:r>
              <a:rPr lang="tr-TR" dirty="0"/>
              <a:t> *</a:t>
            </a:r>
            <a:r>
              <a:rPr lang="tr-TR" dirty="0" err="1"/>
              <a:t>str</a:t>
            </a:r>
            <a:r>
              <a:rPr lang="tr-TR" dirty="0"/>
              <a:t> = (</a:t>
            </a:r>
            <a:r>
              <a:rPr lang="tr-TR" dirty="0" err="1"/>
              <a:t>char</a:t>
            </a:r>
            <a:r>
              <a:rPr lang="tr-TR" dirty="0"/>
              <a:t> *)</a:t>
            </a:r>
            <a:r>
              <a:rPr lang="tr-TR" dirty="0" err="1"/>
              <a:t>malloc</a:t>
            </a:r>
            <a:r>
              <a:rPr lang="tr-TR" dirty="0"/>
              <a:t>(</a:t>
            </a:r>
            <a:r>
              <a:rPr lang="tr-TR" dirty="0" err="1"/>
              <a:t>sizeof</a:t>
            </a:r>
            <a:r>
              <a:rPr lang="tr-TR" dirty="0"/>
              <a:t>(</a:t>
            </a:r>
            <a:r>
              <a:rPr lang="tr-TR" dirty="0" err="1"/>
              <a:t>char</a:t>
            </a:r>
            <a:r>
              <a:rPr lang="tr-TR" dirty="0"/>
              <a:t>)*size); </a:t>
            </a:r>
          </a:p>
          <a:p>
            <a:pPr marL="0" indent="0">
              <a:buNone/>
            </a:pPr>
            <a:r>
              <a:rPr lang="tr-TR" dirty="0"/>
              <a:t>  *(str+0) = 'G';  </a:t>
            </a:r>
          </a:p>
          <a:p>
            <a:pPr marL="0" indent="0">
              <a:buNone/>
            </a:pPr>
            <a:r>
              <a:rPr lang="tr-TR" dirty="0"/>
              <a:t>  *(str+1) = 'f';   </a:t>
            </a:r>
          </a:p>
          <a:p>
            <a:pPr marL="0" indent="0">
              <a:buNone/>
            </a:pPr>
            <a:r>
              <a:rPr lang="tr-TR" dirty="0"/>
              <a:t>  *(str+2) = 'G';     </a:t>
            </a:r>
          </a:p>
          <a:p>
            <a:pPr marL="0" indent="0">
              <a:buNone/>
            </a:pPr>
            <a:r>
              <a:rPr lang="tr-TR" dirty="0"/>
              <a:t>  *(str+3) = '\0';   </a:t>
            </a:r>
          </a:p>
          <a:p>
            <a:pPr marL="0" indent="0">
              <a:buNone/>
            </a:pPr>
            <a:r>
              <a:rPr lang="tr-TR" dirty="0"/>
              <a:t>  *(str+1) = 'n';  /* No problem: </a:t>
            </a:r>
            <a:r>
              <a:rPr lang="tr-TR" dirty="0" err="1"/>
              <a:t>String</a:t>
            </a:r>
            <a:r>
              <a:rPr lang="tr-TR" dirty="0"/>
              <a:t> is </a:t>
            </a:r>
            <a:r>
              <a:rPr lang="tr-TR" dirty="0" err="1"/>
              <a:t>now</a:t>
            </a:r>
            <a:r>
              <a:rPr lang="tr-TR" dirty="0"/>
              <a:t> </a:t>
            </a:r>
            <a:r>
              <a:rPr lang="tr-TR" dirty="0" err="1"/>
              <a:t>GnG</a:t>
            </a:r>
            <a:r>
              <a:rPr lang="tr-TR" dirty="0"/>
              <a:t> */</a:t>
            </a:r>
          </a:p>
          <a:p>
            <a:pPr marL="0" indent="0">
              <a:buNone/>
            </a:pPr>
            <a:r>
              <a:rPr lang="tr-TR" dirty="0"/>
              <a:t>  </a:t>
            </a:r>
            <a:r>
              <a:rPr lang="tr-TR" dirty="0" err="1"/>
              <a:t>puts</a:t>
            </a:r>
            <a:r>
              <a:rPr lang="tr-TR" dirty="0"/>
              <a:t>(</a:t>
            </a:r>
            <a:r>
              <a:rPr lang="tr-TR" dirty="0" err="1"/>
              <a:t>str</a:t>
            </a:r>
            <a:r>
              <a:rPr lang="tr-TR" dirty="0"/>
              <a:t>);} </a:t>
            </a:r>
          </a:p>
        </p:txBody>
      </p:sp>
      <p:sp>
        <p:nvSpPr>
          <p:cNvPr id="4" name="Altbilgi Yer Tutucusu 3"/>
          <p:cNvSpPr>
            <a:spLocks noGrp="1"/>
          </p:cNvSpPr>
          <p:nvPr>
            <p:ph type="ftr" sz="quarter" idx="11"/>
          </p:nvPr>
        </p:nvSpPr>
        <p:spPr/>
        <p:txBody>
          <a:bodyPr/>
          <a:lstStyle/>
          <a:p>
            <a:r>
              <a:rPr lang="en-US" smtClean="0"/>
              <a:t>Bilgisayar Programlama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30</a:t>
            </a:fld>
            <a:endParaRPr lang="en-US" dirty="0"/>
          </a:p>
        </p:txBody>
      </p:sp>
    </p:spTree>
    <p:extLst>
      <p:ext uri="{BB962C8B-B14F-4D97-AF65-F5344CB8AC3E}">
        <p14:creationId xmlns:p14="http://schemas.microsoft.com/office/powerpoint/2010/main" val="1849996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Ev ÖDEVİ</a:t>
            </a:r>
            <a:endParaRPr lang="tr-TR" dirty="0"/>
          </a:p>
        </p:txBody>
      </p:sp>
      <p:sp>
        <p:nvSpPr>
          <p:cNvPr id="3" name="İçerik Yer Tutucusu 2"/>
          <p:cNvSpPr>
            <a:spLocks noGrp="1"/>
          </p:cNvSpPr>
          <p:nvPr>
            <p:ph idx="1"/>
          </p:nvPr>
        </p:nvSpPr>
        <p:spPr/>
        <p:txBody>
          <a:bodyPr>
            <a:normAutofit fontScale="85000" lnSpcReduction="20000"/>
          </a:bodyPr>
          <a:lstStyle/>
          <a:p>
            <a:r>
              <a:rPr lang="tr-TR" dirty="0"/>
              <a:t>#</a:t>
            </a:r>
            <a:r>
              <a:rPr lang="tr-TR" dirty="0" err="1"/>
              <a:t>include</a:t>
            </a:r>
            <a:r>
              <a:rPr lang="tr-TR" dirty="0"/>
              <a:t> &lt;</a:t>
            </a:r>
            <a:r>
              <a:rPr lang="tr-TR" dirty="0" err="1"/>
              <a:t>stdio.h</a:t>
            </a:r>
            <a:r>
              <a:rPr lang="tr-TR" dirty="0"/>
              <a:t>&gt;</a:t>
            </a:r>
          </a:p>
          <a:p>
            <a:r>
              <a:rPr lang="tr-TR" dirty="0"/>
              <a:t>#</a:t>
            </a:r>
            <a:r>
              <a:rPr lang="tr-TR" dirty="0" err="1"/>
              <a:t>include</a:t>
            </a:r>
            <a:r>
              <a:rPr lang="tr-TR" dirty="0"/>
              <a:t> &lt;</a:t>
            </a:r>
            <a:r>
              <a:rPr lang="tr-TR" dirty="0" err="1"/>
              <a:t>string.h</a:t>
            </a:r>
            <a:r>
              <a:rPr lang="tr-TR" dirty="0"/>
              <a:t>&gt;</a:t>
            </a:r>
          </a:p>
          <a:p>
            <a:endParaRPr lang="tr-TR" dirty="0"/>
          </a:p>
          <a:p>
            <a:r>
              <a:rPr lang="tr-TR" dirty="0" err="1"/>
              <a:t>int</a:t>
            </a:r>
            <a:r>
              <a:rPr lang="tr-TR" dirty="0"/>
              <a:t> main( </a:t>
            </a:r>
            <a:r>
              <a:rPr lang="tr-TR" dirty="0" err="1"/>
              <a:t>void</a:t>
            </a:r>
            <a:r>
              <a:rPr lang="tr-TR" dirty="0"/>
              <a:t> )</a:t>
            </a:r>
          </a:p>
          <a:p>
            <a:r>
              <a:rPr lang="tr-TR" dirty="0"/>
              <a:t>{</a:t>
            </a:r>
          </a:p>
          <a:p>
            <a:r>
              <a:rPr lang="tr-TR" dirty="0"/>
              <a:t>    </a:t>
            </a:r>
            <a:r>
              <a:rPr lang="tr-TR" dirty="0" err="1"/>
              <a:t>const</a:t>
            </a:r>
            <a:r>
              <a:rPr lang="tr-TR" dirty="0"/>
              <a:t> </a:t>
            </a:r>
            <a:r>
              <a:rPr lang="tr-TR" dirty="0" err="1"/>
              <a:t>char</a:t>
            </a:r>
            <a:r>
              <a:rPr lang="tr-TR" dirty="0"/>
              <a:t> *cp1 = "Bilgisayar";</a:t>
            </a:r>
          </a:p>
          <a:p>
            <a:r>
              <a:rPr lang="tr-TR" dirty="0"/>
              <a:t>    </a:t>
            </a:r>
            <a:r>
              <a:rPr lang="tr-TR" dirty="0" err="1"/>
              <a:t>const</a:t>
            </a:r>
            <a:r>
              <a:rPr lang="tr-TR" dirty="0"/>
              <a:t> </a:t>
            </a:r>
            <a:r>
              <a:rPr lang="tr-TR" dirty="0" err="1"/>
              <a:t>char</a:t>
            </a:r>
            <a:r>
              <a:rPr lang="tr-TR" dirty="0"/>
              <a:t> *cp2 = "sayar";</a:t>
            </a:r>
          </a:p>
          <a:p>
            <a:r>
              <a:rPr lang="tr-TR" dirty="0"/>
              <a:t>    </a:t>
            </a:r>
            <a:r>
              <a:rPr lang="tr-TR" dirty="0" err="1"/>
              <a:t>char</a:t>
            </a:r>
            <a:r>
              <a:rPr lang="tr-TR" dirty="0"/>
              <a:t> *ret = </a:t>
            </a:r>
            <a:r>
              <a:rPr lang="tr-TR" dirty="0" err="1"/>
              <a:t>strstr</a:t>
            </a:r>
            <a:r>
              <a:rPr lang="tr-TR" dirty="0"/>
              <a:t>(cp1, cp2);</a:t>
            </a:r>
          </a:p>
          <a:p>
            <a:endParaRPr lang="tr-TR" dirty="0"/>
          </a:p>
          <a:p>
            <a:r>
              <a:rPr lang="tr-TR" dirty="0"/>
              <a:t>    printf("%s karakter dizisinde bulunan dizi: %s, adresi: %p\n", </a:t>
            </a:r>
            <a:r>
              <a:rPr lang="tr-TR" dirty="0" smtClean="0"/>
              <a:t>cp1, </a:t>
            </a:r>
            <a:r>
              <a:rPr lang="tr-TR" dirty="0"/>
              <a:t>ret );</a:t>
            </a:r>
          </a:p>
          <a:p>
            <a:endParaRPr lang="tr-TR" dirty="0"/>
          </a:p>
          <a:p>
            <a:r>
              <a:rPr lang="tr-TR" dirty="0"/>
              <a:t>}</a:t>
            </a:r>
          </a:p>
        </p:txBody>
      </p:sp>
      <p:pic>
        <p:nvPicPr>
          <p:cNvPr id="4" name="Resim 3"/>
          <p:cNvPicPr>
            <a:picLocks noChangeAspect="1"/>
          </p:cNvPicPr>
          <p:nvPr/>
        </p:nvPicPr>
        <p:blipFill>
          <a:blip r:embed="rId2"/>
          <a:stretch>
            <a:fillRect/>
          </a:stretch>
        </p:blipFill>
        <p:spPr>
          <a:xfrm>
            <a:off x="3681859" y="2093976"/>
            <a:ext cx="7446389" cy="484318"/>
          </a:xfrm>
          <a:prstGeom prst="rect">
            <a:avLst/>
          </a:prstGeom>
        </p:spPr>
      </p:pic>
      <p:sp>
        <p:nvSpPr>
          <p:cNvPr id="5" name="Altbilgi Yer Tutucusu 4"/>
          <p:cNvSpPr>
            <a:spLocks noGrp="1"/>
          </p:cNvSpPr>
          <p:nvPr>
            <p:ph type="ftr" sz="quarter" idx="11"/>
          </p:nvPr>
        </p:nvSpPr>
        <p:spPr/>
        <p:txBody>
          <a:bodyPr/>
          <a:lstStyle/>
          <a:p>
            <a:r>
              <a:rPr lang="en-US" smtClean="0"/>
              <a:t>Bilgisayar Programlama 1</a:t>
            </a:r>
            <a:endParaRPr lang="en-US" dirty="0"/>
          </a:p>
        </p:txBody>
      </p:sp>
      <p:sp>
        <p:nvSpPr>
          <p:cNvPr id="6" name="Slayt Numarası Yer Tutucusu 5"/>
          <p:cNvSpPr>
            <a:spLocks noGrp="1"/>
          </p:cNvSpPr>
          <p:nvPr>
            <p:ph type="sldNum" sz="quarter" idx="12"/>
          </p:nvPr>
        </p:nvSpPr>
        <p:spPr/>
        <p:txBody>
          <a:bodyPr/>
          <a:lstStyle/>
          <a:p>
            <a:fld id="{4FAB73BC-B049-4115-A692-8D63A059BFB8}" type="slidenum">
              <a:rPr lang="en-US" smtClean="0"/>
              <a:t>31</a:t>
            </a:fld>
            <a:endParaRPr lang="en-US" dirty="0"/>
          </a:p>
        </p:txBody>
      </p:sp>
    </p:spTree>
    <p:extLst>
      <p:ext uri="{BB962C8B-B14F-4D97-AF65-F5344CB8AC3E}">
        <p14:creationId xmlns:p14="http://schemas.microsoft.com/office/powerpoint/2010/main" val="341580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20511" y="0"/>
            <a:ext cx="11755225" cy="1143000"/>
          </a:xfrm>
        </p:spPr>
        <p:txBody>
          <a:bodyPr>
            <a:normAutofit fontScale="90000"/>
          </a:bodyPr>
          <a:lstStyle/>
          <a:p>
            <a:pPr eaLnBrk="1" hangingPunct="1"/>
            <a:r>
              <a:rPr lang="tr-TR" altLang="en-US" dirty="0" smtClean="0"/>
              <a:t>Çok boyutlu diziler </a:t>
            </a:r>
            <a:r>
              <a:rPr lang="en-US" altLang="en-US" dirty="0" smtClean="0"/>
              <a:t>Multidimensional Arrays</a:t>
            </a:r>
          </a:p>
        </p:txBody>
      </p:sp>
      <p:sp>
        <p:nvSpPr>
          <p:cNvPr id="12291" name="Rectangle 3"/>
          <p:cNvSpPr>
            <a:spLocks noGrp="1" noChangeArrowheads="1"/>
          </p:cNvSpPr>
          <p:nvPr>
            <p:ph type="body" idx="1"/>
          </p:nvPr>
        </p:nvSpPr>
        <p:spPr>
          <a:xfrm>
            <a:off x="1676400" y="914400"/>
            <a:ext cx="8839200" cy="3048000"/>
          </a:xfrm>
        </p:spPr>
        <p:txBody>
          <a:bodyPr>
            <a:normAutofit/>
          </a:bodyPr>
          <a:lstStyle/>
          <a:p>
            <a:pPr eaLnBrk="1" hangingPunct="1">
              <a:lnSpc>
                <a:spcPct val="90000"/>
              </a:lnSpc>
            </a:pPr>
            <a:r>
              <a:rPr lang="en-US" altLang="en-US" sz="2400" dirty="0" smtClean="0"/>
              <a:t>[ ]</a:t>
            </a:r>
            <a:r>
              <a:rPr lang="tr-TR" altLang="en-US" sz="2400" dirty="0" smtClean="0"/>
              <a:t> karakterini çoklu kullanarak farklı boyutlarda dizi tanımlanabilir</a:t>
            </a:r>
            <a:endParaRPr lang="en-US" altLang="en-US" sz="2400" dirty="0"/>
          </a:p>
          <a:p>
            <a:pPr lvl="1" eaLnBrk="1" hangingPunct="1">
              <a:lnSpc>
                <a:spcPct val="90000"/>
              </a:lnSpc>
            </a:pPr>
            <a:r>
              <a:rPr lang="en-US" altLang="en-US" sz="2000" dirty="0" smtClean="0"/>
              <a:t>  </a:t>
            </a:r>
            <a:r>
              <a:rPr lang="en-US" altLang="en-US" sz="2000" dirty="0" err="1"/>
              <a:t>int</a:t>
            </a:r>
            <a:r>
              <a:rPr lang="en-US" altLang="en-US" sz="2000" dirty="0"/>
              <a:t> matrix[5][10</a:t>
            </a:r>
            <a:r>
              <a:rPr lang="en-US" altLang="en-US" sz="2400" dirty="0"/>
              <a:t>];</a:t>
            </a:r>
          </a:p>
          <a:p>
            <a:pPr lvl="1"/>
            <a:r>
              <a:rPr lang="tr-TR" sz="2000" dirty="0"/>
              <a:t>İşlevler ayrı olarak derlenebildiğinden, bir işlevin parametre listesindeki çok boyutlu bir dizinin bir boyutu hariç tümünü </a:t>
            </a:r>
            <a:r>
              <a:rPr lang="tr-TR" sz="2000" dirty="0" smtClean="0"/>
              <a:t>belirtmeliyiz</a:t>
            </a:r>
          </a:p>
          <a:p>
            <a:pPr lvl="1"/>
            <a:r>
              <a:rPr lang="en-US" altLang="en-US" sz="1800" dirty="0" smtClean="0"/>
              <a:t>void </a:t>
            </a:r>
            <a:r>
              <a:rPr lang="en-US" altLang="en-US" sz="1800" dirty="0" err="1"/>
              <a:t>afunction</a:t>
            </a:r>
            <a:r>
              <a:rPr lang="en-US" altLang="en-US" sz="1800" dirty="0"/>
              <a:t>(</a:t>
            </a:r>
            <a:r>
              <a:rPr lang="en-US" altLang="en-US" sz="1800" dirty="0" err="1"/>
              <a:t>int</a:t>
            </a:r>
            <a:r>
              <a:rPr lang="en-US" altLang="en-US" sz="1800" dirty="0"/>
              <a:t> </a:t>
            </a:r>
            <a:r>
              <a:rPr lang="en-US" altLang="en-US" sz="1800" dirty="0" err="1"/>
              <a:t>amatrix</a:t>
            </a:r>
            <a:r>
              <a:rPr lang="en-US" altLang="en-US" sz="1800" dirty="0"/>
              <a:t>[ ][10]);</a:t>
            </a:r>
          </a:p>
          <a:p>
            <a:pPr lvl="1"/>
            <a:r>
              <a:rPr lang="tr-TR" sz="2000" dirty="0"/>
              <a:t>Dizilere işaretçiler aracılığıyla referans verildiğinden, 2+ boyutlu dizileri bildirmenin ve erişmenin birden çok yolu </a:t>
            </a:r>
            <a:r>
              <a:rPr lang="tr-TR" sz="2000" dirty="0" smtClean="0"/>
              <a:t>vardır</a:t>
            </a:r>
          </a:p>
        </p:txBody>
      </p:sp>
      <p:sp>
        <p:nvSpPr>
          <p:cNvPr id="12292" name="Text Box 4"/>
          <p:cNvSpPr txBox="1">
            <a:spLocks noChangeArrowheads="1"/>
          </p:cNvSpPr>
          <p:nvPr/>
        </p:nvSpPr>
        <p:spPr bwMode="auto">
          <a:xfrm>
            <a:off x="1905000" y="4343400"/>
            <a:ext cx="14668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 int a[10][20];</a:t>
            </a:r>
          </a:p>
          <a:p>
            <a:pPr eaLnBrk="1" hangingPunct="1">
              <a:spcBef>
                <a:spcPct val="0"/>
              </a:spcBef>
              <a:buFontTx/>
              <a:buNone/>
            </a:pPr>
            <a:r>
              <a:rPr lang="en-US" altLang="en-US" sz="1800"/>
              <a:t> int *a[10];</a:t>
            </a:r>
          </a:p>
          <a:p>
            <a:pPr eaLnBrk="1" hangingPunct="1">
              <a:spcBef>
                <a:spcPct val="0"/>
              </a:spcBef>
              <a:buFontTx/>
              <a:buNone/>
            </a:pPr>
            <a:r>
              <a:rPr lang="en-US" altLang="en-US" sz="1800"/>
              <a:t> int **a;</a:t>
            </a:r>
          </a:p>
        </p:txBody>
      </p:sp>
      <p:sp>
        <p:nvSpPr>
          <p:cNvPr id="12293" name="Text Box 5"/>
          <p:cNvSpPr txBox="1">
            <a:spLocks noChangeArrowheads="1"/>
          </p:cNvSpPr>
          <p:nvPr/>
        </p:nvSpPr>
        <p:spPr bwMode="auto">
          <a:xfrm>
            <a:off x="1905001" y="5486400"/>
            <a:ext cx="40052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dirty="0" smtClean="0"/>
              <a:t> *a[4] –first element of 5</a:t>
            </a:r>
            <a:r>
              <a:rPr lang="en-US" altLang="en-US" sz="1800" baseline="30000" dirty="0" smtClean="0"/>
              <a:t>th</a:t>
            </a:r>
            <a:r>
              <a:rPr lang="en-US" altLang="en-US" sz="1800" dirty="0" smtClean="0"/>
              <a:t> array element</a:t>
            </a:r>
          </a:p>
          <a:p>
            <a:pPr eaLnBrk="1" hangingPunct="1">
              <a:spcBef>
                <a:spcPct val="0"/>
              </a:spcBef>
              <a:buFontTx/>
              <a:buNone/>
            </a:pPr>
            <a:r>
              <a:rPr lang="en-US" altLang="en-US" sz="1800" dirty="0" smtClean="0"/>
              <a:t> *a[9] –first element of 10</a:t>
            </a:r>
            <a:r>
              <a:rPr lang="en-US" altLang="en-US" sz="1800" baseline="30000" dirty="0" smtClean="0"/>
              <a:t>th</a:t>
            </a:r>
            <a:r>
              <a:rPr lang="en-US" altLang="en-US" sz="1800" dirty="0" smtClean="0"/>
              <a:t> array element</a:t>
            </a:r>
          </a:p>
          <a:p>
            <a:pPr eaLnBrk="1" hangingPunct="1">
              <a:spcBef>
                <a:spcPct val="0"/>
              </a:spcBef>
              <a:buFontTx/>
              <a:buNone/>
            </a:pPr>
            <a:r>
              <a:rPr lang="en-US" altLang="en-US" sz="1800" dirty="0" smtClean="0"/>
              <a:t>**a –first element of a[0]</a:t>
            </a:r>
            <a:endParaRPr lang="en-US" altLang="en-US" sz="1800" dirty="0"/>
          </a:p>
        </p:txBody>
      </p:sp>
      <p:sp>
        <p:nvSpPr>
          <p:cNvPr id="12294" name="Text Box 6"/>
          <p:cNvSpPr txBox="1">
            <a:spLocks noChangeArrowheads="1"/>
          </p:cNvSpPr>
          <p:nvPr/>
        </p:nvSpPr>
        <p:spPr bwMode="auto">
          <a:xfrm>
            <a:off x="6477000" y="4343401"/>
            <a:ext cx="401904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dirty="0" err="1"/>
              <a:t>int</a:t>
            </a:r>
            <a:r>
              <a:rPr lang="en-US" altLang="en-US" sz="1800" dirty="0"/>
              <a:t> *a[3];		</a:t>
            </a:r>
            <a:r>
              <a:rPr lang="en-US" altLang="en-US" sz="1800" dirty="0" err="1" smtClean="0"/>
              <a:t>int</a:t>
            </a:r>
            <a:r>
              <a:rPr lang="en-US" altLang="en-US" sz="1800" dirty="0" smtClean="0"/>
              <a:t> </a:t>
            </a:r>
            <a:r>
              <a:rPr lang="en-US" altLang="en-US" sz="1800" dirty="0"/>
              <a:t>x[2] = {1, 2};</a:t>
            </a:r>
          </a:p>
          <a:p>
            <a:pPr eaLnBrk="1" hangingPunct="1">
              <a:spcBef>
                <a:spcPct val="0"/>
              </a:spcBef>
              <a:buFontTx/>
              <a:buNone/>
            </a:pPr>
            <a:r>
              <a:rPr lang="en-US" altLang="en-US" sz="1800" dirty="0" err="1"/>
              <a:t>int</a:t>
            </a:r>
            <a:r>
              <a:rPr lang="en-US" altLang="en-US" sz="1800" dirty="0"/>
              <a:t> y[3] = {3, 4, 5};</a:t>
            </a:r>
          </a:p>
          <a:p>
            <a:pPr eaLnBrk="1" hangingPunct="1">
              <a:spcBef>
                <a:spcPct val="0"/>
              </a:spcBef>
              <a:buFontTx/>
              <a:buNone/>
            </a:pPr>
            <a:r>
              <a:rPr lang="en-US" altLang="en-US" sz="1800" dirty="0" err="1"/>
              <a:t>int</a:t>
            </a:r>
            <a:r>
              <a:rPr lang="en-US" altLang="en-US" sz="1800" dirty="0"/>
              <a:t> z[4] = {6, 7, 8, 9};</a:t>
            </a:r>
          </a:p>
          <a:p>
            <a:pPr eaLnBrk="1" hangingPunct="1">
              <a:spcBef>
                <a:spcPct val="0"/>
              </a:spcBef>
              <a:buFontTx/>
              <a:buNone/>
            </a:pPr>
            <a:r>
              <a:rPr lang="en-US" altLang="en-US" sz="1800" dirty="0"/>
              <a:t>*a = &amp;x[0];	// a[0] </a:t>
            </a:r>
            <a:r>
              <a:rPr lang="tr-TR" altLang="en-US" sz="1800" dirty="0" smtClean="0"/>
              <a:t> , </a:t>
            </a:r>
            <a:r>
              <a:rPr lang="en-US" altLang="en-US" sz="1800" dirty="0" smtClean="0"/>
              <a:t>x[0]</a:t>
            </a:r>
            <a:r>
              <a:rPr lang="tr-TR" altLang="en-US" sz="1800" dirty="0" smtClean="0"/>
              <a:t> ı gösterir</a:t>
            </a:r>
            <a:endParaRPr lang="en-US" altLang="en-US" sz="1800" dirty="0"/>
          </a:p>
          <a:p>
            <a:pPr eaLnBrk="1" hangingPunct="1">
              <a:spcBef>
                <a:spcPct val="0"/>
              </a:spcBef>
              <a:buFontTx/>
              <a:buNone/>
            </a:pPr>
            <a:r>
              <a:rPr lang="en-US" altLang="en-US" sz="1800" dirty="0"/>
              <a:t>*(a+1) = &amp;y[0];	// a[1] </a:t>
            </a:r>
            <a:r>
              <a:rPr lang="tr-TR" altLang="en-US" sz="1800" dirty="0" smtClean="0"/>
              <a:t> y</a:t>
            </a:r>
            <a:r>
              <a:rPr lang="en-US" altLang="en-US" sz="1800" dirty="0" smtClean="0"/>
              <a:t>[0]</a:t>
            </a:r>
            <a:r>
              <a:rPr lang="tr-TR" altLang="en-US" sz="1800" dirty="0" smtClean="0"/>
              <a:t> ı gösterir</a:t>
            </a:r>
            <a:endParaRPr lang="en-US" altLang="en-US" sz="1800" dirty="0"/>
          </a:p>
          <a:p>
            <a:pPr eaLnBrk="1" hangingPunct="1">
              <a:spcBef>
                <a:spcPct val="0"/>
              </a:spcBef>
              <a:buFontTx/>
              <a:buNone/>
            </a:pPr>
            <a:r>
              <a:rPr lang="en-US" altLang="en-US" sz="1800" dirty="0"/>
              <a:t>*(a+2) = &amp;z[0];	// a[2] </a:t>
            </a:r>
            <a:r>
              <a:rPr lang="tr-TR" altLang="en-US" sz="1800" dirty="0" smtClean="0"/>
              <a:t>, </a:t>
            </a:r>
            <a:r>
              <a:rPr lang="en-US" altLang="en-US" sz="1800" dirty="0" smtClean="0"/>
              <a:t>z[0]</a:t>
            </a:r>
            <a:r>
              <a:rPr lang="tr-TR" altLang="en-US" sz="1800" dirty="0" smtClean="0"/>
              <a:t> ı gösterir</a:t>
            </a:r>
            <a:endParaRPr lang="en-US" altLang="en-US" sz="1800" dirty="0"/>
          </a:p>
          <a:p>
            <a:pPr eaLnBrk="1" hangingPunct="1">
              <a:spcBef>
                <a:spcPct val="0"/>
              </a:spcBef>
              <a:buFontTx/>
              <a:buNone/>
            </a:pPr>
            <a:endParaRPr lang="en-US" altLang="en-US" sz="1800" dirty="0"/>
          </a:p>
        </p:txBody>
      </p:sp>
      <p:sp>
        <p:nvSpPr>
          <p:cNvPr id="2" name="Altbilgi Yer Tutucusu 1"/>
          <p:cNvSpPr>
            <a:spLocks noGrp="1"/>
          </p:cNvSpPr>
          <p:nvPr>
            <p:ph type="ftr" sz="quarter" idx="11"/>
          </p:nvPr>
        </p:nvSpPr>
        <p:spPr/>
        <p:txBody>
          <a:bodyPr/>
          <a:lstStyle/>
          <a:p>
            <a:r>
              <a:rPr lang="en-US" dirty="0" err="1" smtClean="0"/>
              <a:t>Bilgisayar</a:t>
            </a:r>
            <a:r>
              <a:rPr lang="en-US" dirty="0" smtClean="0"/>
              <a:t> </a:t>
            </a:r>
            <a:r>
              <a:rPr lang="en-US" dirty="0" err="1" smtClean="0"/>
              <a:t>Programlama</a:t>
            </a:r>
            <a:r>
              <a:rPr lang="en-US" dirty="0" smtClean="0"/>
              <a:t>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32</a:t>
            </a:fld>
            <a:endParaRPr lang="en-US" dirty="0"/>
          </a:p>
        </p:txBody>
      </p:sp>
    </p:spTree>
    <p:extLst>
      <p:ext uri="{BB962C8B-B14F-4D97-AF65-F5344CB8AC3E}">
        <p14:creationId xmlns:p14="http://schemas.microsoft.com/office/powerpoint/2010/main" val="35277649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제목 1"/>
          <p:cNvSpPr>
            <a:spLocks noGrp="1"/>
          </p:cNvSpPr>
          <p:nvPr>
            <p:ph type="title"/>
          </p:nvPr>
        </p:nvSpPr>
        <p:spPr/>
        <p:txBody>
          <a:bodyPr/>
          <a:lstStyle/>
          <a:p>
            <a:r>
              <a:rPr lang="tr-TR" altLang="ko-KR" b="1" u="sng" dirty="0" smtClean="0"/>
              <a:t>Çok boyutlu </a:t>
            </a:r>
            <a:r>
              <a:rPr lang="en-US" altLang="ko-KR" b="1" u="sng" dirty="0" smtClean="0"/>
              <a:t>String</a:t>
            </a:r>
            <a:endParaRPr lang="ko-KR" altLang="en-US" b="1" u="sng" dirty="0" smtClean="0"/>
          </a:p>
        </p:txBody>
      </p:sp>
      <p:sp>
        <p:nvSpPr>
          <p:cNvPr id="10243" name="내용 개체 틀 2"/>
          <p:cNvSpPr>
            <a:spLocks noGrp="1"/>
          </p:cNvSpPr>
          <p:nvPr>
            <p:ph idx="1"/>
          </p:nvPr>
        </p:nvSpPr>
        <p:spPr/>
        <p:txBody>
          <a:bodyPr/>
          <a:lstStyle/>
          <a:p>
            <a:r>
              <a:rPr lang="tr-TR" altLang="ko-KR" dirty="0" smtClean="0"/>
              <a:t>İki boyutlu </a:t>
            </a:r>
            <a:r>
              <a:rPr lang="tr-TR" altLang="ko-KR" dirty="0" err="1" smtClean="0"/>
              <a:t>string</a:t>
            </a:r>
            <a:endParaRPr lang="en-US" altLang="ko-KR" dirty="0" smtClean="0"/>
          </a:p>
          <a:p>
            <a:pPr marL="342900" lvl="1" indent="-342900">
              <a:buClr>
                <a:schemeClr val="hlink"/>
              </a:buClr>
              <a:buSzPct val="80000"/>
              <a:buFont typeface="Wingdings" pitchFamily="2" charset="2"/>
              <a:buNone/>
            </a:pPr>
            <a:r>
              <a:rPr lang="en-US" altLang="ko-KR" b="1" dirty="0" smtClean="0"/>
              <a:t>	</a:t>
            </a:r>
            <a:r>
              <a:rPr lang="en-US" altLang="ko-KR" b="1" dirty="0" smtClean="0">
                <a:solidFill>
                  <a:srgbClr val="0000CC"/>
                </a:solidFill>
              </a:rPr>
              <a:t>char</a:t>
            </a:r>
            <a:r>
              <a:rPr lang="en-US" altLang="ko-KR" b="1" dirty="0" smtClean="0"/>
              <a:t> colors[3][10]= {"red", "blue", "white"};  </a:t>
            </a:r>
          </a:p>
          <a:p>
            <a:pPr>
              <a:buFont typeface="Wingdings" pitchFamily="2" charset="2"/>
              <a:buNone/>
            </a:pPr>
            <a:endParaRPr lang="en-US" altLang="ko-KR" dirty="0" smtClean="0"/>
          </a:p>
          <a:p>
            <a:pPr>
              <a:buFont typeface="Wingdings" pitchFamily="2" charset="2"/>
              <a:buNone/>
            </a:pPr>
            <a:endParaRPr lang="en-US" altLang="ko-KR" dirty="0" smtClean="0"/>
          </a:p>
          <a:p>
            <a:pPr>
              <a:buFont typeface="Wingdings" pitchFamily="2" charset="2"/>
              <a:buNone/>
            </a:pPr>
            <a:r>
              <a:rPr lang="en-US" altLang="ko-KR" sz="2600" b="1" dirty="0" smtClean="0">
                <a:solidFill>
                  <a:srgbClr val="0000CC"/>
                </a:solidFill>
              </a:rPr>
              <a:t>    char</a:t>
            </a:r>
            <a:r>
              <a:rPr lang="en-US" altLang="ko-KR" sz="2600" b="1" dirty="0" smtClean="0"/>
              <a:t> *</a:t>
            </a:r>
            <a:r>
              <a:rPr lang="en-US" altLang="ko-KR" sz="2600" b="1" dirty="0" err="1" smtClean="0"/>
              <a:t>colorp</a:t>
            </a:r>
            <a:r>
              <a:rPr lang="en-US" altLang="ko-KR" sz="2600" b="1" dirty="0" smtClean="0"/>
              <a:t>[3] = {"red", "blue", "white"}; </a:t>
            </a:r>
            <a:endParaRPr lang="ko-KR" altLang="en-US" sz="2600" b="1" dirty="0" smtClean="0"/>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33</a:t>
            </a:fld>
            <a:endParaRPr lang="en-US" dirty="0"/>
          </a:p>
        </p:txBody>
      </p:sp>
    </p:spTree>
    <p:extLst>
      <p:ext uri="{BB962C8B-B14F-4D97-AF65-F5344CB8AC3E}">
        <p14:creationId xmlns:p14="http://schemas.microsoft.com/office/powerpoint/2010/main" val="1318291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제목 1"/>
          <p:cNvSpPr>
            <a:spLocks noGrp="1"/>
          </p:cNvSpPr>
          <p:nvPr>
            <p:ph type="title"/>
          </p:nvPr>
        </p:nvSpPr>
        <p:spPr/>
        <p:txBody>
          <a:bodyPr/>
          <a:lstStyle/>
          <a:p>
            <a:r>
              <a:rPr lang="tr-TR" altLang="ko-KR" b="1" u="sng" dirty="0"/>
              <a:t>Çok boyutlu </a:t>
            </a:r>
            <a:r>
              <a:rPr lang="en-US" altLang="ko-KR" b="1" u="sng" dirty="0"/>
              <a:t>String</a:t>
            </a:r>
            <a:endParaRPr lang="ko-KR" altLang="en-US" b="1" u="sng" dirty="0" smtClean="0"/>
          </a:p>
        </p:txBody>
      </p:sp>
      <p:grpSp>
        <p:nvGrpSpPr>
          <p:cNvPr id="11267" name="Group 4"/>
          <p:cNvGrpSpPr>
            <a:grpSpLocks/>
          </p:cNvGrpSpPr>
          <p:nvPr/>
        </p:nvGrpSpPr>
        <p:grpSpPr bwMode="auto">
          <a:xfrm>
            <a:off x="624418" y="1512888"/>
            <a:ext cx="9791700" cy="4221162"/>
            <a:chOff x="295" y="953"/>
            <a:chExt cx="5184" cy="2975"/>
          </a:xfrm>
        </p:grpSpPr>
        <p:sp>
          <p:nvSpPr>
            <p:cNvPr id="11268" name="Rectangle 5"/>
            <p:cNvSpPr>
              <a:spLocks noChangeArrowheads="1"/>
            </p:cNvSpPr>
            <p:nvPr/>
          </p:nvSpPr>
          <p:spPr bwMode="auto">
            <a:xfrm>
              <a:off x="295" y="1026"/>
              <a:ext cx="5184" cy="2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spcBef>
                  <a:spcPct val="50000"/>
                </a:spcBef>
                <a:buClr>
                  <a:schemeClr val="bg2"/>
                </a:buClr>
                <a:buSzPct val="75000"/>
                <a:buFont typeface="Wingdings" pitchFamily="2" charset="2"/>
                <a:buNone/>
              </a:pPr>
              <a:r>
                <a:rPr lang="ko-KR" altLang="en-US" sz="2000">
                  <a:latin typeface="Tahoma" pitchFamily="34" charset="0"/>
                </a:rPr>
                <a:t> </a:t>
              </a:r>
            </a:p>
          </p:txBody>
        </p:sp>
        <p:sp>
          <p:nvSpPr>
            <p:cNvPr id="11269" name="Rectangle 6"/>
            <p:cNvSpPr>
              <a:spLocks noChangeArrowheads="1"/>
            </p:cNvSpPr>
            <p:nvPr/>
          </p:nvSpPr>
          <p:spPr bwMode="auto">
            <a:xfrm>
              <a:off x="1530" y="953"/>
              <a:ext cx="181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1600">
                  <a:latin typeface="Lucida Sans Unicode" pitchFamily="34" charset="0"/>
                </a:rPr>
                <a:t>r     e      d   \0             </a:t>
              </a:r>
            </a:p>
          </p:txBody>
        </p:sp>
        <p:sp>
          <p:nvSpPr>
            <p:cNvPr id="11270" name="Line 7"/>
            <p:cNvSpPr>
              <a:spLocks noChangeShapeType="1"/>
            </p:cNvSpPr>
            <p:nvPr/>
          </p:nvSpPr>
          <p:spPr bwMode="auto">
            <a:xfrm>
              <a:off x="1832"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1" name="Line 8"/>
            <p:cNvSpPr>
              <a:spLocks noChangeShapeType="1"/>
            </p:cNvSpPr>
            <p:nvPr/>
          </p:nvSpPr>
          <p:spPr bwMode="auto">
            <a:xfrm>
              <a:off x="2134"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2" name="Line 9"/>
            <p:cNvSpPr>
              <a:spLocks noChangeShapeType="1"/>
            </p:cNvSpPr>
            <p:nvPr/>
          </p:nvSpPr>
          <p:spPr bwMode="auto">
            <a:xfrm>
              <a:off x="2437"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3" name="Line 10"/>
            <p:cNvSpPr>
              <a:spLocks noChangeShapeType="1"/>
            </p:cNvSpPr>
            <p:nvPr/>
          </p:nvSpPr>
          <p:spPr bwMode="auto">
            <a:xfrm>
              <a:off x="2740"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4" name="Line 11"/>
            <p:cNvSpPr>
              <a:spLocks noChangeShapeType="1"/>
            </p:cNvSpPr>
            <p:nvPr/>
          </p:nvSpPr>
          <p:spPr bwMode="auto">
            <a:xfrm>
              <a:off x="3042"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5" name="Text Box 12"/>
            <p:cNvSpPr txBox="1">
              <a:spLocks noChangeArrowheads="1"/>
            </p:cNvSpPr>
            <p:nvPr/>
          </p:nvSpPr>
          <p:spPr bwMode="auto">
            <a:xfrm>
              <a:off x="815" y="1029"/>
              <a:ext cx="559" cy="1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1600">
                  <a:latin typeface="Lucida Sans Unicode" pitchFamily="34" charset="0"/>
                </a:rPr>
                <a:t>colors[0]</a:t>
              </a:r>
            </a:p>
            <a:p>
              <a:pPr eaLnBrk="1" hangingPunct="1"/>
              <a:endParaRPr lang="en-US" altLang="ko-KR" sz="1600">
                <a:latin typeface="Lucida Sans Unicode" pitchFamily="34" charset="0"/>
              </a:endParaRPr>
            </a:p>
            <a:p>
              <a:pPr eaLnBrk="1" hangingPunct="1"/>
              <a:endParaRPr lang="en-US" altLang="ko-KR" sz="1600">
                <a:latin typeface="Lucida Sans Unicode" pitchFamily="34" charset="0"/>
              </a:endParaRPr>
            </a:p>
            <a:p>
              <a:pPr eaLnBrk="1" hangingPunct="1"/>
              <a:r>
                <a:rPr lang="en-US" altLang="ko-KR" sz="1600">
                  <a:latin typeface="Lucida Sans Unicode" pitchFamily="34" charset="0"/>
                </a:rPr>
                <a:t>colors[1]</a:t>
              </a:r>
            </a:p>
            <a:p>
              <a:pPr eaLnBrk="1" hangingPunct="1"/>
              <a:endParaRPr lang="en-US" altLang="ko-KR" sz="1600">
                <a:latin typeface="Lucida Sans Unicode" pitchFamily="34" charset="0"/>
              </a:endParaRPr>
            </a:p>
            <a:p>
              <a:pPr eaLnBrk="1" hangingPunct="1"/>
              <a:endParaRPr lang="en-US" altLang="ko-KR" sz="1600">
                <a:latin typeface="Lucida Sans Unicode" pitchFamily="34" charset="0"/>
              </a:endParaRPr>
            </a:p>
            <a:p>
              <a:pPr eaLnBrk="1" hangingPunct="1"/>
              <a:r>
                <a:rPr lang="en-US" altLang="ko-KR" sz="1600">
                  <a:latin typeface="Lucida Sans Unicode" pitchFamily="34" charset="0"/>
                </a:rPr>
                <a:t>colors[2]</a:t>
              </a:r>
            </a:p>
          </p:txBody>
        </p:sp>
        <p:sp>
          <p:nvSpPr>
            <p:cNvPr id="11276" name="Rectangle 13"/>
            <p:cNvSpPr>
              <a:spLocks noChangeArrowheads="1"/>
            </p:cNvSpPr>
            <p:nvPr/>
          </p:nvSpPr>
          <p:spPr bwMode="auto">
            <a:xfrm>
              <a:off x="1512" y="1497"/>
              <a:ext cx="181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1600">
                  <a:latin typeface="Lucida Sans Unicode" pitchFamily="34" charset="0"/>
                </a:rPr>
                <a:t>b     l      u     e    \0     </a:t>
              </a:r>
            </a:p>
          </p:txBody>
        </p:sp>
        <p:sp>
          <p:nvSpPr>
            <p:cNvPr id="11277" name="Line 14"/>
            <p:cNvSpPr>
              <a:spLocks noChangeShapeType="1"/>
            </p:cNvSpPr>
            <p:nvPr/>
          </p:nvSpPr>
          <p:spPr bwMode="auto">
            <a:xfrm>
              <a:off x="1814" y="1505"/>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8" name="Line 15"/>
            <p:cNvSpPr>
              <a:spLocks noChangeShapeType="1"/>
            </p:cNvSpPr>
            <p:nvPr/>
          </p:nvSpPr>
          <p:spPr bwMode="auto">
            <a:xfrm>
              <a:off x="2116" y="1505"/>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79" name="Line 16"/>
            <p:cNvSpPr>
              <a:spLocks noChangeShapeType="1"/>
            </p:cNvSpPr>
            <p:nvPr/>
          </p:nvSpPr>
          <p:spPr bwMode="auto">
            <a:xfrm>
              <a:off x="2419" y="1505"/>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0" name="Line 17"/>
            <p:cNvSpPr>
              <a:spLocks noChangeShapeType="1"/>
            </p:cNvSpPr>
            <p:nvPr/>
          </p:nvSpPr>
          <p:spPr bwMode="auto">
            <a:xfrm>
              <a:off x="2722" y="1505"/>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1" name="Line 18"/>
            <p:cNvSpPr>
              <a:spLocks noChangeShapeType="1"/>
            </p:cNvSpPr>
            <p:nvPr/>
          </p:nvSpPr>
          <p:spPr bwMode="auto">
            <a:xfrm>
              <a:off x="3024" y="1505"/>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2" name="Rectangle 19"/>
            <p:cNvSpPr>
              <a:spLocks noChangeArrowheads="1"/>
            </p:cNvSpPr>
            <p:nvPr/>
          </p:nvSpPr>
          <p:spPr bwMode="auto">
            <a:xfrm>
              <a:off x="1512" y="2034"/>
              <a:ext cx="181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r>
                <a:rPr lang="en-US" altLang="ko-KR" sz="1600">
                  <a:latin typeface="Lucida Sans Unicode" pitchFamily="34" charset="0"/>
                </a:rPr>
                <a:t>w    h     i     t      e    \0             </a:t>
              </a:r>
            </a:p>
          </p:txBody>
        </p:sp>
        <p:sp>
          <p:nvSpPr>
            <p:cNvPr id="11283" name="Line 20"/>
            <p:cNvSpPr>
              <a:spLocks noChangeShapeType="1"/>
            </p:cNvSpPr>
            <p:nvPr/>
          </p:nvSpPr>
          <p:spPr bwMode="auto">
            <a:xfrm>
              <a:off x="1814" y="2042"/>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4" name="Line 21"/>
            <p:cNvSpPr>
              <a:spLocks noChangeShapeType="1"/>
            </p:cNvSpPr>
            <p:nvPr/>
          </p:nvSpPr>
          <p:spPr bwMode="auto">
            <a:xfrm>
              <a:off x="2116" y="2042"/>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5" name="Line 22"/>
            <p:cNvSpPr>
              <a:spLocks noChangeShapeType="1"/>
            </p:cNvSpPr>
            <p:nvPr/>
          </p:nvSpPr>
          <p:spPr bwMode="auto">
            <a:xfrm>
              <a:off x="2419" y="2042"/>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6" name="Line 23"/>
            <p:cNvSpPr>
              <a:spLocks noChangeShapeType="1"/>
            </p:cNvSpPr>
            <p:nvPr/>
          </p:nvSpPr>
          <p:spPr bwMode="auto">
            <a:xfrm>
              <a:off x="2722" y="2042"/>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7" name="Line 24"/>
            <p:cNvSpPr>
              <a:spLocks noChangeShapeType="1"/>
            </p:cNvSpPr>
            <p:nvPr/>
          </p:nvSpPr>
          <p:spPr bwMode="auto">
            <a:xfrm>
              <a:off x="3024" y="2042"/>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88" name="Rectangle 25"/>
            <p:cNvSpPr>
              <a:spLocks noChangeArrowheads="1"/>
            </p:cNvSpPr>
            <p:nvPr/>
          </p:nvSpPr>
          <p:spPr bwMode="auto">
            <a:xfrm>
              <a:off x="3317" y="2032"/>
              <a:ext cx="152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p>
          </p:txBody>
        </p:sp>
        <p:sp>
          <p:nvSpPr>
            <p:cNvPr id="11289" name="Line 26"/>
            <p:cNvSpPr>
              <a:spLocks noChangeShapeType="1"/>
            </p:cNvSpPr>
            <p:nvPr/>
          </p:nvSpPr>
          <p:spPr bwMode="auto">
            <a:xfrm>
              <a:off x="3616" y="204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0" name="Line 27"/>
            <p:cNvSpPr>
              <a:spLocks noChangeShapeType="1"/>
            </p:cNvSpPr>
            <p:nvPr/>
          </p:nvSpPr>
          <p:spPr bwMode="auto">
            <a:xfrm>
              <a:off x="3915" y="204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1" name="Line 28"/>
            <p:cNvSpPr>
              <a:spLocks noChangeShapeType="1"/>
            </p:cNvSpPr>
            <p:nvPr/>
          </p:nvSpPr>
          <p:spPr bwMode="auto">
            <a:xfrm>
              <a:off x="4215" y="204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2" name="Line 29"/>
            <p:cNvSpPr>
              <a:spLocks noChangeShapeType="1"/>
            </p:cNvSpPr>
            <p:nvPr/>
          </p:nvSpPr>
          <p:spPr bwMode="auto">
            <a:xfrm>
              <a:off x="4515" y="204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3" name="Rectangle 30"/>
            <p:cNvSpPr>
              <a:spLocks noChangeArrowheads="1"/>
            </p:cNvSpPr>
            <p:nvPr/>
          </p:nvSpPr>
          <p:spPr bwMode="auto">
            <a:xfrm>
              <a:off x="3327" y="1502"/>
              <a:ext cx="152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p>
          </p:txBody>
        </p:sp>
        <p:sp>
          <p:nvSpPr>
            <p:cNvPr id="11294" name="Line 31"/>
            <p:cNvSpPr>
              <a:spLocks noChangeShapeType="1"/>
            </p:cNvSpPr>
            <p:nvPr/>
          </p:nvSpPr>
          <p:spPr bwMode="auto">
            <a:xfrm>
              <a:off x="3626" y="151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5" name="Line 32"/>
            <p:cNvSpPr>
              <a:spLocks noChangeShapeType="1"/>
            </p:cNvSpPr>
            <p:nvPr/>
          </p:nvSpPr>
          <p:spPr bwMode="auto">
            <a:xfrm>
              <a:off x="3925" y="151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6" name="Line 33"/>
            <p:cNvSpPr>
              <a:spLocks noChangeShapeType="1"/>
            </p:cNvSpPr>
            <p:nvPr/>
          </p:nvSpPr>
          <p:spPr bwMode="auto">
            <a:xfrm>
              <a:off x="4225" y="151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7" name="Line 34"/>
            <p:cNvSpPr>
              <a:spLocks noChangeShapeType="1"/>
            </p:cNvSpPr>
            <p:nvPr/>
          </p:nvSpPr>
          <p:spPr bwMode="auto">
            <a:xfrm>
              <a:off x="4525" y="1510"/>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298" name="Rectangle 35"/>
            <p:cNvSpPr>
              <a:spLocks noChangeArrowheads="1"/>
            </p:cNvSpPr>
            <p:nvPr/>
          </p:nvSpPr>
          <p:spPr bwMode="auto">
            <a:xfrm>
              <a:off x="3334" y="953"/>
              <a:ext cx="152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p>
          </p:txBody>
        </p:sp>
        <p:sp>
          <p:nvSpPr>
            <p:cNvPr id="11299" name="Line 36"/>
            <p:cNvSpPr>
              <a:spLocks noChangeShapeType="1"/>
            </p:cNvSpPr>
            <p:nvPr/>
          </p:nvSpPr>
          <p:spPr bwMode="auto">
            <a:xfrm>
              <a:off x="3633"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0" name="Line 37"/>
            <p:cNvSpPr>
              <a:spLocks noChangeShapeType="1"/>
            </p:cNvSpPr>
            <p:nvPr/>
          </p:nvSpPr>
          <p:spPr bwMode="auto">
            <a:xfrm>
              <a:off x="3932"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1" name="Line 38"/>
            <p:cNvSpPr>
              <a:spLocks noChangeShapeType="1"/>
            </p:cNvSpPr>
            <p:nvPr/>
          </p:nvSpPr>
          <p:spPr bwMode="auto">
            <a:xfrm>
              <a:off x="4232"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2" name="Line 39"/>
            <p:cNvSpPr>
              <a:spLocks noChangeShapeType="1"/>
            </p:cNvSpPr>
            <p:nvPr/>
          </p:nvSpPr>
          <p:spPr bwMode="auto">
            <a:xfrm>
              <a:off x="4532" y="9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3" name="Rectangle 40"/>
            <p:cNvSpPr>
              <a:spLocks noChangeArrowheads="1"/>
            </p:cNvSpPr>
            <p:nvPr/>
          </p:nvSpPr>
          <p:spPr bwMode="auto">
            <a:xfrm>
              <a:off x="2491" y="2659"/>
              <a:ext cx="122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r>
                <a:rPr lang="en-US" altLang="ko-KR" sz="1600">
                  <a:latin typeface="Lucida Sans Unicode" pitchFamily="34" charset="0"/>
                </a:rPr>
                <a:t>r     e     d   \0             </a:t>
              </a:r>
            </a:p>
          </p:txBody>
        </p:sp>
        <p:sp>
          <p:nvSpPr>
            <p:cNvPr id="11304" name="Line 41"/>
            <p:cNvSpPr>
              <a:spLocks noChangeShapeType="1"/>
            </p:cNvSpPr>
            <p:nvPr/>
          </p:nvSpPr>
          <p:spPr bwMode="auto">
            <a:xfrm>
              <a:off x="2793" y="2667"/>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5" name="Line 42"/>
            <p:cNvSpPr>
              <a:spLocks noChangeShapeType="1"/>
            </p:cNvSpPr>
            <p:nvPr/>
          </p:nvSpPr>
          <p:spPr bwMode="auto">
            <a:xfrm>
              <a:off x="3095" y="2667"/>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6" name="Line 43"/>
            <p:cNvSpPr>
              <a:spLocks noChangeShapeType="1"/>
            </p:cNvSpPr>
            <p:nvPr/>
          </p:nvSpPr>
          <p:spPr bwMode="auto">
            <a:xfrm>
              <a:off x="3398" y="2667"/>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7" name="Rectangle 44"/>
            <p:cNvSpPr>
              <a:spLocks noChangeArrowheads="1"/>
            </p:cNvSpPr>
            <p:nvPr/>
          </p:nvSpPr>
          <p:spPr bwMode="auto">
            <a:xfrm>
              <a:off x="2491" y="3140"/>
              <a:ext cx="1542"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r>
                <a:rPr lang="en-US" altLang="ko-KR" sz="1600">
                  <a:latin typeface="Lucida Sans Unicode" pitchFamily="34" charset="0"/>
                </a:rPr>
                <a:t>b     l      u     e   \0     </a:t>
              </a:r>
            </a:p>
          </p:txBody>
        </p:sp>
        <p:sp>
          <p:nvSpPr>
            <p:cNvPr id="11308" name="Line 45"/>
            <p:cNvSpPr>
              <a:spLocks noChangeShapeType="1"/>
            </p:cNvSpPr>
            <p:nvPr/>
          </p:nvSpPr>
          <p:spPr bwMode="auto">
            <a:xfrm>
              <a:off x="2793" y="3166"/>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09" name="Line 46"/>
            <p:cNvSpPr>
              <a:spLocks noChangeShapeType="1"/>
            </p:cNvSpPr>
            <p:nvPr/>
          </p:nvSpPr>
          <p:spPr bwMode="auto">
            <a:xfrm>
              <a:off x="3095" y="3166"/>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0" name="Line 47"/>
            <p:cNvSpPr>
              <a:spLocks noChangeShapeType="1"/>
            </p:cNvSpPr>
            <p:nvPr/>
          </p:nvSpPr>
          <p:spPr bwMode="auto">
            <a:xfrm>
              <a:off x="3398" y="3166"/>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1" name="Line 48"/>
            <p:cNvSpPr>
              <a:spLocks noChangeShapeType="1"/>
            </p:cNvSpPr>
            <p:nvPr/>
          </p:nvSpPr>
          <p:spPr bwMode="auto">
            <a:xfrm>
              <a:off x="3701" y="3166"/>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2" name="Rectangle 49"/>
            <p:cNvSpPr>
              <a:spLocks noChangeArrowheads="1"/>
            </p:cNvSpPr>
            <p:nvPr/>
          </p:nvSpPr>
          <p:spPr bwMode="auto">
            <a:xfrm>
              <a:off x="2500" y="3603"/>
              <a:ext cx="1815" cy="317"/>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ko-KR" altLang="en-US" sz="1600">
                  <a:latin typeface="Lucida Sans Unicode" pitchFamily="34" charset="0"/>
                </a:rPr>
                <a:t>              </a:t>
              </a:r>
              <a:r>
                <a:rPr lang="en-US" altLang="ko-KR" sz="1600">
                  <a:latin typeface="Lucida Sans Unicode" pitchFamily="34" charset="0"/>
                </a:rPr>
                <a:t>w    h     i     t      e    \0             </a:t>
              </a:r>
            </a:p>
          </p:txBody>
        </p:sp>
        <p:sp>
          <p:nvSpPr>
            <p:cNvPr id="11313" name="Line 50"/>
            <p:cNvSpPr>
              <a:spLocks noChangeShapeType="1"/>
            </p:cNvSpPr>
            <p:nvPr/>
          </p:nvSpPr>
          <p:spPr bwMode="auto">
            <a:xfrm>
              <a:off x="2802" y="361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4" name="Line 51"/>
            <p:cNvSpPr>
              <a:spLocks noChangeShapeType="1"/>
            </p:cNvSpPr>
            <p:nvPr/>
          </p:nvSpPr>
          <p:spPr bwMode="auto">
            <a:xfrm>
              <a:off x="3104" y="361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5" name="Line 52"/>
            <p:cNvSpPr>
              <a:spLocks noChangeShapeType="1"/>
            </p:cNvSpPr>
            <p:nvPr/>
          </p:nvSpPr>
          <p:spPr bwMode="auto">
            <a:xfrm>
              <a:off x="3407" y="361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6" name="Line 53"/>
            <p:cNvSpPr>
              <a:spLocks noChangeShapeType="1"/>
            </p:cNvSpPr>
            <p:nvPr/>
          </p:nvSpPr>
          <p:spPr bwMode="auto">
            <a:xfrm>
              <a:off x="3710" y="361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7" name="Line 54"/>
            <p:cNvSpPr>
              <a:spLocks noChangeShapeType="1"/>
            </p:cNvSpPr>
            <p:nvPr/>
          </p:nvSpPr>
          <p:spPr bwMode="auto">
            <a:xfrm>
              <a:off x="4012" y="361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18" name="Rectangle 55"/>
            <p:cNvSpPr>
              <a:spLocks noChangeArrowheads="1"/>
            </p:cNvSpPr>
            <p:nvPr/>
          </p:nvSpPr>
          <p:spPr bwMode="auto">
            <a:xfrm>
              <a:off x="1584" y="2704"/>
              <a:ext cx="544" cy="1180"/>
            </a:xfrm>
            <a:prstGeom prst="rect">
              <a:avLst/>
            </a:prstGeom>
            <a:solidFill>
              <a:srgbClr val="DDDDFF"/>
            </a:solidFill>
            <a:ln w="9525">
              <a:solidFill>
                <a:schemeClr val="tx1"/>
              </a:solidFill>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a:p>
          </p:txBody>
        </p:sp>
        <p:sp>
          <p:nvSpPr>
            <p:cNvPr id="11319" name="Line 56"/>
            <p:cNvSpPr>
              <a:spLocks noChangeShapeType="1"/>
            </p:cNvSpPr>
            <p:nvPr/>
          </p:nvSpPr>
          <p:spPr bwMode="auto">
            <a:xfrm>
              <a:off x="1584" y="3104"/>
              <a:ext cx="5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20" name="Line 57"/>
            <p:cNvSpPr>
              <a:spLocks noChangeShapeType="1"/>
            </p:cNvSpPr>
            <p:nvPr/>
          </p:nvSpPr>
          <p:spPr bwMode="auto">
            <a:xfrm>
              <a:off x="1584" y="3512"/>
              <a:ext cx="5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1321" name="Line 58"/>
            <p:cNvSpPr>
              <a:spLocks noChangeShapeType="1"/>
            </p:cNvSpPr>
            <p:nvPr/>
          </p:nvSpPr>
          <p:spPr bwMode="auto">
            <a:xfrm>
              <a:off x="1983" y="2840"/>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1322" name="Line 59"/>
            <p:cNvSpPr>
              <a:spLocks noChangeShapeType="1"/>
            </p:cNvSpPr>
            <p:nvPr/>
          </p:nvSpPr>
          <p:spPr bwMode="auto">
            <a:xfrm>
              <a:off x="1992" y="3294"/>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1323" name="Line 60"/>
            <p:cNvSpPr>
              <a:spLocks noChangeShapeType="1"/>
            </p:cNvSpPr>
            <p:nvPr/>
          </p:nvSpPr>
          <p:spPr bwMode="auto">
            <a:xfrm>
              <a:off x="1992" y="3748"/>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1324" name="Text Box 61"/>
            <p:cNvSpPr txBox="1">
              <a:spLocks noChangeArrowheads="1"/>
            </p:cNvSpPr>
            <p:nvPr/>
          </p:nvSpPr>
          <p:spPr bwMode="auto">
            <a:xfrm>
              <a:off x="814" y="2861"/>
              <a:ext cx="572"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1600">
                  <a:latin typeface="Lucida Sans Unicode" pitchFamily="34" charset="0"/>
                </a:rPr>
                <a:t>colorp[0]</a:t>
              </a:r>
            </a:p>
            <a:p>
              <a:pPr eaLnBrk="1" hangingPunct="1"/>
              <a:endParaRPr lang="en-US" altLang="ko-KR" sz="1600">
                <a:latin typeface="Lucida Sans Unicode" pitchFamily="34" charset="0"/>
              </a:endParaRPr>
            </a:p>
            <a:p>
              <a:pPr eaLnBrk="1" hangingPunct="1"/>
              <a:r>
                <a:rPr lang="en-US" altLang="ko-KR" sz="1600">
                  <a:latin typeface="Lucida Sans Unicode" pitchFamily="34" charset="0"/>
                </a:rPr>
                <a:t>colorp[1]</a:t>
              </a:r>
            </a:p>
            <a:p>
              <a:pPr eaLnBrk="1" hangingPunct="1"/>
              <a:endParaRPr lang="en-US" altLang="ko-KR" sz="1600">
                <a:latin typeface="Lucida Sans Unicode" pitchFamily="34" charset="0"/>
              </a:endParaRPr>
            </a:p>
            <a:p>
              <a:pPr eaLnBrk="1" hangingPunct="1"/>
              <a:r>
                <a:rPr lang="en-US" altLang="ko-KR" sz="1600">
                  <a:latin typeface="Lucida Sans Unicode" pitchFamily="34" charset="0"/>
                </a:rPr>
                <a:t>colorp[2]</a:t>
              </a:r>
            </a:p>
          </p:txBody>
        </p:sp>
      </p:gr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34</a:t>
            </a:fld>
            <a:endParaRPr lang="en-US" dirty="0"/>
          </a:p>
        </p:txBody>
      </p:sp>
    </p:spTree>
    <p:extLst>
      <p:ext uri="{BB962C8B-B14F-4D97-AF65-F5344CB8AC3E}">
        <p14:creationId xmlns:p14="http://schemas.microsoft.com/office/powerpoint/2010/main" val="3024728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endParaRPr lang="tr-T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25" y="290513"/>
            <a:ext cx="10039350" cy="627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Altbilgi Yer Tutucusu 3"/>
          <p:cNvSpPr>
            <a:spLocks noGrp="1"/>
          </p:cNvSpPr>
          <p:nvPr>
            <p:ph type="ftr" sz="quarter" idx="11"/>
          </p:nvPr>
        </p:nvSpPr>
        <p:spPr/>
        <p:txBody>
          <a:bodyPr/>
          <a:lstStyle/>
          <a:p>
            <a:r>
              <a:rPr lang="en-US" smtClean="0"/>
              <a:t>Bilgisayar Programlama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35</a:t>
            </a:fld>
            <a:endParaRPr lang="en-US" dirty="0"/>
          </a:p>
        </p:txBody>
      </p:sp>
    </p:spTree>
    <p:extLst>
      <p:ext uri="{BB962C8B-B14F-4D97-AF65-F5344CB8AC3E}">
        <p14:creationId xmlns:p14="http://schemas.microsoft.com/office/powerpoint/2010/main" val="688772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제목 1"/>
          <p:cNvSpPr>
            <a:spLocks noGrp="1"/>
          </p:cNvSpPr>
          <p:nvPr>
            <p:ph type="title"/>
          </p:nvPr>
        </p:nvSpPr>
        <p:spPr/>
        <p:txBody>
          <a:bodyPr/>
          <a:lstStyle/>
          <a:p>
            <a:r>
              <a:rPr lang="en-US" altLang="ko-KR" b="1" u="sng" dirty="0" smtClean="0"/>
              <a:t>String </a:t>
            </a:r>
            <a:r>
              <a:rPr lang="tr-TR" altLang="ko-KR" b="1" u="sng" dirty="0" smtClean="0"/>
              <a:t>giriş/çıkış</a:t>
            </a:r>
            <a:endParaRPr lang="ko-KR" altLang="en-US" b="1" u="sng" dirty="0" smtClean="0"/>
          </a:p>
        </p:txBody>
      </p:sp>
      <p:sp>
        <p:nvSpPr>
          <p:cNvPr id="12291" name="내용 개체 틀 2"/>
          <p:cNvSpPr>
            <a:spLocks noGrp="1"/>
          </p:cNvSpPr>
          <p:nvPr>
            <p:ph idx="1"/>
          </p:nvPr>
        </p:nvSpPr>
        <p:spPr/>
        <p:txBody>
          <a:bodyPr/>
          <a:lstStyle/>
          <a:p>
            <a:r>
              <a:rPr lang="en-US" altLang="ko-KR" b="1" dirty="0" smtClean="0">
                <a:solidFill>
                  <a:srgbClr val="0000CC"/>
                </a:solidFill>
              </a:rPr>
              <a:t>char</a:t>
            </a:r>
            <a:r>
              <a:rPr lang="en-US" altLang="ko-KR" b="1" dirty="0" smtClean="0"/>
              <a:t> *gets(</a:t>
            </a:r>
            <a:r>
              <a:rPr lang="en-US" altLang="ko-KR" b="1" dirty="0" smtClean="0">
                <a:solidFill>
                  <a:srgbClr val="0000CC"/>
                </a:solidFill>
              </a:rPr>
              <a:t>char</a:t>
            </a:r>
            <a:r>
              <a:rPr lang="en-US" altLang="ko-KR" b="1" dirty="0" smtClean="0"/>
              <a:t> *</a:t>
            </a:r>
            <a:r>
              <a:rPr lang="en-US" altLang="ko-KR" b="1" dirty="0" err="1" smtClean="0"/>
              <a:t>str</a:t>
            </a:r>
            <a:r>
              <a:rPr lang="en-US" altLang="ko-KR" b="1" dirty="0" smtClean="0"/>
              <a:t>); </a:t>
            </a:r>
          </a:p>
          <a:p>
            <a:pPr lvl="1"/>
            <a:r>
              <a:rPr lang="tr-TR" dirty="0"/>
              <a:t>Klavyeden bir satır dizesi okuma</a:t>
            </a:r>
            <a:br>
              <a:rPr lang="tr-TR" dirty="0"/>
            </a:br>
            <a:r>
              <a:rPr lang="tr-TR" dirty="0"/>
              <a:t>Giriş dizesini </a:t>
            </a:r>
            <a:r>
              <a:rPr lang="tr-TR" dirty="0" err="1"/>
              <a:t>str'ye</a:t>
            </a:r>
            <a:r>
              <a:rPr lang="tr-TR" dirty="0"/>
              <a:t> koy</a:t>
            </a:r>
            <a:endParaRPr lang="en-US" altLang="ko-KR" dirty="0" smtClean="0"/>
          </a:p>
          <a:p>
            <a:r>
              <a:rPr lang="en-US" altLang="ko-KR" b="1" dirty="0" err="1" smtClean="0">
                <a:solidFill>
                  <a:srgbClr val="0000CC"/>
                </a:solidFill>
              </a:rPr>
              <a:t>int</a:t>
            </a:r>
            <a:r>
              <a:rPr lang="en-US" altLang="ko-KR" b="1" dirty="0" smtClean="0"/>
              <a:t> puts(</a:t>
            </a:r>
            <a:r>
              <a:rPr lang="en-US" altLang="ko-KR" b="1" dirty="0" smtClean="0">
                <a:solidFill>
                  <a:srgbClr val="0000CC"/>
                </a:solidFill>
              </a:rPr>
              <a:t>char</a:t>
            </a:r>
            <a:r>
              <a:rPr lang="en-US" altLang="ko-KR" b="1" dirty="0" smtClean="0"/>
              <a:t> *</a:t>
            </a:r>
            <a:r>
              <a:rPr lang="en-US" altLang="ko-KR" b="1" dirty="0" err="1" smtClean="0"/>
              <a:t>str</a:t>
            </a:r>
            <a:r>
              <a:rPr lang="en-US" altLang="ko-KR" b="1" dirty="0" smtClean="0"/>
              <a:t>);  </a:t>
            </a:r>
          </a:p>
          <a:p>
            <a:pPr lvl="1"/>
            <a:r>
              <a:rPr lang="en-US" altLang="ko-KR" dirty="0" smtClean="0"/>
              <a:t>string </a:t>
            </a:r>
            <a:r>
              <a:rPr lang="en-US" altLang="ko-KR" dirty="0" err="1" smtClean="0"/>
              <a:t>str</a:t>
            </a:r>
            <a:r>
              <a:rPr lang="tr-TR" altLang="ko-KR" dirty="0"/>
              <a:t> </a:t>
            </a:r>
            <a:r>
              <a:rPr lang="tr-TR" altLang="ko-KR" dirty="0" err="1" smtClean="0"/>
              <a:t>yi</a:t>
            </a:r>
            <a:r>
              <a:rPr lang="tr-TR" altLang="ko-KR" dirty="0"/>
              <a:t> </a:t>
            </a:r>
            <a:r>
              <a:rPr lang="en-US" altLang="ko-KR" dirty="0" smtClean="0"/>
              <a:t>standard </a:t>
            </a:r>
            <a:r>
              <a:rPr lang="tr-TR" altLang="ko-KR" dirty="0" smtClean="0"/>
              <a:t>çıkışa yazdır</a:t>
            </a:r>
            <a:endParaRPr lang="ko-KR" altLang="en-US" dirty="0" smtClean="0"/>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36</a:t>
            </a:fld>
            <a:endParaRPr lang="en-US" dirty="0"/>
          </a:p>
        </p:txBody>
      </p:sp>
    </p:spTree>
    <p:extLst>
      <p:ext uri="{BB962C8B-B14F-4D97-AF65-F5344CB8AC3E}">
        <p14:creationId xmlns:p14="http://schemas.microsoft.com/office/powerpoint/2010/main" val="1094175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209800" y="0"/>
            <a:ext cx="7772400" cy="1143000"/>
          </a:xfrm>
        </p:spPr>
        <p:txBody>
          <a:bodyPr/>
          <a:lstStyle/>
          <a:p>
            <a:pPr eaLnBrk="1" hangingPunct="1"/>
            <a:r>
              <a:rPr lang="en-US" altLang="en-US" dirty="0" smtClean="0"/>
              <a:t>Pointers to Pointers</a:t>
            </a:r>
          </a:p>
        </p:txBody>
      </p:sp>
      <p:sp>
        <p:nvSpPr>
          <p:cNvPr id="13315" name="Rectangle 3"/>
          <p:cNvSpPr>
            <a:spLocks noGrp="1" noChangeArrowheads="1"/>
          </p:cNvSpPr>
          <p:nvPr>
            <p:ph type="body" idx="1"/>
          </p:nvPr>
        </p:nvSpPr>
        <p:spPr>
          <a:xfrm>
            <a:off x="2209800" y="1143000"/>
            <a:ext cx="7772400" cy="1911285"/>
          </a:xfrm>
        </p:spPr>
        <p:txBody>
          <a:bodyPr/>
          <a:lstStyle/>
          <a:p>
            <a:r>
              <a:rPr lang="tr-TR" sz="2800" dirty="0"/>
              <a:t>İşaretçileri dizilerin dışındaki işaretleyicilere de kullanmak isteyebiliriz, ancak işaretçilerin işaretleyicilerinin işaretçi dizisini temsil etmesi daha yaygındır.</a:t>
            </a:r>
          </a:p>
        </p:txBody>
      </p:sp>
      <p:sp>
        <p:nvSpPr>
          <p:cNvPr id="13316" name="Text Box 4"/>
          <p:cNvSpPr txBox="1">
            <a:spLocks noChangeArrowheads="1"/>
          </p:cNvSpPr>
          <p:nvPr/>
        </p:nvSpPr>
        <p:spPr bwMode="auto">
          <a:xfrm>
            <a:off x="2590800" y="4114801"/>
            <a:ext cx="290977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dirty="0"/>
              <a:t> </a:t>
            </a:r>
            <a:r>
              <a:rPr lang="en-US" altLang="en-US" sz="1800" dirty="0" err="1"/>
              <a:t>int</a:t>
            </a:r>
            <a:r>
              <a:rPr lang="en-US" altLang="en-US" sz="1800" dirty="0"/>
              <a:t> a;</a:t>
            </a:r>
          </a:p>
          <a:p>
            <a:pPr eaLnBrk="1" hangingPunct="1">
              <a:spcBef>
                <a:spcPct val="0"/>
              </a:spcBef>
              <a:buFontTx/>
              <a:buNone/>
            </a:pPr>
            <a:r>
              <a:rPr lang="en-US" altLang="en-US" sz="1800" dirty="0"/>
              <a:t> </a:t>
            </a:r>
            <a:r>
              <a:rPr lang="en-US" altLang="en-US" sz="1800" dirty="0" err="1"/>
              <a:t>int</a:t>
            </a:r>
            <a:r>
              <a:rPr lang="en-US" altLang="en-US" sz="1800" dirty="0"/>
              <a:t> *p;</a:t>
            </a:r>
          </a:p>
          <a:p>
            <a:pPr eaLnBrk="1" hangingPunct="1">
              <a:spcBef>
                <a:spcPct val="0"/>
              </a:spcBef>
              <a:buFontTx/>
              <a:buNone/>
            </a:pPr>
            <a:r>
              <a:rPr lang="en-US" altLang="en-US" sz="1800" dirty="0"/>
              <a:t> </a:t>
            </a:r>
            <a:r>
              <a:rPr lang="en-US" altLang="en-US" sz="1800" dirty="0" err="1"/>
              <a:t>int</a:t>
            </a:r>
            <a:r>
              <a:rPr lang="en-US" altLang="en-US" sz="1800" dirty="0"/>
              <a:t> **q;</a:t>
            </a:r>
          </a:p>
          <a:p>
            <a:pPr eaLnBrk="1" hangingPunct="1">
              <a:spcBef>
                <a:spcPct val="0"/>
              </a:spcBef>
              <a:buFontTx/>
              <a:buNone/>
            </a:pPr>
            <a:r>
              <a:rPr lang="en-US" altLang="en-US" sz="1800" dirty="0"/>
              <a:t> a = 10;</a:t>
            </a:r>
          </a:p>
          <a:p>
            <a:pPr eaLnBrk="1" hangingPunct="1">
              <a:spcBef>
                <a:spcPct val="0"/>
              </a:spcBef>
              <a:buFontTx/>
              <a:buNone/>
            </a:pPr>
            <a:r>
              <a:rPr lang="en-US" altLang="en-US" sz="1800" dirty="0"/>
              <a:t> p = &amp;a;</a:t>
            </a:r>
          </a:p>
          <a:p>
            <a:pPr eaLnBrk="1" hangingPunct="1">
              <a:spcBef>
                <a:spcPct val="0"/>
              </a:spcBef>
              <a:buFontTx/>
              <a:buNone/>
            </a:pPr>
            <a:r>
              <a:rPr lang="en-US" altLang="en-US" sz="1800" dirty="0"/>
              <a:t> q = &amp;p;</a:t>
            </a:r>
          </a:p>
          <a:p>
            <a:pPr eaLnBrk="1" hangingPunct="1">
              <a:spcBef>
                <a:spcPct val="0"/>
              </a:spcBef>
              <a:buFontTx/>
              <a:buNone/>
            </a:pPr>
            <a:r>
              <a:rPr lang="en-US" altLang="en-US" sz="1800" dirty="0"/>
              <a:t> </a:t>
            </a:r>
            <a:r>
              <a:rPr lang="en-US" altLang="en-US" sz="1800" dirty="0" err="1"/>
              <a:t>printf</a:t>
            </a:r>
            <a:r>
              <a:rPr lang="en-US" altLang="en-US" sz="1800" dirty="0"/>
              <a:t>(“%d”, **q);		// </a:t>
            </a:r>
            <a:r>
              <a:rPr lang="en-US" altLang="en-US" sz="1800" dirty="0" smtClean="0"/>
              <a:t>10</a:t>
            </a:r>
            <a:endParaRPr lang="en-US" altLang="en-US" sz="1800" dirty="0"/>
          </a:p>
        </p:txBody>
      </p:sp>
      <p:sp>
        <p:nvSpPr>
          <p:cNvPr id="13317" name="Text Box 5"/>
          <p:cNvSpPr txBox="1">
            <a:spLocks noChangeArrowheads="1"/>
          </p:cNvSpPr>
          <p:nvPr/>
        </p:nvSpPr>
        <p:spPr bwMode="auto">
          <a:xfrm>
            <a:off x="4800600" y="4191001"/>
            <a:ext cx="544328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dirty="0"/>
              <a:t>We dereference our pointer p with *p but we dereference</a:t>
            </a:r>
          </a:p>
          <a:p>
            <a:pPr eaLnBrk="1" hangingPunct="1">
              <a:spcBef>
                <a:spcPct val="0"/>
              </a:spcBef>
              <a:buFontTx/>
              <a:buNone/>
            </a:pPr>
            <a:r>
              <a:rPr lang="en-US" altLang="en-US" sz="1800" dirty="0"/>
              <a:t>our pointer to a pointer q with **q</a:t>
            </a:r>
          </a:p>
          <a:p>
            <a:pPr eaLnBrk="1" hangingPunct="1">
              <a:spcBef>
                <a:spcPct val="0"/>
              </a:spcBef>
              <a:buFontTx/>
              <a:buNone/>
            </a:pPr>
            <a:endParaRPr lang="en-US" altLang="en-US" sz="1800" dirty="0"/>
          </a:p>
        </p:txBody>
      </p:sp>
      <p:sp>
        <p:nvSpPr>
          <p:cNvPr id="2" name="Altbilgi Yer Tutucusu 1"/>
          <p:cNvSpPr>
            <a:spLocks noGrp="1"/>
          </p:cNvSpPr>
          <p:nvPr>
            <p:ph type="ftr" sz="quarter" idx="11"/>
          </p:nvPr>
        </p:nvSpPr>
        <p:spPr/>
        <p:txBody>
          <a:bodyPr/>
          <a:lstStyle/>
          <a:p>
            <a:r>
              <a:rPr lang="en-US" dirty="0" err="1" smtClean="0"/>
              <a:t>Bilgisayar</a:t>
            </a:r>
            <a:r>
              <a:rPr lang="en-US" dirty="0" smtClean="0"/>
              <a:t> </a:t>
            </a:r>
            <a:r>
              <a:rPr lang="en-US" dirty="0" err="1" smtClean="0"/>
              <a:t>Programlama</a:t>
            </a:r>
            <a:r>
              <a:rPr lang="en-US" dirty="0" smtClean="0"/>
              <a:t>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37</a:t>
            </a:fld>
            <a:endParaRPr lang="en-US" dirty="0"/>
          </a:p>
        </p:txBody>
      </p:sp>
      <p:sp>
        <p:nvSpPr>
          <p:cNvPr id="8" name="Text Box 4"/>
          <p:cNvSpPr txBox="1">
            <a:spLocks noChangeArrowheads="1"/>
          </p:cNvSpPr>
          <p:nvPr/>
        </p:nvSpPr>
        <p:spPr bwMode="auto">
          <a:xfrm>
            <a:off x="2590800" y="4114800"/>
            <a:ext cx="290977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dirty="0" smtClean="0"/>
              <a:t> </a:t>
            </a:r>
            <a:r>
              <a:rPr lang="en-US" altLang="en-US" sz="1800" dirty="0" err="1" smtClean="0"/>
              <a:t>int</a:t>
            </a:r>
            <a:r>
              <a:rPr lang="en-US" altLang="en-US" sz="1800" dirty="0" smtClean="0"/>
              <a:t> a;</a:t>
            </a:r>
          </a:p>
          <a:p>
            <a:pPr eaLnBrk="1" hangingPunct="1">
              <a:spcBef>
                <a:spcPct val="0"/>
              </a:spcBef>
              <a:buFontTx/>
              <a:buNone/>
            </a:pPr>
            <a:r>
              <a:rPr lang="en-US" altLang="en-US" sz="1800" dirty="0" smtClean="0"/>
              <a:t> </a:t>
            </a:r>
            <a:r>
              <a:rPr lang="en-US" altLang="en-US" sz="1800" dirty="0" err="1" smtClean="0"/>
              <a:t>int</a:t>
            </a:r>
            <a:r>
              <a:rPr lang="en-US" altLang="en-US" sz="1800" dirty="0" smtClean="0"/>
              <a:t> *p;</a:t>
            </a:r>
          </a:p>
          <a:p>
            <a:pPr eaLnBrk="1" hangingPunct="1">
              <a:spcBef>
                <a:spcPct val="0"/>
              </a:spcBef>
              <a:buFontTx/>
              <a:buNone/>
            </a:pPr>
            <a:r>
              <a:rPr lang="en-US" altLang="en-US" sz="1800" dirty="0" smtClean="0"/>
              <a:t> </a:t>
            </a:r>
            <a:r>
              <a:rPr lang="en-US" altLang="en-US" sz="1800" dirty="0" err="1" smtClean="0"/>
              <a:t>int</a:t>
            </a:r>
            <a:r>
              <a:rPr lang="en-US" altLang="en-US" sz="1800" dirty="0" smtClean="0"/>
              <a:t> **q;</a:t>
            </a:r>
          </a:p>
          <a:p>
            <a:pPr eaLnBrk="1" hangingPunct="1">
              <a:spcBef>
                <a:spcPct val="0"/>
              </a:spcBef>
              <a:buFontTx/>
              <a:buNone/>
            </a:pPr>
            <a:r>
              <a:rPr lang="en-US" altLang="en-US" sz="1800" dirty="0" smtClean="0"/>
              <a:t> a = 10;</a:t>
            </a:r>
          </a:p>
          <a:p>
            <a:pPr eaLnBrk="1" hangingPunct="1">
              <a:spcBef>
                <a:spcPct val="0"/>
              </a:spcBef>
              <a:buFontTx/>
              <a:buNone/>
            </a:pPr>
            <a:r>
              <a:rPr lang="en-US" altLang="en-US" sz="1800" dirty="0" smtClean="0"/>
              <a:t> p = &amp;a;</a:t>
            </a:r>
          </a:p>
          <a:p>
            <a:pPr eaLnBrk="1" hangingPunct="1">
              <a:spcBef>
                <a:spcPct val="0"/>
              </a:spcBef>
              <a:buFontTx/>
              <a:buNone/>
            </a:pPr>
            <a:r>
              <a:rPr lang="en-US" altLang="en-US" sz="1800" dirty="0" smtClean="0"/>
              <a:t> q = &amp;p;</a:t>
            </a:r>
          </a:p>
          <a:p>
            <a:pPr eaLnBrk="1" hangingPunct="1">
              <a:spcBef>
                <a:spcPct val="0"/>
              </a:spcBef>
              <a:buFontTx/>
              <a:buNone/>
            </a:pPr>
            <a:r>
              <a:rPr lang="en-US" altLang="en-US" sz="1800" dirty="0" smtClean="0"/>
              <a:t> </a:t>
            </a:r>
            <a:r>
              <a:rPr lang="en-US" altLang="en-US" sz="1800" dirty="0" err="1" smtClean="0"/>
              <a:t>printf</a:t>
            </a:r>
            <a:r>
              <a:rPr lang="en-US" altLang="en-US" sz="1800" dirty="0" smtClean="0"/>
              <a:t>(“%d”, **q);		// 10</a:t>
            </a:r>
            <a:endParaRPr lang="en-US" altLang="en-US" sz="1800" dirty="0"/>
          </a:p>
        </p:txBody>
      </p:sp>
    </p:spTree>
    <p:extLst>
      <p:ext uri="{BB962C8B-B14F-4D97-AF65-F5344CB8AC3E}">
        <p14:creationId xmlns:p14="http://schemas.microsoft.com/office/powerpoint/2010/main" val="15149312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r>
              <a:rPr lang="tr-TR" dirty="0"/>
              <a:t>int main()</a:t>
            </a:r>
          </a:p>
          <a:p>
            <a:r>
              <a:rPr lang="tr-TR" dirty="0"/>
              <a:t>{</a:t>
            </a:r>
          </a:p>
          <a:p>
            <a:r>
              <a:rPr lang="tr-TR" dirty="0"/>
              <a:t>    int a;</a:t>
            </a:r>
          </a:p>
          <a:p>
            <a:r>
              <a:rPr lang="tr-TR" dirty="0"/>
              <a:t> int *p;</a:t>
            </a:r>
          </a:p>
          <a:p>
            <a:r>
              <a:rPr lang="tr-TR" dirty="0"/>
              <a:t> int **q;</a:t>
            </a:r>
          </a:p>
          <a:p>
            <a:r>
              <a:rPr lang="tr-TR" dirty="0"/>
              <a:t> a = 10;</a:t>
            </a:r>
          </a:p>
          <a:p>
            <a:r>
              <a:rPr lang="tr-TR" dirty="0"/>
              <a:t> p = &amp;a;</a:t>
            </a:r>
          </a:p>
          <a:p>
            <a:r>
              <a:rPr lang="tr-TR" dirty="0"/>
              <a:t> q = &amp;p;</a:t>
            </a:r>
          </a:p>
          <a:p>
            <a:r>
              <a:rPr lang="tr-TR" dirty="0"/>
              <a:t>  printf("%d\n", *p);	</a:t>
            </a:r>
          </a:p>
          <a:p>
            <a:r>
              <a:rPr lang="tr-TR" dirty="0"/>
              <a:t>   printf</a:t>
            </a:r>
            <a:r>
              <a:rPr lang="tr-TR" dirty="0" smtClean="0"/>
              <a:t>("%p\n</a:t>
            </a:r>
            <a:r>
              <a:rPr lang="tr-TR" dirty="0"/>
              <a:t>", p);	</a:t>
            </a:r>
          </a:p>
          <a:p>
            <a:r>
              <a:rPr lang="tr-TR" dirty="0"/>
              <a:t> printf("%d", **q);	</a:t>
            </a:r>
          </a:p>
          <a:p>
            <a:r>
              <a:rPr lang="tr-TR" dirty="0"/>
              <a:t> </a:t>
            </a:r>
          </a:p>
          <a:p>
            <a:r>
              <a:rPr lang="tr-TR" dirty="0"/>
              <a:t>    return 0;</a:t>
            </a:r>
          </a:p>
          <a:p>
            <a:r>
              <a:rPr lang="tr-TR" dirty="0"/>
              <a:t>}</a:t>
            </a:r>
          </a:p>
          <a:p>
            <a:endParaRPr lang="tr-TR" dirty="0"/>
          </a:p>
        </p:txBody>
      </p:sp>
      <p:sp>
        <p:nvSpPr>
          <p:cNvPr id="4" name="Footer Placeholder 3"/>
          <p:cNvSpPr>
            <a:spLocks noGrp="1"/>
          </p:cNvSpPr>
          <p:nvPr>
            <p:ph type="ftr" sz="quarter" idx="11"/>
          </p:nvPr>
        </p:nvSpPr>
        <p:spPr/>
        <p:txBody>
          <a:bodyPr/>
          <a:lstStyle/>
          <a:p>
            <a:r>
              <a:rPr lang="en-US" smtClean="0"/>
              <a:t>Bilgisayar Programlama 1</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38</a:t>
            </a:fld>
            <a:endParaRPr lang="en-US" dirty="0"/>
          </a:p>
        </p:txBody>
      </p:sp>
      <p:sp>
        <p:nvSpPr>
          <p:cNvPr id="6" name="Rectangle 2"/>
          <p:cNvSpPr>
            <a:spLocks noGrp="1" noChangeArrowheads="1"/>
          </p:cNvSpPr>
          <p:nvPr>
            <p:ph type="title"/>
          </p:nvPr>
        </p:nvSpPr>
        <p:spPr/>
        <p:txBody>
          <a:bodyPr/>
          <a:lstStyle/>
          <a:p>
            <a:pPr eaLnBrk="1" hangingPunct="1"/>
            <a:r>
              <a:rPr lang="en-US" altLang="en-US" dirty="0" smtClean="0"/>
              <a:t>Pointers to Pointers</a:t>
            </a:r>
          </a:p>
        </p:txBody>
      </p:sp>
    </p:spTree>
    <p:extLst>
      <p:ext uri="{BB962C8B-B14F-4D97-AF65-F5344CB8AC3E}">
        <p14:creationId xmlns:p14="http://schemas.microsoft.com/office/powerpoint/2010/main" val="19749570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338348" y="548640"/>
            <a:ext cx="9789899" cy="5623560"/>
          </a:xfrm>
        </p:spPr>
        <p:txBody>
          <a:bodyPr>
            <a:normAutofit fontScale="62500" lnSpcReduction="20000"/>
          </a:bodyPr>
          <a:lstStyle/>
          <a:p>
            <a:pPr marL="0" indent="0">
              <a:buNone/>
            </a:pPr>
            <a:r>
              <a:rPr lang="tr-TR" dirty="0"/>
              <a:t>#</a:t>
            </a:r>
            <a:r>
              <a:rPr lang="tr-TR" dirty="0" err="1"/>
              <a:t>include</a:t>
            </a:r>
            <a:r>
              <a:rPr lang="tr-TR" dirty="0"/>
              <a:t> &lt;</a:t>
            </a:r>
            <a:r>
              <a:rPr lang="tr-TR" dirty="0" err="1"/>
              <a:t>stdio.h</a:t>
            </a:r>
            <a:r>
              <a:rPr lang="tr-TR" dirty="0"/>
              <a:t>&gt;</a:t>
            </a:r>
          </a:p>
          <a:p>
            <a:pPr marL="0" indent="0">
              <a:buNone/>
            </a:pPr>
            <a:endParaRPr lang="tr-TR" dirty="0"/>
          </a:p>
          <a:p>
            <a:pPr marL="0" indent="0">
              <a:buNone/>
            </a:pPr>
            <a:r>
              <a:rPr lang="tr-TR" dirty="0" err="1"/>
              <a:t>int</a:t>
            </a:r>
            <a:r>
              <a:rPr lang="tr-TR" dirty="0"/>
              <a:t> main()</a:t>
            </a:r>
          </a:p>
          <a:p>
            <a:pPr marL="0" indent="0">
              <a:buNone/>
            </a:pPr>
            <a:r>
              <a:rPr lang="tr-TR" dirty="0"/>
              <a:t>{</a:t>
            </a:r>
          </a:p>
          <a:p>
            <a:pPr marL="0" indent="0">
              <a:buNone/>
            </a:pPr>
            <a:r>
              <a:rPr lang="tr-TR" dirty="0"/>
              <a:t>	</a:t>
            </a:r>
            <a:r>
              <a:rPr lang="tr-TR" dirty="0" err="1"/>
              <a:t>char</a:t>
            </a:r>
            <a:r>
              <a:rPr lang="tr-TR" dirty="0"/>
              <a:t> </a:t>
            </a:r>
            <a:r>
              <a:rPr lang="tr-TR" dirty="0" err="1"/>
              <a:t>month</a:t>
            </a:r>
            <a:r>
              <a:rPr lang="tr-TR" dirty="0"/>
              <a:t>[12][10]={</a:t>
            </a:r>
          </a:p>
          <a:p>
            <a:pPr marL="0" indent="0">
              <a:buNone/>
            </a:pPr>
            <a:r>
              <a:rPr lang="tr-TR" dirty="0"/>
              <a:t>		"</a:t>
            </a:r>
            <a:r>
              <a:rPr lang="tr-TR" dirty="0" err="1"/>
              <a:t>January</a:t>
            </a:r>
            <a:r>
              <a:rPr lang="tr-TR" dirty="0"/>
              <a:t>", "</a:t>
            </a:r>
            <a:r>
              <a:rPr lang="tr-TR" dirty="0" err="1"/>
              <a:t>February</a:t>
            </a:r>
            <a:r>
              <a:rPr lang="tr-TR" dirty="0"/>
              <a:t>", "</a:t>
            </a:r>
            <a:r>
              <a:rPr lang="tr-TR" dirty="0" err="1"/>
              <a:t>March</a:t>
            </a:r>
            <a:r>
              <a:rPr lang="tr-TR" dirty="0"/>
              <a:t>", "April",</a:t>
            </a:r>
          </a:p>
          <a:p>
            <a:pPr marL="0" indent="0">
              <a:buNone/>
            </a:pPr>
            <a:r>
              <a:rPr lang="tr-TR" dirty="0"/>
              <a:t>		"May", "</a:t>
            </a:r>
            <a:r>
              <a:rPr lang="tr-TR" dirty="0" err="1"/>
              <a:t>June</a:t>
            </a:r>
            <a:r>
              <a:rPr lang="tr-TR" dirty="0"/>
              <a:t>", "</a:t>
            </a:r>
            <a:r>
              <a:rPr lang="tr-TR" dirty="0" err="1"/>
              <a:t>July</a:t>
            </a:r>
            <a:r>
              <a:rPr lang="tr-TR" dirty="0"/>
              <a:t>", "</a:t>
            </a:r>
            <a:r>
              <a:rPr lang="tr-TR" dirty="0" err="1"/>
              <a:t>August</a:t>
            </a:r>
            <a:r>
              <a:rPr lang="tr-TR" dirty="0"/>
              <a:t>",</a:t>
            </a:r>
          </a:p>
          <a:p>
            <a:pPr marL="0" indent="0">
              <a:buNone/>
            </a:pPr>
            <a:r>
              <a:rPr lang="tr-TR" dirty="0"/>
              <a:t>		"</a:t>
            </a:r>
            <a:r>
              <a:rPr lang="tr-TR" dirty="0" err="1"/>
              <a:t>September</a:t>
            </a:r>
            <a:r>
              <a:rPr lang="tr-TR" dirty="0"/>
              <a:t>", "</a:t>
            </a:r>
            <a:r>
              <a:rPr lang="tr-TR" dirty="0" err="1"/>
              <a:t>October</a:t>
            </a:r>
            <a:r>
              <a:rPr lang="tr-TR" dirty="0"/>
              <a:t>", "</a:t>
            </a:r>
            <a:r>
              <a:rPr lang="tr-TR" dirty="0" err="1"/>
              <a:t>November</a:t>
            </a:r>
            <a:r>
              <a:rPr lang="tr-TR" dirty="0"/>
              <a:t>", "</a:t>
            </a:r>
            <a:r>
              <a:rPr lang="tr-TR" dirty="0" err="1"/>
              <a:t>December</a:t>
            </a:r>
            <a:r>
              <a:rPr lang="tr-TR" dirty="0"/>
              <a:t>"};</a:t>
            </a:r>
          </a:p>
          <a:p>
            <a:pPr marL="0" indent="0">
              <a:buNone/>
            </a:pPr>
            <a:r>
              <a:rPr lang="tr-TR" dirty="0"/>
              <a:t>	</a:t>
            </a:r>
            <a:r>
              <a:rPr lang="tr-TR" dirty="0" err="1"/>
              <a:t>char</a:t>
            </a:r>
            <a:r>
              <a:rPr lang="tr-TR" dirty="0"/>
              <a:t> </a:t>
            </a:r>
            <a:r>
              <a:rPr lang="tr-TR" dirty="0" err="1"/>
              <a:t>str</a:t>
            </a:r>
            <a:r>
              <a:rPr lang="tr-TR" dirty="0"/>
              <a:t>[100];</a:t>
            </a:r>
          </a:p>
          <a:p>
            <a:pPr marL="0" indent="0">
              <a:buNone/>
            </a:pPr>
            <a:r>
              <a:rPr lang="tr-TR" dirty="0"/>
              <a:t>	</a:t>
            </a:r>
            <a:r>
              <a:rPr lang="tr-TR" dirty="0" err="1"/>
              <a:t>int</a:t>
            </a:r>
            <a:r>
              <a:rPr lang="tr-TR" dirty="0"/>
              <a:t> m;</a:t>
            </a:r>
          </a:p>
          <a:p>
            <a:pPr marL="0" indent="0">
              <a:buNone/>
            </a:pPr>
            <a:endParaRPr lang="tr-TR" dirty="0"/>
          </a:p>
          <a:p>
            <a:pPr marL="0" indent="0">
              <a:buNone/>
            </a:pPr>
            <a:r>
              <a:rPr lang="tr-TR" dirty="0"/>
              <a:t>	</a:t>
            </a:r>
            <a:r>
              <a:rPr lang="tr-TR" dirty="0" err="1"/>
              <a:t>printf</a:t>
            </a:r>
            <a:r>
              <a:rPr lang="tr-TR" dirty="0"/>
              <a:t>("</a:t>
            </a:r>
            <a:r>
              <a:rPr lang="tr-TR" dirty="0" err="1"/>
              <a:t>Input</a:t>
            </a:r>
            <a:r>
              <a:rPr lang="tr-TR" dirty="0"/>
              <a:t> </a:t>
            </a:r>
            <a:r>
              <a:rPr lang="tr-TR" dirty="0" err="1"/>
              <a:t>Month</a:t>
            </a:r>
            <a:r>
              <a:rPr lang="tr-TR" dirty="0"/>
              <a:t> : ");</a:t>
            </a:r>
          </a:p>
          <a:p>
            <a:pPr marL="0" indent="0">
              <a:buNone/>
            </a:pPr>
            <a:r>
              <a:rPr lang="tr-TR" dirty="0"/>
              <a:t>	</a:t>
            </a:r>
            <a:r>
              <a:rPr lang="tr-TR" dirty="0" err="1"/>
              <a:t>scanf</a:t>
            </a:r>
            <a:r>
              <a:rPr lang="tr-TR" dirty="0"/>
              <a:t>("%</a:t>
            </a:r>
            <a:r>
              <a:rPr lang="tr-TR" dirty="0" err="1"/>
              <a:t>d",&amp;m</a:t>
            </a:r>
            <a:r>
              <a:rPr lang="tr-TR" dirty="0"/>
              <a:t>);</a:t>
            </a:r>
          </a:p>
          <a:p>
            <a:pPr marL="0" indent="0">
              <a:buNone/>
            </a:pPr>
            <a:endParaRPr lang="tr-TR" dirty="0"/>
          </a:p>
          <a:p>
            <a:pPr marL="0" indent="0">
              <a:buNone/>
            </a:pPr>
            <a:r>
              <a:rPr lang="tr-TR" dirty="0"/>
              <a:t>	</a:t>
            </a:r>
            <a:r>
              <a:rPr lang="tr-TR" dirty="0" err="1"/>
              <a:t>if</a:t>
            </a:r>
            <a:r>
              <a:rPr lang="tr-TR" dirty="0"/>
              <a:t> (m&gt;=1 &amp;&amp; m&lt;=12) </a:t>
            </a:r>
            <a:r>
              <a:rPr lang="tr-TR" dirty="0" err="1"/>
              <a:t>printf</a:t>
            </a:r>
            <a:r>
              <a:rPr lang="tr-TR" dirty="0"/>
              <a:t>("</a:t>
            </a:r>
            <a:r>
              <a:rPr lang="tr-TR" dirty="0" err="1"/>
              <a:t>Text</a:t>
            </a:r>
            <a:r>
              <a:rPr lang="tr-TR" dirty="0"/>
              <a:t> : %s\n",</a:t>
            </a:r>
            <a:r>
              <a:rPr lang="tr-TR" dirty="0" err="1"/>
              <a:t>month</a:t>
            </a:r>
            <a:r>
              <a:rPr lang="tr-TR" dirty="0"/>
              <a:t>[m-1]);</a:t>
            </a:r>
          </a:p>
          <a:p>
            <a:pPr marL="0" indent="0">
              <a:buNone/>
            </a:pPr>
            <a:r>
              <a:rPr lang="tr-TR" dirty="0"/>
              <a:t>	else </a:t>
            </a:r>
            <a:r>
              <a:rPr lang="tr-TR" dirty="0" err="1"/>
              <a:t>printf</a:t>
            </a:r>
            <a:r>
              <a:rPr lang="tr-TR" dirty="0"/>
              <a:t>("</a:t>
            </a:r>
            <a:r>
              <a:rPr lang="tr-TR" dirty="0" err="1"/>
              <a:t>Illegal</a:t>
            </a:r>
            <a:r>
              <a:rPr lang="tr-TR" dirty="0"/>
              <a:t> </a:t>
            </a:r>
            <a:r>
              <a:rPr lang="tr-TR" dirty="0" err="1"/>
              <a:t>Month</a:t>
            </a:r>
            <a:r>
              <a:rPr lang="tr-TR" dirty="0"/>
              <a:t>\n");</a:t>
            </a:r>
          </a:p>
          <a:p>
            <a:pPr marL="0" indent="0">
              <a:buNone/>
            </a:pPr>
            <a:endParaRPr lang="tr-TR" dirty="0"/>
          </a:p>
          <a:p>
            <a:pPr marL="0" indent="0">
              <a:buNone/>
            </a:pPr>
            <a:r>
              <a:rPr lang="tr-TR" dirty="0"/>
              <a:t>	</a:t>
            </a:r>
            <a:r>
              <a:rPr lang="tr-TR" dirty="0" err="1"/>
              <a:t>return</a:t>
            </a:r>
            <a:r>
              <a:rPr lang="tr-TR" dirty="0"/>
              <a:t> 0;</a:t>
            </a:r>
          </a:p>
          <a:p>
            <a:pPr marL="0" indent="0">
              <a:buNone/>
            </a:pPr>
            <a:r>
              <a:rPr lang="tr-TR" dirty="0"/>
              <a:t>}</a:t>
            </a:r>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4" name="Slayt Numarası Yer Tutucusu 3"/>
          <p:cNvSpPr>
            <a:spLocks noGrp="1"/>
          </p:cNvSpPr>
          <p:nvPr>
            <p:ph type="sldNum" sz="quarter" idx="12"/>
          </p:nvPr>
        </p:nvSpPr>
        <p:spPr/>
        <p:txBody>
          <a:bodyPr/>
          <a:lstStyle/>
          <a:p>
            <a:fld id="{4FAB73BC-B049-4115-A692-8D63A059BFB8}" type="slidenum">
              <a:rPr lang="en-US" smtClean="0"/>
              <a:t>39</a:t>
            </a:fld>
            <a:endParaRPr lang="en-US" dirty="0"/>
          </a:p>
        </p:txBody>
      </p:sp>
      <p:sp>
        <p:nvSpPr>
          <p:cNvPr id="5" name="Unvan 1"/>
          <p:cNvSpPr>
            <a:spLocks noGrp="1"/>
          </p:cNvSpPr>
          <p:nvPr>
            <p:ph type="title"/>
          </p:nvPr>
        </p:nvSpPr>
        <p:spPr>
          <a:xfrm>
            <a:off x="3361291" y="181356"/>
            <a:ext cx="8108986" cy="734568"/>
          </a:xfrm>
        </p:spPr>
        <p:txBody>
          <a:bodyPr>
            <a:normAutofit fontScale="90000"/>
          </a:bodyPr>
          <a:lstStyle/>
          <a:p>
            <a:r>
              <a:rPr lang="tr-TR" dirty="0" smtClean="0"/>
              <a:t>Ev ÖDEVİ</a:t>
            </a:r>
            <a:endParaRPr lang="tr-TR" dirty="0"/>
          </a:p>
        </p:txBody>
      </p:sp>
    </p:spTree>
    <p:extLst>
      <p:ext uri="{BB962C8B-B14F-4D97-AF65-F5344CB8AC3E}">
        <p14:creationId xmlns:p14="http://schemas.microsoft.com/office/powerpoint/2010/main" val="4775159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0" y="0"/>
            <a:ext cx="9695468" cy="1143000"/>
          </a:xfrm>
        </p:spPr>
        <p:txBody>
          <a:bodyPr>
            <a:normAutofit/>
          </a:bodyPr>
          <a:lstStyle/>
          <a:p>
            <a:pPr eaLnBrk="1" hangingPunct="1"/>
            <a:r>
              <a:rPr lang="tr-TR" altLang="en-US" dirty="0" err="1" smtClean="0"/>
              <a:t>Strıng</a:t>
            </a:r>
            <a:r>
              <a:rPr lang="tr-TR" altLang="en-US" dirty="0" smtClean="0"/>
              <a:t> </a:t>
            </a:r>
            <a:r>
              <a:rPr lang="tr-TR" altLang="en-US" dirty="0" err="1" smtClean="0"/>
              <a:t>dızı</a:t>
            </a:r>
            <a:r>
              <a:rPr lang="tr-TR" altLang="en-US" dirty="0" smtClean="0"/>
              <a:t> uygulamaları </a:t>
            </a:r>
            <a:endParaRPr lang="en-US" altLang="en-US" dirty="0" smtClean="0"/>
          </a:p>
        </p:txBody>
      </p:sp>
      <p:sp>
        <p:nvSpPr>
          <p:cNvPr id="14339" name="Rectangle 3"/>
          <p:cNvSpPr>
            <a:spLocks noGrp="1" noChangeArrowheads="1"/>
          </p:cNvSpPr>
          <p:nvPr>
            <p:ph type="body" idx="1"/>
          </p:nvPr>
        </p:nvSpPr>
        <p:spPr>
          <a:xfrm>
            <a:off x="1752600" y="1143000"/>
            <a:ext cx="8610600" cy="5334000"/>
          </a:xfrm>
        </p:spPr>
        <p:txBody>
          <a:bodyPr>
            <a:normAutofit fontScale="92500" lnSpcReduction="10000"/>
          </a:bodyPr>
          <a:lstStyle/>
          <a:p>
            <a:pPr eaLnBrk="1" hangingPunct="1"/>
            <a:r>
              <a:rPr lang="tr-TR" altLang="en-US" sz="2400" dirty="0" smtClean="0"/>
              <a:t>İki boyutlu </a:t>
            </a:r>
            <a:r>
              <a:rPr lang="tr-TR" altLang="en-US" sz="2400" dirty="0" err="1" smtClean="0"/>
              <a:t>string</a:t>
            </a:r>
            <a:r>
              <a:rPr lang="tr-TR" altLang="en-US" sz="2400" dirty="0" smtClean="0"/>
              <a:t> dizisi -</a:t>
            </a:r>
            <a:endParaRPr lang="en-US" altLang="en-US" sz="2400" dirty="0"/>
          </a:p>
          <a:p>
            <a:pPr lvl="1" eaLnBrk="1" hangingPunct="1"/>
            <a:r>
              <a:rPr lang="en-US" altLang="en-US" sz="2000" dirty="0"/>
              <a:t>char array[10][10];</a:t>
            </a:r>
          </a:p>
          <a:p>
            <a:r>
              <a:rPr lang="tr-TR" sz="2400" dirty="0"/>
              <a:t>Bunun iki dezavantajı </a:t>
            </a:r>
            <a:r>
              <a:rPr lang="tr-TR" sz="2400" dirty="0" smtClean="0"/>
              <a:t>var</a:t>
            </a:r>
          </a:p>
          <a:p>
            <a:r>
              <a:rPr lang="tr-TR" sz="2000" dirty="0" smtClean="0"/>
              <a:t>Tüm </a:t>
            </a:r>
            <a:r>
              <a:rPr lang="tr-TR" sz="2000" dirty="0" err="1" smtClean="0"/>
              <a:t>stringler</a:t>
            </a:r>
            <a:r>
              <a:rPr lang="tr-TR" sz="2000" dirty="0" smtClean="0"/>
              <a:t> </a:t>
            </a:r>
            <a:r>
              <a:rPr lang="tr-TR" sz="2000" dirty="0"/>
              <a:t>10 karakter uzunluğunda </a:t>
            </a:r>
            <a:r>
              <a:rPr lang="tr-TR" sz="2000" dirty="0" smtClean="0"/>
              <a:t>olacak</a:t>
            </a:r>
          </a:p>
          <a:p>
            <a:r>
              <a:rPr lang="tr-TR" sz="2000" dirty="0" err="1" smtClean="0"/>
              <a:t>String</a:t>
            </a:r>
            <a:r>
              <a:rPr lang="tr-TR" sz="2000" dirty="0" smtClean="0"/>
              <a:t> </a:t>
            </a:r>
            <a:r>
              <a:rPr lang="tr-TR" sz="2000" dirty="0"/>
              <a:t>karşılaştırması veya </a:t>
            </a:r>
            <a:r>
              <a:rPr lang="tr-TR" sz="2000" dirty="0" err="1" smtClean="0"/>
              <a:t>string</a:t>
            </a:r>
            <a:r>
              <a:rPr lang="tr-TR" sz="2000" dirty="0" smtClean="0"/>
              <a:t> </a:t>
            </a:r>
            <a:r>
              <a:rPr lang="tr-TR" sz="2000" dirty="0"/>
              <a:t>kopyalama gibi çoğu işlem için karmaşık olabilen 2 iç içe döngü </a:t>
            </a:r>
            <a:r>
              <a:rPr lang="tr-TR" sz="2000" dirty="0" smtClean="0"/>
              <a:t>gerektirir</a:t>
            </a:r>
          </a:p>
          <a:p>
            <a:pPr lvl="1"/>
            <a:r>
              <a:rPr lang="tr-TR" sz="2400" dirty="0"/>
              <a:t>Bunun yerine, </a:t>
            </a:r>
            <a:r>
              <a:rPr lang="tr-TR" sz="2400" dirty="0" err="1" smtClean="0"/>
              <a:t>stringi</a:t>
            </a:r>
            <a:r>
              <a:rPr lang="tr-TR" sz="2400" dirty="0" smtClean="0"/>
              <a:t> bir  </a:t>
            </a:r>
            <a:r>
              <a:rPr lang="tr-TR" sz="2400" dirty="0"/>
              <a:t>işaretçi dizisi olarak </a:t>
            </a:r>
            <a:r>
              <a:rPr lang="tr-TR" sz="2400" dirty="0" smtClean="0"/>
              <a:t>uygulayacağız</a:t>
            </a:r>
          </a:p>
          <a:p>
            <a:pPr lvl="1"/>
            <a:r>
              <a:rPr lang="en-US" altLang="en-US" sz="2000" dirty="0" smtClean="0"/>
              <a:t>char </a:t>
            </a:r>
            <a:r>
              <a:rPr lang="en-US" altLang="en-US" sz="2000" dirty="0"/>
              <a:t>*array[10];</a:t>
            </a:r>
          </a:p>
          <a:p>
            <a:r>
              <a:rPr lang="tr-TR" sz="2400" dirty="0"/>
              <a:t>Her işaretçi bir </a:t>
            </a:r>
            <a:r>
              <a:rPr lang="tr-TR" sz="2400" dirty="0" err="1" smtClean="0"/>
              <a:t>stringi</a:t>
            </a:r>
            <a:r>
              <a:rPr lang="tr-TR" sz="2400" dirty="0" smtClean="0"/>
              <a:t> </a:t>
            </a:r>
            <a:r>
              <a:rPr lang="tr-TR" sz="2400" dirty="0"/>
              <a:t>işaret </a:t>
            </a:r>
            <a:r>
              <a:rPr lang="tr-TR" sz="2400" dirty="0" smtClean="0"/>
              <a:t>eder</a:t>
            </a:r>
          </a:p>
          <a:p>
            <a:r>
              <a:rPr lang="tr-TR" sz="2400" dirty="0" smtClean="0"/>
              <a:t>İşaretçiyi </a:t>
            </a:r>
            <a:r>
              <a:rPr lang="tr-TR" sz="2400" dirty="0"/>
              <a:t>işaretçi aracılığıyla takip </a:t>
            </a:r>
            <a:r>
              <a:rPr lang="tr-TR" sz="2400" dirty="0" smtClean="0"/>
              <a:t>edin</a:t>
            </a:r>
          </a:p>
          <a:p>
            <a:r>
              <a:rPr lang="tr-TR" sz="2400" dirty="0" err="1" smtClean="0"/>
              <a:t>For-loop</a:t>
            </a:r>
            <a:r>
              <a:rPr lang="tr-TR" sz="2400" dirty="0" smtClean="0"/>
              <a:t> </a:t>
            </a:r>
            <a:r>
              <a:rPr lang="tr-TR" sz="2400" dirty="0"/>
              <a:t>kullanarak sonraki </a:t>
            </a:r>
            <a:r>
              <a:rPr lang="tr-TR" sz="2400" dirty="0" err="1" smtClean="0"/>
              <a:t>stringe</a:t>
            </a:r>
            <a:r>
              <a:rPr lang="tr-TR" sz="2400" dirty="0" smtClean="0"/>
              <a:t> git</a:t>
            </a:r>
          </a:p>
          <a:p>
            <a:r>
              <a:rPr lang="tr-TR" sz="2400" dirty="0" err="1" smtClean="0"/>
              <a:t>Strcpy</a:t>
            </a:r>
            <a:r>
              <a:rPr lang="tr-TR" sz="2400" dirty="0"/>
              <a:t>, </a:t>
            </a:r>
            <a:r>
              <a:rPr lang="tr-TR" sz="2400" dirty="0" err="1"/>
              <a:t>strcmp</a:t>
            </a:r>
            <a:r>
              <a:rPr lang="tr-TR" sz="2400" dirty="0"/>
              <a:t>, </a:t>
            </a:r>
            <a:r>
              <a:rPr lang="tr-TR" sz="2400" dirty="0" err="1"/>
              <a:t>strlen</a:t>
            </a:r>
            <a:r>
              <a:rPr lang="tr-TR" sz="2400" dirty="0"/>
              <a:t> tüm beklenen işaretçiler olduğundan, bunları bir </a:t>
            </a:r>
            <a:r>
              <a:rPr lang="tr-TR" sz="2400" dirty="0" err="1" smtClean="0"/>
              <a:t>string</a:t>
            </a:r>
            <a:r>
              <a:rPr lang="tr-TR" sz="2400" dirty="0" smtClean="0"/>
              <a:t> </a:t>
            </a:r>
            <a:r>
              <a:rPr lang="tr-TR" sz="2400" dirty="0"/>
              <a:t>öğesi ileterek kullanabiliriz (her dizi öğesi bir dizeye işaretçi olduğundan)</a:t>
            </a:r>
            <a:endParaRPr lang="en-US" altLang="en-US" sz="1800" dirty="0"/>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40</a:t>
            </a:fld>
            <a:endParaRPr lang="en-US" dirty="0"/>
          </a:p>
        </p:txBody>
      </p:sp>
    </p:spTree>
    <p:extLst>
      <p:ext uri="{BB962C8B-B14F-4D97-AF65-F5344CB8AC3E}">
        <p14:creationId xmlns:p14="http://schemas.microsoft.com/office/powerpoint/2010/main" val="6600873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286000" y="0"/>
            <a:ext cx="7772400" cy="1143000"/>
          </a:xfrm>
        </p:spPr>
        <p:txBody>
          <a:bodyPr/>
          <a:lstStyle/>
          <a:p>
            <a:pPr eaLnBrk="1" hangingPunct="1"/>
            <a:r>
              <a:rPr lang="tr-TR" altLang="en-US" dirty="0" smtClean="0"/>
              <a:t>örnek</a:t>
            </a:r>
            <a:endParaRPr lang="en-US" altLang="en-US" dirty="0" smtClean="0"/>
          </a:p>
        </p:txBody>
      </p:sp>
      <p:sp>
        <p:nvSpPr>
          <p:cNvPr id="15364" name="Text Box 3"/>
          <p:cNvSpPr txBox="1">
            <a:spLocks noChangeArrowheads="1"/>
          </p:cNvSpPr>
          <p:nvPr/>
        </p:nvSpPr>
        <p:spPr bwMode="auto">
          <a:xfrm>
            <a:off x="1855100" y="914401"/>
            <a:ext cx="1009610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dirty="0"/>
              <a:t>#include &lt;</a:t>
            </a:r>
            <a:r>
              <a:rPr lang="en-US" altLang="en-US" sz="1800" dirty="0" err="1"/>
              <a:t>stdio.h</a:t>
            </a:r>
            <a:r>
              <a:rPr lang="en-US" altLang="en-US" sz="1800" dirty="0" smtClean="0"/>
              <a:t>&gt;</a:t>
            </a:r>
            <a:endParaRPr lang="tr-TR" altLang="en-US" sz="1800" dirty="0" smtClean="0"/>
          </a:p>
          <a:p>
            <a:pPr eaLnBrk="1" hangingPunct="1">
              <a:spcBef>
                <a:spcPct val="0"/>
              </a:spcBef>
              <a:buFontTx/>
              <a:buNone/>
            </a:pPr>
            <a:r>
              <a:rPr lang="en-US" altLang="en-US" sz="1800" dirty="0" smtClean="0"/>
              <a:t>#</a:t>
            </a:r>
            <a:r>
              <a:rPr lang="en-US" altLang="en-US" sz="1800" dirty="0"/>
              <a:t>include &lt;</a:t>
            </a:r>
            <a:r>
              <a:rPr lang="en-US" altLang="en-US" sz="1800" dirty="0" err="1"/>
              <a:t>string.h</a:t>
            </a:r>
            <a:r>
              <a:rPr lang="en-US" altLang="en-US" sz="1800" dirty="0" smtClean="0"/>
              <a:t>&gt;</a:t>
            </a:r>
            <a:endParaRPr lang="tr-TR" altLang="en-US" sz="1800" dirty="0" smtClean="0"/>
          </a:p>
          <a:p>
            <a:pPr eaLnBrk="1" hangingPunct="1">
              <a:spcBef>
                <a:spcPct val="0"/>
              </a:spcBef>
              <a:buFontTx/>
              <a:buNone/>
            </a:pPr>
            <a:endParaRPr lang="tr-TR" altLang="en-US" sz="1800" dirty="0"/>
          </a:p>
          <a:p>
            <a:pPr eaLnBrk="1" hangingPunct="1">
              <a:spcBef>
                <a:spcPct val="0"/>
              </a:spcBef>
              <a:buFontTx/>
              <a:buNone/>
            </a:pPr>
            <a:r>
              <a:rPr lang="en-US" altLang="en-US" sz="1800" dirty="0" err="1" smtClean="0"/>
              <a:t>int</a:t>
            </a:r>
            <a:r>
              <a:rPr lang="en-US" altLang="en-US" sz="1800" dirty="0" smtClean="0"/>
              <a:t> </a:t>
            </a:r>
            <a:r>
              <a:rPr lang="en-US" altLang="en-US" sz="1800" dirty="0"/>
              <a:t>main(){</a:t>
            </a:r>
            <a:endParaRPr lang="tr-TR" altLang="en-US" sz="1800" dirty="0" smtClean="0"/>
          </a:p>
          <a:p>
            <a:pPr eaLnBrk="1" hangingPunct="1">
              <a:spcBef>
                <a:spcPct val="0"/>
              </a:spcBef>
              <a:buFontTx/>
              <a:buNone/>
            </a:pPr>
            <a:r>
              <a:rPr lang="en-US" altLang="en-US" sz="1800" dirty="0" smtClean="0"/>
              <a:t>char </a:t>
            </a:r>
            <a:r>
              <a:rPr lang="en-US" altLang="en-US" sz="1800" dirty="0"/>
              <a:t>*x[ ] = {"hello", "goodbye", "so long", "thanks for all the fish"};</a:t>
            </a:r>
          </a:p>
          <a:p>
            <a:pPr eaLnBrk="1" hangingPunct="1">
              <a:spcBef>
                <a:spcPct val="0"/>
              </a:spcBef>
              <a:buFontTx/>
              <a:buNone/>
            </a:pPr>
            <a:r>
              <a:rPr lang="en-US" altLang="en-US" sz="1800" dirty="0"/>
              <a:t>	</a:t>
            </a:r>
            <a:r>
              <a:rPr lang="en-US" altLang="en-US" sz="1800" dirty="0" smtClean="0"/>
              <a:t>// </a:t>
            </a:r>
            <a:r>
              <a:rPr lang="tr-TR" sz="1800" dirty="0" err="1" smtClean="0"/>
              <a:t>string</a:t>
            </a:r>
            <a:r>
              <a:rPr lang="tr-TR" sz="1800" dirty="0" smtClean="0"/>
              <a:t> 4 </a:t>
            </a:r>
            <a:r>
              <a:rPr lang="tr-TR" sz="1800" dirty="0"/>
              <a:t>işaretçi </a:t>
            </a:r>
            <a:r>
              <a:rPr lang="tr-TR" sz="1800" dirty="0" smtClean="0"/>
              <a:t>kümesinden oluşmaktadır</a:t>
            </a:r>
            <a:endParaRPr lang="en-US" altLang="en-US" sz="1800" dirty="0"/>
          </a:p>
          <a:p>
            <a:pPr eaLnBrk="1" hangingPunct="1">
              <a:spcBef>
                <a:spcPct val="0"/>
              </a:spcBef>
              <a:buFontTx/>
              <a:buNone/>
            </a:pPr>
            <a:r>
              <a:rPr lang="en-US" altLang="en-US" sz="1800" dirty="0"/>
              <a:t>char *y;	</a:t>
            </a:r>
            <a:endParaRPr lang="tr-TR" altLang="en-US" sz="1800" dirty="0"/>
          </a:p>
          <a:p>
            <a:pPr eaLnBrk="1" hangingPunct="1">
              <a:spcBef>
                <a:spcPct val="0"/>
              </a:spcBef>
              <a:buFontTx/>
              <a:buNone/>
            </a:pPr>
            <a:r>
              <a:rPr lang="en-US" altLang="en-US" sz="1800" dirty="0" err="1" smtClean="0"/>
              <a:t>int</a:t>
            </a:r>
            <a:r>
              <a:rPr lang="en-US" altLang="en-US" sz="1800" dirty="0" smtClean="0"/>
              <a:t> </a:t>
            </a:r>
            <a:r>
              <a:rPr lang="en-US" altLang="en-US" sz="1800" dirty="0" err="1" smtClean="0"/>
              <a:t>i</a:t>
            </a:r>
            <a:r>
              <a:rPr lang="en-US" altLang="en-US" sz="1800" dirty="0" smtClean="0"/>
              <a:t>;</a:t>
            </a:r>
          </a:p>
          <a:p>
            <a:pPr eaLnBrk="1" hangingPunct="1">
              <a:spcBef>
                <a:spcPct val="0"/>
              </a:spcBef>
              <a:buFontTx/>
              <a:buNone/>
            </a:pPr>
            <a:r>
              <a:rPr lang="en-US" altLang="en-US" sz="1800" dirty="0" smtClean="0"/>
              <a:t>for(</a:t>
            </a:r>
            <a:r>
              <a:rPr lang="en-US" altLang="en-US" sz="1800" dirty="0" err="1" smtClean="0"/>
              <a:t>i</a:t>
            </a:r>
            <a:r>
              <a:rPr lang="en-US" altLang="en-US" sz="1800" dirty="0" smtClean="0"/>
              <a:t>=0;i&lt;4;i</a:t>
            </a:r>
            <a:r>
              <a:rPr lang="en-US" altLang="en-US" sz="1800" dirty="0"/>
              <a:t>++)	</a:t>
            </a:r>
            <a:r>
              <a:rPr lang="en-US" altLang="en-US" sz="1800" dirty="0" smtClean="0"/>
              <a:t>{</a:t>
            </a:r>
            <a:endParaRPr lang="en-US" altLang="en-US" sz="1800" dirty="0"/>
          </a:p>
          <a:p>
            <a:pPr eaLnBrk="1" hangingPunct="1">
              <a:spcBef>
                <a:spcPct val="0"/>
              </a:spcBef>
              <a:buFontTx/>
              <a:buNone/>
            </a:pPr>
            <a:r>
              <a:rPr lang="en-US" altLang="en-US" sz="1800" dirty="0"/>
              <a:t>	y = x[</a:t>
            </a:r>
            <a:r>
              <a:rPr lang="en-US" altLang="en-US" sz="1800" dirty="0" err="1"/>
              <a:t>i</a:t>
            </a:r>
            <a:r>
              <a:rPr lang="en-US" altLang="en-US" sz="1800" dirty="0"/>
              <a:t>];	// x[</a:t>
            </a:r>
            <a:r>
              <a:rPr lang="en-US" altLang="en-US" sz="1800" dirty="0" err="1"/>
              <a:t>i</a:t>
            </a:r>
            <a:r>
              <a:rPr lang="en-US" altLang="en-US" sz="1800" dirty="0"/>
              <a:t>] </a:t>
            </a:r>
            <a:r>
              <a:rPr lang="tr-TR" altLang="en-US" sz="1800" dirty="0" smtClean="0"/>
              <a:t>//</a:t>
            </a:r>
            <a:r>
              <a:rPr lang="tr-TR" sz="1800" dirty="0" smtClean="0"/>
              <a:t>bir </a:t>
            </a:r>
            <a:r>
              <a:rPr lang="tr-TR" sz="1800" dirty="0"/>
              <a:t>dizi, x gerçekten bir işaretçi olduğundan, bu y'yi </a:t>
            </a:r>
            <a:r>
              <a:rPr lang="tr-TR" sz="1800" dirty="0" err="1"/>
              <a:t>x'in</a:t>
            </a:r>
            <a:r>
              <a:rPr lang="tr-TR" sz="1800" dirty="0"/>
              <a:t> başlangıç adresine ayarlar</a:t>
            </a:r>
            <a:r>
              <a:rPr lang="en-US" altLang="en-US" sz="1800" dirty="0" smtClean="0"/>
              <a:t>.</a:t>
            </a:r>
            <a:endParaRPr lang="en-US" altLang="en-US" sz="1800" dirty="0"/>
          </a:p>
          <a:p>
            <a:pPr eaLnBrk="1" hangingPunct="1">
              <a:spcBef>
                <a:spcPct val="0"/>
              </a:spcBef>
              <a:buFontTx/>
              <a:buNone/>
            </a:pPr>
            <a:r>
              <a:rPr lang="en-US" altLang="en-US" sz="1800" dirty="0"/>
              <a:t>	while(*y!='\0') 	// </a:t>
            </a:r>
            <a:r>
              <a:rPr lang="tr-TR" altLang="en-US" sz="1800" dirty="0" smtClean="0"/>
              <a:t>sonuna gelinmediği sürece</a:t>
            </a:r>
            <a:endParaRPr lang="en-US" altLang="en-US" sz="1800" dirty="0"/>
          </a:p>
          <a:p>
            <a:pPr eaLnBrk="1" hangingPunct="1">
              <a:spcBef>
                <a:spcPct val="0"/>
              </a:spcBef>
              <a:buFontTx/>
              <a:buNone/>
            </a:pPr>
            <a:r>
              <a:rPr lang="en-US" altLang="en-US" sz="1800" dirty="0"/>
              <a:t>	{</a:t>
            </a:r>
          </a:p>
          <a:p>
            <a:pPr eaLnBrk="1" hangingPunct="1">
              <a:spcBef>
                <a:spcPct val="0"/>
              </a:spcBef>
              <a:buFontTx/>
              <a:buNone/>
            </a:pPr>
            <a:r>
              <a:rPr lang="en-US" altLang="en-US" sz="1800" dirty="0"/>
              <a:t>		</a:t>
            </a:r>
            <a:r>
              <a:rPr lang="en-US" altLang="en-US" sz="1800" dirty="0" err="1"/>
              <a:t>printf</a:t>
            </a:r>
            <a:r>
              <a:rPr lang="en-US" altLang="en-US" sz="1800" dirty="0"/>
              <a:t>("%c", *y);		// </a:t>
            </a:r>
            <a:r>
              <a:rPr lang="tr-TR" altLang="en-US" sz="1800" dirty="0" smtClean="0"/>
              <a:t>y </a:t>
            </a:r>
            <a:r>
              <a:rPr lang="tr-TR" altLang="en-US" sz="1800" dirty="0" err="1" smtClean="0"/>
              <a:t>yi</a:t>
            </a:r>
            <a:r>
              <a:rPr lang="tr-TR" altLang="en-US" sz="1800" dirty="0" smtClean="0"/>
              <a:t> yaz </a:t>
            </a:r>
            <a:endParaRPr lang="en-US" altLang="en-US" sz="1800" dirty="0"/>
          </a:p>
          <a:p>
            <a:pPr eaLnBrk="1" hangingPunct="1">
              <a:spcBef>
                <a:spcPct val="0"/>
              </a:spcBef>
              <a:buFontTx/>
              <a:buNone/>
            </a:pPr>
            <a:r>
              <a:rPr lang="en-US" altLang="en-US" sz="1800" dirty="0"/>
              <a:t>		y++;			// </a:t>
            </a:r>
            <a:r>
              <a:rPr lang="tr-TR" altLang="en-US" sz="1800" dirty="0" smtClean="0"/>
              <a:t>x deki bir sonraki karaktere git</a:t>
            </a:r>
            <a:endParaRPr lang="en-US" altLang="en-US" sz="1800" dirty="0"/>
          </a:p>
          <a:p>
            <a:pPr eaLnBrk="1" hangingPunct="1">
              <a:spcBef>
                <a:spcPct val="0"/>
              </a:spcBef>
              <a:buFontTx/>
              <a:buNone/>
            </a:pPr>
            <a:r>
              <a:rPr lang="en-US" altLang="en-US" sz="1800" dirty="0"/>
              <a:t>	}</a:t>
            </a:r>
          </a:p>
          <a:p>
            <a:pPr eaLnBrk="1" hangingPunct="1">
              <a:spcBef>
                <a:spcPct val="0"/>
              </a:spcBef>
              <a:buFontTx/>
              <a:buNone/>
            </a:pPr>
            <a:r>
              <a:rPr lang="en-US" altLang="en-US" sz="1800" dirty="0"/>
              <a:t>	</a:t>
            </a:r>
            <a:r>
              <a:rPr lang="en-US" altLang="en-US" sz="1800" dirty="0" err="1"/>
              <a:t>printf</a:t>
            </a:r>
            <a:r>
              <a:rPr lang="en-US" altLang="en-US" sz="1800" dirty="0"/>
              <a:t>("\n");			// </a:t>
            </a:r>
            <a:r>
              <a:rPr lang="tr-TR" altLang="en-US" sz="1800" dirty="0" smtClean="0"/>
              <a:t>alt satıra inerek </a:t>
            </a:r>
            <a:r>
              <a:rPr lang="tr-TR" altLang="en-US" sz="1800" dirty="0" err="1" smtClean="0"/>
              <a:t>stringleri</a:t>
            </a:r>
            <a:r>
              <a:rPr lang="tr-TR" altLang="en-US" sz="1800" dirty="0" smtClean="0"/>
              <a:t> ayır </a:t>
            </a:r>
            <a:endParaRPr lang="en-US" altLang="en-US" sz="1800" dirty="0"/>
          </a:p>
          <a:p>
            <a:pPr eaLnBrk="1" hangingPunct="1">
              <a:spcBef>
                <a:spcPct val="0"/>
              </a:spcBef>
              <a:buFontTx/>
              <a:buNone/>
            </a:pPr>
            <a:r>
              <a:rPr lang="en-US" altLang="en-US" sz="1800" dirty="0" smtClean="0"/>
              <a:t>}</a:t>
            </a:r>
            <a:endParaRPr lang="tr-TR" altLang="en-US" sz="1800" dirty="0" smtClean="0"/>
          </a:p>
          <a:p>
            <a:pPr eaLnBrk="1" hangingPunct="1">
              <a:spcBef>
                <a:spcPct val="0"/>
              </a:spcBef>
              <a:buFontTx/>
              <a:buNone/>
            </a:pPr>
            <a:r>
              <a:rPr lang="tr-TR" altLang="en-US" sz="1800" dirty="0"/>
              <a:t>}</a:t>
            </a:r>
            <a:endParaRPr lang="en-US" altLang="en-US" sz="1800" dirty="0"/>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41</a:t>
            </a:fld>
            <a:endParaRPr lang="en-US" dirty="0"/>
          </a:p>
        </p:txBody>
      </p:sp>
    </p:spTree>
    <p:extLst>
      <p:ext uri="{BB962C8B-B14F-4D97-AF65-F5344CB8AC3E}">
        <p14:creationId xmlns:p14="http://schemas.microsoft.com/office/powerpoint/2010/main" val="20115590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209800" y="0"/>
            <a:ext cx="7772400" cy="1143000"/>
          </a:xfrm>
        </p:spPr>
        <p:txBody>
          <a:bodyPr/>
          <a:lstStyle/>
          <a:p>
            <a:pPr eaLnBrk="1" hangingPunct="1"/>
            <a:r>
              <a:rPr lang="tr-TR" altLang="en-US" dirty="0" smtClean="0"/>
              <a:t>Dizi </a:t>
            </a:r>
            <a:r>
              <a:rPr lang="tr-TR" altLang="en-US" dirty="0" err="1" smtClean="0"/>
              <a:t>poınter</a:t>
            </a:r>
            <a:endParaRPr lang="en-US" altLang="en-US" dirty="0" smtClean="0"/>
          </a:p>
        </p:txBody>
      </p:sp>
      <p:sp>
        <p:nvSpPr>
          <p:cNvPr id="16387" name="Rectangle 3"/>
          <p:cNvSpPr>
            <a:spLocks noGrp="1" noChangeArrowheads="1"/>
          </p:cNvSpPr>
          <p:nvPr>
            <p:ph type="body" sz="half" idx="1"/>
          </p:nvPr>
        </p:nvSpPr>
        <p:spPr>
          <a:xfrm>
            <a:off x="1981200" y="1219200"/>
            <a:ext cx="3810000" cy="2895600"/>
          </a:xfrm>
        </p:spPr>
        <p:txBody>
          <a:bodyPr/>
          <a:lstStyle/>
          <a:p>
            <a:r>
              <a:rPr lang="tr-TR" sz="2400" dirty="0"/>
              <a:t>Bir dizi bir işleve iletildiğinde, geçirilen şey diziye bir işaretçi olur</a:t>
            </a:r>
            <a:br>
              <a:rPr lang="tr-TR" sz="2400" dirty="0"/>
            </a:br>
            <a:r>
              <a:rPr lang="tr-TR" sz="2400" dirty="0" err="1" smtClean="0"/>
              <a:t>formal</a:t>
            </a:r>
            <a:r>
              <a:rPr lang="tr-TR" sz="2400" dirty="0" smtClean="0"/>
              <a:t>  </a:t>
            </a:r>
            <a:r>
              <a:rPr lang="tr-TR" sz="2400" dirty="0"/>
              <a:t>parametre listesinde, parametreyi dizi veya işaretçi olarak belirtebilirsiniz</a:t>
            </a:r>
            <a:endParaRPr lang="en-US" altLang="en-US" sz="2000" dirty="0"/>
          </a:p>
        </p:txBody>
      </p:sp>
      <p:sp>
        <p:nvSpPr>
          <p:cNvPr id="16388" name="Rectangle 4"/>
          <p:cNvSpPr>
            <a:spLocks noGrp="1" noChangeArrowheads="1"/>
          </p:cNvSpPr>
          <p:nvPr>
            <p:ph type="body" sz="half" idx="2"/>
          </p:nvPr>
        </p:nvSpPr>
        <p:spPr>
          <a:xfrm>
            <a:off x="6096000" y="1143000"/>
            <a:ext cx="4419600" cy="3810000"/>
          </a:xfrm>
        </p:spPr>
        <p:txBody>
          <a:bodyPr/>
          <a:lstStyle/>
          <a:p>
            <a:r>
              <a:rPr lang="tr-TR" sz="2400" dirty="0"/>
              <a:t>İşlevleri ayrı olarak derleyebileceğiniz için, derleyici bir işleve iletilen bir dizi hakkında “bilebilir” olmalıdır, bu nedenle tanımın tümünü (veya çoğunu) belirtmelisiniz </a:t>
            </a:r>
            <a:r>
              <a:rPr lang="en-US" altLang="en-US" sz="2400" dirty="0" smtClean="0"/>
              <a:t>:</a:t>
            </a:r>
            <a:endParaRPr lang="en-US" altLang="en-US" sz="2400" dirty="0"/>
          </a:p>
          <a:p>
            <a:pPr eaLnBrk="1" hangingPunct="1"/>
            <a:endParaRPr lang="tr-TR" altLang="en-US" sz="2400" dirty="0" smtClean="0"/>
          </a:p>
          <a:p>
            <a:pPr eaLnBrk="1" hangingPunct="1"/>
            <a:endParaRPr lang="en-US" altLang="en-US" sz="2400" dirty="0"/>
          </a:p>
        </p:txBody>
      </p:sp>
      <p:sp>
        <p:nvSpPr>
          <p:cNvPr id="16389" name="Text Box 5"/>
          <p:cNvSpPr txBox="1">
            <a:spLocks noChangeArrowheads="1"/>
          </p:cNvSpPr>
          <p:nvPr/>
        </p:nvSpPr>
        <p:spPr bwMode="auto">
          <a:xfrm>
            <a:off x="2133601" y="4267201"/>
            <a:ext cx="2778125"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t>int array[100];</a:t>
            </a:r>
          </a:p>
          <a:p>
            <a:pPr eaLnBrk="1" hangingPunct="1">
              <a:spcBef>
                <a:spcPct val="0"/>
              </a:spcBef>
              <a:buFontTx/>
              <a:buNone/>
            </a:pPr>
            <a:r>
              <a:rPr lang="en-US" altLang="en-US" sz="1800"/>
              <a:t>…</a:t>
            </a:r>
          </a:p>
          <a:p>
            <a:pPr eaLnBrk="1" hangingPunct="1">
              <a:spcBef>
                <a:spcPct val="0"/>
              </a:spcBef>
              <a:buFontTx/>
              <a:buNone/>
            </a:pPr>
            <a:r>
              <a:rPr lang="en-US" altLang="en-US" sz="1800"/>
              <a:t>afunction(array);</a:t>
            </a:r>
          </a:p>
          <a:p>
            <a:pPr eaLnBrk="1" hangingPunct="1">
              <a:spcBef>
                <a:spcPct val="0"/>
              </a:spcBef>
              <a:buFontTx/>
              <a:buNone/>
            </a:pPr>
            <a:r>
              <a:rPr lang="en-US" altLang="en-US" sz="1800"/>
              <a:t>…</a:t>
            </a:r>
          </a:p>
          <a:p>
            <a:pPr eaLnBrk="1" hangingPunct="1">
              <a:spcBef>
                <a:spcPct val="0"/>
              </a:spcBef>
              <a:buFontTx/>
              <a:buNone/>
            </a:pPr>
            <a:endParaRPr lang="en-US" altLang="en-US" sz="1800"/>
          </a:p>
          <a:p>
            <a:pPr eaLnBrk="1" hangingPunct="1">
              <a:spcBef>
                <a:spcPct val="0"/>
              </a:spcBef>
              <a:buFontTx/>
              <a:buNone/>
            </a:pPr>
            <a:r>
              <a:rPr lang="en-US" altLang="en-US" sz="1800"/>
              <a:t>void afunction(int *a) {…}</a:t>
            </a:r>
          </a:p>
          <a:p>
            <a:pPr eaLnBrk="1" hangingPunct="1">
              <a:spcBef>
                <a:spcPct val="0"/>
              </a:spcBef>
              <a:buFontTx/>
              <a:buNone/>
            </a:pPr>
            <a:r>
              <a:rPr lang="en-US" altLang="en-US" sz="1800"/>
              <a:t>or</a:t>
            </a:r>
          </a:p>
          <a:p>
            <a:pPr eaLnBrk="1" hangingPunct="1">
              <a:spcBef>
                <a:spcPct val="0"/>
              </a:spcBef>
              <a:buFontTx/>
              <a:buNone/>
            </a:pPr>
            <a:r>
              <a:rPr lang="en-US" altLang="en-US" sz="1800"/>
              <a:t>void afunction(int a[ ]) {…}</a:t>
            </a:r>
          </a:p>
        </p:txBody>
      </p:sp>
      <p:sp>
        <p:nvSpPr>
          <p:cNvPr id="16390" name="Text Box 6"/>
          <p:cNvSpPr txBox="1">
            <a:spLocks noChangeArrowheads="1"/>
          </p:cNvSpPr>
          <p:nvPr/>
        </p:nvSpPr>
        <p:spPr bwMode="auto">
          <a:xfrm>
            <a:off x="6003926" y="4457701"/>
            <a:ext cx="405431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dirty="0"/>
              <a:t> </a:t>
            </a:r>
            <a:r>
              <a:rPr lang="en-US" altLang="en-US" sz="1800" dirty="0" err="1"/>
              <a:t>int</a:t>
            </a:r>
            <a:r>
              <a:rPr lang="en-US" altLang="en-US" sz="1800" dirty="0"/>
              <a:t> array[5][10][15];</a:t>
            </a:r>
          </a:p>
          <a:p>
            <a:pPr eaLnBrk="1" hangingPunct="1">
              <a:spcBef>
                <a:spcPct val="0"/>
              </a:spcBef>
              <a:buFontTx/>
              <a:buNone/>
            </a:pPr>
            <a:r>
              <a:rPr lang="en-US" altLang="en-US" sz="1800" dirty="0"/>
              <a:t> …</a:t>
            </a:r>
          </a:p>
          <a:p>
            <a:pPr eaLnBrk="1" hangingPunct="1">
              <a:spcBef>
                <a:spcPct val="0"/>
              </a:spcBef>
              <a:buFontTx/>
              <a:buNone/>
            </a:pPr>
            <a:r>
              <a:rPr lang="en-US" altLang="en-US" sz="1800" dirty="0"/>
              <a:t> </a:t>
            </a:r>
            <a:r>
              <a:rPr lang="en-US" altLang="en-US" sz="1800" dirty="0" err="1"/>
              <a:t>afunction</a:t>
            </a:r>
            <a:r>
              <a:rPr lang="en-US" altLang="en-US" sz="1800" dirty="0"/>
              <a:t>(array);</a:t>
            </a:r>
          </a:p>
          <a:p>
            <a:pPr eaLnBrk="1" hangingPunct="1">
              <a:spcBef>
                <a:spcPct val="0"/>
              </a:spcBef>
              <a:buFontTx/>
              <a:buNone/>
            </a:pPr>
            <a:r>
              <a:rPr lang="en-US" altLang="en-US" sz="1800" dirty="0"/>
              <a:t> …</a:t>
            </a:r>
          </a:p>
          <a:p>
            <a:pPr eaLnBrk="1" hangingPunct="1">
              <a:spcBef>
                <a:spcPct val="0"/>
              </a:spcBef>
              <a:buFontTx/>
              <a:buNone/>
            </a:pPr>
            <a:r>
              <a:rPr lang="en-US" altLang="en-US" sz="1800" dirty="0"/>
              <a:t> void </a:t>
            </a:r>
            <a:r>
              <a:rPr lang="en-US" altLang="en-US" sz="1800" dirty="0" err="1"/>
              <a:t>afunction</a:t>
            </a:r>
            <a:r>
              <a:rPr lang="en-US" altLang="en-US" sz="1800" dirty="0"/>
              <a:t>(</a:t>
            </a:r>
            <a:r>
              <a:rPr lang="en-US" altLang="en-US" sz="1800" dirty="0" err="1"/>
              <a:t>int</a:t>
            </a:r>
            <a:r>
              <a:rPr lang="en-US" altLang="en-US" sz="1800" dirty="0"/>
              <a:t> a[ ][10][15]) {…}    or</a:t>
            </a:r>
          </a:p>
          <a:p>
            <a:pPr eaLnBrk="1" hangingPunct="1">
              <a:spcBef>
                <a:spcPct val="0"/>
              </a:spcBef>
              <a:buFontTx/>
              <a:buNone/>
            </a:pPr>
            <a:r>
              <a:rPr lang="en-US" altLang="en-US" sz="1800" dirty="0"/>
              <a:t> </a:t>
            </a:r>
          </a:p>
        </p:txBody>
      </p:sp>
      <p:sp>
        <p:nvSpPr>
          <p:cNvPr id="2" name="Altbilgi Yer Tutucusu 1"/>
          <p:cNvSpPr>
            <a:spLocks noGrp="1"/>
          </p:cNvSpPr>
          <p:nvPr>
            <p:ph type="ftr" sz="quarter" idx="11"/>
          </p:nvPr>
        </p:nvSpPr>
        <p:spPr/>
        <p:txBody>
          <a:bodyPr/>
          <a:lstStyle/>
          <a:p>
            <a:r>
              <a:rPr lang="en-US" smtClean="0"/>
              <a:t>Bilgisayar Programlama 1</a:t>
            </a:r>
            <a:endParaRPr lang="en-US" dirty="0"/>
          </a:p>
        </p:txBody>
      </p:sp>
      <p:sp>
        <p:nvSpPr>
          <p:cNvPr id="3" name="Slayt Numarası Yer Tutucusu 2"/>
          <p:cNvSpPr>
            <a:spLocks noGrp="1"/>
          </p:cNvSpPr>
          <p:nvPr>
            <p:ph type="sldNum" sz="quarter" idx="12"/>
          </p:nvPr>
        </p:nvSpPr>
        <p:spPr/>
        <p:txBody>
          <a:bodyPr/>
          <a:lstStyle/>
          <a:p>
            <a:fld id="{4FAB73BC-B049-4115-A692-8D63A059BFB8}" type="slidenum">
              <a:rPr lang="en-US" smtClean="0"/>
              <a:t>42</a:t>
            </a:fld>
            <a:endParaRPr lang="en-US" dirty="0"/>
          </a:p>
        </p:txBody>
      </p:sp>
    </p:spTree>
    <p:extLst>
      <p:ext uri="{BB962C8B-B14F-4D97-AF65-F5344CB8AC3E}">
        <p14:creationId xmlns:p14="http://schemas.microsoft.com/office/powerpoint/2010/main" val="14360516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56938"/>
            <a:ext cx="10058400" cy="1609344"/>
          </a:xfrm>
        </p:spPr>
        <p:txBody>
          <a:bodyPr rtlCol="0">
            <a:normAutofit/>
          </a:bodyPr>
          <a:lstStyle/>
          <a:p>
            <a:pPr>
              <a:defRPr/>
            </a:pPr>
            <a:r>
              <a:rPr lang="en-US" dirty="0" smtClean="0"/>
              <a:t>2-</a:t>
            </a:r>
            <a:r>
              <a:rPr lang="tr-TR" dirty="0" smtClean="0"/>
              <a:t>boyutlu</a:t>
            </a:r>
            <a:r>
              <a:rPr lang="en-US" dirty="0" smtClean="0"/>
              <a:t> Array (Array of arrays)</a:t>
            </a:r>
            <a:endParaRPr lang="en-US" dirty="0"/>
          </a:p>
        </p:txBody>
      </p:sp>
      <p:sp>
        <p:nvSpPr>
          <p:cNvPr id="16387" name="Content Placeholder 2"/>
          <p:cNvSpPr>
            <a:spLocks noGrp="1"/>
          </p:cNvSpPr>
          <p:nvPr>
            <p:ph idx="1"/>
          </p:nvPr>
        </p:nvSpPr>
        <p:spPr/>
        <p:txBody>
          <a:bodyPr/>
          <a:lstStyle/>
          <a:p>
            <a:pPr>
              <a:buFont typeface="Arial" panose="020B0604020202020204" pitchFamily="34" charset="0"/>
              <a:buNone/>
            </a:pPr>
            <a:endParaRPr lang="en-US" altLang="tr-TR" dirty="0" smtClean="0"/>
          </a:p>
          <a:p>
            <a:pPr>
              <a:buFont typeface="Arial" panose="020B0604020202020204" pitchFamily="34" charset="0"/>
              <a:buNone/>
            </a:pPr>
            <a:r>
              <a:rPr lang="tr-TR" altLang="tr-TR" dirty="0" smtClean="0"/>
              <a:t>Değer atama</a:t>
            </a:r>
            <a:r>
              <a:rPr lang="en-US" altLang="tr-TR" dirty="0" smtClean="0"/>
              <a:t> (</a:t>
            </a:r>
            <a:r>
              <a:rPr lang="tr-TR" altLang="tr-TR" dirty="0" err="1" smtClean="0"/>
              <a:t>döngüsüz</a:t>
            </a:r>
            <a:r>
              <a:rPr lang="en-US" altLang="tr-TR" dirty="0" smtClean="0"/>
              <a:t>):</a:t>
            </a:r>
          </a:p>
          <a:p>
            <a:pPr>
              <a:buFont typeface="Arial" panose="020B0604020202020204" pitchFamily="34" charset="0"/>
              <a:buNone/>
            </a:pPr>
            <a:r>
              <a:rPr lang="en-US" altLang="tr-TR" dirty="0" err="1" smtClean="0"/>
              <a:t>int</a:t>
            </a:r>
            <a:r>
              <a:rPr lang="en-US" altLang="tr-TR" dirty="0" smtClean="0"/>
              <a:t> d[3][2] = {{1, 2}, {4, 5}, {7, 8}};</a:t>
            </a:r>
          </a:p>
        </p:txBody>
      </p:sp>
      <p:sp>
        <p:nvSpPr>
          <p:cNvPr id="4" name="Footer Placeholder 3"/>
          <p:cNvSpPr>
            <a:spLocks noGrp="1"/>
          </p:cNvSpPr>
          <p:nvPr>
            <p:ph type="ftr" sz="quarter" idx="11"/>
          </p:nvPr>
        </p:nvSpPr>
        <p:spPr/>
        <p:txBody>
          <a:bodyPr/>
          <a:lstStyle/>
          <a:p>
            <a:pPr>
              <a:defRPr/>
            </a:pPr>
            <a:r>
              <a:rPr lang="en-US" smtClean="0"/>
              <a:t>Bilgisayar Programlama 1</a:t>
            </a:r>
            <a:endParaRPr lang="en-US"/>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15DE1C-9F0E-42CB-A93A-4D6F2593D188}" type="slidenum">
              <a:rPr lang="en-US" altLang="tr-TR">
                <a:solidFill>
                  <a:srgbClr val="898989"/>
                </a:solidFill>
              </a:rPr>
              <a:pPr/>
              <a:t>43</a:t>
            </a:fld>
            <a:endParaRPr lang="en-US" altLang="tr-TR">
              <a:solidFill>
                <a:srgbClr val="898989"/>
              </a:solidFill>
            </a:endParaRPr>
          </a:p>
        </p:txBody>
      </p:sp>
    </p:spTree>
    <p:extLst>
      <p:ext uri="{BB962C8B-B14F-4D97-AF65-F5344CB8AC3E}">
        <p14:creationId xmlns:p14="http://schemas.microsoft.com/office/powerpoint/2010/main" val="8166959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dirty="0"/>
          </a:p>
        </p:txBody>
      </p:sp>
      <p:sp>
        <p:nvSpPr>
          <p:cNvPr id="3" name="İçerik Yer Tutucusu 2"/>
          <p:cNvSpPr>
            <a:spLocks noGrp="1"/>
          </p:cNvSpPr>
          <p:nvPr>
            <p:ph idx="1"/>
          </p:nvPr>
        </p:nvSpPr>
        <p:spPr/>
        <p:txBody>
          <a:bodyPr/>
          <a:lstStyle/>
          <a:p>
            <a:endParaRPr lang="tr-TR"/>
          </a:p>
        </p:txBody>
      </p:sp>
      <p:pic>
        <p:nvPicPr>
          <p:cNvPr id="4" name="Resim 3"/>
          <p:cNvPicPr>
            <a:picLocks noChangeAspect="1"/>
          </p:cNvPicPr>
          <p:nvPr/>
        </p:nvPicPr>
        <p:blipFill>
          <a:blip r:embed="rId2"/>
          <a:stretch>
            <a:fillRect/>
          </a:stretch>
        </p:blipFill>
        <p:spPr>
          <a:xfrm>
            <a:off x="973177" y="484633"/>
            <a:ext cx="9009023" cy="5177980"/>
          </a:xfrm>
          <a:prstGeom prst="rect">
            <a:avLst/>
          </a:prstGeom>
        </p:spPr>
      </p:pic>
      <p:sp>
        <p:nvSpPr>
          <p:cNvPr id="5" name="Altbilgi Yer Tutucusu 4"/>
          <p:cNvSpPr>
            <a:spLocks noGrp="1"/>
          </p:cNvSpPr>
          <p:nvPr>
            <p:ph type="ftr" sz="quarter" idx="11"/>
          </p:nvPr>
        </p:nvSpPr>
        <p:spPr/>
        <p:txBody>
          <a:bodyPr/>
          <a:lstStyle/>
          <a:p>
            <a:r>
              <a:rPr lang="en-US" smtClean="0"/>
              <a:t>Bilgisayar Programlama 1</a:t>
            </a:r>
            <a:endParaRPr lang="en-US" dirty="0"/>
          </a:p>
        </p:txBody>
      </p:sp>
      <p:sp>
        <p:nvSpPr>
          <p:cNvPr id="6" name="Slayt Numarası Yer Tutucusu 5"/>
          <p:cNvSpPr>
            <a:spLocks noGrp="1"/>
          </p:cNvSpPr>
          <p:nvPr>
            <p:ph type="sldNum" sz="quarter" idx="12"/>
          </p:nvPr>
        </p:nvSpPr>
        <p:spPr/>
        <p:txBody>
          <a:bodyPr/>
          <a:lstStyle/>
          <a:p>
            <a:fld id="{4FAB73BC-B049-4115-A692-8D63A059BFB8}" type="slidenum">
              <a:rPr lang="en-US" smtClean="0"/>
              <a:t>44</a:t>
            </a:fld>
            <a:endParaRPr lang="en-US" dirty="0"/>
          </a:p>
        </p:txBody>
      </p:sp>
    </p:spTree>
    <p:extLst>
      <p:ext uri="{BB962C8B-B14F-4D97-AF65-F5344CB8AC3E}">
        <p14:creationId xmlns:p14="http://schemas.microsoft.com/office/powerpoint/2010/main" val="41978702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2-</a:t>
            </a:r>
            <a:r>
              <a:rPr lang="tr-TR" dirty="0"/>
              <a:t>boyutlu</a:t>
            </a:r>
            <a:r>
              <a:rPr lang="en-US" dirty="0"/>
              <a:t> Array (Array of arrays)</a:t>
            </a:r>
            <a:endParaRPr lang="en-US" altLang="tr-TR" dirty="0" smtClean="0"/>
          </a:p>
        </p:txBody>
      </p:sp>
      <p:graphicFrame>
        <p:nvGraphicFramePr>
          <p:cNvPr id="4" name="Content Placeholder 3"/>
          <p:cNvGraphicFramePr>
            <a:graphicFrameLocks noGrp="1"/>
          </p:cNvGraphicFramePr>
          <p:nvPr>
            <p:ph idx="1"/>
          </p:nvPr>
        </p:nvGraphicFramePr>
        <p:xfrm>
          <a:off x="2819400" y="3306763"/>
          <a:ext cx="6629400" cy="1112838"/>
        </p:xfrm>
        <a:graphic>
          <a:graphicData uri="http://schemas.openxmlformats.org/drawingml/2006/table">
            <a:tbl>
              <a:tblPr bandRow="1">
                <a:tableStyleId>{5C22544A-7EE6-4342-B048-85BDC9FD1C3A}</a:tableStyleId>
              </a:tblPr>
              <a:tblGrid>
                <a:gridCol w="16573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1657350">
                  <a:extLst>
                    <a:ext uri="{9D8B030D-6E8A-4147-A177-3AD203B41FA5}">
                      <a16:colId xmlns:a16="http://schemas.microsoft.com/office/drawing/2014/main" val="20003"/>
                    </a:ext>
                  </a:extLst>
                </a:gridCol>
              </a:tblGrid>
              <a:tr h="370946">
                <a:tc>
                  <a:txBody>
                    <a:bodyPr/>
                    <a:lstStyle/>
                    <a:p>
                      <a:pPr algn="ctr"/>
                      <a:r>
                        <a:rPr lang="en-US" sz="1800" dirty="0" smtClean="0"/>
                        <a:t>d[0][0]</a:t>
                      </a:r>
                      <a:endParaRPr lang="en-US" sz="1800" dirty="0"/>
                    </a:p>
                  </a:txBody>
                  <a:tcPr marT="45733" marB="45733"/>
                </a:tc>
                <a:tc>
                  <a:txBody>
                    <a:bodyPr/>
                    <a:lstStyle/>
                    <a:p>
                      <a:pPr algn="ctr"/>
                      <a:r>
                        <a:rPr lang="en-US" sz="1800" dirty="0" smtClean="0"/>
                        <a:t>d[0][1]</a:t>
                      </a:r>
                      <a:endParaRPr lang="en-US" sz="1800" dirty="0"/>
                    </a:p>
                  </a:txBody>
                  <a:tcPr marT="45733" marB="45733"/>
                </a:tc>
                <a:tc>
                  <a:txBody>
                    <a:bodyPr/>
                    <a:lstStyle/>
                    <a:p>
                      <a:pPr algn="ctr"/>
                      <a:r>
                        <a:rPr lang="en-US" sz="1800" dirty="0" smtClean="0"/>
                        <a:t>d[0][2]</a:t>
                      </a:r>
                      <a:endParaRPr lang="en-US" sz="1800" dirty="0"/>
                    </a:p>
                  </a:txBody>
                  <a:tcPr marT="45733" marB="45733"/>
                </a:tc>
                <a:tc>
                  <a:txBody>
                    <a:bodyPr/>
                    <a:lstStyle/>
                    <a:p>
                      <a:pPr algn="ctr"/>
                      <a:r>
                        <a:rPr lang="en-US" sz="1800" dirty="0" smtClean="0"/>
                        <a:t>d[0][3]</a:t>
                      </a:r>
                      <a:endParaRPr lang="en-US" sz="1800" dirty="0"/>
                    </a:p>
                  </a:txBody>
                  <a:tcPr marT="45733" marB="45733"/>
                </a:tc>
                <a:extLst>
                  <a:ext uri="{0D108BD9-81ED-4DB2-BD59-A6C34878D82A}">
                    <a16:rowId xmlns:a16="http://schemas.microsoft.com/office/drawing/2014/main" val="10000"/>
                  </a:ext>
                </a:extLst>
              </a:tr>
              <a:tr h="370946">
                <a:tc>
                  <a:txBody>
                    <a:bodyPr/>
                    <a:lstStyle/>
                    <a:p>
                      <a:pPr algn="ctr"/>
                      <a:r>
                        <a:rPr lang="en-US" sz="1800" dirty="0" smtClean="0"/>
                        <a:t>d[1][0]</a:t>
                      </a:r>
                      <a:endParaRPr lang="en-US" sz="1800" dirty="0"/>
                    </a:p>
                  </a:txBody>
                  <a:tcPr marT="45733" marB="45733"/>
                </a:tc>
                <a:tc>
                  <a:txBody>
                    <a:bodyPr/>
                    <a:lstStyle/>
                    <a:p>
                      <a:pPr algn="ctr"/>
                      <a:r>
                        <a:rPr lang="en-US" sz="1800" dirty="0" smtClean="0"/>
                        <a:t>d[1][1]</a:t>
                      </a:r>
                      <a:endParaRPr lang="en-US" sz="1800" dirty="0"/>
                    </a:p>
                  </a:txBody>
                  <a:tcPr marT="45733" marB="45733"/>
                </a:tc>
                <a:tc>
                  <a:txBody>
                    <a:bodyPr/>
                    <a:lstStyle/>
                    <a:p>
                      <a:pPr algn="ctr"/>
                      <a:r>
                        <a:rPr lang="en-US" sz="1800" dirty="0" smtClean="0"/>
                        <a:t>d[1][2]</a:t>
                      </a:r>
                      <a:endParaRPr lang="en-US" sz="1800" dirty="0"/>
                    </a:p>
                  </a:txBody>
                  <a:tcPr marT="45733" marB="45733"/>
                </a:tc>
                <a:tc>
                  <a:txBody>
                    <a:bodyPr/>
                    <a:lstStyle/>
                    <a:p>
                      <a:pPr algn="ctr"/>
                      <a:r>
                        <a:rPr lang="en-US" sz="1800" dirty="0" smtClean="0"/>
                        <a:t>d[1][3]</a:t>
                      </a:r>
                      <a:endParaRPr lang="en-US" sz="1800" dirty="0"/>
                    </a:p>
                  </a:txBody>
                  <a:tcPr marT="45733" marB="45733"/>
                </a:tc>
                <a:extLst>
                  <a:ext uri="{0D108BD9-81ED-4DB2-BD59-A6C34878D82A}">
                    <a16:rowId xmlns:a16="http://schemas.microsoft.com/office/drawing/2014/main" val="10001"/>
                  </a:ext>
                </a:extLst>
              </a:tr>
              <a:tr h="370946">
                <a:tc>
                  <a:txBody>
                    <a:bodyPr/>
                    <a:lstStyle/>
                    <a:p>
                      <a:pPr algn="ctr"/>
                      <a:r>
                        <a:rPr lang="en-US" sz="1800" dirty="0" smtClean="0"/>
                        <a:t>d[2][0]</a:t>
                      </a:r>
                      <a:endParaRPr lang="en-US" sz="1800" dirty="0"/>
                    </a:p>
                  </a:txBody>
                  <a:tcPr marT="45733" marB="45733"/>
                </a:tc>
                <a:tc>
                  <a:txBody>
                    <a:bodyPr/>
                    <a:lstStyle/>
                    <a:p>
                      <a:pPr algn="ctr"/>
                      <a:r>
                        <a:rPr lang="en-US" sz="1800" dirty="0" smtClean="0"/>
                        <a:t>d[2][1]</a:t>
                      </a:r>
                      <a:endParaRPr lang="en-US" sz="1800" dirty="0"/>
                    </a:p>
                  </a:txBody>
                  <a:tcPr marT="45733" marB="45733"/>
                </a:tc>
                <a:tc>
                  <a:txBody>
                    <a:bodyPr/>
                    <a:lstStyle/>
                    <a:p>
                      <a:pPr algn="ctr"/>
                      <a:r>
                        <a:rPr lang="en-US" sz="1800" dirty="0" smtClean="0"/>
                        <a:t>d[2][2]</a:t>
                      </a:r>
                      <a:endParaRPr lang="en-US" sz="1800" dirty="0"/>
                    </a:p>
                  </a:txBody>
                  <a:tcPr marT="45733" marB="45733"/>
                </a:tc>
                <a:tc>
                  <a:txBody>
                    <a:bodyPr/>
                    <a:lstStyle/>
                    <a:p>
                      <a:pPr algn="ctr"/>
                      <a:r>
                        <a:rPr lang="en-US" sz="1800" dirty="0" smtClean="0"/>
                        <a:t>d[2][3]</a:t>
                      </a:r>
                      <a:endParaRPr lang="en-US" sz="1800" dirty="0"/>
                    </a:p>
                  </a:txBody>
                  <a:tcPr marT="45733" marB="45733"/>
                </a:tc>
                <a:extLst>
                  <a:ext uri="{0D108BD9-81ED-4DB2-BD59-A6C34878D82A}">
                    <a16:rowId xmlns:a16="http://schemas.microsoft.com/office/drawing/2014/main" val="10002"/>
                  </a:ext>
                </a:extLst>
              </a:tr>
            </a:tbl>
          </a:graphicData>
        </a:graphic>
      </p:graphicFrame>
      <p:cxnSp>
        <p:nvCxnSpPr>
          <p:cNvPr id="6" name="Curved Connector 5"/>
          <p:cNvCxnSpPr/>
          <p:nvPr/>
        </p:nvCxnSpPr>
        <p:spPr>
          <a:xfrm rot="10800000" flipV="1">
            <a:off x="2819400" y="3505200"/>
            <a:ext cx="6629400" cy="381000"/>
          </a:xfrm>
          <a:prstGeom prst="curvedConnector3">
            <a:avLst>
              <a:gd name="adj1" fmla="val 104979"/>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Curved Connector 21"/>
          <p:cNvCxnSpPr/>
          <p:nvPr/>
        </p:nvCxnSpPr>
        <p:spPr>
          <a:xfrm rot="10800000" flipV="1">
            <a:off x="2819400" y="3886200"/>
            <a:ext cx="6629400" cy="381000"/>
          </a:xfrm>
          <a:prstGeom prst="curvedConnector3">
            <a:avLst>
              <a:gd name="adj1" fmla="val 104979"/>
            </a:avLst>
          </a:prstGeom>
          <a:ln>
            <a:tailEnd type="arrow"/>
          </a:ln>
        </p:spPr>
        <p:style>
          <a:lnRef idx="1">
            <a:schemeClr val="accent1"/>
          </a:lnRef>
          <a:fillRef idx="0">
            <a:schemeClr val="accent1"/>
          </a:fillRef>
          <a:effectRef idx="0">
            <a:schemeClr val="accent1"/>
          </a:effectRef>
          <a:fontRef idx="minor">
            <a:schemeClr val="tx1"/>
          </a:fontRef>
        </p:style>
      </p:cxnSp>
      <p:sp>
        <p:nvSpPr>
          <p:cNvPr id="17435" name="TextBox 22"/>
          <p:cNvSpPr txBox="1">
            <a:spLocks noChangeArrowheads="1"/>
          </p:cNvSpPr>
          <p:nvPr/>
        </p:nvSpPr>
        <p:spPr bwMode="auto">
          <a:xfrm>
            <a:off x="2133600" y="1752600"/>
            <a:ext cx="7772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tr-TR" sz="2400" dirty="0"/>
              <a:t>Çok boyutlu bir dizi, bir satır ana biçiminde saklanır.</a:t>
            </a:r>
            <a:br>
              <a:rPr lang="tr-TR" sz="2400" dirty="0"/>
            </a:br>
            <a:r>
              <a:rPr lang="tr-TR" sz="2400" dirty="0"/>
              <a:t>İki boyutlu bir durum</a:t>
            </a:r>
            <a:r>
              <a:rPr lang="tr-TR" sz="2400" dirty="0" smtClean="0"/>
              <a:t>:</a:t>
            </a:r>
          </a:p>
          <a:p>
            <a:r>
              <a:rPr lang="en-US" altLang="tr-TR" sz="2400" dirty="0" smtClean="0"/>
              <a:t> </a:t>
            </a:r>
            <a:r>
              <a:rPr lang="en-US" altLang="tr-TR" sz="2400" dirty="0">
                <a:sym typeface="Wingdings" panose="05000000000000000000" pitchFamily="2" charset="2"/>
              </a:rPr>
              <a:t> next memory element to d[0][3] is d[1][0]</a:t>
            </a:r>
            <a:endParaRPr lang="en-US" altLang="tr-TR" sz="2400" dirty="0"/>
          </a:p>
        </p:txBody>
      </p:sp>
      <p:sp>
        <p:nvSpPr>
          <p:cNvPr id="7" name="TextBox 6"/>
          <p:cNvSpPr txBox="1">
            <a:spLocks noChangeArrowheads="1"/>
          </p:cNvSpPr>
          <p:nvPr/>
        </p:nvSpPr>
        <p:spPr bwMode="auto">
          <a:xfrm>
            <a:off x="2143126" y="5029200"/>
            <a:ext cx="76866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tr-TR" sz="2400" dirty="0"/>
              <a:t>Üç boyutlu bir dizinin bellek adresleri dizisine ne dersiniz</a:t>
            </a:r>
            <a:r>
              <a:rPr lang="tr-TR" sz="2400" dirty="0" smtClean="0"/>
              <a:t>?</a:t>
            </a:r>
          </a:p>
          <a:p>
            <a:r>
              <a:rPr lang="en-US" altLang="tr-TR" sz="2400" dirty="0" smtClean="0">
                <a:sym typeface="Wingdings" panose="05000000000000000000" pitchFamily="2" charset="2"/>
              </a:rPr>
              <a:t> t[0</a:t>
            </a:r>
            <a:r>
              <a:rPr lang="en-US" altLang="tr-TR" sz="2400" dirty="0">
                <a:sym typeface="Wingdings" panose="05000000000000000000" pitchFamily="2" charset="2"/>
              </a:rPr>
              <a:t>][0][0</a:t>
            </a:r>
            <a:r>
              <a:rPr lang="en-US" altLang="tr-TR" sz="2400" dirty="0" smtClean="0">
                <a:sym typeface="Wingdings" panose="05000000000000000000" pitchFamily="2" charset="2"/>
              </a:rPr>
              <a:t>]</a:t>
            </a:r>
            <a:r>
              <a:rPr lang="tr-TR" altLang="tr-TR" sz="2400" dirty="0" smtClean="0">
                <a:sym typeface="Wingdings" panose="05000000000000000000" pitchFamily="2" charset="2"/>
              </a:rPr>
              <a:t> dan sonraki eleman </a:t>
            </a:r>
            <a:r>
              <a:rPr lang="en-US" altLang="tr-TR" sz="2400" dirty="0" smtClean="0">
                <a:sym typeface="Wingdings" panose="05000000000000000000" pitchFamily="2" charset="2"/>
              </a:rPr>
              <a:t>  </a:t>
            </a:r>
            <a:r>
              <a:rPr lang="en-US" altLang="tr-TR" sz="2400" dirty="0">
                <a:sym typeface="Wingdings" panose="05000000000000000000" pitchFamily="2" charset="2"/>
              </a:rPr>
              <a:t>t[0][0][1]</a:t>
            </a:r>
            <a:endParaRPr lang="en-US" altLang="tr-TR" sz="2400" dirty="0"/>
          </a:p>
        </p:txBody>
      </p:sp>
      <p:sp>
        <p:nvSpPr>
          <p:cNvPr id="8" name="Footer Placeholder 7"/>
          <p:cNvSpPr>
            <a:spLocks noGrp="1"/>
          </p:cNvSpPr>
          <p:nvPr>
            <p:ph type="ftr" sz="quarter" idx="11"/>
          </p:nvPr>
        </p:nvSpPr>
        <p:spPr/>
        <p:txBody>
          <a:bodyPr/>
          <a:lstStyle/>
          <a:p>
            <a:pPr>
              <a:defRPr/>
            </a:pPr>
            <a:r>
              <a:rPr lang="en-US" smtClean="0"/>
              <a:t>Bilgisayar Programlama 1</a:t>
            </a:r>
            <a:endParaRPr lang="en-US"/>
          </a:p>
        </p:txBody>
      </p:sp>
      <p:sp>
        <p:nvSpPr>
          <p:cNvPr id="9" name="Slide Number Placeholder 8"/>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99713A8A-7D00-4159-9420-3CF53C769711}" type="slidenum">
              <a:rPr lang="en-US" altLang="tr-TR">
                <a:solidFill>
                  <a:srgbClr val="898989"/>
                </a:solidFill>
              </a:rPr>
              <a:pPr/>
              <a:t>45</a:t>
            </a:fld>
            <a:endParaRPr lang="en-US" altLang="tr-TR">
              <a:solidFill>
                <a:srgbClr val="898989"/>
              </a:solidFill>
            </a:endParaRPr>
          </a:p>
        </p:txBody>
      </p:sp>
    </p:spTree>
    <p:extLst>
      <p:ext uri="{BB962C8B-B14F-4D97-AF65-F5344CB8AC3E}">
        <p14:creationId xmlns:p14="http://schemas.microsoft.com/office/powerpoint/2010/main" val="34945083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584461" y="914399"/>
            <a:ext cx="11170763" cy="5723509"/>
          </a:xfrm>
        </p:spPr>
        <p:txBody>
          <a:bodyPr>
            <a:normAutofit fontScale="55000" lnSpcReduction="20000"/>
          </a:bodyPr>
          <a:lstStyle/>
          <a:p>
            <a:endParaRPr lang="tr-TR" dirty="0"/>
          </a:p>
          <a:p>
            <a:r>
              <a:rPr lang="tr-TR" dirty="0"/>
              <a:t>#</a:t>
            </a:r>
            <a:r>
              <a:rPr lang="tr-TR" dirty="0" err="1"/>
              <a:t>include</a:t>
            </a:r>
            <a:r>
              <a:rPr lang="tr-TR" dirty="0"/>
              <a:t> &lt;</a:t>
            </a:r>
            <a:r>
              <a:rPr lang="tr-TR" dirty="0" err="1"/>
              <a:t>stdio.h</a:t>
            </a:r>
            <a:r>
              <a:rPr lang="tr-TR" dirty="0"/>
              <a:t>&gt;</a:t>
            </a:r>
          </a:p>
          <a:p>
            <a:r>
              <a:rPr lang="tr-TR" dirty="0"/>
              <a:t>#</a:t>
            </a:r>
            <a:r>
              <a:rPr lang="tr-TR" dirty="0" err="1"/>
              <a:t>include</a:t>
            </a:r>
            <a:r>
              <a:rPr lang="tr-TR" dirty="0"/>
              <a:t> &lt;</a:t>
            </a:r>
            <a:r>
              <a:rPr lang="tr-TR" dirty="0" err="1"/>
              <a:t>string.h</a:t>
            </a:r>
            <a:r>
              <a:rPr lang="tr-TR" dirty="0"/>
              <a:t>&gt;</a:t>
            </a:r>
          </a:p>
          <a:p>
            <a:r>
              <a:rPr lang="tr-TR" b="1" dirty="0"/>
              <a:t>#define ARRAY_SIZE 10</a:t>
            </a:r>
          </a:p>
          <a:p>
            <a:r>
              <a:rPr lang="tr-TR" dirty="0" err="1"/>
              <a:t>char</a:t>
            </a:r>
            <a:r>
              <a:rPr lang="tr-TR" dirty="0"/>
              <a:t> *</a:t>
            </a:r>
            <a:r>
              <a:rPr lang="tr-TR" dirty="0" err="1"/>
              <a:t>name_array</a:t>
            </a:r>
            <a:r>
              <a:rPr lang="tr-TR" dirty="0"/>
              <a:t>[ARRAY_SIZE] = {"Ali", "Veli", "Hasan", "Necati", "Deniz",</a:t>
            </a:r>
          </a:p>
          <a:p>
            <a:r>
              <a:rPr lang="tr-TR" dirty="0"/>
              <a:t>"Kaan", "</a:t>
            </a:r>
            <a:r>
              <a:rPr lang="tr-TR" dirty="0" err="1"/>
              <a:t>Selami","Salah</a:t>
            </a:r>
            <a:r>
              <a:rPr lang="tr-TR" dirty="0"/>
              <a:t>", "</a:t>
            </a:r>
            <a:r>
              <a:rPr lang="tr-TR" dirty="0" err="1"/>
              <a:t>Nejla</a:t>
            </a:r>
            <a:r>
              <a:rPr lang="tr-TR" dirty="0"/>
              <a:t>", "Figen"};</a:t>
            </a:r>
          </a:p>
          <a:p>
            <a:r>
              <a:rPr lang="tr-TR" dirty="0" err="1"/>
              <a:t>int</a:t>
            </a:r>
            <a:r>
              <a:rPr lang="tr-TR" dirty="0"/>
              <a:t> main()</a:t>
            </a:r>
          </a:p>
          <a:p>
            <a:r>
              <a:rPr lang="tr-TR" dirty="0"/>
              <a:t>{</a:t>
            </a:r>
          </a:p>
          <a:p>
            <a:r>
              <a:rPr lang="tr-TR" b="1" dirty="0" err="1"/>
              <a:t>char</a:t>
            </a:r>
            <a:r>
              <a:rPr lang="tr-TR" b="1" dirty="0"/>
              <a:t> </a:t>
            </a:r>
            <a:r>
              <a:rPr lang="tr-TR" b="1" dirty="0" err="1"/>
              <a:t>names</a:t>
            </a:r>
            <a:r>
              <a:rPr lang="tr-TR" b="1" dirty="0"/>
              <a:t>[ARRAY_SIZE][20</a:t>
            </a:r>
            <a:r>
              <a:rPr lang="tr-TR" b="1" dirty="0" smtClean="0"/>
              <a:t>];/ /10 tane isim en fazla 20 karakter girilebilir</a:t>
            </a:r>
            <a:endParaRPr lang="tr-TR" b="1" dirty="0"/>
          </a:p>
          <a:p>
            <a:r>
              <a:rPr lang="tr-TR" dirty="0" err="1"/>
              <a:t>int</a:t>
            </a:r>
            <a:r>
              <a:rPr lang="tr-TR" dirty="0"/>
              <a:t> k;</a:t>
            </a:r>
          </a:p>
          <a:p>
            <a:r>
              <a:rPr lang="tr-TR" b="1" dirty="0" err="1"/>
              <a:t>for</a:t>
            </a:r>
            <a:r>
              <a:rPr lang="tr-TR" b="1" dirty="0"/>
              <a:t> (k = 0; k &lt; ARRAY_SIZE; ++k)</a:t>
            </a:r>
          </a:p>
          <a:p>
            <a:r>
              <a:rPr lang="tr-TR" dirty="0" err="1"/>
              <a:t>strcpy</a:t>
            </a:r>
            <a:r>
              <a:rPr lang="tr-TR" dirty="0"/>
              <a:t>(</a:t>
            </a:r>
            <a:r>
              <a:rPr lang="tr-TR" dirty="0" err="1"/>
              <a:t>names</a:t>
            </a:r>
            <a:r>
              <a:rPr lang="tr-TR" dirty="0"/>
              <a:t>[k], </a:t>
            </a:r>
            <a:r>
              <a:rPr lang="tr-TR" dirty="0" err="1"/>
              <a:t>name_array</a:t>
            </a:r>
            <a:r>
              <a:rPr lang="tr-TR" dirty="0"/>
              <a:t>[k]);</a:t>
            </a:r>
          </a:p>
          <a:p>
            <a:r>
              <a:rPr lang="tr-TR" b="1" dirty="0" err="1"/>
              <a:t>for</a:t>
            </a:r>
            <a:r>
              <a:rPr lang="tr-TR" b="1" dirty="0"/>
              <a:t> (k = 0; k &lt; ARRAY_SIZE; ++k)</a:t>
            </a:r>
          </a:p>
          <a:p>
            <a:r>
              <a:rPr lang="tr-TR" dirty="0" err="1"/>
              <a:t>printf</a:t>
            </a:r>
            <a:r>
              <a:rPr lang="tr-TR" dirty="0"/>
              <a:t>(" %s ", </a:t>
            </a:r>
            <a:r>
              <a:rPr lang="tr-TR" dirty="0" err="1"/>
              <a:t>names</a:t>
            </a:r>
            <a:r>
              <a:rPr lang="tr-TR" dirty="0"/>
              <a:t>[k]);</a:t>
            </a:r>
          </a:p>
          <a:p>
            <a:r>
              <a:rPr lang="tr-TR" dirty="0" err="1"/>
              <a:t>printf</a:t>
            </a:r>
            <a:r>
              <a:rPr lang="tr-TR" dirty="0"/>
              <a:t>("\n");</a:t>
            </a:r>
          </a:p>
          <a:p>
            <a:r>
              <a:rPr lang="tr-TR" dirty="0" err="1"/>
              <a:t>for</a:t>
            </a:r>
            <a:r>
              <a:rPr lang="tr-TR" dirty="0"/>
              <a:t> (k = 0; k &lt; ARRAY_SIZE; ++k)</a:t>
            </a:r>
          </a:p>
          <a:p>
            <a:r>
              <a:rPr lang="tr-TR" dirty="0" err="1"/>
              <a:t>strrev</a:t>
            </a:r>
            <a:r>
              <a:rPr lang="tr-TR" dirty="0"/>
              <a:t>(</a:t>
            </a:r>
            <a:r>
              <a:rPr lang="tr-TR" dirty="0" err="1"/>
              <a:t>names</a:t>
            </a:r>
            <a:r>
              <a:rPr lang="tr-TR" dirty="0"/>
              <a:t>[k]);</a:t>
            </a:r>
          </a:p>
          <a:p>
            <a:r>
              <a:rPr lang="tr-TR" dirty="0" err="1"/>
              <a:t>for</a:t>
            </a:r>
            <a:r>
              <a:rPr lang="tr-TR" dirty="0"/>
              <a:t> (k = 0; k &lt; ARRAY_SIZE; ++k)</a:t>
            </a:r>
          </a:p>
          <a:p>
            <a:r>
              <a:rPr lang="tr-TR" dirty="0" err="1"/>
              <a:t>printf</a:t>
            </a:r>
            <a:r>
              <a:rPr lang="tr-TR" dirty="0"/>
              <a:t>("%s ", </a:t>
            </a:r>
            <a:r>
              <a:rPr lang="tr-TR" dirty="0" err="1"/>
              <a:t>names</a:t>
            </a:r>
            <a:r>
              <a:rPr lang="tr-TR" dirty="0"/>
              <a:t>[k]);</a:t>
            </a:r>
          </a:p>
          <a:p>
            <a:r>
              <a:rPr lang="tr-TR" dirty="0" err="1"/>
              <a:t>printf</a:t>
            </a:r>
            <a:r>
              <a:rPr lang="tr-TR" dirty="0"/>
              <a:t>("\n");</a:t>
            </a:r>
          </a:p>
          <a:p>
            <a:r>
              <a:rPr lang="tr-TR" dirty="0"/>
              <a:t>}</a:t>
            </a:r>
          </a:p>
        </p:txBody>
      </p:sp>
      <p:sp>
        <p:nvSpPr>
          <p:cNvPr id="4" name="Altbilgi Yer Tutucusu 3"/>
          <p:cNvSpPr>
            <a:spLocks noGrp="1"/>
          </p:cNvSpPr>
          <p:nvPr>
            <p:ph type="ftr" sz="quarter" idx="11"/>
          </p:nvPr>
        </p:nvSpPr>
        <p:spPr/>
        <p:txBody>
          <a:bodyPr/>
          <a:lstStyle/>
          <a:p>
            <a:r>
              <a:rPr lang="en-US" smtClean="0"/>
              <a:t>Bilgisayar Programlama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46</a:t>
            </a:fld>
            <a:endParaRPr lang="en-US" dirty="0"/>
          </a:p>
        </p:txBody>
      </p:sp>
      <p:pic>
        <p:nvPicPr>
          <p:cNvPr id="6" name="Resim 5"/>
          <p:cNvPicPr>
            <a:picLocks noChangeAspect="1"/>
          </p:cNvPicPr>
          <p:nvPr/>
        </p:nvPicPr>
        <p:blipFill>
          <a:blip r:embed="rId2"/>
          <a:stretch>
            <a:fillRect/>
          </a:stretch>
        </p:blipFill>
        <p:spPr>
          <a:xfrm>
            <a:off x="5156462" y="2303282"/>
            <a:ext cx="5539131" cy="788488"/>
          </a:xfrm>
          <a:prstGeom prst="rect">
            <a:avLst/>
          </a:prstGeom>
        </p:spPr>
      </p:pic>
      <p:sp>
        <p:nvSpPr>
          <p:cNvPr id="7" name="Unvan 1"/>
          <p:cNvSpPr>
            <a:spLocks noGrp="1"/>
          </p:cNvSpPr>
          <p:nvPr>
            <p:ph type="title"/>
          </p:nvPr>
        </p:nvSpPr>
        <p:spPr>
          <a:xfrm>
            <a:off x="1177925" y="484188"/>
            <a:ext cx="9950450" cy="354012"/>
          </a:xfrm>
        </p:spPr>
        <p:txBody>
          <a:bodyPr>
            <a:normAutofit fontScale="90000"/>
          </a:bodyPr>
          <a:lstStyle/>
          <a:p>
            <a:r>
              <a:rPr lang="tr-TR" dirty="0" smtClean="0"/>
              <a:t>Ev ÖDEVİ</a:t>
            </a:r>
            <a:endParaRPr lang="tr-TR" dirty="0"/>
          </a:p>
        </p:txBody>
      </p:sp>
    </p:spTree>
    <p:extLst>
      <p:ext uri="{BB962C8B-B14F-4D97-AF65-F5344CB8AC3E}">
        <p14:creationId xmlns:p14="http://schemas.microsoft.com/office/powerpoint/2010/main" val="16195477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546755" y="0"/>
            <a:ext cx="11404453" cy="6858000"/>
          </a:xfrm>
        </p:spPr>
        <p:txBody>
          <a:bodyPr>
            <a:normAutofit fontScale="47500" lnSpcReduction="20000"/>
          </a:bodyPr>
          <a:lstStyle/>
          <a:p>
            <a:endParaRPr lang="tr-TR" dirty="0"/>
          </a:p>
          <a:p>
            <a:r>
              <a:rPr lang="tr-TR" dirty="0"/>
              <a:t>#</a:t>
            </a:r>
            <a:r>
              <a:rPr lang="tr-TR" dirty="0" err="1"/>
              <a:t>include</a:t>
            </a:r>
            <a:r>
              <a:rPr lang="tr-TR" dirty="0"/>
              <a:t> &lt;</a:t>
            </a:r>
            <a:r>
              <a:rPr lang="tr-TR" dirty="0" err="1"/>
              <a:t>stdio.h</a:t>
            </a:r>
            <a:r>
              <a:rPr lang="tr-TR" dirty="0"/>
              <a:t>&gt;</a:t>
            </a:r>
          </a:p>
          <a:p>
            <a:r>
              <a:rPr lang="tr-TR" dirty="0"/>
              <a:t>#</a:t>
            </a:r>
            <a:r>
              <a:rPr lang="tr-TR" dirty="0" err="1"/>
              <a:t>include</a:t>
            </a:r>
            <a:r>
              <a:rPr lang="tr-TR" dirty="0"/>
              <a:t> &lt;</a:t>
            </a:r>
            <a:r>
              <a:rPr lang="tr-TR" dirty="0" err="1"/>
              <a:t>string.h</a:t>
            </a:r>
            <a:r>
              <a:rPr lang="tr-TR" dirty="0"/>
              <a:t>&gt;</a:t>
            </a:r>
          </a:p>
          <a:p>
            <a:r>
              <a:rPr lang="tr-TR" dirty="0"/>
              <a:t>#</a:t>
            </a:r>
            <a:r>
              <a:rPr lang="tr-TR" dirty="0" err="1"/>
              <a:t>include</a:t>
            </a:r>
            <a:r>
              <a:rPr lang="tr-TR" dirty="0"/>
              <a:t> &lt;</a:t>
            </a:r>
            <a:r>
              <a:rPr lang="tr-TR" dirty="0" err="1"/>
              <a:t>stdlib.h</a:t>
            </a:r>
            <a:r>
              <a:rPr lang="tr-TR" dirty="0"/>
              <a:t>&gt;</a:t>
            </a:r>
          </a:p>
          <a:p>
            <a:r>
              <a:rPr lang="tr-TR" dirty="0"/>
              <a:t>#define ARRAY_SIZE 10</a:t>
            </a:r>
          </a:p>
          <a:p>
            <a:r>
              <a:rPr lang="tr-TR" dirty="0" err="1"/>
              <a:t>char</a:t>
            </a:r>
            <a:r>
              <a:rPr lang="tr-TR" dirty="0"/>
              <a:t> *</a:t>
            </a:r>
            <a:r>
              <a:rPr lang="tr-TR" dirty="0" err="1"/>
              <a:t>name_array</a:t>
            </a:r>
            <a:r>
              <a:rPr lang="tr-TR" dirty="0"/>
              <a:t>[ARRAY_SIZE] = {"Ali", "Veli", "Hasan", "Necati", "Deniz",</a:t>
            </a:r>
          </a:p>
          <a:p>
            <a:r>
              <a:rPr lang="tr-TR" dirty="0"/>
              <a:t>"Kaan", "</a:t>
            </a:r>
            <a:r>
              <a:rPr lang="tr-TR" dirty="0" err="1"/>
              <a:t>Selami","Salah</a:t>
            </a:r>
            <a:r>
              <a:rPr lang="tr-TR" dirty="0"/>
              <a:t>", "</a:t>
            </a:r>
            <a:r>
              <a:rPr lang="tr-TR" dirty="0" err="1"/>
              <a:t>Nejla</a:t>
            </a:r>
            <a:r>
              <a:rPr lang="tr-TR" dirty="0"/>
              <a:t>", "Figen"};</a:t>
            </a:r>
          </a:p>
          <a:p>
            <a:r>
              <a:rPr lang="tr-TR" dirty="0" err="1"/>
              <a:t>int</a:t>
            </a:r>
            <a:r>
              <a:rPr lang="tr-TR" dirty="0"/>
              <a:t> main()</a:t>
            </a:r>
          </a:p>
          <a:p>
            <a:r>
              <a:rPr lang="tr-TR" dirty="0"/>
              <a:t>{</a:t>
            </a:r>
          </a:p>
          <a:p>
            <a:r>
              <a:rPr lang="tr-TR" dirty="0" err="1"/>
              <a:t>char</a:t>
            </a:r>
            <a:r>
              <a:rPr lang="tr-TR" dirty="0"/>
              <a:t> *</a:t>
            </a:r>
            <a:r>
              <a:rPr lang="tr-TR" dirty="0" err="1"/>
              <a:t>names</a:t>
            </a:r>
            <a:r>
              <a:rPr lang="tr-TR" dirty="0"/>
              <a:t>[ARRAY_SIZE];</a:t>
            </a:r>
          </a:p>
          <a:p>
            <a:r>
              <a:rPr lang="tr-TR" dirty="0"/>
              <a:t> </a:t>
            </a:r>
            <a:r>
              <a:rPr lang="tr-TR" dirty="0" err="1"/>
              <a:t>int</a:t>
            </a:r>
            <a:r>
              <a:rPr lang="tr-TR" dirty="0"/>
              <a:t> i; </a:t>
            </a:r>
          </a:p>
          <a:p>
            <a:r>
              <a:rPr lang="tr-TR" dirty="0"/>
              <a:t>    </a:t>
            </a:r>
            <a:r>
              <a:rPr lang="tr-TR" dirty="0" err="1"/>
              <a:t>for</a:t>
            </a:r>
            <a:r>
              <a:rPr lang="tr-TR" dirty="0"/>
              <a:t> (i=0; i&lt;ARRAY_SIZE; i++) </a:t>
            </a:r>
          </a:p>
          <a:p>
            <a:r>
              <a:rPr lang="tr-TR" dirty="0"/>
              <a:t>         </a:t>
            </a:r>
            <a:r>
              <a:rPr lang="tr-TR" dirty="0" err="1"/>
              <a:t>names</a:t>
            </a:r>
            <a:r>
              <a:rPr lang="tr-TR" dirty="0"/>
              <a:t>[i] = (</a:t>
            </a:r>
            <a:r>
              <a:rPr lang="tr-TR" dirty="0" err="1"/>
              <a:t>char</a:t>
            </a:r>
            <a:r>
              <a:rPr lang="tr-TR" dirty="0"/>
              <a:t> *)</a:t>
            </a:r>
            <a:r>
              <a:rPr lang="tr-TR" dirty="0" err="1"/>
              <a:t>malloc</a:t>
            </a:r>
            <a:r>
              <a:rPr lang="tr-TR" dirty="0"/>
              <a:t>(20); </a:t>
            </a:r>
          </a:p>
          <a:p>
            <a:r>
              <a:rPr lang="tr-TR" dirty="0" err="1"/>
              <a:t>int</a:t>
            </a:r>
            <a:r>
              <a:rPr lang="tr-TR" dirty="0"/>
              <a:t> k;</a:t>
            </a:r>
          </a:p>
          <a:p>
            <a:r>
              <a:rPr lang="tr-TR" dirty="0" err="1"/>
              <a:t>for</a:t>
            </a:r>
            <a:r>
              <a:rPr lang="tr-TR" dirty="0"/>
              <a:t> (k = 0; k &lt; ARRAY_SIZE; ++k)</a:t>
            </a:r>
          </a:p>
          <a:p>
            <a:r>
              <a:rPr lang="tr-TR" dirty="0" err="1"/>
              <a:t>strcpy</a:t>
            </a:r>
            <a:r>
              <a:rPr lang="tr-TR" dirty="0"/>
              <a:t>(</a:t>
            </a:r>
            <a:r>
              <a:rPr lang="tr-TR" dirty="0" err="1"/>
              <a:t>names</a:t>
            </a:r>
            <a:r>
              <a:rPr lang="tr-TR" dirty="0"/>
              <a:t>[k], </a:t>
            </a:r>
            <a:r>
              <a:rPr lang="tr-TR" dirty="0" err="1"/>
              <a:t>name_array</a:t>
            </a:r>
            <a:r>
              <a:rPr lang="tr-TR" dirty="0"/>
              <a:t>[k]);</a:t>
            </a:r>
          </a:p>
          <a:p>
            <a:r>
              <a:rPr lang="tr-TR" dirty="0" err="1"/>
              <a:t>for</a:t>
            </a:r>
            <a:r>
              <a:rPr lang="tr-TR" dirty="0"/>
              <a:t> (k = 0; k &lt; ARRAY_SIZE; ++k)</a:t>
            </a:r>
          </a:p>
          <a:p>
            <a:r>
              <a:rPr lang="tr-TR" dirty="0" err="1"/>
              <a:t>printf</a:t>
            </a:r>
            <a:r>
              <a:rPr lang="tr-TR" dirty="0"/>
              <a:t>(" %s ", </a:t>
            </a:r>
            <a:r>
              <a:rPr lang="tr-TR" dirty="0" err="1"/>
              <a:t>names</a:t>
            </a:r>
            <a:r>
              <a:rPr lang="tr-TR" dirty="0"/>
              <a:t>[k]);</a:t>
            </a:r>
          </a:p>
          <a:p>
            <a:r>
              <a:rPr lang="tr-TR" dirty="0" err="1"/>
              <a:t>printf</a:t>
            </a:r>
            <a:r>
              <a:rPr lang="tr-TR" dirty="0"/>
              <a:t>("\n");</a:t>
            </a:r>
          </a:p>
          <a:p>
            <a:r>
              <a:rPr lang="tr-TR" dirty="0" err="1"/>
              <a:t>printf</a:t>
            </a:r>
            <a:r>
              <a:rPr lang="tr-TR" dirty="0"/>
              <a:t>("%c \n ",</a:t>
            </a:r>
            <a:r>
              <a:rPr lang="tr-TR" dirty="0" err="1"/>
              <a:t>names</a:t>
            </a:r>
            <a:r>
              <a:rPr lang="tr-TR" dirty="0"/>
              <a:t>[0][1]);// ilk elemanın ikinci karakteri Alinin l si</a:t>
            </a:r>
          </a:p>
          <a:p>
            <a:r>
              <a:rPr lang="tr-TR" dirty="0" err="1"/>
              <a:t>printf</a:t>
            </a:r>
            <a:r>
              <a:rPr lang="tr-TR" dirty="0"/>
              <a:t>("%c \n ",</a:t>
            </a:r>
            <a:r>
              <a:rPr lang="tr-TR" dirty="0" err="1"/>
              <a:t>names</a:t>
            </a:r>
            <a:r>
              <a:rPr lang="tr-TR" dirty="0"/>
              <a:t>[3][1]);// dördüncü elemanın </a:t>
            </a:r>
            <a:r>
              <a:rPr lang="tr-TR" dirty="0" err="1"/>
              <a:t>necatinin</a:t>
            </a:r>
            <a:r>
              <a:rPr lang="tr-TR" dirty="0"/>
              <a:t> e si </a:t>
            </a:r>
          </a:p>
          <a:p>
            <a:r>
              <a:rPr lang="tr-TR" dirty="0" err="1"/>
              <a:t>for</a:t>
            </a:r>
            <a:r>
              <a:rPr lang="tr-TR" dirty="0"/>
              <a:t> (k = 0; k &lt; ARRAY_SIZE; ++k)</a:t>
            </a:r>
          </a:p>
          <a:p>
            <a:r>
              <a:rPr lang="tr-TR" dirty="0" err="1"/>
              <a:t>strrev</a:t>
            </a:r>
            <a:r>
              <a:rPr lang="tr-TR" dirty="0"/>
              <a:t>(</a:t>
            </a:r>
            <a:r>
              <a:rPr lang="tr-TR" dirty="0" err="1"/>
              <a:t>names</a:t>
            </a:r>
            <a:r>
              <a:rPr lang="tr-TR" dirty="0"/>
              <a:t>[k]);</a:t>
            </a:r>
          </a:p>
          <a:p>
            <a:r>
              <a:rPr lang="tr-TR" dirty="0" err="1"/>
              <a:t>for</a:t>
            </a:r>
            <a:r>
              <a:rPr lang="tr-TR" dirty="0"/>
              <a:t> (k = 0; k &lt; ARRAY_SIZE; ++k)</a:t>
            </a:r>
          </a:p>
          <a:p>
            <a:r>
              <a:rPr lang="tr-TR" dirty="0" err="1"/>
              <a:t>printf</a:t>
            </a:r>
            <a:r>
              <a:rPr lang="tr-TR" dirty="0"/>
              <a:t>("%s ", </a:t>
            </a:r>
            <a:r>
              <a:rPr lang="tr-TR" dirty="0" err="1"/>
              <a:t>names</a:t>
            </a:r>
            <a:r>
              <a:rPr lang="tr-TR" dirty="0"/>
              <a:t>[k]);</a:t>
            </a:r>
          </a:p>
          <a:p>
            <a:r>
              <a:rPr lang="tr-TR" dirty="0" err="1"/>
              <a:t>printf</a:t>
            </a:r>
            <a:r>
              <a:rPr lang="tr-TR" dirty="0"/>
              <a:t>("\n</a:t>
            </a:r>
            <a:r>
              <a:rPr lang="tr-TR" dirty="0" smtClean="0"/>
              <a:t>");}</a:t>
            </a:r>
            <a:endParaRPr lang="tr-TR" dirty="0"/>
          </a:p>
        </p:txBody>
      </p:sp>
      <p:sp>
        <p:nvSpPr>
          <p:cNvPr id="4" name="Altbilgi Yer Tutucusu 3"/>
          <p:cNvSpPr>
            <a:spLocks noGrp="1"/>
          </p:cNvSpPr>
          <p:nvPr>
            <p:ph type="ftr" sz="quarter" idx="11"/>
          </p:nvPr>
        </p:nvSpPr>
        <p:spPr/>
        <p:txBody>
          <a:bodyPr/>
          <a:lstStyle/>
          <a:p>
            <a:r>
              <a:rPr lang="en-US" smtClean="0"/>
              <a:t>Bilgisayar Programlama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47</a:t>
            </a:fld>
            <a:endParaRPr lang="en-US" dirty="0"/>
          </a:p>
        </p:txBody>
      </p:sp>
      <p:pic>
        <p:nvPicPr>
          <p:cNvPr id="6" name="Resim 5"/>
          <p:cNvPicPr>
            <a:picLocks noChangeAspect="1"/>
          </p:cNvPicPr>
          <p:nvPr/>
        </p:nvPicPr>
        <p:blipFill>
          <a:blip r:embed="rId2"/>
          <a:stretch>
            <a:fillRect/>
          </a:stretch>
        </p:blipFill>
        <p:spPr>
          <a:xfrm>
            <a:off x="3846135" y="1925719"/>
            <a:ext cx="8023233" cy="1310510"/>
          </a:xfrm>
          <a:prstGeom prst="rect">
            <a:avLst/>
          </a:prstGeom>
        </p:spPr>
      </p:pic>
      <p:sp>
        <p:nvSpPr>
          <p:cNvPr id="7" name="Unvan 1"/>
          <p:cNvSpPr>
            <a:spLocks noGrp="1"/>
          </p:cNvSpPr>
          <p:nvPr>
            <p:ph type="title"/>
          </p:nvPr>
        </p:nvSpPr>
        <p:spPr>
          <a:xfrm>
            <a:off x="2882802" y="431329"/>
            <a:ext cx="9949897" cy="354354"/>
          </a:xfrm>
        </p:spPr>
        <p:txBody>
          <a:bodyPr>
            <a:normAutofit fontScale="90000"/>
          </a:bodyPr>
          <a:lstStyle/>
          <a:p>
            <a:r>
              <a:rPr lang="tr-TR" dirty="0" err="1" smtClean="0"/>
              <a:t>Malloc</a:t>
            </a:r>
            <a:r>
              <a:rPr lang="tr-TR" dirty="0" smtClean="0"/>
              <a:t> ile çözüm</a:t>
            </a:r>
            <a:endParaRPr lang="tr-TR" dirty="0"/>
          </a:p>
        </p:txBody>
      </p:sp>
      <p:sp>
        <p:nvSpPr>
          <p:cNvPr id="8" name="Unvan 1"/>
          <p:cNvSpPr txBox="1">
            <a:spLocks/>
          </p:cNvSpPr>
          <p:nvPr/>
        </p:nvSpPr>
        <p:spPr>
          <a:xfrm>
            <a:off x="7724503" y="181356"/>
            <a:ext cx="3745774" cy="734568"/>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tr-TR" smtClean="0"/>
              <a:t>Ev ÖDEVİ</a:t>
            </a:r>
            <a:endParaRPr lang="tr-TR" dirty="0"/>
          </a:p>
        </p:txBody>
      </p:sp>
    </p:spTree>
    <p:extLst>
      <p:ext uri="{BB962C8B-B14F-4D97-AF65-F5344CB8AC3E}">
        <p14:creationId xmlns:p14="http://schemas.microsoft.com/office/powerpoint/2010/main" val="93641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endParaRPr lang="tr-TR"/>
          </a:p>
        </p:txBody>
      </p:sp>
      <p:pic>
        <p:nvPicPr>
          <p:cNvPr id="4" name="Resim 3"/>
          <p:cNvPicPr>
            <a:picLocks noChangeAspect="1"/>
          </p:cNvPicPr>
          <p:nvPr/>
        </p:nvPicPr>
        <p:blipFill>
          <a:blip r:embed="rId2"/>
          <a:stretch>
            <a:fillRect/>
          </a:stretch>
        </p:blipFill>
        <p:spPr>
          <a:xfrm>
            <a:off x="1123950" y="-114300"/>
            <a:ext cx="9944100" cy="7086600"/>
          </a:xfrm>
          <a:prstGeom prst="rect">
            <a:avLst/>
          </a:prstGeom>
        </p:spPr>
      </p:pic>
      <p:sp>
        <p:nvSpPr>
          <p:cNvPr id="5" name="Altbilgi Yer Tutucusu 4"/>
          <p:cNvSpPr>
            <a:spLocks noGrp="1"/>
          </p:cNvSpPr>
          <p:nvPr>
            <p:ph type="ftr" sz="quarter" idx="11"/>
          </p:nvPr>
        </p:nvSpPr>
        <p:spPr/>
        <p:txBody>
          <a:bodyPr/>
          <a:lstStyle/>
          <a:p>
            <a:r>
              <a:rPr lang="en-US" smtClean="0"/>
              <a:t>Bilgisayar Programlama 1</a:t>
            </a:r>
            <a:endParaRPr lang="en-US" dirty="0"/>
          </a:p>
        </p:txBody>
      </p:sp>
      <p:sp>
        <p:nvSpPr>
          <p:cNvPr id="6" name="Slayt Numarası Yer Tutucusu 5"/>
          <p:cNvSpPr>
            <a:spLocks noGrp="1"/>
          </p:cNvSpPr>
          <p:nvPr>
            <p:ph type="sldNum" sz="quarter" idx="12"/>
          </p:nvPr>
        </p:nvSpPr>
        <p:spPr/>
        <p:txBody>
          <a:bodyPr/>
          <a:lstStyle/>
          <a:p>
            <a:fld id="{4FAB73BC-B049-4115-A692-8D63A059BFB8}" type="slidenum">
              <a:rPr lang="en-US" smtClean="0"/>
              <a:t>48</a:t>
            </a:fld>
            <a:endParaRPr lang="en-US" dirty="0"/>
          </a:p>
        </p:txBody>
      </p:sp>
    </p:spTree>
    <p:extLst>
      <p:ext uri="{BB962C8B-B14F-4D97-AF65-F5344CB8AC3E}">
        <p14:creationId xmlns:p14="http://schemas.microsoft.com/office/powerpoint/2010/main" val="35554288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r>
              <a:rPr lang="tr-TR" dirty="0" smtClean="0"/>
              <a:t>Ek Dosyadan Örnekler</a:t>
            </a:r>
          </a:p>
          <a:p>
            <a:endParaRPr lang="tr-TR" dirty="0"/>
          </a:p>
          <a:p>
            <a:r>
              <a:rPr lang="tr-TR" dirty="0" smtClean="0"/>
              <a:t>Soru: Klavyeden girilen bir </a:t>
            </a:r>
            <a:r>
              <a:rPr lang="tr-TR" dirty="0" err="1" smtClean="0"/>
              <a:t>string</a:t>
            </a:r>
            <a:r>
              <a:rPr lang="tr-TR" dirty="0" smtClean="0"/>
              <a:t> için  aranan bir harf değeri girilecek ve harfin </a:t>
            </a:r>
            <a:r>
              <a:rPr lang="tr-TR" dirty="0" err="1" smtClean="0"/>
              <a:t>string</a:t>
            </a:r>
            <a:r>
              <a:rPr lang="tr-TR" dirty="0" smtClean="0"/>
              <a:t> içinde ilk hangi numaralı karakterde ve kaç adet olduğu bir fonksiyon aracılığı ile bulunacaktır.</a:t>
            </a:r>
          </a:p>
          <a:p>
            <a:endParaRPr lang="tr-TR" dirty="0"/>
          </a:p>
        </p:txBody>
      </p:sp>
      <p:sp>
        <p:nvSpPr>
          <p:cNvPr id="4" name="Altbilgi Yer Tutucusu 3"/>
          <p:cNvSpPr>
            <a:spLocks noGrp="1"/>
          </p:cNvSpPr>
          <p:nvPr>
            <p:ph type="ftr" sz="quarter" idx="11"/>
          </p:nvPr>
        </p:nvSpPr>
        <p:spPr/>
        <p:txBody>
          <a:bodyPr/>
          <a:lstStyle/>
          <a:p>
            <a:r>
              <a:rPr lang="en-US" smtClean="0"/>
              <a:t>Bilgisayar Programlama 1</a:t>
            </a:r>
            <a:endParaRPr lang="en-US" dirty="0"/>
          </a:p>
        </p:txBody>
      </p:sp>
      <p:sp>
        <p:nvSpPr>
          <p:cNvPr id="5" name="Slayt Numarası Yer Tutucusu 4"/>
          <p:cNvSpPr>
            <a:spLocks noGrp="1"/>
          </p:cNvSpPr>
          <p:nvPr>
            <p:ph type="sldNum" sz="quarter" idx="12"/>
          </p:nvPr>
        </p:nvSpPr>
        <p:spPr/>
        <p:txBody>
          <a:bodyPr/>
          <a:lstStyle/>
          <a:p>
            <a:fld id="{4FAB73BC-B049-4115-A692-8D63A059BFB8}" type="slidenum">
              <a:rPr lang="en-US" smtClean="0"/>
              <a:t>49</a:t>
            </a:fld>
            <a:endParaRPr lang="en-US" dirty="0"/>
          </a:p>
        </p:txBody>
      </p:sp>
    </p:spTree>
    <p:extLst>
      <p:ext uri="{BB962C8B-B14F-4D97-AF65-F5344CB8AC3E}">
        <p14:creationId xmlns:p14="http://schemas.microsoft.com/office/powerpoint/2010/main" val="35829396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Yazı Tipi">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Tahta Yazı</Template>
  <TotalTime>9942</TotalTime>
  <Words>3881</Words>
  <Application>Microsoft Office PowerPoint</Application>
  <PresentationFormat>Widescreen</PresentationFormat>
  <Paragraphs>760</Paragraphs>
  <Slides>49</Slides>
  <Notes>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49</vt:i4>
      </vt:variant>
    </vt:vector>
  </HeadingPairs>
  <TitlesOfParts>
    <vt:vector size="61" baseType="lpstr">
      <vt:lpstr>Arial</vt:lpstr>
      <vt:lpstr>바탕</vt:lpstr>
      <vt:lpstr>Calibri</vt:lpstr>
      <vt:lpstr>Courier New</vt:lpstr>
      <vt:lpstr>굴림</vt:lpstr>
      <vt:lpstr>Lucida Sans Unicode</vt:lpstr>
      <vt:lpstr>Rockwell</vt:lpstr>
      <vt:lpstr>Rockwell Condensed</vt:lpstr>
      <vt:lpstr>Tahoma</vt:lpstr>
      <vt:lpstr>Times New Roman</vt:lpstr>
      <vt:lpstr>Wingdings</vt:lpstr>
      <vt:lpstr>Wood Type Yazı Tipi</vt:lpstr>
      <vt:lpstr>poInter ve array</vt:lpstr>
      <vt:lpstr>Dinamik Hafıza Tahsisi</vt:lpstr>
      <vt:lpstr> </vt:lpstr>
      <vt:lpstr>PowerPoint Presentation</vt:lpstr>
      <vt:lpstr>PowerPoint Presentation</vt:lpstr>
      <vt:lpstr>Dikkat!</vt:lpstr>
      <vt:lpstr>Diziler-Arrays</vt:lpstr>
      <vt:lpstr>Dizi tanımı-Array Initialization</vt:lpstr>
      <vt:lpstr>Bellek adresleri</vt:lpstr>
      <vt:lpstr>Array – bir elemana ulasma</vt:lpstr>
      <vt:lpstr>Strings</vt:lpstr>
      <vt:lpstr>NULL character ‘\0’</vt:lpstr>
      <vt:lpstr>pointer</vt:lpstr>
      <vt:lpstr>Kendiniz de deneyin lütfen</vt:lpstr>
      <vt:lpstr>PowerPoint Presentation</vt:lpstr>
      <vt:lpstr>EV ÖDEVİ:Aynı örnek defıne kullanımı ile </vt:lpstr>
      <vt:lpstr>SORU??</vt:lpstr>
      <vt:lpstr>Dizi ve poınter</vt:lpstr>
      <vt:lpstr>Dizi ve poınter</vt:lpstr>
      <vt:lpstr>Ekrana ne YAZAR??</vt:lpstr>
      <vt:lpstr>Örnek-Böyle sorular sınavlarda sorulabilir </vt:lpstr>
      <vt:lpstr>Pointers ve  arrays</vt:lpstr>
      <vt:lpstr>String girişi</vt:lpstr>
      <vt:lpstr>PowerPoint Presentation</vt:lpstr>
      <vt:lpstr>Strings</vt:lpstr>
      <vt:lpstr>Strings</vt:lpstr>
      <vt:lpstr>Strings</vt:lpstr>
      <vt:lpstr>DİKKAT</vt:lpstr>
      <vt:lpstr>PowerPoint Presentation</vt:lpstr>
      <vt:lpstr>PowerPoint Presentation</vt:lpstr>
      <vt:lpstr>Ev ÖDEVİ</vt:lpstr>
      <vt:lpstr>Çok boyutlu diziler Multidimensional Arrays</vt:lpstr>
      <vt:lpstr>Çok boyutlu String</vt:lpstr>
      <vt:lpstr>Çok boyutlu String</vt:lpstr>
      <vt:lpstr>PowerPoint Presentation</vt:lpstr>
      <vt:lpstr>String giriş/çıkış</vt:lpstr>
      <vt:lpstr>Pointers to Pointers</vt:lpstr>
      <vt:lpstr>Pointers to Pointers</vt:lpstr>
      <vt:lpstr>Ev ÖDEVİ</vt:lpstr>
      <vt:lpstr>Strıng dızı uygulamaları </vt:lpstr>
      <vt:lpstr>örnek</vt:lpstr>
      <vt:lpstr>Dizi poınter</vt:lpstr>
      <vt:lpstr>2-boyutlu Array (Array of arrays)</vt:lpstr>
      <vt:lpstr>PowerPoint Presentation</vt:lpstr>
      <vt:lpstr>2-boyutlu Array (Array of arrays)</vt:lpstr>
      <vt:lpstr>Ev ÖDEVİ</vt:lpstr>
      <vt:lpstr>Malloc ile çözüm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poınter</dc:title>
  <dc:creator>Buket Doğan</dc:creator>
  <cp:lastModifiedBy>Berna</cp:lastModifiedBy>
  <cp:revision>78</cp:revision>
  <dcterms:created xsi:type="dcterms:W3CDTF">2019-03-11T01:45:44Z</dcterms:created>
  <dcterms:modified xsi:type="dcterms:W3CDTF">2025-03-17T09:15:07Z</dcterms:modified>
</cp:coreProperties>
</file>