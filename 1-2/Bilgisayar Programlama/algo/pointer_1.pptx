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40"/>
  </p:notesMasterIdLst>
  <p:sldIdLst>
    <p:sldId id="256" r:id="rId2"/>
    <p:sldId id="274" r:id="rId3"/>
    <p:sldId id="262" r:id="rId4"/>
    <p:sldId id="275" r:id="rId5"/>
    <p:sldId id="427" r:id="rId6"/>
    <p:sldId id="432" r:id="rId7"/>
    <p:sldId id="416" r:id="rId8"/>
    <p:sldId id="424" r:id="rId9"/>
    <p:sldId id="425" r:id="rId10"/>
    <p:sldId id="428" r:id="rId11"/>
    <p:sldId id="429" r:id="rId12"/>
    <p:sldId id="430" r:id="rId13"/>
    <p:sldId id="431" r:id="rId14"/>
    <p:sldId id="433" r:id="rId15"/>
    <p:sldId id="426" r:id="rId16"/>
    <p:sldId id="440" r:id="rId17"/>
    <p:sldId id="423" r:id="rId18"/>
    <p:sldId id="434" r:id="rId19"/>
    <p:sldId id="435" r:id="rId20"/>
    <p:sldId id="436" r:id="rId21"/>
    <p:sldId id="437" r:id="rId22"/>
    <p:sldId id="438" r:id="rId23"/>
    <p:sldId id="439" r:id="rId24"/>
    <p:sldId id="448" r:id="rId25"/>
    <p:sldId id="449" r:id="rId26"/>
    <p:sldId id="450" r:id="rId27"/>
    <p:sldId id="451" r:id="rId28"/>
    <p:sldId id="452" r:id="rId29"/>
    <p:sldId id="454" r:id="rId30"/>
    <p:sldId id="456" r:id="rId31"/>
    <p:sldId id="455" r:id="rId32"/>
    <p:sldId id="453" r:id="rId33"/>
    <p:sldId id="442" r:id="rId34"/>
    <p:sldId id="444" r:id="rId35"/>
    <p:sldId id="445" r:id="rId36"/>
    <p:sldId id="446" r:id="rId37"/>
    <p:sldId id="447" r:id="rId38"/>
    <p:sldId id="303" r:id="rId3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99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9" autoAdjust="0"/>
    <p:restoredTop sz="89858" autoAdjust="0"/>
  </p:normalViewPr>
  <p:slideViewPr>
    <p:cSldViewPr>
      <p:cViewPr varScale="1">
        <p:scale>
          <a:sx n="79" d="100"/>
          <a:sy n="79" d="100"/>
        </p:scale>
        <p:origin x="158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F8477F5F-9B7F-4012-9ED7-2502A77C20A6}"/>
    <pc:docChg chg="modSld">
      <pc:chgData name="" userId="" providerId="" clId="Web-{F8477F5F-9B7F-4012-9ED7-2502A77C20A6}" dt="2019-05-06T05:56:11.613" v="1" actId="1076"/>
      <pc:docMkLst>
        <pc:docMk/>
      </pc:docMkLst>
      <pc:sldChg chg="modSp">
        <pc:chgData name="" userId="" providerId="" clId="Web-{F8477F5F-9B7F-4012-9ED7-2502A77C20A6}" dt="2019-05-06T05:56:11.613" v="1" actId="1076"/>
        <pc:sldMkLst>
          <pc:docMk/>
          <pc:sldMk cId="1906729948" sldId="432"/>
        </pc:sldMkLst>
        <pc:picChg chg="mod">
          <ac:chgData name="" userId="" providerId="" clId="Web-{F8477F5F-9B7F-4012-9ED7-2502A77C20A6}" dt="2019-05-06T05:56:11.613" v="1" actId="1076"/>
          <ac:picMkLst>
            <pc:docMk/>
            <pc:sldMk cId="1906729948" sldId="432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2A135-22CC-429C-9706-1CC56B005689}" type="datetimeFigureOut">
              <a:rPr lang="tr-TR" smtClean="0"/>
              <a:pPr/>
              <a:t>7.03.2023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281E5-013A-4FDC-BBE5-88D0D9098083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468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51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314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678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2501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615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5339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7246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2173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0486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7667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6935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098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5768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76456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5015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0601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1521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5929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Gösterimde, </a:t>
            </a:r>
            <a:r>
              <a:rPr lang="tr-TR" b="1" dirty="0" err="1"/>
              <a:t>ptam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göstericisinin içeriği </a:t>
            </a:r>
            <a:r>
              <a:rPr lang="tr-TR" dirty="0"/>
              <a:t>tam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değişkeninin içeriği (33) 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değil 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adresidir (0x3fffd14). Ayrıca, </a:t>
            </a:r>
            <a:r>
              <a:rPr lang="tr-TR" b="1" dirty="0" err="1"/>
              <a:t>ptam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değişkeni, bellekte başka bir hücrede saklandığına ve bu hücrenin </a:t>
            </a:r>
            <a:r>
              <a:rPr lang="tr-TR" dirty="0" err="1"/>
              <a:t>int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değil </a:t>
            </a:r>
            <a:r>
              <a:rPr lang="tr-TR" dirty="0" err="1"/>
              <a:t>int</a:t>
            </a:r>
            <a:r>
              <a:rPr lang="tr-TR" dirty="0"/>
              <a:t> *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tipinde bir bölge olduğuna dikkat ediniz. </a:t>
            </a:r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24928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1044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77844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07013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2630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0183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0183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0183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1554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0183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0183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0183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0183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0183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11891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40714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92926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32265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82779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8413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Dikdörtgen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ikdörtgen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99CAE29-E375-4743-ADB4-BB6895B33284}" type="datetime1">
              <a:rPr lang="tr-TR" smtClean="0"/>
              <a:t>7.03.2023</a:t>
            </a:fld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tr-TR"/>
              <a:t>YZM 410 - Yazılım Kalite Güvencesi</a:t>
            </a:r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E698F-EB6D-47C5-9C28-84C47D560C03}" type="datetime1">
              <a:rPr lang="tr-TR" smtClean="0"/>
              <a:t>7.03.2023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410 - Yazılım Kalite Güvencesi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7" name="6 Dikdörtgen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2" name="1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674C-47DC-4B26-8909-B981D7C847A2}" type="datetime1">
              <a:rPr lang="tr-TR" smtClean="0"/>
              <a:t>7.03.2023</a:t>
            </a:fld>
            <a:endParaRPr lang="tr-TR"/>
          </a:p>
        </p:txBody>
      </p:sp>
      <p:sp>
        <p:nvSpPr>
          <p:cNvPr id="13" name="12 Slayt Numarası Yer Tutucusu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13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tr-TR"/>
              <a:t>YZM 410 - Yazılım Kalite Güvencesi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8" name="7 Veri Yer Tutucusu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E870BF8-2347-462B-9335-6BFB62D1AEBF}" type="datetime1">
              <a:rPr lang="tr-TR" smtClean="0"/>
              <a:t>7.03.2023</a:t>
            </a:fld>
            <a:endParaRPr lang="tr-TR"/>
          </a:p>
        </p:txBody>
      </p:sp>
      <p:sp>
        <p:nvSpPr>
          <p:cNvPr id="10" name="9 Slayt Numarası Yer Tutucusu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2" name="11 Altbilgi Yer Tutucusu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tr-TR"/>
              <a:t>YZM 410 - Yazılım Kalite Güvencesi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12 İçerik Yer Tutucusu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678D71F-080C-481B-B3D8-0C09E1E6FF7C}" type="datetime1">
              <a:rPr lang="tr-TR" smtClean="0"/>
              <a:t>7.03.2023</a:t>
            </a:fld>
            <a:endParaRPr lang="tr-TR"/>
          </a:p>
        </p:txBody>
      </p:sp>
      <p:sp>
        <p:nvSpPr>
          <p:cNvPr id="12" name="11 Slayt Numarası Yer Tutucusu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13 Altbilgi Yer Tutucusu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tr-TR"/>
              <a:t>YZM 410 - Yazılım Kalite Güvencesi</a:t>
            </a:r>
          </a:p>
        </p:txBody>
      </p:sp>
      <p:sp>
        <p:nvSpPr>
          <p:cNvPr id="16" name="15 Metin Yer Tutucusu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5" name="14 Metin Yer Tutucusu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5F9E-4AE6-4118-A06C-DD36C3D7B3D7}" type="datetime1">
              <a:rPr lang="tr-TR" smtClean="0"/>
              <a:t>7.03.2023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410 - Yazılım Kalite Güvencesi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C17EA-EB63-4A08-B6B1-AA83F1B5B15E}" type="datetime1">
              <a:rPr lang="tr-TR" smtClean="0"/>
              <a:t>7.03.2023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410 - Yazılım Kalite Güvencesi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C9F34-DA55-44BC-B86B-6578A09CC3B6}" type="datetime1">
              <a:rPr lang="tr-TR" smtClean="0"/>
              <a:t>7.03.2023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410 - Yazılım Kalite Güvencesi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7 Dikdörtgen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1" name="10 Dikdörtgen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Veri Yer Tutucusu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39AB3566-EA1F-4A99-9B06-0410A0313B5E}" type="datetime1">
              <a:rPr lang="tr-TR" smtClean="0"/>
              <a:t>7.03.2023</a:t>
            </a:fld>
            <a:endParaRPr lang="tr-TR"/>
          </a:p>
        </p:txBody>
      </p:sp>
      <p:sp>
        <p:nvSpPr>
          <p:cNvPr id="13" name="12 Slayt Numarası Yer Tutucusu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13 Altbilgi Yer Tutucusu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tr-TR"/>
              <a:t>YZM 410 - Yazılım Kalite Güvencesi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/>
              <a:t>Resim eklemek için simgeyi tıklatın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CA54-C1E1-4118-B70E-A15D2C72F022}" type="datetime1">
              <a:rPr lang="tr-TR" smtClean="0"/>
              <a:t>7.03.2023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YZM 410 - Yazılım Kalite Güvencesi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32F347B-195F-48EA-A732-05313CE52BDE}" type="datetime1">
              <a:rPr lang="tr-TR" smtClean="0"/>
              <a:t>7.03.2023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tr-TR"/>
              <a:t>YZM 410 - Yazılım Kalite Güvencesi</a:t>
            </a:r>
          </a:p>
        </p:txBody>
      </p:sp>
      <p:sp>
        <p:nvSpPr>
          <p:cNvPr id="7" name="6 Dikdörtgen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FF7731A-E75F-4554-9CCF-BD1393D8E2F2}" type="datetime1">
              <a:rPr lang="tr-TR" smtClean="0"/>
              <a:t>7.03.2023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tr-TR"/>
              <a:t>YZM 410 - Yazılım Kalite Güvencesi</a:t>
            </a:r>
          </a:p>
        </p:txBody>
      </p:sp>
      <p:sp>
        <p:nvSpPr>
          <p:cNvPr id="7" name="6 Dikdörtgen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goritmaveprogramlama.com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Başlık"/>
          <p:cNvSpPr>
            <a:spLocks noGrp="1"/>
          </p:cNvSpPr>
          <p:nvPr>
            <p:ph type="ctrTitle"/>
          </p:nvPr>
        </p:nvSpPr>
        <p:spPr>
          <a:xfrm>
            <a:off x="104775" y="2062146"/>
            <a:ext cx="8929718" cy="1581168"/>
          </a:xfrm>
        </p:spPr>
        <p:txBody>
          <a:bodyPr>
            <a:normAutofit/>
          </a:bodyPr>
          <a:lstStyle/>
          <a:p>
            <a:pPr algn="ctr"/>
            <a:r>
              <a:rPr lang="tr-TR" sz="3400" dirty="0">
                <a:latin typeface="Times New Roman" pitchFamily="18" charset="0"/>
                <a:cs typeface="Times New Roman" pitchFamily="18" charset="0"/>
              </a:rPr>
              <a:t>Algorİtma ve Programlama II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tr-TR" sz="2400" dirty="0">
                <a:latin typeface="Times New Roman" pitchFamily="18" charset="0"/>
                <a:cs typeface="Times New Roman" pitchFamily="18" charset="0"/>
              </a:rPr>
            </a:br>
            <a:r>
              <a:rPr lang="tr-TR" sz="1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tr-TR" sz="1200" dirty="0">
                <a:latin typeface="Times New Roman" pitchFamily="18" charset="0"/>
                <a:cs typeface="Times New Roman" pitchFamily="18" charset="0"/>
              </a:rPr>
            </a:br>
            <a:r>
              <a:rPr lang="tr-TR" sz="3200" cap="none" dirty="0">
                <a:latin typeface="Times New Roman" pitchFamily="18" charset="0"/>
                <a:cs typeface="Times New Roman" pitchFamily="18" charset="0"/>
              </a:rPr>
              <a:t>HAFTA#4</a:t>
            </a:r>
            <a:endParaRPr lang="tr-TR" sz="24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2 Alt Başlık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tr-TR" dirty="0"/>
              <a:t>Celal Bayar Üniversitesi Hasan Ferdi Turgutlu</a:t>
            </a:r>
          </a:p>
          <a:p>
            <a:pPr algn="ctr"/>
            <a:r>
              <a:rPr lang="tr-TR" dirty="0"/>
              <a:t>Teknoloji Fakültesi</a:t>
            </a:r>
          </a:p>
        </p:txBody>
      </p:sp>
      <p:sp>
        <p:nvSpPr>
          <p:cNvPr id="6" name="2 Alt Başlık"/>
          <p:cNvSpPr txBox="1">
            <a:spLocks/>
          </p:cNvSpPr>
          <p:nvPr/>
        </p:nvSpPr>
        <p:spPr>
          <a:xfrm>
            <a:off x="0" y="6072206"/>
            <a:ext cx="2214546" cy="685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r>
              <a:rPr lang="tr-TR" sz="2600">
                <a:solidFill>
                  <a:srgbClr val="FFFFFF"/>
                </a:solidFill>
              </a:rPr>
              <a:t>YZM 1106</a:t>
            </a:r>
            <a:endParaRPr lang="tr-TR" sz="26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959880" cy="4614882"/>
          </a:xfrm>
        </p:spPr>
        <p:txBody>
          <a:bodyPr>
            <a:normAutofit lnSpcReduction="10000"/>
          </a:bodyPr>
          <a:lstStyle/>
          <a:p>
            <a:pPr>
              <a:buSzPct val="100000"/>
              <a:buFont typeface="Arial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Bellek ve Adresleme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İşaretçi Kavramı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Adresleme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İşaretçi Değişkenleri Bildirmek ve Değişkenlere Atama Yapmak</a:t>
            </a:r>
          </a:p>
          <a:p>
            <a:pPr lvl="1">
              <a:buSzPct val="100000"/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NULL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İşaretçiler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SzPct val="100000"/>
              <a:buFont typeface="Arial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İşaretçi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Zinciri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SzPct val="100000"/>
              <a:buFont typeface="Arial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İşaretçi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Aritmetiği</a:t>
            </a: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SzPct val="100000"/>
              <a:buFont typeface="Arial" pitchFamily="34" charset="0"/>
              <a:buChar char="•"/>
            </a:pPr>
            <a:r>
              <a:rPr lang="tr-TR" sz="2100" dirty="0">
                <a:latin typeface="Times New Roman" pitchFamily="18" charset="0"/>
                <a:cs typeface="Times New Roman" pitchFamily="18" charset="0"/>
              </a:rPr>
              <a:t>Değişken Adresinin Arttırılması</a:t>
            </a:r>
          </a:p>
          <a:p>
            <a:pPr lvl="2">
              <a:buSzPct val="100000"/>
              <a:buFont typeface="Arial" pitchFamily="34" charset="0"/>
              <a:buChar char="•"/>
            </a:pPr>
            <a:r>
              <a:rPr lang="tr-TR" sz="2100" dirty="0">
                <a:latin typeface="Times New Roman" pitchFamily="18" charset="0"/>
                <a:cs typeface="Times New Roman" pitchFamily="18" charset="0"/>
              </a:rPr>
              <a:t>Değişken Değerinin Arttırılması</a:t>
            </a:r>
          </a:p>
          <a:p>
            <a:pPr lvl="2">
              <a:buSzPct val="100000"/>
              <a:buFont typeface="Arial" pitchFamily="34" charset="0"/>
              <a:buChar char="•"/>
            </a:pPr>
            <a:r>
              <a:rPr lang="tr-TR" sz="2100" dirty="0">
                <a:latin typeface="Times New Roman" pitchFamily="18" charset="0"/>
                <a:cs typeface="Times New Roman" pitchFamily="18" charset="0"/>
              </a:rPr>
              <a:t>İşaretçi İşlemlerinde ++ ve – operatörlerinin kullanımı</a:t>
            </a:r>
          </a:p>
          <a:p>
            <a:pPr lvl="1">
              <a:buSzPct val="100000"/>
              <a:buFont typeface="Arial" pitchFamily="34" charset="0"/>
              <a:buChar char="•"/>
            </a:pPr>
            <a:endParaRPr lang="tr-TR" sz="2100" dirty="0">
              <a:latin typeface="Times New Roman" pitchFamily="18" charset="0"/>
              <a:cs typeface="Times New Roman" pitchFamily="18" charset="0"/>
            </a:endParaRPr>
          </a:p>
          <a:p>
            <a:pPr>
              <a:buSzPct val="100000"/>
              <a:buFont typeface="Arial" pitchFamily="34" charset="0"/>
              <a:buChar char="•"/>
            </a:pPr>
            <a:endParaRPr lang="tr-T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dirty="0">
                <a:latin typeface="Times New Roman" pitchFamily="18" charset="0"/>
                <a:cs typeface="Times New Roman" pitchFamily="18" charset="0"/>
              </a:rPr>
              <a:t>Genel Bakış…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198820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031318" cy="990600"/>
          </a:xfrm>
        </p:spPr>
        <p:txBody>
          <a:bodyPr/>
          <a:lstStyle/>
          <a:p>
            <a:pPr algn="ctr"/>
            <a:r>
              <a:rPr lang="tr-TR" dirty="0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3. BÖLÜM</a:t>
            </a:r>
            <a:endParaRPr lang="tr-TR" dirty="0">
              <a:solidFill>
                <a:srgbClr val="808000"/>
              </a:solidFill>
            </a:endParaRPr>
          </a:p>
        </p:txBody>
      </p:sp>
      <p:sp>
        <p:nvSpPr>
          <p:cNvPr id="4" name="2 İçerik Yer Tutucusu"/>
          <p:cNvSpPr>
            <a:spLocks noGrp="1"/>
          </p:cNvSpPr>
          <p:nvPr>
            <p:ph sz="quarter" idx="1"/>
          </p:nvPr>
        </p:nvSpPr>
        <p:spPr>
          <a:xfrm>
            <a:off x="107504" y="2714620"/>
            <a:ext cx="8928992" cy="147161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sz="4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İşaretçilere Giriş</a:t>
            </a: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272494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Bilgisayarın ana belleği (</a:t>
            </a: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RAM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) sıralı kaydetme </a:t>
            </a: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gözlerinden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oluşmuştur.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Her göze bir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adres atanmıştır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Bu adreslerin değerleri </a:t>
            </a:r>
            <a:r>
              <a:rPr lang="tr-TR" sz="28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0 ila 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belleğin </a:t>
            </a:r>
            <a:r>
              <a:rPr lang="tr-TR" sz="2800" u="sng" dirty="0">
                <a:latin typeface="Times New Roman" pitchFamily="18" charset="0"/>
                <a:cs typeface="Times New Roman" pitchFamily="18" charset="0"/>
              </a:rPr>
              <a:t>sahip olduğu üst değere 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bağlı olarak değişebilir.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Örneğin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1GB bir bellek,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 smtClean="0">
                <a:latin typeface="Times New Roman" pitchFamily="18" charset="0"/>
                <a:cs typeface="Times New Roman" pitchFamily="18" charset="0"/>
              </a:rPr>
              <a:t>1024*1024*1024(bayt) 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= 1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073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741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824 adet gözden oluşur. 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35143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Bir programlama dillinde, belli bir tipte değişken tanımlanıp ve bir değer atandığında, o değişkene dört temel özellik eşlik eder: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sz="2800" dirty="0">
              <a:latin typeface="Times New Roman" pitchFamily="18" charset="0"/>
              <a:cs typeface="Times New Roman" pitchFamily="18" charset="0"/>
            </a:endParaRPr>
          </a:p>
          <a:p>
            <a:pPr marL="834390" lvl="1" indent="-514350" algn="just">
              <a:buSzPct val="100000"/>
              <a:buFont typeface="+mj-lt"/>
              <a:buAutoNum type="arabicPeriod"/>
            </a:pPr>
            <a:r>
              <a:rPr lang="tr-TR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değişkenin adı</a:t>
            </a:r>
          </a:p>
          <a:p>
            <a:pPr marL="834390" lvl="1" indent="-514350" algn="just">
              <a:buSzPct val="100000"/>
              <a:buFont typeface="+mj-lt"/>
              <a:buAutoNum type="arabicPeriod"/>
            </a:pPr>
            <a:r>
              <a:rPr lang="tr-TR" sz="25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değişkenin tipi</a:t>
            </a:r>
          </a:p>
          <a:p>
            <a:pPr marL="834390" lvl="1" indent="-514350" algn="just">
              <a:buSzPct val="100000"/>
              <a:buFont typeface="+mj-lt"/>
              <a:buAutoNum type="arabicPeriod"/>
            </a:pPr>
            <a:r>
              <a:rPr lang="tr-TR" sz="2500" dirty="0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değişkenin sahip olduğu değer (içerik)</a:t>
            </a:r>
          </a:p>
          <a:p>
            <a:pPr marL="834390" lvl="1" indent="-514350" algn="just">
              <a:buSzPct val="100000"/>
              <a:buFont typeface="+mj-lt"/>
              <a:buAutoNum type="arabicPeriod"/>
            </a:pPr>
            <a:r>
              <a:rPr lang="tr-TR" sz="2500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değişkenin bellekteki adresi</a:t>
            </a:r>
            <a:endParaRPr lang="tr-TR" sz="2200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2563863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Değişken türlerinin bellekte kapladığı alanlar:</a:t>
            </a:r>
            <a:endParaRPr lang="tr-T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93" y="2259335"/>
            <a:ext cx="6393784" cy="33299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86" y="2348881"/>
            <a:ext cx="2100528" cy="194421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0672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</a:t>
            </a:r>
            <a:endParaRPr lang="tr-TR" sz="1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-317304" y="3140968"/>
            <a:ext cx="3665168" cy="1928424"/>
          </a:xfrm>
        </p:spPr>
        <p:txBody>
          <a:bodyPr>
            <a:normAutofit/>
          </a:bodyPr>
          <a:lstStyle/>
          <a:p>
            <a:pPr marL="594360" lvl="2" indent="0" algn="just">
              <a:buSzPct val="100000"/>
              <a:buNone/>
            </a:pPr>
            <a:r>
              <a:rPr lang="tr-TR" sz="20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yas = 25;</a:t>
            </a:r>
          </a:p>
          <a:p>
            <a:pPr marL="594360" lvl="2" indent="0" algn="just">
              <a:buSzPct val="100000"/>
              <a:buNone/>
            </a:pPr>
            <a:r>
              <a:rPr lang="tr-TR" sz="20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tr-TR" sz="20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boy = 1.72;</a:t>
            </a:r>
          </a:p>
          <a:p>
            <a:pPr marL="594360" lvl="2" indent="0" algn="just">
              <a:buSzPct val="100000"/>
              <a:buNone/>
            </a:pPr>
            <a:r>
              <a:rPr lang="tr-TR" sz="20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tr-TR" sz="20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kilo = 65.7;</a:t>
            </a:r>
          </a:p>
          <a:p>
            <a:pPr marL="594360" lvl="2" indent="0" algn="just">
              <a:buSzPct val="100000"/>
              <a:buNone/>
            </a:pPr>
            <a:r>
              <a:rPr lang="tr-TR" sz="20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tr-TR" sz="20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cins = ‘B’;</a:t>
            </a:r>
          </a:p>
          <a:p>
            <a:pPr marL="594360" lvl="2" indent="0" algn="just">
              <a:buSzPct val="100000"/>
              <a:buNone/>
            </a:pPr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94360" lvl="2" indent="0" algn="just">
              <a:buSzPct val="100000"/>
              <a:buNone/>
            </a:pPr>
            <a:endParaRPr lang="tr-T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639610"/>
              </p:ext>
            </p:extLst>
          </p:nvPr>
        </p:nvGraphicFramePr>
        <p:xfrm>
          <a:off x="3539361" y="2863224"/>
          <a:ext cx="2718767" cy="24570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06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3">
                <a:tc>
                  <a:txBody>
                    <a:bodyPr/>
                    <a:lstStyle/>
                    <a:p>
                      <a:pPr algn="ctr"/>
                      <a:r>
                        <a:rPr lang="tr-TR" b="0" dirty="0"/>
                        <a:t>yas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0" dirty="0"/>
                        <a:t>4 bayt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253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 bayt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253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kilo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 bayt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253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cins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‘B’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 bayt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92104" y="3747512"/>
            <a:ext cx="1331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000" b="1" dirty="0"/>
              <a:t>Bellek Adresleri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328" y="3283052"/>
            <a:ext cx="77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5404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328" y="3877318"/>
            <a:ext cx="77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5408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328" y="4486824"/>
            <a:ext cx="77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5412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328" y="5096330"/>
            <a:ext cx="77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5413</a:t>
            </a:r>
          </a:p>
        </p:txBody>
      </p:sp>
      <p:sp>
        <p:nvSpPr>
          <p:cNvPr id="8" name="Right Brace 7"/>
          <p:cNvSpPr/>
          <p:nvPr/>
        </p:nvSpPr>
        <p:spPr>
          <a:xfrm>
            <a:off x="7408440" y="2787332"/>
            <a:ext cx="505825" cy="267833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6383168" y="2708920"/>
            <a:ext cx="77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5400</a:t>
            </a:r>
          </a:p>
        </p:txBody>
      </p:sp>
    </p:spTree>
    <p:extLst>
      <p:ext uri="{BB962C8B-B14F-4D97-AF65-F5344CB8AC3E}">
        <p14:creationId xmlns:p14="http://schemas.microsoft.com/office/powerpoint/2010/main" val="331600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1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 lnSpcReduction="1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Atama deyimlerine göre hücrelerin adreslere yerleşimi otomatik olarak gerçekleşir.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7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yas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700" dirty="0" smtClean="0">
                <a:latin typeface="Times New Roman" pitchFamily="18" charset="0"/>
                <a:cs typeface="Times New Roman" pitchFamily="18" charset="0"/>
              </a:rPr>
              <a:t>değişkeni(int=4 bayt) 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5400, 5401, 5402, 5403 adreslerini kapsadığından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7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boy</a:t>
            </a:r>
            <a:r>
              <a:rPr lang="tr-TR" sz="27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değişkeni 5404 adresinden başlar ve sırasıyla 5405, 5406 ve 5407 adreslerini işgal eder.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7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kilo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değişkeni bu nedenle 5408  adresinden başlar ve 5409, 5410, 5411 adreslerini kapsar.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7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cins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700" dirty="0" smtClean="0">
                <a:latin typeface="Times New Roman" pitchFamily="18" charset="0"/>
                <a:cs typeface="Times New Roman" pitchFamily="18" charset="0"/>
              </a:rPr>
              <a:t>değişkeni(char=1 bayt) 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ise 5412 adresini tutar.</a:t>
            </a:r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859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423848" cy="990600"/>
          </a:xfrm>
        </p:spPr>
        <p:txBody>
          <a:bodyPr vert="horz" anchor="ctr"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1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Örnekte belirtilen kod bloğundaki değişkenler bilgisayar tarafından belirli bir adreste saklanır. Bu yönteme </a:t>
            </a:r>
            <a:r>
              <a:rPr lang="tr-TR" sz="30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implicit</a:t>
            </a:r>
            <a:r>
              <a:rPr lang="tr-TR" sz="3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(örtük)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 adresleme denir.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İşaretçi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 değişken kullanılarak, işaretçilere verilerin bellekte saklandığı bellek hücrelerinin başlangıç adresleri atanır. Bu yönteme ise </a:t>
            </a:r>
            <a:r>
              <a:rPr lang="tr-TR" sz="30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explicit</a:t>
            </a:r>
            <a:r>
              <a:rPr lang="tr-TR" sz="3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(açık) 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adresleme denir.</a:t>
            </a:r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094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</a:t>
            </a:r>
            <a:r>
              <a:rPr lang="tr-TR" sz="2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SzPct val="100000"/>
              <a:buNone/>
            </a:pPr>
            <a:r>
              <a:rPr lang="tr-TR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tr-TR" sz="22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2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tam = 33;</a:t>
            </a:r>
          </a:p>
          <a:p>
            <a:pPr marL="0" indent="0" algn="just">
              <a:buSzPct val="100000"/>
              <a:buNone/>
            </a:pP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Bu değişken için, </a:t>
            </a:r>
            <a:r>
              <a:rPr lang="tr-TR" sz="280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tipinde bellekte (</a:t>
            </a:r>
            <a:r>
              <a:rPr lang="tr-TR" sz="2800" i="1" dirty="0">
                <a:latin typeface="Times New Roman" pitchFamily="18" charset="0"/>
                <a:cs typeface="Times New Roman" pitchFamily="18" charset="0"/>
              </a:rPr>
              <a:t>genellikle </a:t>
            </a:r>
            <a:r>
              <a:rPr lang="tr-TR" sz="2800" i="1" dirty="0" err="1">
                <a:latin typeface="Times New Roman" pitchFamily="18" charset="0"/>
                <a:cs typeface="Times New Roman" pitchFamily="18" charset="0"/>
              </a:rPr>
              <a:t>herbiri</a:t>
            </a:r>
            <a:r>
              <a:rPr lang="tr-TR" sz="2800" i="1" dirty="0">
                <a:latin typeface="Times New Roman" pitchFamily="18" charset="0"/>
                <a:cs typeface="Times New Roman" pitchFamily="18" charset="0"/>
              </a:rPr>
              <a:t> 1 bayt olan 4 bayt büyüklüğünde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) bir hücre ayrılır ve o hücreye </a:t>
            </a: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33 sayısı 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ikilik (</a:t>
            </a:r>
            <a:r>
              <a:rPr lang="tr-TR" sz="2800" dirty="0" err="1">
                <a:latin typeface="Times New Roman" pitchFamily="18" charset="0"/>
                <a:cs typeface="Times New Roman" pitchFamily="18" charset="0"/>
              </a:rPr>
              <a:t>binary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) sayı sitemindeki karşılığı olan 4 baytlık (32 bitlik) karşılığı aşağıdaki gibi yazılır.</a:t>
            </a:r>
          </a:p>
          <a:p>
            <a:pPr marL="0" indent="0" algn="just">
              <a:buSzPct val="100000"/>
              <a:buNone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tr-TR" sz="2400" dirty="0">
                <a:latin typeface="Times New Roman" panose="02020603050405020304" pitchFamily="18" charset="0"/>
                <a:cs typeface="Times New Roman" pitchFamily="18" charset="0"/>
              </a:rPr>
              <a:t>00000000 00000000 00000000 00100001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3190465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 fontScale="925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</a:t>
            </a:r>
            <a:r>
              <a:rPr lang="tr-TR" sz="2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SzPct val="100000"/>
              <a:buNone/>
            </a:pPr>
            <a:r>
              <a:rPr lang="tr-TR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tr-TR" sz="22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2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tam = 33;</a:t>
            </a:r>
          </a:p>
          <a:p>
            <a:pPr marL="0" indent="0" algn="just">
              <a:buSzPct val="100000"/>
              <a:buNone/>
            </a:pP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SzPct val="100000"/>
              <a:buNone/>
            </a:pP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SzPct val="100000"/>
              <a:buNone/>
            </a:pP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SzPct val="100000"/>
              <a:buNone/>
            </a:pP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Bellek adresleri genellikle onaltılık (</a:t>
            </a:r>
            <a:r>
              <a:rPr lang="tr-TR" sz="2400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hexadecimal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sayı sisteminde ifade edilir.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0x3fffd14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sayısı onluk (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sayı sisteminde </a:t>
            </a:r>
            <a:r>
              <a:rPr lang="tr-TR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67108116</a:t>
            </a:r>
            <a:r>
              <a:rPr lang="tr-TR" sz="2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sayına karşılık gelir. Bunun anlamı, </a:t>
            </a:r>
            <a:r>
              <a:rPr lang="tr-TR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değişkeni, program çalıştığı sürece, bellekte </a:t>
            </a:r>
            <a:r>
              <a:rPr lang="tr-TR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67108116. - 67108120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numaralı gözler arasındaki </a:t>
            </a:r>
            <a:r>
              <a:rPr lang="tr-TR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baytlık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hücreyi işgal edecek olmasıdır.</a:t>
            </a:r>
          </a:p>
          <a:p>
            <a:pPr marL="0" indent="0" algn="just">
              <a:buSzPct val="100000"/>
              <a:buNone/>
            </a:pP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40" y="1656509"/>
            <a:ext cx="3926403" cy="207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29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tam</a:t>
            </a:r>
            <a:r>
              <a:rPr lang="tr-TR" sz="2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adlı değişkenin bellekteki gerçek konumu ve ikilik düzendeki içeriği aşağıdaki gibidir:</a:t>
            </a:r>
          </a:p>
          <a:p>
            <a:pPr marL="0" indent="0" algn="just">
              <a:buSzPct val="100000"/>
              <a:buNone/>
            </a:pP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7" y="2636912"/>
            <a:ext cx="3973246" cy="401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69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Değişkenin saklı olduğu adres, </a:t>
            </a:r>
            <a:r>
              <a:rPr lang="tr-TR" sz="2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karakteri ile tanımlı adres operatörü ile öğrenilebilir.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Bu operatör </a:t>
            </a:r>
            <a:r>
              <a:rPr lang="tr-TR" sz="2600" u="sng" dirty="0">
                <a:latin typeface="Times New Roman" pitchFamily="18" charset="0"/>
                <a:cs typeface="Times New Roman" pitchFamily="18" charset="0"/>
              </a:rPr>
              <a:t>bir değişkenin önüne konursa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, o değişkenin </a:t>
            </a:r>
            <a:r>
              <a:rPr lang="tr-TR" sz="26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içeriği ile değil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u="sng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adresi ile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ilgileniliyor anlamına gelir. </a:t>
            </a:r>
          </a:p>
          <a:p>
            <a:pPr marL="0" indent="0" algn="just">
              <a:buSzPct val="100000"/>
              <a:buNone/>
            </a:pP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1418606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Bellek ve Adresleme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844824"/>
            <a:ext cx="5151472" cy="27573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014" y="4976175"/>
            <a:ext cx="2146883" cy="5031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99464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(</a:t>
            </a:r>
            <a:r>
              <a:rPr lang="tr-T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Pointer</a:t>
            </a:r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Kavramı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C dili, </a:t>
            </a:r>
            <a:r>
              <a:rPr lang="tr-TR" sz="2800" u="sng" dirty="0">
                <a:latin typeface="Times New Roman" pitchFamily="18" charset="0"/>
                <a:cs typeface="Times New Roman" pitchFamily="18" charset="0"/>
              </a:rPr>
              <a:t>bir değişkenin adresinin bir başka değişkende saklanmasına izin verir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. Bu değişkene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işaretçi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denir.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İşaretçi denmesinin sebebi </a:t>
            </a:r>
            <a:r>
              <a:rPr lang="tr-TR" sz="28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ilgili değişkenin adresini işaret etmesinden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yani </a:t>
            </a:r>
            <a:r>
              <a:rPr lang="tr-TR" sz="28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göstermesinden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kaynaklanır.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Diğer bir deyişle </a:t>
            </a:r>
            <a:r>
              <a:rPr lang="tr-TR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işaretçi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bir değişkenin adresini içeren </a:t>
            </a:r>
            <a:r>
              <a:rPr lang="tr-T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başka bir değişkendir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723682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İşaretçiler, C’nin yönetilmesi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 zor yetenekleri arasındadır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Programların </a:t>
            </a:r>
            <a:r>
              <a:rPr lang="tr-TR" sz="28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referansa göre çağırma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yapmasını sağlarlar.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İşaretçiler sayesinde; Bağlı listeler (</a:t>
            </a:r>
            <a:r>
              <a:rPr lang="tr-TR" sz="28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Linked</a:t>
            </a: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List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), Sıralar (</a:t>
            </a: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Queue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), Yığınlar (</a:t>
            </a:r>
            <a:r>
              <a:rPr lang="tr-TR" sz="28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) ve Ağaçlar (</a:t>
            </a:r>
            <a:r>
              <a:rPr lang="tr-TR" sz="28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) gibi büyüyüp küçülebilen dinamik veri yapılarının </a:t>
            </a:r>
            <a:r>
              <a:rPr lang="tr-TR" sz="28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oluşturulması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yönetilmesi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sağlanır.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(</a:t>
            </a:r>
            <a:r>
              <a:rPr lang="tr-T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Pointer</a:t>
            </a:r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Kavramı </a:t>
            </a:r>
            <a:r>
              <a:rPr lang="tr-TR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</p:spTree>
    <p:extLst>
      <p:ext uri="{BB962C8B-B14F-4D97-AF65-F5344CB8AC3E}">
        <p14:creationId xmlns:p14="http://schemas.microsoft.com/office/powerpoint/2010/main" val="3400505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(</a:t>
            </a:r>
            <a:r>
              <a:rPr lang="tr-T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Pointer</a:t>
            </a:r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Kavramı </a:t>
            </a:r>
            <a:r>
              <a:rPr lang="tr-TR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 fontScale="92500" lnSpcReduction="2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Bir işaretçi, diğer değişkenler gibi, </a:t>
            </a:r>
            <a:r>
              <a:rPr lang="tr-TR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sayısal bir değişkendir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Bu sebeple kullanılmadan önce program içinde bildirilmelidir. İşaretçi tipindeki değişkenler aşağıdaki gibi tanımlanır: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SzPct val="100000"/>
              <a:buNone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tr-TR" sz="27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tip_adı</a:t>
            </a:r>
            <a:r>
              <a:rPr lang="tr-TR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tr-TR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isaretci_adı</a:t>
            </a:r>
            <a:r>
              <a:rPr lang="tr-TR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sz="27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Burada </a:t>
            </a:r>
            <a:r>
              <a:rPr lang="tr-TR" sz="27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tip_adı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herhangi bir C veri türü olabilir. Değişkenin önündeki </a:t>
            </a:r>
            <a:r>
              <a:rPr lang="tr-TR" sz="2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karakteri </a:t>
            </a:r>
            <a:r>
              <a:rPr lang="tr-TR" sz="27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yönlendirme (</a:t>
            </a:r>
            <a:r>
              <a:rPr lang="tr-TR" sz="270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indirection</a:t>
            </a:r>
            <a:r>
              <a:rPr lang="tr-TR" sz="27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) operatörü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olarak adlandırılır ve bu değişkenin </a:t>
            </a:r>
            <a:r>
              <a:rPr lang="tr-TR" sz="2700" b="1" u="sng" dirty="0">
                <a:latin typeface="Times New Roman" pitchFamily="18" charset="0"/>
                <a:cs typeface="Times New Roman" pitchFamily="18" charset="0"/>
              </a:rPr>
              <a:t>veri değil</a:t>
            </a:r>
            <a:r>
              <a:rPr lang="tr-TR" sz="27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7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bir adres bilgisi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tutacağını işaret eder.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3368364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(</a:t>
            </a:r>
            <a:r>
              <a:rPr lang="tr-T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Pointer</a:t>
            </a:r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Kavramı </a:t>
            </a:r>
            <a:r>
              <a:rPr lang="tr-TR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8279832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</a:p>
          <a:p>
            <a:pPr marL="0" indent="0" algn="just">
              <a:buSzPct val="100000"/>
              <a:buNone/>
            </a:pPr>
            <a:r>
              <a:rPr lang="tr-TR" sz="22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char</a:t>
            </a:r>
            <a:r>
              <a:rPr lang="tr-TR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200" dirty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tr-TR" sz="2200" dirty="0" err="1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tr-TR" sz="2200" dirty="0">
                <a:latin typeface="Times New Roman" pitchFamily="18" charset="0"/>
                <a:cs typeface="Times New Roman" pitchFamily="18" charset="0"/>
              </a:rPr>
              <a:t>;                   </a:t>
            </a:r>
            <a:r>
              <a:rPr lang="tr-TR" sz="2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/* tek bir karakter için */</a:t>
            </a:r>
          </a:p>
          <a:p>
            <a:pPr marL="0" indent="0" algn="just">
              <a:buSzPct val="100000"/>
              <a:buNone/>
            </a:pPr>
            <a:r>
              <a:rPr lang="tr-TR" sz="22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tr-TR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200" dirty="0">
                <a:latin typeface="Times New Roman" pitchFamily="18" charset="0"/>
                <a:cs typeface="Times New Roman" pitchFamily="18" charset="0"/>
              </a:rPr>
              <a:t>  *x;             	</a:t>
            </a:r>
            <a:r>
              <a:rPr lang="tr-TR" sz="2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/* bir tamsayı için */</a:t>
            </a:r>
          </a:p>
          <a:p>
            <a:pPr marL="0" indent="0" algn="just">
              <a:buSzPct val="100000"/>
              <a:buNone/>
            </a:pPr>
            <a:r>
              <a:rPr lang="tr-TR" sz="22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tr-TR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2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tr-TR" sz="2200" dirty="0" err="1">
                <a:latin typeface="Times New Roman" pitchFamily="18" charset="0"/>
                <a:cs typeface="Times New Roman" pitchFamily="18" charset="0"/>
              </a:rPr>
              <a:t>deger</a:t>
            </a:r>
            <a:r>
              <a:rPr lang="tr-TR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200" dirty="0" err="1">
                <a:latin typeface="Times New Roman" pitchFamily="18" charset="0"/>
                <a:cs typeface="Times New Roman" pitchFamily="18" charset="0"/>
              </a:rPr>
              <a:t>sonuc</a:t>
            </a:r>
            <a:r>
              <a:rPr lang="tr-TR" sz="2200" dirty="0">
                <a:latin typeface="Times New Roman" pitchFamily="18" charset="0"/>
                <a:cs typeface="Times New Roman" pitchFamily="18" charset="0"/>
              </a:rPr>
              <a:t>;   </a:t>
            </a:r>
            <a:r>
              <a:rPr lang="tr-TR" sz="2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/* </a:t>
            </a:r>
            <a:r>
              <a:rPr lang="tr-TR" sz="2200" dirty="0" err="1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deger</a:t>
            </a:r>
            <a:r>
              <a:rPr lang="tr-TR" sz="2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işaretçi tipinde, </a:t>
            </a:r>
            <a:r>
              <a:rPr lang="tr-TR" sz="2200" dirty="0" err="1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sonuc</a:t>
            </a:r>
            <a:r>
              <a:rPr lang="tr-TR" sz="2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sıradan bir </a:t>
            </a:r>
            <a:r>
              <a:rPr lang="tr-TR" sz="2200" dirty="0" err="1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gerçel</a:t>
            </a:r>
            <a:r>
              <a:rPr lang="tr-TR" sz="2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		          değişken */</a:t>
            </a:r>
          </a:p>
          <a:p>
            <a:pPr marL="0" indent="0" algn="just">
              <a:buSzPct val="100000"/>
              <a:buNone/>
            </a:pPr>
            <a:endParaRPr lang="tr-TR" sz="27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SzPct val="100000"/>
              <a:buNone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Yukarıda bildirilen işaretçilerden; </a:t>
            </a:r>
            <a:r>
              <a:rPr lang="tr-TR" sz="2700" b="1" dirty="0" err="1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bir karakterin, </a:t>
            </a:r>
            <a:r>
              <a:rPr lang="tr-TR" sz="27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bir tamsayının ve </a:t>
            </a:r>
            <a:r>
              <a:rPr lang="tr-TR" sz="2700" b="1" dirty="0" err="1">
                <a:latin typeface="Times New Roman" pitchFamily="18" charset="0"/>
                <a:cs typeface="Times New Roman" pitchFamily="18" charset="0"/>
              </a:rPr>
              <a:t>deger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bir </a:t>
            </a:r>
            <a:r>
              <a:rPr lang="tr-TR" sz="2700" dirty="0" err="1">
                <a:latin typeface="Times New Roman" pitchFamily="18" charset="0"/>
                <a:cs typeface="Times New Roman" pitchFamily="18" charset="0"/>
              </a:rPr>
              <a:t>gerçel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sayının bellekte saklı olduğu yerlerin adreslerini tutar.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3213748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(</a:t>
            </a:r>
            <a:r>
              <a:rPr lang="tr-TR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Pointer</a:t>
            </a:r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 Kavramı </a:t>
            </a:r>
            <a:r>
              <a:rPr lang="tr-TR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515496" y="4387223"/>
            <a:ext cx="5064616" cy="1860984"/>
          </a:xfrm>
        </p:spPr>
        <p:txBody>
          <a:bodyPr>
            <a:normAutofit lnSpcReduction="10000"/>
          </a:bodyPr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pl-PL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</a:t>
            </a:r>
            <a:r>
              <a:rPr lang="tr-T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işaretçiye</a:t>
            </a:r>
            <a:r>
              <a:rPr lang="pl-PL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bir değişkenin adresini atamak için </a:t>
            </a:r>
            <a:r>
              <a:rPr lang="tr-TR" sz="23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(</a:t>
            </a:r>
            <a:r>
              <a:rPr lang="pl-PL" sz="23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</a:t>
            </a:r>
            <a:r>
              <a:rPr lang="tr-TR" sz="23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l-PL" sz="23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operatörünü kullan</a:t>
            </a:r>
            <a:r>
              <a:rPr lang="tr-T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ırız</a:t>
            </a:r>
            <a:r>
              <a:rPr lang="tr-T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tr-TR" sz="23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ptam</a:t>
            </a:r>
            <a:r>
              <a:rPr lang="tr-T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işaretçisi </a:t>
            </a:r>
            <a:r>
              <a:rPr lang="tr-TR" sz="23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</a:t>
            </a:r>
            <a:r>
              <a:rPr lang="tr-TR" sz="23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değişkeninin saklandığı </a:t>
            </a:r>
            <a:r>
              <a:rPr lang="tr-TR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adresi</a:t>
            </a:r>
            <a:r>
              <a:rPr lang="tr-T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tutacaktır.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718179"/>
            <a:ext cx="3975106" cy="2222640"/>
          </a:xfrm>
          <a:prstGeom prst="rect">
            <a:avLst/>
          </a:prstGeom>
        </p:spPr>
      </p:pic>
      <p:sp>
        <p:nvSpPr>
          <p:cNvPr id="9" name="4 İçerik Yer Tutucusu"/>
          <p:cNvSpPr txBox="1">
            <a:spLocks/>
          </p:cNvSpPr>
          <p:nvPr/>
        </p:nvSpPr>
        <p:spPr>
          <a:xfrm>
            <a:off x="395536" y="1781200"/>
            <a:ext cx="4103368" cy="237626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SzPct val="100000"/>
              <a:buFont typeface="Wingdings"/>
              <a:buNone/>
            </a:pPr>
            <a:r>
              <a:rPr lang="pl-PL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int *ptam, tam = 33;</a:t>
            </a:r>
          </a:p>
          <a:p>
            <a:pPr marL="0" indent="0" algn="just">
              <a:buSzPct val="100000"/>
              <a:buFont typeface="Wingdings"/>
              <a:buNone/>
            </a:pPr>
            <a:r>
              <a:rPr lang="pl-PL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.</a:t>
            </a:r>
          </a:p>
          <a:p>
            <a:pPr marL="0" indent="0" algn="just">
              <a:buSzPct val="100000"/>
              <a:buFont typeface="Wingdings"/>
              <a:buNone/>
            </a:pPr>
            <a:r>
              <a:rPr lang="pl-PL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.</a:t>
            </a:r>
          </a:p>
          <a:p>
            <a:pPr marL="0" indent="0" algn="just">
              <a:buSzPct val="100000"/>
              <a:buFont typeface="Wingdings"/>
              <a:buNone/>
            </a:pPr>
            <a:r>
              <a:rPr lang="pl-PL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.</a:t>
            </a:r>
          </a:p>
          <a:p>
            <a:pPr marL="0" indent="0" algn="just">
              <a:buSzPct val="100000"/>
              <a:buFont typeface="Wingdings"/>
              <a:buNone/>
            </a:pPr>
            <a:r>
              <a:rPr lang="pl-PL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ptam = &amp;tam;</a:t>
            </a:r>
            <a:endParaRPr lang="tr-TR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32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Gösterimi </a:t>
            </a:r>
            <a:endParaRPr lang="tr-TR" sz="1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20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48" y="1988840"/>
            <a:ext cx="5671944" cy="37481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979" y="2132856"/>
            <a:ext cx="4277325" cy="93436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0936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1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1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Gösterimi ve Değer Değiştirme </a:t>
            </a:r>
            <a:endParaRPr lang="tr-TR" sz="31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21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64824"/>
            <a:ext cx="4538464" cy="50093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2852936"/>
            <a:ext cx="2427613" cy="208295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6268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tr-TR" sz="31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1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Gösterimi ve Değer Değiştirme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(devam..)</a:t>
            </a:r>
            <a:r>
              <a:rPr lang="tr-TR" sz="31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tr-TR" sz="31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22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 lnSpcReduction="1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tam</a:t>
            </a:r>
            <a:r>
              <a:rPr lang="tr-TR" sz="27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adlı değişkenin içeriğine </a:t>
            </a:r>
            <a:r>
              <a:rPr lang="tr-TR" sz="27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ptam</a:t>
            </a:r>
            <a:r>
              <a:rPr lang="tr-TR" sz="27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işaretçisi kullanılarak da erişilebilir.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Bunun için program içinde </a:t>
            </a:r>
            <a:r>
              <a:rPr lang="tr-TR" sz="27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ptam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değişkeninin önüne yönlendirme operatörü (</a:t>
            </a:r>
            <a:r>
              <a:rPr lang="tr-TR" sz="27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) koyulmuştur.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Yani </a:t>
            </a:r>
            <a:r>
              <a:rPr lang="tr-TR" sz="27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tr-TR" sz="27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ptam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7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tam</a:t>
            </a:r>
            <a:r>
              <a:rPr lang="tr-TR" sz="27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değişkeninin adresini değil içeriğini tutar. Buna göre:</a:t>
            </a:r>
          </a:p>
          <a:p>
            <a:pPr marL="0" indent="0" algn="just">
              <a:buSzPct val="100000"/>
              <a:buNone/>
            </a:pPr>
            <a:endParaRPr lang="tr-TR" sz="27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SzPct val="100000"/>
              <a:buNone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	          </a:t>
            </a:r>
            <a:r>
              <a:rPr lang="tr-TR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tr-TR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ptam</a:t>
            </a:r>
            <a:r>
              <a:rPr lang="tr-TR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= 44;</a:t>
            </a:r>
          </a:p>
          <a:p>
            <a:pPr marL="0" indent="0" algn="just">
              <a:buSzPct val="100000"/>
              <a:buNone/>
            </a:pPr>
            <a:endParaRPr lang="tr-TR" sz="27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komutuyla, </a:t>
            </a:r>
            <a:r>
              <a:rPr lang="tr-TR" sz="27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ptam'ın</a:t>
            </a: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 adresini tuttuğu hücreye 44 değeri atanır.</a:t>
            </a:r>
          </a:p>
        </p:txBody>
      </p:sp>
    </p:spTree>
    <p:extLst>
      <p:ext uri="{BB962C8B-B14F-4D97-AF65-F5344CB8AC3E}">
        <p14:creationId xmlns:p14="http://schemas.microsoft.com/office/powerpoint/2010/main" val="2890068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tr-TR" sz="31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1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Gösterimi ve Değer Değiştirme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(devam..)</a:t>
            </a:r>
            <a:r>
              <a:rPr lang="tr-TR" sz="31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tr-TR" sz="31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23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u="sng" dirty="0">
                <a:latin typeface="Times New Roman" pitchFamily="18" charset="0"/>
                <a:cs typeface="Times New Roman" pitchFamily="18" charset="0"/>
              </a:rPr>
              <a:t>Özetle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tr-TR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ptam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tr-T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tam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tam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adlı değişkenin içeriği ile ilgilidir.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ptam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tr-T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&amp;tam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tam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adlı değişkenin adresi ile ilgilidir.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yönlendirme ve </a:t>
            </a:r>
            <a:r>
              <a:rPr lang="tr-T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&amp; (adres) 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operatörüdür.</a:t>
            </a:r>
          </a:p>
        </p:txBody>
      </p:sp>
    </p:spTree>
    <p:extLst>
      <p:ext uri="{BB962C8B-B14F-4D97-AF65-F5344CB8AC3E}">
        <p14:creationId xmlns:p14="http://schemas.microsoft.com/office/powerpoint/2010/main" val="3630399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NULL </a:t>
            </a:r>
            <a:r>
              <a:rPr lang="en-US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</a:t>
            </a:r>
            <a:endParaRPr lang="tr-TR" sz="3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24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NULL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işaretçiler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C’de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birçok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kütüphanede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sıklıkla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kullanılırlar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Amaç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işaretçiye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herhangi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değer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atanmadığının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kontrol</a:t>
            </a:r>
            <a:r>
              <a:rPr lang="en-US" sz="30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edilebilmesine</a:t>
            </a:r>
            <a:r>
              <a:rPr lang="en-US" sz="30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olanak</a:t>
            </a:r>
            <a:r>
              <a:rPr lang="en-US" sz="30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sağlamaktır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NULL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işaretçi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sabittir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hemen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hemen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tüm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dillerde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sz="2800" b="1" dirty="0" err="1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değerine</a:t>
            </a:r>
            <a:r>
              <a:rPr lang="en-US" sz="2800" b="1" dirty="0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sahiptir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SzPct val="100000"/>
              <a:buNone/>
            </a:pPr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40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NULL </a:t>
            </a:r>
            <a:r>
              <a:rPr lang="en-US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</a:t>
            </a:r>
            <a:r>
              <a:rPr lang="en-US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9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devam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…)</a:t>
            </a:r>
            <a:endParaRPr lang="tr-TR" sz="19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25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700808"/>
            <a:ext cx="6075188" cy="311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013176"/>
            <a:ext cx="3471814" cy="720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607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26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Tüm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işletim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sistemlerinde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adrese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erişim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yasaklanmıştır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adres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000" u="sng" dirty="0" err="1">
                <a:latin typeface="Times New Roman" pitchFamily="18" charset="0"/>
                <a:cs typeface="Times New Roman" pitchFamily="18" charset="0"/>
              </a:rPr>
              <a:t>işletim</a:t>
            </a:r>
            <a:r>
              <a:rPr lang="en-US" sz="30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u="sng" dirty="0" err="1">
                <a:latin typeface="Times New Roman" pitchFamily="18" charset="0"/>
                <a:cs typeface="Times New Roman" pitchFamily="18" charset="0"/>
              </a:rPr>
              <a:t>sistemi</a:t>
            </a:r>
            <a:r>
              <a:rPr lang="en-US" sz="30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u="sng" dirty="0" err="1">
                <a:latin typeface="Times New Roman" pitchFamily="18" charset="0"/>
                <a:cs typeface="Times New Roman" pitchFamily="18" charset="0"/>
              </a:rPr>
              <a:t>tarafından</a:t>
            </a:r>
            <a:r>
              <a:rPr lang="en-US" sz="30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u="sng" dirty="0" err="1">
                <a:latin typeface="Times New Roman" pitchFamily="18" charset="0"/>
                <a:cs typeface="Times New Roman" pitchFamily="18" charset="0"/>
              </a:rPr>
              <a:t>kullanılır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NULL </a:t>
            </a:r>
            <a:r>
              <a:rPr lang="en-US" sz="3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işaretçinin</a:t>
            </a:r>
            <a:r>
              <a:rPr lang="en-US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adresinin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sz="300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olmasının</a:t>
            </a:r>
            <a:r>
              <a:rPr lang="en-US" sz="30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sebebi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işaretçinin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herhangi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 err="1">
                <a:latin typeface="Times New Roman" pitchFamily="18" charset="0"/>
                <a:cs typeface="Times New Roman" pitchFamily="18" charset="0"/>
              </a:rPr>
              <a:t>adresi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 err="1">
                <a:latin typeface="Times New Roman" pitchFamily="18" charset="0"/>
                <a:cs typeface="Times New Roman" pitchFamily="18" charset="0"/>
              </a:rPr>
              <a:t>göstermediğini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ifade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etmektir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SzPct val="100000"/>
              <a:buNone/>
            </a:pPr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NULL </a:t>
            </a:r>
            <a:r>
              <a:rPr lang="en-US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</a:t>
            </a:r>
            <a:r>
              <a:rPr lang="en-US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9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devam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…)</a:t>
            </a:r>
            <a:endParaRPr lang="tr-TR" sz="19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139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27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NULL İşaretçi </a:t>
            </a:r>
            <a:r>
              <a:rPr lang="tr-T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12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9"/>
            <a:ext cx="8531352" cy="4824537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NULL;   </a:t>
            </a:r>
            <a:r>
              <a:rPr lang="tr-TR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tr-TR" sz="2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tr-TR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bellekte hiç bir hücreyi göstermiyor </a:t>
            </a:r>
            <a:r>
              <a:rPr 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 </a:t>
            </a:r>
            <a:r>
              <a:rPr lang="en-US" sz="2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adresi</a:t>
            </a:r>
            <a:r>
              <a:rPr 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tr-TR" sz="22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lang="tr-T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 = 8 	 </a:t>
            </a:r>
            <a:r>
              <a:rPr lang="tr-TR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HATA</a:t>
            </a:r>
            <a:r>
              <a:rPr lang="tr-TR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NULL işaretçisinin gösterdiği yere bir değer 		   </a:t>
            </a:r>
            <a:r>
              <a:rPr 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atanamaz</a:t>
            </a:r>
            <a:r>
              <a:rPr 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Önceki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örnekte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deneyelim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programı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   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çökertelim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tr-TR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4145950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</a:t>
            </a:r>
            <a:r>
              <a:rPr lang="en-US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Zinciri</a:t>
            </a:r>
            <a:endParaRPr lang="tr-TR" sz="3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28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Genelde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işaretçi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değişkenin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adresini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gösterir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Ancak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u="sng" dirty="0" err="1"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000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u="sng" dirty="0" err="1">
                <a:latin typeface="Times New Roman" pitchFamily="18" charset="0"/>
                <a:cs typeface="Times New Roman" pitchFamily="18" charset="0"/>
              </a:rPr>
              <a:t>işaretçiye</a:t>
            </a:r>
            <a:r>
              <a:rPr lang="en-US" sz="3000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u="sng" dirty="0" err="1">
                <a:latin typeface="Times New Roman" pitchFamily="18" charset="0"/>
                <a:cs typeface="Times New Roman" pitchFamily="18" charset="0"/>
              </a:rPr>
              <a:t>işaret</a:t>
            </a:r>
            <a:r>
              <a:rPr lang="en-US" sz="3000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u="sng" dirty="0" err="1">
                <a:latin typeface="Times New Roman" pitchFamily="18" charset="0"/>
                <a:cs typeface="Times New Roman" pitchFamily="18" charset="0"/>
              </a:rPr>
              <a:t>eden</a:t>
            </a:r>
            <a:r>
              <a:rPr lang="en-US" sz="3000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u="sng" dirty="0" err="1">
                <a:latin typeface="Times New Roman" pitchFamily="18" charset="0"/>
                <a:cs typeface="Times New Roman" pitchFamily="18" charset="0"/>
              </a:rPr>
              <a:t>başka</a:t>
            </a:r>
            <a:r>
              <a:rPr lang="en-US" sz="3000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u="sng" dirty="0" err="1"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3000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u="sng" dirty="0" err="1">
                <a:latin typeface="Times New Roman" pitchFamily="18" charset="0"/>
                <a:cs typeface="Times New Roman" pitchFamily="18" charset="0"/>
              </a:rPr>
              <a:t>işaretçi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tanımlanabilir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duruma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işaretçi</a:t>
            </a: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zinciri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denir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Tanım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aşağıdaki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gibi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yapılır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SzPct val="100000"/>
              <a:buNone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pp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723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</a:t>
            </a:r>
            <a:r>
              <a:rPr lang="en-US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Zinciri</a:t>
            </a:r>
            <a:r>
              <a:rPr lang="en-US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9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devam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…)</a:t>
            </a:r>
            <a:endParaRPr lang="tr-TR" sz="19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29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4" name="Dikdörtgen 3"/>
          <p:cNvSpPr/>
          <p:nvPr/>
        </p:nvSpPr>
        <p:spPr>
          <a:xfrm>
            <a:off x="708914" y="2450505"/>
            <a:ext cx="189352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Adres</a:t>
            </a:r>
            <a:endParaRPr lang="tr-TR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3589234" y="2450505"/>
            <a:ext cx="189352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Adres</a:t>
            </a:r>
            <a:endParaRPr lang="tr-TR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ikdörtgen 9"/>
          <p:cNvSpPr/>
          <p:nvPr/>
        </p:nvSpPr>
        <p:spPr>
          <a:xfrm>
            <a:off x="6494900" y="2450505"/>
            <a:ext cx="189352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Değer</a:t>
            </a:r>
            <a:endParaRPr lang="tr-TR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Düz Ok Bağlayıcısı 10"/>
          <p:cNvCxnSpPr>
            <a:stCxn id="4" idx="3"/>
            <a:endCxn id="9" idx="1"/>
          </p:cNvCxnSpPr>
          <p:nvPr/>
        </p:nvCxnSpPr>
        <p:spPr>
          <a:xfrm>
            <a:off x="2602438" y="2918557"/>
            <a:ext cx="98679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Düz Ok Bağlayıcısı 11"/>
          <p:cNvCxnSpPr/>
          <p:nvPr/>
        </p:nvCxnSpPr>
        <p:spPr>
          <a:xfrm>
            <a:off x="5482758" y="2918557"/>
            <a:ext cx="98679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Metin kutusu 12"/>
          <p:cNvSpPr txBox="1"/>
          <p:nvPr/>
        </p:nvSpPr>
        <p:spPr>
          <a:xfrm>
            <a:off x="817608" y="1916832"/>
            <a:ext cx="17381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İşaretçi2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**pp</a:t>
            </a:r>
            <a:endParaRPr lang="tr-T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Metin kutusu 13"/>
          <p:cNvSpPr txBox="1"/>
          <p:nvPr/>
        </p:nvSpPr>
        <p:spPr>
          <a:xfrm>
            <a:off x="3824819" y="1916832"/>
            <a:ext cx="14672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İşaretçi1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</a:t>
            </a:r>
            <a:endParaRPr lang="tr-T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6494900" y="1916832"/>
            <a:ext cx="1893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Değişken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tr-T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Dikdörtgen 15"/>
          <p:cNvSpPr/>
          <p:nvPr/>
        </p:nvSpPr>
        <p:spPr>
          <a:xfrm>
            <a:off x="708914" y="4725145"/>
            <a:ext cx="8039550" cy="1440159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/>
          <a:p>
            <a:pPr marL="320040" indent="-320040" algn="just">
              <a:spcBef>
                <a:spcPts val="7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*p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işaretçisi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3000" dirty="0">
                <a:solidFill>
                  <a:srgbClr val="808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değişkeninin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 err="1">
                <a:latin typeface="Times New Roman" pitchFamily="18" charset="0"/>
                <a:cs typeface="Times New Roman" pitchFamily="18" charset="0"/>
              </a:rPr>
              <a:t>adresini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 err="1">
                <a:latin typeface="Times New Roman" pitchFamily="18" charset="0"/>
                <a:cs typeface="Times New Roman" pitchFamily="18" charset="0"/>
              </a:rPr>
              <a:t>gösetrmektedir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20040" indent="-320040" algn="just">
              <a:spcBef>
                <a:spcPts val="7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**pp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işaretçisi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işaretçisinin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adresini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göstermektedir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6394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</a:t>
            </a:r>
            <a:r>
              <a:rPr lang="en-US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Zinciri</a:t>
            </a:r>
            <a:r>
              <a:rPr lang="en-US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9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devam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…)</a:t>
            </a:r>
            <a:endParaRPr lang="tr-TR" sz="19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30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16" name="Dikdörtgen 15"/>
          <p:cNvSpPr/>
          <p:nvPr/>
        </p:nvSpPr>
        <p:spPr>
          <a:xfrm>
            <a:off x="708914" y="1628801"/>
            <a:ext cx="8039550" cy="4536504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algn="just">
              <a:spcBef>
                <a:spcPts val="700"/>
              </a:spcBef>
              <a:buClr>
                <a:schemeClr val="accent2"/>
              </a:buClr>
              <a:buSzPct val="100000"/>
            </a:pPr>
            <a:r>
              <a:rPr lang="en-US" sz="3500" b="1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Örnek</a:t>
            </a:r>
            <a:endParaRPr lang="en-US" sz="3500" b="1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  <a:p>
            <a:pPr marL="320040" indent="-320040" algn="just">
              <a:spcBef>
                <a:spcPts val="7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Tam sayı tipinde </a:t>
            </a:r>
            <a:r>
              <a:rPr lang="tr-TR" sz="3000" b="1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 isimli bir değişken tanımlayınız ve değerini </a:t>
            </a:r>
            <a:r>
              <a:rPr lang="tr-TR" sz="3000" b="1" dirty="0">
                <a:latin typeface="Times New Roman" pitchFamily="18" charset="0"/>
                <a:cs typeface="Times New Roman" pitchFamily="18" charset="0"/>
              </a:rPr>
              <a:t>1903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 yapınız.</a:t>
            </a:r>
          </a:p>
          <a:p>
            <a:pPr marL="320040" indent="-320040" algn="just">
              <a:spcBef>
                <a:spcPts val="7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tr-TR" sz="3000" b="1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 değişkeninin adresini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gös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teren </a:t>
            </a:r>
            <a:r>
              <a:rPr lang="tr-TR" sz="3000" b="1" dirty="0">
                <a:latin typeface="Times New Roman" pitchFamily="18" charset="0"/>
                <a:cs typeface="Times New Roman" pitchFamily="18" charset="0"/>
              </a:rPr>
              <a:t>*p 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işaretçisi tanımlayınız.</a:t>
            </a:r>
          </a:p>
          <a:p>
            <a:pPr marL="320040" indent="-320040" algn="just">
              <a:spcBef>
                <a:spcPts val="7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tr-TR" sz="3000" b="1" dirty="0">
                <a:latin typeface="Times New Roman" pitchFamily="18" charset="0"/>
                <a:cs typeface="Times New Roman" pitchFamily="18" charset="0"/>
              </a:rPr>
              <a:t>*p 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işaretçisinin adresini gösteren </a:t>
            </a:r>
            <a:r>
              <a:rPr lang="tr-TR" sz="3000" b="1" dirty="0">
                <a:latin typeface="Times New Roman" pitchFamily="18" charset="0"/>
                <a:cs typeface="Times New Roman" pitchFamily="18" charset="0"/>
              </a:rPr>
              <a:t>**</a:t>
            </a:r>
            <a:r>
              <a:rPr lang="tr-TR" sz="3000" b="1" dirty="0" err="1">
                <a:latin typeface="Times New Roman" pitchFamily="18" charset="0"/>
                <a:cs typeface="Times New Roman" pitchFamily="18" charset="0"/>
              </a:rPr>
              <a:t>pp</a:t>
            </a:r>
            <a:r>
              <a:rPr lang="tr-TR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işaretçisi tanımlayınız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20040" indent="-320040" algn="just">
              <a:spcBef>
                <a:spcPts val="7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Gerekli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işaretçi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atamalarını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yapınız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20040" indent="-320040" algn="just">
              <a:spcBef>
                <a:spcPts val="7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Bu 3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değişkeni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kullanarak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ekrana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değerleri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adresleri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yazdırınız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tr-TR" sz="3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021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</a:t>
            </a:r>
            <a:r>
              <a:rPr lang="en-US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Zinciri</a:t>
            </a:r>
            <a:r>
              <a:rPr lang="en-US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9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devam</a:t>
            </a:r>
            <a:r>
              <a:rPr lang="en-US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…)</a:t>
            </a:r>
            <a:endParaRPr lang="tr-TR" sz="19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31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091" y="1628800"/>
            <a:ext cx="5669634" cy="4973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110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Aritmetiği</a:t>
            </a:r>
            <a:endParaRPr lang="tr-TR" sz="38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32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 fontScale="92500" lnSpcReduction="1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İşaretçiler kullanılırken, bazen işaretçinin gösterdiği </a:t>
            </a:r>
            <a:r>
              <a:rPr lang="tr-TR" sz="3000" b="1" u="sng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adres taban alınıp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, o </a:t>
            </a:r>
            <a:r>
              <a:rPr lang="tr-TR" sz="3000" u="sng" dirty="0">
                <a:latin typeface="Times New Roman" pitchFamily="18" charset="0"/>
                <a:cs typeface="Times New Roman" pitchFamily="18" charset="0"/>
              </a:rPr>
              <a:t>adresten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önceki</a:t>
            </a:r>
            <a:r>
              <a:rPr lang="tr-TR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veya </a:t>
            </a:r>
            <a:r>
              <a:rPr lang="tr-TR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sonraki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adreslere erişilmesi istenebilir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Bu durum, işaretçiler üzerinde, </a:t>
            </a:r>
            <a:r>
              <a:rPr lang="tr-TR" sz="30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aritmetik </a:t>
            </a:r>
            <a:r>
              <a:rPr lang="en-US" sz="3000" dirty="0" err="1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operatörlerin</a:t>
            </a:r>
            <a:r>
              <a:rPr lang="en-US" sz="30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kullanılmasını gerektirir.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İşaretçiler üzerinde yalnızca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toplama (+),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çıkarma (-),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bir arttırma (++) ,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itchFamily="18" charset="0"/>
                <a:cs typeface="Times New Roman" pitchFamily="18" charset="0"/>
              </a:rPr>
              <a:t>bir eksiltme (--) </a:t>
            </a:r>
          </a:p>
          <a:p>
            <a:pPr marL="0" indent="0" algn="just">
              <a:buSzPct val="100000"/>
              <a:buNone/>
            </a:pPr>
            <a:r>
              <a:rPr lang="tr-TR" sz="3000" dirty="0">
                <a:latin typeface="Times New Roman" pitchFamily="18" charset="0"/>
                <a:cs typeface="Times New Roman" pitchFamily="18" charset="0"/>
              </a:rPr>
              <a:t>   operatörleri işlemleri yapılabilir</a:t>
            </a:r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356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33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 fontScale="92500" lnSpcReduction="1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Aşağıdaki gibi üç tane gösterici bildirilmiş olsun:</a:t>
            </a:r>
          </a:p>
          <a:p>
            <a:pPr marL="640080" lvl="2" indent="0" algn="just">
              <a:buSzPct val="100000"/>
              <a:buNone/>
            </a:pPr>
            <a:endParaRPr lang="tr-TR" b="1" dirty="0">
              <a:solidFill>
                <a:srgbClr val="0000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40080" lvl="2" indent="0" algn="just">
              <a:buSzPct val="100000"/>
              <a:buNone/>
            </a:pPr>
            <a:r>
              <a:rPr lang="tr-TR" sz="25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 *kar;	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	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10000 (0x2710)</a:t>
            </a:r>
          </a:p>
          <a:p>
            <a:pPr marL="640080" lvl="2" indent="0" algn="just">
              <a:buSzPct val="100000"/>
              <a:buNone/>
            </a:pPr>
            <a:r>
              <a:rPr lang="tr-TR" sz="25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  *tam;	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	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20000 (0x4e20)</a:t>
            </a:r>
          </a:p>
          <a:p>
            <a:pPr marL="640080" lvl="2" indent="0" algn="just">
              <a:buSzPct val="100000"/>
              <a:buNone/>
            </a:pPr>
            <a:r>
              <a:rPr lang="tr-TR" sz="25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*ger;	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	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30000 (0x7530)</a:t>
            </a:r>
          </a:p>
          <a:p>
            <a:pPr marL="388620" indent="-342900" algn="just">
              <a:buSzPct val="100000"/>
              <a:buFont typeface="Arial" panose="020B0604020202020204" pitchFamily="34" charset="0"/>
              <a:buChar char="•"/>
            </a:pPr>
            <a:endParaRPr lang="tr-TR" dirty="0">
              <a:latin typeface="Times New Roman" pitchFamily="18" charset="0"/>
              <a:cs typeface="Times New Roman" pitchFamily="18" charset="0"/>
            </a:endParaRPr>
          </a:p>
          <a:p>
            <a:pPr marL="388620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Buna göre aşağıdaki atama işlemlerinin sonucu ne olmalıdır?</a:t>
            </a:r>
          </a:p>
          <a:p>
            <a:pPr marL="708660" lvl="1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kar++;		</a:t>
            </a:r>
          </a:p>
          <a:p>
            <a:pPr marL="708660" lvl="1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tam++;		</a:t>
            </a:r>
          </a:p>
          <a:p>
            <a:pPr marL="708660" lvl="1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ger++;		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Aritmetiği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</p:spTree>
    <p:extLst>
      <p:ext uri="{BB962C8B-B14F-4D97-AF65-F5344CB8AC3E}">
        <p14:creationId xmlns:p14="http://schemas.microsoft.com/office/powerpoint/2010/main" val="3206959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34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799"/>
            <a:ext cx="7775776" cy="4967283"/>
          </a:xfrm>
        </p:spPr>
        <p:txBody>
          <a:bodyPr>
            <a:normAutofit fontScale="92500" lnSpcReduction="1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itchFamily="18" charset="0"/>
              </a:rPr>
              <a:t>Bir işaretçiye ekleme yapıldığında, </a:t>
            </a:r>
            <a:r>
              <a:rPr lang="tr-TR" u="sng" dirty="0">
                <a:latin typeface="Times New Roman" panose="02020603050405020304" pitchFamily="18" charset="0"/>
                <a:cs typeface="Times New Roman" pitchFamily="18" charset="0"/>
              </a:rPr>
              <a:t>o anda tuttuğu adres</a:t>
            </a:r>
            <a:r>
              <a:rPr lang="tr-TR" dirty="0">
                <a:latin typeface="Times New Roman" panose="02020603050405020304" pitchFamily="18" charset="0"/>
                <a:cs typeface="Times New Roman" pitchFamily="18" charset="0"/>
              </a:rPr>
              <a:t> ile </a:t>
            </a:r>
            <a:r>
              <a:rPr lang="tr-TR" u="sng" dirty="0">
                <a:latin typeface="Times New Roman" panose="02020603050405020304" pitchFamily="18" charset="0"/>
                <a:cs typeface="Times New Roman" pitchFamily="18" charset="0"/>
              </a:rPr>
              <a:t>eklenen sayı</a:t>
            </a:r>
            <a:r>
              <a:rPr lang="tr-TR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tr-TR" b="1" dirty="0">
                <a:latin typeface="Times New Roman" panose="02020603050405020304" pitchFamily="18" charset="0"/>
                <a:cs typeface="Times New Roman" pitchFamily="18" charset="0"/>
              </a:rPr>
              <a:t>doğrudan toplanmaz</a:t>
            </a:r>
            <a:r>
              <a:rPr lang="tr-TR" dirty="0">
                <a:latin typeface="Times New Roman" panose="02020603050405020304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itchFamily="18" charset="0"/>
              </a:rPr>
              <a:t>Böyle olsaydı, bu atamaların sonuçları sırasıyla </a:t>
            </a:r>
            <a:r>
              <a:rPr lang="tr-TR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10001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20001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tr-TR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30001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 olurdu.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Gerçekte, işaretçiye bir eklemek, işaretçinin </a:t>
            </a:r>
            <a:r>
              <a:rPr lang="tr-TR" u="sng" dirty="0">
                <a:latin typeface="Times New Roman" pitchFamily="18" charset="0"/>
                <a:cs typeface="Times New Roman" pitchFamily="18" charset="0"/>
              </a:rPr>
              <a:t>gösterdiği yerdeki veriden hemen sonraki verinin adresini hesaplamaktır</a:t>
            </a:r>
            <a:endParaRPr lang="tr-TR" b="1" u="sng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8620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Buna göre atama işlemlerinin sonucu:</a:t>
            </a:r>
          </a:p>
          <a:p>
            <a:pPr marL="708660" lvl="1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kar++;		</a:t>
            </a:r>
            <a:r>
              <a:rPr lang="tr-TR" dirty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	</a:t>
            </a:r>
            <a:r>
              <a:rPr lang="tr-TR" dirty="0">
                <a:latin typeface="Times New Roman" pitchFamily="18" charset="0"/>
                <a:cs typeface="Times New Roman" pitchFamily="18" charset="0"/>
              </a:rPr>
              <a:t>10001 (0x2711)</a:t>
            </a:r>
          </a:p>
          <a:p>
            <a:pPr marL="708660" lvl="1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tam++;		</a:t>
            </a:r>
            <a:r>
              <a:rPr lang="tr-TR" dirty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	20004 (0x4e24)</a:t>
            </a:r>
            <a:endParaRPr lang="tr-TR" dirty="0">
              <a:latin typeface="Times New Roman" pitchFamily="18" charset="0"/>
              <a:cs typeface="Times New Roman" pitchFamily="18" charset="0"/>
            </a:endParaRPr>
          </a:p>
          <a:p>
            <a:pPr marL="708660" lvl="1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itchFamily="18" charset="0"/>
                <a:cs typeface="Times New Roman" pitchFamily="18" charset="0"/>
              </a:rPr>
              <a:t>ger++;		</a:t>
            </a:r>
            <a:r>
              <a:rPr lang="tr-TR" dirty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	30008 (0x7538)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Aritmetiği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</p:spTree>
    <p:extLst>
      <p:ext uri="{BB962C8B-B14F-4D97-AF65-F5344CB8AC3E}">
        <p14:creationId xmlns:p14="http://schemas.microsoft.com/office/powerpoint/2010/main" val="3474059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35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sp>
        <p:nvSpPr>
          <p:cNvPr id="7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799"/>
            <a:ext cx="7775776" cy="4967283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olarak, bir işaretçiye n sayısını eklemek veya çıkarmak, </a:t>
            </a:r>
            <a:r>
              <a:rPr lang="tr-TR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bellekte gösterdiği veriden sonra veya önce gelen n. elemanın adresini hesaplamaktır.</a:t>
            </a:r>
            <a:r>
              <a:rPr lang="tr-T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Buna göre aşağıdaki atamalar şöyle yorumlanır.</a:t>
            </a:r>
          </a:p>
          <a:p>
            <a:pPr marL="320040" lvl="1" indent="0" algn="just">
              <a:buSzPct val="100000"/>
              <a:buNone/>
            </a:pPr>
            <a:r>
              <a:rPr lang="sv-S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kar++;      </a:t>
            </a:r>
            <a:r>
              <a:rPr lang="sv-SE" sz="19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kar = kar +   sizeof(char)*/</a:t>
            </a:r>
            <a:endParaRPr lang="tr-TR" sz="19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 algn="just">
              <a:buSzPct val="100000"/>
              <a:buNone/>
            </a:pP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tam = tam + 5</a:t>
            </a:r>
            <a:r>
              <a:rPr lang="sv-SE" sz="19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;/* tam = tam + 5*sizeof(int)*/</a:t>
            </a:r>
            <a:endParaRPr lang="tr-TR" sz="19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0040" lvl="1" indent="0" algn="just">
              <a:buSzPct val="100000"/>
              <a:buNone/>
            </a:pPr>
            <a:r>
              <a:rPr lang="tr-TR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ger = ger - 3; </a:t>
            </a:r>
            <a:r>
              <a:rPr lang="sv-SE" sz="19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/*ger = ger - 3*sizeof(double)*/</a:t>
            </a:r>
            <a:endParaRPr lang="tr-TR" sz="1900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Aritmetiği </a:t>
            </a:r>
            <a:r>
              <a:rPr lang="tr-TR" sz="1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</p:spTree>
    <p:extLst>
      <p:ext uri="{BB962C8B-B14F-4D97-AF65-F5344CB8AC3E}">
        <p14:creationId xmlns:p14="http://schemas.microsoft.com/office/powerpoint/2010/main" val="2927195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9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Aritmetiği</a:t>
            </a:r>
            <a:endParaRPr lang="tr-TR" sz="39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36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6" y="1713742"/>
            <a:ext cx="7904762" cy="45238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840" y="2876560"/>
            <a:ext cx="5274168" cy="75345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4381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37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KAYNAKLAR</a:t>
            </a:r>
          </a:p>
        </p:txBody>
      </p:sp>
      <p:sp>
        <p:nvSpPr>
          <p:cNvPr id="12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9"/>
            <a:ext cx="7919792" cy="4824537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N. Ercil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Çağıltay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 ve ark., C DERSİ PROGRAMLAMAYA GİRİŞ, Ada Matbaacılık, ANKARA; 2009.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Milli Eğitim Bakanlığı "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Programlamaya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Giriş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Algoritmalar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Ders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Notları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, 2007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C Programlama Dili, Şerafettin ARIKAN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Solving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 Program Design in C,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Hanly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Koffman</a:t>
            </a:r>
            <a:endParaRPr lang="tr-TR" sz="2400" dirty="0">
              <a:latin typeface="Times New Roman" pitchFamily="18" charset="0"/>
              <a:cs typeface="Times New Roman" pitchFamily="18" charset="0"/>
              <a:hlinkClick r:id="rId3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  <a:hlinkClick r:id="rId3"/>
              </a:rPr>
              <a:t>http://www.AlgoritmaveProgramlama.com</a:t>
            </a: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tr-TR" sz="2400" dirty="0"/>
          </a:p>
          <a:p>
            <a:pPr marL="0" indent="0" algn="just">
              <a:buSzPct val="100000"/>
              <a:buNone/>
            </a:pPr>
            <a:endParaRPr lang="tr-TR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4437112"/>
            <a:ext cx="1943371" cy="743054"/>
          </a:xfrm>
          <a:prstGeom prst="rect">
            <a:avLst/>
          </a:prstGeom>
        </p:spPr>
      </p:pic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33767655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38</a:t>
            </a:fld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İYİ ÇALIŞMALAR…</a:t>
            </a: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tr-TR" dirty="0"/>
              <a:t>YZM 1102 – Algoritma ve Programlama II</a:t>
            </a:r>
          </a:p>
        </p:txBody>
      </p:sp>
    </p:spTree>
    <p:extLst>
      <p:ext uri="{BB962C8B-B14F-4D97-AF65-F5344CB8AC3E}">
        <p14:creationId xmlns:p14="http://schemas.microsoft.com/office/powerpoint/2010/main" val="40412591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talam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talama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24521</TotalTime>
  <Words>1551</Words>
  <Application>Microsoft Office PowerPoint</Application>
  <PresentationFormat>On-screen Show (4:3)</PresentationFormat>
  <Paragraphs>321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Courier New</vt:lpstr>
      <vt:lpstr>Times New Roman</vt:lpstr>
      <vt:lpstr>Tw Cen MT</vt:lpstr>
      <vt:lpstr>Wingdings</vt:lpstr>
      <vt:lpstr>Wingdings 2</vt:lpstr>
      <vt:lpstr>Ortalama</vt:lpstr>
      <vt:lpstr>Algorİtma ve Programlama II  HAFTA#4</vt:lpstr>
      <vt:lpstr>Genel Bakış…</vt:lpstr>
      <vt:lpstr>3. BÖLÜM</vt:lpstr>
      <vt:lpstr>Bellek ve Adresleme</vt:lpstr>
      <vt:lpstr>Bellek ve Adresleme (devam…)</vt:lpstr>
      <vt:lpstr>Bellek ve Adresleme (devam…)</vt:lpstr>
      <vt:lpstr>Örnek: Bellek ve Adresleme</vt:lpstr>
      <vt:lpstr>Örnek: Bellek ve Adresleme (devam…)</vt:lpstr>
      <vt:lpstr>Bellek ve Adresleme (devam…)</vt:lpstr>
      <vt:lpstr>Bellek ve Adresleme (devam…)</vt:lpstr>
      <vt:lpstr>Bellek ve Adresleme (devam…)</vt:lpstr>
      <vt:lpstr>Bellek ve Adresleme (devam…)</vt:lpstr>
      <vt:lpstr>Bellek ve Adresleme (devam…)</vt:lpstr>
      <vt:lpstr>Örnek: Bellek ve Adresleme (devam…)</vt:lpstr>
      <vt:lpstr>İşaretçi (Pointer) Kavramı</vt:lpstr>
      <vt:lpstr>İşaretçi (Pointer) Kavramı (devam…)</vt:lpstr>
      <vt:lpstr>İşaretçi (Pointer) Kavramı (devam…)</vt:lpstr>
      <vt:lpstr>İşaretçi (Pointer) Kavramı (devam…)</vt:lpstr>
      <vt:lpstr>İşaretçi (Pointer) Kavramı (devam…)</vt:lpstr>
      <vt:lpstr>Örnek: İşaretçi Gösterimi </vt:lpstr>
      <vt:lpstr>Örnek: İşaretçi Gösterimi ve Değer Değiştirme </vt:lpstr>
      <vt:lpstr>Örnek: İşaretçi Gösterimi ve Değer Değiştirme (devam..) </vt:lpstr>
      <vt:lpstr>Örnek: İşaretçi Gösterimi ve Değer Değiştirme (devam..) </vt:lpstr>
      <vt:lpstr>NULL İşaretçi</vt:lpstr>
      <vt:lpstr>NULL İşaretçi (devam…)</vt:lpstr>
      <vt:lpstr>NULL İşaretçi (devam…)</vt:lpstr>
      <vt:lpstr>NULL İşaretçi (devam…)</vt:lpstr>
      <vt:lpstr>İşaretçi Zinciri</vt:lpstr>
      <vt:lpstr>İşaretçi Zinciri (devam…)</vt:lpstr>
      <vt:lpstr>İşaretçi Zinciri (devam…)</vt:lpstr>
      <vt:lpstr>İşaretçi Zinciri (devam…)</vt:lpstr>
      <vt:lpstr>İşaretçi Aritmetiği</vt:lpstr>
      <vt:lpstr>İşaretçi Aritmetiği (devam…)</vt:lpstr>
      <vt:lpstr>İşaretçi Aritmetiği (devam…)</vt:lpstr>
      <vt:lpstr>İşaretçi Aritmetiği (devam…)</vt:lpstr>
      <vt:lpstr>Örnek: İşaretçi Aritmetiği</vt:lpstr>
      <vt:lpstr>KAYNAKLAR</vt:lpstr>
      <vt:lpstr>PowerPoint Presentation</vt:lpstr>
    </vt:vector>
  </TitlesOfParts>
  <Company>Maltepe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YAZILIM KALİTESİ  (Concepts of Programming Languages)  Öğr. Gör. Fatih YÜCALAR fatihy@maltepe.edu.tr</dc:title>
  <dc:creator>Fatih Yücalar</dc:creator>
  <cp:lastModifiedBy>Berna</cp:lastModifiedBy>
  <cp:revision>736</cp:revision>
  <dcterms:created xsi:type="dcterms:W3CDTF">2009-02-19T19:45:44Z</dcterms:created>
  <dcterms:modified xsi:type="dcterms:W3CDTF">2023-03-07T12:46:51Z</dcterms:modified>
</cp:coreProperties>
</file>