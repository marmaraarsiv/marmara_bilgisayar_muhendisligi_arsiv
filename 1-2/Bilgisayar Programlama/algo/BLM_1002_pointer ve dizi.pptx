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80" r:id="rId1"/>
  </p:sldMasterIdLst>
  <p:notesMasterIdLst>
    <p:notesMasterId r:id="rId77"/>
  </p:notesMasterIdLst>
  <p:sldIdLst>
    <p:sldId id="256" r:id="rId2"/>
    <p:sldId id="274" r:id="rId3"/>
    <p:sldId id="262" r:id="rId4"/>
    <p:sldId id="275" r:id="rId5"/>
    <p:sldId id="448" r:id="rId6"/>
    <p:sldId id="449" r:id="rId7"/>
    <p:sldId id="471" r:id="rId8"/>
    <p:sldId id="450" r:id="rId9"/>
    <p:sldId id="451" r:id="rId10"/>
    <p:sldId id="452" r:id="rId11"/>
    <p:sldId id="503" r:id="rId12"/>
    <p:sldId id="504" r:id="rId13"/>
    <p:sldId id="505" r:id="rId14"/>
    <p:sldId id="506" r:id="rId15"/>
    <p:sldId id="507" r:id="rId16"/>
    <p:sldId id="508" r:id="rId17"/>
    <p:sldId id="509" r:id="rId18"/>
    <p:sldId id="510" r:id="rId19"/>
    <p:sldId id="511" r:id="rId20"/>
    <p:sldId id="512" r:id="rId21"/>
    <p:sldId id="513" r:id="rId22"/>
    <p:sldId id="514" r:id="rId23"/>
    <p:sldId id="515" r:id="rId24"/>
    <p:sldId id="516" r:id="rId25"/>
    <p:sldId id="517" r:id="rId26"/>
    <p:sldId id="518" r:id="rId27"/>
    <p:sldId id="519" r:id="rId28"/>
    <p:sldId id="520" r:id="rId29"/>
    <p:sldId id="521" r:id="rId30"/>
    <p:sldId id="522" r:id="rId31"/>
    <p:sldId id="523" r:id="rId32"/>
    <p:sldId id="524" r:id="rId33"/>
    <p:sldId id="525" r:id="rId34"/>
    <p:sldId id="526" r:id="rId35"/>
    <p:sldId id="527" r:id="rId36"/>
    <p:sldId id="473" r:id="rId37"/>
    <p:sldId id="472" r:id="rId38"/>
    <p:sldId id="454" r:id="rId39"/>
    <p:sldId id="455" r:id="rId40"/>
    <p:sldId id="456" r:id="rId41"/>
    <p:sldId id="457" r:id="rId42"/>
    <p:sldId id="458" r:id="rId43"/>
    <p:sldId id="459" r:id="rId44"/>
    <p:sldId id="460" r:id="rId45"/>
    <p:sldId id="475" r:id="rId46"/>
    <p:sldId id="474" r:id="rId47"/>
    <p:sldId id="476" r:id="rId48"/>
    <p:sldId id="461" r:id="rId49"/>
    <p:sldId id="462" r:id="rId50"/>
    <p:sldId id="479" r:id="rId51"/>
    <p:sldId id="478" r:id="rId52"/>
    <p:sldId id="477" r:id="rId53"/>
    <p:sldId id="463" r:id="rId54"/>
    <p:sldId id="498" r:id="rId55"/>
    <p:sldId id="499" r:id="rId56"/>
    <p:sldId id="501" r:id="rId57"/>
    <p:sldId id="500" r:id="rId58"/>
    <p:sldId id="490" r:id="rId59"/>
    <p:sldId id="492" r:id="rId60"/>
    <p:sldId id="487" r:id="rId61"/>
    <p:sldId id="488" r:id="rId62"/>
    <p:sldId id="497" r:id="rId63"/>
    <p:sldId id="493" r:id="rId64"/>
    <p:sldId id="484" r:id="rId65"/>
    <p:sldId id="502" r:id="rId66"/>
    <p:sldId id="495" r:id="rId67"/>
    <p:sldId id="485" r:id="rId68"/>
    <p:sldId id="486" r:id="rId69"/>
    <p:sldId id="496" r:id="rId70"/>
    <p:sldId id="494" r:id="rId71"/>
    <p:sldId id="480" r:id="rId72"/>
    <p:sldId id="481" r:id="rId73"/>
    <p:sldId id="482" r:id="rId74"/>
    <p:sldId id="447" r:id="rId75"/>
    <p:sldId id="303" r:id="rId76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Orta Stil 2 - Vurgu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5" autoAdjust="0"/>
    <p:restoredTop sz="86471" autoAdjust="0"/>
  </p:normalViewPr>
  <p:slideViewPr>
    <p:cSldViewPr>
      <p:cViewPr varScale="1">
        <p:scale>
          <a:sx n="55" d="100"/>
          <a:sy n="55" d="100"/>
        </p:scale>
        <p:origin x="1468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4384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62.xml"/><Relationship Id="rId1" Type="http://schemas.openxmlformats.org/officeDocument/2006/relationships/slide" Target="slides/slide6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Üstbilgi Yer Tutucusu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A2A135-22CC-429C-9706-1CC56B005689}" type="datetimeFigureOut">
              <a:rPr lang="tr-TR" smtClean="0"/>
              <a:pPr/>
              <a:t>1.03.2026</a:t>
            </a:fld>
            <a:endParaRPr lang="tr-TR"/>
          </a:p>
        </p:txBody>
      </p:sp>
      <p:sp>
        <p:nvSpPr>
          <p:cNvPr id="4" name="3 Slayt Görüntüsü Yer Tutucusu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4 Not Yer Tutucusu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tıklatın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9281E5-013A-4FDC-BBE5-88D0D9098083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04686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2251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43142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16788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425015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629736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004420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004420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64214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635873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319958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1AA0381-CEFF-4F8E-B61D-BBFF80D6DDCB}" type="slidenum">
              <a:rPr lang="en-US" altLang="tr-TR" sz="1200" smtClean="0"/>
              <a:pPr/>
              <a:t>11</a:t>
            </a:fld>
            <a:endParaRPr lang="en-US" altLang="tr-TR" sz="120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tr-TR"/>
              <a:t>This code segment appeared in the appetizer.</a:t>
            </a:r>
          </a:p>
        </p:txBody>
      </p:sp>
    </p:spTree>
    <p:extLst>
      <p:ext uri="{BB962C8B-B14F-4D97-AF65-F5344CB8AC3E}">
        <p14:creationId xmlns:p14="http://schemas.microsoft.com/office/powerpoint/2010/main" val="8161775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BDD583-CC74-42C5-AD9F-03EE4C3B6EBE}" type="slidenum">
              <a:rPr lang="en-US" altLang="tr-TR" sz="1200" smtClean="0"/>
              <a:pPr/>
              <a:t>23</a:t>
            </a:fld>
            <a:endParaRPr lang="en-US" altLang="tr-TR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GB" altLang="tr-TR"/>
          </a:p>
        </p:txBody>
      </p:sp>
    </p:spTree>
    <p:extLst>
      <p:ext uri="{BB962C8B-B14F-4D97-AF65-F5344CB8AC3E}">
        <p14:creationId xmlns:p14="http://schemas.microsoft.com/office/powerpoint/2010/main" val="11463931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36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384825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37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384825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38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606922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39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999826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40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747643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41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822590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42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019947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43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106688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44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872415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45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872415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46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872415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47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872415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48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863483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49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489522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50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4895222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51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489522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52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4895222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53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252772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64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8872737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67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6588209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68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766685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71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477894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72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7666850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73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7666850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74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6827799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9281E5-013A-4FDC-BBE5-88D0D9098083}" type="slidenum">
              <a:rPr lang="tr-TR" smtClean="0"/>
              <a:pPr/>
              <a:t>75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48413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Dikdörtgen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Dikdörtgen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Dikdörtgen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Başlık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9" name="8 Alt Başlık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tr-TR"/>
              <a:t>Asıl alt başlık stilini düzenlemek için tıklatın</a:t>
            </a:r>
            <a:endParaRPr kumimoji="0" lang="en-US"/>
          </a:p>
        </p:txBody>
      </p:sp>
      <p:sp>
        <p:nvSpPr>
          <p:cNvPr id="28" name="27 Veri Yer Tutucusu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0676C5A3-01AD-409B-AE61-EC659B45AA11}" type="datetime1">
              <a:rPr lang="tr-TR" smtClean="0"/>
              <a:t>1.03.2026</a:t>
            </a:fld>
            <a:endParaRPr lang="tr-TR"/>
          </a:p>
        </p:txBody>
      </p:sp>
      <p:sp>
        <p:nvSpPr>
          <p:cNvPr id="17" name="16 Altbilgi Yer Tutucusu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nn-NO"/>
              <a:t>BLM 1002 – Bilgsayar Programlama 1</a:t>
            </a:r>
            <a:endParaRPr lang="tr-TR"/>
          </a:p>
        </p:txBody>
      </p:sp>
      <p:sp>
        <p:nvSpPr>
          <p:cNvPr id="29" name="28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A9F90-244F-42EA-B8B2-807D63FED3B5}" type="datetime1">
              <a:rPr lang="tr-TR" smtClean="0"/>
              <a:t>1.03.2026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BLM 1002 – Bilgsayar Programlama 1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8" name="7 İçerik Yer Tutucusu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bilgisi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7" name="6 Dikdörtgen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Dikdörtgen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Dikdörtgen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12" name="1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DA3B4-326F-4626-B4F7-E24F19807730}" type="datetime1">
              <a:rPr lang="tr-TR" smtClean="0"/>
              <a:t>1.03.2026</a:t>
            </a:fld>
            <a:endParaRPr lang="tr-TR"/>
          </a:p>
        </p:txBody>
      </p:sp>
      <p:sp>
        <p:nvSpPr>
          <p:cNvPr id="13" name="12 Slayt Numarası Yer Tutucusu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4" name="13 Altbilgi Yer Tutucusu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nn-NO"/>
              <a:t>BLM 1002 – Bilgsayar Programlama 1</a:t>
            </a:r>
            <a:endParaRPr lang="tr-T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9" name="8 İçerik Yer Tutucusu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11" name="10 İçerik Yer Tutucusu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8" name="7 Veri Yer Tutucusu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CD3BA90E-4870-453B-83C8-A7F7B1676DB2}" type="datetime1">
              <a:rPr lang="tr-TR" smtClean="0"/>
              <a:t>1.03.2026</a:t>
            </a:fld>
            <a:endParaRPr lang="tr-TR"/>
          </a:p>
        </p:txBody>
      </p:sp>
      <p:sp>
        <p:nvSpPr>
          <p:cNvPr id="10" name="9 Slayt Numarası Yer Tutucusu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2" name="11 Altbilgi Yer Tutucusu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nn-NO"/>
              <a:t>BLM 1002 – Bilgsayar Programlama 1</a:t>
            </a:r>
            <a:endParaRPr lang="tr-T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11" name="10 İçerik Yer Tutucusu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13" name="12 İçerik Yer Tutucusu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10" name="9 Veri Yer Tutucusu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44005694-7E74-48EC-BC26-A12572ADEA9F}" type="datetime1">
              <a:rPr lang="tr-TR" smtClean="0"/>
              <a:t>1.03.2026</a:t>
            </a:fld>
            <a:endParaRPr lang="tr-TR"/>
          </a:p>
        </p:txBody>
      </p:sp>
      <p:sp>
        <p:nvSpPr>
          <p:cNvPr id="12" name="11 Slayt Numarası Yer Tutucusu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4" name="13 Altbilgi Yer Tutucusu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nn-NO"/>
              <a:t>BLM 1002 – Bilgsayar Programlama 1</a:t>
            </a:r>
            <a:endParaRPr lang="tr-TR"/>
          </a:p>
        </p:txBody>
      </p:sp>
      <p:sp>
        <p:nvSpPr>
          <p:cNvPr id="16" name="15 Metin Yer Tutucusu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15" name="14 Metin Yer Tutucusu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E2B34-CA77-44FE-95CB-DE104E722953}" type="datetime1">
              <a:rPr lang="tr-TR" smtClean="0"/>
              <a:t>1.03.2026</a:t>
            </a:fld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BLM 1002 – Bilgsayar Programlama 1</a:t>
            </a:r>
            <a:endParaRPr lang="tr-TR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78529-E81E-465B-A2CB-E718B05C5482}" type="datetime1">
              <a:rPr lang="tr-TR" smtClean="0"/>
              <a:t>1.03.2026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BLM 1002 – Bilgsayar Programlama 1</a:t>
            </a:r>
            <a:endParaRPr lang="tr-TR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97793F-5B67-44E6-8334-995EF6ACD888}" type="datetime1">
              <a:rPr lang="tr-TR" smtClean="0"/>
              <a:t>1.03.2026</a:t>
            </a:fld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BLM 1002 – Bilgsayar Programlama 1</a:t>
            </a:r>
            <a:endParaRPr lang="tr-TR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9" name="8 İçerik Yer Tutucusu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tr-TR"/>
              <a:t>Asıl metin stillerini düzenlemek için tıklatın</a:t>
            </a:r>
          </a:p>
        </p:txBody>
      </p:sp>
      <p:sp>
        <p:nvSpPr>
          <p:cNvPr id="8" name="7 Dikdörtgen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Dikdörtgen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Dikdörtgen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11" name="10 Dikdörtgen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Veri Yer Tutucusu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B1FE7EB1-B1A3-4DB2-B18C-16C8D131B55C}" type="datetime1">
              <a:rPr lang="tr-TR" smtClean="0"/>
              <a:t>1.03.2026</a:t>
            </a:fld>
            <a:endParaRPr lang="tr-TR"/>
          </a:p>
        </p:txBody>
      </p:sp>
      <p:sp>
        <p:nvSpPr>
          <p:cNvPr id="13" name="12 Slayt Numarası Yer Tutucusu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  <p:sp>
        <p:nvSpPr>
          <p:cNvPr id="14" name="13 Altbilgi Yer Tutucusu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r>
              <a:rPr lang="nn-NO"/>
              <a:t>BLM 1002 – Bilgsayar Programlama 1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tr-TR"/>
              <a:t>Resim eklemek için simgeyi tıklatın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F23B2-103A-432A-8FFC-ABD1CEF4847E}" type="datetime1">
              <a:rPr lang="tr-TR" smtClean="0"/>
              <a:t>1.03.2026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BLM 1002 – Bilgsayar Programlama 1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Dikey Başlık ve Meti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tr-TR"/>
              <a:t>Asıl metin stillerini düzenlemek için tıklatın</a:t>
            </a:r>
          </a:p>
          <a:p>
            <a:pPr lvl="1" eaLnBrk="1" latinLnBrk="0" hangingPunct="1"/>
            <a:r>
              <a:rPr lang="tr-TR"/>
              <a:t>İkinci düzey</a:t>
            </a:r>
          </a:p>
          <a:p>
            <a:pPr lvl="2" eaLnBrk="1" latinLnBrk="0" hangingPunct="1"/>
            <a:r>
              <a:rPr lang="tr-TR"/>
              <a:t>Üçüncü düzey</a:t>
            </a:r>
          </a:p>
          <a:p>
            <a:pPr lvl="3" eaLnBrk="1" latinLnBrk="0" hangingPunct="1"/>
            <a:r>
              <a:rPr lang="tr-TR"/>
              <a:t>Dördüncü düzey</a:t>
            </a:r>
          </a:p>
          <a:p>
            <a:pPr lvl="4" eaLnBrk="1" latinLnBrk="0" hangingPunct="1"/>
            <a:r>
              <a:rPr lang="tr-TR"/>
              <a:t>Beşinci düzey</a:t>
            </a:r>
            <a:endParaRPr kumimoji="0" lang="en-US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C0979E3E-FBF2-41FC-90DD-0CCD721CC3BC}" type="datetime1">
              <a:rPr lang="tr-TR" smtClean="0"/>
              <a:t>1.03.2026</a:t>
            </a:fld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r>
              <a:rPr lang="nn-NO"/>
              <a:t>BLM 1002 – Bilgsayar Programlama 1</a:t>
            </a:r>
            <a:endParaRPr lang="tr-TR"/>
          </a:p>
        </p:txBody>
      </p:sp>
      <p:sp>
        <p:nvSpPr>
          <p:cNvPr id="7" name="6 Dikdörtgen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Dikdörtgen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Dikdörtgen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Başlık ve Tab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tr-TR"/>
              <a:t>Asıl başlık stili için tıklatın</a:t>
            </a:r>
          </a:p>
        </p:txBody>
      </p:sp>
      <p:sp>
        <p:nvSpPr>
          <p:cNvPr id="3" name="Tablo Yer Tutucusu 2"/>
          <p:cNvSpPr>
            <a:spLocks noGrp="1"/>
          </p:cNvSpPr>
          <p:nvPr>
            <p:ph type="tbl" idx="1"/>
          </p:nvPr>
        </p:nvSpPr>
        <p:spPr>
          <a:xfrm>
            <a:off x="457200" y="1600202"/>
            <a:ext cx="8229600" cy="4525963"/>
          </a:xfrm>
        </p:spPr>
        <p:txBody>
          <a:bodyPr/>
          <a:lstStyle/>
          <a:p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B815E317-3643-4CF4-9E6F-2780748B299A}" type="datetime1">
              <a:rPr lang="tr-TR" altLang="tr-TR" smtClean="0"/>
              <a:t>1.03.2026</a:t>
            </a:fld>
            <a:endParaRPr lang="tr-TR" alt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r>
              <a:rPr lang="nn-NO" altLang="tr-TR"/>
              <a:t>BLM 1002 – Bilgsayar Programlama 1</a:t>
            </a:r>
            <a:endParaRPr lang="tr-TR" alt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5DAF0A7-AD7E-4B12-AF79-1230EEE6A28C}" type="slidenum">
              <a:rPr lang="tr-TR" altLang="tr-TR"/>
              <a:pPr/>
              <a:t>‹#›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1919248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21 Başlık Yer Tutucusu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tr-TR"/>
              <a:t>Asıl başlık stili için tıklatın</a:t>
            </a:r>
            <a:endParaRPr kumimoji="0" lang="en-US"/>
          </a:p>
        </p:txBody>
      </p:sp>
      <p:sp>
        <p:nvSpPr>
          <p:cNvPr id="13" name="12 Metin Yer Tutucusu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tr-TR"/>
              <a:t>Asıl metin stillerini düzenlemek için tıklatın</a:t>
            </a:r>
          </a:p>
          <a:p>
            <a:pPr lvl="1" eaLnBrk="1" latinLnBrk="0" hangingPunct="1"/>
            <a:r>
              <a:rPr kumimoji="0" lang="tr-TR"/>
              <a:t>İkinci düzey</a:t>
            </a:r>
          </a:p>
          <a:p>
            <a:pPr lvl="2" eaLnBrk="1" latinLnBrk="0" hangingPunct="1"/>
            <a:r>
              <a:rPr kumimoji="0" lang="tr-TR"/>
              <a:t>Üçüncü düzey</a:t>
            </a:r>
          </a:p>
          <a:p>
            <a:pPr lvl="3" eaLnBrk="1" latinLnBrk="0" hangingPunct="1"/>
            <a:r>
              <a:rPr kumimoji="0" lang="tr-TR"/>
              <a:t>Dördüncü düzey</a:t>
            </a:r>
          </a:p>
          <a:p>
            <a:pPr lvl="4" eaLnBrk="1" latinLnBrk="0" hangingPunct="1"/>
            <a:r>
              <a:rPr kumimoji="0" lang="tr-TR"/>
              <a:t>Beşinci düzey</a:t>
            </a:r>
            <a:endParaRPr kumimoji="0" lang="en-US"/>
          </a:p>
        </p:txBody>
      </p:sp>
      <p:sp>
        <p:nvSpPr>
          <p:cNvPr id="14" name="13 Veri Yer Tutucusu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0181278-4EF6-4061-87BF-B9A206C791EA}" type="datetime1">
              <a:rPr lang="tr-TR" smtClean="0"/>
              <a:t>1.03.2026</a:t>
            </a:fld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nn-NO"/>
              <a:t>BLM 1002 – Bilgsayar Programlama 1</a:t>
            </a:r>
            <a:endParaRPr lang="tr-TR"/>
          </a:p>
        </p:txBody>
      </p:sp>
      <p:sp>
        <p:nvSpPr>
          <p:cNvPr id="7" name="6 Dikdörtgen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7 Dikdörtgen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Dikdörtgen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22 Slayt Numarası Yer Tutucusu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389D34F3-C30E-42B3-B3FB-7DE9F1DA43CC}" type="slidenum">
              <a:rPr lang="tr-TR" smtClean="0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goritmaveprogramlama.com/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Başlık"/>
          <p:cNvSpPr>
            <a:spLocks noGrp="1"/>
          </p:cNvSpPr>
          <p:nvPr>
            <p:ph type="ctrTitle"/>
          </p:nvPr>
        </p:nvSpPr>
        <p:spPr>
          <a:xfrm>
            <a:off x="104775" y="2062146"/>
            <a:ext cx="8929718" cy="1581168"/>
          </a:xfrm>
        </p:spPr>
        <p:txBody>
          <a:bodyPr>
            <a:normAutofit/>
          </a:bodyPr>
          <a:lstStyle/>
          <a:p>
            <a:pPr algn="ctr"/>
            <a:r>
              <a:rPr lang="tr-TR" sz="3400" dirty="0">
                <a:latin typeface="Times New Roman" pitchFamily="18" charset="0"/>
                <a:cs typeface="Times New Roman" pitchFamily="18" charset="0"/>
              </a:rPr>
              <a:t>Bilgisayar Programlama I</a:t>
            </a:r>
            <a:br>
              <a:rPr lang="tr-TR" sz="2400" dirty="0">
                <a:latin typeface="Times New Roman" pitchFamily="18" charset="0"/>
                <a:cs typeface="Times New Roman" pitchFamily="18" charset="0"/>
              </a:rPr>
            </a:br>
            <a:br>
              <a:rPr lang="tr-TR" sz="1200" dirty="0">
                <a:latin typeface="Times New Roman" pitchFamily="18" charset="0"/>
                <a:cs typeface="Times New Roman" pitchFamily="18" charset="0"/>
              </a:rPr>
            </a:br>
            <a:endParaRPr lang="tr-TR" sz="3000" cap="none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2 Alt Başlık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>
            <a:normAutofit fontScale="77500" lnSpcReduction="20000"/>
          </a:bodyPr>
          <a:lstStyle/>
          <a:p>
            <a:pPr algn="ctr"/>
            <a:r>
              <a:rPr lang="tr-TR" dirty="0"/>
              <a:t>Marmara Üniversitesi</a:t>
            </a:r>
          </a:p>
          <a:p>
            <a:pPr algn="ctr"/>
            <a:r>
              <a:rPr lang="tr-TR" dirty="0"/>
              <a:t>Teknoloji Fakültesi</a:t>
            </a:r>
          </a:p>
        </p:txBody>
      </p:sp>
      <p:sp>
        <p:nvSpPr>
          <p:cNvPr id="6" name="2 Alt Başlık"/>
          <p:cNvSpPr txBox="1">
            <a:spLocks/>
          </p:cNvSpPr>
          <p:nvPr/>
        </p:nvSpPr>
        <p:spPr>
          <a:xfrm>
            <a:off x="0" y="6072206"/>
            <a:ext cx="2214546" cy="685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None/>
              <a:tabLst/>
              <a:defRPr/>
            </a:pPr>
            <a:endParaRPr lang="tr-TR" sz="2600" dirty="0">
              <a:solidFill>
                <a:srgbClr val="FFFFFF"/>
              </a:solidFill>
            </a:endParaRPr>
          </a:p>
        </p:txBody>
      </p:sp>
      <p:pic>
        <p:nvPicPr>
          <p:cNvPr id="3" name="Ses 2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18500" y="603250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58"/>
    </mc:Choice>
    <mc:Fallback xmlns="">
      <p:transition spd="slow" advTm="705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7959880" cy="4614882"/>
          </a:xfrm>
        </p:spPr>
        <p:txBody>
          <a:bodyPr>
            <a:normAutofit/>
          </a:bodyPr>
          <a:lstStyle/>
          <a:p>
            <a:pPr>
              <a:buSzPct val="100000"/>
              <a:buFont typeface="Arial" pitchFamily="34" charset="0"/>
              <a:buChar char="•"/>
            </a:pPr>
            <a:r>
              <a:rPr lang="tr-TR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İşaretçiler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 ve </a:t>
            </a:r>
            <a:r>
              <a:rPr lang="tr-TR" sz="28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Diziler</a:t>
            </a:r>
          </a:p>
          <a:p>
            <a:pPr>
              <a:buSzPct val="100000"/>
              <a:buFont typeface="Arial" pitchFamily="34" charset="0"/>
              <a:buChar char="•"/>
            </a:pPr>
            <a:r>
              <a:rPr lang="tr-TR" sz="28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Fonksiyon Parametresi Olan 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İşaretçiler</a:t>
            </a:r>
          </a:p>
          <a:p>
            <a:pPr>
              <a:buSzPct val="100000"/>
              <a:buFont typeface="Arial" pitchFamily="34" charset="0"/>
              <a:buChar char="•"/>
            </a:pPr>
            <a:r>
              <a:rPr lang="tr-TR" sz="28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Fonksiyon Geri Dönüş Değeri 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Olan İşaretçiler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SzPct val="100000"/>
              <a:buFont typeface="Arial" pitchFamily="34" charset="0"/>
              <a:buChar char="•"/>
            </a:pP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Struct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ve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İşaretçiler</a:t>
            </a:r>
            <a:endParaRPr lang="tr-TR" sz="2800" dirty="0">
              <a:latin typeface="Times New Roman" pitchFamily="18" charset="0"/>
              <a:cs typeface="Times New Roman" pitchFamily="18" charset="0"/>
            </a:endParaRPr>
          </a:p>
          <a:p>
            <a:pPr>
              <a:buSzPct val="100000"/>
              <a:buFont typeface="Arial" pitchFamily="34" charset="0"/>
              <a:buChar char="•"/>
            </a:pP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Fonksiyon İşaretçileri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SzPct val="100000"/>
              <a:buFont typeface="Arial" pitchFamily="34" charset="0"/>
              <a:buChar char="•"/>
            </a:pPr>
            <a:endParaRPr lang="tr-TR" sz="2100" dirty="0">
              <a:latin typeface="Times New Roman" pitchFamily="18" charset="0"/>
              <a:cs typeface="Times New Roman" pitchFamily="18" charset="0"/>
            </a:endParaRPr>
          </a:p>
          <a:p>
            <a:pPr>
              <a:buSzPct val="100000"/>
              <a:buFont typeface="Arial" pitchFamily="34" charset="0"/>
              <a:buChar char="•"/>
            </a:pPr>
            <a:endParaRPr lang="tr-T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dirty="0">
                <a:latin typeface="Times New Roman" pitchFamily="18" charset="0"/>
                <a:cs typeface="Times New Roman" pitchFamily="18" charset="0"/>
              </a:rPr>
              <a:t>Genel Bakış…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2</a:t>
            </a:fld>
            <a:endParaRPr lang="tr-TR"/>
          </a:p>
        </p:txBody>
      </p:sp>
      <p:sp>
        <p:nvSpPr>
          <p:cNvPr id="7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nn-NO"/>
              <a:t>BLM 1002 – Bilgsayar Programlama 1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88208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27"/>
    </mc:Choice>
    <mc:Fallback xmlns="">
      <p:transition spd="slow" advTm="927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031318" cy="990600"/>
          </a:xfrm>
        </p:spPr>
        <p:txBody>
          <a:bodyPr/>
          <a:lstStyle/>
          <a:p>
            <a:pPr algn="ctr"/>
            <a:endParaRPr lang="tr-TR" dirty="0">
              <a:solidFill>
                <a:srgbClr val="808000"/>
              </a:solidFill>
            </a:endParaRPr>
          </a:p>
        </p:txBody>
      </p:sp>
      <p:sp>
        <p:nvSpPr>
          <p:cNvPr id="4" name="2 İçerik Yer Tutucusu"/>
          <p:cNvSpPr>
            <a:spLocks noGrp="1"/>
          </p:cNvSpPr>
          <p:nvPr>
            <p:ph sz="quarter" idx="1"/>
          </p:nvPr>
        </p:nvSpPr>
        <p:spPr>
          <a:xfrm>
            <a:off x="107504" y="2714620"/>
            <a:ext cx="8928992" cy="1471610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tr-TR" sz="440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İşaretçiler - </a:t>
            </a:r>
            <a:r>
              <a:rPr lang="tr-TR" sz="4400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Bölüm 2</a:t>
            </a:r>
          </a:p>
        </p:txBody>
      </p:sp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3</a:t>
            </a:fld>
            <a:endParaRPr lang="tr-TR"/>
          </a:p>
        </p:txBody>
      </p:sp>
      <p:sp>
        <p:nvSpPr>
          <p:cNvPr id="7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nn-NO"/>
              <a:t>BLM 1002 – Bilgsayar Programlama 1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24948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5"/>
    </mc:Choice>
    <mc:Fallback xmlns="">
      <p:transition spd="slow" advTm="51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İşaretçiler ve Diziler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4</a:t>
            </a:fld>
            <a:endParaRPr lang="tr-TR"/>
          </a:p>
        </p:txBody>
      </p:sp>
      <p:sp>
        <p:nvSpPr>
          <p:cNvPr id="5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7775776" cy="4536504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Diziler ve işaretçiler, C’de </a:t>
            </a:r>
            <a:r>
              <a:rPr lang="tr-TR" sz="2800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özel bir biçimde ilişkilidirler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800" b="1" dirty="0">
                <a:latin typeface="Times New Roman" pitchFamily="18" charset="0"/>
                <a:cs typeface="Times New Roman" pitchFamily="18" charset="0"/>
              </a:rPr>
              <a:t>Birbirleri yerine </a:t>
            </a:r>
            <a:r>
              <a:rPr lang="tr-TR" sz="2800" u="sng" dirty="0">
                <a:latin typeface="Times New Roman" pitchFamily="18" charset="0"/>
                <a:cs typeface="Times New Roman" pitchFamily="18" charset="0"/>
              </a:rPr>
              <a:t>hemen hemen her yerde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 kullanılabilirler.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Bir </a:t>
            </a:r>
            <a:r>
              <a:rPr lang="tr-TR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dizi ismi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tr-TR" sz="2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sabit bir işaretçi 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olarak düşünülebilir.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Bu yüzden, </a:t>
            </a:r>
            <a:r>
              <a:rPr lang="tr-TR" sz="2800" i="1" dirty="0">
                <a:latin typeface="Times New Roman" pitchFamily="18" charset="0"/>
                <a:cs typeface="Times New Roman" pitchFamily="18" charset="0"/>
              </a:rPr>
              <a:t>bir dizinin herhangi bir elemanına </a:t>
            </a:r>
            <a:r>
              <a:rPr lang="tr-TR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işaretçi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 ile de </a:t>
            </a:r>
            <a:r>
              <a:rPr lang="tr-TR" sz="2800" u="sng" dirty="0">
                <a:latin typeface="Times New Roman" pitchFamily="18" charset="0"/>
                <a:cs typeface="Times New Roman" pitchFamily="18" charset="0"/>
              </a:rPr>
              <a:t>erişilebilir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nn-NO"/>
              <a:t>BLM 1002 – Bilgsayar Programlama 1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1437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6"/>
    </mc:Choice>
    <mc:Fallback xmlns="">
      <p:transition spd="slow" advTm="516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İşaretçiler ve Diziler </a:t>
            </a:r>
            <a:r>
              <a:rPr lang="tr-TR" sz="2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</a:p>
        </p:txBody>
      </p:sp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5</a:t>
            </a:fld>
            <a:endParaRPr lang="tr-TR"/>
          </a:p>
        </p:txBody>
      </p:sp>
      <p:sp>
        <p:nvSpPr>
          <p:cNvPr id="5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4751440" cy="4536504"/>
          </a:xfrm>
        </p:spPr>
        <p:txBody>
          <a:bodyPr>
            <a:normAutofit/>
          </a:bodyPr>
          <a:lstStyle/>
          <a:p>
            <a:pPr marL="0" indent="0" algn="just">
              <a:buSzPct val="100000"/>
              <a:buNone/>
            </a:pPr>
            <a:r>
              <a:rPr lang="tr-TR" sz="2800" b="1" dirty="0" err="1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sz="2800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kutle</a:t>
            </a:r>
            <a:r>
              <a:rPr lang="tr-T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[5], *p, *q;</a:t>
            </a:r>
          </a:p>
          <a:p>
            <a:pPr marL="0" indent="0" algn="just">
              <a:buSzPct val="100000"/>
              <a:buNone/>
            </a:pPr>
            <a:endParaRPr lang="tr-TR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SzPct val="100000"/>
              <a:buNone/>
            </a:pPr>
            <a:r>
              <a:rPr lang="tr-T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p = </a:t>
            </a:r>
            <a:r>
              <a:rPr lang="tr-TR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kutle</a:t>
            </a:r>
            <a:r>
              <a:rPr lang="tr-T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just">
              <a:buSzPct val="100000"/>
              <a:buNone/>
            </a:pPr>
            <a:endParaRPr lang="tr-TR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SzPct val="100000"/>
              <a:buNone/>
            </a:pPr>
            <a:r>
              <a:rPr lang="tr-T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p = &amp;</a:t>
            </a:r>
            <a:r>
              <a:rPr lang="tr-TR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kutle</a:t>
            </a:r>
            <a:r>
              <a:rPr lang="tr-T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[0];</a:t>
            </a:r>
          </a:p>
          <a:p>
            <a:pPr marL="0" indent="0" algn="just">
              <a:buSzPct val="100000"/>
              <a:buNone/>
            </a:pPr>
            <a:endParaRPr lang="tr-TR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SzPct val="100000"/>
              <a:buNone/>
            </a:pPr>
            <a:r>
              <a:rPr lang="tr-T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q = &amp;</a:t>
            </a:r>
            <a:r>
              <a:rPr lang="tr-TR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kutle</a:t>
            </a:r>
            <a:r>
              <a:rPr lang="tr-T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[4]</a:t>
            </a:r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nn-NO"/>
              <a:t>BLM 1002 – Bilgsayar Programlama 1</a:t>
            </a:r>
            <a:endParaRPr lang="tr-TR" dirty="0"/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3059832" y="2924944"/>
            <a:ext cx="18002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364088" y="2540223"/>
            <a:ext cx="30963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2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Elemanın adresi p işaretçisine atanıyor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3779912" y="3897052"/>
            <a:ext cx="108012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3563888" y="5013176"/>
            <a:ext cx="129614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364088" y="3512331"/>
            <a:ext cx="30963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2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Elemanın adresi p işaretçisine atanıyor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4088" y="4620542"/>
            <a:ext cx="30963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Elemanın adresi </a:t>
            </a:r>
            <a:r>
              <a:rPr lang="en-US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tr-T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işaretçisine atanıyor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5776228"/>
            <a:ext cx="741878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Not:</a:t>
            </a:r>
            <a:r>
              <a:rPr lang="tr-T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Dizi adı bir işaretçi olduğu için doğrudan aynı tipteki bir işaretçiye atanabilir.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46216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19"/>
    </mc:Choice>
    <mc:Fallback xmlns="">
      <p:transition spd="slow" advTm="241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1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6</a:t>
            </a:fld>
            <a:endParaRPr lang="tr-TR"/>
          </a:p>
        </p:txBody>
      </p:sp>
      <p:sp>
        <p:nvSpPr>
          <p:cNvPr id="5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7775776" cy="4536504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Ayrıca, </a:t>
            </a:r>
            <a:r>
              <a:rPr lang="tr-TR" sz="2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 bir </a:t>
            </a:r>
            <a:r>
              <a:rPr lang="tr-TR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tamsayı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 olmak üzere </a:t>
            </a:r>
            <a:r>
              <a:rPr lang="tr-TR" sz="2800" u="sng" dirty="0">
                <a:latin typeface="Times New Roman" pitchFamily="18" charset="0"/>
                <a:cs typeface="Times New Roman" pitchFamily="18" charset="0"/>
              </a:rPr>
              <a:t>aşağıdaki iki ifade aynı anlamdadır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kutle</a:t>
            </a:r>
            <a:r>
              <a:rPr lang="tr-T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[i];</a:t>
            </a:r>
          </a:p>
          <a:p>
            <a:pPr marL="320040" lvl="1" indent="-320040" algn="just">
              <a:spcBef>
                <a:spcPts val="700"/>
              </a:spcBef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</a:pPr>
            <a:r>
              <a:rPr lang="tr-T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Bunun sebebi,</a:t>
            </a:r>
            <a:r>
              <a:rPr lang="tr-T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*(p + i);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tr-T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işaretçisi </a:t>
            </a:r>
            <a:r>
              <a:rPr lang="tr-TR" sz="25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kutle</a:t>
            </a:r>
            <a:r>
              <a:rPr lang="tr-TR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dizisinin başlangıç adresini tutmuş olmasıdır.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5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p+i</a:t>
            </a:r>
            <a:r>
              <a:rPr lang="tr-T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işlemi ile </a:t>
            </a:r>
            <a:r>
              <a:rPr lang="tr-TR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i+1. </a:t>
            </a:r>
            <a:r>
              <a:rPr lang="tr-T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elemanın adresi, ve </a:t>
            </a:r>
            <a:r>
              <a:rPr lang="tr-TR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*(</a:t>
            </a:r>
            <a:r>
              <a:rPr lang="tr-TR" sz="25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p+i</a:t>
            </a:r>
            <a:r>
              <a:rPr lang="tr-TR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tr-T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ile de bu adresteki değer hesaplanır.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*(</a:t>
            </a:r>
            <a:r>
              <a:rPr lang="tr-TR" sz="2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p+i</a:t>
            </a:r>
            <a:r>
              <a:rPr lang="tr-TR" sz="2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 </a:t>
            </a:r>
            <a:r>
              <a:rPr lang="tr-TR" sz="22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tr-TR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tr-TR" sz="22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nin</a:t>
            </a:r>
            <a:r>
              <a:rPr lang="tr-TR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gösterdiği adresten i blok ötedeki sayıyı 	           hesapla </a:t>
            </a:r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nn-NO"/>
              <a:t>BLM 1002 – Bilgsayar Programlama 1</a:t>
            </a:r>
            <a:endParaRPr lang="tr-TR" dirty="0"/>
          </a:p>
        </p:txBody>
      </p:sp>
      <p:sp>
        <p:nvSpPr>
          <p:cNvPr id="7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İşaretçiler ve Diziler </a:t>
            </a:r>
            <a:r>
              <a:rPr lang="tr-TR" sz="2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</a:p>
        </p:txBody>
      </p:sp>
    </p:spTree>
    <p:extLst>
      <p:ext uri="{BB962C8B-B14F-4D97-AF65-F5344CB8AC3E}">
        <p14:creationId xmlns:p14="http://schemas.microsoft.com/office/powerpoint/2010/main" val="350930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7</a:t>
            </a:fld>
            <a:endParaRPr lang="tr-TR"/>
          </a:p>
        </p:txBody>
      </p:sp>
      <p:sp>
        <p:nvSpPr>
          <p:cNvPr id="5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7775776" cy="4536504"/>
          </a:xfrm>
        </p:spPr>
        <p:txBody>
          <a:bodyPr>
            <a:normAutofit/>
          </a:bodyPr>
          <a:lstStyle/>
          <a:p>
            <a:pPr marL="0" indent="0" algn="ctr">
              <a:buSzPct val="100000"/>
              <a:buNone/>
            </a:pPr>
            <a:r>
              <a:rPr lang="en-US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Örnek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Birlikte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Yapalım</a:t>
            </a:r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…</a:t>
            </a:r>
            <a:endParaRPr lang="tr-TR" sz="22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nn-NO"/>
              <a:t>BLM 1002 – Bilgsayar Programlama 1</a:t>
            </a:r>
            <a:endParaRPr lang="tr-TR" dirty="0"/>
          </a:p>
        </p:txBody>
      </p:sp>
      <p:sp>
        <p:nvSpPr>
          <p:cNvPr id="7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İşaretçiler ve Diziler </a:t>
            </a:r>
            <a:r>
              <a:rPr lang="tr-TR" sz="2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40" y="2204864"/>
            <a:ext cx="6408712" cy="3976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3044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8</a:t>
            </a:fld>
            <a:endParaRPr lang="tr-TR"/>
          </a:p>
        </p:txBody>
      </p:sp>
      <p:sp>
        <p:nvSpPr>
          <p:cNvPr id="5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7775776" cy="4752528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SzPct val="100000"/>
              <a:buNone/>
            </a:pPr>
            <a:r>
              <a:rPr lang="tr-TR" sz="28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Örnek:</a:t>
            </a:r>
            <a:r>
              <a:rPr lang="tr-TR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*(p+3); </a:t>
            </a:r>
          </a:p>
          <a:p>
            <a:pPr marL="0" indent="0" algn="just">
              <a:buSzPct val="100000"/>
              <a:buNone/>
            </a:pPr>
            <a:endParaRPr lang="tr-TR" sz="2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Bu deyimde 3, işaretçinin </a:t>
            </a:r>
            <a:r>
              <a:rPr lang="tr-TR" sz="26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offsetidir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İşaretçi, dizinin başlangıç adresini gösterirken, ve </a:t>
            </a:r>
            <a:r>
              <a:rPr lang="tr-TR" sz="2600" dirty="0" err="1">
                <a:latin typeface="Times New Roman" pitchFamily="18" charset="0"/>
                <a:cs typeface="Times New Roman" pitchFamily="18" charset="0"/>
              </a:rPr>
              <a:t>offset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 değeri dizi belirteciyle eştir. </a:t>
            </a:r>
            <a:r>
              <a:rPr lang="tr-TR" sz="2600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offset</a:t>
            </a:r>
            <a:r>
              <a:rPr lang="tr-TR" sz="26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dizinin hangi elemanının kullanılacağını belirtir</a:t>
            </a:r>
            <a:endParaRPr lang="tr-TR" sz="26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Bu gösterime </a:t>
            </a:r>
            <a:r>
              <a:rPr lang="tr-TR" sz="2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işaretçi/</a:t>
            </a:r>
            <a:r>
              <a:rPr lang="tr-TR" sz="26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offset</a:t>
            </a:r>
            <a:r>
              <a:rPr lang="tr-TR" sz="2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gösterimi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 denir.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Parantezler gereklidir çünkü </a:t>
            </a:r>
            <a:r>
              <a:rPr lang="tr-TR" sz="26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*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 operatörünün önceliği </a:t>
            </a:r>
            <a:r>
              <a:rPr lang="tr-TR" sz="26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 operatörünün önceliğinden yüksektir.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600" u="sng" dirty="0">
                <a:latin typeface="Times New Roman" pitchFamily="18" charset="0"/>
                <a:cs typeface="Times New Roman" pitchFamily="18" charset="0"/>
              </a:rPr>
              <a:t>Parantezler olmadan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 yukarıdaki ifade, </a:t>
            </a:r>
            <a:r>
              <a:rPr lang="tr-TR" sz="2600" u="sng" dirty="0">
                <a:latin typeface="Times New Roman" pitchFamily="18" charset="0"/>
                <a:cs typeface="Times New Roman" pitchFamily="18" charset="0"/>
              </a:rPr>
              <a:t>*p’ye 3 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eklerdi. (</a:t>
            </a:r>
            <a:r>
              <a:rPr lang="tr-TR" sz="2600" i="1" dirty="0">
                <a:latin typeface="Times New Roman" pitchFamily="18" charset="0"/>
                <a:cs typeface="Times New Roman" pitchFamily="18" charset="0"/>
              </a:rPr>
              <a:t>yani, p’nin  dizinin başlangıcını gösterdiği düşünülürse</a:t>
            </a:r>
            <a:r>
              <a:rPr lang="tr-TR" sz="2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tr-TR" sz="26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kutle</a:t>
            </a:r>
            <a:r>
              <a:rPr lang="tr-TR" sz="2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[0]’a 3 eklenirdi.)</a:t>
            </a:r>
            <a:endParaRPr lang="tr-TR" sz="26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nn-NO"/>
              <a:t>BLM 1002 – Bilgsayar Programlama 1</a:t>
            </a:r>
            <a:endParaRPr lang="tr-TR" dirty="0"/>
          </a:p>
        </p:txBody>
      </p:sp>
      <p:sp>
        <p:nvSpPr>
          <p:cNvPr id="7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İşaretçiler ve Diziler </a:t>
            </a:r>
            <a:r>
              <a:rPr lang="tr-TR" sz="2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</a:p>
        </p:txBody>
      </p:sp>
    </p:spTree>
    <p:extLst>
      <p:ext uri="{BB962C8B-B14F-4D97-AF65-F5344CB8AC3E}">
        <p14:creationId xmlns:p14="http://schemas.microsoft.com/office/powerpoint/2010/main" val="3186350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9</a:t>
            </a:fld>
            <a:endParaRPr lang="tr-TR"/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nn-NO"/>
              <a:t>BLM 1002 – Bilgsayar Programlama 1</a:t>
            </a:r>
            <a:endParaRPr lang="tr-TR" dirty="0"/>
          </a:p>
        </p:txBody>
      </p:sp>
      <p:sp>
        <p:nvSpPr>
          <p:cNvPr id="7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sz="3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Örnek1:</a:t>
            </a:r>
            <a:r>
              <a:rPr lang="tr-TR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İşaretçi/Dizi </a:t>
            </a:r>
            <a:r>
              <a:rPr lang="tr-TR" sz="3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Offset</a:t>
            </a:r>
            <a:r>
              <a:rPr lang="tr-TR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Yazdırma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1600200"/>
            <a:ext cx="8153400" cy="1108720"/>
          </a:xfrm>
        </p:spPr>
        <p:txBody>
          <a:bodyPr/>
          <a:lstStyle/>
          <a:p>
            <a:pPr>
              <a:buSzPct val="100000"/>
              <a:buFont typeface="Arial" panose="020B0604020202020204" pitchFamily="34" charset="0"/>
              <a:buChar char="•"/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Aşağıdaki ekran çıktısının C programlama dilinde kodunu yazalım.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9672" y="2348880"/>
            <a:ext cx="4573187" cy="3672408"/>
          </a:xfrm>
          <a:prstGeom prst="rect">
            <a:avLst/>
          </a:prstGeom>
        </p:spPr>
      </p:pic>
      <p:sp>
        <p:nvSpPr>
          <p:cNvPr id="9" name="Content Placeholder 2"/>
          <p:cNvSpPr txBox="1">
            <a:spLocks/>
          </p:cNvSpPr>
          <p:nvPr/>
        </p:nvSpPr>
        <p:spPr>
          <a:xfrm>
            <a:off x="333000" y="3501008"/>
            <a:ext cx="4527032" cy="1540768"/>
          </a:xfrm>
          <a:prstGeom prst="rect">
            <a:avLst/>
          </a:prstGeom>
        </p:spPr>
        <p:txBody>
          <a:bodyPr vert="horz">
            <a:noAutofit/>
          </a:bodyPr>
          <a:lstStyle>
            <a:lvl1pPr marL="320040" indent="-320040" algn="l" rtl="0" eaLnBrk="1" latinLnBrk="0" hangingPunct="1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  <a:defRPr kumimoji="0" sz="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ts val="550"/>
              </a:spcBef>
              <a:buClr>
                <a:schemeClr val="accent1"/>
              </a:buClr>
              <a:buSzPct val="70000"/>
              <a:buFont typeface="Wingdings 2"/>
              <a:buChar char="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rtl="0" eaLnBrk="1" latinLnBrk="0" hangingPunct="1">
              <a:spcBef>
                <a:spcPts val="500"/>
              </a:spcBef>
              <a:buClr>
                <a:schemeClr val="accent2"/>
              </a:buClr>
              <a:buSzPct val="75000"/>
              <a:buFont typeface="Wingdings"/>
              <a:buChar char=""/>
              <a:defRPr kumimoji="0"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rtl="0" eaLnBrk="1" latinLnBrk="0" hangingPunct="1">
              <a:spcBef>
                <a:spcPts val="400"/>
              </a:spcBef>
              <a:buClr>
                <a:schemeClr val="accent3"/>
              </a:buClr>
              <a:buSzPct val="7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rtl="0" eaLnBrk="1" latinLnBrk="0" hangingPunct="1">
              <a:spcBef>
                <a:spcPts val="400"/>
              </a:spcBef>
              <a:buClr>
                <a:schemeClr val="accent4"/>
              </a:buClr>
              <a:buSzPct val="65000"/>
              <a:buFont typeface="Wingdings"/>
              <a:buChar char="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SzPct val="100000"/>
              <a:buFont typeface="Arial" panose="020B0604020202020204" pitchFamily="34" charset="0"/>
              <a:buChar char="•"/>
            </a:pPr>
            <a:r>
              <a:rPr lang="tr-T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b[] = {10, 20, 30, 40};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00000"/>
              <a:buFont typeface="Arial" panose="020B0604020202020204" pitchFamily="34" charset="0"/>
              <a:buChar char="•"/>
            </a:pPr>
            <a:r>
              <a:rPr lang="en-US" sz="25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işaretçisi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tanımla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SzPct val="100000"/>
              <a:buFont typeface="Arial" panose="020B0604020202020204" pitchFamily="34" charset="0"/>
              <a:buChar char="•"/>
            </a:pPr>
            <a:r>
              <a:rPr 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sz="25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yöntem</a:t>
            </a:r>
            <a:r>
              <a:rPr 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için </a:t>
            </a:r>
            <a:r>
              <a:rPr 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</a:t>
            </a:r>
            <a:r>
              <a:rPr lang="en-US" sz="25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tane</a:t>
            </a:r>
            <a:r>
              <a:rPr lang="en-US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döngüsü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r-TR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4732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10</a:t>
            </a:fld>
            <a:endParaRPr lang="tr-TR"/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nn-NO"/>
              <a:t>BLM 1002 – Bilgsayar Programlama 1</a:t>
            </a:r>
            <a:endParaRPr lang="tr-TR" dirty="0"/>
          </a:p>
        </p:txBody>
      </p:sp>
      <p:sp>
        <p:nvSpPr>
          <p:cNvPr id="7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sz="3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Örnek1:</a:t>
            </a:r>
            <a:r>
              <a:rPr lang="tr-TR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İşaretçi/Dizi </a:t>
            </a:r>
            <a:r>
              <a:rPr lang="tr-TR" sz="38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Offset</a:t>
            </a:r>
            <a:r>
              <a:rPr lang="tr-TR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Yazdırma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1556792"/>
            <a:ext cx="5192794" cy="5223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801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D7772E-17CC-416E-B040-046C4ACE2A47}" type="slidenum">
              <a:rPr lang="en-US" altLang="tr-TR"/>
              <a:pPr>
                <a:defRPr/>
              </a:pPr>
              <a:t>11</a:t>
            </a:fld>
            <a:endParaRPr lang="en-US" altLang="tr-TR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tr-TR" dirty="0"/>
              <a:t>Soru?</a:t>
            </a:r>
            <a:endParaRPr lang="en-US" altLang="tr-TR" dirty="0"/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tr-TR" b="1" dirty="0" err="1"/>
              <a:t>ptr</a:t>
            </a:r>
            <a:r>
              <a:rPr lang="en-US" altLang="tr-TR" dirty="0"/>
              <a:t> </a:t>
            </a:r>
            <a:r>
              <a:rPr lang="tr-TR" altLang="tr-TR" dirty="0"/>
              <a:t> adres tutar, değer değiş</a:t>
            </a:r>
          </a:p>
          <a:p>
            <a:pPr eaLnBrk="1" hangingPunct="1"/>
            <a:r>
              <a:rPr lang="en-US" altLang="tr-TR" dirty="0" err="1"/>
              <a:t>ptr</a:t>
            </a:r>
            <a:r>
              <a:rPr lang="en-US" altLang="tr-TR" dirty="0"/>
              <a:t> </a:t>
            </a:r>
            <a:r>
              <a:rPr lang="tr-TR" altLang="tr-TR" dirty="0"/>
              <a:t> </a:t>
            </a:r>
            <a:r>
              <a:rPr lang="en-US" altLang="tr-TR" dirty="0" err="1"/>
              <a:t>i</a:t>
            </a:r>
            <a:r>
              <a:rPr lang="tr-TR" altLang="tr-TR" dirty="0"/>
              <a:t> </a:t>
            </a:r>
            <a:r>
              <a:rPr lang="tr-TR" altLang="tr-TR" dirty="0" err="1"/>
              <a:t>nin</a:t>
            </a:r>
            <a:r>
              <a:rPr lang="tr-TR" altLang="tr-TR" dirty="0"/>
              <a:t> değerini değil adresini tutar</a:t>
            </a:r>
            <a:endParaRPr lang="en-US" altLang="tr-TR" dirty="0"/>
          </a:p>
        </p:txBody>
      </p:sp>
      <p:sp>
        <p:nvSpPr>
          <p:cNvPr id="22533" name="Text Box 5"/>
          <p:cNvSpPr txBox="1">
            <a:spLocks noChangeArrowheads="1"/>
          </p:cNvSpPr>
          <p:nvPr/>
        </p:nvSpPr>
        <p:spPr bwMode="auto">
          <a:xfrm>
            <a:off x="610416" y="3766881"/>
            <a:ext cx="3733800" cy="2170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int</a:t>
            </a:r>
            <a:r>
              <a:rPr lang="en-US" altLang="tr-TR" sz="1600" b="1" dirty="0">
                <a:latin typeface="Courier New" panose="02070309020205020404" pitchFamily="49" charset="0"/>
              </a:rPr>
              <a:t> 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i</a:t>
            </a:r>
            <a:r>
              <a:rPr lang="en-US" altLang="tr-TR" sz="1600" b="1" dirty="0">
                <a:latin typeface="Courier New" panose="02070309020205020404" pitchFamily="49" charset="0"/>
              </a:rPr>
              <a:t> = 5;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int</a:t>
            </a:r>
            <a:r>
              <a:rPr lang="en-US" altLang="tr-TR" sz="1600" b="1" dirty="0">
                <a:latin typeface="Courier New" panose="02070309020205020404" pitchFamily="49" charset="0"/>
              </a:rPr>
              <a:t> </a:t>
            </a:r>
            <a:r>
              <a:rPr lang="en-US" altLang="tr-TR" sz="1600" b="1" dirty="0">
                <a:solidFill>
                  <a:srgbClr val="FF1717"/>
                </a:solidFill>
                <a:latin typeface="Courier New" panose="02070309020205020404" pitchFamily="49" charset="0"/>
              </a:rPr>
              <a:t>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= </a:t>
            </a:r>
            <a:r>
              <a:rPr lang="en-US" altLang="tr-TR" sz="1600" b="1" dirty="0">
                <a:solidFill>
                  <a:srgbClr val="FF1717"/>
                </a:solidFill>
                <a:latin typeface="Courier New" panose="02070309020205020404" pitchFamily="49" charset="0"/>
              </a:rPr>
              <a:t>&amp;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i</a:t>
            </a:r>
            <a:r>
              <a:rPr lang="en-US" altLang="tr-TR" sz="16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printf</a:t>
            </a:r>
            <a:r>
              <a:rPr lang="en-US" altLang="tr-TR" sz="1600" b="1" dirty="0">
                <a:latin typeface="Courier New" panose="02070309020205020404" pitchFamily="49" charset="0"/>
              </a:rPr>
              <a:t>(“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i</a:t>
            </a:r>
            <a:r>
              <a:rPr lang="en-US" altLang="tr-TR" sz="1600" b="1" dirty="0">
                <a:latin typeface="Courier New" panose="02070309020205020404" pitchFamily="49" charset="0"/>
              </a:rPr>
              <a:t> = %d\n”, 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i</a:t>
            </a:r>
            <a:r>
              <a:rPr lang="en-US" altLang="tr-TR" sz="1600" b="1" dirty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printf</a:t>
            </a:r>
            <a:r>
              <a:rPr lang="en-US" altLang="tr-TR" sz="1600" b="1" dirty="0">
                <a:latin typeface="Courier New" panose="02070309020205020404" pitchFamily="49" charset="0"/>
              </a:rPr>
              <a:t>(“*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= %d\n”, </a:t>
            </a:r>
            <a:r>
              <a:rPr lang="en-US" altLang="tr-TR" sz="1600" b="1" dirty="0">
                <a:solidFill>
                  <a:srgbClr val="FF1717"/>
                </a:solidFill>
                <a:latin typeface="Courier New" panose="02070309020205020404" pitchFamily="49" charset="0"/>
              </a:rPr>
              <a:t>*</a:t>
            </a:r>
            <a:r>
              <a:rPr lang="en-US" altLang="tr-TR" sz="1600" b="1" dirty="0" err="1">
                <a:solidFill>
                  <a:srgbClr val="FF1717"/>
                </a:solidFill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printf</a:t>
            </a:r>
            <a:r>
              <a:rPr lang="en-US" altLang="tr-TR" sz="1600" b="1" dirty="0">
                <a:latin typeface="Courier New" panose="02070309020205020404" pitchFamily="49" charset="0"/>
              </a:rPr>
              <a:t>(“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= %p\n”, </a:t>
            </a:r>
            <a:r>
              <a:rPr lang="en-US" altLang="tr-TR" sz="1600" b="1" dirty="0" err="1">
                <a:solidFill>
                  <a:srgbClr val="FF1717"/>
                </a:solidFill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);</a:t>
            </a:r>
          </a:p>
        </p:txBody>
      </p:sp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6705600" y="4419600"/>
            <a:ext cx="2057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2535" name="Text Box 7"/>
          <p:cNvSpPr txBox="1">
            <a:spLocks noChangeArrowheads="1"/>
          </p:cNvSpPr>
          <p:nvPr/>
        </p:nvSpPr>
        <p:spPr bwMode="auto">
          <a:xfrm>
            <a:off x="6096000" y="44196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22536" name="Text Box 8"/>
          <p:cNvSpPr txBox="1">
            <a:spLocks noChangeArrowheads="1"/>
          </p:cNvSpPr>
          <p:nvPr/>
        </p:nvSpPr>
        <p:spPr bwMode="auto">
          <a:xfrm>
            <a:off x="6705600" y="3429000"/>
            <a:ext cx="2057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address of i</a:t>
            </a:r>
          </a:p>
        </p:txBody>
      </p:sp>
      <p:sp>
        <p:nvSpPr>
          <p:cNvPr id="22537" name="Text Box 9"/>
          <p:cNvSpPr txBox="1">
            <a:spLocks noChangeArrowheads="1"/>
          </p:cNvSpPr>
          <p:nvPr/>
        </p:nvSpPr>
        <p:spPr bwMode="auto">
          <a:xfrm>
            <a:off x="6096000" y="3429000"/>
            <a:ext cx="609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2400">
                <a:latin typeface="Times New Roman" panose="02020603050405020304" pitchFamily="18" charset="0"/>
              </a:rPr>
              <a:t>ptr</a:t>
            </a:r>
          </a:p>
        </p:txBody>
      </p:sp>
      <p:sp>
        <p:nvSpPr>
          <p:cNvPr id="43018" name="Text Box 10"/>
          <p:cNvSpPr txBox="1">
            <a:spLocks noChangeArrowheads="1"/>
          </p:cNvSpPr>
          <p:nvPr/>
        </p:nvSpPr>
        <p:spPr bwMode="auto">
          <a:xfrm>
            <a:off x="4419600" y="4876800"/>
            <a:ext cx="1981200" cy="1446213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dirty="0"/>
              <a:t>Output: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dirty="0" err="1">
                <a:latin typeface="Courier New" panose="02070309020205020404" pitchFamily="49" charset="0"/>
              </a:rPr>
              <a:t>i</a:t>
            </a:r>
            <a:r>
              <a:rPr lang="en-US" altLang="tr-TR" sz="1600" dirty="0">
                <a:latin typeface="Courier New" panose="02070309020205020404" pitchFamily="49" charset="0"/>
              </a:rPr>
              <a:t> = 5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dirty="0">
                <a:latin typeface="Courier New" panose="02070309020205020404" pitchFamily="49" charset="0"/>
              </a:rPr>
              <a:t>*</a:t>
            </a:r>
            <a:r>
              <a:rPr lang="en-US" altLang="tr-TR" sz="1600" dirty="0" err="1">
                <a:latin typeface="Courier New" panose="02070309020205020404" pitchFamily="49" charset="0"/>
              </a:rPr>
              <a:t>ptr</a:t>
            </a:r>
            <a:r>
              <a:rPr lang="en-US" altLang="tr-TR" sz="1600" dirty="0">
                <a:latin typeface="Courier New" panose="02070309020205020404" pitchFamily="49" charset="0"/>
              </a:rPr>
              <a:t> = 5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dirty="0" err="1">
                <a:latin typeface="Courier New" panose="02070309020205020404" pitchFamily="49" charset="0"/>
              </a:rPr>
              <a:t>ptr</a:t>
            </a:r>
            <a:r>
              <a:rPr lang="en-US" altLang="tr-TR" sz="1600" dirty="0">
                <a:latin typeface="Courier New" panose="02070309020205020404" pitchFamily="49" charset="0"/>
              </a:rPr>
              <a:t> = effff5e0</a:t>
            </a:r>
          </a:p>
        </p:txBody>
      </p:sp>
      <p:grpSp>
        <p:nvGrpSpPr>
          <p:cNvPr id="22539" name="Group 11"/>
          <p:cNvGrpSpPr>
            <a:grpSpLocks/>
          </p:cNvGrpSpPr>
          <p:nvPr/>
        </p:nvGrpSpPr>
        <p:grpSpPr bwMode="auto">
          <a:xfrm rot="900000">
            <a:off x="6553200" y="3581400"/>
            <a:ext cx="334963" cy="914400"/>
            <a:chOff x="4205" y="2592"/>
            <a:chExt cx="259" cy="1005"/>
          </a:xfrm>
        </p:grpSpPr>
        <p:sp>
          <p:nvSpPr>
            <p:cNvPr id="22541" name="AutoShape 12"/>
            <p:cNvSpPr>
              <a:spLocks noChangeArrowheads="1"/>
            </p:cNvSpPr>
            <p:nvPr/>
          </p:nvSpPr>
          <p:spPr bwMode="auto">
            <a:xfrm rot="6300000">
              <a:off x="3821" y="3069"/>
              <a:ext cx="912" cy="144"/>
            </a:xfrm>
            <a:prstGeom prst="rightArrow">
              <a:avLst>
                <a:gd name="adj1" fmla="val 34722"/>
                <a:gd name="adj2" fmla="val 65972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7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folHlink"/>
                </a:buClr>
                <a:buSzPct val="7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tr-TR" altLang="tr-TR" sz="2400">
                <a:latin typeface="Times New Roman" panose="02020603050405020304" pitchFamily="18" charset="0"/>
              </a:endParaRPr>
            </a:p>
          </p:txBody>
        </p:sp>
        <p:sp>
          <p:nvSpPr>
            <p:cNvPr id="43021" name="AutoShape 13"/>
            <p:cNvSpPr>
              <a:spLocks noChangeArrowheads="1"/>
            </p:cNvSpPr>
            <p:nvPr/>
          </p:nvSpPr>
          <p:spPr bwMode="auto">
            <a:xfrm>
              <a:off x="4320" y="2588"/>
              <a:ext cx="144" cy="148"/>
            </a:xfrm>
            <a:prstGeom prst="star5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tr-TR"/>
            </a:p>
          </p:txBody>
        </p:sp>
      </p:grpSp>
      <p:sp>
        <p:nvSpPr>
          <p:cNvPr id="43022" name="AutoShape 14"/>
          <p:cNvSpPr>
            <a:spLocks noChangeArrowheads="1"/>
          </p:cNvSpPr>
          <p:nvPr/>
        </p:nvSpPr>
        <p:spPr bwMode="auto">
          <a:xfrm>
            <a:off x="6629400" y="5029200"/>
            <a:ext cx="2362200" cy="1295400"/>
          </a:xfrm>
          <a:prstGeom prst="cloudCallout">
            <a:avLst>
              <a:gd name="adj1" fmla="val -63574"/>
              <a:gd name="adj2" fmla="val 34681"/>
            </a:avLst>
          </a:prstGeom>
          <a:solidFill>
            <a:srgbClr val="FF1717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tr-TR" sz="1800" b="1">
                <a:solidFill>
                  <a:schemeClr val="bg1"/>
                </a:solidFill>
                <a:latin typeface="Times New Roman" panose="02020603050405020304" pitchFamily="18" charset="0"/>
              </a:rPr>
              <a:t>value of ptr = address of i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tr-TR" sz="1800" b="1">
                <a:solidFill>
                  <a:schemeClr val="bg1"/>
                </a:solidFill>
                <a:latin typeface="Times New Roman" panose="02020603050405020304" pitchFamily="18" charset="0"/>
              </a:rPr>
              <a:t>in memory</a:t>
            </a:r>
          </a:p>
        </p:txBody>
      </p:sp>
    </p:spTree>
    <p:extLst>
      <p:ext uri="{BB962C8B-B14F-4D97-AF65-F5344CB8AC3E}">
        <p14:creationId xmlns:p14="http://schemas.microsoft.com/office/powerpoint/2010/main" val="4274755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8" grpId="0" animBg="1" autoUpdateAnimBg="0"/>
      <p:bldP spid="43022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A82C981-F8A9-4181-8E60-DF37FDCF45D4}" type="slidenum">
              <a:rPr lang="en-US" altLang="tr-TR"/>
              <a:pPr>
                <a:defRPr/>
              </a:pPr>
              <a:t>12</a:t>
            </a:fld>
            <a:endParaRPr lang="en-US" altLang="tr-TR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 sz="4000"/>
              <a:t>Twin Operators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tr-TR" dirty="0"/>
              <a:t>&amp;: Address-of operator</a:t>
            </a:r>
          </a:p>
          <a:p>
            <a:pPr lvl="1" eaLnBrk="1" hangingPunct="1"/>
            <a:r>
              <a:rPr lang="en-US" altLang="tr-TR" dirty="0"/>
              <a:t>Get the </a:t>
            </a:r>
            <a:r>
              <a:rPr lang="en-US" altLang="tr-TR" i="1" dirty="0"/>
              <a:t>address</a:t>
            </a:r>
            <a:r>
              <a:rPr lang="en-US" altLang="tr-TR" dirty="0"/>
              <a:t> of an entity</a:t>
            </a:r>
          </a:p>
          <a:p>
            <a:pPr lvl="2" eaLnBrk="1" hangingPunct="1"/>
            <a:r>
              <a:rPr lang="en-US" altLang="tr-TR" dirty="0"/>
              <a:t>e.g.</a:t>
            </a:r>
            <a:r>
              <a:rPr lang="en-US" altLang="tr-TR" dirty="0">
                <a:latin typeface="Courier New" panose="02070309020205020404" pitchFamily="49" charset="0"/>
              </a:rPr>
              <a:t> </a:t>
            </a:r>
            <a:r>
              <a:rPr lang="en-US" altLang="tr-TR" b="1" dirty="0" err="1">
                <a:latin typeface="Courier New" panose="02070309020205020404" pitchFamily="49" charset="0"/>
              </a:rPr>
              <a:t>ptr</a:t>
            </a:r>
            <a:r>
              <a:rPr lang="en-US" altLang="tr-TR" b="1" dirty="0">
                <a:latin typeface="Courier New" panose="02070309020205020404" pitchFamily="49" charset="0"/>
              </a:rPr>
              <a:t> = &amp;j;</a:t>
            </a:r>
          </a:p>
        </p:txBody>
      </p:sp>
      <p:graphicFrame>
        <p:nvGraphicFramePr>
          <p:cNvPr id="34879" name="Group 63"/>
          <p:cNvGraphicFramePr>
            <a:graphicFrameLocks noGrp="1"/>
          </p:cNvGraphicFramePr>
          <p:nvPr/>
        </p:nvGraphicFramePr>
        <p:xfrm>
          <a:off x="685800" y="4267200"/>
          <a:ext cx="7772400" cy="1177928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3253402838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8622246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49566037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65721579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8244430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14874312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68832674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873347005"/>
                    </a:ext>
                  </a:extLst>
                </a:gridCol>
              </a:tblGrid>
              <a:tr h="36569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Addr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Content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Addr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Content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Addr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Content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Addr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Content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426387"/>
                  </a:ext>
                </a:extLst>
              </a:tr>
              <a:tr h="40611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1000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i: 40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1001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j: 33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1002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k: 58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1003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m: 74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980770"/>
                  </a:ext>
                </a:extLst>
              </a:tr>
              <a:tr h="40611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1004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ptr</a:t>
                      </a:r>
                      <a:r>
                        <a:rPr kumimoji="0" lang="en-US" alt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: 1001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1005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1006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1007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276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4458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5F7C541-FA56-4837-A8A5-0CD75FDCF9E6}" type="slidenum">
              <a:rPr lang="en-US" altLang="tr-TR"/>
              <a:pPr>
                <a:defRPr/>
              </a:pPr>
              <a:t>13</a:t>
            </a:fld>
            <a:endParaRPr lang="en-US" altLang="tr-T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 sz="4000"/>
              <a:t>Twin Operators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*: De-reference operator</a:t>
            </a:r>
          </a:p>
          <a:p>
            <a:pPr lvl="1" eaLnBrk="1" hangingPunct="1"/>
            <a:r>
              <a:rPr lang="en-US" altLang="tr-TR"/>
              <a:t>Refer to the </a:t>
            </a:r>
            <a:r>
              <a:rPr lang="en-US" altLang="tr-TR" i="1"/>
              <a:t>content</a:t>
            </a:r>
            <a:r>
              <a:rPr lang="en-US" altLang="tr-TR"/>
              <a:t> of the referee</a:t>
            </a:r>
          </a:p>
          <a:p>
            <a:pPr lvl="2" eaLnBrk="1" hangingPunct="1"/>
            <a:r>
              <a:rPr lang="en-US" altLang="tr-TR"/>
              <a:t>e.g.</a:t>
            </a:r>
            <a:r>
              <a:rPr lang="en-US" altLang="tr-TR" b="1">
                <a:latin typeface="Courier New" panose="02070309020205020404" pitchFamily="49" charset="0"/>
              </a:rPr>
              <a:t> *ptr = 99;</a:t>
            </a:r>
          </a:p>
        </p:txBody>
      </p:sp>
      <p:graphicFrame>
        <p:nvGraphicFramePr>
          <p:cNvPr id="87044" name="Group 4"/>
          <p:cNvGraphicFramePr>
            <a:graphicFrameLocks noGrp="1"/>
          </p:cNvGraphicFramePr>
          <p:nvPr/>
        </p:nvGraphicFramePr>
        <p:xfrm>
          <a:off x="685800" y="4267200"/>
          <a:ext cx="7772400" cy="1177928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83516796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57444379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44509976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76220268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97184450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4455893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421638474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139598735"/>
                    </a:ext>
                  </a:extLst>
                </a:gridCol>
              </a:tblGrid>
              <a:tr h="365693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Addr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Content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Addr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Content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Addr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Content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Addr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Content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865700"/>
                  </a:ext>
                </a:extLst>
              </a:tr>
              <a:tr h="40611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1000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i: 40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1001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j: 99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1002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k: 58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1003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m: 74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693942"/>
                  </a:ext>
                </a:extLst>
              </a:tr>
              <a:tr h="406116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1004</a:t>
                      </a:r>
                    </a:p>
                  </a:txBody>
                  <a:tcPr marT="45688" marB="4568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ptr: 1001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1005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1006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1007</a:t>
                      </a: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688" marB="4568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55183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2681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E35E3E5-1ECF-4508-B8BA-46BAF75F9B10}" type="slidenum">
              <a:rPr lang="en-US" altLang="tr-TR"/>
              <a:pPr>
                <a:defRPr/>
              </a:pPr>
              <a:t>14</a:t>
            </a:fld>
            <a:endParaRPr lang="en-US" altLang="tr-TR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r-TR" altLang="tr-TR" dirty="0"/>
              <a:t>Örnek</a:t>
            </a:r>
            <a:endParaRPr lang="en-US" altLang="tr-TR" dirty="0"/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228600" y="1981200"/>
            <a:ext cx="8534400" cy="400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solidFill>
                  <a:srgbClr val="FF1717"/>
                </a:solidFill>
                <a:latin typeface="Courier New" panose="02070309020205020404" pitchFamily="49" charset="0"/>
              </a:rPr>
              <a:t>int</a:t>
            </a:r>
            <a:r>
              <a:rPr lang="en-US" altLang="tr-TR" sz="1600" b="1" dirty="0">
                <a:solidFill>
                  <a:srgbClr val="FF1717"/>
                </a:solidFill>
                <a:latin typeface="Courier New" panose="02070309020205020404" pitchFamily="49" charset="0"/>
              </a:rPr>
              <a:t> </a:t>
            </a:r>
            <a:r>
              <a:rPr lang="en-US" altLang="tr-TR" sz="1600" b="1" dirty="0" err="1">
                <a:solidFill>
                  <a:srgbClr val="FF1717"/>
                </a:solidFill>
                <a:latin typeface="Courier New" panose="02070309020205020404" pitchFamily="49" charset="0"/>
              </a:rPr>
              <a:t>i</a:t>
            </a:r>
            <a:r>
              <a:rPr lang="en-US" altLang="tr-TR" sz="1600" b="1" dirty="0">
                <a:solidFill>
                  <a:srgbClr val="FF1717"/>
                </a:solidFill>
                <a:latin typeface="Courier New" panose="02070309020205020404" pitchFamily="49" charset="0"/>
              </a:rPr>
              <a:t> = 5, j = 10;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int</a:t>
            </a:r>
            <a:r>
              <a:rPr lang="en-US" altLang="tr-TR" sz="1600" b="1" dirty="0">
                <a:latin typeface="Courier New" panose="02070309020205020404" pitchFamily="49" charset="0"/>
              </a:rPr>
              <a:t> 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;  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int</a:t>
            </a:r>
            <a:r>
              <a:rPr lang="en-US" altLang="tr-TR" sz="1600" b="1" dirty="0">
                <a:latin typeface="Courier New" panose="02070309020205020404" pitchFamily="49" charset="0"/>
              </a:rPr>
              <a:t> **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pptr</a:t>
            </a:r>
            <a:r>
              <a:rPr lang="en-US" altLang="tr-TR" sz="1600" b="1" dirty="0">
                <a:latin typeface="Courier New" panose="02070309020205020404" pitchFamily="49" charset="0"/>
              </a:rPr>
              <a:t>;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= &amp;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i</a:t>
            </a:r>
            <a:r>
              <a:rPr lang="en-US" altLang="tr-TR" sz="1600" b="1" dirty="0">
                <a:latin typeface="Courier New" panose="02070309020205020404" pitchFamily="49" charset="0"/>
              </a:rPr>
              <a:t>;  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pptr</a:t>
            </a:r>
            <a:r>
              <a:rPr lang="en-US" altLang="tr-TR" sz="1600" b="1" dirty="0">
                <a:latin typeface="Courier New" panose="02070309020205020404" pitchFamily="49" charset="0"/>
              </a:rPr>
              <a:t> = &amp;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;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latin typeface="Courier New" panose="02070309020205020404" pitchFamily="49" charset="0"/>
              </a:rPr>
              <a:t>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=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latin typeface="Courier New" panose="02070309020205020404" pitchFamily="49" charset="0"/>
              </a:rPr>
              <a:t>**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pptr</a:t>
            </a:r>
            <a:r>
              <a:rPr lang="en-US" altLang="tr-TR" sz="1600" b="1" dirty="0">
                <a:latin typeface="Courier New" panose="02070309020205020404" pitchFamily="49" charset="0"/>
              </a:rPr>
              <a:t> = 7;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= &amp;j;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latin typeface="Courier New" panose="02070309020205020404" pitchFamily="49" charset="0"/>
              </a:rPr>
              <a:t>**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pptr</a:t>
            </a:r>
            <a:r>
              <a:rPr lang="en-US" altLang="tr-TR" sz="1600" b="1" dirty="0">
                <a:latin typeface="Courier New" panose="02070309020205020404" pitchFamily="49" charset="0"/>
              </a:rPr>
              <a:t> = 9;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latin typeface="Courier New" panose="02070309020205020404" pitchFamily="49" charset="0"/>
              </a:rPr>
              <a:t>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pptr</a:t>
            </a:r>
            <a:r>
              <a:rPr lang="en-US" altLang="tr-TR" sz="1600" b="1" dirty="0">
                <a:latin typeface="Courier New" panose="02070309020205020404" pitchFamily="49" charset="0"/>
              </a:rPr>
              <a:t> = &amp;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i</a:t>
            </a:r>
            <a:r>
              <a:rPr lang="en-US" altLang="tr-TR" sz="16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latin typeface="Courier New" panose="02070309020205020404" pitchFamily="49" charset="0"/>
              </a:rPr>
              <a:t>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= -2;</a:t>
            </a:r>
          </a:p>
        </p:txBody>
      </p:sp>
      <p:graphicFrame>
        <p:nvGraphicFramePr>
          <p:cNvPr id="46364" name="Group 2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725377"/>
              </p:ext>
            </p:extLst>
          </p:nvPr>
        </p:nvGraphicFramePr>
        <p:xfrm>
          <a:off x="2339752" y="3297237"/>
          <a:ext cx="6705600" cy="2951163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53179593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106249198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171359098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279633410"/>
                    </a:ext>
                  </a:extLst>
                </a:gridCol>
              </a:tblGrid>
              <a:tr h="381090"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Data Table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452575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Type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6827563"/>
                  </a:ext>
                </a:extLst>
              </a:tr>
              <a:tr h="36584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i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integer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5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646638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j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integer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3516642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444306"/>
                  </a:ext>
                </a:extLst>
              </a:tr>
              <a:tr h="36584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3288459"/>
                  </a:ext>
                </a:extLst>
              </a:tr>
              <a:tr h="69510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5988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6848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F48B6D-1077-47D6-8B68-87081FC76A39}" type="slidenum">
              <a:rPr lang="en-US" altLang="tr-TR"/>
              <a:pPr>
                <a:defRPr/>
              </a:pPr>
              <a:t>15</a:t>
            </a:fld>
            <a:endParaRPr lang="en-US" altLang="tr-TR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An Illustration</a:t>
            </a:r>
          </a:p>
        </p:txBody>
      </p:sp>
      <p:sp>
        <p:nvSpPr>
          <p:cNvPr id="29700" name="Text Box 3"/>
          <p:cNvSpPr txBox="1">
            <a:spLocks noChangeArrowheads="1"/>
          </p:cNvSpPr>
          <p:nvPr/>
        </p:nvSpPr>
        <p:spPr bwMode="auto">
          <a:xfrm>
            <a:off x="228600" y="1981200"/>
            <a:ext cx="8534400" cy="400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int i = 5, j = 10;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solidFill>
                  <a:srgbClr val="FF1717"/>
                </a:solidFill>
                <a:latin typeface="Courier New" panose="02070309020205020404" pitchFamily="49" charset="0"/>
              </a:rPr>
              <a:t>int *ptr;    /* declare a pointer-to-integer variable */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int **pptr;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 = &amp;i;  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pptr = &amp;ptr;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**pptr = 7;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 = &amp;j;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**pptr = 9;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*pptr = &amp;i;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-2;</a:t>
            </a:r>
          </a:p>
        </p:txBody>
      </p:sp>
      <p:graphicFrame>
        <p:nvGraphicFramePr>
          <p:cNvPr id="53296" name="Group 48"/>
          <p:cNvGraphicFramePr>
            <a:graphicFrameLocks noGrp="1"/>
          </p:cNvGraphicFramePr>
          <p:nvPr/>
        </p:nvGraphicFramePr>
        <p:xfrm>
          <a:off x="2209800" y="3810000"/>
          <a:ext cx="6705600" cy="2951163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68500923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499459353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384960446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085185145"/>
                    </a:ext>
                  </a:extLst>
                </a:gridCol>
              </a:tblGrid>
              <a:tr h="381090"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Data Table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991642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Type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268583"/>
                  </a:ext>
                </a:extLst>
              </a:tr>
              <a:tr h="36584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5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1715106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j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3015622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ptr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int *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integer pointer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772134"/>
                  </a:ext>
                </a:extLst>
              </a:tr>
              <a:tr h="36584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3954403"/>
                  </a:ext>
                </a:extLst>
              </a:tr>
              <a:tr h="69510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6038692"/>
                  </a:ext>
                </a:extLst>
              </a:tr>
            </a:tbl>
          </a:graphicData>
        </a:graphic>
      </p:graphicFrame>
      <p:grpSp>
        <p:nvGrpSpPr>
          <p:cNvPr id="29740" name="Group 45"/>
          <p:cNvGrpSpPr>
            <a:grpSpLocks/>
          </p:cNvGrpSpPr>
          <p:nvPr/>
        </p:nvGrpSpPr>
        <p:grpSpPr bwMode="auto">
          <a:xfrm>
            <a:off x="7848600" y="5334000"/>
            <a:ext cx="381000" cy="381000"/>
            <a:chOff x="4656" y="480"/>
            <a:chExt cx="864" cy="864"/>
          </a:xfrm>
        </p:grpSpPr>
        <p:sp>
          <p:nvSpPr>
            <p:cNvPr id="29741" name="AutoShape 43"/>
            <p:cNvSpPr>
              <a:spLocks noChangeArrowheads="1"/>
            </p:cNvSpPr>
            <p:nvPr/>
          </p:nvSpPr>
          <p:spPr bwMode="auto">
            <a:xfrm>
              <a:off x="4656" y="480"/>
              <a:ext cx="864" cy="8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  <a:gd name="T12" fmla="*/ 1550 w 21600"/>
                <a:gd name="T13" fmla="*/ 9650 h 21600"/>
                <a:gd name="T14" fmla="*/ 20050 w 21600"/>
                <a:gd name="T15" fmla="*/ 1195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800" y="0"/>
                  </a:moveTo>
                  <a:lnTo>
                    <a:pt x="8775" y="2725"/>
                  </a:lnTo>
                  <a:lnTo>
                    <a:pt x="9650" y="2725"/>
                  </a:lnTo>
                  <a:lnTo>
                    <a:pt x="9650" y="9650"/>
                  </a:lnTo>
                  <a:lnTo>
                    <a:pt x="2725" y="9650"/>
                  </a:lnTo>
                  <a:lnTo>
                    <a:pt x="2725" y="8775"/>
                  </a:lnTo>
                  <a:lnTo>
                    <a:pt x="0" y="10800"/>
                  </a:lnTo>
                  <a:lnTo>
                    <a:pt x="2725" y="12825"/>
                  </a:lnTo>
                  <a:lnTo>
                    <a:pt x="2725" y="11950"/>
                  </a:lnTo>
                  <a:lnTo>
                    <a:pt x="9650" y="11950"/>
                  </a:lnTo>
                  <a:lnTo>
                    <a:pt x="9650" y="18875"/>
                  </a:lnTo>
                  <a:lnTo>
                    <a:pt x="8775" y="18875"/>
                  </a:lnTo>
                  <a:lnTo>
                    <a:pt x="10800" y="21600"/>
                  </a:lnTo>
                  <a:lnTo>
                    <a:pt x="12825" y="18875"/>
                  </a:lnTo>
                  <a:lnTo>
                    <a:pt x="11950" y="18875"/>
                  </a:lnTo>
                  <a:lnTo>
                    <a:pt x="11950" y="11950"/>
                  </a:lnTo>
                  <a:lnTo>
                    <a:pt x="18875" y="11950"/>
                  </a:lnTo>
                  <a:lnTo>
                    <a:pt x="18875" y="12825"/>
                  </a:lnTo>
                  <a:lnTo>
                    <a:pt x="21600" y="10800"/>
                  </a:lnTo>
                  <a:lnTo>
                    <a:pt x="18875" y="8775"/>
                  </a:lnTo>
                  <a:lnTo>
                    <a:pt x="18875" y="9650"/>
                  </a:lnTo>
                  <a:lnTo>
                    <a:pt x="11950" y="9650"/>
                  </a:lnTo>
                  <a:lnTo>
                    <a:pt x="11950" y="2725"/>
                  </a:lnTo>
                  <a:lnTo>
                    <a:pt x="12825" y="2725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29742" name="AutoShape 44"/>
            <p:cNvSpPr>
              <a:spLocks noChangeArrowheads="1"/>
            </p:cNvSpPr>
            <p:nvPr/>
          </p:nvSpPr>
          <p:spPr bwMode="auto">
            <a:xfrm rot="2700000">
              <a:off x="4656" y="480"/>
              <a:ext cx="864" cy="8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  <a:gd name="T12" fmla="*/ 1550 w 21600"/>
                <a:gd name="T13" fmla="*/ 9650 h 21600"/>
                <a:gd name="T14" fmla="*/ 20050 w 21600"/>
                <a:gd name="T15" fmla="*/ 1195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800" y="0"/>
                  </a:moveTo>
                  <a:lnTo>
                    <a:pt x="8775" y="2725"/>
                  </a:lnTo>
                  <a:lnTo>
                    <a:pt x="9650" y="2725"/>
                  </a:lnTo>
                  <a:lnTo>
                    <a:pt x="9650" y="9650"/>
                  </a:lnTo>
                  <a:lnTo>
                    <a:pt x="2725" y="9650"/>
                  </a:lnTo>
                  <a:lnTo>
                    <a:pt x="2725" y="8775"/>
                  </a:lnTo>
                  <a:lnTo>
                    <a:pt x="0" y="10800"/>
                  </a:lnTo>
                  <a:lnTo>
                    <a:pt x="2725" y="12825"/>
                  </a:lnTo>
                  <a:lnTo>
                    <a:pt x="2725" y="11950"/>
                  </a:lnTo>
                  <a:lnTo>
                    <a:pt x="9650" y="11950"/>
                  </a:lnTo>
                  <a:lnTo>
                    <a:pt x="9650" y="18875"/>
                  </a:lnTo>
                  <a:lnTo>
                    <a:pt x="8775" y="18875"/>
                  </a:lnTo>
                  <a:lnTo>
                    <a:pt x="10800" y="21600"/>
                  </a:lnTo>
                  <a:lnTo>
                    <a:pt x="12825" y="18875"/>
                  </a:lnTo>
                  <a:lnTo>
                    <a:pt x="11950" y="18875"/>
                  </a:lnTo>
                  <a:lnTo>
                    <a:pt x="11950" y="11950"/>
                  </a:lnTo>
                  <a:lnTo>
                    <a:pt x="18875" y="11950"/>
                  </a:lnTo>
                  <a:lnTo>
                    <a:pt x="18875" y="12825"/>
                  </a:lnTo>
                  <a:lnTo>
                    <a:pt x="21600" y="10800"/>
                  </a:lnTo>
                  <a:lnTo>
                    <a:pt x="18875" y="8775"/>
                  </a:lnTo>
                  <a:lnTo>
                    <a:pt x="18875" y="9650"/>
                  </a:lnTo>
                  <a:lnTo>
                    <a:pt x="11950" y="9650"/>
                  </a:lnTo>
                  <a:lnTo>
                    <a:pt x="11950" y="2725"/>
                  </a:lnTo>
                  <a:lnTo>
                    <a:pt x="12825" y="2725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</p:grpSp>
    </p:spTree>
    <p:extLst>
      <p:ext uri="{BB962C8B-B14F-4D97-AF65-F5344CB8AC3E}">
        <p14:creationId xmlns:p14="http://schemas.microsoft.com/office/powerpoint/2010/main" val="1959374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67012FE-7EE2-43FC-A057-C30C44DBC863}" type="slidenum">
              <a:rPr lang="en-US" altLang="tr-TR"/>
              <a:pPr>
                <a:defRPr/>
              </a:pPr>
              <a:t>16</a:t>
            </a:fld>
            <a:endParaRPr lang="en-US" altLang="tr-TR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An Illustration</a:t>
            </a:r>
          </a:p>
        </p:txBody>
      </p:sp>
      <p:sp>
        <p:nvSpPr>
          <p:cNvPr id="30724" name="Text Box 3"/>
          <p:cNvSpPr txBox="1">
            <a:spLocks noChangeArrowheads="1"/>
          </p:cNvSpPr>
          <p:nvPr/>
        </p:nvSpPr>
        <p:spPr bwMode="auto">
          <a:xfrm>
            <a:off x="228600" y="1981200"/>
            <a:ext cx="8534400" cy="400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int i = 5, j = 10;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int *ptr;  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solidFill>
                  <a:srgbClr val="FF1717"/>
                </a:solidFill>
                <a:latin typeface="Courier New" panose="02070309020205020404" pitchFamily="49" charset="0"/>
              </a:rPr>
              <a:t>int **pptr;  /* declare a pointer-to-pointer-to-integer variable */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 = &amp;i;  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pptr = &amp;ptr;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**pptr = 7;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 = &amp;j;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**pptr = 9;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*pptr = &amp;i;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-2;</a:t>
            </a:r>
          </a:p>
        </p:txBody>
      </p:sp>
      <p:graphicFrame>
        <p:nvGraphicFramePr>
          <p:cNvPr id="54322" name="Group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862106"/>
              </p:ext>
            </p:extLst>
          </p:nvPr>
        </p:nvGraphicFramePr>
        <p:xfrm>
          <a:off x="2195736" y="3329235"/>
          <a:ext cx="6705600" cy="2951163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1556101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758364377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80364152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958077899"/>
                    </a:ext>
                  </a:extLst>
                </a:gridCol>
              </a:tblGrid>
              <a:tr h="381090"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Data Table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713660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Type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257403"/>
                  </a:ext>
                </a:extLst>
              </a:tr>
              <a:tr h="36584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5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676283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j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257428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ptr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 *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pointer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148946"/>
                  </a:ext>
                </a:extLst>
              </a:tr>
              <a:tr h="36584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pptr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int **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integer pointer pointer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7710"/>
                  </a:ext>
                </a:extLst>
              </a:tr>
              <a:tr h="69510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0882908"/>
                  </a:ext>
                </a:extLst>
              </a:tr>
            </a:tbl>
          </a:graphicData>
        </a:graphic>
      </p:graphicFrame>
      <p:grpSp>
        <p:nvGrpSpPr>
          <p:cNvPr id="30764" name="Group 43"/>
          <p:cNvGrpSpPr>
            <a:grpSpLocks/>
          </p:cNvGrpSpPr>
          <p:nvPr/>
        </p:nvGrpSpPr>
        <p:grpSpPr bwMode="auto">
          <a:xfrm>
            <a:off x="7848600" y="5334000"/>
            <a:ext cx="381000" cy="381000"/>
            <a:chOff x="4656" y="480"/>
            <a:chExt cx="864" cy="864"/>
          </a:xfrm>
        </p:grpSpPr>
        <p:sp>
          <p:nvSpPr>
            <p:cNvPr id="30769" name="AutoShape 44"/>
            <p:cNvSpPr>
              <a:spLocks noChangeArrowheads="1"/>
            </p:cNvSpPr>
            <p:nvPr/>
          </p:nvSpPr>
          <p:spPr bwMode="auto">
            <a:xfrm>
              <a:off x="4656" y="480"/>
              <a:ext cx="864" cy="8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  <a:gd name="T12" fmla="*/ 1550 w 21600"/>
                <a:gd name="T13" fmla="*/ 9650 h 21600"/>
                <a:gd name="T14" fmla="*/ 20050 w 21600"/>
                <a:gd name="T15" fmla="*/ 1195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800" y="0"/>
                  </a:moveTo>
                  <a:lnTo>
                    <a:pt x="8775" y="2725"/>
                  </a:lnTo>
                  <a:lnTo>
                    <a:pt x="9650" y="2725"/>
                  </a:lnTo>
                  <a:lnTo>
                    <a:pt x="9650" y="9650"/>
                  </a:lnTo>
                  <a:lnTo>
                    <a:pt x="2725" y="9650"/>
                  </a:lnTo>
                  <a:lnTo>
                    <a:pt x="2725" y="8775"/>
                  </a:lnTo>
                  <a:lnTo>
                    <a:pt x="0" y="10800"/>
                  </a:lnTo>
                  <a:lnTo>
                    <a:pt x="2725" y="12825"/>
                  </a:lnTo>
                  <a:lnTo>
                    <a:pt x="2725" y="11950"/>
                  </a:lnTo>
                  <a:lnTo>
                    <a:pt x="9650" y="11950"/>
                  </a:lnTo>
                  <a:lnTo>
                    <a:pt x="9650" y="18875"/>
                  </a:lnTo>
                  <a:lnTo>
                    <a:pt x="8775" y="18875"/>
                  </a:lnTo>
                  <a:lnTo>
                    <a:pt x="10800" y="21600"/>
                  </a:lnTo>
                  <a:lnTo>
                    <a:pt x="12825" y="18875"/>
                  </a:lnTo>
                  <a:lnTo>
                    <a:pt x="11950" y="18875"/>
                  </a:lnTo>
                  <a:lnTo>
                    <a:pt x="11950" y="11950"/>
                  </a:lnTo>
                  <a:lnTo>
                    <a:pt x="18875" y="11950"/>
                  </a:lnTo>
                  <a:lnTo>
                    <a:pt x="18875" y="12825"/>
                  </a:lnTo>
                  <a:lnTo>
                    <a:pt x="21600" y="10800"/>
                  </a:lnTo>
                  <a:lnTo>
                    <a:pt x="18875" y="8775"/>
                  </a:lnTo>
                  <a:lnTo>
                    <a:pt x="18875" y="9650"/>
                  </a:lnTo>
                  <a:lnTo>
                    <a:pt x="11950" y="9650"/>
                  </a:lnTo>
                  <a:lnTo>
                    <a:pt x="11950" y="2725"/>
                  </a:lnTo>
                  <a:lnTo>
                    <a:pt x="12825" y="2725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0770" name="AutoShape 45"/>
            <p:cNvSpPr>
              <a:spLocks noChangeArrowheads="1"/>
            </p:cNvSpPr>
            <p:nvPr/>
          </p:nvSpPr>
          <p:spPr bwMode="auto">
            <a:xfrm rot="2700000">
              <a:off x="4656" y="480"/>
              <a:ext cx="864" cy="8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  <a:gd name="T12" fmla="*/ 1550 w 21600"/>
                <a:gd name="T13" fmla="*/ 9650 h 21600"/>
                <a:gd name="T14" fmla="*/ 20050 w 21600"/>
                <a:gd name="T15" fmla="*/ 1195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800" y="0"/>
                  </a:moveTo>
                  <a:lnTo>
                    <a:pt x="8775" y="2725"/>
                  </a:lnTo>
                  <a:lnTo>
                    <a:pt x="9650" y="2725"/>
                  </a:lnTo>
                  <a:lnTo>
                    <a:pt x="9650" y="9650"/>
                  </a:lnTo>
                  <a:lnTo>
                    <a:pt x="2725" y="9650"/>
                  </a:lnTo>
                  <a:lnTo>
                    <a:pt x="2725" y="8775"/>
                  </a:lnTo>
                  <a:lnTo>
                    <a:pt x="0" y="10800"/>
                  </a:lnTo>
                  <a:lnTo>
                    <a:pt x="2725" y="12825"/>
                  </a:lnTo>
                  <a:lnTo>
                    <a:pt x="2725" y="11950"/>
                  </a:lnTo>
                  <a:lnTo>
                    <a:pt x="9650" y="11950"/>
                  </a:lnTo>
                  <a:lnTo>
                    <a:pt x="9650" y="18875"/>
                  </a:lnTo>
                  <a:lnTo>
                    <a:pt x="8775" y="18875"/>
                  </a:lnTo>
                  <a:lnTo>
                    <a:pt x="10800" y="21600"/>
                  </a:lnTo>
                  <a:lnTo>
                    <a:pt x="12825" y="18875"/>
                  </a:lnTo>
                  <a:lnTo>
                    <a:pt x="11950" y="18875"/>
                  </a:lnTo>
                  <a:lnTo>
                    <a:pt x="11950" y="11950"/>
                  </a:lnTo>
                  <a:lnTo>
                    <a:pt x="18875" y="11950"/>
                  </a:lnTo>
                  <a:lnTo>
                    <a:pt x="18875" y="12825"/>
                  </a:lnTo>
                  <a:lnTo>
                    <a:pt x="21600" y="10800"/>
                  </a:lnTo>
                  <a:lnTo>
                    <a:pt x="18875" y="8775"/>
                  </a:lnTo>
                  <a:lnTo>
                    <a:pt x="18875" y="9650"/>
                  </a:lnTo>
                  <a:lnTo>
                    <a:pt x="11950" y="9650"/>
                  </a:lnTo>
                  <a:lnTo>
                    <a:pt x="11950" y="2725"/>
                  </a:lnTo>
                  <a:lnTo>
                    <a:pt x="12825" y="2725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</p:grpSp>
      <p:grpSp>
        <p:nvGrpSpPr>
          <p:cNvPr id="30765" name="Group 46"/>
          <p:cNvGrpSpPr>
            <a:grpSpLocks/>
          </p:cNvGrpSpPr>
          <p:nvPr/>
        </p:nvGrpSpPr>
        <p:grpSpPr bwMode="auto">
          <a:xfrm>
            <a:off x="7848600" y="5715000"/>
            <a:ext cx="381000" cy="381000"/>
            <a:chOff x="4656" y="480"/>
            <a:chExt cx="864" cy="864"/>
          </a:xfrm>
        </p:grpSpPr>
        <p:sp>
          <p:nvSpPr>
            <p:cNvPr id="30767" name="AutoShape 47"/>
            <p:cNvSpPr>
              <a:spLocks noChangeArrowheads="1"/>
            </p:cNvSpPr>
            <p:nvPr/>
          </p:nvSpPr>
          <p:spPr bwMode="auto">
            <a:xfrm>
              <a:off x="4656" y="480"/>
              <a:ext cx="864" cy="8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  <a:gd name="T12" fmla="*/ 1550 w 21600"/>
                <a:gd name="T13" fmla="*/ 9650 h 21600"/>
                <a:gd name="T14" fmla="*/ 20050 w 21600"/>
                <a:gd name="T15" fmla="*/ 1195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800" y="0"/>
                  </a:moveTo>
                  <a:lnTo>
                    <a:pt x="8775" y="2725"/>
                  </a:lnTo>
                  <a:lnTo>
                    <a:pt x="9650" y="2725"/>
                  </a:lnTo>
                  <a:lnTo>
                    <a:pt x="9650" y="9650"/>
                  </a:lnTo>
                  <a:lnTo>
                    <a:pt x="2725" y="9650"/>
                  </a:lnTo>
                  <a:lnTo>
                    <a:pt x="2725" y="8775"/>
                  </a:lnTo>
                  <a:lnTo>
                    <a:pt x="0" y="10800"/>
                  </a:lnTo>
                  <a:lnTo>
                    <a:pt x="2725" y="12825"/>
                  </a:lnTo>
                  <a:lnTo>
                    <a:pt x="2725" y="11950"/>
                  </a:lnTo>
                  <a:lnTo>
                    <a:pt x="9650" y="11950"/>
                  </a:lnTo>
                  <a:lnTo>
                    <a:pt x="9650" y="18875"/>
                  </a:lnTo>
                  <a:lnTo>
                    <a:pt x="8775" y="18875"/>
                  </a:lnTo>
                  <a:lnTo>
                    <a:pt x="10800" y="21600"/>
                  </a:lnTo>
                  <a:lnTo>
                    <a:pt x="12825" y="18875"/>
                  </a:lnTo>
                  <a:lnTo>
                    <a:pt x="11950" y="18875"/>
                  </a:lnTo>
                  <a:lnTo>
                    <a:pt x="11950" y="11950"/>
                  </a:lnTo>
                  <a:lnTo>
                    <a:pt x="18875" y="11950"/>
                  </a:lnTo>
                  <a:lnTo>
                    <a:pt x="18875" y="12825"/>
                  </a:lnTo>
                  <a:lnTo>
                    <a:pt x="21600" y="10800"/>
                  </a:lnTo>
                  <a:lnTo>
                    <a:pt x="18875" y="8775"/>
                  </a:lnTo>
                  <a:lnTo>
                    <a:pt x="18875" y="9650"/>
                  </a:lnTo>
                  <a:lnTo>
                    <a:pt x="11950" y="9650"/>
                  </a:lnTo>
                  <a:lnTo>
                    <a:pt x="11950" y="2725"/>
                  </a:lnTo>
                  <a:lnTo>
                    <a:pt x="12825" y="2725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0768" name="AutoShape 48"/>
            <p:cNvSpPr>
              <a:spLocks noChangeArrowheads="1"/>
            </p:cNvSpPr>
            <p:nvPr/>
          </p:nvSpPr>
          <p:spPr bwMode="auto">
            <a:xfrm rot="2700000">
              <a:off x="4656" y="480"/>
              <a:ext cx="864" cy="8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  <a:gd name="T12" fmla="*/ 1550 w 21600"/>
                <a:gd name="T13" fmla="*/ 9650 h 21600"/>
                <a:gd name="T14" fmla="*/ 20050 w 21600"/>
                <a:gd name="T15" fmla="*/ 1195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800" y="0"/>
                  </a:moveTo>
                  <a:lnTo>
                    <a:pt x="8775" y="2725"/>
                  </a:lnTo>
                  <a:lnTo>
                    <a:pt x="9650" y="2725"/>
                  </a:lnTo>
                  <a:lnTo>
                    <a:pt x="9650" y="9650"/>
                  </a:lnTo>
                  <a:lnTo>
                    <a:pt x="2725" y="9650"/>
                  </a:lnTo>
                  <a:lnTo>
                    <a:pt x="2725" y="8775"/>
                  </a:lnTo>
                  <a:lnTo>
                    <a:pt x="0" y="10800"/>
                  </a:lnTo>
                  <a:lnTo>
                    <a:pt x="2725" y="12825"/>
                  </a:lnTo>
                  <a:lnTo>
                    <a:pt x="2725" y="11950"/>
                  </a:lnTo>
                  <a:lnTo>
                    <a:pt x="9650" y="11950"/>
                  </a:lnTo>
                  <a:lnTo>
                    <a:pt x="9650" y="18875"/>
                  </a:lnTo>
                  <a:lnTo>
                    <a:pt x="8775" y="18875"/>
                  </a:lnTo>
                  <a:lnTo>
                    <a:pt x="10800" y="21600"/>
                  </a:lnTo>
                  <a:lnTo>
                    <a:pt x="12825" y="18875"/>
                  </a:lnTo>
                  <a:lnTo>
                    <a:pt x="11950" y="18875"/>
                  </a:lnTo>
                  <a:lnTo>
                    <a:pt x="11950" y="11950"/>
                  </a:lnTo>
                  <a:lnTo>
                    <a:pt x="18875" y="11950"/>
                  </a:lnTo>
                  <a:lnTo>
                    <a:pt x="18875" y="12825"/>
                  </a:lnTo>
                  <a:lnTo>
                    <a:pt x="21600" y="10800"/>
                  </a:lnTo>
                  <a:lnTo>
                    <a:pt x="18875" y="8775"/>
                  </a:lnTo>
                  <a:lnTo>
                    <a:pt x="18875" y="9650"/>
                  </a:lnTo>
                  <a:lnTo>
                    <a:pt x="11950" y="9650"/>
                  </a:lnTo>
                  <a:lnTo>
                    <a:pt x="11950" y="2725"/>
                  </a:lnTo>
                  <a:lnTo>
                    <a:pt x="12825" y="2725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</p:grpSp>
      <p:sp>
        <p:nvSpPr>
          <p:cNvPr id="30766" name="AutoShape 49"/>
          <p:cNvSpPr>
            <a:spLocks noChangeArrowheads="1"/>
          </p:cNvSpPr>
          <p:nvPr/>
        </p:nvSpPr>
        <p:spPr bwMode="auto">
          <a:xfrm>
            <a:off x="3779912" y="5811495"/>
            <a:ext cx="2895600" cy="457200"/>
          </a:xfrm>
          <a:prstGeom prst="cloudCallout">
            <a:avLst>
              <a:gd name="adj1" fmla="val -5593"/>
              <a:gd name="adj2" fmla="val -97917"/>
            </a:avLst>
          </a:prstGeom>
          <a:solidFill>
            <a:srgbClr val="CCFFCC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tr-TR" sz="1800" dirty="0">
                <a:latin typeface="Times New Roman" panose="02020603050405020304" pitchFamily="18" charset="0"/>
              </a:rPr>
              <a:t>Double Indirection</a:t>
            </a:r>
          </a:p>
        </p:txBody>
      </p:sp>
    </p:spTree>
    <p:extLst>
      <p:ext uri="{BB962C8B-B14F-4D97-AF65-F5344CB8AC3E}">
        <p14:creationId xmlns:p14="http://schemas.microsoft.com/office/powerpoint/2010/main" val="587394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9E0999-524E-491F-83E9-4B7B69206DA6}" type="slidenum">
              <a:rPr lang="en-US" altLang="tr-TR"/>
              <a:pPr>
                <a:defRPr/>
              </a:pPr>
              <a:t>17</a:t>
            </a:fld>
            <a:endParaRPr lang="en-US" altLang="tr-TR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An Illustration</a:t>
            </a:r>
          </a:p>
        </p:txBody>
      </p:sp>
      <p:sp>
        <p:nvSpPr>
          <p:cNvPr id="31748" name="Text Box 3"/>
          <p:cNvSpPr txBox="1">
            <a:spLocks noChangeArrowheads="1"/>
          </p:cNvSpPr>
          <p:nvPr/>
        </p:nvSpPr>
        <p:spPr bwMode="auto">
          <a:xfrm>
            <a:off x="228600" y="1981200"/>
            <a:ext cx="8534400" cy="400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int i = 5, j = 10;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int *ptr;  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int **pptr;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solidFill>
                  <a:srgbClr val="FF1717"/>
                </a:solidFill>
                <a:latin typeface="Courier New" panose="02070309020205020404" pitchFamily="49" charset="0"/>
              </a:rPr>
              <a:t>ptr = &amp;i;    /* store address-of i to ptr */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pptr = &amp;ptr;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**pptr = 7;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 = &amp;j;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**pptr = 9;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*pptr = &amp;i;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-2;</a:t>
            </a:r>
          </a:p>
        </p:txBody>
      </p:sp>
      <p:graphicFrame>
        <p:nvGraphicFramePr>
          <p:cNvPr id="55343" name="Group 47"/>
          <p:cNvGraphicFramePr>
            <a:graphicFrameLocks noGrp="1"/>
          </p:cNvGraphicFramePr>
          <p:nvPr/>
        </p:nvGraphicFramePr>
        <p:xfrm>
          <a:off x="2209800" y="3810000"/>
          <a:ext cx="6705600" cy="2951163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320541991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998082922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827691856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813320550"/>
                    </a:ext>
                  </a:extLst>
                </a:gridCol>
              </a:tblGrid>
              <a:tr h="381090"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Data Table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0089428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Type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953505"/>
                  </a:ext>
                </a:extLst>
              </a:tr>
              <a:tr h="36584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5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0962661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j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7935997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ptr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 *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pointer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address of i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216284"/>
                  </a:ext>
                </a:extLst>
              </a:tr>
              <a:tr h="36584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pptr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 **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pointer pointer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5324539"/>
                  </a:ext>
                </a:extLst>
              </a:tr>
              <a:tr h="69510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*ptr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de-reference of ptr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tr-TR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5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5263427"/>
                  </a:ext>
                </a:extLst>
              </a:tr>
            </a:tbl>
          </a:graphicData>
        </a:graphic>
      </p:graphicFrame>
      <p:grpSp>
        <p:nvGrpSpPr>
          <p:cNvPr id="31788" name="Group 43"/>
          <p:cNvGrpSpPr>
            <a:grpSpLocks/>
          </p:cNvGrpSpPr>
          <p:nvPr/>
        </p:nvGrpSpPr>
        <p:grpSpPr bwMode="auto">
          <a:xfrm>
            <a:off x="7848600" y="5715000"/>
            <a:ext cx="381000" cy="381000"/>
            <a:chOff x="4656" y="480"/>
            <a:chExt cx="864" cy="864"/>
          </a:xfrm>
        </p:grpSpPr>
        <p:sp>
          <p:nvSpPr>
            <p:cNvPr id="31790" name="AutoShape 44"/>
            <p:cNvSpPr>
              <a:spLocks noChangeArrowheads="1"/>
            </p:cNvSpPr>
            <p:nvPr/>
          </p:nvSpPr>
          <p:spPr bwMode="auto">
            <a:xfrm>
              <a:off x="4656" y="480"/>
              <a:ext cx="864" cy="8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  <a:gd name="T12" fmla="*/ 1550 w 21600"/>
                <a:gd name="T13" fmla="*/ 9650 h 21600"/>
                <a:gd name="T14" fmla="*/ 20050 w 21600"/>
                <a:gd name="T15" fmla="*/ 1195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800" y="0"/>
                  </a:moveTo>
                  <a:lnTo>
                    <a:pt x="8775" y="2725"/>
                  </a:lnTo>
                  <a:lnTo>
                    <a:pt x="9650" y="2725"/>
                  </a:lnTo>
                  <a:lnTo>
                    <a:pt x="9650" y="9650"/>
                  </a:lnTo>
                  <a:lnTo>
                    <a:pt x="2725" y="9650"/>
                  </a:lnTo>
                  <a:lnTo>
                    <a:pt x="2725" y="8775"/>
                  </a:lnTo>
                  <a:lnTo>
                    <a:pt x="0" y="10800"/>
                  </a:lnTo>
                  <a:lnTo>
                    <a:pt x="2725" y="12825"/>
                  </a:lnTo>
                  <a:lnTo>
                    <a:pt x="2725" y="11950"/>
                  </a:lnTo>
                  <a:lnTo>
                    <a:pt x="9650" y="11950"/>
                  </a:lnTo>
                  <a:lnTo>
                    <a:pt x="9650" y="18875"/>
                  </a:lnTo>
                  <a:lnTo>
                    <a:pt x="8775" y="18875"/>
                  </a:lnTo>
                  <a:lnTo>
                    <a:pt x="10800" y="21600"/>
                  </a:lnTo>
                  <a:lnTo>
                    <a:pt x="12825" y="18875"/>
                  </a:lnTo>
                  <a:lnTo>
                    <a:pt x="11950" y="18875"/>
                  </a:lnTo>
                  <a:lnTo>
                    <a:pt x="11950" y="11950"/>
                  </a:lnTo>
                  <a:lnTo>
                    <a:pt x="18875" y="11950"/>
                  </a:lnTo>
                  <a:lnTo>
                    <a:pt x="18875" y="12825"/>
                  </a:lnTo>
                  <a:lnTo>
                    <a:pt x="21600" y="10800"/>
                  </a:lnTo>
                  <a:lnTo>
                    <a:pt x="18875" y="8775"/>
                  </a:lnTo>
                  <a:lnTo>
                    <a:pt x="18875" y="9650"/>
                  </a:lnTo>
                  <a:lnTo>
                    <a:pt x="11950" y="9650"/>
                  </a:lnTo>
                  <a:lnTo>
                    <a:pt x="11950" y="2725"/>
                  </a:lnTo>
                  <a:lnTo>
                    <a:pt x="12825" y="2725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1791" name="AutoShape 45"/>
            <p:cNvSpPr>
              <a:spLocks noChangeArrowheads="1"/>
            </p:cNvSpPr>
            <p:nvPr/>
          </p:nvSpPr>
          <p:spPr bwMode="auto">
            <a:xfrm rot="2700000">
              <a:off x="4656" y="480"/>
              <a:ext cx="864" cy="8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  <a:gd name="T12" fmla="*/ 1550 w 21600"/>
                <a:gd name="T13" fmla="*/ 9650 h 21600"/>
                <a:gd name="T14" fmla="*/ 20050 w 21600"/>
                <a:gd name="T15" fmla="*/ 1195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800" y="0"/>
                  </a:moveTo>
                  <a:lnTo>
                    <a:pt x="8775" y="2725"/>
                  </a:lnTo>
                  <a:lnTo>
                    <a:pt x="9650" y="2725"/>
                  </a:lnTo>
                  <a:lnTo>
                    <a:pt x="9650" y="9650"/>
                  </a:lnTo>
                  <a:lnTo>
                    <a:pt x="2725" y="9650"/>
                  </a:lnTo>
                  <a:lnTo>
                    <a:pt x="2725" y="8775"/>
                  </a:lnTo>
                  <a:lnTo>
                    <a:pt x="0" y="10800"/>
                  </a:lnTo>
                  <a:lnTo>
                    <a:pt x="2725" y="12825"/>
                  </a:lnTo>
                  <a:lnTo>
                    <a:pt x="2725" y="11950"/>
                  </a:lnTo>
                  <a:lnTo>
                    <a:pt x="9650" y="11950"/>
                  </a:lnTo>
                  <a:lnTo>
                    <a:pt x="9650" y="18875"/>
                  </a:lnTo>
                  <a:lnTo>
                    <a:pt x="8775" y="18875"/>
                  </a:lnTo>
                  <a:lnTo>
                    <a:pt x="10800" y="21600"/>
                  </a:lnTo>
                  <a:lnTo>
                    <a:pt x="12825" y="18875"/>
                  </a:lnTo>
                  <a:lnTo>
                    <a:pt x="11950" y="18875"/>
                  </a:lnTo>
                  <a:lnTo>
                    <a:pt x="11950" y="11950"/>
                  </a:lnTo>
                  <a:lnTo>
                    <a:pt x="18875" y="11950"/>
                  </a:lnTo>
                  <a:lnTo>
                    <a:pt x="18875" y="12825"/>
                  </a:lnTo>
                  <a:lnTo>
                    <a:pt x="21600" y="10800"/>
                  </a:lnTo>
                  <a:lnTo>
                    <a:pt x="18875" y="8775"/>
                  </a:lnTo>
                  <a:lnTo>
                    <a:pt x="18875" y="9650"/>
                  </a:lnTo>
                  <a:lnTo>
                    <a:pt x="11950" y="9650"/>
                  </a:lnTo>
                  <a:lnTo>
                    <a:pt x="11950" y="2725"/>
                  </a:lnTo>
                  <a:lnTo>
                    <a:pt x="12825" y="2725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</p:grpSp>
      <p:sp>
        <p:nvSpPr>
          <p:cNvPr id="31789" name="AutoShape 46"/>
          <p:cNvSpPr>
            <a:spLocks noChangeArrowheads="1"/>
          </p:cNvSpPr>
          <p:nvPr/>
        </p:nvSpPr>
        <p:spPr bwMode="auto">
          <a:xfrm rot="10800000">
            <a:off x="1905000" y="4572000"/>
            <a:ext cx="533400" cy="990600"/>
          </a:xfrm>
          <a:prstGeom prst="curvedLeftArrow">
            <a:avLst>
              <a:gd name="adj1" fmla="val 17583"/>
              <a:gd name="adj2" fmla="val 54726"/>
              <a:gd name="adj3" fmla="val 3333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941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EDFAC3-6AC2-4F10-ACF9-F1C9F9C28B22}" type="slidenum">
              <a:rPr lang="en-US" altLang="tr-TR"/>
              <a:pPr>
                <a:defRPr/>
              </a:pPr>
              <a:t>18</a:t>
            </a:fld>
            <a:endParaRPr lang="en-US" altLang="tr-TR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An Illustration</a:t>
            </a:r>
          </a:p>
        </p:txBody>
      </p:sp>
      <p:sp>
        <p:nvSpPr>
          <p:cNvPr id="32772" name="Text Box 3"/>
          <p:cNvSpPr txBox="1">
            <a:spLocks noChangeArrowheads="1"/>
          </p:cNvSpPr>
          <p:nvPr/>
        </p:nvSpPr>
        <p:spPr bwMode="auto">
          <a:xfrm>
            <a:off x="228600" y="1981200"/>
            <a:ext cx="8534400" cy="400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int i = 5, j = 10;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int *ptr;  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int **pptr;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 = &amp;i;  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solidFill>
                  <a:srgbClr val="FF1717"/>
                </a:solidFill>
                <a:latin typeface="Courier New" panose="02070309020205020404" pitchFamily="49" charset="0"/>
              </a:rPr>
              <a:t>pptr = &amp;ptr; /* store address-of ptr to pptr */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**pptr = 7;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 = &amp;j;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**pptr = 9;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*pptr = &amp;i;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-2;</a:t>
            </a:r>
          </a:p>
        </p:txBody>
      </p:sp>
      <p:graphicFrame>
        <p:nvGraphicFramePr>
          <p:cNvPr id="56365" name="Group 45"/>
          <p:cNvGraphicFramePr>
            <a:graphicFrameLocks noGrp="1"/>
          </p:cNvGraphicFramePr>
          <p:nvPr/>
        </p:nvGraphicFramePr>
        <p:xfrm>
          <a:off x="2209800" y="3810000"/>
          <a:ext cx="6705600" cy="2951163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97400925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4071940245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83249296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339261917"/>
                    </a:ext>
                  </a:extLst>
                </a:gridCol>
              </a:tblGrid>
              <a:tr h="381090"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Data Table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8511731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Type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670614"/>
                  </a:ext>
                </a:extLst>
              </a:tr>
              <a:tr h="36584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5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5364833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j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85743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ptr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 *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pointer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address of i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3765183"/>
                  </a:ext>
                </a:extLst>
              </a:tr>
              <a:tr h="36584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pptr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 **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pointer pointer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address of ptr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9844991"/>
                  </a:ext>
                </a:extLst>
              </a:tr>
              <a:tr h="69510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*pptr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int *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de-reference of pptr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value of ptr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(address of i)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8857811"/>
                  </a:ext>
                </a:extLst>
              </a:tr>
            </a:tbl>
          </a:graphicData>
        </a:graphic>
      </p:graphicFrame>
      <p:sp>
        <p:nvSpPr>
          <p:cNvPr id="32812" name="AutoShape 46"/>
          <p:cNvSpPr>
            <a:spLocks noChangeArrowheads="1"/>
          </p:cNvSpPr>
          <p:nvPr/>
        </p:nvSpPr>
        <p:spPr bwMode="auto">
          <a:xfrm rot="10800000">
            <a:off x="1905000" y="4572000"/>
            <a:ext cx="533400" cy="990600"/>
          </a:xfrm>
          <a:prstGeom prst="curvedLeftArrow">
            <a:avLst>
              <a:gd name="adj1" fmla="val 17583"/>
              <a:gd name="adj2" fmla="val 54726"/>
              <a:gd name="adj3" fmla="val 3333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32813" name="AutoShape 47"/>
          <p:cNvSpPr>
            <a:spLocks noChangeArrowheads="1"/>
          </p:cNvSpPr>
          <p:nvPr/>
        </p:nvSpPr>
        <p:spPr bwMode="auto">
          <a:xfrm rot="10800000">
            <a:off x="1905000" y="5410200"/>
            <a:ext cx="533400" cy="533400"/>
          </a:xfrm>
          <a:prstGeom prst="curvedLeftArrow">
            <a:avLst>
              <a:gd name="adj1" fmla="val 25296"/>
              <a:gd name="adj2" fmla="val 40778"/>
              <a:gd name="adj3" fmla="val 3333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2445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707DC41-6D81-4B2A-A434-ECFE227396AE}" type="slidenum">
              <a:rPr lang="en-US" altLang="tr-TR"/>
              <a:pPr>
                <a:defRPr/>
              </a:pPr>
              <a:t>19</a:t>
            </a:fld>
            <a:endParaRPr lang="en-US" altLang="tr-TR"/>
          </a:p>
        </p:txBody>
      </p:sp>
      <p:sp>
        <p:nvSpPr>
          <p:cNvPr id="33795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An Illustration</a:t>
            </a:r>
          </a:p>
        </p:txBody>
      </p:sp>
      <p:sp>
        <p:nvSpPr>
          <p:cNvPr id="33796" name="Text Box 1027"/>
          <p:cNvSpPr txBox="1">
            <a:spLocks noChangeArrowheads="1"/>
          </p:cNvSpPr>
          <p:nvPr/>
        </p:nvSpPr>
        <p:spPr bwMode="auto">
          <a:xfrm>
            <a:off x="228600" y="1981200"/>
            <a:ext cx="8534400" cy="400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int i = 5, j = 10;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int *ptr;  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int **pptr;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 = &amp;i;  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pptr = &amp;ptr;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solidFill>
                  <a:srgbClr val="FF1717"/>
                </a:solidFill>
                <a:latin typeface="Courier New" panose="02070309020205020404" pitchFamily="49" charset="0"/>
              </a:rPr>
              <a:t>*ptr =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**pptr = 7;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 = &amp;j;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**pptr = 9;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*pptr = &amp;i;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-2;</a:t>
            </a:r>
          </a:p>
        </p:txBody>
      </p:sp>
      <p:graphicFrame>
        <p:nvGraphicFramePr>
          <p:cNvPr id="57389" name="Group 1069"/>
          <p:cNvGraphicFramePr>
            <a:graphicFrameLocks noGrp="1"/>
          </p:cNvGraphicFramePr>
          <p:nvPr/>
        </p:nvGraphicFramePr>
        <p:xfrm>
          <a:off x="2209800" y="3810000"/>
          <a:ext cx="6705600" cy="2951163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55085418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4137298504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4524611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1647127608"/>
                    </a:ext>
                  </a:extLst>
                </a:gridCol>
              </a:tblGrid>
              <a:tr h="381090"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Data Table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878438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Type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347109"/>
                  </a:ext>
                </a:extLst>
              </a:tr>
              <a:tr h="36584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3523974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j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406621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ptr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 *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pointer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address of i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1388530"/>
                  </a:ext>
                </a:extLst>
              </a:tr>
              <a:tr h="36584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pptr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 **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pointer pointer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address of ptr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9943162"/>
                  </a:ext>
                </a:extLst>
              </a:tr>
              <a:tr h="69510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*ptr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de-reference of ptr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tr-TR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3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0097473"/>
                  </a:ext>
                </a:extLst>
              </a:tr>
            </a:tbl>
          </a:graphicData>
        </a:graphic>
      </p:graphicFrame>
      <p:sp>
        <p:nvSpPr>
          <p:cNvPr id="33836" name="AutoShape 1067"/>
          <p:cNvSpPr>
            <a:spLocks noChangeArrowheads="1"/>
          </p:cNvSpPr>
          <p:nvPr/>
        </p:nvSpPr>
        <p:spPr bwMode="auto">
          <a:xfrm rot="10800000">
            <a:off x="1905000" y="4572000"/>
            <a:ext cx="533400" cy="990600"/>
          </a:xfrm>
          <a:prstGeom prst="curvedLeftArrow">
            <a:avLst>
              <a:gd name="adj1" fmla="val 17583"/>
              <a:gd name="adj2" fmla="val 54726"/>
              <a:gd name="adj3" fmla="val 3333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33837" name="AutoShape 1068"/>
          <p:cNvSpPr>
            <a:spLocks noChangeArrowheads="1"/>
          </p:cNvSpPr>
          <p:nvPr/>
        </p:nvSpPr>
        <p:spPr bwMode="auto">
          <a:xfrm rot="10800000">
            <a:off x="1905000" y="5410200"/>
            <a:ext cx="533400" cy="533400"/>
          </a:xfrm>
          <a:prstGeom prst="curvedLeftArrow">
            <a:avLst>
              <a:gd name="adj1" fmla="val 25296"/>
              <a:gd name="adj2" fmla="val 40778"/>
              <a:gd name="adj3" fmla="val 3333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358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60D656-C7BE-45F5-AEAF-0C0EA0818F27}" type="slidenum">
              <a:rPr lang="en-US" altLang="tr-TR"/>
              <a:pPr>
                <a:defRPr/>
              </a:pPr>
              <a:t>20</a:t>
            </a:fld>
            <a:endParaRPr lang="en-US" altLang="tr-TR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An Illustration</a:t>
            </a:r>
          </a:p>
        </p:txBody>
      </p:sp>
      <p:sp>
        <p:nvSpPr>
          <p:cNvPr id="34820" name="Text Box 3"/>
          <p:cNvSpPr txBox="1">
            <a:spLocks noChangeArrowheads="1"/>
          </p:cNvSpPr>
          <p:nvPr/>
        </p:nvSpPr>
        <p:spPr bwMode="auto">
          <a:xfrm>
            <a:off x="228600" y="1981200"/>
            <a:ext cx="8534400" cy="400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int i = 5, j = 10;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int *ptr;  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int **pptr;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 = &amp;i;  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pptr = &amp;ptr;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solidFill>
                  <a:srgbClr val="FF1717"/>
                </a:solidFill>
                <a:latin typeface="Courier New" panose="02070309020205020404" pitchFamily="49" charset="0"/>
              </a:rPr>
              <a:t>**pptr = 7;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 = &amp;j;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**pptr = 9;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*pptr = &amp;i;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-2;</a:t>
            </a:r>
          </a:p>
        </p:txBody>
      </p:sp>
      <p:graphicFrame>
        <p:nvGraphicFramePr>
          <p:cNvPr id="58416" name="Group 48"/>
          <p:cNvGraphicFramePr>
            <a:graphicFrameLocks noGrp="1"/>
          </p:cNvGraphicFramePr>
          <p:nvPr/>
        </p:nvGraphicFramePr>
        <p:xfrm>
          <a:off x="2209800" y="3810000"/>
          <a:ext cx="6705600" cy="2951163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74573701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15096387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73519779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972085285"/>
                    </a:ext>
                  </a:extLst>
                </a:gridCol>
              </a:tblGrid>
              <a:tr h="381090"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Data Table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0492638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Type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0306218"/>
                  </a:ext>
                </a:extLst>
              </a:tr>
              <a:tr h="36584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7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8692437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j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8644246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ptr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 *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pointer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address of i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997224"/>
                  </a:ext>
                </a:extLst>
              </a:tr>
              <a:tr h="36584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pptr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 **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pointer pointer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address of ptr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4974721"/>
                  </a:ext>
                </a:extLst>
              </a:tr>
              <a:tr h="69510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**pptr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de-reference of de-reference of pptr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7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tr-TR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438225"/>
                  </a:ext>
                </a:extLst>
              </a:tr>
            </a:tbl>
          </a:graphicData>
        </a:graphic>
      </p:graphicFrame>
      <p:sp>
        <p:nvSpPr>
          <p:cNvPr id="34860" name="AutoShape 44"/>
          <p:cNvSpPr>
            <a:spLocks noChangeArrowheads="1"/>
          </p:cNvSpPr>
          <p:nvPr/>
        </p:nvSpPr>
        <p:spPr bwMode="auto">
          <a:xfrm rot="10800000">
            <a:off x="1905000" y="4572000"/>
            <a:ext cx="533400" cy="990600"/>
          </a:xfrm>
          <a:prstGeom prst="curvedLeftArrow">
            <a:avLst>
              <a:gd name="adj1" fmla="val 17583"/>
              <a:gd name="adj2" fmla="val 54726"/>
              <a:gd name="adj3" fmla="val 3333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34861" name="AutoShape 45"/>
          <p:cNvSpPr>
            <a:spLocks noChangeArrowheads="1"/>
          </p:cNvSpPr>
          <p:nvPr/>
        </p:nvSpPr>
        <p:spPr bwMode="auto">
          <a:xfrm rot="10800000">
            <a:off x="1905000" y="5410200"/>
            <a:ext cx="533400" cy="533400"/>
          </a:xfrm>
          <a:prstGeom prst="curvedLeftArrow">
            <a:avLst>
              <a:gd name="adj1" fmla="val 25296"/>
              <a:gd name="adj2" fmla="val 40778"/>
              <a:gd name="adj3" fmla="val 3333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1799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20153DE-11A2-4FED-AA0B-D65381AE23FC}" type="slidenum">
              <a:rPr lang="en-US" altLang="tr-TR"/>
              <a:pPr>
                <a:defRPr/>
              </a:pPr>
              <a:t>21</a:t>
            </a:fld>
            <a:endParaRPr lang="en-US" altLang="tr-TR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An Illustration</a:t>
            </a:r>
          </a:p>
        </p:txBody>
      </p:sp>
      <p:sp>
        <p:nvSpPr>
          <p:cNvPr id="35844" name="Text Box 3"/>
          <p:cNvSpPr txBox="1">
            <a:spLocks noChangeArrowheads="1"/>
          </p:cNvSpPr>
          <p:nvPr/>
        </p:nvSpPr>
        <p:spPr bwMode="auto">
          <a:xfrm>
            <a:off x="228600" y="1981200"/>
            <a:ext cx="8534400" cy="400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int</a:t>
            </a:r>
            <a:r>
              <a:rPr lang="en-US" altLang="tr-TR" sz="1600" b="1" dirty="0">
                <a:latin typeface="Courier New" panose="02070309020205020404" pitchFamily="49" charset="0"/>
              </a:rPr>
              <a:t> 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i</a:t>
            </a:r>
            <a:r>
              <a:rPr lang="en-US" altLang="tr-TR" sz="1600" b="1" dirty="0">
                <a:latin typeface="Courier New" panose="02070309020205020404" pitchFamily="49" charset="0"/>
              </a:rPr>
              <a:t> = 5, j = 10;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int</a:t>
            </a:r>
            <a:r>
              <a:rPr lang="en-US" altLang="tr-TR" sz="1600" b="1" dirty="0">
                <a:latin typeface="Courier New" panose="02070309020205020404" pitchFamily="49" charset="0"/>
              </a:rPr>
              <a:t> 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;  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int</a:t>
            </a:r>
            <a:r>
              <a:rPr lang="en-US" altLang="tr-TR" sz="1600" b="1" dirty="0">
                <a:latin typeface="Courier New" panose="02070309020205020404" pitchFamily="49" charset="0"/>
              </a:rPr>
              <a:t> **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pptr</a:t>
            </a:r>
            <a:r>
              <a:rPr lang="en-US" altLang="tr-TR" sz="1600" b="1" dirty="0">
                <a:latin typeface="Courier New" panose="02070309020205020404" pitchFamily="49" charset="0"/>
              </a:rPr>
              <a:t>;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= &amp;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i</a:t>
            </a:r>
            <a:r>
              <a:rPr lang="en-US" altLang="tr-TR" sz="1600" b="1" dirty="0">
                <a:latin typeface="Courier New" panose="02070309020205020404" pitchFamily="49" charset="0"/>
              </a:rPr>
              <a:t>;  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pptr</a:t>
            </a:r>
            <a:r>
              <a:rPr lang="en-US" altLang="tr-TR" sz="1600" b="1" dirty="0">
                <a:latin typeface="Courier New" panose="02070309020205020404" pitchFamily="49" charset="0"/>
              </a:rPr>
              <a:t> = &amp;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;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latin typeface="Courier New" panose="02070309020205020404" pitchFamily="49" charset="0"/>
              </a:rPr>
              <a:t>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=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latin typeface="Courier New" panose="02070309020205020404" pitchFamily="49" charset="0"/>
              </a:rPr>
              <a:t>**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pptr</a:t>
            </a:r>
            <a:r>
              <a:rPr lang="en-US" altLang="tr-TR" sz="1600" b="1" dirty="0">
                <a:latin typeface="Courier New" panose="02070309020205020404" pitchFamily="49" charset="0"/>
              </a:rPr>
              <a:t> = 7;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solidFill>
                  <a:srgbClr val="FF1717"/>
                </a:solidFill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solidFill>
                  <a:srgbClr val="FF1717"/>
                </a:solidFill>
                <a:latin typeface="Courier New" panose="02070309020205020404" pitchFamily="49" charset="0"/>
              </a:rPr>
              <a:t> = &amp;j;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latin typeface="Courier New" panose="02070309020205020404" pitchFamily="49" charset="0"/>
              </a:rPr>
              <a:t>**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pptr</a:t>
            </a:r>
            <a:r>
              <a:rPr lang="en-US" altLang="tr-TR" sz="1600" b="1" dirty="0">
                <a:latin typeface="Courier New" panose="02070309020205020404" pitchFamily="49" charset="0"/>
              </a:rPr>
              <a:t> = 9;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latin typeface="Courier New" panose="02070309020205020404" pitchFamily="49" charset="0"/>
              </a:rPr>
              <a:t>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pptr</a:t>
            </a:r>
            <a:r>
              <a:rPr lang="en-US" altLang="tr-TR" sz="1600" b="1" dirty="0">
                <a:latin typeface="Courier New" panose="02070309020205020404" pitchFamily="49" charset="0"/>
              </a:rPr>
              <a:t> = &amp;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i</a:t>
            </a:r>
            <a:r>
              <a:rPr lang="en-US" altLang="tr-TR" sz="16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latin typeface="Courier New" panose="02070309020205020404" pitchFamily="49" charset="0"/>
              </a:rPr>
              <a:t>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= -2;</a:t>
            </a:r>
          </a:p>
        </p:txBody>
      </p:sp>
      <p:graphicFrame>
        <p:nvGraphicFramePr>
          <p:cNvPr id="59439" name="Group 47"/>
          <p:cNvGraphicFramePr>
            <a:graphicFrameLocks noGrp="1"/>
          </p:cNvGraphicFramePr>
          <p:nvPr/>
        </p:nvGraphicFramePr>
        <p:xfrm>
          <a:off x="2209800" y="3810000"/>
          <a:ext cx="6705600" cy="2951163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149295872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534679689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37125505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637829556"/>
                    </a:ext>
                  </a:extLst>
                </a:gridCol>
              </a:tblGrid>
              <a:tr h="381090"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Data Table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751976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Type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4940150"/>
                  </a:ext>
                </a:extLst>
              </a:tr>
              <a:tr h="36584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7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93351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j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377362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ptr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 *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pointer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address of j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6306212"/>
                  </a:ext>
                </a:extLst>
              </a:tr>
              <a:tr h="36584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pptr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 **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pointer pointer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address of ptr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185291"/>
                  </a:ext>
                </a:extLst>
              </a:tr>
              <a:tr h="69510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*ptr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de-reference of ptr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tr-TR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4563696"/>
                  </a:ext>
                </a:extLst>
              </a:tr>
            </a:tbl>
          </a:graphicData>
        </a:graphic>
      </p:graphicFrame>
      <p:sp>
        <p:nvSpPr>
          <p:cNvPr id="35884" name="AutoShape 46"/>
          <p:cNvSpPr>
            <a:spLocks noChangeArrowheads="1"/>
          </p:cNvSpPr>
          <p:nvPr/>
        </p:nvSpPr>
        <p:spPr bwMode="auto">
          <a:xfrm rot="10800000">
            <a:off x="1905000" y="5029200"/>
            <a:ext cx="533400" cy="533400"/>
          </a:xfrm>
          <a:prstGeom prst="curvedLeftArrow">
            <a:avLst>
              <a:gd name="adj1" fmla="val 25296"/>
              <a:gd name="adj2" fmla="val 40778"/>
              <a:gd name="adj3" fmla="val 3333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35885" name="AutoShape 45"/>
          <p:cNvSpPr>
            <a:spLocks noChangeArrowheads="1"/>
          </p:cNvSpPr>
          <p:nvPr/>
        </p:nvSpPr>
        <p:spPr bwMode="auto">
          <a:xfrm rot="10800000">
            <a:off x="1905000" y="5410200"/>
            <a:ext cx="533400" cy="533400"/>
          </a:xfrm>
          <a:prstGeom prst="curvedLeftArrow">
            <a:avLst>
              <a:gd name="adj1" fmla="val 25296"/>
              <a:gd name="adj2" fmla="val 40778"/>
              <a:gd name="adj3" fmla="val 3333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5010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93D5756-880F-4D73-89E7-5225056B1E2A}" type="slidenum">
              <a:rPr lang="en-US" altLang="tr-TR"/>
              <a:pPr>
                <a:defRPr/>
              </a:pPr>
              <a:t>22</a:t>
            </a:fld>
            <a:endParaRPr lang="en-US" altLang="tr-TR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An Illustration</a:t>
            </a:r>
          </a:p>
        </p:txBody>
      </p:sp>
      <p:sp>
        <p:nvSpPr>
          <p:cNvPr id="36868" name="Text Box 3"/>
          <p:cNvSpPr txBox="1">
            <a:spLocks noChangeArrowheads="1"/>
          </p:cNvSpPr>
          <p:nvPr/>
        </p:nvSpPr>
        <p:spPr bwMode="auto">
          <a:xfrm>
            <a:off x="228600" y="1981200"/>
            <a:ext cx="8534400" cy="400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int</a:t>
            </a:r>
            <a:r>
              <a:rPr lang="en-US" altLang="tr-TR" sz="1600" b="1" dirty="0">
                <a:latin typeface="Courier New" panose="02070309020205020404" pitchFamily="49" charset="0"/>
              </a:rPr>
              <a:t> 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i</a:t>
            </a:r>
            <a:r>
              <a:rPr lang="en-US" altLang="tr-TR" sz="1600" b="1" dirty="0">
                <a:latin typeface="Courier New" panose="02070309020205020404" pitchFamily="49" charset="0"/>
              </a:rPr>
              <a:t> = 5, j = 10;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int</a:t>
            </a:r>
            <a:r>
              <a:rPr lang="en-US" altLang="tr-TR" sz="1600" b="1" dirty="0">
                <a:latin typeface="Courier New" panose="02070309020205020404" pitchFamily="49" charset="0"/>
              </a:rPr>
              <a:t> 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;  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int</a:t>
            </a:r>
            <a:r>
              <a:rPr lang="en-US" altLang="tr-TR" sz="1600" b="1" dirty="0">
                <a:latin typeface="Courier New" panose="02070309020205020404" pitchFamily="49" charset="0"/>
              </a:rPr>
              <a:t> **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pptr</a:t>
            </a:r>
            <a:r>
              <a:rPr lang="en-US" altLang="tr-TR" sz="1600" b="1" dirty="0">
                <a:latin typeface="Courier New" panose="02070309020205020404" pitchFamily="49" charset="0"/>
              </a:rPr>
              <a:t>;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= &amp;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i</a:t>
            </a:r>
            <a:r>
              <a:rPr lang="en-US" altLang="tr-TR" sz="1600" b="1" dirty="0">
                <a:latin typeface="Courier New" panose="02070309020205020404" pitchFamily="49" charset="0"/>
              </a:rPr>
              <a:t>;  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pptr</a:t>
            </a:r>
            <a:r>
              <a:rPr lang="en-US" altLang="tr-TR" sz="1600" b="1" dirty="0">
                <a:latin typeface="Courier New" panose="02070309020205020404" pitchFamily="49" charset="0"/>
              </a:rPr>
              <a:t> = &amp;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;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latin typeface="Courier New" panose="02070309020205020404" pitchFamily="49" charset="0"/>
              </a:rPr>
              <a:t>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=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latin typeface="Courier New" panose="02070309020205020404" pitchFamily="49" charset="0"/>
              </a:rPr>
              <a:t>**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pptr</a:t>
            </a:r>
            <a:r>
              <a:rPr lang="en-US" altLang="tr-TR" sz="1600" b="1" dirty="0">
                <a:latin typeface="Courier New" panose="02070309020205020404" pitchFamily="49" charset="0"/>
              </a:rPr>
              <a:t> = 7;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= &amp;j;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solidFill>
                  <a:srgbClr val="FF1717"/>
                </a:solidFill>
                <a:latin typeface="Courier New" panose="02070309020205020404" pitchFamily="49" charset="0"/>
              </a:rPr>
              <a:t>**</a:t>
            </a:r>
            <a:r>
              <a:rPr lang="en-US" altLang="tr-TR" sz="1600" b="1" dirty="0" err="1">
                <a:solidFill>
                  <a:srgbClr val="FF1717"/>
                </a:solidFill>
                <a:latin typeface="Courier New" panose="02070309020205020404" pitchFamily="49" charset="0"/>
              </a:rPr>
              <a:t>pptr</a:t>
            </a:r>
            <a:r>
              <a:rPr lang="en-US" altLang="tr-TR" sz="1600" b="1" dirty="0">
                <a:solidFill>
                  <a:srgbClr val="FF1717"/>
                </a:solidFill>
                <a:latin typeface="Courier New" panose="02070309020205020404" pitchFamily="49" charset="0"/>
              </a:rPr>
              <a:t> = 9;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latin typeface="Courier New" panose="02070309020205020404" pitchFamily="49" charset="0"/>
              </a:rPr>
              <a:t>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pptr</a:t>
            </a:r>
            <a:r>
              <a:rPr lang="en-US" altLang="tr-TR" sz="1600" b="1" dirty="0">
                <a:latin typeface="Courier New" panose="02070309020205020404" pitchFamily="49" charset="0"/>
              </a:rPr>
              <a:t> = &amp;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i</a:t>
            </a:r>
            <a:r>
              <a:rPr lang="en-US" altLang="tr-TR" sz="16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latin typeface="Courier New" panose="02070309020205020404" pitchFamily="49" charset="0"/>
              </a:rPr>
              <a:t>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= -2;</a:t>
            </a:r>
          </a:p>
        </p:txBody>
      </p:sp>
      <p:graphicFrame>
        <p:nvGraphicFramePr>
          <p:cNvPr id="60462" name="Group 46"/>
          <p:cNvGraphicFramePr>
            <a:graphicFrameLocks noGrp="1"/>
          </p:cNvGraphicFramePr>
          <p:nvPr/>
        </p:nvGraphicFramePr>
        <p:xfrm>
          <a:off x="2209800" y="3810000"/>
          <a:ext cx="6705600" cy="2951163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3890921049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450717534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46702423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411266884"/>
                    </a:ext>
                  </a:extLst>
                </a:gridCol>
              </a:tblGrid>
              <a:tr h="381090"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Data Table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794699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Type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894"/>
                  </a:ext>
                </a:extLst>
              </a:tr>
              <a:tr h="36584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7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9414953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j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9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1438455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ptr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 *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pointer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address of j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9507392"/>
                  </a:ext>
                </a:extLst>
              </a:tr>
              <a:tr h="36584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pptr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 **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pointer pointer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address of ptr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901632"/>
                  </a:ext>
                </a:extLst>
              </a:tr>
              <a:tr h="69510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**pptr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de-reference of de-reference of pptr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9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tr-TR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802619"/>
                  </a:ext>
                </a:extLst>
              </a:tr>
            </a:tbl>
          </a:graphicData>
        </a:graphic>
      </p:graphicFrame>
      <p:sp>
        <p:nvSpPr>
          <p:cNvPr id="36908" name="AutoShape 44"/>
          <p:cNvSpPr>
            <a:spLocks noChangeArrowheads="1"/>
          </p:cNvSpPr>
          <p:nvPr/>
        </p:nvSpPr>
        <p:spPr bwMode="auto">
          <a:xfrm rot="10800000">
            <a:off x="1905000" y="5029200"/>
            <a:ext cx="533400" cy="533400"/>
          </a:xfrm>
          <a:prstGeom prst="curvedLeftArrow">
            <a:avLst>
              <a:gd name="adj1" fmla="val 25296"/>
              <a:gd name="adj2" fmla="val 40778"/>
              <a:gd name="adj3" fmla="val 3333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36909" name="AutoShape 45"/>
          <p:cNvSpPr>
            <a:spLocks noChangeArrowheads="1"/>
          </p:cNvSpPr>
          <p:nvPr/>
        </p:nvSpPr>
        <p:spPr bwMode="auto">
          <a:xfrm rot="10800000">
            <a:off x="1905000" y="5410200"/>
            <a:ext cx="533400" cy="533400"/>
          </a:xfrm>
          <a:prstGeom prst="curvedLeftArrow">
            <a:avLst>
              <a:gd name="adj1" fmla="val 25296"/>
              <a:gd name="adj2" fmla="val 40778"/>
              <a:gd name="adj3" fmla="val 3333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3821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CE9C21-C550-42EA-B9BE-9A9EA0F0B096}" type="slidenum">
              <a:rPr lang="en-US" altLang="tr-TR"/>
              <a:pPr>
                <a:defRPr/>
              </a:pPr>
              <a:t>23</a:t>
            </a:fld>
            <a:endParaRPr lang="en-US" altLang="tr-TR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An Illustration</a:t>
            </a:r>
          </a:p>
        </p:txBody>
      </p:sp>
      <p:sp>
        <p:nvSpPr>
          <p:cNvPr id="37892" name="Text Box 3"/>
          <p:cNvSpPr txBox="1">
            <a:spLocks noChangeArrowheads="1"/>
          </p:cNvSpPr>
          <p:nvPr/>
        </p:nvSpPr>
        <p:spPr bwMode="auto">
          <a:xfrm>
            <a:off x="228600" y="1981200"/>
            <a:ext cx="8534400" cy="400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int</a:t>
            </a:r>
            <a:r>
              <a:rPr lang="en-US" altLang="tr-TR" sz="1600" b="1" dirty="0">
                <a:latin typeface="Courier New" panose="02070309020205020404" pitchFamily="49" charset="0"/>
              </a:rPr>
              <a:t> 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i</a:t>
            </a:r>
            <a:r>
              <a:rPr lang="en-US" altLang="tr-TR" sz="1600" b="1" dirty="0">
                <a:latin typeface="Courier New" panose="02070309020205020404" pitchFamily="49" charset="0"/>
              </a:rPr>
              <a:t> = 5, j = 10;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int</a:t>
            </a:r>
            <a:r>
              <a:rPr lang="en-US" altLang="tr-TR" sz="1600" b="1" dirty="0">
                <a:latin typeface="Courier New" panose="02070309020205020404" pitchFamily="49" charset="0"/>
              </a:rPr>
              <a:t> 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;  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int</a:t>
            </a:r>
            <a:r>
              <a:rPr lang="en-US" altLang="tr-TR" sz="1600" b="1" dirty="0">
                <a:latin typeface="Courier New" panose="02070309020205020404" pitchFamily="49" charset="0"/>
              </a:rPr>
              <a:t> **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pptr</a:t>
            </a:r>
            <a:r>
              <a:rPr lang="en-US" altLang="tr-TR" sz="1600" b="1" dirty="0">
                <a:latin typeface="Courier New" panose="02070309020205020404" pitchFamily="49" charset="0"/>
              </a:rPr>
              <a:t>;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= &amp;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i</a:t>
            </a:r>
            <a:r>
              <a:rPr lang="en-US" altLang="tr-TR" sz="1600" b="1" dirty="0">
                <a:latin typeface="Courier New" panose="02070309020205020404" pitchFamily="49" charset="0"/>
              </a:rPr>
              <a:t>;  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pptr</a:t>
            </a:r>
            <a:r>
              <a:rPr lang="en-US" altLang="tr-TR" sz="1600" b="1" dirty="0">
                <a:latin typeface="Courier New" panose="02070309020205020404" pitchFamily="49" charset="0"/>
              </a:rPr>
              <a:t> = &amp;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;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latin typeface="Courier New" panose="02070309020205020404" pitchFamily="49" charset="0"/>
              </a:rPr>
              <a:t>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=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latin typeface="Courier New" panose="02070309020205020404" pitchFamily="49" charset="0"/>
              </a:rPr>
              <a:t>**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pptr</a:t>
            </a:r>
            <a:r>
              <a:rPr lang="en-US" altLang="tr-TR" sz="1600" b="1" dirty="0">
                <a:latin typeface="Courier New" panose="02070309020205020404" pitchFamily="49" charset="0"/>
              </a:rPr>
              <a:t> = 7;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= &amp;j;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latin typeface="Courier New" panose="02070309020205020404" pitchFamily="49" charset="0"/>
              </a:rPr>
              <a:t>**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pptr</a:t>
            </a:r>
            <a:r>
              <a:rPr lang="en-US" altLang="tr-TR" sz="1600" b="1" dirty="0">
                <a:latin typeface="Courier New" panose="02070309020205020404" pitchFamily="49" charset="0"/>
              </a:rPr>
              <a:t> = 9;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solidFill>
                  <a:srgbClr val="FF1717"/>
                </a:solidFill>
                <a:latin typeface="Courier New" panose="02070309020205020404" pitchFamily="49" charset="0"/>
              </a:rPr>
              <a:t>*</a:t>
            </a:r>
            <a:r>
              <a:rPr lang="en-US" altLang="tr-TR" sz="1600" b="1" dirty="0" err="1">
                <a:solidFill>
                  <a:srgbClr val="FF1717"/>
                </a:solidFill>
                <a:latin typeface="Courier New" panose="02070309020205020404" pitchFamily="49" charset="0"/>
              </a:rPr>
              <a:t>pptr</a:t>
            </a:r>
            <a:r>
              <a:rPr lang="en-US" altLang="tr-TR" sz="1600" b="1" dirty="0">
                <a:solidFill>
                  <a:srgbClr val="FF1717"/>
                </a:solidFill>
                <a:latin typeface="Courier New" panose="02070309020205020404" pitchFamily="49" charset="0"/>
              </a:rPr>
              <a:t> = &amp;</a:t>
            </a:r>
            <a:r>
              <a:rPr lang="en-US" altLang="tr-TR" sz="1600" b="1" dirty="0" err="1">
                <a:solidFill>
                  <a:srgbClr val="FF1717"/>
                </a:solidFill>
                <a:latin typeface="Courier New" panose="02070309020205020404" pitchFamily="49" charset="0"/>
              </a:rPr>
              <a:t>i</a:t>
            </a:r>
            <a:r>
              <a:rPr lang="en-US" altLang="tr-TR" sz="1600" b="1" dirty="0">
                <a:solidFill>
                  <a:srgbClr val="FF1717"/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latin typeface="Courier New" panose="02070309020205020404" pitchFamily="49" charset="0"/>
              </a:rPr>
              <a:t>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= -2;</a:t>
            </a:r>
          </a:p>
        </p:txBody>
      </p:sp>
      <p:graphicFrame>
        <p:nvGraphicFramePr>
          <p:cNvPr id="61483" name="Group 43"/>
          <p:cNvGraphicFramePr>
            <a:graphicFrameLocks noGrp="1"/>
          </p:cNvGraphicFramePr>
          <p:nvPr/>
        </p:nvGraphicFramePr>
        <p:xfrm>
          <a:off x="2209800" y="3810000"/>
          <a:ext cx="6705600" cy="2951163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10616592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1865106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376219547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428226735"/>
                    </a:ext>
                  </a:extLst>
                </a:gridCol>
              </a:tblGrid>
              <a:tr h="381090"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Data Table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053140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Type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9883159"/>
                  </a:ext>
                </a:extLst>
              </a:tr>
              <a:tr h="36584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7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6503851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j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2899541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ptr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 *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pointer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address of i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157823"/>
                  </a:ext>
                </a:extLst>
              </a:tr>
              <a:tr h="36584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pptr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 **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pointer pointer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address of ptr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3695547"/>
                  </a:ext>
                </a:extLst>
              </a:tr>
              <a:tr h="69510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*pptr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int *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de-reference of pptr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value of ptr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(address of i)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562081"/>
                  </a:ext>
                </a:extLst>
              </a:tr>
            </a:tbl>
          </a:graphicData>
        </a:graphic>
      </p:graphicFrame>
      <p:sp>
        <p:nvSpPr>
          <p:cNvPr id="37932" name="AutoShape 44"/>
          <p:cNvSpPr>
            <a:spLocks noChangeArrowheads="1"/>
          </p:cNvSpPr>
          <p:nvPr/>
        </p:nvSpPr>
        <p:spPr bwMode="auto">
          <a:xfrm rot="10800000">
            <a:off x="1905000" y="4572000"/>
            <a:ext cx="533400" cy="990600"/>
          </a:xfrm>
          <a:prstGeom prst="curvedLeftArrow">
            <a:avLst>
              <a:gd name="adj1" fmla="val 17583"/>
              <a:gd name="adj2" fmla="val 54726"/>
              <a:gd name="adj3" fmla="val 3333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37933" name="AutoShape 45"/>
          <p:cNvSpPr>
            <a:spLocks noChangeArrowheads="1"/>
          </p:cNvSpPr>
          <p:nvPr/>
        </p:nvSpPr>
        <p:spPr bwMode="auto">
          <a:xfrm rot="10800000">
            <a:off x="1905000" y="5410200"/>
            <a:ext cx="533400" cy="533400"/>
          </a:xfrm>
          <a:prstGeom prst="curvedLeftArrow">
            <a:avLst>
              <a:gd name="adj1" fmla="val 25296"/>
              <a:gd name="adj2" fmla="val 40778"/>
              <a:gd name="adj3" fmla="val 3333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1347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DEFDD6-3B8A-455A-9220-99CE516EAB1E}" type="slidenum">
              <a:rPr lang="en-US" altLang="tr-TR"/>
              <a:pPr>
                <a:defRPr/>
              </a:pPr>
              <a:t>24</a:t>
            </a:fld>
            <a:endParaRPr lang="en-US" altLang="tr-TR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An Illustration</a:t>
            </a:r>
          </a:p>
        </p:txBody>
      </p:sp>
      <p:sp>
        <p:nvSpPr>
          <p:cNvPr id="39940" name="Text Box 3"/>
          <p:cNvSpPr txBox="1">
            <a:spLocks noChangeArrowheads="1"/>
          </p:cNvSpPr>
          <p:nvPr/>
        </p:nvSpPr>
        <p:spPr bwMode="auto">
          <a:xfrm>
            <a:off x="228600" y="1981200"/>
            <a:ext cx="8534400" cy="400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int i = 5, j = 10;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int *ptr;  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int **pptr;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 = &amp;i;   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pptr = &amp;ptr;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**pptr = 7;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 = &amp;j;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**pptr = 9;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*pptr = &amp;i;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solidFill>
                  <a:srgbClr val="FF1717"/>
                </a:solidFill>
                <a:latin typeface="Courier New" panose="02070309020205020404" pitchFamily="49" charset="0"/>
              </a:rPr>
              <a:t>*ptr = -2;</a:t>
            </a:r>
          </a:p>
        </p:txBody>
      </p:sp>
      <p:graphicFrame>
        <p:nvGraphicFramePr>
          <p:cNvPr id="62513" name="Group 49"/>
          <p:cNvGraphicFramePr>
            <a:graphicFrameLocks noGrp="1"/>
          </p:cNvGraphicFramePr>
          <p:nvPr/>
        </p:nvGraphicFramePr>
        <p:xfrm>
          <a:off x="2209800" y="3810000"/>
          <a:ext cx="6705600" cy="2951163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391304511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596017798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11866946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142816738"/>
                    </a:ext>
                  </a:extLst>
                </a:gridCol>
              </a:tblGrid>
              <a:tr h="381090"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Data Table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7116947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Type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556697"/>
                  </a:ext>
                </a:extLst>
              </a:tr>
              <a:tr h="36584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-2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246841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j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2241060"/>
                  </a:ext>
                </a:extLst>
              </a:tr>
              <a:tr h="38109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ptr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 *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pointer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address of i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7434034"/>
                  </a:ext>
                </a:extLst>
              </a:tr>
              <a:tr h="36584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pptr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 **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integer pointer pointer variable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address of ptr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2792090"/>
                  </a:ext>
                </a:extLst>
              </a:tr>
              <a:tr h="695109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*ptr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int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de-reference of ptr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tr-TR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-2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042673"/>
                  </a:ext>
                </a:extLst>
              </a:tr>
            </a:tbl>
          </a:graphicData>
        </a:graphic>
      </p:graphicFrame>
      <p:sp>
        <p:nvSpPr>
          <p:cNvPr id="39980" name="AutoShape 43"/>
          <p:cNvSpPr>
            <a:spLocks noChangeArrowheads="1"/>
          </p:cNvSpPr>
          <p:nvPr/>
        </p:nvSpPr>
        <p:spPr bwMode="auto">
          <a:xfrm rot="10800000">
            <a:off x="1905000" y="4572000"/>
            <a:ext cx="533400" cy="990600"/>
          </a:xfrm>
          <a:prstGeom prst="curvedLeftArrow">
            <a:avLst>
              <a:gd name="adj1" fmla="val 17583"/>
              <a:gd name="adj2" fmla="val 54726"/>
              <a:gd name="adj3" fmla="val 3333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  <p:sp>
        <p:nvSpPr>
          <p:cNvPr id="39981" name="AutoShape 44"/>
          <p:cNvSpPr>
            <a:spLocks noChangeArrowheads="1"/>
          </p:cNvSpPr>
          <p:nvPr/>
        </p:nvSpPr>
        <p:spPr bwMode="auto">
          <a:xfrm rot="10800000">
            <a:off x="1905000" y="5410200"/>
            <a:ext cx="533400" cy="533400"/>
          </a:xfrm>
          <a:prstGeom prst="curvedLeftArrow">
            <a:avLst>
              <a:gd name="adj1" fmla="val 25296"/>
              <a:gd name="adj2" fmla="val 40778"/>
              <a:gd name="adj3" fmla="val 3333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43809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911045-D316-49C1-B340-8DFA0B53501C}" type="slidenum">
              <a:rPr lang="en-US" altLang="tr-TR"/>
              <a:pPr>
                <a:defRPr/>
              </a:pPr>
              <a:t>25</a:t>
            </a:fld>
            <a:endParaRPr lang="en-US" altLang="tr-TR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Pointer Arithmetic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tr-TR" dirty="0"/>
              <a:t>What’s </a:t>
            </a:r>
            <a:r>
              <a:rPr lang="en-US" altLang="tr-TR" b="1" dirty="0" err="1">
                <a:solidFill>
                  <a:srgbClr val="FF1717"/>
                </a:solidFill>
                <a:latin typeface="Courier New" panose="02070309020205020404" pitchFamily="49" charset="0"/>
              </a:rPr>
              <a:t>ptr</a:t>
            </a:r>
            <a:r>
              <a:rPr lang="en-US" altLang="tr-TR" b="1" dirty="0">
                <a:solidFill>
                  <a:srgbClr val="FF1717"/>
                </a:solidFill>
                <a:latin typeface="Courier New" panose="02070309020205020404" pitchFamily="49" charset="0"/>
              </a:rPr>
              <a:t> + 1</a:t>
            </a:r>
            <a:r>
              <a:rPr lang="en-US" altLang="tr-TR" dirty="0"/>
              <a:t>? </a:t>
            </a:r>
            <a:endParaRPr lang="en-US" altLang="tr-TR" dirty="0">
              <a:sym typeface="Wingdings" panose="05000000000000000000" pitchFamily="2" charset="2"/>
            </a:endParaRPr>
          </a:p>
          <a:p>
            <a:pPr eaLnBrk="1" hangingPunct="1">
              <a:buFont typeface="Wingdings" panose="05000000000000000000" pitchFamily="2" charset="2"/>
              <a:buChar char="è"/>
            </a:pPr>
            <a:r>
              <a:rPr lang="en-US" altLang="tr-TR" dirty="0"/>
              <a:t>The next memory location!</a:t>
            </a:r>
          </a:p>
          <a:p>
            <a:pPr eaLnBrk="1" hangingPunct="1"/>
            <a:r>
              <a:rPr lang="en-US" altLang="tr-TR" dirty="0"/>
              <a:t>What’s </a:t>
            </a:r>
            <a:r>
              <a:rPr lang="en-US" altLang="tr-TR" b="1" dirty="0" err="1">
                <a:solidFill>
                  <a:srgbClr val="FF1717"/>
                </a:solidFill>
                <a:latin typeface="Courier New" panose="02070309020205020404" pitchFamily="49" charset="0"/>
              </a:rPr>
              <a:t>ptr</a:t>
            </a:r>
            <a:r>
              <a:rPr lang="en-US" altLang="tr-TR" b="1" dirty="0">
                <a:solidFill>
                  <a:srgbClr val="FF1717"/>
                </a:solidFill>
                <a:latin typeface="Courier New" panose="02070309020205020404" pitchFamily="49" charset="0"/>
              </a:rPr>
              <a:t> - 1</a:t>
            </a:r>
            <a:r>
              <a:rPr lang="en-US" altLang="tr-TR" dirty="0"/>
              <a:t>? </a:t>
            </a:r>
            <a:endParaRPr lang="en-US" altLang="tr-TR" dirty="0">
              <a:sym typeface="Wingdings" panose="05000000000000000000" pitchFamily="2" charset="2"/>
            </a:endParaRPr>
          </a:p>
          <a:p>
            <a:pPr eaLnBrk="1" hangingPunct="1">
              <a:buFont typeface="Wingdings" panose="05000000000000000000" pitchFamily="2" charset="2"/>
              <a:buChar char="è"/>
            </a:pPr>
            <a:r>
              <a:rPr lang="en-US" altLang="tr-TR" dirty="0"/>
              <a:t>The previous memory location!</a:t>
            </a:r>
          </a:p>
          <a:p>
            <a:pPr eaLnBrk="1" hangingPunct="1"/>
            <a:r>
              <a:rPr lang="en-US" altLang="tr-TR" dirty="0"/>
              <a:t>What’s </a:t>
            </a:r>
            <a:r>
              <a:rPr lang="en-US" altLang="tr-TR" b="1" dirty="0" err="1">
                <a:solidFill>
                  <a:srgbClr val="FF1717"/>
                </a:solidFill>
                <a:latin typeface="Courier New" panose="02070309020205020404" pitchFamily="49" charset="0"/>
              </a:rPr>
              <a:t>ptr</a:t>
            </a:r>
            <a:r>
              <a:rPr lang="en-US" altLang="tr-TR" b="1" dirty="0">
                <a:solidFill>
                  <a:srgbClr val="FF1717"/>
                </a:solidFill>
                <a:latin typeface="Courier New" panose="02070309020205020404" pitchFamily="49" charset="0"/>
              </a:rPr>
              <a:t> * 2</a:t>
            </a:r>
            <a:r>
              <a:rPr lang="en-US" altLang="tr-TR" dirty="0"/>
              <a:t> and </a:t>
            </a:r>
            <a:r>
              <a:rPr lang="en-US" altLang="tr-TR" b="1" dirty="0" err="1">
                <a:solidFill>
                  <a:srgbClr val="FF1717"/>
                </a:solidFill>
                <a:latin typeface="Courier New" panose="02070309020205020404" pitchFamily="49" charset="0"/>
              </a:rPr>
              <a:t>ptr</a:t>
            </a:r>
            <a:r>
              <a:rPr lang="en-US" altLang="tr-TR" b="1" dirty="0">
                <a:solidFill>
                  <a:srgbClr val="FF1717"/>
                </a:solidFill>
                <a:latin typeface="Courier New" panose="02070309020205020404" pitchFamily="49" charset="0"/>
              </a:rPr>
              <a:t> / 2</a:t>
            </a:r>
            <a:r>
              <a:rPr lang="en-US" altLang="tr-TR" dirty="0"/>
              <a:t>?</a:t>
            </a:r>
            <a:endParaRPr lang="en-US" altLang="tr-TR" dirty="0">
              <a:sym typeface="Wingdings" panose="05000000000000000000" pitchFamily="2" charset="2"/>
            </a:endParaRPr>
          </a:p>
          <a:p>
            <a:pPr eaLnBrk="1" hangingPunct="1">
              <a:buFont typeface="Wingdings" panose="05000000000000000000" pitchFamily="2" charset="2"/>
              <a:buChar char="è"/>
            </a:pPr>
            <a:r>
              <a:rPr lang="en-US" altLang="tr-TR" dirty="0"/>
              <a:t>Invalid operations!!!</a:t>
            </a:r>
          </a:p>
        </p:txBody>
      </p:sp>
    </p:spTree>
    <p:extLst>
      <p:ext uri="{BB962C8B-B14F-4D97-AF65-F5344CB8AC3E}">
        <p14:creationId xmlns:p14="http://schemas.microsoft.com/office/powerpoint/2010/main" val="28584405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2BB3C8D-3111-4DA2-9DCE-421C8B1F329A}" type="slidenum">
              <a:rPr lang="en-US" altLang="tr-TR"/>
              <a:pPr>
                <a:defRPr/>
              </a:pPr>
              <a:t>26</a:t>
            </a:fld>
            <a:endParaRPr lang="en-US" altLang="tr-TR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 dirty="0"/>
              <a:t>Pointer </a:t>
            </a:r>
            <a:r>
              <a:rPr lang="tr-TR" altLang="tr-TR" dirty="0"/>
              <a:t>Aritmetiği ve Diziler</a:t>
            </a:r>
            <a:endParaRPr lang="en-US" altLang="tr-TR" dirty="0"/>
          </a:p>
        </p:txBody>
      </p:sp>
      <p:sp>
        <p:nvSpPr>
          <p:cNvPr id="41988" name="Text Box 4"/>
          <p:cNvSpPr txBox="1">
            <a:spLocks noChangeArrowheads="1"/>
          </p:cNvSpPr>
          <p:nvPr/>
        </p:nvSpPr>
        <p:spPr bwMode="auto">
          <a:xfrm>
            <a:off x="228600" y="1981200"/>
            <a:ext cx="8534400" cy="363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solidFill>
                  <a:srgbClr val="FF1717"/>
                </a:solidFill>
                <a:latin typeface="Courier New" panose="02070309020205020404" pitchFamily="49" charset="0"/>
              </a:rPr>
              <a:t>float a[4];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solidFill>
                  <a:srgbClr val="FF1717"/>
                </a:solidFill>
                <a:latin typeface="Courier New" panose="02070309020205020404" pitchFamily="49" charset="0"/>
              </a:rPr>
              <a:t>float *</a:t>
            </a:r>
            <a:r>
              <a:rPr lang="en-US" altLang="tr-TR" sz="1600" b="1" dirty="0" err="1">
                <a:solidFill>
                  <a:srgbClr val="FF1717"/>
                </a:solidFill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solidFill>
                  <a:srgbClr val="FF1717"/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= &amp;(a[2]);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latin typeface="Courier New" panose="02070309020205020404" pitchFamily="49" charset="0"/>
              </a:rPr>
              <a:t>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= 3.14;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++;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latin typeface="Courier New" panose="02070309020205020404" pitchFamily="49" charset="0"/>
              </a:rPr>
              <a:t>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= 9.0;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= 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- 3;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latin typeface="Courier New" panose="02070309020205020404" pitchFamily="49" charset="0"/>
              </a:rPr>
              <a:t>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= 6.0;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+= 2;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latin typeface="Courier New" panose="02070309020205020404" pitchFamily="49" charset="0"/>
              </a:rPr>
              <a:t>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= 7.0;</a:t>
            </a:r>
          </a:p>
        </p:txBody>
      </p:sp>
      <p:graphicFrame>
        <p:nvGraphicFramePr>
          <p:cNvPr id="47255" name="Group 151"/>
          <p:cNvGraphicFramePr>
            <a:graphicFrameLocks noGrp="1"/>
          </p:cNvGraphicFramePr>
          <p:nvPr/>
        </p:nvGraphicFramePr>
        <p:xfrm>
          <a:off x="2209800" y="2133600"/>
          <a:ext cx="6781800" cy="3657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348109441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819011622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29662999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833213132"/>
                    </a:ext>
                  </a:extLst>
                </a:gridCol>
              </a:tblGrid>
              <a:tr h="381000"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Data Table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467768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138637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6344448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a[1]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335749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a[2]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0401843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a[3]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9035767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pointer variable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8210978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*ptr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de-reference of float pointer variable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305989"/>
                  </a:ext>
                </a:extLst>
              </a:tr>
              <a:tr h="3143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5748275"/>
                  </a:ext>
                </a:extLst>
              </a:tr>
            </a:tbl>
          </a:graphicData>
        </a:graphic>
      </p:graphicFrame>
      <p:grpSp>
        <p:nvGrpSpPr>
          <p:cNvPr id="42038" name="Group 145"/>
          <p:cNvGrpSpPr>
            <a:grpSpLocks/>
          </p:cNvGrpSpPr>
          <p:nvPr/>
        </p:nvGrpSpPr>
        <p:grpSpPr bwMode="auto">
          <a:xfrm>
            <a:off x="7924800" y="4419600"/>
            <a:ext cx="381000" cy="381000"/>
            <a:chOff x="4656" y="480"/>
            <a:chExt cx="864" cy="864"/>
          </a:xfrm>
        </p:grpSpPr>
        <p:sp>
          <p:nvSpPr>
            <p:cNvPr id="42039" name="AutoShape 146"/>
            <p:cNvSpPr>
              <a:spLocks noChangeArrowheads="1"/>
            </p:cNvSpPr>
            <p:nvPr/>
          </p:nvSpPr>
          <p:spPr bwMode="auto">
            <a:xfrm>
              <a:off x="4656" y="480"/>
              <a:ext cx="864" cy="8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  <a:gd name="T12" fmla="*/ 1550 w 21600"/>
                <a:gd name="T13" fmla="*/ 9650 h 21600"/>
                <a:gd name="T14" fmla="*/ 20050 w 21600"/>
                <a:gd name="T15" fmla="*/ 1195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800" y="0"/>
                  </a:moveTo>
                  <a:lnTo>
                    <a:pt x="8775" y="2725"/>
                  </a:lnTo>
                  <a:lnTo>
                    <a:pt x="9650" y="2725"/>
                  </a:lnTo>
                  <a:lnTo>
                    <a:pt x="9650" y="9650"/>
                  </a:lnTo>
                  <a:lnTo>
                    <a:pt x="2725" y="9650"/>
                  </a:lnTo>
                  <a:lnTo>
                    <a:pt x="2725" y="8775"/>
                  </a:lnTo>
                  <a:lnTo>
                    <a:pt x="0" y="10800"/>
                  </a:lnTo>
                  <a:lnTo>
                    <a:pt x="2725" y="12825"/>
                  </a:lnTo>
                  <a:lnTo>
                    <a:pt x="2725" y="11950"/>
                  </a:lnTo>
                  <a:lnTo>
                    <a:pt x="9650" y="11950"/>
                  </a:lnTo>
                  <a:lnTo>
                    <a:pt x="9650" y="18875"/>
                  </a:lnTo>
                  <a:lnTo>
                    <a:pt x="8775" y="18875"/>
                  </a:lnTo>
                  <a:lnTo>
                    <a:pt x="10800" y="21600"/>
                  </a:lnTo>
                  <a:lnTo>
                    <a:pt x="12825" y="18875"/>
                  </a:lnTo>
                  <a:lnTo>
                    <a:pt x="11950" y="18875"/>
                  </a:lnTo>
                  <a:lnTo>
                    <a:pt x="11950" y="11950"/>
                  </a:lnTo>
                  <a:lnTo>
                    <a:pt x="18875" y="11950"/>
                  </a:lnTo>
                  <a:lnTo>
                    <a:pt x="18875" y="12825"/>
                  </a:lnTo>
                  <a:lnTo>
                    <a:pt x="21600" y="10800"/>
                  </a:lnTo>
                  <a:lnTo>
                    <a:pt x="18875" y="8775"/>
                  </a:lnTo>
                  <a:lnTo>
                    <a:pt x="18875" y="9650"/>
                  </a:lnTo>
                  <a:lnTo>
                    <a:pt x="11950" y="9650"/>
                  </a:lnTo>
                  <a:lnTo>
                    <a:pt x="11950" y="2725"/>
                  </a:lnTo>
                  <a:lnTo>
                    <a:pt x="12825" y="2725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42040" name="AutoShape 147"/>
            <p:cNvSpPr>
              <a:spLocks noChangeArrowheads="1"/>
            </p:cNvSpPr>
            <p:nvPr/>
          </p:nvSpPr>
          <p:spPr bwMode="auto">
            <a:xfrm rot="2700000">
              <a:off x="4656" y="480"/>
              <a:ext cx="864" cy="86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5898240 60000 65536"/>
                <a:gd name="T10" fmla="*/ 11796480 60000 65536"/>
                <a:gd name="T11" fmla="*/ 17694720 60000 65536"/>
                <a:gd name="T12" fmla="*/ 1550 w 21600"/>
                <a:gd name="T13" fmla="*/ 9650 h 21600"/>
                <a:gd name="T14" fmla="*/ 20050 w 21600"/>
                <a:gd name="T15" fmla="*/ 1195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10800" y="0"/>
                  </a:moveTo>
                  <a:lnTo>
                    <a:pt x="8775" y="2725"/>
                  </a:lnTo>
                  <a:lnTo>
                    <a:pt x="9650" y="2725"/>
                  </a:lnTo>
                  <a:lnTo>
                    <a:pt x="9650" y="9650"/>
                  </a:lnTo>
                  <a:lnTo>
                    <a:pt x="2725" y="9650"/>
                  </a:lnTo>
                  <a:lnTo>
                    <a:pt x="2725" y="8775"/>
                  </a:lnTo>
                  <a:lnTo>
                    <a:pt x="0" y="10800"/>
                  </a:lnTo>
                  <a:lnTo>
                    <a:pt x="2725" y="12825"/>
                  </a:lnTo>
                  <a:lnTo>
                    <a:pt x="2725" y="11950"/>
                  </a:lnTo>
                  <a:lnTo>
                    <a:pt x="9650" y="11950"/>
                  </a:lnTo>
                  <a:lnTo>
                    <a:pt x="9650" y="18875"/>
                  </a:lnTo>
                  <a:lnTo>
                    <a:pt x="8775" y="18875"/>
                  </a:lnTo>
                  <a:lnTo>
                    <a:pt x="10800" y="21600"/>
                  </a:lnTo>
                  <a:lnTo>
                    <a:pt x="12825" y="18875"/>
                  </a:lnTo>
                  <a:lnTo>
                    <a:pt x="11950" y="18875"/>
                  </a:lnTo>
                  <a:lnTo>
                    <a:pt x="11950" y="11950"/>
                  </a:lnTo>
                  <a:lnTo>
                    <a:pt x="18875" y="11950"/>
                  </a:lnTo>
                  <a:lnTo>
                    <a:pt x="18875" y="12825"/>
                  </a:lnTo>
                  <a:lnTo>
                    <a:pt x="21600" y="10800"/>
                  </a:lnTo>
                  <a:lnTo>
                    <a:pt x="18875" y="8775"/>
                  </a:lnTo>
                  <a:lnTo>
                    <a:pt x="18875" y="9650"/>
                  </a:lnTo>
                  <a:lnTo>
                    <a:pt x="11950" y="9650"/>
                  </a:lnTo>
                  <a:lnTo>
                    <a:pt x="11950" y="2725"/>
                  </a:lnTo>
                  <a:lnTo>
                    <a:pt x="12825" y="2725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</p:grpSp>
    </p:spTree>
    <p:extLst>
      <p:ext uri="{BB962C8B-B14F-4D97-AF65-F5344CB8AC3E}">
        <p14:creationId xmlns:p14="http://schemas.microsoft.com/office/powerpoint/2010/main" val="14857311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85D5797-B92D-4DD8-BF10-12C8FDB4F9AB}" type="slidenum">
              <a:rPr lang="en-US" altLang="tr-TR"/>
              <a:pPr>
                <a:defRPr/>
              </a:pPr>
              <a:t>27</a:t>
            </a:fld>
            <a:endParaRPr lang="en-US" altLang="tr-TR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Pointer Arithmetic and Array</a:t>
            </a:r>
          </a:p>
        </p:txBody>
      </p:sp>
      <p:sp>
        <p:nvSpPr>
          <p:cNvPr id="43012" name="Text Box 3"/>
          <p:cNvSpPr txBox="1">
            <a:spLocks noChangeArrowheads="1"/>
          </p:cNvSpPr>
          <p:nvPr/>
        </p:nvSpPr>
        <p:spPr bwMode="auto">
          <a:xfrm>
            <a:off x="228600" y="1981200"/>
            <a:ext cx="8534400" cy="363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float a[4];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float *ptr;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solidFill>
                  <a:srgbClr val="FF1717"/>
                </a:solidFill>
                <a:latin typeface="Courier New" panose="02070309020205020404" pitchFamily="49" charset="0"/>
              </a:rPr>
              <a:t>ptr = &amp;(a[2]);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3.14;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ptr++;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9.0;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 = ptr - 3;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6.0;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 += 2;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7.0;</a:t>
            </a:r>
          </a:p>
        </p:txBody>
      </p:sp>
      <p:graphicFrame>
        <p:nvGraphicFramePr>
          <p:cNvPr id="67641" name="Group 57"/>
          <p:cNvGraphicFramePr>
            <a:graphicFrameLocks noGrp="1"/>
          </p:cNvGraphicFramePr>
          <p:nvPr/>
        </p:nvGraphicFramePr>
        <p:xfrm>
          <a:off x="2209800" y="2133600"/>
          <a:ext cx="6781800" cy="3657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59388130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175735046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360926687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715448717"/>
                    </a:ext>
                  </a:extLst>
                </a:gridCol>
              </a:tblGrid>
              <a:tr h="381000"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Data Table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4135921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647815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6271796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a[1]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4940588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a[2]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965293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a[3]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513095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pointer variable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address of a[2]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756508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*ptr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de-reference of float pointer variable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9536896"/>
                  </a:ext>
                </a:extLst>
              </a:tr>
              <a:tr h="3143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017911"/>
                  </a:ext>
                </a:extLst>
              </a:tr>
            </a:tbl>
          </a:graphicData>
        </a:graphic>
      </p:graphicFrame>
      <p:sp>
        <p:nvSpPr>
          <p:cNvPr id="43062" name="AutoShape 58"/>
          <p:cNvSpPr>
            <a:spLocks noChangeArrowheads="1"/>
          </p:cNvSpPr>
          <p:nvPr/>
        </p:nvSpPr>
        <p:spPr bwMode="auto">
          <a:xfrm rot="10800000">
            <a:off x="2057400" y="3657600"/>
            <a:ext cx="381000" cy="990600"/>
          </a:xfrm>
          <a:prstGeom prst="curvedLeftArrow">
            <a:avLst>
              <a:gd name="adj1" fmla="val 24616"/>
              <a:gd name="adj2" fmla="val 76616"/>
              <a:gd name="adj3" fmla="val 3333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0088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B6C5E23-91CD-4FC0-A475-45BF67E98D42}" type="slidenum">
              <a:rPr lang="en-US" altLang="tr-TR"/>
              <a:pPr>
                <a:defRPr/>
              </a:pPr>
              <a:t>28</a:t>
            </a:fld>
            <a:endParaRPr lang="en-US" altLang="tr-TR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Pointer Arithmetic and Array</a:t>
            </a:r>
          </a:p>
        </p:txBody>
      </p:sp>
      <p:sp>
        <p:nvSpPr>
          <p:cNvPr id="44036" name="Text Box 3"/>
          <p:cNvSpPr txBox="1">
            <a:spLocks noChangeArrowheads="1"/>
          </p:cNvSpPr>
          <p:nvPr/>
        </p:nvSpPr>
        <p:spPr bwMode="auto">
          <a:xfrm>
            <a:off x="228600" y="1981200"/>
            <a:ext cx="8534400" cy="363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float a[4];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float *ptr;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 = &amp;(a[2]);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solidFill>
                  <a:srgbClr val="FF1717"/>
                </a:solidFill>
                <a:latin typeface="Courier New" panose="02070309020205020404" pitchFamily="49" charset="0"/>
              </a:rPr>
              <a:t>*ptr = 3.14;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ptr++;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9.0;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 = ptr - 3;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6.0;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 += 2;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7.0;</a:t>
            </a:r>
          </a:p>
        </p:txBody>
      </p:sp>
      <p:graphicFrame>
        <p:nvGraphicFramePr>
          <p:cNvPr id="68612" name="Group 4"/>
          <p:cNvGraphicFramePr>
            <a:graphicFrameLocks noGrp="1"/>
          </p:cNvGraphicFramePr>
          <p:nvPr/>
        </p:nvGraphicFramePr>
        <p:xfrm>
          <a:off x="2209800" y="2133600"/>
          <a:ext cx="6781800" cy="3657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318985321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237800699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113926930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132061802"/>
                    </a:ext>
                  </a:extLst>
                </a:gridCol>
              </a:tblGrid>
              <a:tr h="381000"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Data Table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054832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96475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765997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a[1]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5649494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a[2]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3.14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2205788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a[3]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893949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pointer variable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address of a[2]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958157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*ptr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de-reference of float pointer variable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3.14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5126747"/>
                  </a:ext>
                </a:extLst>
              </a:tr>
              <a:tr h="3143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0542872"/>
                  </a:ext>
                </a:extLst>
              </a:tr>
            </a:tbl>
          </a:graphicData>
        </a:graphic>
      </p:graphicFrame>
      <p:sp>
        <p:nvSpPr>
          <p:cNvPr id="44086" name="AutoShape 53"/>
          <p:cNvSpPr>
            <a:spLocks noChangeArrowheads="1"/>
          </p:cNvSpPr>
          <p:nvPr/>
        </p:nvSpPr>
        <p:spPr bwMode="auto">
          <a:xfrm rot="10800000">
            <a:off x="2057400" y="3657600"/>
            <a:ext cx="381000" cy="990600"/>
          </a:xfrm>
          <a:prstGeom prst="curvedLeftArrow">
            <a:avLst>
              <a:gd name="adj1" fmla="val 24616"/>
              <a:gd name="adj2" fmla="val 76616"/>
              <a:gd name="adj3" fmla="val 3333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9287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27D1A34-C935-4144-8AC0-2756262989CD}" type="slidenum">
              <a:rPr lang="en-US" altLang="tr-TR"/>
              <a:pPr>
                <a:defRPr/>
              </a:pPr>
              <a:t>29</a:t>
            </a:fld>
            <a:endParaRPr lang="en-US" altLang="tr-TR"/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Pointer Arithmetic and Array</a:t>
            </a:r>
          </a:p>
        </p:txBody>
      </p:sp>
      <p:sp>
        <p:nvSpPr>
          <p:cNvPr id="45060" name="Text Box 3"/>
          <p:cNvSpPr txBox="1">
            <a:spLocks noChangeArrowheads="1"/>
          </p:cNvSpPr>
          <p:nvPr/>
        </p:nvSpPr>
        <p:spPr bwMode="auto">
          <a:xfrm>
            <a:off x="228600" y="1981200"/>
            <a:ext cx="8534400" cy="363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float a[4];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float *ptr;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 = &amp;(a[2]);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3.14;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solidFill>
                  <a:srgbClr val="FF1717"/>
                </a:solidFill>
                <a:latin typeface="Courier New" panose="02070309020205020404" pitchFamily="49" charset="0"/>
              </a:rPr>
              <a:t>ptr++;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9.0;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 = ptr - 3;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6.0;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 += 2;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7.0;</a:t>
            </a:r>
          </a:p>
        </p:txBody>
      </p:sp>
      <p:graphicFrame>
        <p:nvGraphicFramePr>
          <p:cNvPr id="69636" name="Group 4"/>
          <p:cNvGraphicFramePr>
            <a:graphicFrameLocks noGrp="1"/>
          </p:cNvGraphicFramePr>
          <p:nvPr/>
        </p:nvGraphicFramePr>
        <p:xfrm>
          <a:off x="2209800" y="2133600"/>
          <a:ext cx="6781800" cy="3657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680251562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593241721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1031214867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441024473"/>
                    </a:ext>
                  </a:extLst>
                </a:gridCol>
              </a:tblGrid>
              <a:tr h="381000"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Data Table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974102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7149483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156064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a[1]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4153124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a[2]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3.14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9811417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a[3]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4290364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pointer variable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address of a[3]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93861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*ptr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de-reference of float pointer variable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183092"/>
                  </a:ext>
                </a:extLst>
              </a:tr>
              <a:tr h="3143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956126"/>
                  </a:ext>
                </a:extLst>
              </a:tr>
            </a:tbl>
          </a:graphicData>
        </a:graphic>
      </p:graphicFrame>
      <p:sp>
        <p:nvSpPr>
          <p:cNvPr id="45110" name="AutoShape 53"/>
          <p:cNvSpPr>
            <a:spLocks noChangeArrowheads="1"/>
          </p:cNvSpPr>
          <p:nvPr/>
        </p:nvSpPr>
        <p:spPr bwMode="auto">
          <a:xfrm rot="10800000">
            <a:off x="2057400" y="4114800"/>
            <a:ext cx="381000" cy="533400"/>
          </a:xfrm>
          <a:prstGeom prst="curvedLeftArrow">
            <a:avLst>
              <a:gd name="adj1" fmla="val 13255"/>
              <a:gd name="adj2" fmla="val 41255"/>
              <a:gd name="adj3" fmla="val 3333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7635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36981B-DC6E-49CC-BB7E-4D823831AC0A}" type="slidenum">
              <a:rPr lang="en-US" altLang="tr-TR"/>
              <a:pPr>
                <a:defRPr/>
              </a:pPr>
              <a:t>30</a:t>
            </a:fld>
            <a:endParaRPr lang="en-US" altLang="tr-TR"/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Pointer Arithmetic and Array</a:t>
            </a:r>
          </a:p>
        </p:txBody>
      </p:sp>
      <p:sp>
        <p:nvSpPr>
          <p:cNvPr id="46084" name="Text Box 3"/>
          <p:cNvSpPr txBox="1">
            <a:spLocks noChangeArrowheads="1"/>
          </p:cNvSpPr>
          <p:nvPr/>
        </p:nvSpPr>
        <p:spPr bwMode="auto">
          <a:xfrm>
            <a:off x="228600" y="1981200"/>
            <a:ext cx="8534400" cy="363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latin typeface="Courier New" panose="02070309020205020404" pitchFamily="49" charset="0"/>
              </a:rPr>
              <a:t>float a[4];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latin typeface="Courier New" panose="02070309020205020404" pitchFamily="49" charset="0"/>
              </a:rPr>
              <a:t>float 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= &amp;(a[2]);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latin typeface="Courier New" panose="02070309020205020404" pitchFamily="49" charset="0"/>
              </a:rPr>
              <a:t>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= 3.14;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++;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solidFill>
                  <a:srgbClr val="FF1717"/>
                </a:solidFill>
                <a:latin typeface="Courier New" panose="02070309020205020404" pitchFamily="49" charset="0"/>
              </a:rPr>
              <a:t>*</a:t>
            </a:r>
            <a:r>
              <a:rPr lang="en-US" altLang="tr-TR" sz="1600" b="1" dirty="0" err="1">
                <a:solidFill>
                  <a:srgbClr val="FF1717"/>
                </a:solidFill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solidFill>
                  <a:srgbClr val="FF1717"/>
                </a:solidFill>
                <a:latin typeface="Courier New" panose="02070309020205020404" pitchFamily="49" charset="0"/>
              </a:rPr>
              <a:t> = 9.0;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= 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- 3;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latin typeface="Courier New" panose="02070309020205020404" pitchFamily="49" charset="0"/>
              </a:rPr>
              <a:t>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= 6.0;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+= 2;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latin typeface="Courier New" panose="02070309020205020404" pitchFamily="49" charset="0"/>
              </a:rPr>
              <a:t>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= 7.0;</a:t>
            </a:r>
          </a:p>
        </p:txBody>
      </p:sp>
      <p:graphicFrame>
        <p:nvGraphicFramePr>
          <p:cNvPr id="70660" name="Group 4"/>
          <p:cNvGraphicFramePr>
            <a:graphicFrameLocks noGrp="1"/>
          </p:cNvGraphicFramePr>
          <p:nvPr/>
        </p:nvGraphicFramePr>
        <p:xfrm>
          <a:off x="2209800" y="2133600"/>
          <a:ext cx="6781800" cy="3657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108866539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529913586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339481544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175719429"/>
                    </a:ext>
                  </a:extLst>
                </a:gridCol>
              </a:tblGrid>
              <a:tr h="381000"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Data Table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3992029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4961397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5210972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a[1]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992539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a[2]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3.14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499285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a[3]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9.0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0518195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pointer variable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address of a[3]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5915461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*ptr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de-reference of float pointer variable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9.0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6656138"/>
                  </a:ext>
                </a:extLst>
              </a:tr>
              <a:tr h="3143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rgbClr val="FF1717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2042306"/>
                  </a:ext>
                </a:extLst>
              </a:tr>
            </a:tbl>
          </a:graphicData>
        </a:graphic>
      </p:graphicFrame>
      <p:sp>
        <p:nvSpPr>
          <p:cNvPr id="46134" name="AutoShape 54"/>
          <p:cNvSpPr>
            <a:spLocks noChangeArrowheads="1"/>
          </p:cNvSpPr>
          <p:nvPr/>
        </p:nvSpPr>
        <p:spPr bwMode="auto">
          <a:xfrm rot="10800000">
            <a:off x="2057400" y="4114800"/>
            <a:ext cx="381000" cy="533400"/>
          </a:xfrm>
          <a:prstGeom prst="curvedLeftArrow">
            <a:avLst>
              <a:gd name="adj1" fmla="val 13255"/>
              <a:gd name="adj2" fmla="val 41255"/>
              <a:gd name="adj3" fmla="val 3333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8487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BC1F8E-3A5C-4F2F-837F-D58FEECCAEE2}" type="slidenum">
              <a:rPr lang="en-US" altLang="tr-TR"/>
              <a:pPr>
                <a:defRPr/>
              </a:pPr>
              <a:t>31</a:t>
            </a:fld>
            <a:endParaRPr lang="en-US" altLang="tr-TR"/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Pointer Arithmetic and Array</a:t>
            </a:r>
          </a:p>
        </p:txBody>
      </p:sp>
      <p:sp>
        <p:nvSpPr>
          <p:cNvPr id="47108" name="Text Box 3"/>
          <p:cNvSpPr txBox="1">
            <a:spLocks noChangeArrowheads="1"/>
          </p:cNvSpPr>
          <p:nvPr/>
        </p:nvSpPr>
        <p:spPr bwMode="auto">
          <a:xfrm>
            <a:off x="228600" y="1981200"/>
            <a:ext cx="8534400" cy="363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float a[4];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float *ptr;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 = &amp;(a[2]);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3.14;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ptr++;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9.0;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solidFill>
                  <a:srgbClr val="FF1717"/>
                </a:solidFill>
                <a:latin typeface="Courier New" panose="02070309020205020404" pitchFamily="49" charset="0"/>
              </a:rPr>
              <a:t>ptr = ptr - 3;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6.0;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 += 2;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7.0;</a:t>
            </a:r>
          </a:p>
        </p:txBody>
      </p:sp>
      <p:graphicFrame>
        <p:nvGraphicFramePr>
          <p:cNvPr id="71684" name="Group 4"/>
          <p:cNvGraphicFramePr>
            <a:graphicFrameLocks noGrp="1"/>
          </p:cNvGraphicFramePr>
          <p:nvPr/>
        </p:nvGraphicFramePr>
        <p:xfrm>
          <a:off x="2209800" y="2133600"/>
          <a:ext cx="6781800" cy="3657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199892852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819188153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122300679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58138740"/>
                    </a:ext>
                  </a:extLst>
                </a:gridCol>
              </a:tblGrid>
              <a:tr h="381000"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Data Table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29077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19510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188444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a[1]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5311855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a[2]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3.14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465305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a[3]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5906146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pointer variable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address of a[0]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563190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*ptr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de-reference of float pointer variable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5583157"/>
                  </a:ext>
                </a:extLst>
              </a:tr>
              <a:tr h="3143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9084421"/>
                  </a:ext>
                </a:extLst>
              </a:tr>
            </a:tbl>
          </a:graphicData>
        </a:graphic>
      </p:graphicFrame>
      <p:sp>
        <p:nvSpPr>
          <p:cNvPr id="47158" name="AutoShape 53"/>
          <p:cNvSpPr>
            <a:spLocks noChangeArrowheads="1"/>
          </p:cNvSpPr>
          <p:nvPr/>
        </p:nvSpPr>
        <p:spPr bwMode="auto">
          <a:xfrm rot="10800000">
            <a:off x="2057400" y="2819400"/>
            <a:ext cx="381000" cy="1828800"/>
          </a:xfrm>
          <a:prstGeom prst="curvedLeftArrow">
            <a:avLst>
              <a:gd name="adj1" fmla="val 32333"/>
              <a:gd name="adj2" fmla="val 128333"/>
              <a:gd name="adj3" fmla="val 3333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4139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E48B3B1-D1D6-46E1-A67A-9235357860E5}" type="slidenum">
              <a:rPr lang="en-US" altLang="tr-TR"/>
              <a:pPr>
                <a:defRPr/>
              </a:pPr>
              <a:t>32</a:t>
            </a:fld>
            <a:endParaRPr lang="en-US" altLang="tr-TR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Pointer Arithmetic and Array</a:t>
            </a:r>
          </a:p>
        </p:txBody>
      </p:sp>
      <p:sp>
        <p:nvSpPr>
          <p:cNvPr id="48132" name="Text Box 3"/>
          <p:cNvSpPr txBox="1">
            <a:spLocks noChangeArrowheads="1"/>
          </p:cNvSpPr>
          <p:nvPr/>
        </p:nvSpPr>
        <p:spPr bwMode="auto">
          <a:xfrm>
            <a:off x="228600" y="1981200"/>
            <a:ext cx="8534400" cy="363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float a[4];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float *ptr;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 = &amp;(a[2]);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3.14;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ptr++;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9.0;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 = ptr - 3;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solidFill>
                  <a:srgbClr val="FF1717"/>
                </a:solidFill>
                <a:latin typeface="Courier New" panose="02070309020205020404" pitchFamily="49" charset="0"/>
              </a:rPr>
              <a:t>*ptr = 6.0;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 += 2;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7.0;</a:t>
            </a:r>
          </a:p>
        </p:txBody>
      </p:sp>
      <p:graphicFrame>
        <p:nvGraphicFramePr>
          <p:cNvPr id="72708" name="Group 4"/>
          <p:cNvGraphicFramePr>
            <a:graphicFrameLocks noGrp="1"/>
          </p:cNvGraphicFramePr>
          <p:nvPr/>
        </p:nvGraphicFramePr>
        <p:xfrm>
          <a:off x="2209800" y="2133600"/>
          <a:ext cx="6781800" cy="3657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80568643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1480899957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1573777684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986179606"/>
                    </a:ext>
                  </a:extLst>
                </a:gridCol>
              </a:tblGrid>
              <a:tr h="381000"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Data Table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45655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963499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6.0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3160723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a[1]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063444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a[2]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3.14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2012942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a[3]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0860178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pointer variable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address of a[0]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0989206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*ptr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de-reference of float pointer variable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6.0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681584"/>
                  </a:ext>
                </a:extLst>
              </a:tr>
              <a:tr h="3143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1818377"/>
                  </a:ext>
                </a:extLst>
              </a:tr>
            </a:tbl>
          </a:graphicData>
        </a:graphic>
      </p:graphicFrame>
      <p:sp>
        <p:nvSpPr>
          <p:cNvPr id="48182" name="AutoShape 53"/>
          <p:cNvSpPr>
            <a:spLocks noChangeArrowheads="1"/>
          </p:cNvSpPr>
          <p:nvPr/>
        </p:nvSpPr>
        <p:spPr bwMode="auto">
          <a:xfrm rot="10800000">
            <a:off x="2057400" y="2819400"/>
            <a:ext cx="381000" cy="1828800"/>
          </a:xfrm>
          <a:prstGeom prst="curvedLeftArrow">
            <a:avLst>
              <a:gd name="adj1" fmla="val 32333"/>
              <a:gd name="adj2" fmla="val 128333"/>
              <a:gd name="adj3" fmla="val 3333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6868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00A781D-8EE0-4B8E-A335-C198A22BE2A7}" type="slidenum">
              <a:rPr lang="en-US" altLang="tr-TR"/>
              <a:pPr>
                <a:defRPr/>
              </a:pPr>
              <a:t>33</a:t>
            </a:fld>
            <a:endParaRPr lang="en-US" altLang="tr-TR"/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Pointer Arithmetic and Array</a:t>
            </a:r>
          </a:p>
        </p:txBody>
      </p:sp>
      <p:sp>
        <p:nvSpPr>
          <p:cNvPr id="49156" name="Text Box 3"/>
          <p:cNvSpPr txBox="1">
            <a:spLocks noChangeArrowheads="1"/>
          </p:cNvSpPr>
          <p:nvPr/>
        </p:nvSpPr>
        <p:spPr bwMode="auto">
          <a:xfrm>
            <a:off x="228600" y="1981200"/>
            <a:ext cx="8534400" cy="363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float a[4];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float *ptr;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 = &amp;(a[2]);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3.14;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ptr++;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9.0;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 = ptr - 3;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6.0;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solidFill>
                  <a:srgbClr val="FF1717"/>
                </a:solidFill>
                <a:latin typeface="Courier New" panose="02070309020205020404" pitchFamily="49" charset="0"/>
              </a:rPr>
              <a:t>ptr += 2;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7.0;</a:t>
            </a:r>
          </a:p>
        </p:txBody>
      </p:sp>
      <p:graphicFrame>
        <p:nvGraphicFramePr>
          <p:cNvPr id="73732" name="Group 4"/>
          <p:cNvGraphicFramePr>
            <a:graphicFrameLocks noGrp="1"/>
          </p:cNvGraphicFramePr>
          <p:nvPr/>
        </p:nvGraphicFramePr>
        <p:xfrm>
          <a:off x="2209800" y="2133600"/>
          <a:ext cx="6781800" cy="3657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76836436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260033083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1338114578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48682409"/>
                    </a:ext>
                  </a:extLst>
                </a:gridCol>
              </a:tblGrid>
              <a:tr h="381000"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Data Table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9398190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0788081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6.0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066433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a[1]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116424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a[2]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3.14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7071974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a[3]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0807836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pointer variable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address of a[2]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51864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*ptr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de-reference of float pointer variable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3.14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773023"/>
                  </a:ext>
                </a:extLst>
              </a:tr>
              <a:tr h="3143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039698"/>
                  </a:ext>
                </a:extLst>
              </a:tr>
            </a:tbl>
          </a:graphicData>
        </a:graphic>
      </p:graphicFrame>
      <p:sp>
        <p:nvSpPr>
          <p:cNvPr id="49206" name="AutoShape 53"/>
          <p:cNvSpPr>
            <a:spLocks noChangeArrowheads="1"/>
          </p:cNvSpPr>
          <p:nvPr/>
        </p:nvSpPr>
        <p:spPr bwMode="auto">
          <a:xfrm rot="10800000">
            <a:off x="2057400" y="3657600"/>
            <a:ext cx="381000" cy="990600"/>
          </a:xfrm>
          <a:prstGeom prst="curvedLeftArrow">
            <a:avLst>
              <a:gd name="adj1" fmla="val 24616"/>
              <a:gd name="adj2" fmla="val 76616"/>
              <a:gd name="adj3" fmla="val 3333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02724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50AC8C2-B66D-49A2-BBBA-EB4476B75DEA}" type="slidenum">
              <a:rPr lang="en-US" altLang="tr-TR"/>
              <a:pPr>
                <a:defRPr/>
              </a:pPr>
              <a:t>34</a:t>
            </a:fld>
            <a:endParaRPr lang="en-US" altLang="tr-TR"/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Pointer Arithmetic and Array</a:t>
            </a:r>
          </a:p>
        </p:txBody>
      </p:sp>
      <p:sp>
        <p:nvSpPr>
          <p:cNvPr id="50180" name="Text Box 3"/>
          <p:cNvSpPr txBox="1">
            <a:spLocks noChangeArrowheads="1"/>
          </p:cNvSpPr>
          <p:nvPr/>
        </p:nvSpPr>
        <p:spPr bwMode="auto">
          <a:xfrm>
            <a:off x="228600" y="1981200"/>
            <a:ext cx="8534400" cy="3636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float a[4];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float *ptr;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 = &amp;(a[2]);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3.14;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ptr++;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9.0;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 = ptr - 3;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*ptr = 6.0;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latin typeface="Courier New" panose="02070309020205020404" pitchFamily="49" charset="0"/>
              </a:rPr>
              <a:t>ptr += 2;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>
                <a:solidFill>
                  <a:srgbClr val="FF1717"/>
                </a:solidFill>
                <a:latin typeface="Courier New" panose="02070309020205020404" pitchFamily="49" charset="0"/>
              </a:rPr>
              <a:t>*ptr = 7.0;</a:t>
            </a:r>
          </a:p>
        </p:txBody>
      </p:sp>
      <p:graphicFrame>
        <p:nvGraphicFramePr>
          <p:cNvPr id="74756" name="Group 4"/>
          <p:cNvGraphicFramePr>
            <a:graphicFrameLocks noGrp="1"/>
          </p:cNvGraphicFramePr>
          <p:nvPr/>
        </p:nvGraphicFramePr>
        <p:xfrm>
          <a:off x="2209800" y="2133600"/>
          <a:ext cx="6781800" cy="36576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34587139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4269869091"/>
                    </a:ext>
                  </a:extLst>
                </a:gridCol>
                <a:gridCol w="3276600">
                  <a:extLst>
                    <a:ext uri="{9D8B030D-6E8A-4147-A177-3AD203B41FA5}">
                      <a16:colId xmlns:a16="http://schemas.microsoft.com/office/drawing/2014/main" val="8893801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474388759"/>
                    </a:ext>
                  </a:extLst>
                </a:gridCol>
              </a:tblGrid>
              <a:tr h="381000"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Data Table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tr-T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6461394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Type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Description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Value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187299"/>
                  </a:ext>
                </a:extLst>
              </a:tr>
              <a:tr h="3048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a[0]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6.0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724131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a[1]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733735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a[2]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7.0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921079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a[3]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array element (variable)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9.0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458526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ptr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*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float pointer variable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address of a[2]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8962605"/>
                  </a:ext>
                </a:extLst>
              </a:tr>
              <a:tr h="381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*ptr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float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de-reference of float pointer variable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tr-TR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FF1717"/>
                          </a:solidFill>
                          <a:effectLst/>
                          <a:latin typeface="Tahoma" panose="020B0604030504040204" pitchFamily="34" charset="0"/>
                        </a:rPr>
                        <a:t>7.0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53559"/>
                  </a:ext>
                </a:extLst>
              </a:tr>
              <a:tr h="31432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6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5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 algn="l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7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 algn="l">
                        <a:spcBef>
                          <a:spcPct val="20000"/>
                        </a:spcBef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GB" altLang="tr-TR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469620"/>
                  </a:ext>
                </a:extLst>
              </a:tr>
            </a:tbl>
          </a:graphicData>
        </a:graphic>
      </p:graphicFrame>
      <p:sp>
        <p:nvSpPr>
          <p:cNvPr id="50230" name="AutoShape 53"/>
          <p:cNvSpPr>
            <a:spLocks noChangeArrowheads="1"/>
          </p:cNvSpPr>
          <p:nvPr/>
        </p:nvSpPr>
        <p:spPr bwMode="auto">
          <a:xfrm rot="10800000">
            <a:off x="2057400" y="3657600"/>
            <a:ext cx="381000" cy="990600"/>
          </a:xfrm>
          <a:prstGeom prst="curvedLeftArrow">
            <a:avLst>
              <a:gd name="adj1" fmla="val 24616"/>
              <a:gd name="adj2" fmla="val 76616"/>
              <a:gd name="adj3" fmla="val 33333"/>
            </a:avLst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7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tr-TR" altLang="tr-TR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0781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ayt Numarası Yer Tutucusu 4"/>
          <p:cNvSpPr>
            <a:spLocks noGrp="1"/>
          </p:cNvSpPr>
          <p:nvPr>
            <p:ph type="sldNum" sz="quarter" idx="4294967295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F02ABA87-9DCA-4168-8C46-32EAE10F399B}" type="slidenum">
              <a:rPr lang="en-US" altLang="tr-TR"/>
              <a:pPr>
                <a:defRPr/>
              </a:pPr>
              <a:t>35</a:t>
            </a:fld>
            <a:endParaRPr lang="en-US" altLang="tr-TR"/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tr-TR"/>
              <a:t>Pointer Arithmetic and Array</a:t>
            </a:r>
          </a:p>
        </p:txBody>
      </p:sp>
      <p:sp>
        <p:nvSpPr>
          <p:cNvPr id="51204" name="Rectangle 55"/>
          <p:cNvSpPr>
            <a:spLocks noGrp="1" noChangeArrowheads="1"/>
          </p:cNvSpPr>
          <p:nvPr>
            <p:ph type="body" sz="half" idx="2"/>
          </p:nvPr>
        </p:nvSpPr>
        <p:spPr>
          <a:xfrm>
            <a:off x="2743200" y="2133600"/>
            <a:ext cx="5562600" cy="4114800"/>
          </a:xfrm>
        </p:spPr>
        <p:txBody>
          <a:bodyPr/>
          <a:lstStyle/>
          <a:p>
            <a:pPr eaLnBrk="1" hangingPunct="1"/>
            <a:r>
              <a:rPr lang="en-US" altLang="tr-TR" sz="2800"/>
              <a:t>Type of </a:t>
            </a:r>
            <a:r>
              <a:rPr lang="en-US" altLang="tr-TR" sz="2800">
                <a:latin typeface="Courier New" panose="02070309020205020404" pitchFamily="49" charset="0"/>
              </a:rPr>
              <a:t>a</a:t>
            </a:r>
            <a:r>
              <a:rPr lang="en-US" altLang="tr-TR" sz="2800"/>
              <a:t> is </a:t>
            </a:r>
            <a:r>
              <a:rPr lang="en-US" altLang="tr-TR" sz="2800">
                <a:latin typeface="Courier New" panose="02070309020205020404" pitchFamily="49" charset="0"/>
              </a:rPr>
              <a:t>float *</a:t>
            </a:r>
          </a:p>
          <a:p>
            <a:pPr eaLnBrk="1" hangingPunct="1"/>
            <a:r>
              <a:rPr lang="en-US" altLang="tr-TR" sz="2800">
                <a:latin typeface="Courier New" panose="02070309020205020404" pitchFamily="49" charset="0"/>
              </a:rPr>
              <a:t>a[2] </a:t>
            </a:r>
            <a:r>
              <a:rPr lang="en-US" altLang="tr-TR" sz="2800">
                <a:latin typeface="Courier New" panose="02070309020205020404" pitchFamily="49" charset="0"/>
                <a:sym typeface="Wingdings" panose="05000000000000000000" pitchFamily="2" charset="2"/>
              </a:rPr>
              <a:t></a:t>
            </a:r>
            <a:r>
              <a:rPr lang="en-US" altLang="tr-TR" sz="2800">
                <a:latin typeface="Courier New" panose="02070309020205020404" pitchFamily="49" charset="0"/>
              </a:rPr>
              <a:t> *(a + 2)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tr-TR" sz="2400">
                <a:latin typeface="Courier New" panose="02070309020205020404" pitchFamily="49" charset="0"/>
              </a:rPr>
              <a:t>	ptr = &amp;(a[2])</a:t>
            </a:r>
          </a:p>
          <a:p>
            <a:pPr lvl="1" eaLnBrk="1" hangingPunct="1">
              <a:buFont typeface="Wingdings" panose="05000000000000000000" pitchFamily="2" charset="2"/>
              <a:buChar char="è"/>
            </a:pPr>
            <a:r>
              <a:rPr lang="en-US" altLang="tr-TR" sz="2400">
                <a:latin typeface="Courier New" panose="02070309020205020404" pitchFamily="49" charset="0"/>
                <a:sym typeface="Wingdings" panose="05000000000000000000" pitchFamily="2" charset="2"/>
              </a:rPr>
              <a:t>ptr = &amp;(*(a + 2))</a:t>
            </a:r>
          </a:p>
          <a:p>
            <a:pPr lvl="1" eaLnBrk="1" hangingPunct="1">
              <a:buFont typeface="Wingdings" panose="05000000000000000000" pitchFamily="2" charset="2"/>
              <a:buChar char="è"/>
            </a:pPr>
            <a:r>
              <a:rPr lang="en-US" altLang="tr-TR" sz="2400">
                <a:latin typeface="Courier New" panose="02070309020205020404" pitchFamily="49" charset="0"/>
              </a:rPr>
              <a:t>ptr = a + 2</a:t>
            </a:r>
          </a:p>
          <a:p>
            <a:pPr eaLnBrk="1" hangingPunct="1"/>
            <a:r>
              <a:rPr lang="en-US" altLang="tr-TR" sz="2800">
                <a:latin typeface="Courier New" panose="02070309020205020404" pitchFamily="49" charset="0"/>
              </a:rPr>
              <a:t>a</a:t>
            </a:r>
            <a:r>
              <a:rPr lang="en-US" altLang="tr-TR" sz="2800"/>
              <a:t> is a memory address </a:t>
            </a:r>
            <a:r>
              <a:rPr lang="en-US" altLang="tr-TR" sz="2800" i="1"/>
              <a:t>constant</a:t>
            </a:r>
          </a:p>
          <a:p>
            <a:pPr eaLnBrk="1" hangingPunct="1"/>
            <a:r>
              <a:rPr lang="en-US" altLang="tr-TR" sz="2800">
                <a:latin typeface="Courier New" panose="02070309020205020404" pitchFamily="49" charset="0"/>
              </a:rPr>
              <a:t>ptr </a:t>
            </a:r>
            <a:r>
              <a:rPr lang="en-US" altLang="tr-TR" sz="2800"/>
              <a:t>is a pointer </a:t>
            </a:r>
            <a:r>
              <a:rPr lang="en-US" altLang="tr-TR" sz="2800" i="1"/>
              <a:t>variable</a:t>
            </a:r>
          </a:p>
        </p:txBody>
      </p:sp>
      <p:sp>
        <p:nvSpPr>
          <p:cNvPr id="51205" name="Text Box 56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2133600"/>
            <a:ext cx="2057400" cy="4114800"/>
          </a:xfrm>
          <a:noFill/>
        </p:spPr>
        <p:txBody>
          <a:bodyPr/>
          <a:lstStyle/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solidFill>
                  <a:srgbClr val="FF1717"/>
                </a:solidFill>
                <a:latin typeface="Courier New" panose="02070309020205020404" pitchFamily="49" charset="0"/>
              </a:rPr>
              <a:t>float a[4];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latin typeface="Courier New" panose="02070309020205020404" pitchFamily="49" charset="0"/>
              </a:rPr>
              <a:t>float 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solidFill>
                  <a:srgbClr val="FF1717"/>
                </a:solidFill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solidFill>
                  <a:srgbClr val="FF1717"/>
                </a:solidFill>
                <a:latin typeface="Courier New" panose="02070309020205020404" pitchFamily="49" charset="0"/>
              </a:rPr>
              <a:t> = &amp;(a[2]);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latin typeface="Courier New" panose="02070309020205020404" pitchFamily="49" charset="0"/>
              </a:rPr>
              <a:t>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= 3.14;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++;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latin typeface="Courier New" panose="02070309020205020404" pitchFamily="49" charset="0"/>
              </a:rPr>
              <a:t>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= 9.0;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= 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- 3;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latin typeface="Courier New" panose="02070309020205020404" pitchFamily="49" charset="0"/>
              </a:rPr>
              <a:t>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= 6.0;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+= 2;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tr-TR" sz="1600" b="1" dirty="0">
                <a:latin typeface="Courier New" panose="02070309020205020404" pitchFamily="49" charset="0"/>
              </a:rPr>
              <a:t>*</a:t>
            </a:r>
            <a:r>
              <a:rPr lang="en-US" altLang="tr-TR" sz="1600" b="1" dirty="0" err="1">
                <a:latin typeface="Courier New" panose="02070309020205020404" pitchFamily="49" charset="0"/>
              </a:rPr>
              <a:t>ptr</a:t>
            </a:r>
            <a:r>
              <a:rPr lang="en-US" altLang="tr-TR" sz="1600" b="1" dirty="0">
                <a:latin typeface="Courier New" panose="02070309020205020404" pitchFamily="49" charset="0"/>
              </a:rPr>
              <a:t> = 7.0;</a:t>
            </a:r>
          </a:p>
        </p:txBody>
      </p:sp>
    </p:spTree>
    <p:extLst>
      <p:ext uri="{BB962C8B-B14F-4D97-AF65-F5344CB8AC3E}">
        <p14:creationId xmlns:p14="http://schemas.microsoft.com/office/powerpoint/2010/main" val="36043665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36</a:t>
            </a:fld>
            <a:endParaRPr lang="tr-TR"/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nn-NO"/>
              <a:t>BLM 1002 – Bilgsayar Programlama 1</a:t>
            </a:r>
            <a:endParaRPr lang="tr-TR" dirty="0"/>
          </a:p>
        </p:txBody>
      </p:sp>
      <p:sp>
        <p:nvSpPr>
          <p:cNvPr id="7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sz="3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Örnek2:</a:t>
            </a:r>
            <a:r>
              <a:rPr lang="tr-TR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Ortalama Bul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quarter" idx="1"/>
          </p:nvPr>
        </p:nvSpPr>
        <p:spPr>
          <a:xfrm>
            <a:off x="323528" y="1600200"/>
            <a:ext cx="8153400" cy="4205064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elemanlı 10, 20, 30, 40, 50 değerlerine sahip </a:t>
            </a:r>
            <a:r>
              <a:rPr lang="tr-T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dizisi 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tanımlayalım.</a:t>
            </a:r>
          </a:p>
          <a:p>
            <a:pPr algn="just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Aşağıdaki fonksiyonu kullanarak bu elemanların 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ortalamasını bul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up,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fonksiyonu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içerisinde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yazdıralım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spcAft>
                <a:spcPts val="1000"/>
              </a:spcAft>
              <a:buSzPct val="100000"/>
              <a:buNone/>
            </a:pPr>
            <a:r>
              <a:rPr lang="tr-T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tr-TR" sz="2200" b="1" dirty="0" err="1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tr-TR" sz="2200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OrtalamaBul</a:t>
            </a:r>
            <a:r>
              <a:rPr lang="tr-T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tr-TR" sz="2200" b="1" dirty="0" err="1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tr-T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dizi</a:t>
            </a:r>
            <a:r>
              <a:rPr lang="tr-TR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  <a:r>
              <a:rPr lang="tr-T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tr-TR" sz="2200" b="1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sz="2200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n)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Fonksiyonun içerisinde diziye erişirken </a:t>
            </a:r>
            <a:r>
              <a:rPr lang="tr-T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işaretçi 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kullan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alım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29721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37</a:t>
            </a:fld>
            <a:endParaRPr lang="tr-TR"/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nn-NO"/>
              <a:t>BLM 1002 – Bilgsayar Programlama 1</a:t>
            </a:r>
            <a:endParaRPr lang="tr-TR" dirty="0"/>
          </a:p>
        </p:txBody>
      </p:sp>
      <p:sp>
        <p:nvSpPr>
          <p:cNvPr id="7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sz="3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Örnek2:</a:t>
            </a:r>
            <a:r>
              <a:rPr lang="tr-TR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Ortalama Bul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7824" y="377470"/>
            <a:ext cx="4980520" cy="635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3810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38</a:t>
            </a:fld>
            <a:endParaRPr lang="tr-TR"/>
          </a:p>
        </p:txBody>
      </p:sp>
      <p:sp>
        <p:nvSpPr>
          <p:cNvPr id="5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7775776" cy="4752528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programlama dilinde fonksiyon parametreleri 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Değer</a:t>
            </a:r>
            <a:r>
              <a:rPr lang="tr-T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geçerek (</a:t>
            </a:r>
            <a:r>
              <a:rPr lang="tr-TR" sz="25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  <a:r>
              <a:rPr lang="tr-TR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5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tr-TR" sz="2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5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tr-T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sz="25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Adres</a:t>
            </a:r>
            <a:r>
              <a:rPr lang="tr-T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geçerek (</a:t>
            </a:r>
            <a:r>
              <a:rPr lang="tr-TR" sz="2500" b="1" dirty="0" err="1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  <a:r>
              <a:rPr lang="tr-TR" sz="25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500" b="1" dirty="0" err="1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tr-TR" sz="25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500" b="1" dirty="0" err="1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tr-T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0" indent="0" algn="just">
              <a:buSzPct val="100000"/>
              <a:buNone/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olarak geçilebilirler.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Şu ana kadar gördüğümüz fonksiyon kullanımında geçirilen parametreler, 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fonksiyon içerisinde değiştirilse bile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fonksiyon çağırıldıktan sonra </a:t>
            </a:r>
            <a:r>
              <a:rPr lang="tr-TR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değişim çağrılan yerdeki değerini değiştirmez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nn-NO"/>
              <a:t>BLM 1002 – Bilgsayar Programlama 1</a:t>
            </a:r>
            <a:endParaRPr lang="tr-TR" dirty="0"/>
          </a:p>
        </p:txBody>
      </p:sp>
      <p:sp>
        <p:nvSpPr>
          <p:cNvPr id="7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Autofit/>
          </a:bodyPr>
          <a:lstStyle/>
          <a:p>
            <a: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Fonksiyon Parametresi Olan İşaretçiler</a:t>
            </a:r>
          </a:p>
        </p:txBody>
      </p:sp>
    </p:spTree>
    <p:extLst>
      <p:ext uri="{BB962C8B-B14F-4D97-AF65-F5344CB8AC3E}">
        <p14:creationId xmlns:p14="http://schemas.microsoft.com/office/powerpoint/2010/main" val="12609442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39</a:t>
            </a:fld>
            <a:endParaRPr lang="tr-TR"/>
          </a:p>
        </p:txBody>
      </p:sp>
      <p:sp>
        <p:nvSpPr>
          <p:cNvPr id="5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7775776" cy="4752528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Fakat, bir parametre </a:t>
            </a:r>
            <a:r>
              <a:rPr lang="tr-T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adres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geçerek aktarılırsa, </a:t>
            </a:r>
            <a:r>
              <a:rPr lang="tr-TR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fonksiyon içindeki </a:t>
            </a:r>
            <a:r>
              <a:rPr lang="tr-TR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değişik</a:t>
            </a:r>
            <a:r>
              <a:rPr lang="en-US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lik</a:t>
            </a:r>
            <a:r>
              <a:rPr lang="tr-TR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ler</a:t>
            </a:r>
            <a:r>
              <a:rPr lang="tr-TR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b="1" u="sng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geçilen parametreyi etkiler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Adres geçerek aktarım,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işaretçi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kullanmayı </a:t>
            </a:r>
            <a:r>
              <a:rPr lang="tr-TR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zorunlu kılar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nn-NO"/>
              <a:t>BLM 1002 – Bilgsayar Programlama 1</a:t>
            </a:r>
            <a:endParaRPr lang="tr-TR" dirty="0"/>
          </a:p>
        </p:txBody>
      </p:sp>
      <p:sp>
        <p:nvSpPr>
          <p:cNvPr id="7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Autofit/>
          </a:bodyPr>
          <a:lstStyle/>
          <a:p>
            <a: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Fonksiyon Parametresi Olan İşaretçiler </a:t>
            </a:r>
            <a:r>
              <a:rPr lang="tr-TR" sz="1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</a:p>
        </p:txBody>
      </p:sp>
    </p:spTree>
    <p:extLst>
      <p:ext uri="{BB962C8B-B14F-4D97-AF65-F5344CB8AC3E}">
        <p14:creationId xmlns:p14="http://schemas.microsoft.com/office/powerpoint/2010/main" val="7618349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40</a:t>
            </a:fld>
            <a:endParaRPr lang="tr-TR"/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nn-NO"/>
              <a:t>BLM 1002 – Bilgsayar Programlama 1</a:t>
            </a:r>
            <a:endParaRPr lang="tr-TR" dirty="0"/>
          </a:p>
        </p:txBody>
      </p:sp>
      <p:sp>
        <p:nvSpPr>
          <p:cNvPr id="7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tr-TR" sz="3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Örnek3: </a:t>
            </a:r>
            <a:r>
              <a:rPr lang="tr-TR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 Olan Fonksiyon Parametresi</a:t>
            </a:r>
          </a:p>
        </p:txBody>
      </p:sp>
      <p:sp>
        <p:nvSpPr>
          <p:cNvPr id="6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7775776" cy="4752528"/>
          </a:xfrm>
        </p:spPr>
        <p:txBody>
          <a:bodyPr>
            <a:normAutofit fontScale="92500" lnSpcReduction="20000"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tr-T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fonksiyonu içerisinde </a:t>
            </a:r>
            <a:r>
              <a:rPr lang="tr-TR" sz="27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tr-TR" sz="2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türündeki </a:t>
            </a:r>
            <a:r>
              <a:rPr lang="tr-TR" sz="2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tr-T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değişkenine 55 değerine atayan.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Aşağıdaki fonksiyonları yazın.</a:t>
            </a:r>
          </a:p>
          <a:p>
            <a:pPr marL="594360" lvl="2" indent="0" algn="just">
              <a:buSzPct val="100000"/>
              <a:buNone/>
            </a:pPr>
            <a:r>
              <a:rPr lang="tr-T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f1(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 n);</a:t>
            </a:r>
          </a:p>
          <a:p>
            <a:pPr marL="594360" lvl="2" indent="0" algn="just">
              <a:spcAft>
                <a:spcPts val="800"/>
              </a:spcAft>
              <a:buSzPct val="100000"/>
              <a:buNone/>
            </a:pPr>
            <a:r>
              <a:rPr lang="tr-TR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f2(</a:t>
            </a:r>
            <a:r>
              <a:rPr lang="tr-TR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dirty="0">
                <a:latin typeface="Courier New" panose="02070309020205020404" pitchFamily="49" charset="0"/>
                <a:cs typeface="Courier New" panose="02070309020205020404" pitchFamily="49" charset="0"/>
              </a:rPr>
              <a:t> *n);</a:t>
            </a:r>
          </a:p>
          <a:p>
            <a:pPr marL="342900" indent="-342900" algn="just">
              <a:buSzPct val="100000"/>
              <a:buFont typeface="Arial" panose="020B0604020202020204" pitchFamily="34" charset="0"/>
              <a:buChar char="•"/>
            </a:pPr>
            <a:r>
              <a:rPr lang="tr-TR" sz="2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</a:t>
            </a:r>
            <a:r>
              <a:rPr lang="tr-T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fonksiyonu kendisine gelen </a:t>
            </a:r>
            <a:r>
              <a:rPr lang="tr-TR" sz="2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tr-T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değişkenine </a:t>
            </a:r>
            <a:r>
              <a:rPr lang="tr-TR" sz="2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r>
              <a:rPr lang="tr-T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değerini atasın, </a:t>
            </a:r>
            <a:r>
              <a:rPr lang="tr-TR" sz="2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f2</a:t>
            </a:r>
            <a:r>
              <a:rPr lang="tr-T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fonksiyonu kendisine gelen </a:t>
            </a:r>
            <a:r>
              <a:rPr lang="tr-TR" sz="2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tr-T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işaretçisine </a:t>
            </a:r>
            <a:r>
              <a:rPr lang="tr-TR" sz="2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77</a:t>
            </a:r>
            <a:r>
              <a:rPr lang="tr-T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değerini atasın.</a:t>
            </a:r>
          </a:p>
          <a:p>
            <a:pPr marL="342900" indent="-342900" algn="just">
              <a:buSzPct val="100000"/>
              <a:buFont typeface="Arial" panose="020B0604020202020204" pitchFamily="34" charset="0"/>
              <a:buChar char="•"/>
            </a:pPr>
            <a:r>
              <a:rPr lang="tr-TR" sz="2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tr-T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içerisinde </a:t>
            </a:r>
            <a:r>
              <a:rPr lang="tr-TR" sz="2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</a:t>
            </a:r>
            <a:r>
              <a:rPr lang="tr-T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 </a:t>
            </a:r>
            <a:r>
              <a:rPr lang="tr-TR" sz="2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f2</a:t>
            </a:r>
            <a:r>
              <a:rPr lang="tr-T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fonksiyonlarını çağırarak </a:t>
            </a:r>
            <a:r>
              <a:rPr lang="tr-TR" sz="2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x’i</a:t>
            </a:r>
            <a:r>
              <a:rPr lang="tr-T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parametre olarak geçirin. </a:t>
            </a:r>
          </a:p>
          <a:p>
            <a:pPr marL="662940" lvl="1" indent="-342900" algn="just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f2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fonksiyonuna </a:t>
            </a:r>
            <a:r>
              <a:rPr lang="tr-T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f2(&amp;x);</a:t>
            </a:r>
            <a:r>
              <a:rPr lang="tr-T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olarak parametre geçirilecektir.</a:t>
            </a:r>
          </a:p>
          <a:p>
            <a:pPr marL="342900" indent="-342900" algn="just">
              <a:buSzPct val="100000"/>
              <a:buFont typeface="Arial" panose="020B0604020202020204" pitchFamily="34" charset="0"/>
              <a:buChar char="•"/>
            </a:pPr>
            <a:r>
              <a:rPr lang="tr-T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 fonksiyon çağırımı sonrasında main fonksiyonu içerisinde </a:t>
            </a:r>
            <a:r>
              <a:rPr lang="tr-TR" sz="27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değişkenini yazdırın</a:t>
            </a:r>
            <a:r>
              <a:rPr lang="tr-T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SzPct val="100000"/>
              <a:buNone/>
            </a:pPr>
            <a:endParaRPr lang="tr-TR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63069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41</a:t>
            </a:fld>
            <a:endParaRPr lang="tr-TR"/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nn-NO"/>
              <a:t>BLM 1002 – Bilgsayar Programlama 1</a:t>
            </a:r>
            <a:endParaRPr lang="tr-TR" dirty="0"/>
          </a:p>
        </p:txBody>
      </p:sp>
      <p:sp>
        <p:nvSpPr>
          <p:cNvPr id="7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tr-TR" sz="3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Örnek3: </a:t>
            </a:r>
            <a:r>
              <a:rPr lang="tr-TR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 Olan Fonksiyon Parametresi </a:t>
            </a:r>
            <a:r>
              <a:rPr lang="tr-TR" sz="2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1661338"/>
            <a:ext cx="5544616" cy="418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9978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42</a:t>
            </a:fld>
            <a:endParaRPr lang="tr-TR"/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nn-NO"/>
              <a:t>BLM 1002 – Bilgsayar Programlama 1</a:t>
            </a:r>
            <a:endParaRPr lang="tr-TR" dirty="0"/>
          </a:p>
        </p:txBody>
      </p:sp>
      <p:sp>
        <p:nvSpPr>
          <p:cNvPr id="7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tr-TR" sz="3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Örnek3: </a:t>
            </a:r>
            <a:r>
              <a:rPr lang="tr-TR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 Olan Fonksiyon Parametresi </a:t>
            </a:r>
            <a:r>
              <a:rPr lang="tr-TR" sz="2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2276872"/>
            <a:ext cx="6192970" cy="295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2984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43</a:t>
            </a:fld>
            <a:endParaRPr lang="tr-TR"/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nn-NO"/>
              <a:t>BLM 1002 – Bilgsayar Programlama 1</a:t>
            </a:r>
            <a:endParaRPr lang="tr-TR" dirty="0"/>
          </a:p>
        </p:txBody>
      </p:sp>
      <p:sp>
        <p:nvSpPr>
          <p:cNvPr id="7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tr-TR" sz="3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Örnek3: </a:t>
            </a:r>
            <a:r>
              <a:rPr lang="tr-TR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 Olan Fonksiyon Parametresi </a:t>
            </a:r>
            <a:r>
              <a:rPr lang="tr-TR" sz="2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</a:p>
        </p:txBody>
      </p:sp>
      <p:sp>
        <p:nvSpPr>
          <p:cNvPr id="9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7775776" cy="4752528"/>
          </a:xfrm>
        </p:spPr>
        <p:txBody>
          <a:bodyPr>
            <a:normAutofit fontScale="92500" lnSpcReduction="10000"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tr-T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değişkeni </a:t>
            </a:r>
            <a:r>
              <a:rPr lang="tr-TR" sz="2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f1(x)</a:t>
            </a:r>
            <a:r>
              <a:rPr lang="tr-T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 </a:t>
            </a:r>
            <a:r>
              <a:rPr lang="tr-TR" sz="2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f2(&amp;x) </a:t>
            </a:r>
            <a:r>
              <a:rPr lang="tr-T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fonksiyonlarına, sırasıyla değer ve adres geçerek aktarılmıştır.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f1</a:t>
            </a:r>
            <a:r>
              <a:rPr lang="tr-T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içinde </a:t>
            </a:r>
            <a:r>
              <a:rPr lang="tr-TR" sz="2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tr-T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sz="2700" b="1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 = 66</a:t>
            </a:r>
            <a:r>
              <a:rPr lang="tr-TR" sz="27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tr-T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işlemi ile) değişime uğramış, fakat çağrılma işleminin sonucunda, </a:t>
            </a:r>
            <a:r>
              <a:rPr lang="tr-TR" sz="27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x'in</a:t>
            </a:r>
            <a:r>
              <a:rPr lang="tr-TR" sz="2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değeri değişmemiştir</a:t>
            </a:r>
            <a:r>
              <a:rPr lang="tr-T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Ancak </a:t>
            </a:r>
            <a:r>
              <a:rPr lang="tr-TR" sz="2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f2</a:t>
            </a:r>
            <a:r>
              <a:rPr lang="tr-T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içinde </a:t>
            </a:r>
            <a:r>
              <a:rPr lang="tr-TR" sz="2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tr-T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tr-TR" sz="2700" b="1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*n = 77 </a:t>
            </a:r>
            <a:r>
              <a:rPr lang="tr-T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işlemi ile) değişimi sonucunda, </a:t>
            </a:r>
            <a:r>
              <a:rPr lang="tr-TR" sz="27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x’in</a:t>
            </a:r>
            <a:r>
              <a:rPr lang="tr-TR" sz="2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değeri çağrıldıktan sonrada korunmuştur</a:t>
            </a:r>
            <a:r>
              <a:rPr lang="tr-T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Yani, adres geçerek yapılan aktarımda, </a:t>
            </a:r>
            <a:r>
              <a:rPr lang="tr-TR" sz="2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f2</a:t>
            </a:r>
            <a:r>
              <a:rPr lang="tr-T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'ye aktarılan </a:t>
            </a:r>
            <a:r>
              <a:rPr lang="tr-TR" sz="27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değer</a:t>
            </a:r>
            <a:r>
              <a:rPr lang="tr-TR" sz="2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değil </a:t>
            </a:r>
            <a:r>
              <a:rPr lang="tr-TR" sz="27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adres</a:t>
            </a:r>
            <a:r>
              <a:rPr lang="tr-TR" sz="2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olduğu için</a:t>
            </a:r>
            <a:r>
              <a:rPr lang="tr-T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yollanan </a:t>
            </a:r>
            <a:r>
              <a:rPr lang="tr-TR" sz="2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tr-T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parametresi </a:t>
            </a:r>
            <a:r>
              <a:rPr lang="tr-TR" sz="27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f2 </a:t>
            </a:r>
            <a:r>
              <a:rPr lang="tr-T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içinde değişikliğe uğrayacak ve bu değişim çağrıldığı satırdan itibaren devam edecektir.</a:t>
            </a:r>
          </a:p>
        </p:txBody>
      </p:sp>
    </p:spTree>
    <p:extLst>
      <p:ext uri="{BB962C8B-B14F-4D97-AF65-F5344CB8AC3E}">
        <p14:creationId xmlns:p14="http://schemas.microsoft.com/office/powerpoint/2010/main" val="423323949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44</a:t>
            </a:fld>
            <a:endParaRPr lang="tr-TR"/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nn-NO"/>
              <a:t>BLM 1002 – Bilgsayar Programlama 1</a:t>
            </a:r>
            <a:endParaRPr lang="tr-TR" dirty="0"/>
          </a:p>
        </p:txBody>
      </p:sp>
      <p:sp>
        <p:nvSpPr>
          <p:cNvPr id="7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İşaretçiler Kullanılarak Takas (Swap)</a:t>
            </a:r>
            <a:endParaRPr lang="tr-TR" sz="2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7775776" cy="4752528"/>
          </a:xfrm>
        </p:spPr>
        <p:txBody>
          <a:bodyPr>
            <a:no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İşaretçi kullanılarak </a:t>
            </a:r>
            <a:r>
              <a:rPr lang="tr-TR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tr-TR" sz="3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  <a:r>
              <a:rPr lang="tr-TR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3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tr-TR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3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tr-TR" sz="3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tr-T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ile parametre aktarmayı en 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iyi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anlatan örneklerden birisi de </a:t>
            </a:r>
            <a:r>
              <a:rPr lang="tr-TR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swap işlemidir</a:t>
            </a:r>
            <a:r>
              <a:rPr lang="tr-T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Swap iki değişkenin değerlerinin yer değiştirmesi anlam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ı</a:t>
            </a:r>
            <a:r>
              <a:rPr lang="tr-TR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r>
              <a:rPr lang="tr-T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gelmektedir.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endParaRPr lang="tr-TR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spcBef>
                <a:spcPts val="0"/>
              </a:spcBef>
              <a:buSzPct val="100000"/>
              <a:buNone/>
            </a:pPr>
            <a:r>
              <a:rPr lang="tr-TR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700" b="1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tr-TR" sz="2700" b="1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nt</a:t>
            </a:r>
            <a:r>
              <a:rPr lang="tr-TR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 a = 10, b = 20, temp;</a:t>
            </a:r>
          </a:p>
          <a:p>
            <a:pPr marL="0" indent="0" algn="just">
              <a:spcBef>
                <a:spcPts val="0"/>
              </a:spcBef>
              <a:buSzPct val="100000"/>
              <a:buNone/>
            </a:pPr>
            <a:r>
              <a:rPr lang="tr-TR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	temp = a;</a:t>
            </a:r>
          </a:p>
          <a:p>
            <a:pPr marL="0" indent="0" algn="just">
              <a:spcBef>
                <a:spcPts val="0"/>
              </a:spcBef>
              <a:buSzPct val="100000"/>
              <a:buNone/>
            </a:pPr>
            <a:r>
              <a:rPr lang="tr-TR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	a = b;</a:t>
            </a:r>
          </a:p>
          <a:p>
            <a:pPr marL="0" indent="0" algn="just">
              <a:spcBef>
                <a:spcPts val="0"/>
              </a:spcBef>
              <a:buSzPct val="100000"/>
              <a:buNone/>
            </a:pPr>
            <a:r>
              <a:rPr lang="tr-TR" sz="2700" dirty="0">
                <a:latin typeface="Courier New" panose="02070309020205020404" pitchFamily="49" charset="0"/>
                <a:cs typeface="Courier New" panose="02070309020205020404" pitchFamily="49" charset="0"/>
              </a:rPr>
              <a:t>	b =a;</a:t>
            </a:r>
          </a:p>
          <a:p>
            <a:pPr marL="0" indent="0" algn="just">
              <a:buSzPct val="100000"/>
              <a:buNone/>
            </a:pPr>
            <a:endParaRPr lang="tr-TR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SzPct val="100000"/>
              <a:buNone/>
            </a:pPr>
            <a:r>
              <a:rPr lang="tr-T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822107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45</a:t>
            </a:fld>
            <a:endParaRPr lang="tr-TR"/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nn-NO"/>
              <a:t>BLM 1002 – Bilgsayar Programlama 1</a:t>
            </a:r>
            <a:endParaRPr lang="tr-TR" dirty="0"/>
          </a:p>
        </p:txBody>
      </p:sp>
      <p:sp>
        <p:nvSpPr>
          <p:cNvPr id="7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İşaretçiler Kullanılarak Takas (Swap)</a:t>
            </a:r>
            <a:endParaRPr lang="tr-TR" sz="2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7775776" cy="4752528"/>
          </a:xfrm>
        </p:spPr>
        <p:txBody>
          <a:bodyPr>
            <a:no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Basit bir takas örneği yazalım:</a:t>
            </a:r>
            <a:endParaRPr lang="tr-TR" sz="2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SzPct val="100000"/>
              <a:buNone/>
            </a:pPr>
            <a:endParaRPr lang="tr-TR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SzPct val="100000"/>
              <a:buNone/>
            </a:pPr>
            <a:r>
              <a:rPr lang="tr-TR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2420888"/>
            <a:ext cx="5256584" cy="3236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6059182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46</a:t>
            </a:fld>
            <a:endParaRPr lang="tr-TR"/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nn-NO"/>
              <a:t>BLM 1002 – Bilgsayar Programlama 1</a:t>
            </a:r>
            <a:endParaRPr lang="tr-TR" dirty="0"/>
          </a:p>
        </p:txBody>
      </p:sp>
      <p:sp>
        <p:nvSpPr>
          <p:cNvPr id="7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tr-TR" sz="3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Örnek4: </a:t>
            </a:r>
            <a:r>
              <a:rPr lang="tr-TR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İşaretçiler Kullanılarak Takas (Swap)</a:t>
            </a:r>
            <a:endParaRPr lang="tr-TR" sz="2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7775776" cy="4752528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sv-SE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Sizden main fonksiyonunda değerleri girilmiş iki değişken üzerine swap işlemini yapmanız istenmektedir. Bu işlem için kullanılacak fonksiyon prototipi aşağıdaki gibidir:</a:t>
            </a:r>
          </a:p>
          <a:p>
            <a:pPr marL="0" indent="0" algn="just">
              <a:spcBef>
                <a:spcPts val="1600"/>
              </a:spcBef>
              <a:spcAft>
                <a:spcPts val="1600"/>
              </a:spcAft>
              <a:buSzPct val="100000"/>
              <a:buNone/>
            </a:pPr>
            <a:r>
              <a:rPr lang="sv-SE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sv-SE" sz="2400" b="1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sv-SE" sz="2400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sv-S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takas(</a:t>
            </a:r>
            <a:r>
              <a:rPr lang="sv-SE" sz="2400" b="1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sv-S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*x, </a:t>
            </a:r>
            <a:r>
              <a:rPr lang="sv-SE" sz="2400" b="1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sv-SE" sz="2400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sv-SE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*y)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sv-SE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Takas </a:t>
            </a:r>
            <a:r>
              <a:rPr lang="sv-SE" sz="27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öncesinde</a:t>
            </a:r>
            <a:r>
              <a:rPr lang="sv-SE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 </a:t>
            </a:r>
            <a:r>
              <a:rPr lang="sv-SE" sz="27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sonrasında</a:t>
            </a:r>
            <a:r>
              <a:rPr lang="sv-SE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 fonksiyonunda iki değişkenin de </a:t>
            </a:r>
            <a:r>
              <a:rPr lang="sv-SE" sz="27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adres</a:t>
            </a:r>
            <a:r>
              <a:rPr lang="sv-SE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 </a:t>
            </a:r>
            <a:r>
              <a:rPr lang="sv-SE" sz="27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değerlerini</a:t>
            </a:r>
            <a:r>
              <a:rPr lang="sv-SE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yazdıralım.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endParaRPr lang="tr-TR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98625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47</a:t>
            </a:fld>
            <a:endParaRPr lang="tr-TR"/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nn-NO"/>
              <a:t>BLM 1002 – Bilgsayar Programlama 1</a:t>
            </a:r>
            <a:endParaRPr lang="tr-TR" dirty="0"/>
          </a:p>
        </p:txBody>
      </p:sp>
      <p:sp>
        <p:nvSpPr>
          <p:cNvPr id="7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tr-TR" sz="38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Örnek4: </a:t>
            </a:r>
            <a:r>
              <a:rPr lang="tr-TR" sz="3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İşaretçiler Kullanılarak Takas (Swap)</a:t>
            </a:r>
            <a:endParaRPr lang="tr-TR" sz="20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619419"/>
            <a:ext cx="6196734" cy="59766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173" y="5013176"/>
            <a:ext cx="4518491" cy="93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558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48</a:t>
            </a:fld>
            <a:endParaRPr lang="tr-TR"/>
          </a:p>
        </p:txBody>
      </p:sp>
      <p:sp>
        <p:nvSpPr>
          <p:cNvPr id="5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7775776" cy="4752528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Fonkiyonların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geri dönüş değeri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bir </a:t>
            </a:r>
            <a:r>
              <a:rPr lang="tr-T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işaretçi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olabilir.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durumda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fonksiyon bir değer değil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adres döndürecek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demektir.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Prototip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aşağıdaki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gibidir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buSzPct val="100000"/>
              <a:buNone/>
            </a:pPr>
            <a:endParaRPr lang="en-US" sz="2300" b="1" dirty="0">
              <a:solidFill>
                <a:srgbClr val="000099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just">
              <a:buSzPct val="100000"/>
              <a:buNone/>
            </a:pPr>
            <a:r>
              <a:rPr lang="en-US" sz="2300" b="1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tr-TR" sz="2300" b="1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tr-TR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Fonksiyon</a:t>
            </a:r>
            <a:r>
              <a:rPr lang="tr-TR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(int a)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SzPct val="100000"/>
              <a:buNone/>
            </a:pP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nn-NO"/>
              <a:t>BLM 1002 – Bilgsayar Programlama 1</a:t>
            </a:r>
            <a:endParaRPr lang="tr-TR" dirty="0"/>
          </a:p>
        </p:txBody>
      </p:sp>
      <p:sp>
        <p:nvSpPr>
          <p:cNvPr id="7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Autofit/>
          </a:bodyPr>
          <a:lstStyle/>
          <a:p>
            <a: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Fonksiyon Geri Dönüş Değeri Olan İşaretçiler</a:t>
            </a:r>
            <a:endParaRPr lang="tr-TR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90240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49</a:t>
            </a:fld>
            <a:endParaRPr lang="tr-TR"/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nn-NO"/>
              <a:t>BLM 1002 – Bilgsayar Programlama 1</a:t>
            </a:r>
            <a:endParaRPr lang="tr-TR" dirty="0"/>
          </a:p>
        </p:txBody>
      </p:sp>
      <p:sp>
        <p:nvSpPr>
          <p:cNvPr id="7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Autofit/>
          </a:bodyPr>
          <a:lstStyle/>
          <a:p>
            <a:r>
              <a:rPr lang="tr-TR" sz="34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Örnek: </a:t>
            </a:r>
            <a:r>
              <a:rPr lang="tr-TR" sz="3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Fonksiyon Geri Dönüş Değeri Olan İşaretçiler</a:t>
            </a:r>
            <a:r>
              <a:rPr lang="en-US" sz="3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sz="34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BüyükBul</a:t>
            </a:r>
            <a:endParaRPr lang="tr-TR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7775776" cy="4752528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5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Adım 1:</a:t>
            </a:r>
            <a:r>
              <a:rPr lang="tr-T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Klavyeden iki tamsayı giriniz.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5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Adım 2:</a:t>
            </a:r>
            <a:r>
              <a:rPr lang="tr-T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 sayılardan büyük olanını bulmak ve için aşağıdaki prototipte bir fonksiyon yazınız. 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</a:t>
            </a:r>
            <a:r>
              <a:rPr lang="tr-T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in() fonksiyonu içerisinde büyük olanının değerini ekrana yazdırınız. </a:t>
            </a:r>
          </a:p>
          <a:p>
            <a:pPr marL="0" indent="0" algn="just">
              <a:buSzPct val="100000"/>
              <a:buNone/>
            </a:pPr>
            <a:r>
              <a:rPr lang="tr-TR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tr-TR" sz="2500" b="1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tr-TR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tr-TR" sz="2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BuyukBul</a:t>
            </a:r>
            <a:r>
              <a:rPr lang="tr-TR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(int a, int b)</a:t>
            </a:r>
            <a:endParaRPr lang="tr-TR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47752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50</a:t>
            </a:fld>
            <a:endParaRPr lang="tr-TR"/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nn-NO"/>
              <a:t>BLM 1002 – Bilgsayar Programlama 1</a:t>
            </a:r>
            <a:endParaRPr lang="tr-TR" dirty="0"/>
          </a:p>
        </p:txBody>
      </p:sp>
      <p:sp>
        <p:nvSpPr>
          <p:cNvPr id="10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Autofit/>
          </a:bodyPr>
          <a:lstStyle/>
          <a:p>
            <a:r>
              <a:rPr lang="tr-TR" sz="34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Örnek: </a:t>
            </a:r>
            <a:r>
              <a:rPr lang="tr-TR" sz="3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Fonksiyon Geri Dönüş Değeri Olan İşaretçiler</a:t>
            </a:r>
            <a:r>
              <a:rPr lang="en-US" sz="3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sz="34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BüyükBul</a:t>
            </a:r>
            <a:endParaRPr lang="tr-TR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191022"/>
            <a:ext cx="4306218" cy="560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6282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51</a:t>
            </a:fld>
            <a:endParaRPr lang="tr-TR"/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nn-NO"/>
              <a:t>BLM 1002 – Bilgsayar Programlama 1</a:t>
            </a:r>
            <a:endParaRPr lang="tr-TR" dirty="0"/>
          </a:p>
        </p:txBody>
      </p:sp>
      <p:sp>
        <p:nvSpPr>
          <p:cNvPr id="7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Autofit/>
          </a:bodyPr>
          <a:lstStyle/>
          <a:p>
            <a:r>
              <a:rPr lang="tr-TR" sz="34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Örnek: </a:t>
            </a:r>
            <a:r>
              <a:rPr lang="tr-TR" sz="3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Fonksiyon Geri Dönüş Değeri Olan İşaretçiler</a:t>
            </a:r>
            <a:r>
              <a:rPr lang="en-US" sz="3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sz="34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MaximumAdres</a:t>
            </a:r>
            <a:endParaRPr lang="tr-TR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628800"/>
            <a:ext cx="7775776" cy="4752528"/>
          </a:xfrm>
        </p:spPr>
        <p:txBody>
          <a:bodyPr>
            <a:normAutofit/>
          </a:bodyPr>
          <a:lstStyle/>
          <a:p>
            <a:pPr marL="0" indent="0" algn="just">
              <a:buSzPct val="100000"/>
              <a:buNone/>
            </a:pPr>
            <a:r>
              <a:rPr lang="tr-TR" sz="2500" b="1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double</a:t>
            </a:r>
            <a:r>
              <a:rPr lang="tr-TR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x[6] = {1.1, 3.3, 7.1, 5.4, 0.2, -1.5}; </a:t>
            </a:r>
            <a:r>
              <a:rPr lang="tr-T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tanımlayınız.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5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Adım 1:</a:t>
            </a:r>
            <a:r>
              <a:rPr lang="tr-T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Önce bu dizinin </a:t>
            </a:r>
            <a:r>
              <a:rPr lang="tr-T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indisleri</a:t>
            </a:r>
            <a:r>
              <a:rPr lang="tr-T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dizi </a:t>
            </a:r>
            <a:r>
              <a:rPr lang="tr-T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değerleri</a:t>
            </a:r>
            <a:r>
              <a:rPr lang="tr-T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 dizi elemanlarının </a:t>
            </a:r>
            <a:r>
              <a:rPr lang="tr-TR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adresleri</a:t>
            </a:r>
            <a:r>
              <a:rPr lang="tr-T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main() fonksiyonunda</a:t>
            </a:r>
            <a:r>
              <a:rPr lang="tr-T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ekrana yazdırılacaktır.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5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Adım 2:</a:t>
            </a:r>
            <a:r>
              <a:rPr lang="tr-TR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Daha sonra, aşağıdaki prototipteki fonksiyon ile dizinin en büyük elemanı bulunacak ve bu elemanın adresi geriye döndürülerek ekrana yazdırılacaktır. </a:t>
            </a:r>
          </a:p>
          <a:p>
            <a:pPr marL="0" indent="0" algn="just">
              <a:buSzPct val="100000"/>
              <a:buNone/>
            </a:pPr>
            <a:r>
              <a:rPr lang="tr-TR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tr-TR" sz="2200" b="1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tr-TR" sz="2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tr-T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maxAdr</a:t>
            </a:r>
            <a:r>
              <a:rPr lang="tr-T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tr-TR" sz="2200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tr-T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a[], </a:t>
            </a:r>
            <a:r>
              <a:rPr lang="tr-TR" sz="2200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boyut)</a:t>
            </a:r>
          </a:p>
        </p:txBody>
      </p:sp>
    </p:spTree>
    <p:extLst>
      <p:ext uri="{BB962C8B-B14F-4D97-AF65-F5344CB8AC3E}">
        <p14:creationId xmlns:p14="http://schemas.microsoft.com/office/powerpoint/2010/main" val="35893743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52</a:t>
            </a:fld>
            <a:endParaRPr lang="tr-TR"/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nn-NO"/>
              <a:t>BLM 1002 – Bilgsayar Programlama 1</a:t>
            </a:r>
            <a:endParaRPr lang="tr-TR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1724960"/>
            <a:ext cx="6931224" cy="4679251"/>
          </a:xfrm>
          <a:prstGeom prst="rect">
            <a:avLst/>
          </a:prstGeom>
        </p:spPr>
      </p:pic>
      <p:sp>
        <p:nvSpPr>
          <p:cNvPr id="9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Autofit/>
          </a:bodyPr>
          <a:lstStyle/>
          <a:p>
            <a:r>
              <a:rPr lang="tr-TR" sz="34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Örnek: </a:t>
            </a:r>
            <a:r>
              <a:rPr lang="tr-TR" sz="3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Fonksiyon Geri Dönüş Değeri Olan İşaretçiler</a:t>
            </a:r>
            <a:r>
              <a:rPr lang="en-US" sz="3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sz="34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MaximumAdres</a:t>
            </a:r>
            <a:endParaRPr lang="tr-TR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78221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Numarası Yer Tutucusu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53</a:t>
            </a:fld>
            <a:endParaRPr lang="tr-TR"/>
          </a:p>
        </p:txBody>
      </p:sp>
      <p:sp>
        <p:nvSpPr>
          <p:cNvPr id="8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nn-NO"/>
              <a:t>BLM 1002 – Bilgsayar Programlama 1</a:t>
            </a:r>
            <a:endParaRPr lang="tr-TR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2060848"/>
            <a:ext cx="5724635" cy="3816424"/>
          </a:xfrm>
          <a:prstGeom prst="rect">
            <a:avLst/>
          </a:prstGeom>
        </p:spPr>
      </p:pic>
      <p:sp>
        <p:nvSpPr>
          <p:cNvPr id="9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Autofit/>
          </a:bodyPr>
          <a:lstStyle/>
          <a:p>
            <a:r>
              <a:rPr lang="tr-TR" sz="34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Örnek: </a:t>
            </a:r>
            <a:r>
              <a:rPr lang="tr-TR" sz="3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Fonksiyon Geri Dönüş Değeri Olan İşaretçiler</a:t>
            </a:r>
            <a:r>
              <a:rPr lang="en-US" sz="3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en-US" sz="34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MaximumAdres</a:t>
            </a:r>
            <a:endParaRPr lang="tr-TR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13429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Pointer</a:t>
            </a:r>
            <a:r>
              <a:rPr lang="tr-TR" dirty="0"/>
              <a:t> adresini değiştirme</a:t>
            </a:r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BLM 1002 – Bilgsayar Programlama 1</a:t>
            </a:r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54</a:t>
            </a:fld>
            <a:endParaRPr lang="tr-TR"/>
          </a:p>
        </p:txBody>
      </p:sp>
      <p:pic>
        <p:nvPicPr>
          <p:cNvPr id="6" name="İçerik Yer Tutucusu 5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612775" y="2045165"/>
            <a:ext cx="8153400" cy="3605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5460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Sonuc</a:t>
            </a:r>
            <a:r>
              <a:rPr lang="tr-TR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????</a:t>
            </a:r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BLM 1002 – Bilgsayar Programlama 1</a:t>
            </a:r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55</a:t>
            </a:fld>
            <a:endParaRPr lang="tr-TR"/>
          </a:p>
        </p:txBody>
      </p:sp>
      <p:sp>
        <p:nvSpPr>
          <p:cNvPr id="5" name="İçerik Yer Tutucusu 4"/>
          <p:cNvSpPr>
            <a:spLocks noGrp="1"/>
          </p:cNvSpPr>
          <p:nvPr>
            <p:ph sz="quarter" idx="1"/>
          </p:nvPr>
        </p:nvSpPr>
        <p:spPr>
          <a:xfrm>
            <a:off x="580303" y="1564323"/>
            <a:ext cx="8153400" cy="4495800"/>
          </a:xfrm>
        </p:spPr>
        <p:txBody>
          <a:bodyPr>
            <a:normAutofit fontScale="70000" lnSpcReduction="20000"/>
          </a:bodyPr>
          <a:lstStyle/>
          <a:p>
            <a:endParaRPr lang="tr-TR" dirty="0"/>
          </a:p>
          <a:p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stdio.h</a:t>
            </a:r>
            <a:r>
              <a:rPr lang="tr-TR" dirty="0"/>
              <a:t>&gt;</a:t>
            </a:r>
          </a:p>
          <a:p>
            <a:r>
              <a:rPr lang="tr-TR" dirty="0" err="1"/>
              <a:t>void</a:t>
            </a:r>
            <a:r>
              <a:rPr lang="tr-TR" dirty="0"/>
              <a:t> </a:t>
            </a:r>
            <a:r>
              <a:rPr lang="tr-TR" dirty="0" err="1"/>
              <a:t>inc_ptr</a:t>
            </a:r>
            <a:r>
              <a:rPr lang="tr-TR" dirty="0"/>
              <a:t>(</a:t>
            </a:r>
            <a:r>
              <a:rPr lang="tr-TR" dirty="0" err="1"/>
              <a:t>int</a:t>
            </a:r>
            <a:r>
              <a:rPr lang="tr-TR" dirty="0"/>
              <a:t> *p)</a:t>
            </a:r>
          </a:p>
          <a:p>
            <a:r>
              <a:rPr lang="tr-TR" dirty="0"/>
              <a:t>{ p = p + 1; }</a:t>
            </a:r>
          </a:p>
          <a:p>
            <a:r>
              <a:rPr lang="tr-TR" dirty="0"/>
              <a:t>main()</a:t>
            </a:r>
          </a:p>
          <a:p>
            <a:r>
              <a:rPr lang="tr-TR" dirty="0"/>
              <a:t>{</a:t>
            </a:r>
          </a:p>
          <a:p>
            <a:endParaRPr lang="tr-TR" dirty="0"/>
          </a:p>
          <a:p>
            <a:r>
              <a:rPr lang="tr-TR" dirty="0" err="1"/>
              <a:t>int</a:t>
            </a:r>
            <a:r>
              <a:rPr lang="tr-TR" dirty="0"/>
              <a:t> A[3] = {50, 60, 70};</a:t>
            </a:r>
          </a:p>
          <a:p>
            <a:r>
              <a:rPr lang="tr-TR" dirty="0" err="1"/>
              <a:t>int</a:t>
            </a:r>
            <a:r>
              <a:rPr lang="tr-TR" dirty="0"/>
              <a:t>* q = A;</a:t>
            </a:r>
          </a:p>
          <a:p>
            <a:r>
              <a:rPr lang="tr-TR" dirty="0" err="1"/>
              <a:t>printf</a:t>
            </a:r>
            <a:r>
              <a:rPr lang="tr-TR" dirty="0"/>
              <a:t>("q </a:t>
            </a:r>
            <a:r>
              <a:rPr lang="tr-TR" dirty="0" err="1"/>
              <a:t>icerigi</a:t>
            </a:r>
            <a:r>
              <a:rPr lang="tr-TR" dirty="0"/>
              <a:t>=%p </a:t>
            </a:r>
            <a:r>
              <a:rPr lang="tr-TR" dirty="0" err="1"/>
              <a:t>gösterdigi</a:t>
            </a:r>
            <a:r>
              <a:rPr lang="tr-TR" dirty="0"/>
              <a:t> </a:t>
            </a:r>
            <a:r>
              <a:rPr lang="tr-TR" dirty="0" err="1"/>
              <a:t>deger</a:t>
            </a:r>
            <a:r>
              <a:rPr lang="tr-TR" dirty="0"/>
              <a:t>=%d\n ",q,*q);</a:t>
            </a:r>
          </a:p>
          <a:p>
            <a:r>
              <a:rPr lang="tr-TR" dirty="0" err="1"/>
              <a:t>inc_ptr</a:t>
            </a:r>
            <a:r>
              <a:rPr lang="tr-TR" dirty="0"/>
              <a:t>( q);</a:t>
            </a:r>
          </a:p>
          <a:p>
            <a:r>
              <a:rPr lang="tr-TR" dirty="0" err="1"/>
              <a:t>printf</a:t>
            </a:r>
            <a:r>
              <a:rPr lang="tr-TR" dirty="0"/>
              <a:t>("q </a:t>
            </a:r>
            <a:r>
              <a:rPr lang="tr-TR" dirty="0" err="1"/>
              <a:t>icerigi</a:t>
            </a:r>
            <a:r>
              <a:rPr lang="tr-TR" dirty="0"/>
              <a:t>=%p </a:t>
            </a:r>
            <a:r>
              <a:rPr lang="tr-TR" dirty="0" err="1"/>
              <a:t>gösterdigi</a:t>
            </a:r>
            <a:r>
              <a:rPr lang="tr-TR" dirty="0"/>
              <a:t> </a:t>
            </a:r>
            <a:r>
              <a:rPr lang="tr-TR" dirty="0" err="1"/>
              <a:t>deger</a:t>
            </a:r>
            <a:r>
              <a:rPr lang="tr-TR" dirty="0"/>
              <a:t>=%</a:t>
            </a:r>
            <a:r>
              <a:rPr lang="tr-TR" dirty="0" err="1"/>
              <a:t>d",q</a:t>
            </a:r>
            <a:r>
              <a:rPr lang="tr-TR" dirty="0"/>
              <a:t>,*q);</a:t>
            </a:r>
          </a:p>
          <a:p>
            <a:r>
              <a:rPr lang="tr-T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8504984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Pointer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Pointer</a:t>
            </a:r>
            <a:endParaRPr lang="tr-TR" dirty="0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BLM 1002 – Bilgsayar Programlama 1</a:t>
            </a:r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56</a:t>
            </a:fld>
            <a:endParaRPr lang="tr-TR"/>
          </a:p>
        </p:txBody>
      </p:sp>
      <p:pic>
        <p:nvPicPr>
          <p:cNvPr id="6" name="İçerik Yer Tutucusu 5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396" y="2108417"/>
            <a:ext cx="6730158" cy="3479365"/>
          </a:xfrm>
        </p:spPr>
      </p:pic>
    </p:spTree>
    <p:extLst>
      <p:ext uri="{BB962C8B-B14F-4D97-AF65-F5344CB8AC3E}">
        <p14:creationId xmlns:p14="http://schemas.microsoft.com/office/powerpoint/2010/main" val="374193885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09600" y="248126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tr-TR" dirty="0"/>
              <a:t>Çözüm:</a:t>
            </a:r>
            <a:r>
              <a:rPr lang="en-US" dirty="0"/>
              <a:t>! pointer </a:t>
            </a:r>
            <a:r>
              <a:rPr lang="tr-TR" dirty="0" err="1"/>
              <a:t>to</a:t>
            </a:r>
            <a:r>
              <a:rPr lang="en-US" dirty="0"/>
              <a:t> pointer, </a:t>
            </a:r>
            <a:br>
              <a:rPr lang="tr-TR" dirty="0"/>
            </a:br>
            <a:r>
              <a:rPr lang="tr-TR" dirty="0"/>
              <a:t>Tanımlama  :   </a:t>
            </a:r>
            <a:r>
              <a:rPr lang="en-US" b="1" dirty="0"/>
              <a:t>**h</a:t>
            </a:r>
            <a:endParaRPr lang="tr-TR" dirty="0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BLM 1002 – Bilgsayar Programlama 1</a:t>
            </a:r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57</a:t>
            </a:fld>
            <a:endParaRPr lang="tr-TR"/>
          </a:p>
        </p:txBody>
      </p:sp>
      <p:sp>
        <p:nvSpPr>
          <p:cNvPr id="5" name="İçerik Yer Tutucusu 4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tr-TR" dirty="0"/>
              <a:t>#</a:t>
            </a:r>
            <a:r>
              <a:rPr lang="tr-TR" dirty="0" err="1"/>
              <a:t>include</a:t>
            </a:r>
            <a:r>
              <a:rPr lang="tr-TR" dirty="0"/>
              <a:t> &lt;</a:t>
            </a:r>
            <a:r>
              <a:rPr lang="tr-TR" dirty="0" err="1"/>
              <a:t>stdio.h</a:t>
            </a:r>
            <a:r>
              <a:rPr lang="tr-TR" dirty="0"/>
              <a:t>&gt;</a:t>
            </a:r>
          </a:p>
          <a:p>
            <a:endParaRPr lang="tr-TR" dirty="0"/>
          </a:p>
          <a:p>
            <a:r>
              <a:rPr lang="tr-TR" dirty="0" err="1"/>
              <a:t>void</a:t>
            </a:r>
            <a:r>
              <a:rPr lang="tr-TR" dirty="0"/>
              <a:t> </a:t>
            </a:r>
            <a:r>
              <a:rPr lang="tr-TR" dirty="0" err="1"/>
              <a:t>inc_ptr</a:t>
            </a:r>
            <a:r>
              <a:rPr lang="tr-TR" dirty="0"/>
              <a:t>(</a:t>
            </a:r>
            <a:r>
              <a:rPr lang="tr-TR" dirty="0" err="1"/>
              <a:t>int</a:t>
            </a:r>
            <a:r>
              <a:rPr lang="tr-TR" dirty="0"/>
              <a:t> **h)</a:t>
            </a:r>
          </a:p>
          <a:p>
            <a:r>
              <a:rPr lang="tr-TR" dirty="0"/>
              <a:t>{ *h = *h + 1; }</a:t>
            </a:r>
          </a:p>
          <a:p>
            <a:endParaRPr lang="tr-TR" dirty="0"/>
          </a:p>
          <a:p>
            <a:r>
              <a:rPr lang="tr-TR" dirty="0"/>
              <a:t>main(){</a:t>
            </a:r>
          </a:p>
          <a:p>
            <a:endParaRPr lang="tr-TR" dirty="0"/>
          </a:p>
          <a:p>
            <a:r>
              <a:rPr lang="tr-TR" dirty="0" err="1"/>
              <a:t>int</a:t>
            </a:r>
            <a:r>
              <a:rPr lang="tr-TR" dirty="0"/>
              <a:t> A[3] = {50, 60, 70};</a:t>
            </a:r>
          </a:p>
          <a:p>
            <a:r>
              <a:rPr lang="tr-TR" dirty="0" err="1"/>
              <a:t>int</a:t>
            </a:r>
            <a:r>
              <a:rPr lang="tr-TR" dirty="0"/>
              <a:t>* q = A;</a:t>
            </a:r>
          </a:p>
          <a:p>
            <a:r>
              <a:rPr lang="tr-TR" dirty="0" err="1"/>
              <a:t>printf</a:t>
            </a:r>
            <a:r>
              <a:rPr lang="tr-TR" dirty="0"/>
              <a:t>("q </a:t>
            </a:r>
            <a:r>
              <a:rPr lang="tr-TR" dirty="0" err="1"/>
              <a:t>icerigi</a:t>
            </a:r>
            <a:r>
              <a:rPr lang="tr-TR" dirty="0"/>
              <a:t>=%p </a:t>
            </a:r>
            <a:r>
              <a:rPr lang="tr-TR" dirty="0" err="1"/>
              <a:t>gösterdigi</a:t>
            </a:r>
            <a:r>
              <a:rPr lang="tr-TR" dirty="0"/>
              <a:t> </a:t>
            </a:r>
            <a:r>
              <a:rPr lang="tr-TR" dirty="0" err="1"/>
              <a:t>deger</a:t>
            </a:r>
            <a:r>
              <a:rPr lang="tr-TR" dirty="0"/>
              <a:t>=%d\n ",q,*q);</a:t>
            </a:r>
          </a:p>
          <a:p>
            <a:endParaRPr lang="tr-TR" dirty="0"/>
          </a:p>
          <a:p>
            <a:r>
              <a:rPr lang="tr-TR" dirty="0" err="1"/>
              <a:t>inc_ptr</a:t>
            </a:r>
            <a:r>
              <a:rPr lang="tr-TR" dirty="0"/>
              <a:t>(&amp;q);</a:t>
            </a:r>
          </a:p>
          <a:p>
            <a:r>
              <a:rPr lang="tr-TR" dirty="0" err="1"/>
              <a:t>printf</a:t>
            </a:r>
            <a:r>
              <a:rPr lang="tr-TR" dirty="0"/>
              <a:t>("q </a:t>
            </a:r>
            <a:r>
              <a:rPr lang="tr-TR" dirty="0" err="1"/>
              <a:t>icerigi</a:t>
            </a:r>
            <a:r>
              <a:rPr lang="tr-TR" dirty="0"/>
              <a:t>=%p </a:t>
            </a:r>
            <a:r>
              <a:rPr lang="tr-TR" dirty="0" err="1"/>
              <a:t>gösterdigi</a:t>
            </a:r>
            <a:r>
              <a:rPr lang="tr-TR" dirty="0"/>
              <a:t> </a:t>
            </a:r>
            <a:r>
              <a:rPr lang="tr-TR" dirty="0" err="1"/>
              <a:t>deger</a:t>
            </a:r>
            <a:r>
              <a:rPr lang="tr-TR" dirty="0"/>
              <a:t>=%d\n ",q,*q);</a:t>
            </a:r>
          </a:p>
          <a:p>
            <a:r>
              <a:rPr lang="tr-T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1171280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>
                <a:solidFill>
                  <a:srgbClr val="FF0000"/>
                </a:solidFill>
              </a:rPr>
              <a:t>Toplam Doğru Sonuç Verir Mi?</a:t>
            </a:r>
            <a:r>
              <a:rPr lang="tr-TR" dirty="0"/>
              <a:t> </a:t>
            </a:r>
          </a:p>
        </p:txBody>
      </p:sp>
      <p:sp>
        <p:nvSpPr>
          <p:cNvPr id="3" name="Tablo Yer Tutucusu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 altLang="tr-TR"/>
              <a:t>BLM 1002 – Bilgsayar Programlama 1</a:t>
            </a:r>
            <a:endParaRPr lang="tr-TR" alt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AF0A7-AD7E-4B12-AF79-1230EEE6A28C}" type="slidenum">
              <a:rPr lang="tr-TR" altLang="tr-TR" smtClean="0"/>
              <a:pPr/>
              <a:t>58</a:t>
            </a:fld>
            <a:endParaRPr lang="tr-TR" altLang="tr-TR"/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086" y="620688"/>
            <a:ext cx="4192026" cy="591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9687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Dinamik Hafıza Tahsisi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tr-TR" dirty="0"/>
              <a:t>Standart kütüphanedeki </a:t>
            </a:r>
            <a:r>
              <a:rPr lang="tr-TR" dirty="0" err="1"/>
              <a:t>malloc</a:t>
            </a:r>
            <a:r>
              <a:rPr lang="tr-TR" dirty="0"/>
              <a:t>(), </a:t>
            </a:r>
            <a:r>
              <a:rPr lang="tr-TR" dirty="0" err="1"/>
              <a:t>calloc</a:t>
            </a:r>
            <a:r>
              <a:rPr lang="tr-TR" dirty="0"/>
              <a:t>(), </a:t>
            </a:r>
            <a:r>
              <a:rPr lang="tr-TR" dirty="0" err="1"/>
              <a:t>realloc</a:t>
            </a:r>
            <a:r>
              <a:rPr lang="tr-TR" dirty="0"/>
              <a:t>(), </a:t>
            </a:r>
            <a:r>
              <a:rPr lang="tr-TR" dirty="0" err="1"/>
              <a:t>free</a:t>
            </a:r>
            <a:r>
              <a:rPr lang="tr-TR" dirty="0"/>
              <a:t>() fonksiyonları ile program dinamik olarak bellek alanı isteyebilir</a:t>
            </a:r>
            <a:r>
              <a:rPr lang="en-US" dirty="0"/>
              <a:t>. </a:t>
            </a:r>
          </a:p>
          <a:p>
            <a:r>
              <a:rPr lang="tr-TR" dirty="0"/>
              <a:t>İstenen belleğin başlangıç adresi bir işaretçide tutularak ile bu bellek üzerinde işlem yapılır. </a:t>
            </a:r>
            <a:endParaRPr lang="en-US" dirty="0"/>
          </a:p>
          <a:p>
            <a:r>
              <a:rPr lang="en-US" i="1" dirty="0"/>
              <a:t>void</a:t>
            </a:r>
            <a:r>
              <a:rPr lang="en-US" dirty="0"/>
              <a:t>* </a:t>
            </a:r>
            <a:r>
              <a:rPr lang="en-US" dirty="0" err="1"/>
              <a:t>malloc</a:t>
            </a:r>
            <a:r>
              <a:rPr lang="en-US" dirty="0"/>
              <a:t>(</a:t>
            </a:r>
            <a:r>
              <a:rPr lang="en-US" i="1" dirty="0" err="1"/>
              <a:t>boyut</a:t>
            </a:r>
            <a:r>
              <a:rPr lang="en-US" dirty="0"/>
              <a:t>) </a:t>
            </a:r>
          </a:p>
          <a:p>
            <a:pPr marL="411480" lvl="1" indent="0">
              <a:buNone/>
            </a:pPr>
            <a:r>
              <a:rPr lang="tr-TR" i="1" dirty="0"/>
              <a:t>boyut </a:t>
            </a:r>
            <a:r>
              <a:rPr lang="tr-TR" dirty="0" err="1"/>
              <a:t>byte</a:t>
            </a:r>
            <a:r>
              <a:rPr lang="tr-TR" dirty="0"/>
              <a:t> kadar yeni bellek alanı ayırır. </a:t>
            </a:r>
          </a:p>
          <a:p>
            <a:r>
              <a:rPr lang="en-US" i="1" dirty="0"/>
              <a:t>void</a:t>
            </a:r>
            <a:r>
              <a:rPr lang="en-US" dirty="0"/>
              <a:t>* </a:t>
            </a:r>
            <a:r>
              <a:rPr lang="en-US" dirty="0" err="1"/>
              <a:t>calloc</a:t>
            </a:r>
            <a:r>
              <a:rPr lang="en-US" dirty="0"/>
              <a:t>(</a:t>
            </a:r>
            <a:r>
              <a:rPr lang="en-US" i="1" dirty="0" err="1"/>
              <a:t>adet</a:t>
            </a:r>
            <a:r>
              <a:rPr lang="en-US" i="1" dirty="0"/>
              <a:t>, </a:t>
            </a:r>
            <a:r>
              <a:rPr lang="en-US" i="1" dirty="0" err="1"/>
              <a:t>boyut</a:t>
            </a:r>
            <a:r>
              <a:rPr lang="en-US" dirty="0"/>
              <a:t>) </a:t>
            </a:r>
          </a:p>
          <a:p>
            <a:pPr marL="411480" lvl="1" indent="0">
              <a:buNone/>
            </a:pPr>
            <a:r>
              <a:rPr lang="tr-TR" i="1" dirty="0"/>
              <a:t>boyut*adet </a:t>
            </a:r>
            <a:r>
              <a:rPr lang="tr-TR" dirty="0" err="1"/>
              <a:t>byte</a:t>
            </a:r>
            <a:r>
              <a:rPr lang="tr-TR" dirty="0"/>
              <a:t> kadar yeni bellek alanı ayırır. </a:t>
            </a:r>
          </a:p>
          <a:p>
            <a:r>
              <a:rPr lang="en-US" i="1" dirty="0"/>
              <a:t>void</a:t>
            </a:r>
            <a:r>
              <a:rPr lang="en-US" dirty="0"/>
              <a:t>* </a:t>
            </a:r>
            <a:r>
              <a:rPr lang="en-US" dirty="0" err="1"/>
              <a:t>realloc</a:t>
            </a:r>
            <a:r>
              <a:rPr lang="en-US" dirty="0"/>
              <a:t>(</a:t>
            </a:r>
            <a:r>
              <a:rPr lang="en-US" i="1" dirty="0" err="1"/>
              <a:t>işaretçi</a:t>
            </a:r>
            <a:r>
              <a:rPr lang="en-US" dirty="0"/>
              <a:t>, </a:t>
            </a:r>
            <a:r>
              <a:rPr lang="en-US" i="1" dirty="0" err="1"/>
              <a:t>boyut</a:t>
            </a:r>
            <a:r>
              <a:rPr lang="en-US" dirty="0"/>
              <a:t>) </a:t>
            </a:r>
          </a:p>
          <a:p>
            <a:pPr marL="411480" lvl="1" indent="0">
              <a:buNone/>
            </a:pPr>
            <a:r>
              <a:rPr lang="tr-TR" i="1" dirty="0"/>
              <a:t>işaretçi </a:t>
            </a:r>
            <a:r>
              <a:rPr lang="tr-TR" dirty="0"/>
              <a:t>tarafından işaret edilen bellek alanını </a:t>
            </a:r>
            <a:r>
              <a:rPr lang="tr-TR" i="1" dirty="0"/>
              <a:t>boyut </a:t>
            </a:r>
            <a:r>
              <a:rPr lang="tr-TR" dirty="0" err="1"/>
              <a:t>byte</a:t>
            </a:r>
            <a:r>
              <a:rPr lang="tr-TR" dirty="0"/>
              <a:t> kadar        olacak şekilde değiştirir. </a:t>
            </a:r>
          </a:p>
          <a:p>
            <a:r>
              <a:rPr lang="tr-TR" dirty="0" err="1"/>
              <a:t>free</a:t>
            </a:r>
            <a:r>
              <a:rPr lang="tr-TR" dirty="0"/>
              <a:t>(işaretçi) </a:t>
            </a:r>
          </a:p>
          <a:p>
            <a:pPr marL="411480" lvl="1" indent="0">
              <a:buNone/>
            </a:pPr>
            <a:r>
              <a:rPr lang="tr-TR" dirty="0"/>
              <a:t> </a:t>
            </a:r>
            <a:r>
              <a:rPr lang="tr-TR" i="1" dirty="0"/>
              <a:t>işaretçi</a:t>
            </a:r>
            <a:r>
              <a:rPr lang="tr-TR" dirty="0"/>
              <a:t> için ayrılan bellek alanı geri verilir.</a:t>
            </a:r>
            <a:endParaRPr lang="en-US" dirty="0"/>
          </a:p>
          <a:p>
            <a:endParaRPr lang="en-US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BLM 1002 – Bilgsayar Programlama 1</a:t>
            </a:r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59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6174350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49" y="1104542"/>
            <a:ext cx="8229600" cy="570711"/>
          </a:xfrm>
        </p:spPr>
        <p:txBody>
          <a:bodyPr>
            <a:normAutofit fontScale="90000"/>
          </a:bodyPr>
          <a:lstStyle/>
          <a:p>
            <a:br>
              <a:rPr lang="tr-TR" sz="3000" dirty="0"/>
            </a:br>
            <a:endParaRPr lang="tr-TR" altLang="tr-TR" sz="3000" b="1" dirty="0"/>
          </a:p>
        </p:txBody>
      </p:sp>
      <p:sp>
        <p:nvSpPr>
          <p:cNvPr id="3" name="Dikdörtgen 2"/>
          <p:cNvSpPr/>
          <p:nvPr/>
        </p:nvSpPr>
        <p:spPr>
          <a:xfrm>
            <a:off x="628651" y="1675252"/>
            <a:ext cx="274955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tr-TR" sz="1200" b="1" dirty="0" err="1"/>
              <a:t>malloc</a:t>
            </a:r>
            <a:r>
              <a:rPr lang="tr-TR" sz="1200" b="1" dirty="0"/>
              <a:t> fonksiyonu</a:t>
            </a:r>
          </a:p>
          <a:p>
            <a:pPr algn="just"/>
            <a:r>
              <a:rPr lang="tr-TR" sz="1200" i="1" dirty="0" err="1"/>
              <a:t>malloc</a:t>
            </a:r>
            <a:r>
              <a:rPr lang="tr-TR" sz="1200" i="1" dirty="0"/>
              <a:t> </a:t>
            </a:r>
            <a:r>
              <a:rPr lang="tr-TR" sz="1200" dirty="0"/>
              <a:t>fonksiyonu programın çalışma zamanı sırasında bellekten dinamik bir blok elde etmek için kullanılır. Fonksiyonun </a:t>
            </a:r>
            <a:r>
              <a:rPr lang="tr-TR" sz="1200" i="1" dirty="0" err="1"/>
              <a:t>stdlib.h</a:t>
            </a:r>
            <a:r>
              <a:rPr lang="tr-TR" sz="1200" i="1" dirty="0"/>
              <a:t> </a:t>
            </a:r>
            <a:r>
              <a:rPr lang="tr-TR" sz="1200" dirty="0"/>
              <a:t>başlık dosyası içindeki bildirimi aşağıdaki gibidir:</a:t>
            </a:r>
          </a:p>
          <a:p>
            <a:pPr algn="just"/>
            <a:r>
              <a:rPr lang="tr-TR" sz="1200" dirty="0"/>
              <a:t>void *</a:t>
            </a:r>
            <a:r>
              <a:rPr lang="tr-TR" sz="1200" dirty="0" err="1"/>
              <a:t>malloc</a:t>
            </a:r>
            <a:r>
              <a:rPr lang="tr-TR" sz="1200" dirty="0"/>
              <a:t>(</a:t>
            </a:r>
            <a:r>
              <a:rPr lang="tr-TR" sz="1200" dirty="0" err="1"/>
              <a:t>size_t</a:t>
            </a:r>
            <a:r>
              <a:rPr lang="tr-TR" sz="1200" dirty="0"/>
              <a:t> </a:t>
            </a:r>
            <a:r>
              <a:rPr lang="tr-TR" sz="1200" dirty="0" err="1"/>
              <a:t>nbyte</a:t>
            </a:r>
            <a:r>
              <a:rPr lang="tr-TR" sz="1200" dirty="0"/>
              <a:t>);</a:t>
            </a:r>
          </a:p>
          <a:p>
            <a:pPr algn="just"/>
            <a:r>
              <a:rPr lang="tr-TR" sz="1200" dirty="0" err="1"/>
              <a:t>size_t</a:t>
            </a:r>
            <a:r>
              <a:rPr lang="tr-TR" sz="1200" dirty="0"/>
              <a:t> türünün derleyiciyi yazanların seçimine bağlı olarak </a:t>
            </a:r>
            <a:r>
              <a:rPr lang="tr-TR" sz="1200" dirty="0" err="1"/>
              <a:t>unsigned</a:t>
            </a:r>
            <a:r>
              <a:rPr lang="tr-TR" sz="1200" dirty="0"/>
              <a:t> int ya da </a:t>
            </a:r>
            <a:r>
              <a:rPr lang="tr-TR" sz="1200" dirty="0" err="1"/>
              <a:t>unsigned</a:t>
            </a:r>
            <a:r>
              <a:rPr lang="tr-TR" sz="1200" dirty="0"/>
              <a:t> </a:t>
            </a:r>
            <a:r>
              <a:rPr lang="tr-TR" sz="1200" dirty="0" err="1"/>
              <a:t>long</a:t>
            </a:r>
            <a:r>
              <a:rPr lang="tr-TR" sz="1200" dirty="0"/>
              <a:t> türlerinden birinin yeni tür ismi olarak tanımlanması gerektiğini, ve sistemlerin hemen hemen hepsinde </a:t>
            </a:r>
            <a:r>
              <a:rPr lang="tr-TR" sz="1200" dirty="0" err="1"/>
              <a:t>size_t</a:t>
            </a:r>
            <a:r>
              <a:rPr lang="tr-TR" sz="1200" dirty="0"/>
              <a:t> türünün </a:t>
            </a:r>
            <a:r>
              <a:rPr lang="tr-TR" sz="1200" dirty="0" err="1"/>
              <a:t>unsigned</a:t>
            </a:r>
            <a:r>
              <a:rPr lang="tr-TR" sz="1200" dirty="0"/>
              <a:t> int türü olduğunu hatırlayalım. </a:t>
            </a:r>
          </a:p>
          <a:p>
            <a:pPr algn="just"/>
            <a:r>
              <a:rPr lang="tr-TR" sz="1200" dirty="0"/>
              <a:t>Fonksiyona gönderilecek </a:t>
            </a:r>
            <a:r>
              <a:rPr lang="tr-TR" sz="1200" dirty="0" err="1"/>
              <a:t>arguman</a:t>
            </a:r>
            <a:r>
              <a:rPr lang="tr-TR" sz="1200" dirty="0"/>
              <a:t> ayrılmak istenen bloğun </a:t>
            </a:r>
            <a:r>
              <a:rPr lang="tr-TR" sz="1200" dirty="0" err="1"/>
              <a:t>byte</a:t>
            </a:r>
            <a:r>
              <a:rPr lang="tr-TR" sz="1200" dirty="0"/>
              <a:t> olarak uzunluğudur. Ayrılan alanın sürekli (</a:t>
            </a:r>
            <a:r>
              <a:rPr lang="tr-TR" sz="1200" dirty="0" err="1"/>
              <a:t>contigious</a:t>
            </a:r>
            <a:r>
              <a:rPr lang="tr-TR" sz="1200" dirty="0"/>
              <a:t>) olması garanti altına alınmıştır. </a:t>
            </a:r>
            <a:r>
              <a:rPr lang="tr-TR" sz="1200" dirty="0" err="1"/>
              <a:t>malloc</a:t>
            </a:r>
            <a:r>
              <a:rPr lang="tr-TR" sz="1200" dirty="0"/>
              <a:t> fonksiyonunun geri dönüş değeri elde edilen bellek bloğunun başlangıç adresidir.</a:t>
            </a:r>
          </a:p>
        </p:txBody>
      </p:sp>
      <p:sp>
        <p:nvSpPr>
          <p:cNvPr id="2" name="Altbilgi Yer Tutucusu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 altLang="tr-TR"/>
              <a:t>BLM 1002 – Bilgsayar Programlama 1</a:t>
            </a:r>
            <a:endParaRPr lang="tr-TR" altLang="tr-TR" dirty="0"/>
          </a:p>
        </p:txBody>
      </p:sp>
      <p:pic>
        <p:nvPicPr>
          <p:cNvPr id="8194" name="Picture 2" descr="İlgili resi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4400" y="1823683"/>
            <a:ext cx="5448300" cy="3064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AF0A7-AD7E-4B12-AF79-1230EEE6A28C}" type="slidenum">
              <a:rPr lang="tr-TR" altLang="tr-TR" smtClean="0"/>
              <a:pPr/>
              <a:t>60</a:t>
            </a:fld>
            <a:endParaRPr lang="tr-TR" altLang="tr-TR"/>
          </a:p>
        </p:txBody>
      </p:sp>
    </p:spTree>
    <p:extLst>
      <p:ext uri="{BB962C8B-B14F-4D97-AF65-F5344CB8AC3E}">
        <p14:creationId xmlns:p14="http://schemas.microsoft.com/office/powerpoint/2010/main" val="140724441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Malloc</a:t>
            </a:r>
            <a:endParaRPr lang="tr-TR" dirty="0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BLM 1002 – Bilgsayar Programlama 1</a:t>
            </a:r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61</a:t>
            </a:fld>
            <a:endParaRPr lang="tr-TR"/>
          </a:p>
        </p:txBody>
      </p:sp>
      <p:pic>
        <p:nvPicPr>
          <p:cNvPr id="6" name="İçerik Yer Tutucusu 5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2843808" y="508181"/>
            <a:ext cx="5056790" cy="6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21554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BLM 1002 – Bilgsayar Programlama 1</a:t>
            </a:r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62</a:t>
            </a:fld>
            <a:endParaRPr lang="tr-TR"/>
          </a:p>
        </p:txBody>
      </p:sp>
      <p:sp>
        <p:nvSpPr>
          <p:cNvPr id="5" name="İçerik Yer Tutucusu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tr-TR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12" y="1309687"/>
            <a:ext cx="8677979" cy="4495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50485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/>
          <p:cNvSpPr/>
          <p:nvPr/>
        </p:nvSpPr>
        <p:spPr>
          <a:xfrm>
            <a:off x="395536" y="129173"/>
            <a:ext cx="4572000" cy="701730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r>
              <a:rPr lang="en-US" dirty="0"/>
              <a:t>#include &lt;</a:t>
            </a:r>
            <a:r>
              <a:rPr lang="en-US" dirty="0" err="1"/>
              <a:t>stdlib.h</a:t>
            </a:r>
            <a:r>
              <a:rPr lang="en-US" dirty="0"/>
              <a:t>&gt;</a:t>
            </a:r>
          </a:p>
          <a:p>
            <a:endParaRPr lang="en-US" dirty="0"/>
          </a:p>
          <a:p>
            <a:r>
              <a:rPr lang="en-US" dirty="0" err="1"/>
              <a:t>int</a:t>
            </a:r>
            <a:r>
              <a:rPr lang="en-US" dirty="0"/>
              <a:t> main(){</a:t>
            </a:r>
          </a:p>
          <a:p>
            <a:r>
              <a:rPr lang="en-US" dirty="0" err="1"/>
              <a:t>int</a:t>
            </a:r>
            <a:r>
              <a:rPr lang="en-US" dirty="0"/>
              <a:t> *</a:t>
            </a:r>
            <a:r>
              <a:rPr lang="en-US" dirty="0" err="1"/>
              <a:t>x,i,N,toplam</a:t>
            </a:r>
            <a:r>
              <a:rPr lang="en-US" dirty="0"/>
              <a:t>=0;</a:t>
            </a:r>
          </a:p>
          <a:p>
            <a:r>
              <a:rPr lang="en-US" dirty="0"/>
              <a:t>float </a:t>
            </a:r>
            <a:r>
              <a:rPr lang="en-US" dirty="0" err="1"/>
              <a:t>ortalama</a:t>
            </a:r>
            <a:r>
              <a:rPr lang="en-US" dirty="0"/>
              <a:t>;</a:t>
            </a:r>
          </a:p>
          <a:p>
            <a:r>
              <a:rPr lang="en-US" dirty="0" err="1"/>
              <a:t>printf</a:t>
            </a:r>
            <a:r>
              <a:rPr lang="en-US" dirty="0"/>
              <a:t>("</a:t>
            </a:r>
            <a:r>
              <a:rPr lang="en-US" dirty="0" err="1"/>
              <a:t>Eleman</a:t>
            </a:r>
            <a:r>
              <a:rPr lang="en-US" dirty="0"/>
              <a:t> </a:t>
            </a:r>
            <a:r>
              <a:rPr lang="en-US" dirty="0" err="1"/>
              <a:t>sayisi</a:t>
            </a:r>
            <a:r>
              <a:rPr lang="en-US" dirty="0"/>
              <a:t> ");</a:t>
            </a:r>
          </a:p>
          <a:p>
            <a:r>
              <a:rPr lang="en-US" dirty="0" err="1"/>
              <a:t>scanf</a:t>
            </a:r>
            <a:r>
              <a:rPr lang="en-US" dirty="0"/>
              <a:t>("%</a:t>
            </a:r>
            <a:r>
              <a:rPr lang="en-US" dirty="0" err="1"/>
              <a:t>d",&amp;N</a:t>
            </a:r>
            <a:r>
              <a:rPr lang="en-US" dirty="0"/>
              <a:t>);</a:t>
            </a:r>
          </a:p>
          <a:p>
            <a:r>
              <a:rPr lang="en-US" dirty="0"/>
              <a:t>x = (</a:t>
            </a:r>
            <a:r>
              <a:rPr lang="en-US" dirty="0" err="1"/>
              <a:t>int</a:t>
            </a:r>
            <a:r>
              <a:rPr lang="en-US" dirty="0"/>
              <a:t> *) </a:t>
            </a:r>
            <a:r>
              <a:rPr lang="en-US" dirty="0" err="1"/>
              <a:t>malloc</a:t>
            </a:r>
            <a:r>
              <a:rPr lang="en-US" dirty="0"/>
              <a:t>(N*</a:t>
            </a:r>
            <a:r>
              <a:rPr lang="en-US" dirty="0" err="1"/>
              <a:t>sizeof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));</a:t>
            </a:r>
          </a:p>
          <a:p>
            <a:r>
              <a:rPr lang="en-US" dirty="0" err="1"/>
              <a:t>printf</a:t>
            </a:r>
            <a:r>
              <a:rPr lang="en-US" dirty="0"/>
              <a:t>("</a:t>
            </a:r>
            <a:r>
              <a:rPr lang="en-US" dirty="0" err="1"/>
              <a:t>adres</a:t>
            </a:r>
            <a:r>
              <a:rPr lang="en-US" dirty="0"/>
              <a:t>=%p\</a:t>
            </a:r>
            <a:r>
              <a:rPr lang="en-US" dirty="0" err="1"/>
              <a:t>n",x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 err="1"/>
              <a:t>printf</a:t>
            </a:r>
            <a:r>
              <a:rPr lang="en-US" dirty="0"/>
              <a:t>("</a:t>
            </a:r>
            <a:r>
              <a:rPr lang="en-US" dirty="0" err="1"/>
              <a:t>Elemanlari</a:t>
            </a:r>
            <a:r>
              <a:rPr lang="en-US" dirty="0"/>
              <a:t> </a:t>
            </a:r>
            <a:r>
              <a:rPr lang="en-US" dirty="0" err="1"/>
              <a:t>girin</a:t>
            </a:r>
            <a:r>
              <a:rPr lang="en-US" dirty="0"/>
              <a:t>:\n");</a:t>
            </a:r>
          </a:p>
          <a:p>
            <a:r>
              <a:rPr lang="en-US" dirty="0"/>
              <a:t>for(</a:t>
            </a:r>
            <a:r>
              <a:rPr lang="en-US" dirty="0" err="1"/>
              <a:t>i</a:t>
            </a:r>
            <a:r>
              <a:rPr lang="en-US" dirty="0"/>
              <a:t>=0;i&lt;</a:t>
            </a:r>
            <a:r>
              <a:rPr lang="en-US" dirty="0" err="1"/>
              <a:t>N;i</a:t>
            </a:r>
            <a:r>
              <a:rPr lang="en-US" dirty="0"/>
              <a:t>++){</a:t>
            </a:r>
          </a:p>
          <a:p>
            <a:r>
              <a:rPr lang="en-US" dirty="0"/>
              <a:t>   </a:t>
            </a:r>
            <a:r>
              <a:rPr lang="en-US" dirty="0" err="1"/>
              <a:t>printf</a:t>
            </a:r>
            <a:r>
              <a:rPr lang="en-US" dirty="0"/>
              <a:t>("%</a:t>
            </a:r>
            <a:r>
              <a:rPr lang="en-US" dirty="0" err="1"/>
              <a:t>d.eleman</a:t>
            </a:r>
            <a:r>
              <a:rPr lang="en-US" dirty="0"/>
              <a:t> </a:t>
            </a:r>
            <a:r>
              <a:rPr lang="en-US" dirty="0" err="1"/>
              <a:t>adresi</a:t>
            </a:r>
            <a:r>
              <a:rPr lang="en-US" dirty="0"/>
              <a:t>:%p = ",i+1,x+i);</a:t>
            </a:r>
          </a:p>
          <a:p>
            <a:endParaRPr lang="en-US" dirty="0"/>
          </a:p>
          <a:p>
            <a:r>
              <a:rPr lang="en-US" dirty="0"/>
              <a:t>   </a:t>
            </a:r>
            <a:r>
              <a:rPr lang="en-US" dirty="0" err="1"/>
              <a:t>scanf</a:t>
            </a:r>
            <a:r>
              <a:rPr lang="en-US" dirty="0"/>
              <a:t>("%</a:t>
            </a:r>
            <a:r>
              <a:rPr lang="en-US" dirty="0" err="1"/>
              <a:t>d",&amp;x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]);  </a:t>
            </a:r>
          </a:p>
          <a:p>
            <a:r>
              <a:rPr lang="en-US" dirty="0"/>
              <a:t>    // x[</a:t>
            </a:r>
            <a:r>
              <a:rPr lang="en-US" dirty="0" err="1"/>
              <a:t>i</a:t>
            </a:r>
            <a:r>
              <a:rPr lang="en-US" dirty="0"/>
              <a:t>] </a:t>
            </a:r>
            <a:r>
              <a:rPr lang="en-US" dirty="0" err="1"/>
              <a:t>ile</a:t>
            </a:r>
            <a:r>
              <a:rPr lang="en-US" dirty="0"/>
              <a:t> *(</a:t>
            </a:r>
            <a:r>
              <a:rPr lang="en-US" dirty="0" err="1"/>
              <a:t>x+i</a:t>
            </a:r>
            <a:r>
              <a:rPr lang="en-US" dirty="0"/>
              <a:t>) </a:t>
            </a:r>
            <a:r>
              <a:rPr lang="en-US" dirty="0" err="1"/>
              <a:t>aynı</a:t>
            </a:r>
            <a:r>
              <a:rPr lang="en-US" dirty="0"/>
              <a:t>      </a:t>
            </a:r>
            <a:r>
              <a:rPr lang="en-US" dirty="0" err="1"/>
              <a:t>anlamda</a:t>
            </a:r>
            <a:r>
              <a:rPr lang="en-US" dirty="0"/>
              <a:t> !</a:t>
            </a:r>
          </a:p>
          <a:p>
            <a:r>
              <a:rPr lang="en-US" dirty="0"/>
              <a:t>    </a:t>
            </a:r>
            <a:r>
              <a:rPr lang="en-US" dirty="0" err="1"/>
              <a:t>toplam</a:t>
            </a:r>
            <a:r>
              <a:rPr lang="en-US" dirty="0"/>
              <a:t> += x[</a:t>
            </a:r>
            <a:r>
              <a:rPr lang="en-US" dirty="0" err="1"/>
              <a:t>i</a:t>
            </a:r>
            <a:r>
              <a:rPr lang="en-US" dirty="0"/>
              <a:t>];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free(x);  // </a:t>
            </a:r>
            <a:r>
              <a:rPr lang="en-US" dirty="0" err="1"/>
              <a:t>ayrılan</a:t>
            </a:r>
            <a:r>
              <a:rPr lang="en-US" dirty="0"/>
              <a:t> </a:t>
            </a:r>
            <a:r>
              <a:rPr lang="en-US" dirty="0" err="1"/>
              <a:t>yer</a:t>
            </a:r>
            <a:r>
              <a:rPr lang="en-US" dirty="0"/>
              <a:t> </a:t>
            </a:r>
            <a:r>
              <a:rPr lang="en-US" dirty="0" err="1"/>
              <a:t>boşaltılıyor</a:t>
            </a:r>
            <a:r>
              <a:rPr lang="en-US" dirty="0"/>
              <a:t>...</a:t>
            </a:r>
          </a:p>
          <a:p>
            <a:r>
              <a:rPr lang="en-US" dirty="0" err="1"/>
              <a:t>ortalama</a:t>
            </a:r>
            <a:r>
              <a:rPr lang="en-US" dirty="0"/>
              <a:t> = (float) </a:t>
            </a:r>
            <a:r>
              <a:rPr lang="en-US" dirty="0" err="1"/>
              <a:t>toplam</a:t>
            </a:r>
            <a:r>
              <a:rPr lang="en-US" dirty="0"/>
              <a:t>/N;</a:t>
            </a:r>
          </a:p>
          <a:p>
            <a:r>
              <a:rPr lang="en-US" dirty="0" err="1"/>
              <a:t>printf</a:t>
            </a:r>
            <a:r>
              <a:rPr lang="en-US" dirty="0"/>
              <a:t>("Bu %d </a:t>
            </a:r>
            <a:r>
              <a:rPr lang="en-US" dirty="0" err="1"/>
              <a:t>sayinin</a:t>
            </a:r>
            <a:r>
              <a:rPr lang="en-US" dirty="0"/>
              <a:t> </a:t>
            </a:r>
            <a:r>
              <a:rPr lang="en-US" dirty="0" err="1"/>
              <a:t>ortlamasi</a:t>
            </a:r>
            <a:r>
              <a:rPr lang="en-US" dirty="0"/>
              <a:t> %f </a:t>
            </a:r>
            <a:r>
              <a:rPr lang="en-US" dirty="0" err="1"/>
              <a:t>dir</a:t>
            </a:r>
            <a:r>
              <a:rPr lang="en-US" dirty="0"/>
              <a:t>\n",</a:t>
            </a:r>
            <a:r>
              <a:rPr lang="en-US" dirty="0" err="1"/>
              <a:t>N,ortalama</a:t>
            </a:r>
            <a:r>
              <a:rPr lang="en-US" dirty="0"/>
              <a:t>);         </a:t>
            </a:r>
          </a:p>
          <a:p>
            <a:endParaRPr lang="en-US" dirty="0"/>
          </a:p>
          <a:p>
            <a:r>
              <a:rPr lang="en-US" dirty="0"/>
              <a:t>}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928" y="3352800"/>
            <a:ext cx="4484422" cy="1243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Altbilgi Yer Tutucusu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BLM 1002 – Bilgsayar Programlama 1</a:t>
            </a:r>
            <a:endParaRPr lang="tr-TR"/>
          </a:p>
        </p:txBody>
      </p:sp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63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44715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64</a:t>
            </a:fld>
            <a:endParaRPr lang="tr-TR"/>
          </a:p>
        </p:txBody>
      </p:sp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Fonksiyon İşaretçileri</a:t>
            </a:r>
          </a:p>
        </p:txBody>
      </p:sp>
      <p:sp>
        <p:nvSpPr>
          <p:cNvPr id="12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598819"/>
            <a:ext cx="7919792" cy="4824537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500" dirty="0">
                <a:latin typeface="Times New Roman" pitchFamily="18" charset="0"/>
                <a:cs typeface="Times New Roman" pitchFamily="18" charset="0"/>
              </a:rPr>
              <a:t>Fonksiyon işaretçileri, </a:t>
            </a:r>
            <a:r>
              <a:rPr lang="tr-TR" sz="2500" u="sng" dirty="0">
                <a:latin typeface="Times New Roman" pitchFamily="18" charset="0"/>
                <a:cs typeface="Times New Roman" pitchFamily="18" charset="0"/>
              </a:rPr>
              <a:t>işaretçi (</a:t>
            </a:r>
            <a:r>
              <a:rPr lang="tr-TR" sz="2500" u="sng" dirty="0" err="1">
                <a:latin typeface="Times New Roman" pitchFamily="18" charset="0"/>
                <a:cs typeface="Times New Roman" pitchFamily="18" charset="0"/>
              </a:rPr>
              <a:t>pointer</a:t>
            </a:r>
            <a:r>
              <a:rPr lang="tr-TR" sz="2500" u="sng" dirty="0">
                <a:latin typeface="Times New Roman" pitchFamily="18" charset="0"/>
                <a:cs typeface="Times New Roman" pitchFamily="18" charset="0"/>
              </a:rPr>
              <a:t>) kavramının gücünü</a:t>
            </a:r>
            <a:r>
              <a:rPr lang="tr-TR" sz="2500" dirty="0">
                <a:latin typeface="Times New Roman" pitchFamily="18" charset="0"/>
                <a:cs typeface="Times New Roman" pitchFamily="18" charset="0"/>
              </a:rPr>
              <a:t> göster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e</a:t>
            </a:r>
            <a:r>
              <a:rPr lang="tr-TR" sz="2500" dirty="0">
                <a:latin typeface="Times New Roman" pitchFamily="18" charset="0"/>
                <a:cs typeface="Times New Roman" pitchFamily="18" charset="0"/>
              </a:rPr>
              <a:t>n diğer bir uygulama alanıdır.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500" dirty="0">
                <a:latin typeface="Times New Roman" pitchFamily="18" charset="0"/>
                <a:cs typeface="Times New Roman" pitchFamily="18" charset="0"/>
              </a:rPr>
              <a:t>Dizilerde olduğu gibi, </a:t>
            </a:r>
            <a:r>
              <a:rPr lang="tr-TR" sz="2500" b="1" dirty="0">
                <a:latin typeface="Times New Roman" pitchFamily="18" charset="0"/>
                <a:cs typeface="Times New Roman" pitchFamily="18" charset="0"/>
              </a:rPr>
              <a:t>fonksiyon adları</a:t>
            </a:r>
            <a:r>
              <a:rPr lang="tr-TR" sz="2500" dirty="0">
                <a:latin typeface="Times New Roman" pitchFamily="18" charset="0"/>
                <a:cs typeface="Times New Roman" pitchFamily="18" charset="0"/>
              </a:rPr>
              <a:t> da s</a:t>
            </a:r>
            <a:r>
              <a:rPr lang="tr-TR" sz="25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abit işaretçidir</a:t>
            </a:r>
            <a:r>
              <a:rPr lang="tr-TR" sz="25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5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Fonksiyon kodlarının </a:t>
            </a:r>
            <a:r>
              <a:rPr lang="tr-TR" sz="25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bellekte bir adreste tutulduğu </a:t>
            </a:r>
            <a:r>
              <a:rPr lang="tr-TR" sz="2500" dirty="0">
                <a:latin typeface="Times New Roman" pitchFamily="18" charset="0"/>
                <a:cs typeface="Times New Roman" pitchFamily="18" charset="0"/>
              </a:rPr>
              <a:t>şeklinde </a:t>
            </a:r>
            <a:r>
              <a:rPr lang="tr-TR" sz="2500" b="1" dirty="0">
                <a:latin typeface="Times New Roman" pitchFamily="18" charset="0"/>
                <a:cs typeface="Times New Roman" pitchFamily="18" charset="0"/>
              </a:rPr>
              <a:t>düşünebiliriz</a:t>
            </a:r>
            <a:r>
              <a:rPr lang="tr-TR" sz="25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500" dirty="0">
                <a:latin typeface="Times New Roman" pitchFamily="18" charset="0"/>
                <a:cs typeface="Times New Roman" pitchFamily="18" charset="0"/>
              </a:rPr>
              <a:t>Fonksiyon işaretçisi basit olarak </a:t>
            </a:r>
            <a:r>
              <a:rPr lang="tr-TR" sz="25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fonksiyon adının saklandığı </a:t>
            </a:r>
            <a:r>
              <a:rPr lang="tr-TR" sz="25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bellek adresini tutan </a:t>
            </a:r>
            <a:r>
              <a:rPr lang="tr-TR" sz="2500" dirty="0">
                <a:latin typeface="Times New Roman" pitchFamily="18" charset="0"/>
                <a:cs typeface="Times New Roman" pitchFamily="18" charset="0"/>
              </a:rPr>
              <a:t>bir </a:t>
            </a:r>
            <a:r>
              <a:rPr lang="tr-TR" sz="2500" b="1" dirty="0">
                <a:latin typeface="Times New Roman" pitchFamily="18" charset="0"/>
                <a:cs typeface="Times New Roman" pitchFamily="18" charset="0"/>
              </a:rPr>
              <a:t>işaretçidir</a:t>
            </a:r>
            <a:r>
              <a:rPr lang="tr-TR" sz="25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500" dirty="0">
                <a:latin typeface="Times New Roman" pitchFamily="18" charset="0"/>
                <a:cs typeface="Times New Roman" pitchFamily="18" charset="0"/>
              </a:rPr>
              <a:t>Fonksiyon işaretçileri sayesinde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tr-TR"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500" u="sng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fonksiyonlar</a:t>
            </a:r>
            <a:r>
              <a:rPr lang="tr-TR" sz="25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500" u="sng" dirty="0">
                <a:solidFill>
                  <a:schemeClr val="accent4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başka fonksiyonlara</a:t>
            </a:r>
            <a:r>
              <a:rPr lang="tr-TR" sz="2500" u="sng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500" i="1" u="sng" dirty="0">
                <a:latin typeface="Times New Roman" pitchFamily="18" charset="0"/>
                <a:cs typeface="Times New Roman" pitchFamily="18" charset="0"/>
              </a:rPr>
              <a:t>parametre olarak aktarılabilmektedirler</a:t>
            </a:r>
            <a:r>
              <a:rPr lang="tr-TR" sz="25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7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nn-NO"/>
              <a:t>BLM 1002 – Bilgsayar Programlama 1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26715614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BLM 1002 – Bilgsayar Programlama 1</a:t>
            </a:r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65</a:t>
            </a:fld>
            <a:endParaRPr lang="tr-TR"/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1"/>
          </p:nvPr>
        </p:nvSpPr>
        <p:spPr>
          <a:xfrm>
            <a:off x="1115616" y="332656"/>
            <a:ext cx="6840760" cy="468052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tr-TR" sz="4800" dirty="0"/>
              <a:t>#</a:t>
            </a:r>
            <a:r>
              <a:rPr lang="tr-TR" sz="4800" dirty="0" err="1"/>
              <a:t>include</a:t>
            </a:r>
            <a:r>
              <a:rPr lang="tr-TR" sz="4800" dirty="0"/>
              <a:t> &lt;</a:t>
            </a:r>
            <a:r>
              <a:rPr lang="tr-TR" sz="4800" dirty="0" err="1"/>
              <a:t>stdio.h</a:t>
            </a:r>
            <a:r>
              <a:rPr lang="tr-TR" sz="4800" dirty="0"/>
              <a:t>&gt;</a:t>
            </a:r>
          </a:p>
          <a:p>
            <a:pPr marL="0" indent="0">
              <a:buNone/>
            </a:pPr>
            <a:r>
              <a:rPr lang="tr-TR" sz="4800" dirty="0" err="1"/>
              <a:t>int</a:t>
            </a:r>
            <a:r>
              <a:rPr lang="tr-TR" sz="4800" dirty="0"/>
              <a:t>* </a:t>
            </a:r>
            <a:r>
              <a:rPr lang="tr-TR" sz="4800" dirty="0" err="1"/>
              <a:t>buyuk</a:t>
            </a:r>
            <a:r>
              <a:rPr lang="tr-TR" sz="4800" dirty="0"/>
              <a:t>(</a:t>
            </a:r>
            <a:r>
              <a:rPr lang="tr-TR" sz="4800" dirty="0" err="1"/>
              <a:t>int</a:t>
            </a:r>
            <a:r>
              <a:rPr lang="tr-TR" sz="4800" dirty="0"/>
              <a:t>*, </a:t>
            </a:r>
            <a:r>
              <a:rPr lang="tr-TR" sz="4800" dirty="0" err="1"/>
              <a:t>int</a:t>
            </a:r>
            <a:r>
              <a:rPr lang="tr-TR" sz="4800" dirty="0"/>
              <a:t>*);</a:t>
            </a:r>
          </a:p>
          <a:p>
            <a:pPr marL="0" indent="0">
              <a:buNone/>
            </a:pPr>
            <a:r>
              <a:rPr lang="tr-TR" sz="4800" dirty="0" err="1"/>
              <a:t>void</a:t>
            </a:r>
            <a:r>
              <a:rPr lang="tr-TR" sz="4800" dirty="0"/>
              <a:t> main()</a:t>
            </a:r>
          </a:p>
          <a:p>
            <a:pPr marL="0" indent="0">
              <a:buNone/>
            </a:pPr>
            <a:r>
              <a:rPr lang="tr-TR" sz="4800" dirty="0"/>
              <a:t>{</a:t>
            </a:r>
          </a:p>
          <a:p>
            <a:pPr marL="0" indent="0">
              <a:buNone/>
            </a:pPr>
            <a:r>
              <a:rPr lang="tr-TR" sz="4800" dirty="0"/>
              <a:t> </a:t>
            </a:r>
            <a:r>
              <a:rPr lang="tr-TR" sz="4800" dirty="0" err="1"/>
              <a:t>int</a:t>
            </a:r>
            <a:r>
              <a:rPr lang="tr-TR" sz="4800" dirty="0"/>
              <a:t> </a:t>
            </a:r>
            <a:r>
              <a:rPr lang="tr-TR" sz="4800" dirty="0" err="1"/>
              <a:t>numa</a:t>
            </a:r>
            <a:r>
              <a:rPr lang="tr-TR" sz="4800" dirty="0"/>
              <a:t>=0;</a:t>
            </a:r>
          </a:p>
          <a:p>
            <a:pPr marL="0" indent="0">
              <a:buNone/>
            </a:pPr>
            <a:r>
              <a:rPr lang="tr-TR" sz="4800" dirty="0"/>
              <a:t> </a:t>
            </a:r>
            <a:r>
              <a:rPr lang="tr-TR" sz="4800" dirty="0" err="1"/>
              <a:t>int</a:t>
            </a:r>
            <a:r>
              <a:rPr lang="tr-TR" sz="4800" dirty="0"/>
              <a:t> </a:t>
            </a:r>
            <a:r>
              <a:rPr lang="tr-TR" sz="4800" dirty="0" err="1"/>
              <a:t>numb</a:t>
            </a:r>
            <a:r>
              <a:rPr lang="tr-TR" sz="4800" dirty="0"/>
              <a:t>=0;</a:t>
            </a:r>
          </a:p>
          <a:p>
            <a:pPr marL="0" indent="0">
              <a:buNone/>
            </a:pPr>
            <a:r>
              <a:rPr lang="tr-TR" sz="4800" dirty="0"/>
              <a:t> </a:t>
            </a:r>
            <a:r>
              <a:rPr lang="tr-TR" sz="4800" dirty="0" err="1"/>
              <a:t>int</a:t>
            </a:r>
            <a:r>
              <a:rPr lang="tr-TR" sz="4800" dirty="0"/>
              <a:t> *</a:t>
            </a:r>
            <a:r>
              <a:rPr lang="tr-TR" sz="4800" dirty="0" err="1"/>
              <a:t>result</a:t>
            </a:r>
            <a:r>
              <a:rPr lang="tr-TR" sz="4800" dirty="0"/>
              <a:t>;</a:t>
            </a:r>
          </a:p>
          <a:p>
            <a:pPr marL="0" indent="0">
              <a:buNone/>
            </a:pPr>
            <a:endParaRPr lang="tr-TR" sz="4800" dirty="0"/>
          </a:p>
          <a:p>
            <a:pPr marL="0" indent="0">
              <a:buNone/>
            </a:pPr>
            <a:r>
              <a:rPr lang="tr-TR" sz="4800" dirty="0"/>
              <a:t>   </a:t>
            </a:r>
            <a:r>
              <a:rPr lang="tr-TR" sz="4800" dirty="0" err="1"/>
              <a:t>printf</a:t>
            </a:r>
            <a:r>
              <a:rPr lang="tr-TR" sz="4800" dirty="0"/>
              <a:t>(" birinci </a:t>
            </a:r>
            <a:r>
              <a:rPr lang="tr-TR" sz="4800" dirty="0" err="1"/>
              <a:t>deger</a:t>
            </a:r>
            <a:r>
              <a:rPr lang="tr-TR" sz="4800" dirty="0"/>
              <a:t>: ");</a:t>
            </a:r>
          </a:p>
          <a:p>
            <a:pPr marL="0" indent="0">
              <a:buNone/>
            </a:pPr>
            <a:r>
              <a:rPr lang="tr-TR" sz="4800" dirty="0"/>
              <a:t>   </a:t>
            </a:r>
            <a:r>
              <a:rPr lang="tr-TR" sz="4800" dirty="0" err="1"/>
              <a:t>scanf</a:t>
            </a:r>
            <a:r>
              <a:rPr lang="tr-TR" sz="4800" dirty="0"/>
              <a:t>("%d", &amp;</a:t>
            </a:r>
            <a:r>
              <a:rPr lang="tr-TR" sz="4800" dirty="0" err="1"/>
              <a:t>numa</a:t>
            </a:r>
            <a:r>
              <a:rPr lang="tr-TR" sz="4800" dirty="0"/>
              <a:t>);</a:t>
            </a:r>
          </a:p>
          <a:p>
            <a:pPr marL="0" indent="0">
              <a:buNone/>
            </a:pPr>
            <a:r>
              <a:rPr lang="tr-TR" sz="4800" dirty="0"/>
              <a:t>   </a:t>
            </a:r>
            <a:r>
              <a:rPr lang="tr-TR" sz="4800" dirty="0" err="1"/>
              <a:t>printf</a:t>
            </a:r>
            <a:r>
              <a:rPr lang="tr-TR" sz="4800" dirty="0"/>
              <a:t>(" ikinci </a:t>
            </a:r>
            <a:r>
              <a:rPr lang="tr-TR" sz="4800" dirty="0" err="1"/>
              <a:t>deger</a:t>
            </a:r>
            <a:r>
              <a:rPr lang="tr-TR" sz="4800" dirty="0"/>
              <a:t> : ");</a:t>
            </a:r>
          </a:p>
          <a:p>
            <a:pPr marL="0" indent="0">
              <a:buNone/>
            </a:pPr>
            <a:r>
              <a:rPr lang="tr-TR" sz="4800" dirty="0"/>
              <a:t>   </a:t>
            </a:r>
            <a:r>
              <a:rPr lang="tr-TR" sz="4800" dirty="0" err="1"/>
              <a:t>scanf</a:t>
            </a:r>
            <a:r>
              <a:rPr lang="tr-TR" sz="4800" dirty="0"/>
              <a:t>("%d", &amp;</a:t>
            </a:r>
            <a:r>
              <a:rPr lang="tr-TR" sz="4800" dirty="0" err="1"/>
              <a:t>numb</a:t>
            </a:r>
            <a:r>
              <a:rPr lang="tr-TR" sz="4800" dirty="0"/>
              <a:t>); 	</a:t>
            </a:r>
          </a:p>
          <a:p>
            <a:pPr marL="0" indent="0">
              <a:buNone/>
            </a:pPr>
            <a:endParaRPr lang="tr-TR" sz="4800" dirty="0"/>
          </a:p>
          <a:p>
            <a:pPr marL="0" indent="0">
              <a:buNone/>
            </a:pPr>
            <a:r>
              <a:rPr lang="tr-TR" sz="4800" dirty="0"/>
              <a:t> </a:t>
            </a:r>
            <a:r>
              <a:rPr lang="tr-TR" sz="4800" dirty="0" err="1"/>
              <a:t>result</a:t>
            </a:r>
            <a:r>
              <a:rPr lang="tr-TR" sz="4800" dirty="0"/>
              <a:t>=</a:t>
            </a:r>
            <a:r>
              <a:rPr lang="tr-TR" sz="4800" dirty="0" err="1"/>
              <a:t>buyuk</a:t>
            </a:r>
            <a:r>
              <a:rPr lang="tr-TR" sz="4800" dirty="0"/>
              <a:t>(&amp;</a:t>
            </a:r>
            <a:r>
              <a:rPr lang="tr-TR" sz="4800" dirty="0" err="1"/>
              <a:t>numa</a:t>
            </a:r>
            <a:r>
              <a:rPr lang="tr-TR" sz="4800" dirty="0"/>
              <a:t>, &amp;</a:t>
            </a:r>
            <a:r>
              <a:rPr lang="tr-TR" sz="4800" dirty="0" err="1"/>
              <a:t>numb</a:t>
            </a:r>
            <a:r>
              <a:rPr lang="tr-TR" sz="4800" dirty="0"/>
              <a:t>);</a:t>
            </a:r>
          </a:p>
          <a:p>
            <a:pPr marL="0" indent="0">
              <a:buNone/>
            </a:pPr>
            <a:r>
              <a:rPr lang="tr-TR" sz="4800" dirty="0"/>
              <a:t> </a:t>
            </a:r>
            <a:r>
              <a:rPr lang="tr-TR" sz="4800" dirty="0" err="1"/>
              <a:t>printf</a:t>
            </a:r>
            <a:r>
              <a:rPr lang="tr-TR" sz="4800" dirty="0"/>
              <a:t>(" </a:t>
            </a:r>
            <a:r>
              <a:rPr lang="tr-TR" sz="4800" dirty="0" err="1"/>
              <a:t>buyuk</a:t>
            </a:r>
            <a:r>
              <a:rPr lang="tr-TR" sz="4800" dirty="0"/>
              <a:t> olan %d   \n\n",*</a:t>
            </a:r>
            <a:r>
              <a:rPr lang="tr-TR" sz="4800" dirty="0" err="1"/>
              <a:t>result</a:t>
            </a:r>
            <a:r>
              <a:rPr lang="tr-TR" sz="4800" dirty="0"/>
              <a:t>);</a:t>
            </a:r>
          </a:p>
          <a:p>
            <a:pPr marL="0" indent="0">
              <a:buNone/>
            </a:pPr>
            <a:r>
              <a:rPr lang="tr-TR" sz="4800" dirty="0"/>
              <a:t>}</a:t>
            </a:r>
          </a:p>
          <a:p>
            <a:pPr marL="0" indent="0">
              <a:buNone/>
            </a:pPr>
            <a:endParaRPr lang="tr-TR" sz="4800" dirty="0"/>
          </a:p>
          <a:p>
            <a:pPr marL="0" indent="0">
              <a:buNone/>
            </a:pPr>
            <a:r>
              <a:rPr lang="tr-TR" sz="4800" dirty="0" err="1"/>
              <a:t>int</a:t>
            </a:r>
            <a:r>
              <a:rPr lang="tr-TR" sz="4800" dirty="0"/>
              <a:t>* </a:t>
            </a:r>
            <a:r>
              <a:rPr lang="tr-TR" sz="4800" dirty="0" err="1"/>
              <a:t>buyuk</a:t>
            </a:r>
            <a:r>
              <a:rPr lang="tr-TR" sz="4800" dirty="0"/>
              <a:t>(</a:t>
            </a:r>
            <a:r>
              <a:rPr lang="tr-TR" sz="4800" dirty="0" err="1"/>
              <a:t>int</a:t>
            </a:r>
            <a:r>
              <a:rPr lang="tr-TR" sz="4800" dirty="0"/>
              <a:t> *n1, </a:t>
            </a:r>
            <a:r>
              <a:rPr lang="tr-TR" sz="4800" dirty="0" err="1"/>
              <a:t>int</a:t>
            </a:r>
            <a:r>
              <a:rPr lang="tr-TR" sz="4800" dirty="0"/>
              <a:t> *n2)</a:t>
            </a:r>
          </a:p>
          <a:p>
            <a:pPr marL="0" indent="0">
              <a:buNone/>
            </a:pPr>
            <a:r>
              <a:rPr lang="tr-TR" sz="4800" dirty="0"/>
              <a:t>{</a:t>
            </a:r>
          </a:p>
          <a:p>
            <a:pPr marL="0" indent="0">
              <a:buNone/>
            </a:pPr>
            <a:r>
              <a:rPr lang="tr-TR" sz="4800" dirty="0"/>
              <a:t> </a:t>
            </a:r>
            <a:r>
              <a:rPr lang="tr-TR" sz="4800" dirty="0" err="1"/>
              <a:t>if</a:t>
            </a:r>
            <a:r>
              <a:rPr lang="tr-TR" sz="4800" dirty="0"/>
              <a:t>(*n1 &gt; *n2)</a:t>
            </a:r>
          </a:p>
          <a:p>
            <a:pPr marL="0" indent="0">
              <a:buNone/>
            </a:pPr>
            <a:r>
              <a:rPr lang="tr-TR" sz="4800" dirty="0"/>
              <a:t>  </a:t>
            </a:r>
            <a:r>
              <a:rPr lang="tr-TR" sz="4800" dirty="0" err="1"/>
              <a:t>return</a:t>
            </a:r>
            <a:r>
              <a:rPr lang="tr-TR" sz="4800" dirty="0"/>
              <a:t> n1;</a:t>
            </a:r>
          </a:p>
          <a:p>
            <a:pPr marL="0" indent="0">
              <a:buNone/>
            </a:pPr>
            <a:r>
              <a:rPr lang="tr-TR" sz="4800" dirty="0"/>
              <a:t> else</a:t>
            </a:r>
          </a:p>
          <a:p>
            <a:pPr marL="0" indent="0">
              <a:buNone/>
            </a:pPr>
            <a:r>
              <a:rPr lang="tr-TR" sz="4800" dirty="0"/>
              <a:t>  </a:t>
            </a:r>
            <a:r>
              <a:rPr lang="tr-TR" sz="4800" dirty="0" err="1"/>
              <a:t>return</a:t>
            </a:r>
            <a:r>
              <a:rPr lang="tr-TR" sz="4800" dirty="0"/>
              <a:t> n2;</a:t>
            </a:r>
          </a:p>
          <a:p>
            <a:pPr marL="0" indent="0">
              <a:buNone/>
            </a:pPr>
            <a:r>
              <a:rPr lang="tr-TR" sz="4800" dirty="0"/>
              <a:t>}</a:t>
            </a:r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02321089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Fonksiyonları Gösteren Göstericiler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2400" dirty="0"/>
              <a:t>Bir fonksiyonu gösteren gösterici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tr-TR" sz="2400" dirty="0"/>
              <a:t>Fonksiyonunun adresini tutar.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tr-TR" sz="2400" dirty="0"/>
              <a:t>Bir dizi isminin ilk elemanın adresi olmasına benzer.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tr-TR" sz="2400" dirty="0"/>
              <a:t>Fonksiyon isimleri, fonksiyonun görevini yapan kodun hafızadaki başlangıç adresidir.</a:t>
            </a:r>
          </a:p>
          <a:p>
            <a:r>
              <a:rPr lang="tr-TR" sz="2400" dirty="0"/>
              <a:t>Fonksiyonları gösteren göstericiler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tr-TR" sz="2400" dirty="0"/>
              <a:t>Fonksiyonlara geçirilebilir.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tr-TR" sz="2400" dirty="0"/>
              <a:t>Fonksiyonlardan geri döndürülebilir.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tr-TR" sz="2400" dirty="0"/>
              <a:t>Fonksiyon gösteren diğer göstericilere atanabilir.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dirty="0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BLM 1002 – Bilgsayar Programlama 1</a:t>
            </a:r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66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1320879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67</a:t>
            </a:fld>
            <a:endParaRPr lang="tr-TR"/>
          </a:p>
        </p:txBody>
      </p:sp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Fonksiyon İşaretçileri </a:t>
            </a:r>
            <a:r>
              <a:rPr lang="tr-TR" sz="19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(devam…)</a:t>
            </a:r>
          </a:p>
        </p:txBody>
      </p:sp>
      <p:sp>
        <p:nvSpPr>
          <p:cNvPr id="12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598819"/>
            <a:ext cx="8351840" cy="4824537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500" dirty="0">
                <a:latin typeface="Times New Roman" pitchFamily="18" charset="0"/>
                <a:cs typeface="Times New Roman" pitchFamily="18" charset="0"/>
              </a:rPr>
              <a:t>Fonksiyonların bellekteki adresleri aşağıdaki kodlama kullanımıyla öğrenilebilir: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endParaRPr lang="tr-TR" sz="25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SzPct val="100000"/>
              <a:buNone/>
            </a:pPr>
            <a:r>
              <a:rPr lang="tr-TR" sz="2200" b="1" dirty="0" err="1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sz="2200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f(</a:t>
            </a:r>
            <a:r>
              <a:rPr lang="tr-TR" sz="2200" b="1" dirty="0" err="1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);     /* fonksiyon bildirimi */ </a:t>
            </a:r>
          </a:p>
          <a:p>
            <a:pPr marL="0" indent="0">
              <a:buSzPct val="100000"/>
              <a:buNone/>
            </a:pPr>
            <a:r>
              <a:rPr lang="tr-TR" sz="2200" b="1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sz="2200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(*</a:t>
            </a:r>
            <a:r>
              <a:rPr lang="tr-TR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pf</a:t>
            </a:r>
            <a:r>
              <a:rPr lang="tr-T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)(</a:t>
            </a:r>
            <a:r>
              <a:rPr lang="tr-TR" sz="2200" b="1" dirty="0">
                <a:solidFill>
                  <a:srgbClr val="000099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tr-T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); /*fonksiyon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işaretçi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tr-TR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bild</a:t>
            </a:r>
            <a:r>
              <a:rPr lang="tr-T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.*/ </a:t>
            </a:r>
          </a:p>
          <a:p>
            <a:pPr marL="0" indent="0">
              <a:buSzPct val="100000"/>
              <a:buNone/>
            </a:pPr>
            <a:r>
              <a:rPr lang="tr-TR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pf</a:t>
            </a:r>
            <a:r>
              <a:rPr lang="tr-T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= &amp;f;        /*f'nin adresini </a:t>
            </a:r>
            <a:r>
              <a:rPr lang="tr-TR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pf'ye</a:t>
            </a:r>
            <a:r>
              <a:rPr lang="tr-TR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ata! */</a:t>
            </a:r>
          </a:p>
        </p:txBody>
      </p:sp>
      <p:sp>
        <p:nvSpPr>
          <p:cNvPr id="7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nn-NO"/>
              <a:t>BLM 1002 – Bilgsayar Programlama 1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585906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68</a:t>
            </a:fld>
            <a:endParaRPr lang="tr-TR"/>
          </a:p>
        </p:txBody>
      </p:sp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sz="36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Örnek: </a:t>
            </a:r>
            <a: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Fonksiyon İşaretçileri</a:t>
            </a:r>
            <a:endParaRPr lang="tr-TR" sz="19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nn-NO"/>
              <a:t>BLM 1002 – Bilgsayar Programlama 1</a:t>
            </a:r>
            <a:endParaRPr lang="tr-TR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1105763"/>
            <a:ext cx="4680520" cy="481205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0594" y="4725144"/>
            <a:ext cx="3864973" cy="61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37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ikdörtgen 4"/>
          <p:cNvSpPr/>
          <p:nvPr/>
        </p:nvSpPr>
        <p:spPr>
          <a:xfrm>
            <a:off x="-15984" y="0"/>
            <a:ext cx="5238328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endParaRPr lang="en-US" dirty="0"/>
          </a:p>
          <a:p>
            <a:r>
              <a:rPr lang="en-US" dirty="0"/>
              <a:t>void </a:t>
            </a:r>
            <a:r>
              <a:rPr lang="en-US" dirty="0" err="1"/>
              <a:t>yazdir</a:t>
            </a:r>
            <a:r>
              <a:rPr lang="en-US" dirty="0"/>
              <a:t>(</a:t>
            </a:r>
            <a:r>
              <a:rPr lang="en-US" dirty="0" err="1"/>
              <a:t>int,int,int</a:t>
            </a:r>
            <a:r>
              <a:rPr lang="en-US" dirty="0"/>
              <a:t>(*)(</a:t>
            </a:r>
            <a:r>
              <a:rPr lang="en-US" dirty="0" err="1"/>
              <a:t>int,int</a:t>
            </a:r>
            <a:r>
              <a:rPr lang="en-US" dirty="0"/>
              <a:t>));</a:t>
            </a:r>
          </a:p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kucuk</a:t>
            </a:r>
            <a:r>
              <a:rPr lang="en-US" dirty="0"/>
              <a:t>(</a:t>
            </a:r>
            <a:r>
              <a:rPr lang="en-US" dirty="0" err="1"/>
              <a:t>int,int</a:t>
            </a:r>
            <a:r>
              <a:rPr lang="en-US" dirty="0"/>
              <a:t>);</a:t>
            </a:r>
          </a:p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buyuk</a:t>
            </a:r>
            <a:r>
              <a:rPr lang="en-US" dirty="0"/>
              <a:t>(</a:t>
            </a:r>
            <a:r>
              <a:rPr lang="en-US" dirty="0" err="1"/>
              <a:t>int,int</a:t>
            </a:r>
            <a:r>
              <a:rPr lang="en-US" dirty="0"/>
              <a:t>);</a:t>
            </a:r>
          </a:p>
          <a:p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a,b,secim</a:t>
            </a:r>
            <a:r>
              <a:rPr lang="en-US" dirty="0"/>
              <a:t>;</a:t>
            </a:r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tamsayi</a:t>
            </a:r>
            <a:r>
              <a:rPr lang="en-US" dirty="0"/>
              <a:t> </a:t>
            </a:r>
            <a:r>
              <a:rPr lang="en-US" dirty="0" err="1"/>
              <a:t>giriniz</a:t>
            </a:r>
            <a:r>
              <a:rPr lang="en-US" dirty="0"/>
              <a:t>: ");</a:t>
            </a:r>
          </a:p>
          <a:p>
            <a:r>
              <a:rPr lang="en-US" dirty="0"/>
              <a:t>    </a:t>
            </a:r>
            <a:r>
              <a:rPr lang="en-US" dirty="0" err="1"/>
              <a:t>scanf</a:t>
            </a:r>
            <a:r>
              <a:rPr lang="en-US" dirty="0"/>
              <a:t>("%</a:t>
            </a:r>
            <a:r>
              <a:rPr lang="en-US" dirty="0" err="1"/>
              <a:t>d%d</a:t>
            </a:r>
            <a:r>
              <a:rPr lang="en-US" dirty="0"/>
              <a:t>",&amp;</a:t>
            </a:r>
            <a:r>
              <a:rPr lang="en-US" dirty="0" err="1"/>
              <a:t>a,&amp;b</a:t>
            </a:r>
            <a:r>
              <a:rPr lang="en-US" dirty="0"/>
              <a:t>);</a:t>
            </a:r>
          </a:p>
          <a:p>
            <a:r>
              <a:rPr lang="en-US" dirty="0"/>
              <a:t>    </a:t>
            </a:r>
            <a:r>
              <a:rPr lang="en-US" dirty="0" err="1"/>
              <a:t>printf</a:t>
            </a:r>
            <a:r>
              <a:rPr lang="en-US" dirty="0"/>
              <a:t>("</a:t>
            </a:r>
            <a:r>
              <a:rPr lang="en-US" dirty="0" err="1"/>
              <a:t>Buyuk</a:t>
            </a:r>
            <a:r>
              <a:rPr lang="en-US" dirty="0"/>
              <a:t> </a:t>
            </a:r>
            <a:r>
              <a:rPr lang="en-US" dirty="0" err="1"/>
              <a:t>olani</a:t>
            </a:r>
            <a:r>
              <a:rPr lang="en-US" dirty="0"/>
              <a:t> </a:t>
            </a:r>
            <a:r>
              <a:rPr lang="en-US" dirty="0" err="1"/>
              <a:t>bulmak</a:t>
            </a:r>
            <a:r>
              <a:rPr lang="en-US" dirty="0"/>
              <a:t> </a:t>
            </a:r>
            <a:r>
              <a:rPr lang="en-US" dirty="0" err="1"/>
              <a:t>icin</a:t>
            </a:r>
            <a:r>
              <a:rPr lang="en-US" dirty="0"/>
              <a:t> 1"</a:t>
            </a:r>
          </a:p>
          <a:p>
            <a:r>
              <a:rPr lang="en-US" dirty="0"/>
              <a:t>    " </a:t>
            </a:r>
            <a:r>
              <a:rPr lang="en-US" dirty="0" err="1"/>
              <a:t>kucuk</a:t>
            </a:r>
            <a:r>
              <a:rPr lang="en-US" dirty="0"/>
              <a:t> </a:t>
            </a:r>
            <a:r>
              <a:rPr lang="en-US" dirty="0" err="1"/>
              <a:t>olani</a:t>
            </a:r>
            <a:r>
              <a:rPr lang="en-US" dirty="0"/>
              <a:t> </a:t>
            </a:r>
            <a:r>
              <a:rPr lang="en-US" dirty="0" err="1"/>
              <a:t>bulmak</a:t>
            </a:r>
            <a:r>
              <a:rPr lang="en-US" dirty="0"/>
              <a:t> </a:t>
            </a:r>
            <a:r>
              <a:rPr lang="en-US" dirty="0" err="1"/>
              <a:t>icin</a:t>
            </a:r>
            <a:r>
              <a:rPr lang="en-US" dirty="0"/>
              <a:t> 2 </a:t>
            </a:r>
            <a:r>
              <a:rPr lang="en-US" dirty="0" err="1"/>
              <a:t>giriniz</a:t>
            </a:r>
            <a:r>
              <a:rPr lang="en-US" dirty="0"/>
              <a:t>: ");</a:t>
            </a:r>
          </a:p>
          <a:p>
            <a:r>
              <a:rPr lang="en-US" dirty="0"/>
              <a:t>    </a:t>
            </a:r>
            <a:r>
              <a:rPr lang="en-US" dirty="0" err="1"/>
              <a:t>scanf</a:t>
            </a:r>
            <a:r>
              <a:rPr lang="en-US" dirty="0"/>
              <a:t>("%d",&amp;</a:t>
            </a:r>
            <a:r>
              <a:rPr lang="en-US" dirty="0" err="1"/>
              <a:t>secim</a:t>
            </a:r>
            <a:r>
              <a:rPr lang="en-US" dirty="0"/>
              <a:t>);</a:t>
            </a:r>
          </a:p>
          <a:p>
            <a:r>
              <a:rPr lang="en-US" dirty="0"/>
              <a:t>    if(</a:t>
            </a:r>
            <a:r>
              <a:rPr lang="en-US" dirty="0" err="1"/>
              <a:t>secim</a:t>
            </a:r>
            <a:r>
              <a:rPr lang="en-US" dirty="0"/>
              <a:t>==1) </a:t>
            </a:r>
            <a:r>
              <a:rPr lang="en-US" dirty="0" err="1"/>
              <a:t>yazdir</a:t>
            </a:r>
            <a:r>
              <a:rPr lang="en-US" dirty="0"/>
              <a:t>(</a:t>
            </a:r>
            <a:r>
              <a:rPr lang="en-US" dirty="0" err="1"/>
              <a:t>a,b,buyuk</a:t>
            </a:r>
            <a:r>
              <a:rPr lang="en-US" dirty="0"/>
              <a:t>);</a:t>
            </a:r>
          </a:p>
          <a:p>
            <a:r>
              <a:rPr lang="en-US" dirty="0"/>
              <a:t>    else </a:t>
            </a:r>
            <a:r>
              <a:rPr lang="en-US" dirty="0" err="1"/>
              <a:t>yazdir</a:t>
            </a:r>
            <a:r>
              <a:rPr lang="en-US" dirty="0"/>
              <a:t>(</a:t>
            </a:r>
            <a:r>
              <a:rPr lang="en-US" dirty="0" err="1"/>
              <a:t>a,b,kucuk</a:t>
            </a:r>
            <a:r>
              <a:rPr lang="en-US" dirty="0"/>
              <a:t>);</a:t>
            </a:r>
          </a:p>
          <a:p>
            <a:r>
              <a:rPr lang="en-US" dirty="0"/>
              <a:t>   };</a:t>
            </a:r>
          </a:p>
          <a:p>
            <a:r>
              <a:rPr lang="en-US" dirty="0"/>
              <a:t>}</a:t>
            </a:r>
          </a:p>
        </p:txBody>
      </p:sp>
      <p:sp>
        <p:nvSpPr>
          <p:cNvPr id="6" name="Dikdörtgen 5"/>
          <p:cNvSpPr/>
          <p:nvPr/>
        </p:nvSpPr>
        <p:spPr>
          <a:xfrm>
            <a:off x="4067944" y="37659"/>
            <a:ext cx="4572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void </a:t>
            </a:r>
            <a:r>
              <a:rPr lang="en-US" dirty="0" err="1"/>
              <a:t>yazdir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a,int</a:t>
            </a:r>
            <a:r>
              <a:rPr lang="en-US" dirty="0"/>
              <a:t> </a:t>
            </a:r>
            <a:r>
              <a:rPr lang="en-US" dirty="0" err="1"/>
              <a:t>b,int</a:t>
            </a:r>
            <a:r>
              <a:rPr lang="en-US" dirty="0"/>
              <a:t>(*k)(</a:t>
            </a:r>
            <a:r>
              <a:rPr lang="en-US" dirty="0" err="1"/>
              <a:t>int,int</a:t>
            </a:r>
            <a:r>
              <a:rPr lang="en-US" dirty="0"/>
              <a:t>))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sonuc</a:t>
            </a:r>
            <a:r>
              <a:rPr lang="en-US" dirty="0"/>
              <a:t>=0;</a:t>
            </a:r>
          </a:p>
          <a:p>
            <a:r>
              <a:rPr lang="en-US" dirty="0"/>
              <a:t>     </a:t>
            </a:r>
            <a:r>
              <a:rPr lang="en-US" dirty="0" err="1"/>
              <a:t>sonuc</a:t>
            </a:r>
            <a:r>
              <a:rPr lang="en-US" dirty="0"/>
              <a:t>=(*k)(</a:t>
            </a:r>
            <a:r>
              <a:rPr lang="en-US" dirty="0" err="1"/>
              <a:t>a,b</a:t>
            </a:r>
            <a:r>
              <a:rPr lang="en-US" dirty="0"/>
              <a:t>);</a:t>
            </a:r>
          </a:p>
          <a:p>
            <a:r>
              <a:rPr lang="en-US" dirty="0"/>
              <a:t>     </a:t>
            </a:r>
            <a:r>
              <a:rPr lang="en-US" dirty="0" err="1"/>
              <a:t>printf</a:t>
            </a:r>
            <a:r>
              <a:rPr lang="en-US" dirty="0"/>
              <a:t>("</a:t>
            </a:r>
            <a:r>
              <a:rPr lang="en-US" dirty="0" err="1"/>
              <a:t>Sonuc</a:t>
            </a:r>
            <a:r>
              <a:rPr lang="en-US" dirty="0"/>
              <a:t>: %d",</a:t>
            </a:r>
            <a:r>
              <a:rPr lang="en-US" dirty="0" err="1"/>
              <a:t>sonuc</a:t>
            </a:r>
            <a:r>
              <a:rPr lang="en-US" dirty="0"/>
              <a:t>);</a:t>
            </a:r>
          </a:p>
          <a:p>
            <a:r>
              <a:rPr lang="en-US" dirty="0"/>
              <a:t>}</a:t>
            </a:r>
          </a:p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kucuk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a,int</a:t>
            </a:r>
            <a:r>
              <a:rPr lang="en-US" dirty="0"/>
              <a:t> b)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if(a&lt;b) return a;</a:t>
            </a:r>
          </a:p>
          <a:p>
            <a:r>
              <a:rPr lang="en-US" dirty="0"/>
              <a:t>    else return b ;</a:t>
            </a:r>
          </a:p>
          <a:p>
            <a:r>
              <a:rPr lang="en-US" dirty="0"/>
              <a:t>}</a:t>
            </a:r>
          </a:p>
          <a:p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buyuk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a,int</a:t>
            </a:r>
            <a:r>
              <a:rPr lang="en-US" dirty="0"/>
              <a:t> b)</a:t>
            </a:r>
          </a:p>
          <a:p>
            <a:r>
              <a:rPr lang="en-US" dirty="0"/>
              <a:t>{</a:t>
            </a:r>
          </a:p>
          <a:p>
            <a:r>
              <a:rPr lang="en-US" dirty="0"/>
              <a:t>    if(a&gt;b) return a;</a:t>
            </a:r>
          </a:p>
          <a:p>
            <a:r>
              <a:rPr lang="en-US" dirty="0"/>
              <a:t>    else return b ;</a:t>
            </a:r>
          </a:p>
          <a:p>
            <a:r>
              <a:rPr lang="en-US" dirty="0"/>
              <a:t>}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002" y="4610814"/>
            <a:ext cx="48387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6781" y="5255752"/>
            <a:ext cx="483870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Altbilgi Yer Tutucusu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BLM 1002 – Bilgsayar Programlama 1</a:t>
            </a:r>
            <a:endParaRPr lang="tr-TR"/>
          </a:p>
        </p:txBody>
      </p:sp>
      <p:sp>
        <p:nvSpPr>
          <p:cNvPr id="3" name="Slayt Numarası Yer Tutucusu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69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18660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Gösterici Dizileri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400" dirty="0"/>
              <a:t>Diziler göstericiler içerebilir.</a:t>
            </a:r>
          </a:p>
          <a:p>
            <a:r>
              <a:rPr lang="tr-TR" sz="2400" dirty="0"/>
              <a:t>Örneğin; takım </a:t>
            </a:r>
            <a:r>
              <a:rPr lang="tr-TR" sz="2400" dirty="0" err="1"/>
              <a:t>string</a:t>
            </a:r>
            <a:r>
              <a:rPr lang="tr-TR" sz="2400" dirty="0"/>
              <a:t> dizisini ele alalım</a:t>
            </a:r>
          </a:p>
          <a:p>
            <a:pPr marL="411480" lvl="1" indent="0">
              <a:buNone/>
            </a:pPr>
            <a:r>
              <a:rPr lang="tr-TR" sz="2400" dirty="0" err="1"/>
              <a:t>char</a:t>
            </a:r>
            <a:r>
              <a:rPr lang="tr-TR" sz="2400" dirty="0"/>
              <a:t> *</a:t>
            </a:r>
            <a:r>
              <a:rPr lang="tr-TR" sz="2400" dirty="0" err="1"/>
              <a:t>takim</a:t>
            </a:r>
            <a:r>
              <a:rPr lang="tr-TR" sz="2400" dirty="0"/>
              <a:t>[4]={</a:t>
            </a:r>
            <a:r>
              <a:rPr lang="en-US" altLang="en-US" sz="2400" dirty="0"/>
              <a:t>"</a:t>
            </a:r>
            <a:r>
              <a:rPr lang="tr-TR" altLang="en-US" sz="2400" dirty="0"/>
              <a:t>kupa</a:t>
            </a:r>
            <a:r>
              <a:rPr lang="en-US" altLang="en-US" sz="2400" dirty="0"/>
              <a:t>"</a:t>
            </a:r>
            <a:r>
              <a:rPr lang="tr-TR" altLang="en-US" sz="2400" dirty="0"/>
              <a:t>, </a:t>
            </a:r>
            <a:r>
              <a:rPr lang="en-US" altLang="en-US" sz="2400" dirty="0"/>
              <a:t>"</a:t>
            </a:r>
            <a:r>
              <a:rPr lang="tr-TR" altLang="en-US" sz="2400" dirty="0"/>
              <a:t>karo</a:t>
            </a:r>
            <a:r>
              <a:rPr lang="en-US" altLang="en-US" sz="2400" dirty="0"/>
              <a:t>"</a:t>
            </a:r>
            <a:r>
              <a:rPr lang="tr-TR" altLang="en-US" sz="2400" dirty="0"/>
              <a:t>,</a:t>
            </a:r>
            <a:r>
              <a:rPr lang="en-US" altLang="en-US" sz="2400" dirty="0"/>
              <a:t>"</a:t>
            </a:r>
            <a:r>
              <a:rPr lang="tr-TR" altLang="en-US" sz="2400" dirty="0"/>
              <a:t>sinek</a:t>
            </a:r>
            <a:r>
              <a:rPr lang="en-US" altLang="en-US" sz="2400" dirty="0"/>
              <a:t>"</a:t>
            </a:r>
            <a:r>
              <a:rPr lang="tr-TR" altLang="en-US" sz="2400" dirty="0"/>
              <a:t>,</a:t>
            </a:r>
            <a:r>
              <a:rPr lang="en-US" altLang="en-US" sz="2400" dirty="0"/>
              <a:t>"</a:t>
            </a:r>
            <a:r>
              <a:rPr lang="tr-TR" altLang="en-US" sz="2400" dirty="0" err="1"/>
              <a:t>maca</a:t>
            </a:r>
            <a:r>
              <a:rPr lang="en-US" altLang="en-US" sz="2400" dirty="0"/>
              <a:t>"</a:t>
            </a:r>
            <a:r>
              <a:rPr lang="tr-TR" altLang="en-US" sz="2400" dirty="0"/>
              <a:t>};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tr-TR" sz="2400" dirty="0"/>
              <a:t>C’de </a:t>
            </a:r>
            <a:r>
              <a:rPr lang="tr-TR" sz="2400" dirty="0" err="1"/>
              <a:t>stringl’er</a:t>
            </a:r>
            <a:r>
              <a:rPr lang="tr-TR" sz="2400" dirty="0"/>
              <a:t>, gerçekte ilk karakteri gösteren göstericilerdir.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tr-TR" sz="2400" dirty="0" err="1"/>
              <a:t>char</a:t>
            </a:r>
            <a:r>
              <a:rPr lang="tr-TR" sz="2400" dirty="0"/>
              <a:t>*- </a:t>
            </a:r>
            <a:r>
              <a:rPr lang="tr-TR" sz="2400" dirty="0" err="1"/>
              <a:t>takım’in</a:t>
            </a:r>
            <a:r>
              <a:rPr lang="tr-TR" sz="2400" dirty="0"/>
              <a:t> her bir elemanı </a:t>
            </a:r>
            <a:r>
              <a:rPr lang="tr-TR" sz="2400" dirty="0" err="1"/>
              <a:t>char</a:t>
            </a:r>
            <a:r>
              <a:rPr lang="tr-TR" sz="2400" dirty="0"/>
              <a:t> gösteren bir göstericidir.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tr-TR" sz="2400" dirty="0" err="1"/>
              <a:t>String’ler</a:t>
            </a:r>
            <a:r>
              <a:rPr lang="tr-TR" sz="2400" dirty="0"/>
              <a:t> aslında takım dizisinde tutulmazlar sadece bu </a:t>
            </a:r>
            <a:r>
              <a:rPr lang="tr-TR" sz="2400" dirty="0" err="1"/>
              <a:t>string’leri</a:t>
            </a:r>
            <a:r>
              <a:rPr lang="tr-TR" sz="2400" dirty="0"/>
              <a:t> gösteren göstericiler </a:t>
            </a:r>
            <a:r>
              <a:rPr lang="tr-TR" sz="2400" dirty="0" err="1"/>
              <a:t>tutulut</a:t>
            </a:r>
            <a:r>
              <a:rPr lang="tr-TR" sz="2400" dirty="0"/>
              <a:t>.</a:t>
            </a:r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n-NO"/>
              <a:t>BLM 1002 – Bilgsayar Programlama 1</a:t>
            </a:r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70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3906575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71</a:t>
            </a:fld>
            <a:endParaRPr lang="tr-TR"/>
          </a:p>
        </p:txBody>
      </p:sp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en-US" sz="36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Struct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ve </a:t>
            </a:r>
            <a:r>
              <a:rPr lang="tr-TR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İşaretçiler</a:t>
            </a:r>
            <a:endParaRPr lang="tr-TR" sz="1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nn-NO"/>
              <a:t>BLM 1002 – Bilgsayar Programlama 1</a:t>
            </a:r>
            <a:endParaRPr lang="tr-TR" dirty="0"/>
          </a:p>
        </p:txBody>
      </p:sp>
      <p:sp>
        <p:nvSpPr>
          <p:cNvPr id="8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598819"/>
            <a:ext cx="8351840" cy="4824537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içerisindeki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üye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elemanları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işaretçi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olabileceği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gibi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değişkenlerinin</a:t>
            </a:r>
            <a:r>
              <a:rPr lang="en-US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kendisi</a:t>
            </a:r>
            <a:r>
              <a:rPr lang="en-US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</a:t>
            </a:r>
            <a:r>
              <a:rPr lang="en-US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işaretçi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olabilir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Kisi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olmak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üzere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aşağıdaki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gibi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işaretçi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tanımlanabilir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üyelerine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karakterleri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ulaşılabilir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20040" lvl="1" indent="0" algn="just">
              <a:buSzPct val="100000"/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Kisi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320040" lvl="1" indent="0" algn="just">
              <a:buSzPct val="100000"/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 marL="320040" lvl="1" indent="0" algn="just">
              <a:buSzPct val="100000"/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pk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50;</a:t>
            </a:r>
          </a:p>
          <a:p>
            <a:pPr marL="0" indent="0" algn="just">
              <a:buSzPct val="100000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645731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72</a:t>
            </a:fld>
            <a:endParaRPr lang="tr-TR"/>
          </a:p>
        </p:txBody>
      </p:sp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sz="36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Örnek: </a:t>
            </a:r>
            <a:r>
              <a:rPr lang="en-US" sz="36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Struct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ve </a:t>
            </a:r>
            <a:r>
              <a:rPr lang="en-US" sz="36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İşaretçiler</a:t>
            </a:r>
            <a:endParaRPr lang="tr-TR" sz="19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nn-NO"/>
              <a:t>BLM 1002 – Bilgsayar Programlama 1</a:t>
            </a:r>
            <a:endParaRPr lang="tr-TR" dirty="0"/>
          </a:p>
        </p:txBody>
      </p:sp>
      <p:sp>
        <p:nvSpPr>
          <p:cNvPr id="8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598819"/>
            <a:ext cx="8351840" cy="4824537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Kisi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isimli bir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tanımlayınız. 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Isim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 </a:t>
            </a:r>
            <a:r>
              <a:rPr lang="tr-T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Yas 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üyelerine sahip olsun.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structtan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bir </a:t>
            </a:r>
            <a:r>
              <a:rPr lang="tr-T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tr-T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değişkeni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SzPct val="100000"/>
              <a:buFont typeface="Arial" panose="020B0604020202020204" pitchFamily="34" charset="0"/>
              <a:buChar char="•"/>
            </a:pPr>
            <a:r>
              <a:rPr lang="tr-TR" dirty="0" err="1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tr-TR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işaretçisi 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oluşturunuz.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İşaretçiye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atamalarını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yapınız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değişkenine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değerler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atayınız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İşaretçiye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değerler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atayınız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Ekranda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yazdırınız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endParaRPr lang="tr-TR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861835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73</a:t>
            </a:fld>
            <a:endParaRPr lang="tr-TR"/>
          </a:p>
        </p:txBody>
      </p:sp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sz="3600" b="1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Örnek: </a:t>
            </a:r>
            <a:r>
              <a:rPr lang="en-US" sz="36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Struct</a:t>
            </a: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ve </a:t>
            </a:r>
            <a:r>
              <a:rPr lang="en-US" sz="3600" b="1" dirty="0" err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İşaretçiler</a:t>
            </a:r>
            <a:endParaRPr lang="tr-TR" sz="19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nn-NO"/>
              <a:t>BLM 1002 – Bilgsayar Programlama 1</a:t>
            </a:r>
            <a:endParaRPr lang="tr-T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1772816"/>
            <a:ext cx="3619500" cy="481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284195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74</a:t>
            </a:fld>
            <a:endParaRPr lang="tr-TR"/>
          </a:p>
        </p:txBody>
      </p:sp>
      <p:sp>
        <p:nvSpPr>
          <p:cNvPr id="11" name="1 Başlık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/>
          <a:p>
            <a:r>
              <a:rPr lang="tr-TR" sz="32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KAYNAKLAR</a:t>
            </a:r>
          </a:p>
        </p:txBody>
      </p:sp>
      <p:sp>
        <p:nvSpPr>
          <p:cNvPr id="12" name="4 İçerik Yer Tutucusu"/>
          <p:cNvSpPr>
            <a:spLocks noGrp="1"/>
          </p:cNvSpPr>
          <p:nvPr>
            <p:ph sz="quarter" idx="1"/>
          </p:nvPr>
        </p:nvSpPr>
        <p:spPr>
          <a:xfrm>
            <a:off x="612648" y="1598819"/>
            <a:ext cx="7919792" cy="4824537"/>
          </a:xfrm>
        </p:spPr>
        <p:txBody>
          <a:bodyPr>
            <a:normAutofit/>
          </a:bodyPr>
          <a:lstStyle/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itchFamily="18" charset="0"/>
                <a:cs typeface="Times New Roman" pitchFamily="18" charset="0"/>
              </a:rPr>
              <a:t>N. Ercil </a:t>
            </a:r>
            <a:r>
              <a:rPr lang="tr-TR" sz="2400" dirty="0" err="1">
                <a:latin typeface="Times New Roman" pitchFamily="18" charset="0"/>
                <a:cs typeface="Times New Roman" pitchFamily="18" charset="0"/>
              </a:rPr>
              <a:t>Çağıltay</a:t>
            </a:r>
            <a:r>
              <a:rPr lang="tr-TR" sz="2400" dirty="0">
                <a:latin typeface="Times New Roman" pitchFamily="18" charset="0"/>
                <a:cs typeface="Times New Roman" pitchFamily="18" charset="0"/>
              </a:rPr>
              <a:t> ve ark., C DERSİ PROGRAMLAMAYA GİRİŞ, Ada Matbaacılık, ANKARA; 2009.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itchFamily="18" charset="0"/>
                <a:cs typeface="Times New Roman" pitchFamily="18" charset="0"/>
              </a:rPr>
              <a:t>Milli Eğitim Bakanlığı "</a:t>
            </a:r>
            <a:r>
              <a:rPr lang="es-ES" sz="2400" dirty="0" err="1">
                <a:latin typeface="Times New Roman" pitchFamily="18" charset="0"/>
                <a:cs typeface="Times New Roman" pitchFamily="18" charset="0"/>
              </a:rPr>
              <a:t>Programlamaya</a:t>
            </a:r>
            <a:r>
              <a:rPr lang="es-E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s-ES" sz="2400" dirty="0" err="1">
                <a:latin typeface="Times New Roman" pitchFamily="18" charset="0"/>
                <a:cs typeface="Times New Roman" pitchFamily="18" charset="0"/>
              </a:rPr>
              <a:t>Giriş</a:t>
            </a:r>
            <a:r>
              <a:rPr lang="es-ES" sz="2400" dirty="0">
                <a:latin typeface="Times New Roman" pitchFamily="18" charset="0"/>
                <a:cs typeface="Times New Roman" pitchFamily="18" charset="0"/>
              </a:rPr>
              <a:t> ve </a:t>
            </a:r>
            <a:r>
              <a:rPr lang="es-ES" sz="2400" dirty="0" err="1">
                <a:latin typeface="Times New Roman" pitchFamily="18" charset="0"/>
                <a:cs typeface="Times New Roman" pitchFamily="18" charset="0"/>
              </a:rPr>
              <a:t>Algoritmalar</a:t>
            </a:r>
            <a:r>
              <a:rPr lang="es-E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s-ES" sz="2400" dirty="0" err="1">
                <a:latin typeface="Times New Roman" pitchFamily="18" charset="0"/>
                <a:cs typeface="Times New Roman" pitchFamily="18" charset="0"/>
              </a:rPr>
              <a:t>Ders</a:t>
            </a:r>
            <a:r>
              <a:rPr lang="es-E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s-ES" sz="2400" dirty="0" err="1">
                <a:latin typeface="Times New Roman" pitchFamily="18" charset="0"/>
                <a:cs typeface="Times New Roman" pitchFamily="18" charset="0"/>
              </a:rPr>
              <a:t>Notları</a:t>
            </a:r>
            <a:r>
              <a:rPr lang="es-ES" sz="2400" dirty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tr-TR" sz="2400" dirty="0">
                <a:latin typeface="Times New Roman" pitchFamily="18" charset="0"/>
                <a:cs typeface="Times New Roman" pitchFamily="18" charset="0"/>
              </a:rPr>
              <a:t>, 2007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itchFamily="18" charset="0"/>
                <a:cs typeface="Times New Roman" pitchFamily="18" charset="0"/>
              </a:rPr>
              <a:t>C Programlama Dili, Şerafettin ARIKAN</a:t>
            </a: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itchFamily="18" charset="0"/>
                <a:cs typeface="Times New Roman" pitchFamily="18" charset="0"/>
              </a:rPr>
              <a:t>Problem </a:t>
            </a:r>
            <a:r>
              <a:rPr lang="tr-TR" sz="2400" dirty="0" err="1">
                <a:latin typeface="Times New Roman" pitchFamily="18" charset="0"/>
                <a:cs typeface="Times New Roman" pitchFamily="18" charset="0"/>
              </a:rPr>
              <a:t>Solving</a:t>
            </a:r>
            <a:r>
              <a:rPr lang="tr-TR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tr-TR" sz="2400" dirty="0" err="1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tr-TR" sz="2400" dirty="0">
                <a:latin typeface="Times New Roman" pitchFamily="18" charset="0"/>
                <a:cs typeface="Times New Roman" pitchFamily="18" charset="0"/>
              </a:rPr>
              <a:t> Program Design in C, </a:t>
            </a:r>
            <a:r>
              <a:rPr lang="tr-TR" sz="2400" dirty="0" err="1">
                <a:latin typeface="Times New Roman" pitchFamily="18" charset="0"/>
                <a:cs typeface="Times New Roman" pitchFamily="18" charset="0"/>
              </a:rPr>
              <a:t>Hanly</a:t>
            </a:r>
            <a:r>
              <a:rPr lang="tr-TR" sz="24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tr-TR" sz="2400" dirty="0" err="1">
                <a:latin typeface="Times New Roman" pitchFamily="18" charset="0"/>
                <a:cs typeface="Times New Roman" pitchFamily="18" charset="0"/>
              </a:rPr>
              <a:t>Koffman</a:t>
            </a:r>
            <a:endParaRPr lang="tr-TR" sz="2400" dirty="0">
              <a:latin typeface="Times New Roman" pitchFamily="18" charset="0"/>
              <a:cs typeface="Times New Roman" pitchFamily="18" charset="0"/>
              <a:hlinkClick r:id="rId3"/>
            </a:endParaRPr>
          </a:p>
          <a:p>
            <a:pPr algn="just">
              <a:buSzPct val="100000"/>
              <a:buFont typeface="Arial" panose="020B0604020202020204" pitchFamily="34" charset="0"/>
              <a:buChar char="•"/>
            </a:pPr>
            <a:r>
              <a:rPr lang="tr-TR" sz="2400" dirty="0">
                <a:latin typeface="Times New Roman" pitchFamily="18" charset="0"/>
                <a:cs typeface="Times New Roman" pitchFamily="18" charset="0"/>
                <a:hlinkClick r:id="rId3"/>
              </a:rPr>
              <a:t>http://www.AlgoritmaveProgramlama.com</a:t>
            </a:r>
            <a:endParaRPr lang="tr-TR" sz="24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tr-TR" sz="2400" dirty="0"/>
          </a:p>
          <a:p>
            <a:pPr marL="0" indent="0" algn="just">
              <a:buSzPct val="100000"/>
              <a:buNone/>
            </a:pPr>
            <a:endParaRPr lang="tr-TR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4208" y="4437112"/>
            <a:ext cx="1943371" cy="743054"/>
          </a:xfrm>
          <a:prstGeom prst="rect">
            <a:avLst/>
          </a:prstGeom>
        </p:spPr>
      </p:pic>
      <p:sp>
        <p:nvSpPr>
          <p:cNvPr id="7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nn-NO"/>
              <a:t>BLM 1002 – Bilgsayar Programlama 1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37676554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389D34F3-C30E-42B3-B3FB-7DE9F1DA43CC}" type="slidenum">
              <a:rPr lang="tr-TR" smtClean="0"/>
              <a:pPr/>
              <a:t>75</a:t>
            </a:fld>
            <a:endParaRPr lang="tr-TR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tr-T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İYİ ÇALIŞMALAR…</a:t>
            </a:r>
          </a:p>
        </p:txBody>
      </p:sp>
      <p:sp>
        <p:nvSpPr>
          <p:cNvPr id="7" name="2 Altbilgi Yer Tutucusu"/>
          <p:cNvSpPr>
            <a:spLocks noGrp="1"/>
          </p:cNvSpPr>
          <p:nvPr>
            <p:ph type="ftr" sz="quarter" idx="11"/>
          </p:nvPr>
        </p:nvSpPr>
        <p:spPr>
          <a:xfrm>
            <a:off x="609600" y="6248207"/>
            <a:ext cx="8156448" cy="347876"/>
          </a:xfrm>
        </p:spPr>
        <p:txBody>
          <a:bodyPr/>
          <a:lstStyle/>
          <a:p>
            <a:pPr algn="ctr"/>
            <a:r>
              <a:rPr lang="nn-NO"/>
              <a:t>BLM 1002 – Bilgsayar Programlama 1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412591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MİNG" val="|0.7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talama">
  <a:themeElements>
    <a:clrScheme name="Cumba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talama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28506</TotalTime>
  <Words>5383</Words>
  <Application>Microsoft Office PowerPoint</Application>
  <PresentationFormat>On-screen Show (4:3)</PresentationFormat>
  <Paragraphs>1298</Paragraphs>
  <Slides>75</Slides>
  <Notes>38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5" baseType="lpstr">
      <vt:lpstr>Adobe Fan Heiti Std B</vt:lpstr>
      <vt:lpstr>Arial</vt:lpstr>
      <vt:lpstr>Calibri</vt:lpstr>
      <vt:lpstr>Courier New</vt:lpstr>
      <vt:lpstr>Tahoma</vt:lpstr>
      <vt:lpstr>Times New Roman</vt:lpstr>
      <vt:lpstr>Tw Cen MT</vt:lpstr>
      <vt:lpstr>Wingdings</vt:lpstr>
      <vt:lpstr>Wingdings 2</vt:lpstr>
      <vt:lpstr>Ortalama</vt:lpstr>
      <vt:lpstr>Bilgisayar Programlama I  </vt:lpstr>
      <vt:lpstr>Genel Bakış…</vt:lpstr>
      <vt:lpstr>PowerPoint Presentation</vt:lpstr>
      <vt:lpstr>İşaretçiler ve Diziler</vt:lpstr>
      <vt:lpstr>İşaretçiler ve Diziler (devam…)</vt:lpstr>
      <vt:lpstr>İşaretçiler ve Diziler (devam…)</vt:lpstr>
      <vt:lpstr>İşaretçiler ve Diziler (devam…)</vt:lpstr>
      <vt:lpstr>İşaretçiler ve Diziler (devam…)</vt:lpstr>
      <vt:lpstr>Örnek1:İşaretçi/Dizi Offset Yazdırma</vt:lpstr>
      <vt:lpstr>Örnek1:İşaretçi/Dizi Offset Yazdırma</vt:lpstr>
      <vt:lpstr>Soru?</vt:lpstr>
      <vt:lpstr>Twin Operators</vt:lpstr>
      <vt:lpstr>Twin Operators</vt:lpstr>
      <vt:lpstr>Örnek</vt:lpstr>
      <vt:lpstr>An Illustration</vt:lpstr>
      <vt:lpstr>An Illustration</vt:lpstr>
      <vt:lpstr>An Illustration</vt:lpstr>
      <vt:lpstr>An Illustration</vt:lpstr>
      <vt:lpstr>An Illustration</vt:lpstr>
      <vt:lpstr>An Illustration</vt:lpstr>
      <vt:lpstr>An Illustration</vt:lpstr>
      <vt:lpstr>An Illustration</vt:lpstr>
      <vt:lpstr>An Illustration</vt:lpstr>
      <vt:lpstr>An Illustration</vt:lpstr>
      <vt:lpstr>Pointer Arithmetic</vt:lpstr>
      <vt:lpstr>Pointer Aritmetiği ve Diziler</vt:lpstr>
      <vt:lpstr>Pointer Arithmetic and Array</vt:lpstr>
      <vt:lpstr>Pointer Arithmetic and Array</vt:lpstr>
      <vt:lpstr>Pointer Arithmetic and Array</vt:lpstr>
      <vt:lpstr>Pointer Arithmetic and Array</vt:lpstr>
      <vt:lpstr>Pointer Arithmetic and Array</vt:lpstr>
      <vt:lpstr>Pointer Arithmetic and Array</vt:lpstr>
      <vt:lpstr>Pointer Arithmetic and Array</vt:lpstr>
      <vt:lpstr>Pointer Arithmetic and Array</vt:lpstr>
      <vt:lpstr>Pointer Arithmetic and Array</vt:lpstr>
      <vt:lpstr>Örnek2:Ortalama Bul</vt:lpstr>
      <vt:lpstr>Örnek2:Ortalama Bul</vt:lpstr>
      <vt:lpstr>Fonksiyon Parametresi Olan İşaretçiler</vt:lpstr>
      <vt:lpstr>Fonksiyon Parametresi Olan İşaretçiler (devam…)</vt:lpstr>
      <vt:lpstr>Örnek3: İşaretçi Olan Fonksiyon Parametresi</vt:lpstr>
      <vt:lpstr>Örnek3: İşaretçi Olan Fonksiyon Parametresi (devam…)</vt:lpstr>
      <vt:lpstr>Örnek3: İşaretçi Olan Fonksiyon Parametresi (devam…)</vt:lpstr>
      <vt:lpstr>Örnek3: İşaretçi Olan Fonksiyon Parametresi (devam…)</vt:lpstr>
      <vt:lpstr>İşaretçiler Kullanılarak Takas (Swap)</vt:lpstr>
      <vt:lpstr>İşaretçiler Kullanılarak Takas (Swap)</vt:lpstr>
      <vt:lpstr>Örnek4: İşaretçiler Kullanılarak Takas (Swap)</vt:lpstr>
      <vt:lpstr>Örnek4: İşaretçiler Kullanılarak Takas (Swap)</vt:lpstr>
      <vt:lpstr>Fonksiyon Geri Dönüş Değeri Olan İşaretçiler</vt:lpstr>
      <vt:lpstr>Örnek: Fonksiyon Geri Dönüş Değeri Olan İşaretçiler - BüyükBul</vt:lpstr>
      <vt:lpstr>Örnek: Fonksiyon Geri Dönüş Değeri Olan İşaretçiler - BüyükBul</vt:lpstr>
      <vt:lpstr>Örnek: Fonksiyon Geri Dönüş Değeri Olan İşaretçiler - MaximumAdres</vt:lpstr>
      <vt:lpstr>Örnek: Fonksiyon Geri Dönüş Değeri Olan İşaretçiler - MaximumAdres</vt:lpstr>
      <vt:lpstr>Örnek: Fonksiyon Geri Dönüş Değeri Olan İşaretçiler - MaximumAdres</vt:lpstr>
      <vt:lpstr>Pointer adresini değiştirme</vt:lpstr>
      <vt:lpstr>Sonuc????</vt:lpstr>
      <vt:lpstr>Pointer to Pointer</vt:lpstr>
      <vt:lpstr>Çözüm:! pointer to pointer,  Tanımlama  :   **h</vt:lpstr>
      <vt:lpstr>Toplam Doğru Sonuç Verir Mi? </vt:lpstr>
      <vt:lpstr>Dinamik Hafıza Tahsisi</vt:lpstr>
      <vt:lpstr> </vt:lpstr>
      <vt:lpstr>Malloc</vt:lpstr>
      <vt:lpstr>PowerPoint Presentation</vt:lpstr>
      <vt:lpstr>PowerPoint Presentation</vt:lpstr>
      <vt:lpstr>Fonksiyon İşaretçileri</vt:lpstr>
      <vt:lpstr>PowerPoint Presentation</vt:lpstr>
      <vt:lpstr>Fonksiyonları Gösteren Göstericiler</vt:lpstr>
      <vt:lpstr>Fonksiyon İşaretçileri (devam…)</vt:lpstr>
      <vt:lpstr>Örnek: Fonksiyon İşaretçileri</vt:lpstr>
      <vt:lpstr>PowerPoint Presentation</vt:lpstr>
      <vt:lpstr>Gösterici Dizileri</vt:lpstr>
      <vt:lpstr>Struct ve İşaretçiler</vt:lpstr>
      <vt:lpstr>Örnek: Struct ve İşaretçiler</vt:lpstr>
      <vt:lpstr>Örnek: Struct ve İşaretçiler</vt:lpstr>
      <vt:lpstr>KAYNAKLAR</vt:lpstr>
      <vt:lpstr>PowerPoint Presentation</vt:lpstr>
    </vt:vector>
  </TitlesOfParts>
  <Company>Maltepe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YAZILIM KALİTESİ  (Concepts of Programming Languages)  Öğr. Gör. Fatih YÜCALAR fatihy@maltepe.edu.tr</dc:title>
  <dc:creator>Fatih Yücalar</dc:creator>
  <cp:lastModifiedBy>Anil Bas</cp:lastModifiedBy>
  <cp:revision>861</cp:revision>
  <dcterms:created xsi:type="dcterms:W3CDTF">2009-02-19T19:45:44Z</dcterms:created>
  <dcterms:modified xsi:type="dcterms:W3CDTF">2026-03-01T08:36:02Z</dcterms:modified>
</cp:coreProperties>
</file>