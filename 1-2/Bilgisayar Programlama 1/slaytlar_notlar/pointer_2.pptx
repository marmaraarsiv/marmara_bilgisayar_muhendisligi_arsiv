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40"/>
  </p:notesMasterIdLst>
  <p:sldIdLst>
    <p:sldId id="256" r:id="rId2"/>
    <p:sldId id="258" r:id="rId3"/>
    <p:sldId id="259" r:id="rId4"/>
    <p:sldId id="260" r:id="rId5"/>
    <p:sldId id="263" r:id="rId6"/>
    <p:sldId id="264" r:id="rId7"/>
    <p:sldId id="265" r:id="rId8"/>
    <p:sldId id="266" r:id="rId9"/>
    <p:sldId id="267" r:id="rId10"/>
    <p:sldId id="268" r:id="rId11"/>
    <p:sldId id="269" r:id="rId12"/>
    <p:sldId id="270" r:id="rId13"/>
    <p:sldId id="291" r:id="rId14"/>
    <p:sldId id="292" r:id="rId15"/>
    <p:sldId id="272" r:id="rId16"/>
    <p:sldId id="294" r:id="rId17"/>
    <p:sldId id="290" r:id="rId18"/>
    <p:sldId id="276" r:id="rId19"/>
    <p:sldId id="277" r:id="rId20"/>
    <p:sldId id="279" r:id="rId21"/>
    <p:sldId id="280" r:id="rId22"/>
    <p:sldId id="281" r:id="rId23"/>
    <p:sldId id="283" r:id="rId24"/>
    <p:sldId id="284" r:id="rId25"/>
    <p:sldId id="295" r:id="rId26"/>
    <p:sldId id="296" r:id="rId27"/>
    <p:sldId id="298" r:id="rId28"/>
    <p:sldId id="297" r:id="rId29"/>
    <p:sldId id="285" r:id="rId30"/>
    <p:sldId id="293" r:id="rId31"/>
    <p:sldId id="286" r:id="rId32"/>
    <p:sldId id="287" r:id="rId33"/>
    <p:sldId id="288" r:id="rId34"/>
    <p:sldId id="289" r:id="rId35"/>
    <p:sldId id="274" r:id="rId36"/>
    <p:sldId id="275" r:id="rId37"/>
    <p:sldId id="261" r:id="rId38"/>
    <p:sldId id="262"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1280" units="cm"/>
          <inkml:channel name="Y" type="integer" max="800" units="cm"/>
        </inkml:traceFormat>
        <inkml:channelProperties>
          <inkml:channelProperty channel="X" name="resolution" value="28.31858" units="1/cm"/>
          <inkml:channelProperty channel="Y" name="resolution" value="28.36879" units="1/cm"/>
        </inkml:channelProperties>
      </inkml:inkSource>
      <inkml:timestamp xml:id="ts0" timeString="2008-09-07T05:18:15.98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3F592-C0D3-46F2-A013-2BDB57FCFB6D}" type="datetimeFigureOut">
              <a:rPr lang="tr-TR" smtClean="0"/>
              <a:t>13.12.2021</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C7F8D0-47F0-48AE-BBDE-89A593E735B6}" type="slidenum">
              <a:rPr lang="tr-TR" smtClean="0"/>
              <a:t>‹#›</a:t>
            </a:fld>
            <a:endParaRPr lang="tr-TR"/>
          </a:p>
        </p:txBody>
      </p:sp>
    </p:spTree>
    <p:extLst>
      <p:ext uri="{BB962C8B-B14F-4D97-AF65-F5344CB8AC3E}">
        <p14:creationId xmlns:p14="http://schemas.microsoft.com/office/powerpoint/2010/main" val="2978036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629F60B2-7241-4622-A19F-91E7E5B8DBCA}" type="slidenum">
              <a:rPr lang="en-US" altLang="en-US"/>
              <a:pPr eaLnBrk="1" hangingPunct="1">
                <a:spcBef>
                  <a:spcPct val="0"/>
                </a:spcBef>
              </a:pPr>
              <a:t>18</a:t>
            </a:fld>
            <a:endParaRPr lang="en-US" alt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r>
              <a:rPr lang="en-US" altLang="en-US" smtClean="0">
                <a:latin typeface="Times New Roman" panose="02020603050405020304" pitchFamily="18" charset="0"/>
              </a:rPr>
              <a:t>What happens when you try to dereference p+1?  That is, int *p = &amp;x; followed by *(p+1) ???</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It depends on what is stored next in memory.  The location (p+1) is not 1 byte + the location of p, but instead  byte p + n where n is the size of the datum that p points to (4 bytes for an int or a float, 8 bytes for a double or long, 1 byte for char, 2 bytes for a short).  Lets consider the following code:</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int x=1, y=10, z=100;</a:t>
            </a:r>
          </a:p>
          <a:p>
            <a:pPr eaLnBrk="1" hangingPunct="1"/>
            <a:r>
              <a:rPr lang="en-US" altLang="en-US" smtClean="0">
                <a:latin typeface="Times New Roman" panose="02020603050405020304" pitchFamily="18" charset="0"/>
              </a:rPr>
              <a:t>int *p = &amp;x;	// p now points at x</a:t>
            </a:r>
          </a:p>
          <a:p>
            <a:pPr eaLnBrk="1" hangingPunct="1"/>
            <a:r>
              <a:rPr lang="en-US" altLang="en-US" smtClean="0">
                <a:latin typeface="Times New Roman" panose="02020603050405020304" pitchFamily="18" charset="0"/>
              </a:rPr>
              <a:t>printf(“%d %d %d\n”, *p, *(p+1), *(p+2));</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This will probably about 1 10 100.  Why?  The compiler will usually place local variables in contiguous blocks of memory.  So *p points at x but *(p+1) will probably point at y (but not definitely) and *(p+2) will point at z.  So notice that *(p+2) is perfectly legal syntactically and may execute without error.  If you are wrong with this assumption, or careless, then you will get a run-time error because you have tried to dereference an area of memory that is either not your own, or not a variable (it is possible that you are dereferencing code, which is not legal).</a:t>
            </a:r>
          </a:p>
        </p:txBody>
      </p:sp>
    </p:spTree>
    <p:extLst>
      <p:ext uri="{BB962C8B-B14F-4D97-AF65-F5344CB8AC3E}">
        <p14:creationId xmlns:p14="http://schemas.microsoft.com/office/powerpoint/2010/main" val="501491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3F6F0397-0873-4E96-8B50-8D137B1D5A79}" type="slidenum">
              <a:rPr lang="en-US" altLang="en-US"/>
              <a:pPr eaLnBrk="1" hangingPunct="1">
                <a:spcBef>
                  <a:spcPct val="0"/>
                </a:spcBef>
              </a:pPr>
              <a:t>19</a:t>
            </a:fld>
            <a:endParaRPr lang="en-US" alt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990394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1A8D6B93-5808-401E-9E27-87405618234E}" type="slidenum">
              <a:rPr lang="en-US" altLang="en-US"/>
              <a:pPr eaLnBrk="1" hangingPunct="1">
                <a:spcBef>
                  <a:spcPct val="0"/>
                </a:spcBef>
              </a:pPr>
              <a:t>20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r>
              <a:rPr lang="en-US" altLang="en-US" smtClean="0">
                <a:latin typeface="Times New Roman" panose="02020603050405020304" pitchFamily="18" charset="0"/>
              </a:rPr>
              <a:t>Do the following:</a:t>
            </a:r>
          </a:p>
          <a:p>
            <a:pPr eaLnBrk="1" hangingPunct="1"/>
            <a:r>
              <a:rPr lang="en-US" altLang="en-US" smtClean="0">
                <a:latin typeface="Times New Roman" panose="02020603050405020304" pitchFamily="18" charset="0"/>
              </a:rPr>
              <a:t>      int a[ ] = {1, 5};</a:t>
            </a:r>
          </a:p>
          <a:p>
            <a:pPr eaLnBrk="1" hangingPunct="1"/>
            <a:r>
              <a:rPr lang="en-US" altLang="en-US" smtClean="0">
                <a:latin typeface="Times New Roman" panose="02020603050405020304" pitchFamily="18" charset="0"/>
              </a:rPr>
              <a:t>      int *p = a;</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     p = a;</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    p = a;</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And see what you get.  Which of these increment p vs increment *p?  *p++, ++*p, *++p???  Using *p++ is dangerous unless you are clear in what you are doing.</a:t>
            </a:r>
          </a:p>
        </p:txBody>
      </p:sp>
    </p:spTree>
    <p:extLst>
      <p:ext uri="{BB962C8B-B14F-4D97-AF65-F5344CB8AC3E}">
        <p14:creationId xmlns:p14="http://schemas.microsoft.com/office/powerpoint/2010/main" val="1838641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59DF29E2-6B6C-4403-95EB-460B961CA152}" type="slidenum">
              <a:rPr lang="en-US" altLang="en-US"/>
              <a:pPr eaLnBrk="1" hangingPunct="1">
                <a:spcBef>
                  <a:spcPct val="0"/>
                </a:spcBef>
              </a:pPr>
              <a:t>21</a:t>
            </a:fld>
            <a:endParaRPr lang="en-US" alt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366886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28932E14-9007-4B8E-8D3E-47B778442FDB}" type="slidenum">
              <a:rPr lang="en-US" altLang="en-US"/>
              <a:pPr eaLnBrk="1" hangingPunct="1">
                <a:spcBef>
                  <a:spcPct val="0"/>
                </a:spcBef>
              </a:pPr>
              <a:t>22</a:t>
            </a:fld>
            <a:endParaRPr lang="en-US" alt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p:spPr>
        <p:txBody>
          <a:bodyPr/>
          <a:lstStyle/>
          <a:p>
            <a:pPr eaLnBrk="1" hangingPunct="1"/>
            <a:r>
              <a:rPr lang="en-US" altLang="en-US" smtClean="0">
                <a:latin typeface="Times New Roman" panose="02020603050405020304" pitchFamily="18" charset="0"/>
              </a:rPr>
              <a:t>NOTE:  if you do char *string, then string is a pointer variable that currently is not pointing anywhere.  If you were to do</a:t>
            </a:r>
          </a:p>
          <a:p>
            <a:pPr eaLnBrk="1" hangingPunct="1"/>
            <a:r>
              <a:rPr lang="en-US" altLang="en-US" smtClean="0">
                <a:latin typeface="Times New Roman" panose="02020603050405020304" pitchFamily="18" charset="0"/>
              </a:rPr>
              <a:t>      string=“hello”;     or</a:t>
            </a:r>
          </a:p>
          <a:p>
            <a:pPr eaLnBrk="1" hangingPunct="1"/>
            <a:r>
              <a:rPr lang="en-US" altLang="en-US" smtClean="0">
                <a:latin typeface="Times New Roman" panose="02020603050405020304" pitchFamily="18" charset="0"/>
              </a:rPr>
              <a:t>      char(“%s”, string);</a:t>
            </a:r>
          </a:p>
          <a:p>
            <a:pPr eaLnBrk="1" hangingPunct="1"/>
            <a:r>
              <a:rPr lang="en-US" altLang="en-US" smtClean="0">
                <a:latin typeface="Times New Roman" panose="02020603050405020304" pitchFamily="18" charset="0"/>
              </a:rPr>
              <a:t>You would have a run-time error because string does not have allocated memory (yet).  You could, however, do this:</a:t>
            </a:r>
          </a:p>
          <a:p>
            <a:pPr eaLnBrk="1" hangingPunct="1"/>
            <a:r>
              <a:rPr lang="en-US" altLang="en-US" smtClean="0">
                <a:latin typeface="Times New Roman" panose="02020603050405020304" pitchFamily="18" charset="0"/>
              </a:rPr>
              <a:t>       char s[10];</a:t>
            </a:r>
          </a:p>
          <a:p>
            <a:pPr eaLnBrk="1" hangingPunct="1"/>
            <a:r>
              <a:rPr lang="en-US" altLang="en-US" smtClean="0">
                <a:latin typeface="Times New Roman" panose="02020603050405020304" pitchFamily="18" charset="0"/>
              </a:rPr>
              <a:t>       …</a:t>
            </a:r>
          </a:p>
          <a:p>
            <a:pPr eaLnBrk="1" hangingPunct="1"/>
            <a:r>
              <a:rPr lang="en-US" altLang="en-US" smtClean="0">
                <a:latin typeface="Times New Roman" panose="02020603050405020304" pitchFamily="18" charset="0"/>
              </a:rPr>
              <a:t>       string = s;</a:t>
            </a:r>
          </a:p>
          <a:p>
            <a:pPr eaLnBrk="1" hangingPunct="1"/>
            <a:r>
              <a:rPr lang="en-US" altLang="en-US" smtClean="0">
                <a:latin typeface="Times New Roman" panose="02020603050405020304" pitchFamily="18" charset="0"/>
              </a:rPr>
              <a:t>The variable string is merely a pointer whereas s is an array.  string, prior to doing string=s had nothing to point to and therefore could not be operated upon.  s on the other hand was allocated memory when s was created.</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We learn how to allocate memory for strings in C chapter 6 by using calloc.  For now, just use arrays to declare strings.</a:t>
            </a:r>
          </a:p>
        </p:txBody>
      </p:sp>
    </p:spTree>
    <p:extLst>
      <p:ext uri="{BB962C8B-B14F-4D97-AF65-F5344CB8AC3E}">
        <p14:creationId xmlns:p14="http://schemas.microsoft.com/office/powerpoint/2010/main" val="931723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13614BF5-BA12-4352-879B-55906017C5D7}" type="slidenum">
              <a:rPr lang="en-US" altLang="en-US"/>
              <a:pPr eaLnBrk="1" hangingPunct="1">
                <a:spcBef>
                  <a:spcPct val="0"/>
                </a:spcBef>
              </a:pPr>
              <a:t>23</a:t>
            </a:fld>
            <a:endParaRPr lang="en-US" alt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062236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A4A4BE87-2C5A-4BCD-ADE8-C96B5050F948}" type="slidenum">
              <a:rPr lang="en-US" altLang="en-US"/>
              <a:pPr eaLnBrk="1" hangingPunct="1">
                <a:spcBef>
                  <a:spcPct val="0"/>
                </a:spcBef>
              </a:pPr>
              <a:t>24</a:t>
            </a:fld>
            <a:endParaRPr lang="en-US"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r>
              <a:rPr lang="en-US" altLang="en-US" smtClean="0">
                <a:latin typeface="Times New Roman" panose="02020603050405020304" pitchFamily="18" charset="0"/>
              </a:rPr>
              <a:t>We discuss mapping functions in CSC 507, but here is a bit of information.  The compiler sets up a mapping function so that the array access</a:t>
            </a:r>
          </a:p>
          <a:p>
            <a:pPr eaLnBrk="1" hangingPunct="1"/>
            <a:r>
              <a:rPr lang="en-US" altLang="en-US" smtClean="0">
                <a:latin typeface="Times New Roman" panose="02020603050405020304" pitchFamily="18" charset="0"/>
              </a:rPr>
              <a:t>     a[i]   or b[i][j]  </a:t>
            </a:r>
          </a:p>
          <a:p>
            <a:pPr eaLnBrk="1" hangingPunct="1"/>
            <a:r>
              <a:rPr lang="en-US" altLang="en-US" smtClean="0">
                <a:latin typeface="Times New Roman" panose="02020603050405020304" pitchFamily="18" charset="0"/>
              </a:rPr>
              <a:t>Can be translated into a memory location.  This makes array accesses efficient.  Without a mapping function, the actual memory location for an array reference like b[i][j] would have to be determined at run-time.  </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Usually, computing a mapping function is straight-forward for a compiler.  But because a C function might be in a file that does not include the array’s declaration, the compiler still must know what the array’s dimensions are to set up the mapping function.  The only dimension not necessary is the number of rows (the first dimension).  Therefore, the following are required in either a prototype that defines a function, or in the array’s header:</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int a[ ]	// one dimension, no other values needed</a:t>
            </a:r>
          </a:p>
          <a:p>
            <a:pPr eaLnBrk="1" hangingPunct="1"/>
            <a:r>
              <a:rPr lang="en-US" altLang="en-US" smtClean="0">
                <a:latin typeface="Times New Roman" panose="02020603050405020304" pitchFamily="18" charset="0"/>
              </a:rPr>
              <a:t>int b[ ][10] 	// two dimensions, number of rows not needed</a:t>
            </a:r>
          </a:p>
          <a:p>
            <a:pPr eaLnBrk="1" hangingPunct="1"/>
            <a:r>
              <a:rPr lang="en-US" altLang="en-US" smtClean="0">
                <a:latin typeface="Times New Roman" panose="02020603050405020304" pitchFamily="18" charset="0"/>
              </a:rPr>
              <a:t>int c[ ][10][20][30]  // four dimensions, number of rows not needed</a:t>
            </a:r>
          </a:p>
        </p:txBody>
      </p:sp>
    </p:spTree>
    <p:extLst>
      <p:ext uri="{BB962C8B-B14F-4D97-AF65-F5344CB8AC3E}">
        <p14:creationId xmlns:p14="http://schemas.microsoft.com/office/powerpoint/2010/main" val="3067030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
        <p:nvSpPr>
          <p:cNvPr id="3072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89EA064E-92A9-4504-8B9C-3BA1768DA8D2}" type="slidenum">
              <a:rPr lang="en-US" altLang="en-US"/>
              <a:pPr eaLnBrk="1" hangingPunct="1">
                <a:spcBef>
                  <a:spcPct val="0"/>
                </a:spcBef>
              </a:pPr>
              <a:t>29</a:t>
            </a:fld>
            <a:endParaRPr lang="en-US" altLang="en-US"/>
          </a:p>
        </p:txBody>
      </p:sp>
    </p:spTree>
    <p:extLst>
      <p:ext uri="{BB962C8B-B14F-4D97-AF65-F5344CB8AC3E}">
        <p14:creationId xmlns:p14="http://schemas.microsoft.com/office/powerpoint/2010/main" val="2111137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843B3B35-C2B4-4D34-ADA8-A478E5DA87C0}" type="slidenum">
              <a:rPr lang="en-US" altLang="en-US"/>
              <a:pPr eaLnBrk="1" hangingPunct="1">
                <a:spcBef>
                  <a:spcPct val="0"/>
                </a:spcBef>
              </a:pPr>
              <a:t>31</a:t>
            </a:fld>
            <a:endParaRPr lang="en-US" alt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690365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F5CBCA73-DF7E-4BEC-9ACA-8553C8283DA4}" type="slidenum">
              <a:rPr lang="en-US" altLang="en-US"/>
              <a:pPr eaLnBrk="1" hangingPunct="1">
                <a:spcBef>
                  <a:spcPct val="0"/>
                </a:spcBef>
              </a:pPr>
              <a:t>32</a:t>
            </a:fld>
            <a:endParaRPr lang="en-US" alt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882762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F1727FC5-9469-4C9D-BBB4-95508B698C15}" type="slidenum">
              <a:rPr lang="en-US" altLang="en-US"/>
              <a:pPr eaLnBrk="1" hangingPunct="1">
                <a:spcBef>
                  <a:spcPct val="0"/>
                </a:spcBef>
              </a:pPr>
              <a:t>33</a:t>
            </a:fld>
            <a:endParaRPr lang="en-US" alt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eaLnBrk="1" hangingPunct="1"/>
            <a:r>
              <a:rPr lang="en-US" altLang="en-US" smtClean="0">
                <a:latin typeface="Times New Roman" panose="02020603050405020304" pitchFamily="18" charset="0"/>
              </a:rPr>
              <a:t>The reason that the compiler must “know” about the array dimensions is to set up a mapping function.  A mapping function is generated by the compiler so that, at run time, the operation a[i][j] can be converted into a memory location access easily.  The mapping function for an array of N rows and M columns looks like this in C:</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a[i][j] = OFFSET + i * M + j</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Where OFFSET is the starting location for a.  See if you can figure out why the formula is as it is.  But notice that while we need to know M (number of columns), we don’t need N (number of rows).  Therefore, when you pass the array to a function, you must specify the number of columns but not the number of rows.</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We study this in more detail in CSC 507.</a:t>
            </a:r>
          </a:p>
        </p:txBody>
      </p:sp>
    </p:spTree>
    <p:extLst>
      <p:ext uri="{BB962C8B-B14F-4D97-AF65-F5344CB8AC3E}">
        <p14:creationId xmlns:p14="http://schemas.microsoft.com/office/powerpoint/2010/main" val="1287081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DCA2BFB2-10D7-4A73-99B6-5B7DB42AD1A3}" type="slidenum">
              <a:rPr lang="en-US" altLang="en-US"/>
              <a:pPr eaLnBrk="1" hangingPunct="1">
                <a:spcBef>
                  <a:spcPct val="0"/>
                </a:spcBef>
              </a:pPr>
              <a:t>34</a:t>
            </a:fld>
            <a:endParaRPr lang="en-US"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73872800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smtClean="0"/>
              <a:t>Asıl alt başlık stilini düzenlemek için tıklayın</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12/13/2021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12/13/2021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tr-TR" smtClean="0"/>
              <a:t>Asıl başlık stili için tıklatın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12/13/2021</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12/13/2021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smtClean="0"/>
              <a:t>Asıl başlık stili için tıklatın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12/13/2021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12/13/2021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12/13/2021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tr-TR" smtClean="0"/>
              <a:t>Asıl başlık stili için tıklatın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DA16AA21-1863-4931-97CB-99D0A168701B}" type="datetimeFigureOut">
              <a:rPr lang="en-US" dirty="0"/>
              <a:t>12/13/2021</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tr-TR" smtClean="0"/>
              <a:t>Asıl başlık stili için tıklatın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3772C379-9A7C-4C87-A116-CBE9F58B04C5}" type="datetimeFigureOut">
              <a:rPr lang="en-US" dirty="0"/>
              <a:t>12/13/2021</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12/13/2021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12/13/2021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12/13/2021</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err="1" smtClean="0"/>
              <a:t>poInter</a:t>
            </a:r>
            <a:r>
              <a:rPr lang="tr-TR" dirty="0" smtClean="0"/>
              <a:t> ve </a:t>
            </a:r>
            <a:r>
              <a:rPr lang="tr-TR" dirty="0" err="1" smtClean="0"/>
              <a:t>array</a:t>
            </a:r>
            <a:endParaRPr lang="tr-TR" dirty="0"/>
          </a:p>
        </p:txBody>
      </p:sp>
      <p:sp>
        <p:nvSpPr>
          <p:cNvPr id="3" name="Alt Başlık 2"/>
          <p:cNvSpPr>
            <a:spLocks noGrp="1"/>
          </p:cNvSpPr>
          <p:nvPr>
            <p:ph type="subTitle" idx="1"/>
          </p:nvPr>
        </p:nvSpPr>
        <p:spPr/>
        <p:txBody>
          <a:bodyPr/>
          <a:lstStyle/>
          <a:p>
            <a:endParaRPr lang="tr-TR"/>
          </a:p>
        </p:txBody>
      </p:sp>
    </p:spTree>
    <p:extLst>
      <p:ext uri="{BB962C8B-B14F-4D97-AF65-F5344CB8AC3E}">
        <p14:creationId xmlns:p14="http://schemas.microsoft.com/office/powerpoint/2010/main" val="3301927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endParaRPr lang="tr-TR"/>
          </a:p>
        </p:txBody>
      </p:sp>
      <p:pic>
        <p:nvPicPr>
          <p:cNvPr id="4" name="Resim 3"/>
          <p:cNvPicPr>
            <a:picLocks noChangeAspect="1"/>
          </p:cNvPicPr>
          <p:nvPr/>
        </p:nvPicPr>
        <p:blipFill>
          <a:blip r:embed="rId2"/>
          <a:stretch>
            <a:fillRect/>
          </a:stretch>
        </p:blipFill>
        <p:spPr>
          <a:xfrm>
            <a:off x="781309" y="0"/>
            <a:ext cx="8143875" cy="5553075"/>
          </a:xfrm>
          <a:prstGeom prst="rect">
            <a:avLst/>
          </a:prstGeom>
        </p:spPr>
      </p:pic>
    </p:spTree>
    <p:extLst>
      <p:ext uri="{BB962C8B-B14F-4D97-AF65-F5344CB8AC3E}">
        <p14:creationId xmlns:p14="http://schemas.microsoft.com/office/powerpoint/2010/main" val="37939236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endParaRPr lang="tr-TR"/>
          </a:p>
        </p:txBody>
      </p:sp>
      <p:pic>
        <p:nvPicPr>
          <p:cNvPr id="4" name="Resim 3"/>
          <p:cNvPicPr>
            <a:picLocks noChangeAspect="1"/>
          </p:cNvPicPr>
          <p:nvPr/>
        </p:nvPicPr>
        <p:blipFill>
          <a:blip r:embed="rId2"/>
          <a:stretch>
            <a:fillRect/>
          </a:stretch>
        </p:blipFill>
        <p:spPr>
          <a:xfrm>
            <a:off x="1263535" y="1174951"/>
            <a:ext cx="7110239" cy="4336224"/>
          </a:xfrm>
          <a:prstGeom prst="rect">
            <a:avLst/>
          </a:prstGeom>
        </p:spPr>
      </p:pic>
    </p:spTree>
    <p:extLst>
      <p:ext uri="{BB962C8B-B14F-4D97-AF65-F5344CB8AC3E}">
        <p14:creationId xmlns:p14="http://schemas.microsoft.com/office/powerpoint/2010/main" val="39638121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endParaRPr lang="tr-TR"/>
          </a:p>
        </p:txBody>
      </p:sp>
      <p:pic>
        <p:nvPicPr>
          <p:cNvPr id="4" name="Resim 3"/>
          <p:cNvPicPr>
            <a:picLocks noChangeAspect="1"/>
          </p:cNvPicPr>
          <p:nvPr/>
        </p:nvPicPr>
        <p:blipFill>
          <a:blip r:embed="rId2"/>
          <a:stretch>
            <a:fillRect/>
          </a:stretch>
        </p:blipFill>
        <p:spPr>
          <a:xfrm>
            <a:off x="988481" y="989526"/>
            <a:ext cx="8469181" cy="4014736"/>
          </a:xfrm>
          <a:prstGeom prst="rect">
            <a:avLst/>
          </a:prstGeom>
        </p:spPr>
      </p:pic>
    </p:spTree>
    <p:extLst>
      <p:ext uri="{BB962C8B-B14F-4D97-AF65-F5344CB8AC3E}">
        <p14:creationId xmlns:p14="http://schemas.microsoft.com/office/powerpoint/2010/main" val="20391417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ltLang="tr-TR" smtClean="0"/>
              <a:t>Arrays</a:t>
            </a:r>
          </a:p>
        </p:txBody>
      </p:sp>
      <p:sp>
        <p:nvSpPr>
          <p:cNvPr id="3" name="Content Placeholder 2"/>
          <p:cNvSpPr>
            <a:spLocks noGrp="1"/>
          </p:cNvSpPr>
          <p:nvPr>
            <p:ph idx="1"/>
          </p:nvPr>
        </p:nvSpPr>
        <p:spPr/>
        <p:txBody>
          <a:bodyPr/>
          <a:lstStyle/>
          <a:p>
            <a:r>
              <a:rPr lang="en-US" altLang="tr-TR" smtClean="0"/>
              <a:t>An Array is a collection of variables of the same type that are referred to through a common name.</a:t>
            </a:r>
          </a:p>
          <a:p>
            <a:r>
              <a:rPr lang="en-US" altLang="tr-TR" smtClean="0"/>
              <a:t>Declaration</a:t>
            </a:r>
          </a:p>
          <a:p>
            <a:pPr lvl="1">
              <a:buFont typeface="Arial" panose="020B0604020202020204" pitchFamily="34" charset="0"/>
              <a:buNone/>
            </a:pPr>
            <a:r>
              <a:rPr lang="en-US" altLang="tr-TR" smtClean="0"/>
              <a:t>type var_name[size]</a:t>
            </a:r>
          </a:p>
          <a:p>
            <a:pPr lvl="1">
              <a:buFont typeface="Arial" panose="020B0604020202020204" pitchFamily="34" charset="0"/>
              <a:buNone/>
            </a:pPr>
            <a:endParaRPr lang="en-US" altLang="tr-TR" smtClean="0"/>
          </a:p>
          <a:p>
            <a:pPr lvl="1">
              <a:buFont typeface="Arial" panose="020B0604020202020204" pitchFamily="34" charset="0"/>
              <a:buNone/>
            </a:pPr>
            <a:r>
              <a:rPr lang="en-US" altLang="tr-TR" smtClean="0"/>
              <a:t>e.g 	</a:t>
            </a:r>
          </a:p>
        </p:txBody>
      </p:sp>
      <p:sp>
        <p:nvSpPr>
          <p:cNvPr id="4" name="Footer Placeholder 3"/>
          <p:cNvSpPr>
            <a:spLocks noGrp="1"/>
          </p:cNvSpPr>
          <p:nvPr>
            <p:ph type="ftr" sz="quarter" idx="11"/>
          </p:nvPr>
        </p:nvSpPr>
        <p:spPr/>
        <p:txBody>
          <a:bodyPr/>
          <a:lstStyle/>
          <a:p>
            <a:pPr>
              <a:defRPr/>
            </a:pPr>
            <a:r>
              <a:rPr lang="en-US"/>
              <a:t>C Course, Programming club, Fall 2008</a:t>
            </a:r>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2CDBD9C-1371-44F2-897A-DDF75154D45E}" type="slidenum">
              <a:rPr lang="en-US" altLang="tr-TR">
                <a:solidFill>
                  <a:srgbClr val="898989"/>
                </a:solidFill>
              </a:rPr>
              <a:pPr/>
              <a:t>5</a:t>
            </a:fld>
            <a:endParaRPr lang="en-US" altLang="tr-TR">
              <a:solidFill>
                <a:srgbClr val="898989"/>
              </a:solidFill>
            </a:endParaRPr>
          </a:p>
        </p:txBody>
      </p:sp>
      <p:sp>
        <p:nvSpPr>
          <p:cNvPr id="6" name="TextBox 5"/>
          <p:cNvSpPr txBox="1">
            <a:spLocks noChangeArrowheads="1"/>
          </p:cNvSpPr>
          <p:nvPr/>
        </p:nvSpPr>
        <p:spPr bwMode="auto">
          <a:xfrm>
            <a:off x="3962401" y="4953001"/>
            <a:ext cx="2600325" cy="64611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int A[6];</a:t>
            </a:r>
          </a:p>
          <a:p>
            <a:r>
              <a:rPr lang="en-US" altLang="tr-TR"/>
              <a:t>double d[15];</a:t>
            </a:r>
          </a:p>
        </p:txBody>
      </p:sp>
    </p:spTree>
    <p:extLst>
      <p:ext uri="{BB962C8B-B14F-4D97-AF65-F5344CB8AC3E}">
        <p14:creationId xmlns:p14="http://schemas.microsoft.com/office/powerpoint/2010/main" val="11056325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tr-TR" smtClean="0"/>
              <a:t>Array Initialization</a:t>
            </a:r>
          </a:p>
        </p:txBody>
      </p:sp>
      <p:sp>
        <p:nvSpPr>
          <p:cNvPr id="3" name="Content Placeholder 2"/>
          <p:cNvSpPr>
            <a:spLocks noGrp="1"/>
          </p:cNvSpPr>
          <p:nvPr>
            <p:ph idx="1"/>
          </p:nvPr>
        </p:nvSpPr>
        <p:spPr/>
        <p:txBody>
          <a:bodyPr/>
          <a:lstStyle/>
          <a:p>
            <a:pPr>
              <a:buFont typeface="Arial" panose="020B0604020202020204" pitchFamily="34" charset="0"/>
              <a:buNone/>
            </a:pPr>
            <a:r>
              <a:rPr lang="en-US" altLang="tr-TR" dirty="0" smtClean="0"/>
              <a:t>After declaration, array contains some garbage value.</a:t>
            </a:r>
          </a:p>
          <a:p>
            <a:pPr>
              <a:buFont typeface="Arial" panose="020B0604020202020204" pitchFamily="34" charset="0"/>
              <a:buNone/>
            </a:pPr>
            <a:endParaRPr lang="en-US" altLang="tr-TR" dirty="0" smtClean="0"/>
          </a:p>
          <a:p>
            <a:pPr>
              <a:buFont typeface="Arial" panose="020B0604020202020204" pitchFamily="34" charset="0"/>
              <a:buNone/>
            </a:pPr>
            <a:r>
              <a:rPr lang="en-US" altLang="tr-TR" dirty="0" smtClean="0"/>
              <a:t>Static initialization</a:t>
            </a:r>
          </a:p>
          <a:p>
            <a:pPr>
              <a:buFont typeface="Arial" panose="020B0604020202020204" pitchFamily="34" charset="0"/>
              <a:buNone/>
            </a:pPr>
            <a:endParaRPr lang="en-US" altLang="tr-TR" dirty="0" smtClean="0"/>
          </a:p>
          <a:p>
            <a:pPr>
              <a:buFont typeface="Arial" panose="020B0604020202020204" pitchFamily="34" charset="0"/>
              <a:buNone/>
            </a:pPr>
            <a:r>
              <a:rPr lang="en-US" altLang="tr-TR" dirty="0" smtClean="0"/>
              <a:t>Run time initialization</a:t>
            </a:r>
          </a:p>
          <a:p>
            <a:pPr>
              <a:buFont typeface="Arial" panose="020B0604020202020204" pitchFamily="34" charset="0"/>
              <a:buNone/>
            </a:pPr>
            <a:endParaRPr lang="en-US" altLang="tr-TR" dirty="0" smtClean="0"/>
          </a:p>
        </p:txBody>
      </p:sp>
      <p:sp>
        <p:nvSpPr>
          <p:cNvPr id="4" name="Footer Placeholder 3"/>
          <p:cNvSpPr>
            <a:spLocks noGrp="1"/>
          </p:cNvSpPr>
          <p:nvPr>
            <p:ph type="ftr" sz="quarter" idx="11"/>
          </p:nvPr>
        </p:nvSpPr>
        <p:spPr/>
        <p:txBody>
          <a:bodyPr/>
          <a:lstStyle/>
          <a:p>
            <a:pPr>
              <a:defRPr/>
            </a:pPr>
            <a:r>
              <a:rPr lang="en-US"/>
              <a:t>C Course, Programming club, Fall 2008</a:t>
            </a:r>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6957CBA-4EB4-4FD7-904F-57F7F6E626D0}" type="slidenum">
              <a:rPr lang="en-US" altLang="tr-TR">
                <a:solidFill>
                  <a:srgbClr val="898989"/>
                </a:solidFill>
              </a:rPr>
              <a:pPr/>
              <a:t>6</a:t>
            </a:fld>
            <a:endParaRPr lang="en-US" altLang="tr-TR">
              <a:solidFill>
                <a:srgbClr val="898989"/>
              </a:solidFill>
            </a:endParaRPr>
          </a:p>
        </p:txBody>
      </p:sp>
      <p:sp>
        <p:nvSpPr>
          <p:cNvPr id="6" name="TextBox 5"/>
          <p:cNvSpPr txBox="1">
            <a:spLocks noChangeArrowheads="1"/>
          </p:cNvSpPr>
          <p:nvPr/>
        </p:nvSpPr>
        <p:spPr bwMode="auto">
          <a:xfrm>
            <a:off x="4226357" y="3821113"/>
            <a:ext cx="6242050" cy="369887"/>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int month_days[] = {31, 28, 31, 30, 31, 30, 31, 31, 30, 31, 30, 31};</a:t>
            </a:r>
          </a:p>
        </p:txBody>
      </p:sp>
      <p:sp>
        <p:nvSpPr>
          <p:cNvPr id="7" name="TextBox 6"/>
          <p:cNvSpPr txBox="1">
            <a:spLocks noChangeArrowheads="1"/>
          </p:cNvSpPr>
          <p:nvPr/>
        </p:nvSpPr>
        <p:spPr bwMode="auto">
          <a:xfrm>
            <a:off x="2667001" y="5029201"/>
            <a:ext cx="1891865" cy="1200329"/>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int i;</a:t>
            </a:r>
          </a:p>
          <a:p>
            <a:r>
              <a:rPr lang="en-US" altLang="tr-TR"/>
              <a:t>int A[6];</a:t>
            </a:r>
          </a:p>
          <a:p>
            <a:r>
              <a:rPr lang="en-US" altLang="tr-TR"/>
              <a:t>for(i = 0; i &lt; 6; i++)</a:t>
            </a:r>
            <a:br>
              <a:rPr lang="en-US" altLang="tr-TR"/>
            </a:br>
            <a:r>
              <a:rPr lang="en-US" altLang="tr-TR"/>
              <a:t>	A[i] = 6 - i;</a:t>
            </a:r>
          </a:p>
        </p:txBody>
      </p:sp>
    </p:spTree>
    <p:extLst>
      <p:ext uri="{BB962C8B-B14F-4D97-AF65-F5344CB8AC3E}">
        <p14:creationId xmlns:p14="http://schemas.microsoft.com/office/powerpoint/2010/main" val="3954147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tr-TR" smtClean="0"/>
              <a:t>Memory addresses</a:t>
            </a:r>
          </a:p>
        </p:txBody>
      </p:sp>
      <p:sp>
        <p:nvSpPr>
          <p:cNvPr id="3" name="Content Placeholder 2"/>
          <p:cNvSpPr>
            <a:spLocks noGrp="1"/>
          </p:cNvSpPr>
          <p:nvPr>
            <p:ph idx="1"/>
          </p:nvPr>
        </p:nvSpPr>
        <p:spPr>
          <a:xfrm>
            <a:off x="1981200" y="1600201"/>
            <a:ext cx="6096000" cy="4525963"/>
          </a:xfrm>
        </p:spPr>
        <p:txBody>
          <a:bodyPr rtlCol="0">
            <a:normAutofit/>
          </a:bodyPr>
          <a:lstStyle/>
          <a:p>
            <a:pPr>
              <a:defRPr/>
            </a:pPr>
            <a:r>
              <a:rPr lang="en-US" dirty="0" smtClean="0"/>
              <a:t>Memory is divided up into one byte pieces individually addressed.</a:t>
            </a:r>
          </a:p>
          <a:p>
            <a:pPr>
              <a:buNone/>
              <a:defRPr/>
            </a:pPr>
            <a:r>
              <a:rPr lang="en-US" dirty="0" smtClean="0"/>
              <a:t>	- minimum data you can request from the memory is 1 byte</a:t>
            </a:r>
          </a:p>
          <a:p>
            <a:pPr>
              <a:buNone/>
              <a:defRPr/>
            </a:pPr>
            <a:endParaRPr lang="en-US" dirty="0" smtClean="0"/>
          </a:p>
          <a:p>
            <a:pPr>
              <a:defRPr/>
            </a:pPr>
            <a:r>
              <a:rPr lang="en-US" dirty="0" smtClean="0"/>
              <a:t>Each byte has an address.</a:t>
            </a:r>
          </a:p>
          <a:p>
            <a:pPr>
              <a:buNone/>
              <a:defRPr/>
            </a:pPr>
            <a:r>
              <a:rPr lang="en-US" dirty="0" smtClean="0"/>
              <a:t>	for a 32 bit processor, addressable memory is 2</a:t>
            </a:r>
            <a:r>
              <a:rPr lang="en-US" baseline="30000" dirty="0" smtClean="0"/>
              <a:t>32</a:t>
            </a:r>
            <a:r>
              <a:rPr lang="en-US" dirty="0" smtClean="0"/>
              <a:t> bytes. To uniquely identify each of the accessible byte you need log</a:t>
            </a:r>
            <a:r>
              <a:rPr lang="en-US" baseline="-25000" dirty="0" smtClean="0"/>
              <a:t>2</a:t>
            </a:r>
            <a:r>
              <a:rPr lang="en-US" dirty="0" smtClean="0"/>
              <a:t>2</a:t>
            </a:r>
            <a:r>
              <a:rPr lang="en-US" baseline="30000" dirty="0" smtClean="0"/>
              <a:t>32</a:t>
            </a:r>
            <a:r>
              <a:rPr lang="en-US" dirty="0" smtClean="0"/>
              <a:t> = 32 bits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398181602"/>
              </p:ext>
            </p:extLst>
          </p:nvPr>
        </p:nvGraphicFramePr>
        <p:xfrm>
          <a:off x="8688186" y="540326"/>
          <a:ext cx="1981200" cy="5562600"/>
        </p:xfrm>
        <a:graphic>
          <a:graphicData uri="http://schemas.openxmlformats.org/drawingml/2006/table">
            <a:tbl>
              <a:tblPr bandRow="1">
                <a:tableStyleId>{5C22544A-7EE6-4342-B048-85BDC9FD1C3A}</a:tableStyleId>
              </a:tblPr>
              <a:tblGrid>
                <a:gridCol w="609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70840">
                <a:tc>
                  <a:txBody>
                    <a:bodyPr/>
                    <a:lstStyle/>
                    <a:p>
                      <a:pPr algn="ctr"/>
                      <a:r>
                        <a:rPr lang="en-US" sz="1200" dirty="0" smtClean="0"/>
                        <a:t>0A</a:t>
                      </a:r>
                      <a:endParaRPr lang="en-US" sz="1200" dirty="0"/>
                    </a:p>
                  </a:txBody>
                  <a:tcPr>
                    <a:solidFill>
                      <a:schemeClr val="tx2">
                        <a:lumMod val="60000"/>
                        <a:lumOff val="40000"/>
                      </a:schemeClr>
                    </a:solidFill>
                  </a:tcPr>
                </a:tc>
                <a:tc>
                  <a:txBody>
                    <a:bodyPr/>
                    <a:lstStyle/>
                    <a:p>
                      <a:pPr algn="ctr"/>
                      <a:r>
                        <a:rPr lang="en-US" sz="1200" dirty="0" smtClean="0"/>
                        <a:t>0x00001234</a:t>
                      </a:r>
                      <a:endParaRPr lang="en-US" sz="1200" dirty="0"/>
                    </a:p>
                  </a:txBody>
                  <a:tcPr>
                    <a:solidFill>
                      <a:schemeClr val="tx2">
                        <a:lumMod val="60000"/>
                        <a:lumOff val="40000"/>
                      </a:schemeClr>
                    </a:solidFill>
                  </a:tcPr>
                </a:tc>
                <a:extLst>
                  <a:ext uri="{0D108BD9-81ED-4DB2-BD59-A6C34878D82A}">
                    <a16:rowId xmlns:a16="http://schemas.microsoft.com/office/drawing/2014/main" val="10000"/>
                  </a:ext>
                </a:extLst>
              </a:tr>
              <a:tr h="370840">
                <a:tc>
                  <a:txBody>
                    <a:bodyPr/>
                    <a:lstStyle/>
                    <a:p>
                      <a:pPr algn="ctr"/>
                      <a:r>
                        <a:rPr lang="en-US" sz="1200" dirty="0" smtClean="0"/>
                        <a:t>23</a:t>
                      </a:r>
                      <a:endParaRPr lang="en-US" sz="1200" dirty="0"/>
                    </a:p>
                  </a:txBody>
                  <a:tcPr>
                    <a:solidFill>
                      <a:schemeClr val="tx2">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smtClean="0"/>
                        <a:t>0x00001235</a:t>
                      </a:r>
                    </a:p>
                  </a:txBody>
                  <a:tcPr>
                    <a:solidFill>
                      <a:schemeClr val="tx2">
                        <a:lumMod val="60000"/>
                        <a:lumOff val="40000"/>
                      </a:schemeClr>
                    </a:solidFill>
                  </a:tcPr>
                </a:tc>
                <a:extLst>
                  <a:ext uri="{0D108BD9-81ED-4DB2-BD59-A6C34878D82A}">
                    <a16:rowId xmlns:a16="http://schemas.microsoft.com/office/drawing/2014/main" val="10001"/>
                  </a:ext>
                </a:extLst>
              </a:tr>
              <a:tr h="370840">
                <a:tc>
                  <a:txBody>
                    <a:bodyPr/>
                    <a:lstStyle/>
                    <a:p>
                      <a:pPr algn="ctr"/>
                      <a:r>
                        <a:rPr lang="en-US" sz="1200" dirty="0" smtClean="0"/>
                        <a:t>6C</a:t>
                      </a:r>
                      <a:endParaRPr lang="en-US" sz="1200" dirty="0"/>
                    </a:p>
                  </a:txBody>
                  <a:tcPr>
                    <a:solidFill>
                      <a:schemeClr val="tx2">
                        <a:lumMod val="60000"/>
                        <a:lumOff val="40000"/>
                      </a:schemeClr>
                    </a:solidFill>
                  </a:tcPr>
                </a:tc>
                <a:tc>
                  <a:txBody>
                    <a:bodyPr/>
                    <a:lstStyle/>
                    <a:p>
                      <a:pPr algn="ctr"/>
                      <a:r>
                        <a:rPr lang="en-US" sz="1200" dirty="0" smtClean="0"/>
                        <a:t>0x00001236</a:t>
                      </a:r>
                      <a:endParaRPr lang="en-US" sz="1200" dirty="0"/>
                    </a:p>
                  </a:txBody>
                  <a:tcPr>
                    <a:solidFill>
                      <a:schemeClr val="tx2">
                        <a:lumMod val="60000"/>
                        <a:lumOff val="40000"/>
                      </a:schemeClr>
                    </a:solidFill>
                  </a:tcPr>
                </a:tc>
                <a:extLst>
                  <a:ext uri="{0D108BD9-81ED-4DB2-BD59-A6C34878D82A}">
                    <a16:rowId xmlns:a16="http://schemas.microsoft.com/office/drawing/2014/main" val="10002"/>
                  </a:ext>
                </a:extLst>
              </a:tr>
              <a:tr h="370840">
                <a:tc>
                  <a:txBody>
                    <a:bodyPr/>
                    <a:lstStyle/>
                    <a:p>
                      <a:pPr algn="ctr"/>
                      <a:r>
                        <a:rPr lang="en-US" sz="1200" dirty="0" smtClean="0"/>
                        <a:t>1D</a:t>
                      </a:r>
                      <a:endParaRPr lang="en-US" sz="1200" dirty="0"/>
                    </a:p>
                  </a:txBody>
                  <a:tcPr>
                    <a:solidFill>
                      <a:schemeClr val="tx2">
                        <a:lumMod val="60000"/>
                        <a:lumOff val="40000"/>
                      </a:schemeClr>
                    </a:solidFill>
                  </a:tcPr>
                </a:tc>
                <a:tc>
                  <a:txBody>
                    <a:bodyPr/>
                    <a:lstStyle/>
                    <a:p>
                      <a:pPr algn="ctr"/>
                      <a:r>
                        <a:rPr lang="en-US" sz="1200" dirty="0" smtClean="0"/>
                        <a:t>0x00001237</a:t>
                      </a:r>
                      <a:endParaRPr lang="en-US" sz="1200" dirty="0"/>
                    </a:p>
                  </a:txBody>
                  <a:tcPr>
                    <a:solidFill>
                      <a:schemeClr val="tx2">
                        <a:lumMod val="60000"/>
                        <a:lumOff val="40000"/>
                      </a:schemeClr>
                    </a:solidFill>
                  </a:tcPr>
                </a:tc>
                <a:extLst>
                  <a:ext uri="{0D108BD9-81ED-4DB2-BD59-A6C34878D82A}">
                    <a16:rowId xmlns:a16="http://schemas.microsoft.com/office/drawing/2014/main" val="10003"/>
                  </a:ext>
                </a:extLst>
              </a:tr>
              <a:tr h="370840">
                <a:tc>
                  <a:txBody>
                    <a:bodyPr/>
                    <a:lstStyle/>
                    <a:p>
                      <a:pPr algn="ctr"/>
                      <a:r>
                        <a:rPr lang="en-US" sz="1200" dirty="0" smtClean="0"/>
                        <a:t>‘W’</a:t>
                      </a:r>
                      <a:endParaRPr lang="en-US" sz="1200" dirty="0"/>
                    </a:p>
                  </a:txBody>
                  <a:tcPr>
                    <a:solidFill>
                      <a:schemeClr val="tx2">
                        <a:lumMod val="20000"/>
                        <a:lumOff val="80000"/>
                      </a:schemeClr>
                    </a:solidFill>
                  </a:tcPr>
                </a:tc>
                <a:tc>
                  <a:txBody>
                    <a:bodyPr/>
                    <a:lstStyle/>
                    <a:p>
                      <a:pPr algn="ctr"/>
                      <a:r>
                        <a:rPr lang="en-US" sz="1200" dirty="0" smtClean="0"/>
                        <a:t>0x00001238</a:t>
                      </a:r>
                      <a:endParaRPr lang="en-US" sz="1200" dirty="0"/>
                    </a:p>
                  </a:txBody>
                  <a:tcPr>
                    <a:solidFill>
                      <a:schemeClr val="tx2">
                        <a:lumMod val="20000"/>
                        <a:lumOff val="80000"/>
                      </a:schemeClr>
                    </a:solidFill>
                  </a:tcPr>
                </a:tc>
                <a:extLst>
                  <a:ext uri="{0D108BD9-81ED-4DB2-BD59-A6C34878D82A}">
                    <a16:rowId xmlns:a16="http://schemas.microsoft.com/office/drawing/2014/main" val="10004"/>
                  </a:ext>
                </a:extLst>
              </a:tr>
              <a:tr h="370840">
                <a:tc>
                  <a:txBody>
                    <a:bodyPr/>
                    <a:lstStyle/>
                    <a:p>
                      <a:pPr algn="ctr"/>
                      <a:r>
                        <a:rPr lang="en-US" sz="1200" dirty="0" smtClean="0"/>
                        <a:t>‘o’</a:t>
                      </a:r>
                      <a:endParaRPr lang="en-US" sz="1200" dirty="0"/>
                    </a:p>
                  </a:txBody>
                  <a:tcPr>
                    <a:solidFill>
                      <a:schemeClr val="tx2">
                        <a:lumMod val="20000"/>
                        <a:lumOff val="80000"/>
                      </a:schemeClr>
                    </a:solidFill>
                  </a:tcPr>
                </a:tc>
                <a:tc>
                  <a:txBody>
                    <a:bodyPr/>
                    <a:lstStyle/>
                    <a:p>
                      <a:pPr algn="ctr"/>
                      <a:r>
                        <a:rPr lang="en-US" sz="1200" dirty="0" smtClean="0"/>
                        <a:t>0x00001239</a:t>
                      </a:r>
                      <a:endParaRPr lang="en-US" sz="1200" dirty="0"/>
                    </a:p>
                  </a:txBody>
                  <a:tcPr>
                    <a:solidFill>
                      <a:schemeClr val="tx2">
                        <a:lumMod val="20000"/>
                        <a:lumOff val="80000"/>
                      </a:schemeClr>
                    </a:solidFill>
                  </a:tcPr>
                </a:tc>
                <a:extLst>
                  <a:ext uri="{0D108BD9-81ED-4DB2-BD59-A6C34878D82A}">
                    <a16:rowId xmlns:a16="http://schemas.microsoft.com/office/drawing/2014/main" val="10005"/>
                  </a:ext>
                </a:extLst>
              </a:tr>
              <a:tr h="370840">
                <a:tc>
                  <a:txBody>
                    <a:bodyPr/>
                    <a:lstStyle/>
                    <a:p>
                      <a:pPr algn="ctr"/>
                      <a:r>
                        <a:rPr lang="en-US" sz="1200" dirty="0" smtClean="0"/>
                        <a:t>‘w’</a:t>
                      </a:r>
                      <a:endParaRPr lang="en-US" sz="1200" dirty="0"/>
                    </a:p>
                  </a:txBody>
                  <a:tcPr>
                    <a:solidFill>
                      <a:schemeClr val="tx2">
                        <a:lumMod val="20000"/>
                        <a:lumOff val="80000"/>
                      </a:schemeClr>
                    </a:solidFill>
                  </a:tcPr>
                </a:tc>
                <a:tc>
                  <a:txBody>
                    <a:bodyPr/>
                    <a:lstStyle/>
                    <a:p>
                      <a:pPr algn="ctr"/>
                      <a:r>
                        <a:rPr lang="en-US" sz="1200" dirty="0" smtClean="0"/>
                        <a:t>0x0000123A</a:t>
                      </a:r>
                      <a:endParaRPr lang="en-US" sz="1200" dirty="0"/>
                    </a:p>
                  </a:txBody>
                  <a:tcPr>
                    <a:solidFill>
                      <a:schemeClr val="tx2">
                        <a:lumMod val="20000"/>
                        <a:lumOff val="80000"/>
                      </a:schemeClr>
                    </a:solidFill>
                  </a:tcPr>
                </a:tc>
                <a:extLst>
                  <a:ext uri="{0D108BD9-81ED-4DB2-BD59-A6C34878D82A}">
                    <a16:rowId xmlns:a16="http://schemas.microsoft.com/office/drawing/2014/main" val="10006"/>
                  </a:ext>
                </a:extLst>
              </a:tr>
              <a:tr h="370840">
                <a:tc>
                  <a:txBody>
                    <a:bodyPr/>
                    <a:lstStyle/>
                    <a:p>
                      <a:pPr algn="ctr"/>
                      <a:r>
                        <a:rPr lang="en-US" sz="1200" dirty="0" smtClean="0"/>
                        <a:t>‘\0’</a:t>
                      </a:r>
                      <a:endParaRPr lang="en-US" sz="1200" dirty="0"/>
                    </a:p>
                  </a:txBody>
                  <a:tcPr>
                    <a:solidFill>
                      <a:schemeClr val="tx2">
                        <a:lumMod val="20000"/>
                        <a:lumOff val="80000"/>
                      </a:schemeClr>
                    </a:solidFill>
                  </a:tcPr>
                </a:tc>
                <a:tc>
                  <a:txBody>
                    <a:bodyPr/>
                    <a:lstStyle/>
                    <a:p>
                      <a:pPr algn="ctr"/>
                      <a:r>
                        <a:rPr lang="en-US" sz="1200" dirty="0" smtClean="0"/>
                        <a:t>0x0000123B</a:t>
                      </a:r>
                      <a:endParaRPr lang="en-US" sz="1200" dirty="0"/>
                    </a:p>
                  </a:txBody>
                  <a:tcPr>
                    <a:solidFill>
                      <a:schemeClr val="tx2">
                        <a:lumMod val="20000"/>
                        <a:lumOff val="80000"/>
                      </a:schemeClr>
                    </a:solidFill>
                  </a:tcPr>
                </a:tc>
                <a:extLst>
                  <a:ext uri="{0D108BD9-81ED-4DB2-BD59-A6C34878D82A}">
                    <a16:rowId xmlns:a16="http://schemas.microsoft.com/office/drawing/2014/main" val="10007"/>
                  </a:ext>
                </a:extLst>
              </a:tr>
              <a:tr h="370840">
                <a:tc>
                  <a:txBody>
                    <a:bodyPr/>
                    <a:lstStyle/>
                    <a:p>
                      <a:pPr algn="ctr"/>
                      <a:r>
                        <a:rPr lang="en-US" sz="1200" dirty="0" smtClean="0"/>
                        <a:t>.</a:t>
                      </a:r>
                      <a:endParaRPr lang="en-US" sz="1200" dirty="0"/>
                    </a:p>
                  </a:txBody>
                  <a:tcPr>
                    <a:solidFill>
                      <a:schemeClr val="bg1"/>
                    </a:solidFill>
                  </a:tcPr>
                </a:tc>
                <a:tc>
                  <a:txBody>
                    <a:bodyPr/>
                    <a:lstStyle/>
                    <a:p>
                      <a:pPr algn="l"/>
                      <a:r>
                        <a:rPr lang="en-US" sz="1200" dirty="0" smtClean="0"/>
                        <a:t>.</a:t>
                      </a:r>
                      <a:endParaRPr lang="en-US" sz="1200" dirty="0"/>
                    </a:p>
                  </a:txBody>
                  <a:tcPr>
                    <a:solidFill>
                      <a:schemeClr val="bg1"/>
                    </a:solidFill>
                  </a:tcPr>
                </a:tc>
                <a:extLst>
                  <a:ext uri="{0D108BD9-81ED-4DB2-BD59-A6C34878D82A}">
                    <a16:rowId xmlns:a16="http://schemas.microsoft.com/office/drawing/2014/main" val="10008"/>
                  </a:ext>
                </a:extLst>
              </a:tr>
              <a:tr h="370840">
                <a:tc>
                  <a:txBody>
                    <a:bodyPr/>
                    <a:lstStyle/>
                    <a:p>
                      <a:pPr algn="ctr"/>
                      <a:r>
                        <a:rPr lang="en-US" sz="1200" dirty="0" smtClean="0"/>
                        <a:t>.</a:t>
                      </a:r>
                      <a:endParaRPr lang="en-US" sz="1200" dirty="0"/>
                    </a:p>
                  </a:txBody>
                  <a:tcPr>
                    <a:solidFill>
                      <a:schemeClr val="bg1"/>
                    </a:solidFill>
                  </a:tcPr>
                </a:tc>
                <a:tc>
                  <a:txBody>
                    <a:bodyPr/>
                    <a:lstStyle/>
                    <a:p>
                      <a:pPr algn="l"/>
                      <a:r>
                        <a:rPr lang="en-US" sz="1200" dirty="0" smtClean="0"/>
                        <a:t>.</a:t>
                      </a:r>
                      <a:endParaRPr lang="en-US" sz="1200" dirty="0"/>
                    </a:p>
                  </a:txBody>
                  <a:tcPr>
                    <a:solidFill>
                      <a:schemeClr val="bg1"/>
                    </a:solidFill>
                  </a:tcPr>
                </a:tc>
                <a:extLst>
                  <a:ext uri="{0D108BD9-81ED-4DB2-BD59-A6C34878D82A}">
                    <a16:rowId xmlns:a16="http://schemas.microsoft.com/office/drawing/2014/main" val="10009"/>
                  </a:ext>
                </a:extLst>
              </a:tr>
              <a:tr h="370840">
                <a:tc>
                  <a:txBody>
                    <a:bodyPr/>
                    <a:lstStyle/>
                    <a:p>
                      <a:pPr algn="ctr"/>
                      <a:r>
                        <a:rPr lang="en-US" sz="1200" dirty="0" smtClean="0"/>
                        <a:t>.</a:t>
                      </a:r>
                      <a:endParaRPr lang="en-US" sz="1200" dirty="0"/>
                    </a:p>
                  </a:txBody>
                  <a:tcPr>
                    <a:solidFill>
                      <a:schemeClr val="bg1"/>
                    </a:solidFill>
                  </a:tcPr>
                </a:tc>
                <a:tc>
                  <a:txBody>
                    <a:bodyPr/>
                    <a:lstStyle/>
                    <a:p>
                      <a:pPr algn="l"/>
                      <a:r>
                        <a:rPr lang="en-US" sz="1200" dirty="0" smtClean="0"/>
                        <a:t>.</a:t>
                      </a:r>
                      <a:endParaRPr lang="en-US" sz="1200" dirty="0"/>
                    </a:p>
                  </a:txBody>
                  <a:tcPr>
                    <a:solidFill>
                      <a:schemeClr val="bg1"/>
                    </a:solidFill>
                  </a:tcPr>
                </a:tc>
                <a:extLst>
                  <a:ext uri="{0D108BD9-81ED-4DB2-BD59-A6C34878D82A}">
                    <a16:rowId xmlns:a16="http://schemas.microsoft.com/office/drawing/2014/main" val="10010"/>
                  </a:ext>
                </a:extLst>
              </a:tr>
              <a:tr h="370840">
                <a:tc>
                  <a:txBody>
                    <a:bodyPr/>
                    <a:lstStyle/>
                    <a:p>
                      <a:pPr algn="ctr"/>
                      <a:endParaRPr lang="en-US" sz="1200" dirty="0"/>
                    </a:p>
                  </a:txBody>
                  <a:tcPr>
                    <a:solidFill>
                      <a:schemeClr val="tx2">
                        <a:lumMod val="60000"/>
                        <a:lumOff val="40000"/>
                      </a:schemeClr>
                    </a:solidFill>
                  </a:tcPr>
                </a:tc>
                <a:tc>
                  <a:txBody>
                    <a:bodyPr/>
                    <a:lstStyle/>
                    <a:p>
                      <a:pPr algn="ctr"/>
                      <a:r>
                        <a:rPr lang="en-US" sz="1200" dirty="0" smtClean="0"/>
                        <a:t>0x24680975</a:t>
                      </a:r>
                      <a:endParaRPr lang="en-US" sz="1200" dirty="0"/>
                    </a:p>
                  </a:txBody>
                  <a:tcPr>
                    <a:solidFill>
                      <a:schemeClr val="tx2">
                        <a:lumMod val="60000"/>
                        <a:lumOff val="40000"/>
                      </a:schemeClr>
                    </a:solidFill>
                  </a:tcPr>
                </a:tc>
                <a:extLst>
                  <a:ext uri="{0D108BD9-81ED-4DB2-BD59-A6C34878D82A}">
                    <a16:rowId xmlns:a16="http://schemas.microsoft.com/office/drawing/2014/main" val="10011"/>
                  </a:ext>
                </a:extLst>
              </a:tr>
              <a:tr h="370840">
                <a:tc>
                  <a:txBody>
                    <a:bodyPr/>
                    <a:lstStyle/>
                    <a:p>
                      <a:pPr algn="ctr"/>
                      <a:endParaRPr lang="en-US" sz="1200" dirty="0"/>
                    </a:p>
                  </a:txBody>
                  <a:tcPr>
                    <a:solidFill>
                      <a:schemeClr val="tx2">
                        <a:lumMod val="60000"/>
                        <a:lumOff val="40000"/>
                      </a:schemeClr>
                    </a:solidFill>
                  </a:tcPr>
                </a:tc>
                <a:tc>
                  <a:txBody>
                    <a:bodyPr/>
                    <a:lstStyle/>
                    <a:p>
                      <a:pPr algn="ctr"/>
                      <a:r>
                        <a:rPr lang="en-US" sz="1200" dirty="0" smtClean="0"/>
                        <a:t>0x24680976</a:t>
                      </a:r>
                      <a:endParaRPr lang="en-US" sz="1200" dirty="0"/>
                    </a:p>
                  </a:txBody>
                  <a:tcPr>
                    <a:solidFill>
                      <a:schemeClr val="tx2">
                        <a:lumMod val="60000"/>
                        <a:lumOff val="40000"/>
                      </a:schemeClr>
                    </a:solidFill>
                  </a:tcPr>
                </a:tc>
                <a:extLst>
                  <a:ext uri="{0D108BD9-81ED-4DB2-BD59-A6C34878D82A}">
                    <a16:rowId xmlns:a16="http://schemas.microsoft.com/office/drawing/2014/main" val="10012"/>
                  </a:ext>
                </a:extLst>
              </a:tr>
              <a:tr h="370840">
                <a:tc>
                  <a:txBody>
                    <a:bodyPr/>
                    <a:lstStyle/>
                    <a:p>
                      <a:pPr algn="ctr"/>
                      <a:endParaRPr lang="en-US" sz="1200" dirty="0"/>
                    </a:p>
                  </a:txBody>
                  <a:tcPr>
                    <a:solidFill>
                      <a:schemeClr val="tx2">
                        <a:lumMod val="60000"/>
                        <a:lumOff val="40000"/>
                      </a:schemeClr>
                    </a:solidFill>
                  </a:tcPr>
                </a:tc>
                <a:tc>
                  <a:txBody>
                    <a:bodyPr/>
                    <a:lstStyle/>
                    <a:p>
                      <a:pPr algn="ctr"/>
                      <a:r>
                        <a:rPr lang="en-US" sz="1200" dirty="0" smtClean="0"/>
                        <a:t>0x24680977</a:t>
                      </a:r>
                      <a:endParaRPr lang="en-US" sz="1200" dirty="0"/>
                    </a:p>
                  </a:txBody>
                  <a:tcPr>
                    <a:solidFill>
                      <a:schemeClr val="tx2">
                        <a:lumMod val="60000"/>
                        <a:lumOff val="40000"/>
                      </a:schemeClr>
                    </a:solidFill>
                  </a:tcPr>
                </a:tc>
                <a:extLst>
                  <a:ext uri="{0D108BD9-81ED-4DB2-BD59-A6C34878D82A}">
                    <a16:rowId xmlns:a16="http://schemas.microsoft.com/office/drawing/2014/main" val="10013"/>
                  </a:ext>
                </a:extLst>
              </a:tr>
              <a:tr h="370840">
                <a:tc>
                  <a:txBody>
                    <a:bodyPr/>
                    <a:lstStyle/>
                    <a:p>
                      <a:pPr algn="ctr"/>
                      <a:endParaRPr lang="en-US" sz="1200" dirty="0"/>
                    </a:p>
                  </a:txBody>
                  <a:tcPr>
                    <a:solidFill>
                      <a:schemeClr val="tx2">
                        <a:lumMod val="60000"/>
                        <a:lumOff val="40000"/>
                      </a:schemeClr>
                    </a:solidFill>
                  </a:tcPr>
                </a:tc>
                <a:tc>
                  <a:txBody>
                    <a:bodyPr/>
                    <a:lstStyle/>
                    <a:p>
                      <a:pPr algn="ctr"/>
                      <a:r>
                        <a:rPr lang="en-US" sz="1200" dirty="0" smtClean="0"/>
                        <a:t>0x24680978</a:t>
                      </a:r>
                      <a:endParaRPr lang="en-US" sz="1200" dirty="0"/>
                    </a:p>
                  </a:txBody>
                  <a:tcPr>
                    <a:solidFill>
                      <a:schemeClr val="tx2">
                        <a:lumMod val="60000"/>
                        <a:lumOff val="40000"/>
                      </a:schemeClr>
                    </a:solidFill>
                  </a:tcPr>
                </a:tc>
                <a:extLst>
                  <a:ext uri="{0D108BD9-81ED-4DB2-BD59-A6C34878D82A}">
                    <a16:rowId xmlns:a16="http://schemas.microsoft.com/office/drawing/2014/main" val="10014"/>
                  </a:ext>
                </a:extLst>
              </a:tr>
            </a:tbl>
          </a:graphicData>
        </a:graphic>
      </p:graphicFrame>
      <p:sp>
        <p:nvSpPr>
          <p:cNvPr id="6" name="Footer Placeholder 5"/>
          <p:cNvSpPr>
            <a:spLocks noGrp="1"/>
          </p:cNvSpPr>
          <p:nvPr>
            <p:ph type="ftr" sz="quarter" idx="11"/>
          </p:nvPr>
        </p:nvSpPr>
        <p:spPr/>
        <p:txBody>
          <a:bodyPr/>
          <a:lstStyle/>
          <a:p>
            <a:pPr>
              <a:defRPr/>
            </a:pPr>
            <a:r>
              <a:rPr lang="en-US"/>
              <a:t>C Course, Programming club, Fall 2008</a:t>
            </a:r>
          </a:p>
        </p:txBody>
      </p:sp>
      <p:sp>
        <p:nvSpPr>
          <p:cNvPr id="7" name="Slide Number Placeholder 6"/>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C6E90D9-49C2-47CE-9C9C-7042236D32F0}" type="slidenum">
              <a:rPr lang="en-US" altLang="tr-TR">
                <a:solidFill>
                  <a:srgbClr val="898989"/>
                </a:solidFill>
              </a:rPr>
              <a:pPr/>
              <a:t>7</a:t>
            </a:fld>
            <a:endParaRPr lang="en-US" altLang="tr-TR">
              <a:solidFill>
                <a:srgbClr val="898989"/>
              </a:solidFill>
            </a:endParaRPr>
          </a:p>
        </p:txBody>
      </p:sp>
    </p:spTree>
    <p:extLst>
      <p:ext uri="{BB962C8B-B14F-4D97-AF65-F5344CB8AC3E}">
        <p14:creationId xmlns:p14="http://schemas.microsoft.com/office/powerpoint/2010/main" val="734585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tr-TR" smtClean="0"/>
              <a:t>Array - Accessing an element</a:t>
            </a:r>
          </a:p>
        </p:txBody>
      </p:sp>
      <p:sp>
        <p:nvSpPr>
          <p:cNvPr id="3" name="Content Placeholder 2"/>
          <p:cNvSpPr>
            <a:spLocks noGrp="1"/>
          </p:cNvSpPr>
          <p:nvPr>
            <p:ph idx="1"/>
          </p:nvPr>
        </p:nvSpPr>
        <p:spPr/>
        <p:txBody>
          <a:bodyPr rtlCol="0">
            <a:normAutofit fontScale="92500" lnSpcReduction="20000"/>
          </a:bodyPr>
          <a:lstStyle/>
          <a:p>
            <a:pPr>
              <a:buNone/>
              <a:defRPr/>
            </a:pPr>
            <a:r>
              <a:rPr lang="en-US" dirty="0" err="1" smtClean="0"/>
              <a:t>int</a:t>
            </a:r>
            <a:r>
              <a:rPr lang="en-US" dirty="0" smtClean="0"/>
              <a:t> A[6];</a:t>
            </a:r>
          </a:p>
          <a:p>
            <a:pPr>
              <a:buNone/>
              <a:defRPr/>
            </a:pPr>
            <a:endParaRPr lang="en-US" dirty="0"/>
          </a:p>
          <a:p>
            <a:pPr>
              <a:buNone/>
              <a:defRPr/>
            </a:pPr>
            <a:endParaRPr lang="en-US" dirty="0" smtClean="0"/>
          </a:p>
          <a:p>
            <a:pPr>
              <a:buNone/>
              <a:defRPr/>
            </a:pPr>
            <a:endParaRPr lang="en-US" dirty="0" smtClean="0"/>
          </a:p>
          <a:p>
            <a:pPr>
              <a:buNone/>
              <a:defRPr/>
            </a:pPr>
            <a:r>
              <a:rPr lang="en-US" dirty="0" smtClean="0"/>
              <a:t>6 elements of 4 bytes each,</a:t>
            </a:r>
            <a:br>
              <a:rPr lang="en-US" dirty="0" smtClean="0"/>
            </a:br>
            <a:r>
              <a:rPr lang="en-US" dirty="0" smtClean="0"/>
              <a:t>total size = 6 x 4 bytes = 24 bytes</a:t>
            </a:r>
          </a:p>
          <a:p>
            <a:pPr>
              <a:buNone/>
              <a:defRPr/>
            </a:pPr>
            <a:endParaRPr lang="en-US" dirty="0" smtClean="0"/>
          </a:p>
          <a:p>
            <a:pPr>
              <a:buNone/>
              <a:defRPr/>
            </a:pPr>
            <a:r>
              <a:rPr lang="en-US" dirty="0" smtClean="0"/>
              <a:t>Read an element</a:t>
            </a:r>
          </a:p>
          <a:p>
            <a:pPr>
              <a:buNone/>
              <a:defRPr/>
            </a:pPr>
            <a:r>
              <a:rPr lang="en-US" dirty="0" smtClean="0"/>
              <a:t/>
            </a:r>
            <a:br>
              <a:rPr lang="en-US" dirty="0" smtClean="0"/>
            </a:br>
            <a:r>
              <a:rPr lang="en-US" dirty="0" smtClean="0"/>
              <a:t>Write to an element</a:t>
            </a:r>
            <a:br>
              <a:rPr lang="en-US" dirty="0" smtClean="0"/>
            </a:br>
            <a:endParaRPr lang="en-US" dirty="0" smtClean="0"/>
          </a:p>
          <a:p>
            <a:pPr>
              <a:buNone/>
              <a:defRPr/>
            </a:pPr>
            <a:r>
              <a:rPr lang="en-US" i="1" dirty="0" smtClean="0"/>
              <a:t>{program: </a:t>
            </a:r>
            <a:r>
              <a:rPr lang="en-US" i="1" dirty="0" err="1" smtClean="0"/>
              <a:t>array_average.c</a:t>
            </a:r>
            <a:r>
              <a:rPr lang="en-US" i="1" dirty="0" smtClean="0"/>
              <a:t>}</a:t>
            </a:r>
            <a:endParaRPr lang="en-US" i="1" dirty="0"/>
          </a:p>
        </p:txBody>
      </p:sp>
      <p:graphicFrame>
        <p:nvGraphicFramePr>
          <p:cNvPr id="4" name="Table 3"/>
          <p:cNvGraphicFramePr>
            <a:graphicFrameLocks noGrp="1"/>
          </p:cNvGraphicFramePr>
          <p:nvPr/>
        </p:nvGraphicFramePr>
        <p:xfrm>
          <a:off x="3200400" y="1935163"/>
          <a:ext cx="6096000" cy="1112838"/>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946">
                <a:tc>
                  <a:txBody>
                    <a:bodyPr/>
                    <a:lstStyle/>
                    <a:p>
                      <a:pPr algn="ctr"/>
                      <a:r>
                        <a:rPr lang="en-US" sz="1800" dirty="0" smtClean="0"/>
                        <a:t>A[0]</a:t>
                      </a:r>
                      <a:endParaRPr lang="en-US" sz="1800" dirty="0"/>
                    </a:p>
                  </a:txBody>
                  <a:tcPr marT="45733" marB="45733"/>
                </a:tc>
                <a:tc>
                  <a:txBody>
                    <a:bodyPr/>
                    <a:lstStyle/>
                    <a:p>
                      <a:pPr algn="ctr"/>
                      <a:r>
                        <a:rPr lang="en-US" sz="1800" smtClean="0"/>
                        <a:t>A[1</a:t>
                      </a:r>
                      <a:r>
                        <a:rPr lang="en-US" sz="1800" dirty="0" smtClean="0"/>
                        <a:t>]</a:t>
                      </a:r>
                      <a:endParaRPr lang="en-US" sz="1800" dirty="0"/>
                    </a:p>
                  </a:txBody>
                  <a:tcPr marT="45733" marB="45733"/>
                </a:tc>
                <a:tc>
                  <a:txBody>
                    <a:bodyPr/>
                    <a:lstStyle/>
                    <a:p>
                      <a:pPr algn="ctr"/>
                      <a:r>
                        <a:rPr lang="en-US" sz="1800" smtClean="0"/>
                        <a:t>A[2</a:t>
                      </a:r>
                      <a:r>
                        <a:rPr lang="en-US" sz="1800" dirty="0" smtClean="0"/>
                        <a:t>]</a:t>
                      </a:r>
                      <a:endParaRPr lang="en-US" sz="1800" dirty="0"/>
                    </a:p>
                  </a:txBody>
                  <a:tcPr marT="45733" marB="45733"/>
                </a:tc>
                <a:tc>
                  <a:txBody>
                    <a:bodyPr/>
                    <a:lstStyle/>
                    <a:p>
                      <a:pPr algn="ctr"/>
                      <a:r>
                        <a:rPr lang="en-US" sz="1800" smtClean="0"/>
                        <a:t>A[3</a:t>
                      </a:r>
                      <a:r>
                        <a:rPr lang="en-US" sz="1800" dirty="0" smtClean="0"/>
                        <a:t>]</a:t>
                      </a:r>
                      <a:endParaRPr lang="en-US" sz="1800" dirty="0"/>
                    </a:p>
                  </a:txBody>
                  <a:tcPr marT="45733" marB="45733"/>
                </a:tc>
                <a:tc>
                  <a:txBody>
                    <a:bodyPr/>
                    <a:lstStyle/>
                    <a:p>
                      <a:pPr algn="ctr"/>
                      <a:r>
                        <a:rPr lang="en-US" sz="1800" smtClean="0"/>
                        <a:t>A[4</a:t>
                      </a:r>
                      <a:r>
                        <a:rPr lang="en-US" sz="1800" dirty="0" smtClean="0"/>
                        <a:t>]</a:t>
                      </a:r>
                      <a:endParaRPr lang="en-US" sz="1800" dirty="0"/>
                    </a:p>
                  </a:txBody>
                  <a:tcPr marT="45733" marB="45733"/>
                </a:tc>
                <a:tc>
                  <a:txBody>
                    <a:bodyPr/>
                    <a:lstStyle/>
                    <a:p>
                      <a:pPr algn="ctr"/>
                      <a:r>
                        <a:rPr lang="en-US" sz="1800" smtClean="0"/>
                        <a:t>A[5</a:t>
                      </a:r>
                      <a:r>
                        <a:rPr lang="en-US" sz="1800" dirty="0" smtClean="0"/>
                        <a:t>]</a:t>
                      </a:r>
                      <a:endParaRPr lang="en-US" sz="1800" dirty="0"/>
                    </a:p>
                  </a:txBody>
                  <a:tcPr marT="45733" marB="45733"/>
                </a:tc>
                <a:extLst>
                  <a:ext uri="{0D108BD9-81ED-4DB2-BD59-A6C34878D82A}">
                    <a16:rowId xmlns:a16="http://schemas.microsoft.com/office/drawing/2014/main" val="10000"/>
                  </a:ext>
                </a:extLst>
              </a:tr>
              <a:tr h="370946">
                <a:tc>
                  <a:txBody>
                    <a:bodyPr/>
                    <a:lstStyle/>
                    <a:p>
                      <a:pPr algn="ctr"/>
                      <a:r>
                        <a:rPr lang="en-US" sz="1800" dirty="0" smtClean="0"/>
                        <a:t>0x1000</a:t>
                      </a:r>
                      <a:endParaRPr lang="en-US" sz="1800" dirty="0"/>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0x1004</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0x1008</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0x1012</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0x1016</a:t>
                      </a:r>
                      <a:endParaRPr lang="en-US" sz="1800" dirty="0"/>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0x1020</a:t>
                      </a:r>
                    </a:p>
                  </a:txBody>
                  <a:tcPr marT="45733" marB="45733"/>
                </a:tc>
                <a:extLst>
                  <a:ext uri="{0D108BD9-81ED-4DB2-BD59-A6C34878D82A}">
                    <a16:rowId xmlns:a16="http://schemas.microsoft.com/office/drawing/2014/main" val="10001"/>
                  </a:ext>
                </a:extLst>
              </a:tr>
              <a:tr h="370946">
                <a:tc>
                  <a:txBody>
                    <a:bodyPr/>
                    <a:lstStyle/>
                    <a:p>
                      <a:pPr algn="ctr"/>
                      <a:r>
                        <a:rPr lang="en-US" sz="1800" dirty="0" smtClean="0"/>
                        <a:t>6</a:t>
                      </a:r>
                      <a:endParaRPr lang="en-US" sz="1800" dirty="0"/>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5</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4</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3</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2</a:t>
                      </a:r>
                      <a:endParaRPr lang="en-US" sz="1800" dirty="0"/>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a:t>
                      </a:r>
                    </a:p>
                  </a:txBody>
                  <a:tcPr marT="45733" marB="45733"/>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pPr>
              <a:defRPr/>
            </a:pPr>
            <a:r>
              <a:rPr lang="en-US"/>
              <a:t>C Course, Programming club, Fall 2008</a:t>
            </a:r>
          </a:p>
        </p:txBody>
      </p:sp>
      <p:sp>
        <p:nvSpPr>
          <p:cNvPr id="6" name="Slide Number Placeholder 5"/>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E955291-D1D7-44AD-9570-DF7C40B8C6BC}" type="slidenum">
              <a:rPr lang="en-US" altLang="tr-TR">
                <a:solidFill>
                  <a:srgbClr val="898989"/>
                </a:solidFill>
              </a:rPr>
              <a:pPr/>
              <a:t>8</a:t>
            </a:fld>
            <a:endParaRPr lang="en-US" altLang="tr-TR">
              <a:solidFill>
                <a:srgbClr val="898989"/>
              </a:solidFill>
            </a:endParaRPr>
          </a:p>
        </p:txBody>
      </p:sp>
      <p:sp>
        <p:nvSpPr>
          <p:cNvPr id="7" name="TextBox 6"/>
          <p:cNvSpPr txBox="1">
            <a:spLocks noChangeArrowheads="1"/>
          </p:cNvSpPr>
          <p:nvPr/>
        </p:nvSpPr>
        <p:spPr bwMode="auto">
          <a:xfrm>
            <a:off x="2971800" y="4495800"/>
            <a:ext cx="1544638" cy="36988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int tmp = A[2];</a:t>
            </a:r>
          </a:p>
        </p:txBody>
      </p:sp>
      <p:sp>
        <p:nvSpPr>
          <p:cNvPr id="8" name="TextBox 7"/>
          <p:cNvSpPr txBox="1">
            <a:spLocks noChangeArrowheads="1"/>
          </p:cNvSpPr>
          <p:nvPr/>
        </p:nvSpPr>
        <p:spPr bwMode="auto">
          <a:xfrm>
            <a:off x="2971801" y="5181600"/>
            <a:ext cx="976313" cy="36988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A[3] = 5;</a:t>
            </a:r>
          </a:p>
        </p:txBody>
      </p:sp>
    </p:spTree>
    <p:extLst>
      <p:ext uri="{BB962C8B-B14F-4D97-AF65-F5344CB8AC3E}">
        <p14:creationId xmlns:p14="http://schemas.microsoft.com/office/powerpoint/2010/main" val="28115473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820467" y="-271826"/>
            <a:ext cx="10058400" cy="1609344"/>
          </a:xfrm>
        </p:spPr>
        <p:txBody>
          <a:bodyPr/>
          <a:lstStyle/>
          <a:p>
            <a:r>
              <a:rPr lang="en-US" altLang="tr-TR" dirty="0" smtClean="0"/>
              <a:t>Strings in C</a:t>
            </a:r>
          </a:p>
        </p:txBody>
      </p:sp>
      <p:sp>
        <p:nvSpPr>
          <p:cNvPr id="3" name="Content Placeholder 2"/>
          <p:cNvSpPr>
            <a:spLocks noGrp="1"/>
          </p:cNvSpPr>
          <p:nvPr>
            <p:ph idx="1"/>
          </p:nvPr>
        </p:nvSpPr>
        <p:spPr>
          <a:xfrm>
            <a:off x="1981200" y="1219200"/>
            <a:ext cx="8229600" cy="5181600"/>
          </a:xfrm>
        </p:spPr>
        <p:txBody>
          <a:bodyPr/>
          <a:lstStyle/>
          <a:p>
            <a:r>
              <a:rPr lang="en-US" altLang="tr-TR" smtClean="0"/>
              <a:t>No “Strings” keyword</a:t>
            </a:r>
          </a:p>
          <a:p>
            <a:r>
              <a:rPr lang="en-US" altLang="tr-TR" smtClean="0"/>
              <a:t>A string is an array of characters.</a:t>
            </a:r>
          </a:p>
          <a:p>
            <a:pPr>
              <a:buFont typeface="Arial" panose="020B0604020202020204" pitchFamily="34" charset="0"/>
              <a:buNone/>
            </a:pPr>
            <a:r>
              <a:rPr lang="en-US" altLang="tr-TR" smtClean="0"/>
              <a:t>					</a:t>
            </a:r>
            <a:r>
              <a:rPr lang="en-US" altLang="tr-TR" sz="2400"/>
              <a:t>OR</a:t>
            </a:r>
          </a:p>
        </p:txBody>
      </p:sp>
      <p:pic>
        <p:nvPicPr>
          <p:cNvPr id="4" name="Picture 3" descr="5_string.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486150"/>
            <a:ext cx="7310438"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1"/>
          </p:nvPr>
        </p:nvSpPr>
        <p:spPr/>
        <p:txBody>
          <a:bodyPr/>
          <a:lstStyle/>
          <a:p>
            <a:pPr>
              <a:defRPr/>
            </a:pPr>
            <a:r>
              <a:rPr lang="en-US"/>
              <a:t>C Course, Programming club, Fall 2008</a:t>
            </a:r>
          </a:p>
        </p:txBody>
      </p:sp>
      <p:sp>
        <p:nvSpPr>
          <p:cNvPr id="6" name="Slide Number Placeholder 5"/>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B858B59-0D4D-49FA-B889-BA9A9E155396}" type="slidenum">
              <a:rPr lang="en-US" altLang="tr-TR">
                <a:solidFill>
                  <a:srgbClr val="898989"/>
                </a:solidFill>
              </a:rPr>
              <a:pPr/>
              <a:t>9</a:t>
            </a:fld>
            <a:endParaRPr lang="en-US" altLang="tr-TR">
              <a:solidFill>
                <a:srgbClr val="898989"/>
              </a:solidFill>
            </a:endParaRPr>
          </a:p>
        </p:txBody>
      </p:sp>
      <p:sp>
        <p:nvSpPr>
          <p:cNvPr id="7" name="TextBox 6"/>
          <p:cNvSpPr txBox="1">
            <a:spLocks noChangeArrowheads="1"/>
          </p:cNvSpPr>
          <p:nvPr/>
        </p:nvSpPr>
        <p:spPr bwMode="auto">
          <a:xfrm>
            <a:off x="2667000" y="2514601"/>
            <a:ext cx="2954338" cy="64611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char string[] = “hello world”;</a:t>
            </a:r>
          </a:p>
          <a:p>
            <a:r>
              <a:rPr lang="en-US" altLang="tr-TR"/>
              <a:t>char *string = “hello world”;</a:t>
            </a:r>
          </a:p>
        </p:txBody>
      </p:sp>
    </p:spTree>
    <p:extLst>
      <p:ext uri="{BB962C8B-B14F-4D97-AF65-F5344CB8AC3E}">
        <p14:creationId xmlns:p14="http://schemas.microsoft.com/office/powerpoint/2010/main" val="1370843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tr-TR" smtClean="0"/>
              <a:t>Significance of NULL character ‘\0’</a:t>
            </a:r>
          </a:p>
        </p:txBody>
      </p:sp>
      <p:sp>
        <p:nvSpPr>
          <p:cNvPr id="3" name="Content Placeholder 2"/>
          <p:cNvSpPr>
            <a:spLocks noGrp="1"/>
          </p:cNvSpPr>
          <p:nvPr>
            <p:ph idx="1"/>
          </p:nvPr>
        </p:nvSpPr>
        <p:spPr/>
        <p:txBody>
          <a:bodyPr rtlCol="0">
            <a:normAutofit/>
          </a:bodyPr>
          <a:lstStyle/>
          <a:p>
            <a:pPr>
              <a:buNone/>
              <a:defRPr/>
            </a:pPr>
            <a:endParaRPr lang="en-US" dirty="0" smtClean="0"/>
          </a:p>
          <a:p>
            <a:pPr>
              <a:buNone/>
              <a:defRPr/>
            </a:pPr>
            <a:endParaRPr lang="en-US" dirty="0" smtClean="0"/>
          </a:p>
          <a:p>
            <a:pPr>
              <a:defRPr/>
            </a:pPr>
            <a:r>
              <a:rPr lang="en-US" dirty="0" smtClean="0"/>
              <a:t>Compiler has to know where the string ends</a:t>
            </a:r>
          </a:p>
          <a:p>
            <a:pPr>
              <a:defRPr/>
            </a:pPr>
            <a:r>
              <a:rPr lang="en-US" dirty="0" smtClean="0"/>
              <a:t>‘\0’ denotes the end of string</a:t>
            </a:r>
          </a:p>
          <a:p>
            <a:pPr>
              <a:buNone/>
              <a:defRPr/>
            </a:pPr>
            <a:r>
              <a:rPr lang="en-US" i="1" dirty="0" smtClean="0"/>
              <a:t>{program: </a:t>
            </a:r>
            <a:r>
              <a:rPr lang="en-US" i="1" dirty="0" err="1" smtClean="0"/>
              <a:t>hello.c</a:t>
            </a:r>
            <a:r>
              <a:rPr lang="en-US" i="1" dirty="0" smtClean="0"/>
              <a:t>}</a:t>
            </a:r>
          </a:p>
        </p:txBody>
      </p:sp>
      <p:sp>
        <p:nvSpPr>
          <p:cNvPr id="4" name="Footer Placeholder 3"/>
          <p:cNvSpPr>
            <a:spLocks noGrp="1"/>
          </p:cNvSpPr>
          <p:nvPr>
            <p:ph type="ftr" sz="quarter" idx="11"/>
          </p:nvPr>
        </p:nvSpPr>
        <p:spPr/>
        <p:txBody>
          <a:bodyPr/>
          <a:lstStyle/>
          <a:p>
            <a:pPr>
              <a:defRPr/>
            </a:pPr>
            <a:r>
              <a:rPr lang="en-US"/>
              <a:t>C Course, Programming club, Fall 2008</a:t>
            </a:r>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1FE400BA-5B9F-4070-B725-213439AF4435}" type="slidenum">
              <a:rPr lang="en-US" altLang="tr-TR">
                <a:solidFill>
                  <a:srgbClr val="898989"/>
                </a:solidFill>
              </a:rPr>
              <a:pPr/>
              <a:t>10</a:t>
            </a:fld>
            <a:endParaRPr lang="en-US" altLang="tr-TR">
              <a:solidFill>
                <a:srgbClr val="898989"/>
              </a:solidFill>
            </a:endParaRPr>
          </a:p>
        </p:txBody>
      </p:sp>
      <p:sp>
        <p:nvSpPr>
          <p:cNvPr id="6" name="TextBox 5"/>
          <p:cNvSpPr txBox="1">
            <a:spLocks noChangeArrowheads="1"/>
          </p:cNvSpPr>
          <p:nvPr/>
        </p:nvSpPr>
        <p:spPr bwMode="auto">
          <a:xfrm>
            <a:off x="2667000" y="1600201"/>
            <a:ext cx="2851150" cy="64611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char string[] = “hello world”;</a:t>
            </a:r>
          </a:p>
          <a:p>
            <a:r>
              <a:rPr lang="en-US" altLang="tr-TR"/>
              <a:t>printf(“%s”, string);</a:t>
            </a:r>
          </a:p>
        </p:txBody>
      </p:sp>
    </p:spTree>
    <p:extLst>
      <p:ext uri="{BB962C8B-B14F-4D97-AF65-F5344CB8AC3E}">
        <p14:creationId xmlns:p14="http://schemas.microsoft.com/office/powerpoint/2010/main" val="18548365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7620000" y="4419600"/>
            <a:ext cx="6096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28" name="Title 1"/>
          <p:cNvSpPr>
            <a:spLocks noGrp="1"/>
          </p:cNvSpPr>
          <p:nvPr>
            <p:ph type="title"/>
          </p:nvPr>
        </p:nvSpPr>
        <p:spPr/>
        <p:txBody>
          <a:bodyPr/>
          <a:lstStyle/>
          <a:p>
            <a:r>
              <a:rPr lang="en-US" altLang="tr-TR" smtClean="0"/>
              <a:t>Pointers in C</a:t>
            </a:r>
          </a:p>
        </p:txBody>
      </p:sp>
      <p:sp>
        <p:nvSpPr>
          <p:cNvPr id="3" name="Content Placeholder 2"/>
          <p:cNvSpPr>
            <a:spLocks noGrp="1"/>
          </p:cNvSpPr>
          <p:nvPr>
            <p:ph idx="1"/>
          </p:nvPr>
        </p:nvSpPr>
        <p:spPr/>
        <p:txBody>
          <a:bodyPr rtlCol="0">
            <a:normAutofit fontScale="92500" lnSpcReduction="10000"/>
          </a:bodyPr>
          <a:lstStyle/>
          <a:p>
            <a:pPr>
              <a:defRPr/>
            </a:pPr>
            <a:r>
              <a:rPr lang="en-US" dirty="0" smtClean="0"/>
              <a:t>A char pointer points to a single byte.</a:t>
            </a:r>
          </a:p>
          <a:p>
            <a:pPr>
              <a:defRPr/>
            </a:pPr>
            <a:r>
              <a:rPr lang="en-US" dirty="0" smtClean="0"/>
              <a:t>An </a:t>
            </a:r>
            <a:r>
              <a:rPr lang="en-US" dirty="0" err="1" smtClean="0"/>
              <a:t>int</a:t>
            </a:r>
            <a:r>
              <a:rPr lang="en-US" dirty="0" smtClean="0"/>
              <a:t> pointer points to first of the four bytes.</a:t>
            </a:r>
          </a:p>
          <a:p>
            <a:pPr>
              <a:defRPr/>
            </a:pPr>
            <a:r>
              <a:rPr lang="en-US" dirty="0" smtClean="0"/>
              <a:t>A pointer itself has an address where it is stored in the memory. Pointers are usually four bytes.</a:t>
            </a:r>
          </a:p>
          <a:p>
            <a:pPr>
              <a:buNone/>
              <a:defRPr/>
            </a:pPr>
            <a:endParaRPr lang="en-US" dirty="0" smtClean="0"/>
          </a:p>
          <a:p>
            <a:pPr>
              <a:buFont typeface="Arial" charset="0"/>
              <a:buChar char="•"/>
              <a:defRPr/>
            </a:pPr>
            <a:r>
              <a:rPr lang="en-US" dirty="0" smtClean="0"/>
              <a:t>* is called the dereference operator</a:t>
            </a:r>
          </a:p>
          <a:p>
            <a:pPr>
              <a:defRPr/>
            </a:pPr>
            <a:r>
              <a:rPr lang="en-US" dirty="0" smtClean="0"/>
              <a:t>*p gives the value pointed by p</a:t>
            </a:r>
          </a:p>
          <a:p>
            <a:pPr>
              <a:buNone/>
              <a:defRPr/>
            </a:pPr>
            <a:r>
              <a:rPr lang="en-US" dirty="0" smtClean="0"/>
              <a:t>							    4	</a:t>
            </a:r>
            <a:r>
              <a:rPr lang="en-US" dirty="0" err="1" smtClean="0"/>
              <a:t>i</a:t>
            </a:r>
            <a:endParaRPr lang="en-US" dirty="0" smtClean="0"/>
          </a:p>
          <a:p>
            <a:pPr>
              <a:buNone/>
              <a:defRPr/>
            </a:pPr>
            <a:r>
              <a:rPr lang="en-US" dirty="0" smtClean="0"/>
              <a:t>					p</a:t>
            </a:r>
          </a:p>
          <a:p>
            <a:pPr>
              <a:defRPr/>
            </a:pPr>
            <a:r>
              <a:rPr lang="en-US" dirty="0" smtClean="0"/>
              <a:t>&amp; (ampersand) is called the reference operator</a:t>
            </a:r>
          </a:p>
          <a:p>
            <a:pPr>
              <a:defRPr/>
            </a:pPr>
            <a:r>
              <a:rPr lang="en-US" dirty="0" smtClean="0"/>
              <a:t>&amp;</a:t>
            </a:r>
            <a:r>
              <a:rPr lang="en-US" dirty="0" err="1" smtClean="0"/>
              <a:t>i</a:t>
            </a:r>
            <a:r>
              <a:rPr lang="en-US" dirty="0" smtClean="0"/>
              <a:t> returns the address of variable </a:t>
            </a:r>
            <a:r>
              <a:rPr lang="en-US" dirty="0" err="1" smtClean="0"/>
              <a:t>i</a:t>
            </a:r>
            <a:endParaRPr lang="en-US" dirty="0" smtClean="0"/>
          </a:p>
        </p:txBody>
      </p:sp>
      <p:sp>
        <p:nvSpPr>
          <p:cNvPr id="5" name="Oval 4"/>
          <p:cNvSpPr/>
          <p:nvPr/>
        </p:nvSpPr>
        <p:spPr>
          <a:xfrm>
            <a:off x="6019800" y="4876800"/>
            <a:ext cx="6096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7" name="Curved Connector 6"/>
          <p:cNvCxnSpPr/>
          <p:nvPr/>
        </p:nvCxnSpPr>
        <p:spPr>
          <a:xfrm flipV="1">
            <a:off x="6400800" y="4572000"/>
            <a:ext cx="1143000" cy="457200"/>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Footer Placeholder 7"/>
          <p:cNvSpPr>
            <a:spLocks noGrp="1"/>
          </p:cNvSpPr>
          <p:nvPr>
            <p:ph type="ftr" sz="quarter" idx="11"/>
          </p:nvPr>
        </p:nvSpPr>
        <p:spPr/>
        <p:txBody>
          <a:bodyPr/>
          <a:lstStyle/>
          <a:p>
            <a:pPr>
              <a:defRPr/>
            </a:pPr>
            <a:r>
              <a:rPr lang="en-US"/>
              <a:t>C Course, Programming club, Fall 2008</a:t>
            </a:r>
          </a:p>
        </p:txBody>
      </p:sp>
      <p:sp>
        <p:nvSpPr>
          <p:cNvPr id="9" name="Slide Number Placeholder 8"/>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6C19B72-6525-44FD-BB03-A22E8052C54A}" type="slidenum">
              <a:rPr lang="en-US" altLang="tr-TR">
                <a:solidFill>
                  <a:srgbClr val="898989"/>
                </a:solidFill>
              </a:rPr>
              <a:pPr/>
              <a:t>11</a:t>
            </a:fld>
            <a:endParaRPr lang="en-US" altLang="tr-TR">
              <a:solidFill>
                <a:srgbClr val="898989"/>
              </a:solidFill>
            </a:endParaRPr>
          </a:p>
        </p:txBody>
      </p:sp>
      <p:sp>
        <p:nvSpPr>
          <p:cNvPr id="10" name="TextBox 9"/>
          <p:cNvSpPr txBox="1">
            <a:spLocks noChangeArrowheads="1"/>
          </p:cNvSpPr>
          <p:nvPr/>
        </p:nvSpPr>
        <p:spPr bwMode="auto">
          <a:xfrm>
            <a:off x="2438400" y="3124200"/>
            <a:ext cx="1739900" cy="36988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int *p; </a:t>
            </a:r>
            <a:r>
              <a:rPr lang="en-US" altLang="tr-TR">
                <a:sym typeface="Wingdings" panose="05000000000000000000" pitchFamily="2" charset="2"/>
              </a:rPr>
              <a:t> </a:t>
            </a:r>
            <a:r>
              <a:rPr lang="en-US" altLang="tr-TR"/>
              <a:t>int* p;</a:t>
            </a:r>
          </a:p>
        </p:txBody>
      </p:sp>
      <p:sp>
        <p:nvSpPr>
          <p:cNvPr id="11" name="TextBox 10"/>
          <p:cNvSpPr txBox="1">
            <a:spLocks noChangeArrowheads="1"/>
          </p:cNvSpPr>
          <p:nvPr/>
        </p:nvSpPr>
        <p:spPr bwMode="auto">
          <a:xfrm>
            <a:off x="2438401" y="4419601"/>
            <a:ext cx="1108075" cy="64611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int i = 4;</a:t>
            </a:r>
          </a:p>
          <a:p>
            <a:r>
              <a:rPr lang="en-US" altLang="tr-TR"/>
              <a:t>p = &amp;i;	</a:t>
            </a:r>
          </a:p>
        </p:txBody>
      </p:sp>
      <mc:AlternateContent xmlns:mc="http://schemas.openxmlformats.org/markup-compatibility/2006" xmlns:p14="http://schemas.microsoft.com/office/powerpoint/2010/main">
        <mc:Choice Requires="p14">
          <p:contentPart p14:bwMode="auto" r:id="rId2">
            <p14:nvContentPartPr>
              <p14:cNvPr id="1026" name="Ink 2"/>
              <p14:cNvContentPartPr>
                <a14:cpLocks xmlns:a14="http://schemas.microsoft.com/office/drawing/2010/main" noRot="1" noChangeAspect="1" noEditPoints="1" noChangeArrowheads="1" noChangeShapeType="1"/>
              </p14:cNvContentPartPr>
              <p14:nvPr/>
            </p14:nvContentPartPr>
            <p14:xfrm>
              <a:off x="21272500" y="21750338"/>
              <a:ext cx="0" cy="0"/>
            </p14:xfrm>
          </p:contentPart>
        </mc:Choice>
        <mc:Fallback xmlns="">
          <p:pic>
            <p:nvPicPr>
              <p:cNvPr id="1026" name="Ink 2"/>
              <p:cNvPicPr>
                <a:picLocks noRot="1" noChangeAspect="1" noEditPoints="1" noChangeArrowheads="1" noChangeShapeType="1"/>
              </p:cNvPicPr>
              <p:nvPr/>
            </p:nvPicPr>
            <p:blipFill>
              <a:blip r:embed="rId3"/>
              <a:stretch>
                <a:fillRect/>
              </a:stretch>
            </p:blipFill>
            <p:spPr>
              <a:xfrm>
                <a:off x="21272500" y="21750338"/>
                <a:ext cx="0" cy="0"/>
              </a:xfrm>
              <a:prstGeom prst="rect">
                <a:avLst/>
              </a:prstGeom>
            </p:spPr>
          </p:pic>
        </mc:Fallback>
      </mc:AlternateContent>
    </p:spTree>
    <p:extLst>
      <p:ext uri="{BB962C8B-B14F-4D97-AF65-F5344CB8AC3E}">
        <p14:creationId xmlns:p14="http://schemas.microsoft.com/office/powerpoint/2010/main" val="17227486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tr-TR" smtClean="0"/>
              <a:t>More about pointers</a:t>
            </a:r>
          </a:p>
        </p:txBody>
      </p:sp>
      <p:sp>
        <p:nvSpPr>
          <p:cNvPr id="3" name="Content Placeholder 2"/>
          <p:cNvSpPr>
            <a:spLocks noGrp="1"/>
          </p:cNvSpPr>
          <p:nvPr>
            <p:ph idx="1"/>
          </p:nvPr>
        </p:nvSpPr>
        <p:spPr/>
        <p:txBody>
          <a:bodyPr rtlCol="0">
            <a:normAutofit/>
          </a:bodyPr>
          <a:lstStyle/>
          <a:p>
            <a:pPr>
              <a:buNone/>
              <a:defRPr/>
            </a:pPr>
            <a:r>
              <a:rPr lang="en-US" dirty="0" err="1" smtClean="0"/>
              <a:t>int</a:t>
            </a:r>
            <a:r>
              <a:rPr lang="en-US" dirty="0" smtClean="0"/>
              <a:t> x = 1, y = 2, z[10];</a:t>
            </a:r>
          </a:p>
          <a:p>
            <a:pPr>
              <a:buNone/>
              <a:defRPr/>
            </a:pPr>
            <a:r>
              <a:rPr lang="en-US" dirty="0" err="1" smtClean="0"/>
              <a:t>int</a:t>
            </a:r>
            <a:r>
              <a:rPr lang="en-US" dirty="0" smtClean="0"/>
              <a:t> *</a:t>
            </a:r>
            <a:r>
              <a:rPr lang="en-US" dirty="0" err="1" smtClean="0"/>
              <a:t>ip</a:t>
            </a:r>
            <a:r>
              <a:rPr lang="en-US" dirty="0" smtClean="0"/>
              <a:t>;		/* A pointer to an </a:t>
            </a:r>
            <a:r>
              <a:rPr lang="en-US" dirty="0" err="1" smtClean="0"/>
              <a:t>int</a:t>
            </a:r>
            <a:r>
              <a:rPr lang="en-US" dirty="0" smtClean="0"/>
              <a:t> */</a:t>
            </a:r>
          </a:p>
          <a:p>
            <a:pPr>
              <a:buNone/>
              <a:defRPr/>
            </a:pPr>
            <a:endParaRPr lang="en-US" dirty="0" smtClean="0"/>
          </a:p>
          <a:p>
            <a:pPr>
              <a:buNone/>
              <a:defRPr/>
            </a:pPr>
            <a:r>
              <a:rPr lang="en-US" dirty="0" err="1" smtClean="0"/>
              <a:t>ip</a:t>
            </a:r>
            <a:r>
              <a:rPr lang="en-US" dirty="0" smtClean="0"/>
              <a:t> = &amp;x;		/* Address of x */</a:t>
            </a:r>
          </a:p>
          <a:p>
            <a:pPr>
              <a:buNone/>
              <a:defRPr/>
            </a:pPr>
            <a:r>
              <a:rPr lang="en-US" dirty="0" smtClean="0"/>
              <a:t>y = *</a:t>
            </a:r>
            <a:r>
              <a:rPr lang="en-US" dirty="0" err="1" smtClean="0"/>
              <a:t>ip</a:t>
            </a:r>
            <a:r>
              <a:rPr lang="en-US" dirty="0" smtClean="0"/>
              <a:t>;		/* Content of </a:t>
            </a:r>
            <a:r>
              <a:rPr lang="en-US" dirty="0" err="1" smtClean="0"/>
              <a:t>ip</a:t>
            </a:r>
            <a:r>
              <a:rPr lang="en-US" dirty="0" smtClean="0"/>
              <a:t> */</a:t>
            </a:r>
          </a:p>
          <a:p>
            <a:pPr>
              <a:buNone/>
              <a:defRPr/>
            </a:pPr>
            <a:r>
              <a:rPr lang="en-US" dirty="0" smtClean="0"/>
              <a:t>*</a:t>
            </a:r>
            <a:r>
              <a:rPr lang="en-US" dirty="0" err="1" smtClean="0"/>
              <a:t>ip</a:t>
            </a:r>
            <a:r>
              <a:rPr lang="en-US" dirty="0" smtClean="0"/>
              <a:t> = 0;		/* Clear where </a:t>
            </a:r>
            <a:r>
              <a:rPr lang="en-US" dirty="0" err="1" smtClean="0"/>
              <a:t>ip</a:t>
            </a:r>
            <a:r>
              <a:rPr lang="en-US" dirty="0" smtClean="0"/>
              <a:t> points */</a:t>
            </a:r>
          </a:p>
          <a:p>
            <a:pPr>
              <a:buNone/>
              <a:defRPr/>
            </a:pPr>
            <a:r>
              <a:rPr lang="en-US" dirty="0" err="1" smtClean="0"/>
              <a:t>ip</a:t>
            </a:r>
            <a:r>
              <a:rPr lang="en-US" dirty="0" smtClean="0"/>
              <a:t> = &amp;z[0];		/* Address of first element </a:t>
            </a:r>
            <a:br>
              <a:rPr lang="en-US" dirty="0" smtClean="0"/>
            </a:br>
            <a:r>
              <a:rPr lang="en-US" dirty="0" smtClean="0"/>
              <a:t>				of z */</a:t>
            </a:r>
          </a:p>
          <a:p>
            <a:pPr>
              <a:buNone/>
              <a:defRPr/>
            </a:pPr>
            <a:r>
              <a:rPr lang="en-US" i="1" dirty="0" smtClean="0"/>
              <a:t>{program: </a:t>
            </a:r>
            <a:r>
              <a:rPr lang="en-US" i="1" dirty="0" err="1" smtClean="0"/>
              <a:t>pointer.c</a:t>
            </a:r>
            <a:r>
              <a:rPr lang="en-US" i="1" dirty="0" smtClean="0"/>
              <a:t>}</a:t>
            </a:r>
          </a:p>
        </p:txBody>
      </p:sp>
      <p:sp>
        <p:nvSpPr>
          <p:cNvPr id="4" name="Footer Placeholder 3"/>
          <p:cNvSpPr>
            <a:spLocks noGrp="1"/>
          </p:cNvSpPr>
          <p:nvPr>
            <p:ph type="ftr" sz="quarter" idx="11"/>
          </p:nvPr>
        </p:nvSpPr>
        <p:spPr/>
        <p:txBody>
          <a:bodyPr/>
          <a:lstStyle/>
          <a:p>
            <a:pPr>
              <a:defRPr/>
            </a:pPr>
            <a:r>
              <a:rPr lang="en-US"/>
              <a:t>C Course, Programming club, Fall 2008</a:t>
            </a:r>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9A61D46-6B6B-416A-A71E-054402338BA0}" type="slidenum">
              <a:rPr lang="en-US" altLang="tr-TR">
                <a:solidFill>
                  <a:srgbClr val="898989"/>
                </a:solidFill>
              </a:rPr>
              <a:pPr/>
              <a:t>12</a:t>
            </a:fld>
            <a:endParaRPr lang="en-US" altLang="tr-TR">
              <a:solidFill>
                <a:srgbClr val="898989"/>
              </a:solidFill>
            </a:endParaRPr>
          </a:p>
        </p:txBody>
      </p:sp>
    </p:spTree>
    <p:extLst>
      <p:ext uri="{BB962C8B-B14F-4D97-AF65-F5344CB8AC3E}">
        <p14:creationId xmlns:p14="http://schemas.microsoft.com/office/powerpoint/2010/main" val="29252980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56458" y="224444"/>
            <a:ext cx="10371790" cy="5947756"/>
          </a:xfrm>
        </p:spPr>
        <p:txBody>
          <a:bodyPr>
            <a:normAutofit fontScale="70000" lnSpcReduction="20000"/>
          </a:bodyPr>
          <a:lstStyle/>
          <a:p>
            <a:r>
              <a:rPr lang="tr-TR" dirty="0"/>
              <a:t>#</a:t>
            </a:r>
            <a:r>
              <a:rPr lang="tr-TR" dirty="0" err="1"/>
              <a:t>include</a:t>
            </a:r>
            <a:r>
              <a:rPr lang="tr-TR" dirty="0"/>
              <a:t> &lt;</a:t>
            </a:r>
            <a:r>
              <a:rPr lang="tr-TR" dirty="0" err="1"/>
              <a:t>stdio.h</a:t>
            </a:r>
            <a:r>
              <a:rPr lang="tr-TR" dirty="0"/>
              <a:t>&gt;</a:t>
            </a:r>
          </a:p>
          <a:p>
            <a:endParaRPr lang="tr-TR" dirty="0"/>
          </a:p>
          <a:p>
            <a:r>
              <a:rPr lang="tr-TR" dirty="0"/>
              <a:t>#define PRPTR(p) </a:t>
            </a:r>
            <a:r>
              <a:rPr lang="tr-TR" dirty="0" err="1"/>
              <a:t>printf</a:t>
            </a:r>
            <a:r>
              <a:rPr lang="tr-TR" dirty="0"/>
              <a:t>("%p\n", p)</a:t>
            </a:r>
          </a:p>
          <a:p>
            <a:r>
              <a:rPr lang="tr-TR" dirty="0"/>
              <a:t>#define </a:t>
            </a:r>
            <a:r>
              <a:rPr lang="tr-TR" dirty="0" err="1"/>
              <a:t>deger</a:t>
            </a:r>
            <a:r>
              <a:rPr lang="tr-TR" dirty="0"/>
              <a:t>(z) </a:t>
            </a:r>
            <a:r>
              <a:rPr lang="tr-TR" dirty="0" err="1"/>
              <a:t>printf</a:t>
            </a:r>
            <a:r>
              <a:rPr lang="tr-TR" dirty="0"/>
              <a:t>("%d\n", z)</a:t>
            </a:r>
          </a:p>
          <a:p>
            <a:r>
              <a:rPr lang="tr-TR" dirty="0" err="1"/>
              <a:t>int</a:t>
            </a:r>
            <a:r>
              <a:rPr lang="tr-TR" dirty="0"/>
              <a:t> main()</a:t>
            </a:r>
          </a:p>
          <a:p>
            <a:r>
              <a:rPr lang="tr-TR" dirty="0"/>
              <a:t>{</a:t>
            </a:r>
          </a:p>
          <a:p>
            <a:r>
              <a:rPr lang="tr-TR" dirty="0"/>
              <a:t>    </a:t>
            </a:r>
            <a:r>
              <a:rPr lang="tr-TR" dirty="0" err="1"/>
              <a:t>int</a:t>
            </a:r>
            <a:r>
              <a:rPr lang="tr-TR" dirty="0"/>
              <a:t> </a:t>
            </a:r>
            <a:r>
              <a:rPr lang="tr-TR" dirty="0" err="1"/>
              <a:t>nums</a:t>
            </a:r>
            <a:r>
              <a:rPr lang="tr-TR" dirty="0"/>
              <a:t>[] = {10,20,30,40,50,60,70,80};</a:t>
            </a:r>
          </a:p>
          <a:p>
            <a:r>
              <a:rPr lang="tr-TR" dirty="0"/>
              <a:t>    </a:t>
            </a:r>
            <a:r>
              <a:rPr lang="tr-TR" dirty="0" err="1"/>
              <a:t>int</a:t>
            </a:r>
            <a:r>
              <a:rPr lang="tr-TR" dirty="0"/>
              <a:t> *a = </a:t>
            </a:r>
            <a:r>
              <a:rPr lang="tr-TR" dirty="0" err="1"/>
              <a:t>nums</a:t>
            </a:r>
            <a:r>
              <a:rPr lang="tr-TR" dirty="0"/>
              <a:t>;</a:t>
            </a:r>
          </a:p>
          <a:p>
            <a:r>
              <a:rPr lang="tr-TR" dirty="0"/>
              <a:t>    </a:t>
            </a:r>
            <a:r>
              <a:rPr lang="tr-TR" dirty="0" err="1"/>
              <a:t>int</a:t>
            </a:r>
            <a:r>
              <a:rPr lang="tr-TR" dirty="0"/>
              <a:t> *b = a ;</a:t>
            </a:r>
          </a:p>
          <a:p>
            <a:endParaRPr lang="tr-TR" dirty="0"/>
          </a:p>
          <a:p>
            <a:r>
              <a:rPr lang="tr-TR" dirty="0"/>
              <a:t>    </a:t>
            </a:r>
            <a:r>
              <a:rPr lang="tr-TR" dirty="0" err="1"/>
              <a:t>printf</a:t>
            </a:r>
            <a:r>
              <a:rPr lang="tr-TR" dirty="0"/>
              <a:t>("</a:t>
            </a:r>
            <a:r>
              <a:rPr lang="tr-TR" dirty="0" err="1"/>
              <a:t>sizeof</a:t>
            </a:r>
            <a:r>
              <a:rPr lang="tr-TR" dirty="0"/>
              <a:t>(</a:t>
            </a:r>
            <a:r>
              <a:rPr lang="tr-TR" dirty="0" err="1"/>
              <a:t>int</a:t>
            </a:r>
            <a:r>
              <a:rPr lang="tr-TR" dirty="0"/>
              <a:t>) = %d\n", </a:t>
            </a:r>
            <a:r>
              <a:rPr lang="tr-TR" dirty="0" err="1"/>
              <a:t>sizeof</a:t>
            </a:r>
            <a:r>
              <a:rPr lang="tr-TR" dirty="0"/>
              <a:t>(</a:t>
            </a:r>
            <a:r>
              <a:rPr lang="tr-TR" dirty="0" err="1"/>
              <a:t>int</a:t>
            </a:r>
            <a:r>
              <a:rPr lang="tr-TR" dirty="0"/>
              <a:t>));</a:t>
            </a:r>
          </a:p>
          <a:p>
            <a:r>
              <a:rPr lang="tr-TR" dirty="0"/>
              <a:t>    PRPTR(a + 0);</a:t>
            </a:r>
          </a:p>
          <a:p>
            <a:r>
              <a:rPr lang="tr-TR" dirty="0"/>
              <a:t>    PRPTR(a + 1);</a:t>
            </a:r>
          </a:p>
          <a:p>
            <a:r>
              <a:rPr lang="tr-TR" dirty="0"/>
              <a:t>    PRPTR(b + 2);</a:t>
            </a:r>
          </a:p>
          <a:p>
            <a:r>
              <a:rPr lang="tr-TR" dirty="0"/>
              <a:t>    </a:t>
            </a:r>
            <a:r>
              <a:rPr lang="tr-TR" dirty="0" err="1"/>
              <a:t>deger</a:t>
            </a:r>
            <a:r>
              <a:rPr lang="tr-TR" dirty="0"/>
              <a:t> (*(b)+2);</a:t>
            </a:r>
          </a:p>
          <a:p>
            <a:r>
              <a:rPr lang="tr-TR" dirty="0"/>
              <a:t>    PRPTR(b - 1);</a:t>
            </a:r>
          </a:p>
          <a:p>
            <a:endParaRPr lang="tr-TR" dirty="0"/>
          </a:p>
          <a:p>
            <a:r>
              <a:rPr lang="tr-TR" dirty="0"/>
              <a:t>    </a:t>
            </a:r>
            <a:r>
              <a:rPr lang="tr-TR" dirty="0" err="1"/>
              <a:t>return</a:t>
            </a:r>
            <a:r>
              <a:rPr lang="tr-TR" dirty="0"/>
              <a:t> 0;</a:t>
            </a:r>
          </a:p>
          <a:p>
            <a:r>
              <a:rPr lang="tr-TR" dirty="0"/>
              <a:t>}</a:t>
            </a:r>
          </a:p>
          <a:p>
            <a:endParaRPr lang="tr-TR" dirty="0"/>
          </a:p>
        </p:txBody>
      </p:sp>
    </p:spTree>
    <p:extLst>
      <p:ext uri="{BB962C8B-B14F-4D97-AF65-F5344CB8AC3E}">
        <p14:creationId xmlns:p14="http://schemas.microsoft.com/office/powerpoint/2010/main" val="2405496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606830" y="584661"/>
            <a:ext cx="4281054" cy="5702531"/>
          </a:xfrm>
        </p:spPr>
        <p:txBody>
          <a:bodyPr>
            <a:normAutofit fontScale="25000" lnSpcReduction="20000"/>
          </a:bodyPr>
          <a:lstStyle/>
          <a:p>
            <a:r>
              <a:rPr lang="tr-TR" dirty="0"/>
              <a:t>#</a:t>
            </a:r>
            <a:r>
              <a:rPr lang="tr-TR" dirty="0" err="1"/>
              <a:t>include</a:t>
            </a:r>
            <a:r>
              <a:rPr lang="tr-TR" dirty="0"/>
              <a:t> &lt;</a:t>
            </a:r>
            <a:r>
              <a:rPr lang="tr-TR" dirty="0" err="1"/>
              <a:t>stdio.h</a:t>
            </a:r>
            <a:r>
              <a:rPr lang="tr-TR" dirty="0" smtClean="0"/>
              <a:t>&gt;</a:t>
            </a:r>
            <a:endParaRPr lang="tr-TR" dirty="0"/>
          </a:p>
          <a:p>
            <a:pPr marL="0" indent="0">
              <a:buNone/>
              <a:tabLst>
                <a:tab pos="92075" algn="l"/>
              </a:tabLst>
            </a:pPr>
            <a:r>
              <a:rPr lang="tr-TR" sz="3600" dirty="0" err="1"/>
              <a:t>void</a:t>
            </a:r>
            <a:r>
              <a:rPr lang="tr-TR" sz="3600" dirty="0"/>
              <a:t> </a:t>
            </a:r>
            <a:r>
              <a:rPr lang="tr-TR" sz="3600" dirty="0" err="1"/>
              <a:t>getSumAndMean</a:t>
            </a:r>
            <a:r>
              <a:rPr lang="tr-TR" sz="3600" dirty="0"/>
              <a:t>(</a:t>
            </a:r>
            <a:r>
              <a:rPr lang="tr-TR" sz="3600" dirty="0" err="1"/>
              <a:t>float</a:t>
            </a:r>
            <a:r>
              <a:rPr lang="tr-TR" sz="3600" dirty="0"/>
              <a:t>   * </a:t>
            </a:r>
            <a:r>
              <a:rPr lang="tr-TR" sz="3600" dirty="0" err="1"/>
              <a:t>fvals</a:t>
            </a:r>
            <a:r>
              <a:rPr lang="tr-TR" sz="3600" dirty="0"/>
              <a:t>, </a:t>
            </a:r>
            <a:r>
              <a:rPr lang="tr-TR" sz="3600" dirty="0" err="1"/>
              <a:t>int</a:t>
            </a:r>
            <a:r>
              <a:rPr lang="tr-TR" sz="3600" dirty="0"/>
              <a:t> size, </a:t>
            </a:r>
            <a:r>
              <a:rPr lang="tr-TR" sz="3600" dirty="0" err="1"/>
              <a:t>float</a:t>
            </a:r>
            <a:r>
              <a:rPr lang="tr-TR" sz="3600" dirty="0"/>
              <a:t>* s, </a:t>
            </a:r>
            <a:r>
              <a:rPr lang="tr-TR" sz="3600" dirty="0" err="1"/>
              <a:t>float</a:t>
            </a:r>
            <a:r>
              <a:rPr lang="tr-TR" sz="3600" dirty="0"/>
              <a:t>* m);</a:t>
            </a:r>
          </a:p>
          <a:p>
            <a:pPr marL="0" indent="0">
              <a:buNone/>
              <a:tabLst>
                <a:tab pos="92075" algn="l"/>
              </a:tabLst>
            </a:pPr>
            <a:endParaRPr lang="tr-TR" sz="3600" dirty="0"/>
          </a:p>
          <a:p>
            <a:pPr marL="0" indent="0">
              <a:buNone/>
              <a:tabLst>
                <a:tab pos="92075" algn="l"/>
              </a:tabLst>
            </a:pPr>
            <a:r>
              <a:rPr lang="tr-TR" sz="3600" dirty="0" err="1"/>
              <a:t>int</a:t>
            </a:r>
            <a:r>
              <a:rPr lang="tr-TR" sz="3600" dirty="0"/>
              <a:t> main()</a:t>
            </a:r>
          </a:p>
          <a:p>
            <a:pPr marL="0" indent="0">
              <a:buNone/>
              <a:tabLst>
                <a:tab pos="92075" algn="l"/>
              </a:tabLst>
            </a:pPr>
            <a:r>
              <a:rPr lang="tr-TR" sz="3600" dirty="0"/>
              <a:t>{</a:t>
            </a:r>
          </a:p>
          <a:p>
            <a:pPr marL="0" indent="0">
              <a:buNone/>
              <a:tabLst>
                <a:tab pos="92075" algn="l"/>
              </a:tabLst>
            </a:pPr>
            <a:r>
              <a:rPr lang="tr-TR" sz="3600" dirty="0"/>
              <a:t>	</a:t>
            </a:r>
            <a:r>
              <a:rPr lang="tr-TR" sz="3600" dirty="0" err="1"/>
              <a:t>int</a:t>
            </a:r>
            <a:r>
              <a:rPr lang="tr-TR" sz="3600" dirty="0"/>
              <a:t> i, N;</a:t>
            </a:r>
          </a:p>
          <a:p>
            <a:pPr marL="0" indent="0">
              <a:buNone/>
              <a:tabLst>
                <a:tab pos="92075" algn="l"/>
              </a:tabLst>
            </a:pPr>
            <a:r>
              <a:rPr lang="tr-TR" sz="3600" dirty="0"/>
              <a:t>	</a:t>
            </a:r>
            <a:r>
              <a:rPr lang="tr-TR" sz="3600" dirty="0" err="1"/>
              <a:t>float</a:t>
            </a:r>
            <a:r>
              <a:rPr lang="tr-TR" sz="3600" dirty="0"/>
              <a:t> *</a:t>
            </a:r>
            <a:r>
              <a:rPr lang="tr-TR" sz="3600" dirty="0" err="1"/>
              <a:t>arr</a:t>
            </a:r>
            <a:r>
              <a:rPr lang="tr-TR" sz="3600" dirty="0"/>
              <a:t>;</a:t>
            </a:r>
          </a:p>
          <a:p>
            <a:pPr marL="0" indent="0">
              <a:buNone/>
              <a:tabLst>
                <a:tab pos="92075" algn="l"/>
              </a:tabLst>
            </a:pPr>
            <a:r>
              <a:rPr lang="tr-TR" sz="3600" dirty="0"/>
              <a:t>	</a:t>
            </a:r>
            <a:r>
              <a:rPr lang="tr-TR" sz="3600" dirty="0" err="1"/>
              <a:t>float</a:t>
            </a:r>
            <a:r>
              <a:rPr lang="tr-TR" sz="3600" dirty="0"/>
              <a:t> </a:t>
            </a:r>
            <a:r>
              <a:rPr lang="tr-TR" sz="3600" dirty="0" err="1"/>
              <a:t>sum</a:t>
            </a:r>
            <a:r>
              <a:rPr lang="tr-TR" sz="3600" dirty="0"/>
              <a:t>=0, </a:t>
            </a:r>
            <a:r>
              <a:rPr lang="tr-TR" sz="3600" dirty="0" err="1"/>
              <a:t>mean</a:t>
            </a:r>
            <a:r>
              <a:rPr lang="tr-TR" sz="3600" dirty="0"/>
              <a:t>=0; </a:t>
            </a:r>
          </a:p>
          <a:p>
            <a:pPr marL="0" indent="0">
              <a:buNone/>
              <a:tabLst>
                <a:tab pos="92075" algn="l"/>
              </a:tabLst>
            </a:pPr>
            <a:endParaRPr lang="tr-TR" sz="3600" dirty="0"/>
          </a:p>
          <a:p>
            <a:pPr marL="0" indent="0">
              <a:buNone/>
              <a:tabLst>
                <a:tab pos="92075" algn="l"/>
              </a:tabLst>
            </a:pPr>
            <a:r>
              <a:rPr lang="tr-TR" sz="3600" dirty="0"/>
              <a:t>	</a:t>
            </a:r>
            <a:r>
              <a:rPr lang="tr-TR" sz="3600" dirty="0" err="1"/>
              <a:t>printf</a:t>
            </a:r>
            <a:r>
              <a:rPr lang="tr-TR" sz="3600" dirty="0"/>
              <a:t>("How </a:t>
            </a:r>
            <a:r>
              <a:rPr lang="tr-TR" sz="3600" dirty="0" err="1"/>
              <a:t>many</a:t>
            </a:r>
            <a:r>
              <a:rPr lang="tr-TR" sz="3600" dirty="0"/>
              <a:t> </a:t>
            </a:r>
            <a:r>
              <a:rPr lang="tr-TR" sz="3600" dirty="0" err="1"/>
              <a:t>elements</a:t>
            </a:r>
            <a:r>
              <a:rPr lang="tr-TR" sz="3600" dirty="0"/>
              <a:t>? ");</a:t>
            </a:r>
          </a:p>
          <a:p>
            <a:pPr marL="0" indent="0">
              <a:buNone/>
              <a:tabLst>
                <a:tab pos="92075" algn="l"/>
              </a:tabLst>
            </a:pPr>
            <a:r>
              <a:rPr lang="tr-TR" sz="3600" dirty="0"/>
              <a:t>	</a:t>
            </a:r>
            <a:r>
              <a:rPr lang="tr-TR" sz="3600" dirty="0" err="1"/>
              <a:t>scanf</a:t>
            </a:r>
            <a:r>
              <a:rPr lang="tr-TR" sz="3600" dirty="0"/>
              <a:t>("%</a:t>
            </a:r>
            <a:r>
              <a:rPr lang="tr-TR" sz="3600" dirty="0" err="1"/>
              <a:t>d",&amp;N</a:t>
            </a:r>
            <a:r>
              <a:rPr lang="tr-TR" sz="3600" dirty="0"/>
              <a:t>);</a:t>
            </a:r>
          </a:p>
          <a:p>
            <a:pPr marL="0" indent="0">
              <a:buNone/>
              <a:tabLst>
                <a:tab pos="92075" algn="l"/>
              </a:tabLst>
            </a:pPr>
            <a:r>
              <a:rPr lang="tr-TR" sz="3600" dirty="0"/>
              <a:t>	</a:t>
            </a:r>
            <a:r>
              <a:rPr lang="tr-TR" sz="3600" dirty="0" err="1"/>
              <a:t>arr</a:t>
            </a:r>
            <a:r>
              <a:rPr lang="tr-TR" sz="3600" dirty="0"/>
              <a:t> = (</a:t>
            </a:r>
            <a:r>
              <a:rPr lang="tr-TR" sz="3600" dirty="0" err="1"/>
              <a:t>float</a:t>
            </a:r>
            <a:r>
              <a:rPr lang="tr-TR" sz="3600" dirty="0"/>
              <a:t>*)</a:t>
            </a:r>
            <a:r>
              <a:rPr lang="tr-TR" sz="3600" dirty="0" err="1"/>
              <a:t>malloc</a:t>
            </a:r>
            <a:r>
              <a:rPr lang="tr-TR" sz="3600" dirty="0"/>
              <a:t>(</a:t>
            </a:r>
            <a:r>
              <a:rPr lang="tr-TR" sz="3600" dirty="0" err="1"/>
              <a:t>sizeof</a:t>
            </a:r>
            <a:r>
              <a:rPr lang="tr-TR" sz="3600" dirty="0"/>
              <a:t>(</a:t>
            </a:r>
            <a:r>
              <a:rPr lang="tr-TR" sz="3600" dirty="0" err="1"/>
              <a:t>float</a:t>
            </a:r>
            <a:r>
              <a:rPr lang="tr-TR" sz="3600" dirty="0"/>
              <a:t>)*N);</a:t>
            </a:r>
          </a:p>
          <a:p>
            <a:pPr marL="0" indent="0">
              <a:buNone/>
              <a:tabLst>
                <a:tab pos="92075" algn="l"/>
              </a:tabLst>
            </a:pPr>
            <a:endParaRPr lang="tr-TR" sz="3600" dirty="0"/>
          </a:p>
          <a:p>
            <a:pPr marL="0" indent="0">
              <a:buNone/>
              <a:tabLst>
                <a:tab pos="92075" algn="l"/>
              </a:tabLst>
            </a:pPr>
            <a:r>
              <a:rPr lang="tr-TR" sz="3600" dirty="0"/>
              <a:t>	</a:t>
            </a:r>
            <a:r>
              <a:rPr lang="tr-TR" sz="3600" dirty="0" err="1"/>
              <a:t>printf</a:t>
            </a:r>
            <a:r>
              <a:rPr lang="tr-TR" sz="3600" dirty="0"/>
              <a:t>("</a:t>
            </a:r>
            <a:r>
              <a:rPr lang="tr-TR" sz="3600" dirty="0" err="1"/>
              <a:t>Input</a:t>
            </a:r>
            <a:r>
              <a:rPr lang="tr-TR" sz="3600" dirty="0"/>
              <a:t> %d </a:t>
            </a:r>
            <a:r>
              <a:rPr lang="tr-TR" sz="3600" dirty="0" err="1"/>
              <a:t>float</a:t>
            </a:r>
            <a:r>
              <a:rPr lang="tr-TR" sz="3600" dirty="0"/>
              <a:t> </a:t>
            </a:r>
            <a:r>
              <a:rPr lang="tr-TR" sz="3600" dirty="0" err="1"/>
              <a:t>values</a:t>
            </a:r>
            <a:r>
              <a:rPr lang="tr-TR" sz="3600" dirty="0"/>
              <a:t>.\</a:t>
            </a:r>
            <a:r>
              <a:rPr lang="tr-TR" sz="3600" dirty="0" err="1"/>
              <a:t>n",N</a:t>
            </a:r>
            <a:r>
              <a:rPr lang="tr-TR" sz="3600" dirty="0"/>
              <a:t>);</a:t>
            </a:r>
          </a:p>
          <a:p>
            <a:pPr marL="0" indent="0">
              <a:buNone/>
              <a:tabLst>
                <a:tab pos="92075" algn="l"/>
              </a:tabLst>
            </a:pPr>
            <a:r>
              <a:rPr lang="tr-TR" sz="3600" dirty="0"/>
              <a:t>	</a:t>
            </a:r>
            <a:r>
              <a:rPr lang="tr-TR" sz="3600" dirty="0" err="1"/>
              <a:t>for</a:t>
            </a:r>
            <a:r>
              <a:rPr lang="tr-TR" sz="3600" dirty="0"/>
              <a:t> (i=0;i&lt;</a:t>
            </a:r>
            <a:r>
              <a:rPr lang="tr-TR" sz="3600" dirty="0" err="1"/>
              <a:t>N;i</a:t>
            </a:r>
            <a:r>
              <a:rPr lang="tr-TR" sz="3600" dirty="0"/>
              <a:t>++) {</a:t>
            </a:r>
          </a:p>
          <a:p>
            <a:pPr marL="0" indent="0">
              <a:buNone/>
              <a:tabLst>
                <a:tab pos="92075" algn="l"/>
              </a:tabLst>
            </a:pPr>
            <a:r>
              <a:rPr lang="tr-TR" sz="3600" dirty="0"/>
              <a:t>		</a:t>
            </a:r>
            <a:r>
              <a:rPr lang="tr-TR" sz="3600" dirty="0" err="1"/>
              <a:t>scanf</a:t>
            </a:r>
            <a:r>
              <a:rPr lang="tr-TR" sz="3600" dirty="0"/>
              <a:t>("%f",&amp;</a:t>
            </a:r>
            <a:r>
              <a:rPr lang="tr-TR" sz="3600" dirty="0" err="1"/>
              <a:t>arr</a:t>
            </a:r>
            <a:r>
              <a:rPr lang="tr-TR" sz="3600" dirty="0"/>
              <a:t>[i]);</a:t>
            </a:r>
          </a:p>
          <a:p>
            <a:pPr marL="0" indent="0">
              <a:buNone/>
              <a:tabLst>
                <a:tab pos="92075" algn="l"/>
              </a:tabLst>
            </a:pPr>
            <a:r>
              <a:rPr lang="tr-TR" sz="3600" dirty="0"/>
              <a:t>	}</a:t>
            </a:r>
          </a:p>
          <a:p>
            <a:pPr marL="0" indent="0">
              <a:buNone/>
              <a:tabLst>
                <a:tab pos="92075" algn="l"/>
              </a:tabLst>
            </a:pPr>
            <a:r>
              <a:rPr lang="tr-TR" sz="3600" dirty="0"/>
              <a:t>	</a:t>
            </a:r>
            <a:r>
              <a:rPr lang="tr-TR" sz="3600" dirty="0" err="1"/>
              <a:t>getSumAndMean</a:t>
            </a:r>
            <a:r>
              <a:rPr lang="tr-TR" sz="3600" dirty="0"/>
              <a:t>(</a:t>
            </a:r>
            <a:r>
              <a:rPr lang="tr-TR" sz="3600" dirty="0" err="1"/>
              <a:t>arr</a:t>
            </a:r>
            <a:r>
              <a:rPr lang="tr-TR" sz="3600" dirty="0"/>
              <a:t>, N, &amp;</a:t>
            </a:r>
            <a:r>
              <a:rPr lang="tr-TR" sz="3600" dirty="0" err="1"/>
              <a:t>sum</a:t>
            </a:r>
            <a:r>
              <a:rPr lang="tr-TR" sz="3600" dirty="0"/>
              <a:t>, &amp;</a:t>
            </a:r>
            <a:r>
              <a:rPr lang="tr-TR" sz="3600" dirty="0" err="1"/>
              <a:t>mean</a:t>
            </a:r>
            <a:r>
              <a:rPr lang="tr-TR" sz="3600" dirty="0"/>
              <a:t>);</a:t>
            </a:r>
          </a:p>
          <a:p>
            <a:pPr marL="0" indent="0">
              <a:buNone/>
              <a:tabLst>
                <a:tab pos="92075" algn="l"/>
              </a:tabLst>
            </a:pPr>
            <a:r>
              <a:rPr lang="tr-TR" sz="3600" dirty="0"/>
              <a:t>	</a:t>
            </a:r>
            <a:r>
              <a:rPr lang="tr-TR" sz="3600" dirty="0" err="1"/>
              <a:t>printf</a:t>
            </a:r>
            <a:r>
              <a:rPr lang="tr-TR" sz="3600" dirty="0"/>
              <a:t>("</a:t>
            </a:r>
            <a:r>
              <a:rPr lang="tr-TR" sz="3600" dirty="0" err="1"/>
              <a:t>sum</a:t>
            </a:r>
            <a:r>
              <a:rPr lang="tr-TR" sz="3600" dirty="0"/>
              <a:t>=%f , </a:t>
            </a:r>
            <a:r>
              <a:rPr lang="tr-TR" sz="3600" dirty="0" err="1"/>
              <a:t>mean</a:t>
            </a:r>
            <a:r>
              <a:rPr lang="tr-TR" sz="3600" dirty="0"/>
              <a:t>=%f\n",</a:t>
            </a:r>
            <a:r>
              <a:rPr lang="tr-TR" sz="3600" dirty="0" err="1"/>
              <a:t>sum,mean</a:t>
            </a:r>
            <a:r>
              <a:rPr lang="tr-TR" sz="3600" dirty="0"/>
              <a:t>);</a:t>
            </a:r>
          </a:p>
          <a:p>
            <a:pPr marL="0" indent="0">
              <a:buNone/>
              <a:tabLst>
                <a:tab pos="92075" algn="l"/>
              </a:tabLst>
            </a:pPr>
            <a:r>
              <a:rPr lang="tr-TR" sz="3600" dirty="0"/>
              <a:t>	</a:t>
            </a:r>
            <a:r>
              <a:rPr lang="tr-TR" sz="3600" dirty="0" err="1"/>
              <a:t>free</a:t>
            </a:r>
            <a:r>
              <a:rPr lang="tr-TR" sz="3600" dirty="0"/>
              <a:t>(</a:t>
            </a:r>
            <a:r>
              <a:rPr lang="tr-TR" sz="3600" dirty="0" err="1"/>
              <a:t>arr</a:t>
            </a:r>
            <a:r>
              <a:rPr lang="tr-TR" sz="3600" dirty="0"/>
              <a:t>);</a:t>
            </a:r>
          </a:p>
          <a:p>
            <a:pPr marL="0" indent="0">
              <a:buNone/>
              <a:tabLst>
                <a:tab pos="92075" algn="l"/>
              </a:tabLst>
            </a:pPr>
            <a:endParaRPr lang="tr-TR" sz="3600" dirty="0"/>
          </a:p>
          <a:p>
            <a:pPr marL="0" indent="0">
              <a:buNone/>
              <a:tabLst>
                <a:tab pos="92075" algn="l"/>
              </a:tabLst>
            </a:pPr>
            <a:r>
              <a:rPr lang="tr-TR" sz="3600" dirty="0"/>
              <a:t>	</a:t>
            </a:r>
            <a:r>
              <a:rPr lang="tr-TR" sz="3600" dirty="0" err="1"/>
              <a:t>return</a:t>
            </a:r>
            <a:r>
              <a:rPr lang="tr-TR" sz="3600" dirty="0"/>
              <a:t> 0; </a:t>
            </a:r>
          </a:p>
          <a:p>
            <a:pPr marL="0" indent="0">
              <a:buNone/>
              <a:tabLst>
                <a:tab pos="92075" algn="l"/>
              </a:tabLst>
            </a:pPr>
            <a:r>
              <a:rPr lang="tr-TR" sz="3600" dirty="0" smtClean="0"/>
              <a:t>}</a:t>
            </a:r>
          </a:p>
        </p:txBody>
      </p:sp>
      <p:sp>
        <p:nvSpPr>
          <p:cNvPr id="6" name="İçerik Yer Tutucusu 2"/>
          <p:cNvSpPr txBox="1">
            <a:spLocks/>
          </p:cNvSpPr>
          <p:nvPr/>
        </p:nvSpPr>
        <p:spPr>
          <a:xfrm>
            <a:off x="4829695" y="515389"/>
            <a:ext cx="6567054" cy="5771803"/>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Font typeface="Wingdings" pitchFamily="2" charset="2"/>
              <a:buNone/>
              <a:tabLst>
                <a:tab pos="92075" algn="l"/>
              </a:tabLst>
            </a:pPr>
            <a:r>
              <a:rPr lang="tr-TR" sz="2400" dirty="0" err="1" smtClean="0"/>
              <a:t>void</a:t>
            </a:r>
            <a:r>
              <a:rPr lang="tr-TR" sz="2400" dirty="0" smtClean="0"/>
              <a:t> </a:t>
            </a:r>
            <a:r>
              <a:rPr lang="tr-TR" sz="2400" dirty="0" err="1" smtClean="0"/>
              <a:t>getSumAndMean</a:t>
            </a:r>
            <a:r>
              <a:rPr lang="tr-TR" sz="2400" dirty="0" smtClean="0"/>
              <a:t>( </a:t>
            </a:r>
            <a:r>
              <a:rPr lang="tr-TR" sz="2400" dirty="0" err="1" smtClean="0"/>
              <a:t>float</a:t>
            </a:r>
            <a:r>
              <a:rPr lang="tr-TR" sz="2400" dirty="0" smtClean="0"/>
              <a:t>   * </a:t>
            </a:r>
            <a:r>
              <a:rPr lang="tr-TR" sz="2400" dirty="0" err="1" smtClean="0"/>
              <a:t>fvals</a:t>
            </a:r>
            <a:r>
              <a:rPr lang="tr-TR" sz="2400" dirty="0" smtClean="0"/>
              <a:t>, </a:t>
            </a:r>
            <a:r>
              <a:rPr lang="tr-TR" sz="2400" dirty="0" err="1" smtClean="0"/>
              <a:t>int</a:t>
            </a:r>
            <a:r>
              <a:rPr lang="tr-TR" sz="2400" dirty="0" smtClean="0"/>
              <a:t> size, </a:t>
            </a:r>
            <a:r>
              <a:rPr lang="tr-TR" sz="2400" dirty="0" err="1" smtClean="0"/>
              <a:t>float</a:t>
            </a:r>
            <a:r>
              <a:rPr lang="tr-TR" sz="2400" dirty="0" smtClean="0"/>
              <a:t>* s, </a:t>
            </a:r>
            <a:r>
              <a:rPr lang="tr-TR" sz="2400" dirty="0" err="1" smtClean="0"/>
              <a:t>float</a:t>
            </a:r>
            <a:r>
              <a:rPr lang="tr-TR" sz="2400" dirty="0" smtClean="0"/>
              <a:t>* m)</a:t>
            </a:r>
          </a:p>
          <a:p>
            <a:pPr marL="0" indent="0">
              <a:buFont typeface="Wingdings" pitchFamily="2" charset="2"/>
              <a:buNone/>
              <a:tabLst>
                <a:tab pos="92075" algn="l"/>
              </a:tabLst>
            </a:pPr>
            <a:r>
              <a:rPr lang="tr-TR" sz="2400" dirty="0" smtClean="0"/>
              <a:t>{</a:t>
            </a:r>
          </a:p>
          <a:p>
            <a:pPr marL="0" indent="0">
              <a:buFont typeface="Wingdings" pitchFamily="2" charset="2"/>
              <a:buNone/>
              <a:tabLst>
                <a:tab pos="92075" algn="l"/>
              </a:tabLst>
            </a:pPr>
            <a:r>
              <a:rPr lang="tr-TR" sz="2400" dirty="0" smtClean="0"/>
              <a:t>	</a:t>
            </a:r>
            <a:r>
              <a:rPr lang="tr-TR" sz="2400" dirty="0" err="1" smtClean="0"/>
              <a:t>float</a:t>
            </a:r>
            <a:r>
              <a:rPr lang="tr-TR" sz="2400" dirty="0" smtClean="0"/>
              <a:t> </a:t>
            </a:r>
            <a:r>
              <a:rPr lang="tr-TR" sz="2400" dirty="0" err="1" smtClean="0"/>
              <a:t>sum</a:t>
            </a:r>
            <a:r>
              <a:rPr lang="tr-TR" sz="2400" dirty="0" smtClean="0"/>
              <a:t>=0;</a:t>
            </a:r>
          </a:p>
          <a:p>
            <a:pPr marL="0" indent="0">
              <a:buFont typeface="Wingdings" pitchFamily="2" charset="2"/>
              <a:buNone/>
              <a:tabLst>
                <a:tab pos="92075" algn="l"/>
              </a:tabLst>
            </a:pPr>
            <a:r>
              <a:rPr lang="tr-TR" sz="2400" dirty="0" smtClean="0"/>
              <a:t>	</a:t>
            </a:r>
            <a:r>
              <a:rPr lang="tr-TR" sz="2400" dirty="0" err="1" smtClean="0"/>
              <a:t>int</a:t>
            </a:r>
            <a:r>
              <a:rPr lang="tr-TR" sz="2400" dirty="0" smtClean="0"/>
              <a:t> i;</a:t>
            </a:r>
          </a:p>
          <a:p>
            <a:pPr marL="0" indent="0">
              <a:buFont typeface="Wingdings" pitchFamily="2" charset="2"/>
              <a:buNone/>
              <a:tabLst>
                <a:tab pos="92075" algn="l"/>
              </a:tabLst>
            </a:pPr>
            <a:r>
              <a:rPr lang="tr-TR" sz="2400" dirty="0" smtClean="0"/>
              <a:t>	</a:t>
            </a:r>
            <a:r>
              <a:rPr lang="tr-TR" sz="2400" dirty="0" err="1" smtClean="0"/>
              <a:t>for</a:t>
            </a:r>
            <a:r>
              <a:rPr lang="tr-TR" sz="2400" dirty="0" smtClean="0"/>
              <a:t> (i=0;i&lt;</a:t>
            </a:r>
            <a:r>
              <a:rPr lang="tr-TR" sz="2400" dirty="0" err="1" smtClean="0"/>
              <a:t>size;i</a:t>
            </a:r>
            <a:r>
              <a:rPr lang="tr-TR" sz="2400" dirty="0" smtClean="0"/>
              <a:t>++) { </a:t>
            </a:r>
            <a:r>
              <a:rPr lang="tr-TR" sz="2400" dirty="0" err="1" smtClean="0"/>
              <a:t>sum</a:t>
            </a:r>
            <a:r>
              <a:rPr lang="tr-TR" sz="2400" dirty="0" smtClean="0"/>
              <a:t>+=</a:t>
            </a:r>
            <a:r>
              <a:rPr lang="tr-TR" sz="2400" dirty="0" err="1" smtClean="0"/>
              <a:t>fvals</a:t>
            </a:r>
            <a:r>
              <a:rPr lang="tr-TR" sz="2400" dirty="0" smtClean="0"/>
              <a:t>[i];}</a:t>
            </a:r>
          </a:p>
          <a:p>
            <a:pPr marL="0" indent="0">
              <a:buFont typeface="Wingdings" pitchFamily="2" charset="2"/>
              <a:buNone/>
              <a:tabLst>
                <a:tab pos="92075" algn="l"/>
              </a:tabLst>
            </a:pPr>
            <a:r>
              <a:rPr lang="tr-TR" sz="2400" dirty="0" smtClean="0"/>
              <a:t>	*s=</a:t>
            </a:r>
            <a:r>
              <a:rPr lang="tr-TR" sz="2400" dirty="0" err="1" smtClean="0"/>
              <a:t>sum</a:t>
            </a:r>
            <a:r>
              <a:rPr lang="tr-TR" sz="2400" dirty="0" smtClean="0"/>
              <a:t>;</a:t>
            </a:r>
          </a:p>
          <a:p>
            <a:pPr marL="0" indent="0">
              <a:buFont typeface="Wingdings" pitchFamily="2" charset="2"/>
              <a:buNone/>
              <a:tabLst>
                <a:tab pos="92075" algn="l"/>
              </a:tabLst>
            </a:pPr>
            <a:r>
              <a:rPr lang="tr-TR" sz="2400" dirty="0" smtClean="0"/>
              <a:t>	*m=*s/size;</a:t>
            </a:r>
          </a:p>
          <a:p>
            <a:pPr marL="0" indent="0">
              <a:buFont typeface="Wingdings" pitchFamily="2" charset="2"/>
              <a:buNone/>
              <a:tabLst>
                <a:tab pos="92075" algn="l"/>
              </a:tabLst>
            </a:pPr>
            <a:r>
              <a:rPr lang="tr-TR" sz="2400" dirty="0" smtClean="0"/>
              <a:t>}</a:t>
            </a:r>
            <a:endParaRPr lang="tr-TR" sz="2400" dirty="0"/>
          </a:p>
        </p:txBody>
      </p:sp>
    </p:spTree>
    <p:extLst>
      <p:ext uri="{BB962C8B-B14F-4D97-AF65-F5344CB8AC3E}">
        <p14:creationId xmlns:p14="http://schemas.microsoft.com/office/powerpoint/2010/main" val="2275700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tr-TR" smtClean="0"/>
              <a:t>Pointers and arrays</a:t>
            </a:r>
          </a:p>
        </p:txBody>
      </p:sp>
      <p:sp>
        <p:nvSpPr>
          <p:cNvPr id="14339" name="Content Placeholder 2"/>
          <p:cNvSpPr>
            <a:spLocks noGrp="1"/>
          </p:cNvSpPr>
          <p:nvPr>
            <p:ph idx="1"/>
          </p:nvPr>
        </p:nvSpPr>
        <p:spPr/>
        <p:txBody>
          <a:bodyPr/>
          <a:lstStyle/>
          <a:p>
            <a:r>
              <a:rPr lang="en-US" altLang="tr-TR" smtClean="0"/>
              <a:t>Pointers and arrays are tightly coupled.</a:t>
            </a:r>
          </a:p>
          <a:p>
            <a:pPr>
              <a:buFont typeface="Arial" panose="020B0604020202020204" pitchFamily="34" charset="0"/>
              <a:buNone/>
            </a:pPr>
            <a:r>
              <a:rPr lang="en-US" altLang="tr-TR" smtClean="0"/>
              <a:t>char a[] = “Hello World”;</a:t>
            </a:r>
          </a:p>
          <a:p>
            <a:pPr>
              <a:buFont typeface="Arial" panose="020B0604020202020204" pitchFamily="34" charset="0"/>
              <a:buNone/>
            </a:pPr>
            <a:r>
              <a:rPr lang="en-US" altLang="tr-TR" smtClean="0"/>
              <a:t>char *p = &amp;a[0];</a:t>
            </a:r>
          </a:p>
        </p:txBody>
      </p:sp>
      <p:pic>
        <p:nvPicPr>
          <p:cNvPr id="14340" name="Picture 3" descr="5_pointers_and_arrays.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3429001"/>
            <a:ext cx="8531225" cy="179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1"/>
          </p:nvPr>
        </p:nvSpPr>
        <p:spPr/>
        <p:txBody>
          <a:bodyPr/>
          <a:lstStyle/>
          <a:p>
            <a:pPr>
              <a:defRPr/>
            </a:pPr>
            <a:r>
              <a:rPr lang="en-US"/>
              <a:t>C Course, Programming club, Fall 2008</a:t>
            </a:r>
          </a:p>
        </p:txBody>
      </p:sp>
      <p:sp>
        <p:nvSpPr>
          <p:cNvPr id="6" name="Slide Number Placeholder 5"/>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022045-E6A3-4F0F-9E06-6B1109B4A91F}" type="slidenum">
              <a:rPr lang="en-US" altLang="tr-TR">
                <a:solidFill>
                  <a:srgbClr val="898989"/>
                </a:solidFill>
              </a:rPr>
              <a:pPr/>
              <a:t>15</a:t>
            </a:fld>
            <a:endParaRPr lang="en-US" altLang="tr-TR">
              <a:solidFill>
                <a:srgbClr val="898989"/>
              </a:solidFill>
            </a:endParaRPr>
          </a:p>
        </p:txBody>
      </p:sp>
    </p:spTree>
    <p:extLst>
      <p:ext uri="{BB962C8B-B14F-4D97-AF65-F5344CB8AC3E}">
        <p14:creationId xmlns:p14="http://schemas.microsoft.com/office/powerpoint/2010/main" val="12885056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제목 1"/>
          <p:cNvSpPr>
            <a:spLocks noGrp="1"/>
          </p:cNvSpPr>
          <p:nvPr>
            <p:ph type="title"/>
          </p:nvPr>
        </p:nvSpPr>
        <p:spPr>
          <a:xfrm>
            <a:off x="845405" y="-138822"/>
            <a:ext cx="10058400" cy="1609344"/>
          </a:xfrm>
        </p:spPr>
        <p:txBody>
          <a:bodyPr/>
          <a:lstStyle/>
          <a:p>
            <a:r>
              <a:rPr lang="en-US" altLang="ko-KR" b="1" u="sng" dirty="0" smtClean="0"/>
              <a:t>String input</a:t>
            </a:r>
            <a:endParaRPr lang="ko-KR" altLang="en-US" b="1" u="sng" dirty="0" smtClean="0"/>
          </a:p>
        </p:txBody>
      </p:sp>
      <p:sp>
        <p:nvSpPr>
          <p:cNvPr id="9219" name="내용 개체 틀 2"/>
          <p:cNvSpPr>
            <a:spLocks noGrp="1"/>
          </p:cNvSpPr>
          <p:nvPr>
            <p:ph idx="1"/>
          </p:nvPr>
        </p:nvSpPr>
        <p:spPr>
          <a:xfrm>
            <a:off x="609600" y="1474788"/>
            <a:ext cx="10972800" cy="4525962"/>
          </a:xfrm>
        </p:spPr>
        <p:txBody>
          <a:bodyPr>
            <a:normAutofit fontScale="92500" lnSpcReduction="10000"/>
          </a:bodyPr>
          <a:lstStyle/>
          <a:p>
            <a:r>
              <a:rPr lang="en-US" altLang="ko-KR" sz="2000" dirty="0" smtClean="0"/>
              <a:t>Example1)</a:t>
            </a:r>
          </a:p>
          <a:p>
            <a:pPr lvl="1" eaLnBrk="1" hangingPunct="1">
              <a:lnSpc>
                <a:spcPct val="90000"/>
              </a:lnSpc>
              <a:buFont typeface="Wingdings" pitchFamily="2" charset="2"/>
              <a:buNone/>
            </a:pPr>
            <a:r>
              <a:rPr lang="en-US" altLang="ko-KR" sz="1600" b="1" dirty="0" smtClean="0">
                <a:solidFill>
                  <a:srgbClr val="0000CC"/>
                </a:solidFill>
                <a:latin typeface="Courier New" pitchFamily="49" charset="0"/>
                <a:cs typeface="Courier New" pitchFamily="49" charset="0"/>
              </a:rPr>
              <a:t>char</a:t>
            </a:r>
            <a:r>
              <a:rPr lang="en-US" altLang="ko-KR" sz="1600" b="1" dirty="0" smtClean="0">
                <a:latin typeface="Courier New" pitchFamily="49" charset="0"/>
                <a:cs typeface="Courier New" pitchFamily="49" charset="0"/>
              </a:rPr>
              <a:t> *name; </a:t>
            </a:r>
          </a:p>
          <a:p>
            <a:pPr lvl="1" eaLnBrk="1" hangingPunct="1">
              <a:lnSpc>
                <a:spcPct val="90000"/>
              </a:lnSpc>
              <a:buFont typeface="Wingdings" pitchFamily="2" charset="2"/>
              <a:buNone/>
            </a:pPr>
            <a:r>
              <a:rPr lang="en-US" altLang="ko-KR" sz="1600" b="1" dirty="0" err="1" smtClean="0">
                <a:latin typeface="Courier New" pitchFamily="49" charset="0"/>
                <a:cs typeface="Courier New" pitchFamily="49" charset="0"/>
              </a:rPr>
              <a:t>scanf</a:t>
            </a:r>
            <a:r>
              <a:rPr lang="en-US" altLang="ko-KR" sz="1600" b="1" dirty="0" smtClean="0">
                <a:latin typeface="Courier New" pitchFamily="49" charset="0"/>
                <a:cs typeface="Courier New" pitchFamily="49" charset="0"/>
              </a:rPr>
              <a:t>("%s", name);</a:t>
            </a:r>
          </a:p>
          <a:p>
            <a:pPr lvl="1" eaLnBrk="1" hangingPunct="1">
              <a:lnSpc>
                <a:spcPct val="90000"/>
              </a:lnSpc>
              <a:buFont typeface="Wingdings" pitchFamily="2" charset="2"/>
              <a:buNone/>
            </a:pPr>
            <a:endParaRPr lang="en-US" altLang="ko-KR" sz="2400" dirty="0" smtClean="0"/>
          </a:p>
          <a:p>
            <a:r>
              <a:rPr lang="en-US" altLang="ko-KR" sz="2000" dirty="0" smtClean="0"/>
              <a:t>Example2)</a:t>
            </a:r>
          </a:p>
          <a:p>
            <a:pPr lvl="1" eaLnBrk="1" hangingPunct="1">
              <a:lnSpc>
                <a:spcPct val="90000"/>
              </a:lnSpc>
              <a:buFont typeface="Wingdings" pitchFamily="2" charset="2"/>
              <a:buNone/>
            </a:pPr>
            <a:r>
              <a:rPr lang="en-US" altLang="ko-KR" sz="1600" b="1" dirty="0" smtClean="0">
                <a:solidFill>
                  <a:srgbClr val="0000CC"/>
                </a:solidFill>
                <a:latin typeface="Courier New" pitchFamily="49" charset="0"/>
                <a:cs typeface="Courier New" pitchFamily="49" charset="0"/>
              </a:rPr>
              <a:t>char</a:t>
            </a:r>
            <a:r>
              <a:rPr lang="en-US" altLang="ko-KR" sz="1600" b="1" dirty="0" smtClean="0">
                <a:latin typeface="Courier New" pitchFamily="49" charset="0"/>
                <a:cs typeface="Courier New" pitchFamily="49" charset="0"/>
              </a:rPr>
              <a:t> name[81]; </a:t>
            </a:r>
          </a:p>
          <a:p>
            <a:pPr lvl="1" eaLnBrk="1" hangingPunct="1">
              <a:lnSpc>
                <a:spcPct val="90000"/>
              </a:lnSpc>
              <a:buFont typeface="Wingdings" pitchFamily="2" charset="2"/>
              <a:buNone/>
            </a:pPr>
            <a:r>
              <a:rPr lang="en-US" altLang="ko-KR" sz="1600" b="1" dirty="0" err="1" smtClean="0">
                <a:latin typeface="Courier New" pitchFamily="49" charset="0"/>
                <a:cs typeface="Courier New" pitchFamily="49" charset="0"/>
              </a:rPr>
              <a:t>scanf</a:t>
            </a:r>
            <a:r>
              <a:rPr lang="en-US" altLang="ko-KR" sz="1600" b="1" dirty="0" smtClean="0">
                <a:latin typeface="Courier New" pitchFamily="49" charset="0"/>
                <a:cs typeface="Courier New" pitchFamily="49" charset="0"/>
              </a:rPr>
              <a:t>("%s", name);</a:t>
            </a:r>
          </a:p>
          <a:p>
            <a:pPr lvl="1" eaLnBrk="1" hangingPunct="1">
              <a:lnSpc>
                <a:spcPct val="90000"/>
              </a:lnSpc>
              <a:buFont typeface="Wingdings" pitchFamily="2" charset="2"/>
              <a:buNone/>
            </a:pPr>
            <a:endParaRPr lang="en-US" altLang="ko-KR" sz="2400" dirty="0" smtClean="0"/>
          </a:p>
          <a:p>
            <a:r>
              <a:rPr lang="en-US" altLang="ko-KR" sz="2000" dirty="0" smtClean="0"/>
              <a:t>Example3)</a:t>
            </a:r>
          </a:p>
          <a:p>
            <a:pPr lvl="1" eaLnBrk="1" hangingPunct="1">
              <a:lnSpc>
                <a:spcPct val="90000"/>
              </a:lnSpc>
              <a:buFont typeface="Wingdings" pitchFamily="2" charset="2"/>
              <a:buNone/>
            </a:pPr>
            <a:r>
              <a:rPr lang="en-US" altLang="ko-KR" sz="1600" b="1" dirty="0" smtClean="0">
                <a:solidFill>
                  <a:srgbClr val="0000CC"/>
                </a:solidFill>
                <a:latin typeface="Courier New" pitchFamily="49" charset="0"/>
                <a:cs typeface="Courier New" pitchFamily="49" charset="0"/>
              </a:rPr>
              <a:t>char</a:t>
            </a:r>
            <a:r>
              <a:rPr lang="en-US" altLang="ko-KR" sz="1600" b="1" dirty="0" smtClean="0">
                <a:latin typeface="Courier New" pitchFamily="49" charset="0"/>
                <a:cs typeface="Courier New" pitchFamily="49" charset="0"/>
              </a:rPr>
              <a:t> *name; </a:t>
            </a:r>
          </a:p>
          <a:p>
            <a:pPr lvl="1" eaLnBrk="1" hangingPunct="1">
              <a:lnSpc>
                <a:spcPct val="90000"/>
              </a:lnSpc>
              <a:buFont typeface="Wingdings" pitchFamily="2" charset="2"/>
              <a:buNone/>
            </a:pPr>
            <a:r>
              <a:rPr lang="en-US" altLang="ko-KR" sz="1600" b="1" dirty="0" smtClean="0">
                <a:latin typeface="Courier New" pitchFamily="49" charset="0"/>
                <a:cs typeface="Courier New" pitchFamily="49" charset="0"/>
              </a:rPr>
              <a:t>name=(char*)</a:t>
            </a:r>
            <a:r>
              <a:rPr lang="en-US" altLang="ko-KR" sz="1600" b="1" dirty="0" err="1" smtClean="0">
                <a:latin typeface="Courier New" pitchFamily="49" charset="0"/>
                <a:cs typeface="Courier New" pitchFamily="49" charset="0"/>
              </a:rPr>
              <a:t>malloc</a:t>
            </a:r>
            <a:r>
              <a:rPr lang="en-US" altLang="ko-KR" sz="1600" b="1" dirty="0" smtClean="0">
                <a:latin typeface="Courier New" pitchFamily="49" charset="0"/>
                <a:cs typeface="Courier New" pitchFamily="49" charset="0"/>
              </a:rPr>
              <a:t>(</a:t>
            </a:r>
            <a:r>
              <a:rPr lang="en-US" altLang="ko-KR" sz="1600" b="1" dirty="0" err="1" smtClean="0">
                <a:latin typeface="Courier New" pitchFamily="49" charset="0"/>
                <a:cs typeface="Courier New" pitchFamily="49" charset="0"/>
              </a:rPr>
              <a:t>sizeof</a:t>
            </a:r>
            <a:r>
              <a:rPr lang="en-US" altLang="ko-KR" sz="1600" b="1" dirty="0" smtClean="0">
                <a:latin typeface="Courier New" pitchFamily="49" charset="0"/>
                <a:cs typeface="Courier New" pitchFamily="49" charset="0"/>
              </a:rPr>
              <a:t>(char)*81);</a:t>
            </a:r>
          </a:p>
          <a:p>
            <a:pPr lvl="1" eaLnBrk="1" hangingPunct="1">
              <a:lnSpc>
                <a:spcPct val="90000"/>
              </a:lnSpc>
              <a:buFont typeface="Wingdings" pitchFamily="2" charset="2"/>
              <a:buNone/>
            </a:pPr>
            <a:r>
              <a:rPr lang="en-US" altLang="ko-KR" sz="1600" b="1" dirty="0" err="1" smtClean="0">
                <a:latin typeface="Courier New" pitchFamily="49" charset="0"/>
                <a:cs typeface="Courier New" pitchFamily="49" charset="0"/>
              </a:rPr>
              <a:t>scanf</a:t>
            </a:r>
            <a:r>
              <a:rPr lang="en-US" altLang="ko-KR" sz="1600" b="1" dirty="0" smtClean="0">
                <a:latin typeface="Courier New" pitchFamily="49" charset="0"/>
                <a:cs typeface="Courier New" pitchFamily="49" charset="0"/>
              </a:rPr>
              <a:t>("%s", name);</a:t>
            </a:r>
          </a:p>
          <a:p>
            <a:pPr lvl="1" eaLnBrk="1" hangingPunct="1">
              <a:lnSpc>
                <a:spcPct val="90000"/>
              </a:lnSpc>
              <a:buFont typeface="Wingdings" pitchFamily="2" charset="2"/>
              <a:buNone/>
            </a:pPr>
            <a:r>
              <a:rPr lang="en-US" altLang="ko-KR" sz="1600" b="1" dirty="0" smtClean="0">
                <a:latin typeface="Courier New" pitchFamily="49" charset="0"/>
                <a:cs typeface="Courier New" pitchFamily="49" charset="0"/>
              </a:rPr>
              <a:t>…</a:t>
            </a:r>
          </a:p>
          <a:p>
            <a:pPr lvl="1" eaLnBrk="1" hangingPunct="1">
              <a:lnSpc>
                <a:spcPct val="90000"/>
              </a:lnSpc>
              <a:buFont typeface="Wingdings" pitchFamily="2" charset="2"/>
              <a:buNone/>
            </a:pPr>
            <a:endParaRPr lang="en-US" altLang="ko-KR" sz="1600" b="1" dirty="0" smtClean="0">
              <a:latin typeface="Courier New" pitchFamily="49" charset="0"/>
              <a:cs typeface="Courier New" pitchFamily="49" charset="0"/>
            </a:endParaRPr>
          </a:p>
          <a:p>
            <a:pPr lvl="1" eaLnBrk="1" hangingPunct="1">
              <a:lnSpc>
                <a:spcPct val="90000"/>
              </a:lnSpc>
              <a:buFont typeface="Wingdings" pitchFamily="2" charset="2"/>
              <a:buNone/>
            </a:pPr>
            <a:r>
              <a:rPr lang="en-US" altLang="ko-KR" sz="1600" b="1" dirty="0" smtClean="0">
                <a:latin typeface="Courier New" pitchFamily="49" charset="0"/>
                <a:cs typeface="Courier New" pitchFamily="49" charset="0"/>
              </a:rPr>
              <a:t>free(name); // deallocate when name is no longer useful</a:t>
            </a:r>
            <a:endParaRPr lang="en-US" altLang="ko-KR" sz="2400" dirty="0" smtClean="0"/>
          </a:p>
          <a:p>
            <a:pPr>
              <a:buFont typeface="Wingdings" pitchFamily="2" charset="2"/>
              <a:buNone/>
            </a:pPr>
            <a:endParaRPr lang="en-US" altLang="ko-KR" sz="2800" dirty="0" smtClean="0"/>
          </a:p>
          <a:p>
            <a:pPr>
              <a:buFont typeface="Wingdings" pitchFamily="2" charset="2"/>
              <a:buNone/>
            </a:pPr>
            <a:endParaRPr lang="ko-KR" altLang="en-US" sz="2800" dirty="0" smtClean="0"/>
          </a:p>
        </p:txBody>
      </p:sp>
    </p:spTree>
    <p:extLst>
      <p:ext uri="{BB962C8B-B14F-4D97-AF65-F5344CB8AC3E}">
        <p14:creationId xmlns:p14="http://schemas.microsoft.com/office/powerpoint/2010/main" val="2552285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p:txBody>
          <a:bodyPr>
            <a:normAutofit fontScale="62500" lnSpcReduction="20000"/>
          </a:bodyPr>
          <a:lstStyle/>
          <a:p>
            <a:endParaRPr lang="tr-TR" dirty="0"/>
          </a:p>
          <a:p>
            <a:r>
              <a:rPr lang="tr-TR" dirty="0"/>
              <a:t>#</a:t>
            </a:r>
            <a:r>
              <a:rPr lang="tr-TR" dirty="0" err="1"/>
              <a:t>include</a:t>
            </a:r>
            <a:r>
              <a:rPr lang="tr-TR" dirty="0"/>
              <a:t> &lt;</a:t>
            </a:r>
            <a:r>
              <a:rPr lang="tr-TR" dirty="0" err="1"/>
              <a:t>stdio.h</a:t>
            </a:r>
            <a:r>
              <a:rPr lang="tr-TR" dirty="0"/>
              <a:t>&gt;</a:t>
            </a:r>
          </a:p>
          <a:p>
            <a:endParaRPr lang="tr-TR" dirty="0"/>
          </a:p>
          <a:p>
            <a:r>
              <a:rPr lang="tr-TR" dirty="0" err="1"/>
              <a:t>int</a:t>
            </a:r>
            <a:r>
              <a:rPr lang="tr-TR" dirty="0"/>
              <a:t> main()</a:t>
            </a:r>
          </a:p>
          <a:p>
            <a:r>
              <a:rPr lang="tr-TR" dirty="0"/>
              <a:t>{</a:t>
            </a:r>
          </a:p>
          <a:p>
            <a:r>
              <a:rPr lang="tr-TR" dirty="0"/>
              <a:t>	</a:t>
            </a:r>
            <a:r>
              <a:rPr lang="tr-TR" dirty="0" err="1"/>
              <a:t>char</a:t>
            </a:r>
            <a:r>
              <a:rPr lang="tr-TR" dirty="0"/>
              <a:t> metin[] = "Ara </a:t>
            </a:r>
            <a:r>
              <a:rPr lang="tr-TR" dirty="0" err="1"/>
              <a:t>sinava</a:t>
            </a:r>
            <a:r>
              <a:rPr lang="tr-TR" dirty="0"/>
              <a:t> az </a:t>
            </a:r>
            <a:r>
              <a:rPr lang="tr-TR" dirty="0" err="1"/>
              <a:t>kaldi</a:t>
            </a:r>
            <a:r>
              <a:rPr lang="tr-TR" dirty="0"/>
              <a:t>...";</a:t>
            </a:r>
          </a:p>
          <a:p>
            <a:r>
              <a:rPr lang="tr-TR" dirty="0"/>
              <a:t>	</a:t>
            </a:r>
            <a:r>
              <a:rPr lang="tr-TR" dirty="0" err="1"/>
              <a:t>char</a:t>
            </a:r>
            <a:r>
              <a:rPr lang="tr-TR" dirty="0"/>
              <a:t> *p = metin;</a:t>
            </a:r>
          </a:p>
          <a:p>
            <a:r>
              <a:rPr lang="tr-TR" dirty="0"/>
              <a:t>	</a:t>
            </a:r>
            <a:r>
              <a:rPr lang="tr-TR" dirty="0" err="1"/>
              <a:t>int</a:t>
            </a:r>
            <a:r>
              <a:rPr lang="tr-TR" dirty="0"/>
              <a:t> i;</a:t>
            </a:r>
          </a:p>
          <a:p>
            <a:r>
              <a:rPr lang="tr-TR" dirty="0"/>
              <a:t>    </a:t>
            </a:r>
            <a:r>
              <a:rPr lang="tr-TR" dirty="0" err="1"/>
              <a:t>putchar</a:t>
            </a:r>
            <a:r>
              <a:rPr lang="tr-TR" dirty="0"/>
              <a:t>(*(p+1));</a:t>
            </a:r>
          </a:p>
          <a:p>
            <a:r>
              <a:rPr lang="tr-TR" dirty="0"/>
              <a:t>	</a:t>
            </a:r>
            <a:r>
              <a:rPr lang="tr-TR" dirty="0" err="1"/>
              <a:t>for</a:t>
            </a:r>
            <a:r>
              <a:rPr lang="tr-TR" dirty="0"/>
              <a:t> (i=0; i&lt;</a:t>
            </a:r>
            <a:r>
              <a:rPr lang="tr-TR" dirty="0" err="1"/>
              <a:t>strlen</a:t>
            </a:r>
            <a:r>
              <a:rPr lang="tr-TR" dirty="0"/>
              <a:t>(metin); i++) </a:t>
            </a:r>
            <a:r>
              <a:rPr lang="tr-TR" dirty="0" err="1"/>
              <a:t>putchar</a:t>
            </a:r>
            <a:r>
              <a:rPr lang="tr-TR" dirty="0"/>
              <a:t>(*(</a:t>
            </a:r>
            <a:r>
              <a:rPr lang="tr-TR" dirty="0" err="1"/>
              <a:t>p+i</a:t>
            </a:r>
            <a:r>
              <a:rPr lang="tr-TR" dirty="0"/>
              <a:t>));</a:t>
            </a:r>
          </a:p>
          <a:p>
            <a:r>
              <a:rPr lang="tr-TR" dirty="0"/>
              <a:t>	</a:t>
            </a:r>
            <a:r>
              <a:rPr lang="tr-TR" dirty="0" err="1"/>
              <a:t>for</a:t>
            </a:r>
            <a:r>
              <a:rPr lang="tr-TR" dirty="0"/>
              <a:t> (i=0; i&lt;</a:t>
            </a:r>
            <a:r>
              <a:rPr lang="tr-TR" dirty="0" err="1"/>
              <a:t>strlen</a:t>
            </a:r>
            <a:r>
              <a:rPr lang="tr-TR" dirty="0"/>
              <a:t>(metin); i++) </a:t>
            </a:r>
            <a:r>
              <a:rPr lang="tr-TR" dirty="0" err="1"/>
              <a:t>putchar</a:t>
            </a:r>
            <a:r>
              <a:rPr lang="tr-TR" dirty="0"/>
              <a:t>(p[i]);</a:t>
            </a:r>
          </a:p>
          <a:p>
            <a:endParaRPr lang="tr-TR" dirty="0"/>
          </a:p>
          <a:p>
            <a:endParaRPr lang="tr-TR" dirty="0"/>
          </a:p>
          <a:p>
            <a:r>
              <a:rPr lang="tr-TR" dirty="0"/>
              <a:t>}</a:t>
            </a:r>
          </a:p>
        </p:txBody>
      </p:sp>
    </p:spTree>
    <p:extLst>
      <p:ext uri="{BB962C8B-B14F-4D97-AF65-F5344CB8AC3E}">
        <p14:creationId xmlns:p14="http://schemas.microsoft.com/office/powerpoint/2010/main" val="1314590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133600" y="-228600"/>
            <a:ext cx="7772400" cy="1143000"/>
          </a:xfrm>
        </p:spPr>
        <p:txBody>
          <a:bodyPr/>
          <a:lstStyle/>
          <a:p>
            <a:pPr eaLnBrk="1" hangingPunct="1"/>
            <a:r>
              <a:rPr lang="en-US" altLang="en-US" smtClean="0"/>
              <a:t>Example Code</a:t>
            </a:r>
          </a:p>
        </p:txBody>
      </p:sp>
      <p:sp>
        <p:nvSpPr>
          <p:cNvPr id="4099" name="Text Box 4"/>
          <p:cNvSpPr txBox="1">
            <a:spLocks noChangeArrowheads="1"/>
          </p:cNvSpPr>
          <p:nvPr/>
        </p:nvSpPr>
        <p:spPr bwMode="auto">
          <a:xfrm>
            <a:off x="2057400" y="838200"/>
            <a:ext cx="7658892" cy="286232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 int x = 1, y = 2, z[10];</a:t>
            </a:r>
          </a:p>
          <a:p>
            <a:pPr eaLnBrk="1" hangingPunct="1">
              <a:spcBef>
                <a:spcPct val="0"/>
              </a:spcBef>
              <a:buFontTx/>
              <a:buNone/>
            </a:pPr>
            <a:r>
              <a:rPr lang="en-US" altLang="en-US" sz="1800"/>
              <a:t> int *ip;		// ip is a pointer to an int, so it can point to x, y, or an element of z</a:t>
            </a:r>
          </a:p>
          <a:p>
            <a:pPr eaLnBrk="1" hangingPunct="1">
              <a:spcBef>
                <a:spcPct val="0"/>
              </a:spcBef>
              <a:buFontTx/>
              <a:buNone/>
            </a:pPr>
            <a:r>
              <a:rPr lang="en-US" altLang="en-US" sz="1800"/>
              <a:t> </a:t>
            </a:r>
          </a:p>
          <a:p>
            <a:pPr eaLnBrk="1" hangingPunct="1">
              <a:spcBef>
                <a:spcPct val="0"/>
              </a:spcBef>
              <a:buFontTx/>
              <a:buNone/>
            </a:pPr>
            <a:r>
              <a:rPr lang="en-US" altLang="en-US" sz="1800"/>
              <a:t> ip = &amp;x;		// ip now points at the location where x is stored</a:t>
            </a:r>
          </a:p>
          <a:p>
            <a:pPr eaLnBrk="1" hangingPunct="1">
              <a:spcBef>
                <a:spcPct val="0"/>
              </a:spcBef>
              <a:buFontTx/>
              <a:buNone/>
            </a:pPr>
            <a:r>
              <a:rPr lang="en-US" altLang="en-US" sz="1800"/>
              <a:t> y = *ip;		// set y equal to the value pointed to by ip, or y = x</a:t>
            </a:r>
          </a:p>
          <a:p>
            <a:pPr eaLnBrk="1" hangingPunct="1">
              <a:spcBef>
                <a:spcPct val="0"/>
              </a:spcBef>
              <a:buFontTx/>
              <a:buNone/>
            </a:pPr>
            <a:r>
              <a:rPr lang="en-US" altLang="en-US" sz="1800"/>
              <a:t> *ip = 0;		// now change the value that ip points to to 0, so now x = 0</a:t>
            </a:r>
          </a:p>
          <a:p>
            <a:pPr eaLnBrk="1" hangingPunct="1">
              <a:spcBef>
                <a:spcPct val="0"/>
              </a:spcBef>
              <a:buFontTx/>
              <a:buNone/>
            </a:pPr>
            <a:r>
              <a:rPr lang="en-US" altLang="en-US" sz="1800"/>
              <a:t>		//       but notice that y is unchanged</a:t>
            </a:r>
          </a:p>
          <a:p>
            <a:pPr eaLnBrk="1" hangingPunct="1">
              <a:spcBef>
                <a:spcPct val="0"/>
              </a:spcBef>
              <a:buFontTx/>
              <a:buNone/>
            </a:pPr>
            <a:r>
              <a:rPr lang="en-US" altLang="en-US" sz="1800"/>
              <a:t> ip = &amp;z[0];	// now ip points at the first location in the array z</a:t>
            </a:r>
          </a:p>
          <a:p>
            <a:pPr eaLnBrk="1" hangingPunct="1">
              <a:spcBef>
                <a:spcPct val="0"/>
              </a:spcBef>
              <a:buFontTx/>
              <a:buNone/>
            </a:pPr>
            <a:endParaRPr lang="en-US" altLang="en-US" sz="1800"/>
          </a:p>
          <a:p>
            <a:pPr eaLnBrk="1" hangingPunct="1">
              <a:spcBef>
                <a:spcPct val="0"/>
              </a:spcBef>
              <a:buFontTx/>
              <a:buNone/>
            </a:pPr>
            <a:r>
              <a:rPr lang="en-US" altLang="en-US" sz="1800"/>
              <a:t> *ip = *ip + 1; 	// the value that ip points to (z[0]) is incremented	</a:t>
            </a:r>
          </a:p>
        </p:txBody>
      </p:sp>
      <p:sp>
        <p:nvSpPr>
          <p:cNvPr id="4100" name="Text Box 5"/>
          <p:cNvSpPr txBox="1">
            <a:spLocks noChangeArrowheads="1"/>
          </p:cNvSpPr>
          <p:nvPr/>
        </p:nvSpPr>
        <p:spPr bwMode="auto">
          <a:xfrm>
            <a:off x="2057401" y="3810000"/>
            <a:ext cx="8033033" cy="286232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int x, *y, z, *q;</a:t>
            </a:r>
          </a:p>
          <a:p>
            <a:pPr eaLnBrk="1" hangingPunct="1">
              <a:spcBef>
                <a:spcPct val="0"/>
              </a:spcBef>
              <a:buFontTx/>
              <a:buNone/>
            </a:pPr>
            <a:r>
              <a:rPr lang="en-US" altLang="en-US" sz="1800"/>
              <a:t>x = 3;</a:t>
            </a:r>
          </a:p>
          <a:p>
            <a:pPr eaLnBrk="1" hangingPunct="1">
              <a:spcBef>
                <a:spcPct val="0"/>
              </a:spcBef>
              <a:buFontTx/>
              <a:buNone/>
            </a:pPr>
            <a:r>
              <a:rPr lang="en-US" altLang="en-US" sz="1800"/>
              <a:t>y = &amp;x;			// y points to x</a:t>
            </a:r>
          </a:p>
          <a:p>
            <a:pPr eaLnBrk="1" hangingPunct="1">
              <a:spcBef>
                <a:spcPct val="0"/>
              </a:spcBef>
              <a:buFontTx/>
              <a:buNone/>
            </a:pPr>
            <a:r>
              <a:rPr lang="en-US" altLang="en-US" sz="1800"/>
              <a:t>printf("%d\n", x);		// outputs 3</a:t>
            </a:r>
          </a:p>
          <a:p>
            <a:pPr eaLnBrk="1" hangingPunct="1">
              <a:spcBef>
                <a:spcPct val="0"/>
              </a:spcBef>
              <a:buFontTx/>
              <a:buNone/>
            </a:pPr>
            <a:r>
              <a:rPr lang="en-US" altLang="en-US" sz="1800"/>
              <a:t>printf("%d\n", y);		// outputs x’s address, will seem like a random number to us</a:t>
            </a:r>
          </a:p>
          <a:p>
            <a:pPr eaLnBrk="1" hangingPunct="1">
              <a:spcBef>
                <a:spcPct val="0"/>
              </a:spcBef>
              <a:buFontTx/>
              <a:buNone/>
            </a:pPr>
            <a:r>
              <a:rPr lang="en-US" altLang="en-US" sz="1800"/>
              <a:t>printf("%d\n", *y);		// outputs what y points to, or x (3)</a:t>
            </a:r>
          </a:p>
          <a:p>
            <a:pPr eaLnBrk="1" hangingPunct="1">
              <a:spcBef>
                <a:spcPct val="0"/>
              </a:spcBef>
              <a:buFontTx/>
              <a:buNone/>
            </a:pPr>
            <a:r>
              <a:rPr lang="en-US" altLang="en-US" sz="1800"/>
              <a:t>printf("%d\n", *y+1);	// outputs 4 (print out what y points to + 1)</a:t>
            </a:r>
          </a:p>
          <a:p>
            <a:pPr eaLnBrk="1" hangingPunct="1">
              <a:spcBef>
                <a:spcPct val="0"/>
              </a:spcBef>
              <a:buFontTx/>
              <a:buNone/>
            </a:pPr>
            <a:r>
              <a:rPr lang="en-US" altLang="en-US" sz="1800"/>
              <a:t>printf("%d\n", *(y+1));	// this outputs the item after x in memory – what is it?</a:t>
            </a:r>
          </a:p>
          <a:p>
            <a:pPr eaLnBrk="1" hangingPunct="1">
              <a:spcBef>
                <a:spcPct val="0"/>
              </a:spcBef>
              <a:buFontTx/>
              <a:buNone/>
            </a:pPr>
            <a:r>
              <a:rPr lang="en-US" altLang="en-US" sz="1800"/>
              <a:t>z = *(&amp;x);		// z equals 3 (what &amp;x points to, which is x)</a:t>
            </a:r>
          </a:p>
          <a:p>
            <a:pPr eaLnBrk="1" hangingPunct="1">
              <a:spcBef>
                <a:spcPct val="0"/>
              </a:spcBef>
              <a:buFontTx/>
              <a:buNone/>
            </a:pPr>
            <a:r>
              <a:rPr lang="en-US" altLang="en-US" sz="1800"/>
              <a:t>q = &amp;*y;			// q points to 3 – note *&amp; and &amp;* cancel out</a:t>
            </a:r>
          </a:p>
        </p:txBody>
      </p:sp>
    </p:spTree>
    <p:extLst>
      <p:ext uri="{BB962C8B-B14F-4D97-AF65-F5344CB8AC3E}">
        <p14:creationId xmlns:p14="http://schemas.microsoft.com/office/powerpoint/2010/main" val="3207806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133600" y="-228600"/>
            <a:ext cx="7772400" cy="1143000"/>
          </a:xfrm>
        </p:spPr>
        <p:txBody>
          <a:bodyPr/>
          <a:lstStyle/>
          <a:p>
            <a:pPr eaLnBrk="1" hangingPunct="1"/>
            <a:r>
              <a:rPr lang="en-US" altLang="en-US" smtClean="0"/>
              <a:t>Arrays and Pointers</a:t>
            </a:r>
          </a:p>
        </p:txBody>
      </p:sp>
      <p:sp>
        <p:nvSpPr>
          <p:cNvPr id="5123" name="Rectangle 3"/>
          <p:cNvSpPr>
            <a:spLocks noGrp="1" noChangeArrowheads="1"/>
          </p:cNvSpPr>
          <p:nvPr>
            <p:ph type="body" idx="1"/>
          </p:nvPr>
        </p:nvSpPr>
        <p:spPr>
          <a:xfrm>
            <a:off x="1828800" y="609600"/>
            <a:ext cx="8458200" cy="5943600"/>
          </a:xfrm>
        </p:spPr>
        <p:txBody>
          <a:bodyPr>
            <a:normAutofit/>
          </a:bodyPr>
          <a:lstStyle/>
          <a:p>
            <a:pPr eaLnBrk="1" hangingPunct="1">
              <a:lnSpc>
                <a:spcPct val="80000"/>
              </a:lnSpc>
            </a:pPr>
            <a:r>
              <a:rPr lang="en-US" altLang="en-US" dirty="0"/>
              <a:t>We declare an array using [ ] in our declaration following the variable name</a:t>
            </a:r>
          </a:p>
          <a:p>
            <a:pPr lvl="1" eaLnBrk="1" hangingPunct="1">
              <a:lnSpc>
                <a:spcPct val="80000"/>
              </a:lnSpc>
            </a:pPr>
            <a:r>
              <a:rPr lang="en-US" altLang="en-US" dirty="0" err="1"/>
              <a:t>int</a:t>
            </a:r>
            <a:r>
              <a:rPr lang="en-US" altLang="en-US" dirty="0"/>
              <a:t> x[5];	</a:t>
            </a:r>
            <a:r>
              <a:rPr lang="en-US" altLang="en-US" dirty="0" smtClean="0"/>
              <a:t>You </a:t>
            </a:r>
            <a:r>
              <a:rPr lang="en-US" altLang="en-US" dirty="0"/>
              <a:t>must include the size of the array in the [ ] when declaring unless you are also initializing the array to its starting values as in:</a:t>
            </a:r>
          </a:p>
          <a:p>
            <a:pPr lvl="1" eaLnBrk="1" hangingPunct="1">
              <a:lnSpc>
                <a:spcPct val="80000"/>
              </a:lnSpc>
            </a:pPr>
            <a:r>
              <a:rPr lang="en-US" altLang="en-US" dirty="0" err="1"/>
              <a:t>int</a:t>
            </a:r>
            <a:r>
              <a:rPr lang="en-US" altLang="en-US" dirty="0"/>
              <a:t> x [ ] = {1, 2, 3, 4, 5};</a:t>
            </a:r>
          </a:p>
          <a:p>
            <a:pPr lvl="1" eaLnBrk="1" hangingPunct="1">
              <a:lnSpc>
                <a:spcPct val="80000"/>
              </a:lnSpc>
            </a:pPr>
            <a:r>
              <a:rPr lang="en-US" altLang="en-US" dirty="0"/>
              <a:t>you can also include the size when initializing as long as the size is &gt;= the number of items being initialized (in which case the remaining array elements are uninitialized) </a:t>
            </a:r>
          </a:p>
          <a:p>
            <a:pPr eaLnBrk="1" hangingPunct="1">
              <a:lnSpc>
                <a:spcPct val="80000"/>
              </a:lnSpc>
            </a:pPr>
            <a:r>
              <a:rPr lang="en-US" altLang="en-US" dirty="0" smtClean="0"/>
              <a:t>Arrays </a:t>
            </a:r>
            <a:r>
              <a:rPr lang="en-US" altLang="en-US" dirty="0"/>
              <a:t>in C are interesting because they are pointed to</a:t>
            </a:r>
          </a:p>
          <a:p>
            <a:pPr lvl="1" eaLnBrk="1" hangingPunct="1">
              <a:lnSpc>
                <a:spcPct val="80000"/>
              </a:lnSpc>
            </a:pPr>
            <a:r>
              <a:rPr lang="en-US" altLang="en-US" dirty="0"/>
              <a:t>the variable that you declare for the array is actually a pointer to the first array element</a:t>
            </a:r>
          </a:p>
          <a:p>
            <a:pPr eaLnBrk="1" hangingPunct="1">
              <a:lnSpc>
                <a:spcPct val="80000"/>
              </a:lnSpc>
            </a:pPr>
            <a:r>
              <a:rPr lang="en-US" altLang="en-US" dirty="0"/>
              <a:t>You can interact with the array elements either through pointers or by using [ ]</a:t>
            </a:r>
          </a:p>
          <a:p>
            <a:pPr eaLnBrk="1" hangingPunct="1">
              <a:lnSpc>
                <a:spcPct val="80000"/>
              </a:lnSpc>
            </a:pPr>
            <a:r>
              <a:rPr lang="en-US" altLang="en-US" dirty="0"/>
              <a:t>One of the intriguing features of pointers in C is the ability to manipulate the pointers through pointer arithmetic – a pointer is an </a:t>
            </a:r>
            <a:r>
              <a:rPr lang="en-US" altLang="en-US" dirty="0" err="1"/>
              <a:t>int</a:t>
            </a:r>
            <a:r>
              <a:rPr lang="en-US" altLang="en-US" dirty="0"/>
              <a:t> value, so we can add or subtract</a:t>
            </a:r>
          </a:p>
          <a:p>
            <a:pPr lvl="1" eaLnBrk="1" hangingPunct="1">
              <a:lnSpc>
                <a:spcPct val="80000"/>
              </a:lnSpc>
            </a:pPr>
            <a:r>
              <a:rPr lang="en-US" altLang="en-US" dirty="0"/>
              <a:t>this will be used for stepping through arrays rather than using array indices</a:t>
            </a:r>
          </a:p>
          <a:p>
            <a:pPr lvl="2" eaLnBrk="1" hangingPunct="1">
              <a:lnSpc>
                <a:spcPct val="80000"/>
              </a:lnSpc>
            </a:pPr>
            <a:endParaRPr lang="en-US" altLang="en-US" dirty="0"/>
          </a:p>
        </p:txBody>
      </p:sp>
    </p:spTree>
    <p:extLst>
      <p:ext uri="{BB962C8B-B14F-4D97-AF65-F5344CB8AC3E}">
        <p14:creationId xmlns:p14="http://schemas.microsoft.com/office/powerpoint/2010/main" val="4092902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286000" y="0"/>
            <a:ext cx="7772400" cy="1143000"/>
          </a:xfrm>
        </p:spPr>
        <p:txBody>
          <a:bodyPr/>
          <a:lstStyle/>
          <a:p>
            <a:pPr eaLnBrk="1" hangingPunct="1"/>
            <a:r>
              <a:rPr lang="en-US" altLang="en-US" smtClean="0"/>
              <a:t>Iterating Through the Array</a:t>
            </a:r>
          </a:p>
        </p:txBody>
      </p:sp>
      <p:sp>
        <p:nvSpPr>
          <p:cNvPr id="7171" name="Rectangle 3"/>
          <p:cNvSpPr>
            <a:spLocks noGrp="1" noChangeArrowheads="1"/>
          </p:cNvSpPr>
          <p:nvPr>
            <p:ph type="body" sz="half" idx="1"/>
          </p:nvPr>
        </p:nvSpPr>
        <p:spPr>
          <a:xfrm>
            <a:off x="1752600" y="914400"/>
            <a:ext cx="8610600" cy="838200"/>
          </a:xfrm>
        </p:spPr>
        <p:txBody>
          <a:bodyPr/>
          <a:lstStyle/>
          <a:p>
            <a:pPr eaLnBrk="1" hangingPunct="1"/>
            <a:r>
              <a:rPr lang="en-US" altLang="en-US" sz="2400"/>
              <a:t>Here we see two ways to iterate through an array, the usual way, but also a method using pointer arithmetic</a:t>
            </a:r>
          </a:p>
        </p:txBody>
      </p:sp>
      <p:sp>
        <p:nvSpPr>
          <p:cNvPr id="7172" name="Rectangle 6"/>
          <p:cNvSpPr>
            <a:spLocks noGrp="1" noChangeArrowheads="1"/>
          </p:cNvSpPr>
          <p:nvPr>
            <p:ph type="body" sz="half" idx="2"/>
          </p:nvPr>
        </p:nvSpPr>
        <p:spPr>
          <a:xfrm>
            <a:off x="1752600" y="2819400"/>
            <a:ext cx="8763000" cy="2667000"/>
          </a:xfrm>
        </p:spPr>
        <p:txBody>
          <a:bodyPr>
            <a:normAutofit fontScale="77500" lnSpcReduction="20000"/>
          </a:bodyPr>
          <a:lstStyle/>
          <a:p>
            <a:pPr eaLnBrk="1" hangingPunct="1">
              <a:lnSpc>
                <a:spcPct val="90000"/>
              </a:lnSpc>
            </a:pPr>
            <a:r>
              <a:rPr lang="en-US" altLang="en-US" sz="2400"/>
              <a:t>Let’s consider the code on the right:</a:t>
            </a:r>
          </a:p>
          <a:p>
            <a:pPr lvl="1" eaLnBrk="1" hangingPunct="1">
              <a:lnSpc>
                <a:spcPct val="90000"/>
              </a:lnSpc>
            </a:pPr>
            <a:r>
              <a:rPr lang="en-US" altLang="en-US" sz="2000"/>
              <a:t>pj is a pointer to an int</a:t>
            </a:r>
          </a:p>
          <a:p>
            <a:pPr lvl="1" eaLnBrk="1" hangingPunct="1">
              <a:lnSpc>
                <a:spcPct val="90000"/>
              </a:lnSpc>
            </a:pPr>
            <a:r>
              <a:rPr lang="en-US" altLang="en-US" sz="2000"/>
              <a:t>We start with pj pointing at a, that is, pj points to a[0]</a:t>
            </a:r>
          </a:p>
          <a:p>
            <a:pPr lvl="1" eaLnBrk="1" hangingPunct="1">
              <a:lnSpc>
                <a:spcPct val="90000"/>
              </a:lnSpc>
            </a:pPr>
            <a:r>
              <a:rPr lang="en-US" altLang="en-US" sz="2000"/>
              <a:t>The loop iterates while pj &lt; a + n</a:t>
            </a:r>
          </a:p>
          <a:p>
            <a:pPr lvl="2" eaLnBrk="1" hangingPunct="1">
              <a:lnSpc>
                <a:spcPct val="90000"/>
              </a:lnSpc>
            </a:pPr>
            <a:r>
              <a:rPr lang="en-US" altLang="en-US" sz="1800"/>
              <a:t>pj is a pointer, so it is an address</a:t>
            </a:r>
          </a:p>
          <a:p>
            <a:pPr lvl="2" eaLnBrk="1" hangingPunct="1">
              <a:lnSpc>
                <a:spcPct val="90000"/>
              </a:lnSpc>
            </a:pPr>
            <a:r>
              <a:rPr lang="en-US" altLang="en-US" sz="1800"/>
              <a:t>a is a pointer to the beginning of an array of n elements so a + n is the size of the array</a:t>
            </a:r>
          </a:p>
          <a:p>
            <a:pPr lvl="2" eaLnBrk="1" hangingPunct="1">
              <a:lnSpc>
                <a:spcPct val="90000"/>
              </a:lnSpc>
            </a:pPr>
            <a:r>
              <a:rPr lang="en-US" altLang="en-US" sz="1800"/>
              <a:t>pj++ increments the pointer to point at the next element in the array</a:t>
            </a:r>
          </a:p>
          <a:p>
            <a:pPr lvl="2" eaLnBrk="1" hangingPunct="1">
              <a:lnSpc>
                <a:spcPct val="90000"/>
              </a:lnSpc>
            </a:pPr>
            <a:r>
              <a:rPr lang="en-US" altLang="en-US" sz="1800"/>
              <a:t>The instruction (*pj)++ says “take what pj points to and increment it”</a:t>
            </a:r>
          </a:p>
          <a:p>
            <a:pPr lvl="1" eaLnBrk="1" hangingPunct="1">
              <a:lnSpc>
                <a:spcPct val="90000"/>
              </a:lnSpc>
            </a:pPr>
            <a:r>
              <a:rPr lang="en-US" altLang="en-US" sz="2000"/>
              <a:t>NOTE:  (*pj)++; increments what pj points to, *(pj++); increments the pointer to point at the next array element</a:t>
            </a:r>
          </a:p>
          <a:p>
            <a:pPr lvl="2" eaLnBrk="1" hangingPunct="1">
              <a:lnSpc>
                <a:spcPct val="90000"/>
              </a:lnSpc>
            </a:pPr>
            <a:r>
              <a:rPr lang="en-US" altLang="en-US" sz="1800"/>
              <a:t>what do each of these do?    *pj++;      ++*pj;   </a:t>
            </a:r>
          </a:p>
        </p:txBody>
      </p:sp>
      <p:sp>
        <p:nvSpPr>
          <p:cNvPr id="7173" name="Text Box 4"/>
          <p:cNvSpPr txBox="1">
            <a:spLocks noChangeArrowheads="1"/>
          </p:cNvSpPr>
          <p:nvPr/>
        </p:nvSpPr>
        <p:spPr bwMode="auto">
          <a:xfrm>
            <a:off x="2514600" y="1828800"/>
            <a:ext cx="20066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int j; </a:t>
            </a:r>
          </a:p>
          <a:p>
            <a:pPr eaLnBrk="1" hangingPunct="1">
              <a:spcBef>
                <a:spcPct val="0"/>
              </a:spcBef>
              <a:buFontTx/>
              <a:buNone/>
            </a:pPr>
            <a:r>
              <a:rPr lang="en-US" altLang="en-US" sz="1800"/>
              <a:t>for(j = 0; j &lt; n; j++)</a:t>
            </a:r>
          </a:p>
          <a:p>
            <a:pPr eaLnBrk="1" hangingPunct="1">
              <a:spcBef>
                <a:spcPct val="0"/>
              </a:spcBef>
              <a:buFontTx/>
              <a:buNone/>
            </a:pPr>
            <a:r>
              <a:rPr lang="en-US" altLang="en-US" sz="1800"/>
              <a:t>     a[j]++;</a:t>
            </a:r>
          </a:p>
        </p:txBody>
      </p:sp>
      <p:sp>
        <p:nvSpPr>
          <p:cNvPr id="7174" name="Text Box 5"/>
          <p:cNvSpPr txBox="1">
            <a:spLocks noChangeArrowheads="1"/>
          </p:cNvSpPr>
          <p:nvPr/>
        </p:nvSpPr>
        <p:spPr bwMode="auto">
          <a:xfrm>
            <a:off x="6477000" y="1828800"/>
            <a:ext cx="2738438"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 int *pj;</a:t>
            </a:r>
          </a:p>
          <a:p>
            <a:pPr eaLnBrk="1" hangingPunct="1">
              <a:spcBef>
                <a:spcPct val="0"/>
              </a:spcBef>
              <a:buFontTx/>
              <a:buNone/>
            </a:pPr>
            <a:r>
              <a:rPr lang="en-US" altLang="en-US" sz="1800"/>
              <a:t> for(pj = a; pj &lt; a + n; pj++)</a:t>
            </a:r>
          </a:p>
          <a:p>
            <a:pPr eaLnBrk="1" hangingPunct="1">
              <a:spcBef>
                <a:spcPct val="0"/>
              </a:spcBef>
              <a:buFontTx/>
              <a:buNone/>
            </a:pPr>
            <a:r>
              <a:rPr lang="en-US" altLang="en-US" sz="1800"/>
              <a:t>       (*pj)++;</a:t>
            </a:r>
          </a:p>
        </p:txBody>
      </p:sp>
    </p:spTree>
    <p:extLst>
      <p:ext uri="{BB962C8B-B14F-4D97-AF65-F5344CB8AC3E}">
        <p14:creationId xmlns:p14="http://schemas.microsoft.com/office/powerpoint/2010/main" val="3579668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26"/>
          <p:cNvSpPr>
            <a:spLocks noGrp="1" noChangeArrowheads="1"/>
          </p:cNvSpPr>
          <p:nvPr>
            <p:ph type="title"/>
          </p:nvPr>
        </p:nvSpPr>
        <p:spPr>
          <a:xfrm>
            <a:off x="2209800" y="152400"/>
            <a:ext cx="7772400" cy="1143000"/>
          </a:xfrm>
        </p:spPr>
        <p:txBody>
          <a:bodyPr>
            <a:normAutofit fontScale="90000"/>
          </a:bodyPr>
          <a:lstStyle/>
          <a:p>
            <a:pPr eaLnBrk="1" hangingPunct="1"/>
            <a:r>
              <a:rPr lang="en-US" altLang="en-US" smtClean="0"/>
              <a:t>Array Example Using a Pointer</a:t>
            </a:r>
          </a:p>
        </p:txBody>
      </p:sp>
      <p:sp>
        <p:nvSpPr>
          <p:cNvPr id="8195" name="Text Box 1028"/>
          <p:cNvSpPr txBox="1">
            <a:spLocks noChangeArrowheads="1"/>
          </p:cNvSpPr>
          <p:nvPr/>
        </p:nvSpPr>
        <p:spPr bwMode="auto">
          <a:xfrm>
            <a:off x="2590800" y="1676401"/>
            <a:ext cx="5846472" cy="42473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int x[4] = {12, 20, 39, 43}, *y;</a:t>
            </a:r>
          </a:p>
          <a:p>
            <a:pPr eaLnBrk="1" hangingPunct="1">
              <a:spcBef>
                <a:spcPct val="0"/>
              </a:spcBef>
              <a:buFontTx/>
              <a:buNone/>
            </a:pPr>
            <a:r>
              <a:rPr lang="en-US" altLang="en-US" sz="1800"/>
              <a:t>y = &amp;x[0];		// y points to the beginning of the array</a:t>
            </a:r>
          </a:p>
          <a:p>
            <a:pPr eaLnBrk="1" hangingPunct="1">
              <a:spcBef>
                <a:spcPct val="0"/>
              </a:spcBef>
              <a:buFontTx/>
              <a:buNone/>
            </a:pPr>
            <a:r>
              <a:rPr lang="en-US" altLang="en-US" sz="1800"/>
              <a:t>printf("%d\n", x[0]);	// outputs 12 </a:t>
            </a:r>
          </a:p>
          <a:p>
            <a:pPr eaLnBrk="1" hangingPunct="1">
              <a:spcBef>
                <a:spcPct val="0"/>
              </a:spcBef>
              <a:buFontTx/>
              <a:buNone/>
            </a:pPr>
            <a:r>
              <a:rPr lang="en-US" altLang="en-US" sz="1800"/>
              <a:t>printf("%d\n", *y);		// also outputs 12</a:t>
            </a:r>
          </a:p>
          <a:p>
            <a:pPr eaLnBrk="1" hangingPunct="1">
              <a:spcBef>
                <a:spcPct val="0"/>
              </a:spcBef>
              <a:buFontTx/>
              <a:buNone/>
            </a:pPr>
            <a:r>
              <a:rPr lang="en-US" altLang="en-US" sz="1800"/>
              <a:t>printf("%d\n", *y+1);	// outputs 13 (12 + 1)</a:t>
            </a:r>
          </a:p>
          <a:p>
            <a:pPr eaLnBrk="1" hangingPunct="1">
              <a:spcBef>
                <a:spcPct val="0"/>
              </a:spcBef>
              <a:buFontTx/>
              <a:buNone/>
            </a:pPr>
            <a:r>
              <a:rPr lang="en-US" altLang="en-US" sz="1800"/>
              <a:t>printf("%d\n", (*y)+1);	// also outputs 13</a:t>
            </a:r>
          </a:p>
          <a:p>
            <a:pPr eaLnBrk="1" hangingPunct="1">
              <a:spcBef>
                <a:spcPct val="0"/>
              </a:spcBef>
              <a:buFontTx/>
              <a:buNone/>
            </a:pPr>
            <a:r>
              <a:rPr lang="en-US" altLang="en-US" sz="1800"/>
              <a:t>printf("%d\n", *(y+1));	// outputs x[1] or 20</a:t>
            </a:r>
          </a:p>
          <a:p>
            <a:pPr eaLnBrk="1" hangingPunct="1">
              <a:spcBef>
                <a:spcPct val="0"/>
              </a:spcBef>
              <a:buFontTx/>
              <a:buNone/>
            </a:pPr>
            <a:r>
              <a:rPr lang="en-US" altLang="en-US" sz="1800"/>
              <a:t>y+=2;			// y now points to x[2]</a:t>
            </a:r>
          </a:p>
          <a:p>
            <a:pPr eaLnBrk="1" hangingPunct="1">
              <a:spcBef>
                <a:spcPct val="0"/>
              </a:spcBef>
              <a:buFontTx/>
              <a:buNone/>
            </a:pPr>
            <a:r>
              <a:rPr lang="en-US" altLang="en-US" sz="1800"/>
              <a:t>printf("%d\n", *y);		// prints out 39</a:t>
            </a:r>
          </a:p>
          <a:p>
            <a:pPr eaLnBrk="1" hangingPunct="1">
              <a:spcBef>
                <a:spcPct val="0"/>
              </a:spcBef>
              <a:buFontTx/>
              <a:buNone/>
            </a:pPr>
            <a:r>
              <a:rPr lang="en-US" altLang="en-US" sz="1800"/>
              <a:t>*y = 38;			// changes x[2] to 38</a:t>
            </a:r>
          </a:p>
          <a:p>
            <a:pPr eaLnBrk="1" hangingPunct="1">
              <a:spcBef>
                <a:spcPct val="0"/>
              </a:spcBef>
              <a:buFontTx/>
              <a:buNone/>
            </a:pPr>
            <a:r>
              <a:rPr lang="en-US" altLang="en-US" sz="1800"/>
              <a:t>printf("%d\n", *y-1);	// prints out x[2] - 1 or 37</a:t>
            </a:r>
          </a:p>
          <a:p>
            <a:pPr eaLnBrk="1" hangingPunct="1">
              <a:spcBef>
                <a:spcPct val="0"/>
              </a:spcBef>
              <a:buFontTx/>
              <a:buNone/>
            </a:pPr>
            <a:r>
              <a:rPr lang="en-US" altLang="en-US" sz="1800"/>
              <a:t>*y++;			// sets y to point at the next array element</a:t>
            </a:r>
          </a:p>
          <a:p>
            <a:pPr eaLnBrk="1" hangingPunct="1">
              <a:spcBef>
                <a:spcPct val="0"/>
              </a:spcBef>
              <a:buFontTx/>
              <a:buNone/>
            </a:pPr>
            <a:r>
              <a:rPr lang="en-US" altLang="en-US" sz="1800"/>
              <a:t>printf("%d\n", *y);		// outputs x[3] (43)</a:t>
            </a:r>
          </a:p>
          <a:p>
            <a:pPr eaLnBrk="1" hangingPunct="1">
              <a:spcBef>
                <a:spcPct val="0"/>
              </a:spcBef>
              <a:buFontTx/>
              <a:buNone/>
            </a:pPr>
            <a:r>
              <a:rPr lang="en-US" altLang="en-US" sz="1800"/>
              <a:t>(*y)++;			// sets what y points to to be 1 greater</a:t>
            </a:r>
          </a:p>
          <a:p>
            <a:pPr eaLnBrk="1" hangingPunct="1">
              <a:spcBef>
                <a:spcPct val="0"/>
              </a:spcBef>
              <a:buFontTx/>
              <a:buNone/>
            </a:pPr>
            <a:r>
              <a:rPr lang="en-US" altLang="en-US" sz="1800"/>
              <a:t>printf("%d\n", *y);		// outputs the new value of x[3] (44)</a:t>
            </a:r>
          </a:p>
        </p:txBody>
      </p:sp>
    </p:spTree>
    <p:extLst>
      <p:ext uri="{BB962C8B-B14F-4D97-AF65-F5344CB8AC3E}">
        <p14:creationId xmlns:p14="http://schemas.microsoft.com/office/powerpoint/2010/main" val="3227458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09800" y="-228600"/>
            <a:ext cx="7772400" cy="1143000"/>
          </a:xfrm>
        </p:spPr>
        <p:txBody>
          <a:bodyPr/>
          <a:lstStyle/>
          <a:p>
            <a:pPr eaLnBrk="1" hangingPunct="1"/>
            <a:r>
              <a:rPr lang="en-US" altLang="en-US" smtClean="0"/>
              <a:t>Strings</a:t>
            </a:r>
          </a:p>
        </p:txBody>
      </p:sp>
      <p:sp>
        <p:nvSpPr>
          <p:cNvPr id="9219" name="Rectangle 3"/>
          <p:cNvSpPr>
            <a:spLocks noGrp="1" noChangeArrowheads="1"/>
          </p:cNvSpPr>
          <p:nvPr>
            <p:ph type="body" idx="1"/>
          </p:nvPr>
        </p:nvSpPr>
        <p:spPr>
          <a:xfrm>
            <a:off x="1752600" y="685800"/>
            <a:ext cx="8610600" cy="6019800"/>
          </a:xfrm>
        </p:spPr>
        <p:txBody>
          <a:bodyPr>
            <a:normAutofit lnSpcReduction="10000"/>
          </a:bodyPr>
          <a:lstStyle/>
          <a:p>
            <a:pPr eaLnBrk="1" hangingPunct="1">
              <a:lnSpc>
                <a:spcPct val="80000"/>
              </a:lnSpc>
            </a:pPr>
            <a:r>
              <a:rPr lang="en-US" altLang="en-US" sz="2400"/>
              <a:t>There is no string type, we implement strings as arrays of chars</a:t>
            </a:r>
          </a:p>
          <a:p>
            <a:pPr lvl="1" eaLnBrk="1" hangingPunct="1">
              <a:lnSpc>
                <a:spcPct val="80000"/>
              </a:lnSpc>
            </a:pPr>
            <a:r>
              <a:rPr lang="en-US" altLang="en-US" sz="2000"/>
              <a:t>char str[10];	// str is an array of 10 chars or a string</a:t>
            </a:r>
          </a:p>
          <a:p>
            <a:pPr lvl="1" eaLnBrk="1" hangingPunct="1">
              <a:lnSpc>
                <a:spcPct val="80000"/>
              </a:lnSpc>
            </a:pPr>
            <a:r>
              <a:rPr lang="en-US" altLang="en-US" sz="2000"/>
              <a:t>char *str;		// str points to the beginning of a string of unspecified length</a:t>
            </a:r>
          </a:p>
          <a:p>
            <a:pPr eaLnBrk="1" hangingPunct="1">
              <a:lnSpc>
                <a:spcPct val="80000"/>
              </a:lnSpc>
            </a:pPr>
            <a:r>
              <a:rPr lang="en-US" altLang="en-US" sz="2400"/>
              <a:t>There is a string.h library with numerous string functions </a:t>
            </a:r>
          </a:p>
          <a:p>
            <a:pPr lvl="1" eaLnBrk="1" hangingPunct="1">
              <a:lnSpc>
                <a:spcPct val="80000"/>
              </a:lnSpc>
            </a:pPr>
            <a:r>
              <a:rPr lang="en-US" altLang="en-US" sz="2000"/>
              <a:t>they all operate on arrays of chars and include:</a:t>
            </a:r>
          </a:p>
          <a:p>
            <a:pPr lvl="2" eaLnBrk="1" hangingPunct="1">
              <a:lnSpc>
                <a:spcPct val="80000"/>
              </a:lnSpc>
            </a:pPr>
            <a:r>
              <a:rPr lang="en-US" altLang="en-US" sz="1800"/>
              <a:t>strcpy(s1, s2) – copies s2 into s1 (including ‘\0’ as last char)</a:t>
            </a:r>
          </a:p>
          <a:p>
            <a:pPr lvl="2" eaLnBrk="1" hangingPunct="1">
              <a:lnSpc>
                <a:spcPct val="80000"/>
              </a:lnSpc>
            </a:pPr>
            <a:r>
              <a:rPr lang="en-US" altLang="en-US" sz="1800"/>
              <a:t>strncpy(s1, s2, n) – same but only copies up to n chars of s2</a:t>
            </a:r>
          </a:p>
          <a:p>
            <a:pPr lvl="2" eaLnBrk="1" hangingPunct="1">
              <a:lnSpc>
                <a:spcPct val="80000"/>
              </a:lnSpc>
            </a:pPr>
            <a:r>
              <a:rPr lang="en-US" altLang="en-US" sz="1800"/>
              <a:t>strcmp(s1, s2) – returns a negative int if s1 &lt; s2, 0 if s1 = = s2 and a positive int if s1 &gt; s2</a:t>
            </a:r>
          </a:p>
          <a:p>
            <a:pPr lvl="2" eaLnBrk="1" hangingPunct="1">
              <a:lnSpc>
                <a:spcPct val="80000"/>
              </a:lnSpc>
            </a:pPr>
            <a:r>
              <a:rPr lang="en-US" altLang="en-US" sz="1800"/>
              <a:t>strncmp(s1, s2, n) – same but only compares up to n chars</a:t>
            </a:r>
          </a:p>
          <a:p>
            <a:pPr lvl="2" eaLnBrk="1" hangingPunct="1">
              <a:lnSpc>
                <a:spcPct val="80000"/>
              </a:lnSpc>
            </a:pPr>
            <a:r>
              <a:rPr lang="en-US" altLang="en-US" sz="1800"/>
              <a:t>strcat(s1, s2) – concatenates s2 onto s1 (this changes s1, but not s2)</a:t>
            </a:r>
          </a:p>
          <a:p>
            <a:pPr lvl="2" eaLnBrk="1" hangingPunct="1">
              <a:lnSpc>
                <a:spcPct val="80000"/>
              </a:lnSpc>
            </a:pPr>
            <a:r>
              <a:rPr lang="en-US" altLang="en-US" sz="1800"/>
              <a:t>strncat(s1, s2, n) – same but only concatenates up to n chars</a:t>
            </a:r>
          </a:p>
          <a:p>
            <a:pPr lvl="2" eaLnBrk="1" hangingPunct="1">
              <a:lnSpc>
                <a:spcPct val="80000"/>
              </a:lnSpc>
            </a:pPr>
            <a:r>
              <a:rPr lang="en-US" altLang="en-US" sz="1800"/>
              <a:t>strlen(s1) – returns the integer length of s1</a:t>
            </a:r>
          </a:p>
          <a:p>
            <a:pPr lvl="2" eaLnBrk="1" hangingPunct="1">
              <a:lnSpc>
                <a:spcPct val="80000"/>
              </a:lnSpc>
            </a:pPr>
            <a:r>
              <a:rPr lang="en-US" altLang="en-US" sz="1800"/>
              <a:t>strchr(s1, ch) – return a pointer to the first occurrence of ch in s1 (or NULL if ch is not present)</a:t>
            </a:r>
          </a:p>
          <a:p>
            <a:pPr lvl="2" eaLnBrk="1" hangingPunct="1">
              <a:lnSpc>
                <a:spcPct val="80000"/>
              </a:lnSpc>
            </a:pPr>
            <a:r>
              <a:rPr lang="en-US" altLang="en-US" sz="1800"/>
              <a:t>strrchr(s1, ch) – same but the pointer points to the last occurrence of ch</a:t>
            </a:r>
          </a:p>
          <a:p>
            <a:pPr lvl="2" eaLnBrk="1" hangingPunct="1">
              <a:lnSpc>
                <a:spcPct val="80000"/>
              </a:lnSpc>
            </a:pPr>
            <a:r>
              <a:rPr lang="en-US" altLang="en-US" sz="1800"/>
              <a:t>strpbrk(s1, s2) – return a pointer to the first occurrence of any character in s1 that matches a character in s2 (or NULL if none are present)</a:t>
            </a:r>
          </a:p>
          <a:p>
            <a:pPr lvl="2" eaLnBrk="1" hangingPunct="1">
              <a:lnSpc>
                <a:spcPct val="80000"/>
              </a:lnSpc>
            </a:pPr>
            <a:r>
              <a:rPr lang="en-US" altLang="en-US" sz="1800"/>
              <a:t>strstr(s1, s2) – substring, return a pointer to the char in s1 that starts a substring that matches s2, or NULL if the substring is not present</a:t>
            </a:r>
          </a:p>
        </p:txBody>
      </p:sp>
    </p:spTree>
    <p:extLst>
      <p:ext uri="{BB962C8B-B14F-4D97-AF65-F5344CB8AC3E}">
        <p14:creationId xmlns:p14="http://schemas.microsoft.com/office/powerpoint/2010/main" val="2999514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133600" y="0"/>
            <a:ext cx="7772400" cy="1143000"/>
          </a:xfrm>
        </p:spPr>
        <p:txBody>
          <a:bodyPr/>
          <a:lstStyle/>
          <a:p>
            <a:pPr eaLnBrk="1" hangingPunct="1"/>
            <a:r>
              <a:rPr lang="en-US" altLang="en-US" smtClean="0"/>
              <a:t>More On Pointer Arithmetic</a:t>
            </a:r>
          </a:p>
        </p:txBody>
      </p:sp>
      <p:sp>
        <p:nvSpPr>
          <p:cNvPr id="11267" name="Rectangle 3"/>
          <p:cNvSpPr>
            <a:spLocks noGrp="1" noChangeArrowheads="1"/>
          </p:cNvSpPr>
          <p:nvPr>
            <p:ph type="body" idx="1"/>
          </p:nvPr>
        </p:nvSpPr>
        <p:spPr>
          <a:xfrm>
            <a:off x="2209800" y="1143000"/>
            <a:ext cx="7772400" cy="2971800"/>
          </a:xfrm>
        </p:spPr>
        <p:txBody>
          <a:bodyPr/>
          <a:lstStyle/>
          <a:p>
            <a:pPr eaLnBrk="1" hangingPunct="1"/>
            <a:r>
              <a:rPr lang="en-US" altLang="en-US" sz="2400"/>
              <a:t>We can also perform subtraction on pointers</a:t>
            </a:r>
          </a:p>
          <a:p>
            <a:pPr eaLnBrk="1" hangingPunct="1"/>
            <a:endParaRPr lang="en-US" altLang="en-US" sz="3600"/>
          </a:p>
          <a:p>
            <a:pPr eaLnBrk="1" hangingPunct="1"/>
            <a:endParaRPr lang="en-US" altLang="en-US" sz="2400"/>
          </a:p>
          <a:p>
            <a:pPr eaLnBrk="1" hangingPunct="1"/>
            <a:r>
              <a:rPr lang="en-US" altLang="en-US" sz="2400"/>
              <a:t>Here, we pass to a function the address of the  third element of an array (&amp;a[2]) and use pointer subtraction to get to a[0] and a[1])</a:t>
            </a:r>
          </a:p>
        </p:txBody>
      </p:sp>
      <p:sp>
        <p:nvSpPr>
          <p:cNvPr id="11268" name="Text Box 4"/>
          <p:cNvSpPr txBox="1">
            <a:spLocks noChangeArrowheads="1"/>
          </p:cNvSpPr>
          <p:nvPr/>
        </p:nvSpPr>
        <p:spPr bwMode="auto">
          <a:xfrm>
            <a:off x="3733801" y="1828801"/>
            <a:ext cx="2849563"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 int a[10] = {…};</a:t>
            </a:r>
          </a:p>
          <a:p>
            <a:pPr eaLnBrk="1" hangingPunct="1">
              <a:spcBef>
                <a:spcPct val="0"/>
              </a:spcBef>
              <a:buFontTx/>
              <a:buNone/>
            </a:pPr>
            <a:r>
              <a:rPr lang="en-US" altLang="en-US" sz="1800"/>
              <a:t> int *ip;</a:t>
            </a:r>
          </a:p>
          <a:p>
            <a:pPr eaLnBrk="1" hangingPunct="1">
              <a:spcBef>
                <a:spcPct val="0"/>
              </a:spcBef>
              <a:buFontTx/>
              <a:buNone/>
            </a:pPr>
            <a:r>
              <a:rPr lang="en-US" altLang="en-US" sz="1800"/>
              <a:t> for(ip = &amp;a[9]; ip &gt;= a; ip--)</a:t>
            </a:r>
          </a:p>
          <a:p>
            <a:pPr eaLnBrk="1" hangingPunct="1">
              <a:spcBef>
                <a:spcPct val="0"/>
              </a:spcBef>
              <a:buFontTx/>
              <a:buNone/>
            </a:pPr>
            <a:r>
              <a:rPr lang="en-US" altLang="en-US" sz="1800"/>
              <a:t>      …</a:t>
            </a:r>
          </a:p>
        </p:txBody>
      </p:sp>
      <p:sp>
        <p:nvSpPr>
          <p:cNvPr id="11269" name="Text Box 5"/>
          <p:cNvSpPr txBox="1">
            <a:spLocks noChangeArrowheads="1"/>
          </p:cNvSpPr>
          <p:nvPr/>
        </p:nvSpPr>
        <p:spPr bwMode="auto">
          <a:xfrm>
            <a:off x="2133600" y="4191000"/>
            <a:ext cx="2895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 int a[3] = {…};</a:t>
            </a:r>
          </a:p>
          <a:p>
            <a:pPr eaLnBrk="1" hangingPunct="1">
              <a:spcBef>
                <a:spcPct val="0"/>
              </a:spcBef>
              <a:buFontTx/>
              <a:buNone/>
            </a:pPr>
            <a:r>
              <a:rPr lang="en-US" altLang="en-US" sz="1800"/>
              <a:t> printf(“%d”, addem(&amp;a[2]));</a:t>
            </a:r>
          </a:p>
        </p:txBody>
      </p:sp>
      <p:sp>
        <p:nvSpPr>
          <p:cNvPr id="11270" name="Text Box 6"/>
          <p:cNvSpPr txBox="1">
            <a:spLocks noChangeArrowheads="1"/>
          </p:cNvSpPr>
          <p:nvPr/>
        </p:nvSpPr>
        <p:spPr bwMode="auto">
          <a:xfrm>
            <a:off x="6096001" y="3733800"/>
            <a:ext cx="3757613"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 int addem(int *ip)</a:t>
            </a:r>
          </a:p>
          <a:p>
            <a:pPr eaLnBrk="1" hangingPunct="1">
              <a:spcBef>
                <a:spcPct val="0"/>
              </a:spcBef>
              <a:buFontTx/>
              <a:buNone/>
            </a:pPr>
            <a:r>
              <a:rPr lang="en-US" altLang="en-US" sz="1800"/>
              <a:t> {</a:t>
            </a:r>
          </a:p>
          <a:p>
            <a:pPr eaLnBrk="1" hangingPunct="1">
              <a:spcBef>
                <a:spcPct val="0"/>
              </a:spcBef>
              <a:buFontTx/>
              <a:buNone/>
            </a:pPr>
            <a:r>
              <a:rPr lang="en-US" altLang="en-US" sz="1800"/>
              <a:t>        int temp;</a:t>
            </a:r>
          </a:p>
          <a:p>
            <a:pPr eaLnBrk="1" hangingPunct="1">
              <a:spcBef>
                <a:spcPct val="0"/>
              </a:spcBef>
              <a:buFontTx/>
              <a:buNone/>
            </a:pPr>
            <a:r>
              <a:rPr lang="en-US" altLang="en-US" sz="1800"/>
              <a:t>        temp = *ip + *(ip – 1) + *(ip – 2);</a:t>
            </a:r>
          </a:p>
          <a:p>
            <a:pPr eaLnBrk="1" hangingPunct="1">
              <a:spcBef>
                <a:spcPct val="0"/>
              </a:spcBef>
              <a:buFontTx/>
              <a:buNone/>
            </a:pPr>
            <a:r>
              <a:rPr lang="en-US" altLang="en-US" sz="1800"/>
              <a:t>        return temp;</a:t>
            </a:r>
          </a:p>
          <a:p>
            <a:pPr eaLnBrk="1" hangingPunct="1">
              <a:spcBef>
                <a:spcPct val="0"/>
              </a:spcBef>
              <a:buFontTx/>
              <a:buNone/>
            </a:pPr>
            <a:r>
              <a:rPr lang="en-US" altLang="en-US" sz="1800"/>
              <a:t> }</a:t>
            </a:r>
          </a:p>
        </p:txBody>
      </p:sp>
      <p:sp>
        <p:nvSpPr>
          <p:cNvPr id="11271" name="Text Box 7"/>
          <p:cNvSpPr txBox="1">
            <a:spLocks noChangeArrowheads="1"/>
          </p:cNvSpPr>
          <p:nvPr/>
        </p:nvSpPr>
        <p:spPr bwMode="auto">
          <a:xfrm>
            <a:off x="1981201" y="5257801"/>
            <a:ext cx="14192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Recall:</a:t>
            </a:r>
          </a:p>
          <a:p>
            <a:pPr eaLnBrk="1" hangingPunct="1">
              <a:spcBef>
                <a:spcPct val="0"/>
              </a:spcBef>
              <a:buFontTx/>
              <a:buNone/>
            </a:pPr>
            <a:endParaRPr lang="en-US" altLang="en-US" sz="1800"/>
          </a:p>
          <a:p>
            <a:pPr eaLnBrk="1" hangingPunct="1">
              <a:spcBef>
                <a:spcPct val="0"/>
              </a:spcBef>
              <a:buFontTx/>
              <a:buNone/>
            </a:pPr>
            <a:r>
              <a:rPr lang="en-US" altLang="en-US" sz="1800"/>
              <a:t>a[0] = *a and</a:t>
            </a:r>
          </a:p>
          <a:p>
            <a:pPr eaLnBrk="1" hangingPunct="1">
              <a:spcBef>
                <a:spcPct val="0"/>
              </a:spcBef>
              <a:buFontTx/>
              <a:buNone/>
            </a:pPr>
            <a:r>
              <a:rPr lang="en-US" altLang="en-US" sz="1800"/>
              <a:t>a[i] = *(a + i)</a:t>
            </a:r>
          </a:p>
        </p:txBody>
      </p:sp>
      <p:sp>
        <p:nvSpPr>
          <p:cNvPr id="11272" name="Text Box 8"/>
          <p:cNvSpPr txBox="1">
            <a:spLocks noChangeArrowheads="1"/>
          </p:cNvSpPr>
          <p:nvPr/>
        </p:nvSpPr>
        <p:spPr bwMode="auto">
          <a:xfrm>
            <a:off x="4419600" y="5486401"/>
            <a:ext cx="5767388"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If a is an array, and p = &amp;a[0] then we can reference array</a:t>
            </a:r>
          </a:p>
          <a:p>
            <a:pPr eaLnBrk="1" hangingPunct="1">
              <a:spcBef>
                <a:spcPct val="0"/>
              </a:spcBef>
              <a:buFontTx/>
              <a:buNone/>
            </a:pPr>
            <a:r>
              <a:rPr lang="en-US" altLang="en-US" sz="1800"/>
              <a:t>elements as a[i], *(p+i), but we can also reference them as</a:t>
            </a:r>
          </a:p>
          <a:p>
            <a:pPr eaLnBrk="1" hangingPunct="1">
              <a:spcBef>
                <a:spcPct val="0"/>
              </a:spcBef>
              <a:buFontTx/>
              <a:buNone/>
            </a:pPr>
            <a:r>
              <a:rPr lang="en-US" altLang="en-US" sz="1800"/>
              <a:t>p[i] and *(a+i) – that is, a and p are both pointers to the array</a:t>
            </a:r>
          </a:p>
          <a:p>
            <a:pPr eaLnBrk="1" hangingPunct="1">
              <a:spcBef>
                <a:spcPct val="0"/>
              </a:spcBef>
              <a:buFontTx/>
              <a:buNone/>
            </a:pPr>
            <a:r>
              <a:rPr lang="en-US" altLang="en-US" sz="1800"/>
              <a:t>And can be dereferenced by * or by [ ]</a:t>
            </a:r>
          </a:p>
        </p:txBody>
      </p:sp>
    </p:spTree>
    <p:extLst>
      <p:ext uri="{BB962C8B-B14F-4D97-AF65-F5344CB8AC3E}">
        <p14:creationId xmlns:p14="http://schemas.microsoft.com/office/powerpoint/2010/main" val="497032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209800" y="0"/>
            <a:ext cx="7772400" cy="1143000"/>
          </a:xfrm>
        </p:spPr>
        <p:txBody>
          <a:bodyPr/>
          <a:lstStyle/>
          <a:p>
            <a:pPr eaLnBrk="1" hangingPunct="1"/>
            <a:r>
              <a:rPr lang="en-US" altLang="en-US" smtClean="0"/>
              <a:t>Multidimensional Arrays</a:t>
            </a:r>
          </a:p>
        </p:txBody>
      </p:sp>
      <p:sp>
        <p:nvSpPr>
          <p:cNvPr id="12291" name="Rectangle 3"/>
          <p:cNvSpPr>
            <a:spLocks noGrp="1" noChangeArrowheads="1"/>
          </p:cNvSpPr>
          <p:nvPr>
            <p:ph type="body" idx="1"/>
          </p:nvPr>
        </p:nvSpPr>
        <p:spPr>
          <a:xfrm>
            <a:off x="1676400" y="914400"/>
            <a:ext cx="8839200" cy="3048000"/>
          </a:xfrm>
        </p:spPr>
        <p:txBody>
          <a:bodyPr>
            <a:normAutofit fontScale="92500" lnSpcReduction="10000"/>
          </a:bodyPr>
          <a:lstStyle/>
          <a:p>
            <a:pPr eaLnBrk="1" hangingPunct="1">
              <a:lnSpc>
                <a:spcPct val="90000"/>
              </a:lnSpc>
            </a:pPr>
            <a:r>
              <a:rPr lang="en-US" altLang="en-US" sz="2400" dirty="0"/>
              <a:t>As in Java, C allows multidimensional arrays by using more [ ]</a:t>
            </a:r>
          </a:p>
          <a:p>
            <a:pPr lvl="1" eaLnBrk="1" hangingPunct="1">
              <a:lnSpc>
                <a:spcPct val="90000"/>
              </a:lnSpc>
            </a:pPr>
            <a:r>
              <a:rPr lang="en-US" altLang="en-US" sz="2000" dirty="0"/>
              <a:t>Example:  </a:t>
            </a:r>
            <a:r>
              <a:rPr lang="en-US" altLang="en-US" sz="2000" dirty="0" err="1"/>
              <a:t>int</a:t>
            </a:r>
            <a:r>
              <a:rPr lang="en-US" altLang="en-US" sz="2000" dirty="0"/>
              <a:t> matrix[5][10</a:t>
            </a:r>
            <a:r>
              <a:rPr lang="en-US" altLang="en-US" sz="2400" dirty="0"/>
              <a:t>];</a:t>
            </a:r>
          </a:p>
          <a:p>
            <a:pPr eaLnBrk="1" hangingPunct="1">
              <a:lnSpc>
                <a:spcPct val="90000"/>
              </a:lnSpc>
            </a:pPr>
            <a:r>
              <a:rPr lang="en-US" altLang="en-US" sz="2400" dirty="0"/>
              <a:t>Some differences:</a:t>
            </a:r>
          </a:p>
          <a:p>
            <a:pPr lvl="1" eaLnBrk="1" hangingPunct="1">
              <a:lnSpc>
                <a:spcPct val="90000"/>
              </a:lnSpc>
            </a:pPr>
            <a:r>
              <a:rPr lang="en-US" altLang="en-US" sz="2000" dirty="0"/>
              <a:t>Because functions can be compiled separately, we must denote all but one dimension of a multiple dimensional array in a function’s parameter list</a:t>
            </a:r>
          </a:p>
          <a:p>
            <a:pPr lvl="2" eaLnBrk="1" hangingPunct="1">
              <a:lnSpc>
                <a:spcPct val="90000"/>
              </a:lnSpc>
            </a:pPr>
            <a:r>
              <a:rPr lang="en-US" altLang="en-US" sz="1800" dirty="0"/>
              <a:t>void </a:t>
            </a:r>
            <a:r>
              <a:rPr lang="en-US" altLang="en-US" sz="1800" dirty="0" err="1"/>
              <a:t>afunction</a:t>
            </a:r>
            <a:r>
              <a:rPr lang="en-US" altLang="en-US" sz="1800" dirty="0"/>
              <a:t>(</a:t>
            </a:r>
            <a:r>
              <a:rPr lang="en-US" altLang="en-US" sz="1800" dirty="0" err="1"/>
              <a:t>int</a:t>
            </a:r>
            <a:r>
              <a:rPr lang="en-US" altLang="en-US" sz="1800" dirty="0"/>
              <a:t> </a:t>
            </a:r>
            <a:r>
              <a:rPr lang="en-US" altLang="en-US" sz="1800" dirty="0" err="1"/>
              <a:t>amatrix</a:t>
            </a:r>
            <a:r>
              <a:rPr lang="en-US" altLang="en-US" sz="1800" dirty="0"/>
              <a:t>[ ][10]);</a:t>
            </a:r>
          </a:p>
          <a:p>
            <a:pPr lvl="1" eaLnBrk="1" hangingPunct="1">
              <a:lnSpc>
                <a:spcPct val="90000"/>
              </a:lnSpc>
            </a:pPr>
            <a:r>
              <a:rPr lang="en-US" altLang="en-US" sz="2000" dirty="0"/>
              <a:t>Because arrays are referenced through pointers, there are multiple ways to declare and access 2+ dimensional arrays</a:t>
            </a:r>
          </a:p>
          <a:p>
            <a:pPr lvl="2" eaLnBrk="1" hangingPunct="1">
              <a:lnSpc>
                <a:spcPct val="90000"/>
              </a:lnSpc>
            </a:pPr>
            <a:r>
              <a:rPr lang="en-US" altLang="en-US" sz="1800" dirty="0"/>
              <a:t>This will be more relevant when dealing with an array of strings (which is a 2-D array)</a:t>
            </a:r>
          </a:p>
        </p:txBody>
      </p:sp>
      <p:sp>
        <p:nvSpPr>
          <p:cNvPr id="12292" name="Text Box 4"/>
          <p:cNvSpPr txBox="1">
            <a:spLocks noChangeArrowheads="1"/>
          </p:cNvSpPr>
          <p:nvPr/>
        </p:nvSpPr>
        <p:spPr bwMode="auto">
          <a:xfrm>
            <a:off x="1905000" y="4343400"/>
            <a:ext cx="14668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 int a[10][20];</a:t>
            </a:r>
          </a:p>
          <a:p>
            <a:pPr eaLnBrk="1" hangingPunct="1">
              <a:spcBef>
                <a:spcPct val="0"/>
              </a:spcBef>
              <a:buFontTx/>
              <a:buNone/>
            </a:pPr>
            <a:r>
              <a:rPr lang="en-US" altLang="en-US" sz="1800"/>
              <a:t> int *a[10];</a:t>
            </a:r>
          </a:p>
          <a:p>
            <a:pPr eaLnBrk="1" hangingPunct="1">
              <a:spcBef>
                <a:spcPct val="0"/>
              </a:spcBef>
              <a:buFontTx/>
              <a:buNone/>
            </a:pPr>
            <a:r>
              <a:rPr lang="en-US" altLang="en-US" sz="1800"/>
              <a:t> int **a;</a:t>
            </a:r>
          </a:p>
        </p:txBody>
      </p:sp>
      <p:sp>
        <p:nvSpPr>
          <p:cNvPr id="12293" name="Text Box 5"/>
          <p:cNvSpPr txBox="1">
            <a:spLocks noChangeArrowheads="1"/>
          </p:cNvSpPr>
          <p:nvPr/>
        </p:nvSpPr>
        <p:spPr bwMode="auto">
          <a:xfrm>
            <a:off x="1905001" y="5486400"/>
            <a:ext cx="40052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 *a[4] –first element of 5</a:t>
            </a:r>
            <a:r>
              <a:rPr lang="en-US" altLang="en-US" sz="1800" baseline="30000"/>
              <a:t>th</a:t>
            </a:r>
            <a:r>
              <a:rPr lang="en-US" altLang="en-US" sz="1800"/>
              <a:t> array element</a:t>
            </a:r>
          </a:p>
          <a:p>
            <a:pPr eaLnBrk="1" hangingPunct="1">
              <a:spcBef>
                <a:spcPct val="0"/>
              </a:spcBef>
              <a:buFontTx/>
              <a:buNone/>
            </a:pPr>
            <a:r>
              <a:rPr lang="en-US" altLang="en-US" sz="1800"/>
              <a:t> *a[9] –first element of 10</a:t>
            </a:r>
            <a:r>
              <a:rPr lang="en-US" altLang="en-US" sz="1800" baseline="30000"/>
              <a:t>th</a:t>
            </a:r>
            <a:r>
              <a:rPr lang="en-US" altLang="en-US" sz="1800"/>
              <a:t> array element</a:t>
            </a:r>
          </a:p>
          <a:p>
            <a:pPr eaLnBrk="1" hangingPunct="1">
              <a:spcBef>
                <a:spcPct val="0"/>
              </a:spcBef>
              <a:buFontTx/>
              <a:buNone/>
            </a:pPr>
            <a:r>
              <a:rPr lang="en-US" altLang="en-US" sz="1800"/>
              <a:t>**a –first element of a[0]</a:t>
            </a:r>
          </a:p>
        </p:txBody>
      </p:sp>
      <p:sp>
        <p:nvSpPr>
          <p:cNvPr id="12294" name="Text Box 6"/>
          <p:cNvSpPr txBox="1">
            <a:spLocks noChangeArrowheads="1"/>
          </p:cNvSpPr>
          <p:nvPr/>
        </p:nvSpPr>
        <p:spPr bwMode="auto">
          <a:xfrm>
            <a:off x="6477000" y="4343401"/>
            <a:ext cx="387985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int *a[3];		// array of 3 pointers</a:t>
            </a:r>
          </a:p>
          <a:p>
            <a:pPr eaLnBrk="1" hangingPunct="1">
              <a:spcBef>
                <a:spcPct val="0"/>
              </a:spcBef>
              <a:buFontTx/>
              <a:buNone/>
            </a:pPr>
            <a:r>
              <a:rPr lang="en-US" altLang="en-US" sz="1800"/>
              <a:t>int x[2] = {1, 2};</a:t>
            </a:r>
          </a:p>
          <a:p>
            <a:pPr eaLnBrk="1" hangingPunct="1">
              <a:spcBef>
                <a:spcPct val="0"/>
              </a:spcBef>
              <a:buFontTx/>
              <a:buNone/>
            </a:pPr>
            <a:r>
              <a:rPr lang="en-US" altLang="en-US" sz="1800"/>
              <a:t>int y[3] = {3, 4, 5};</a:t>
            </a:r>
          </a:p>
          <a:p>
            <a:pPr eaLnBrk="1" hangingPunct="1">
              <a:spcBef>
                <a:spcPct val="0"/>
              </a:spcBef>
              <a:buFontTx/>
              <a:buNone/>
            </a:pPr>
            <a:r>
              <a:rPr lang="en-US" altLang="en-US" sz="1800"/>
              <a:t>int z[4] = {6, 7, 8, 9};</a:t>
            </a:r>
          </a:p>
          <a:p>
            <a:pPr eaLnBrk="1" hangingPunct="1">
              <a:spcBef>
                <a:spcPct val="0"/>
              </a:spcBef>
              <a:buFontTx/>
              <a:buNone/>
            </a:pPr>
            <a:r>
              <a:rPr lang="en-US" altLang="en-US" sz="1800"/>
              <a:t>*a = &amp;x[0];	// a[0] points to x[0]</a:t>
            </a:r>
          </a:p>
          <a:p>
            <a:pPr eaLnBrk="1" hangingPunct="1">
              <a:spcBef>
                <a:spcPct val="0"/>
              </a:spcBef>
              <a:buFontTx/>
              <a:buNone/>
            </a:pPr>
            <a:r>
              <a:rPr lang="en-US" altLang="en-US" sz="1800"/>
              <a:t>*(a+1) = &amp;y[0];	// a[1] points to y[0]</a:t>
            </a:r>
          </a:p>
          <a:p>
            <a:pPr eaLnBrk="1" hangingPunct="1">
              <a:spcBef>
                <a:spcPct val="0"/>
              </a:spcBef>
              <a:buFontTx/>
              <a:buNone/>
            </a:pPr>
            <a:r>
              <a:rPr lang="en-US" altLang="en-US" sz="1800"/>
              <a:t>*(a+2) = &amp;z[0];	// a[2] points to z[0]</a:t>
            </a:r>
          </a:p>
          <a:p>
            <a:pPr eaLnBrk="1" hangingPunct="1">
              <a:spcBef>
                <a:spcPct val="0"/>
              </a:spcBef>
              <a:buFontTx/>
              <a:buNone/>
            </a:pPr>
            <a:r>
              <a:rPr lang="en-US" altLang="en-US" sz="1800"/>
              <a:t>// array a is a jagged array, it is not</a:t>
            </a:r>
          </a:p>
          <a:p>
            <a:pPr eaLnBrk="1" hangingPunct="1">
              <a:spcBef>
                <a:spcPct val="0"/>
              </a:spcBef>
              <a:buFontTx/>
              <a:buNone/>
            </a:pPr>
            <a:r>
              <a:rPr lang="en-US" altLang="en-US" sz="1800"/>
              <a:t>// rectangular, or of equal dimensions</a:t>
            </a:r>
          </a:p>
        </p:txBody>
      </p:sp>
    </p:spTree>
    <p:extLst>
      <p:ext uri="{BB962C8B-B14F-4D97-AF65-F5344CB8AC3E}">
        <p14:creationId xmlns:p14="http://schemas.microsoft.com/office/powerpoint/2010/main" val="3527764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제목 1"/>
          <p:cNvSpPr>
            <a:spLocks noGrp="1"/>
          </p:cNvSpPr>
          <p:nvPr>
            <p:ph type="title"/>
          </p:nvPr>
        </p:nvSpPr>
        <p:spPr/>
        <p:txBody>
          <a:bodyPr/>
          <a:lstStyle/>
          <a:p>
            <a:r>
              <a:rPr lang="en-US" altLang="ko-KR" b="1" u="sng" smtClean="0"/>
              <a:t>Multiple String</a:t>
            </a:r>
            <a:endParaRPr lang="ko-KR" altLang="en-US" b="1" u="sng" smtClean="0"/>
          </a:p>
        </p:txBody>
      </p:sp>
      <p:sp>
        <p:nvSpPr>
          <p:cNvPr id="10243" name="내용 개체 틀 2"/>
          <p:cNvSpPr>
            <a:spLocks noGrp="1"/>
          </p:cNvSpPr>
          <p:nvPr>
            <p:ph idx="1"/>
          </p:nvPr>
        </p:nvSpPr>
        <p:spPr/>
        <p:txBody>
          <a:bodyPr/>
          <a:lstStyle/>
          <a:p>
            <a:r>
              <a:rPr lang="en-US" altLang="ko-KR" dirty="0" smtClean="0"/>
              <a:t>Using 2 dimensional array</a:t>
            </a:r>
          </a:p>
          <a:p>
            <a:pPr marL="342900" lvl="1" indent="-342900">
              <a:buClr>
                <a:schemeClr val="hlink"/>
              </a:buClr>
              <a:buSzPct val="80000"/>
              <a:buFont typeface="Wingdings" pitchFamily="2" charset="2"/>
              <a:buNone/>
            </a:pPr>
            <a:r>
              <a:rPr lang="en-US" altLang="ko-KR" b="1" dirty="0" smtClean="0"/>
              <a:t>	</a:t>
            </a:r>
            <a:r>
              <a:rPr lang="en-US" altLang="ko-KR" b="1" dirty="0" smtClean="0">
                <a:solidFill>
                  <a:srgbClr val="0000CC"/>
                </a:solidFill>
              </a:rPr>
              <a:t>char</a:t>
            </a:r>
            <a:r>
              <a:rPr lang="en-US" altLang="ko-KR" b="1" dirty="0" smtClean="0"/>
              <a:t> colors[3][10]= {"red", "blue", "white"};  </a:t>
            </a:r>
          </a:p>
          <a:p>
            <a:pPr>
              <a:buFont typeface="Wingdings" pitchFamily="2" charset="2"/>
              <a:buNone/>
            </a:pPr>
            <a:endParaRPr lang="en-US" altLang="ko-KR" dirty="0" smtClean="0"/>
          </a:p>
          <a:p>
            <a:pPr>
              <a:buFont typeface="Wingdings" pitchFamily="2" charset="2"/>
              <a:buNone/>
            </a:pPr>
            <a:r>
              <a:rPr lang="en-US" altLang="ko-KR" dirty="0" smtClean="0"/>
              <a:t>or</a:t>
            </a:r>
          </a:p>
          <a:p>
            <a:pPr>
              <a:buFont typeface="Wingdings" pitchFamily="2" charset="2"/>
              <a:buNone/>
            </a:pPr>
            <a:endParaRPr lang="en-US" altLang="ko-KR" dirty="0" smtClean="0"/>
          </a:p>
          <a:p>
            <a:pPr>
              <a:buFont typeface="Wingdings" pitchFamily="2" charset="2"/>
              <a:buNone/>
            </a:pPr>
            <a:r>
              <a:rPr lang="en-US" altLang="ko-KR" sz="2600" b="1" dirty="0" smtClean="0">
                <a:solidFill>
                  <a:srgbClr val="0000CC"/>
                </a:solidFill>
              </a:rPr>
              <a:t>    char</a:t>
            </a:r>
            <a:r>
              <a:rPr lang="en-US" altLang="ko-KR" sz="2600" b="1" dirty="0" smtClean="0"/>
              <a:t> *</a:t>
            </a:r>
            <a:r>
              <a:rPr lang="en-US" altLang="ko-KR" sz="2600" b="1" dirty="0" err="1" smtClean="0"/>
              <a:t>colorp</a:t>
            </a:r>
            <a:r>
              <a:rPr lang="en-US" altLang="ko-KR" sz="2600" b="1" dirty="0" smtClean="0"/>
              <a:t>[3] = {"red", "blue", "white"}; </a:t>
            </a:r>
            <a:endParaRPr lang="ko-KR" altLang="en-US" sz="2600" b="1" dirty="0" smtClean="0"/>
          </a:p>
        </p:txBody>
      </p:sp>
    </p:spTree>
    <p:extLst>
      <p:ext uri="{BB962C8B-B14F-4D97-AF65-F5344CB8AC3E}">
        <p14:creationId xmlns:p14="http://schemas.microsoft.com/office/powerpoint/2010/main" val="1318291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제목 1"/>
          <p:cNvSpPr>
            <a:spLocks noGrp="1"/>
          </p:cNvSpPr>
          <p:nvPr>
            <p:ph type="title"/>
          </p:nvPr>
        </p:nvSpPr>
        <p:spPr/>
        <p:txBody>
          <a:bodyPr/>
          <a:lstStyle/>
          <a:p>
            <a:r>
              <a:rPr lang="en-US" altLang="ko-KR" b="1" u="sng" smtClean="0"/>
              <a:t>Multiple String</a:t>
            </a:r>
            <a:endParaRPr lang="ko-KR" altLang="en-US" b="1" u="sng" smtClean="0"/>
          </a:p>
        </p:txBody>
      </p:sp>
      <p:grpSp>
        <p:nvGrpSpPr>
          <p:cNvPr id="11267" name="Group 4"/>
          <p:cNvGrpSpPr>
            <a:grpSpLocks/>
          </p:cNvGrpSpPr>
          <p:nvPr/>
        </p:nvGrpSpPr>
        <p:grpSpPr bwMode="auto">
          <a:xfrm>
            <a:off x="624418" y="1512888"/>
            <a:ext cx="9791700" cy="4221162"/>
            <a:chOff x="295" y="953"/>
            <a:chExt cx="5184" cy="2975"/>
          </a:xfrm>
        </p:grpSpPr>
        <p:sp>
          <p:nvSpPr>
            <p:cNvPr id="11268" name="Rectangle 5"/>
            <p:cNvSpPr>
              <a:spLocks noChangeArrowheads="1"/>
            </p:cNvSpPr>
            <p:nvPr/>
          </p:nvSpPr>
          <p:spPr bwMode="auto">
            <a:xfrm>
              <a:off x="295" y="1026"/>
              <a:ext cx="5184" cy="2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spcBef>
                  <a:spcPct val="50000"/>
                </a:spcBef>
                <a:buClr>
                  <a:schemeClr val="bg2"/>
                </a:buClr>
                <a:buSzPct val="75000"/>
                <a:buFont typeface="Wingdings" pitchFamily="2" charset="2"/>
                <a:buNone/>
              </a:pPr>
              <a:r>
                <a:rPr lang="ko-KR" altLang="en-US" sz="2000">
                  <a:latin typeface="Tahoma" pitchFamily="34" charset="0"/>
                </a:rPr>
                <a:t> </a:t>
              </a:r>
            </a:p>
          </p:txBody>
        </p:sp>
        <p:sp>
          <p:nvSpPr>
            <p:cNvPr id="11269" name="Rectangle 6"/>
            <p:cNvSpPr>
              <a:spLocks noChangeArrowheads="1"/>
            </p:cNvSpPr>
            <p:nvPr/>
          </p:nvSpPr>
          <p:spPr bwMode="auto">
            <a:xfrm>
              <a:off x="1530" y="953"/>
              <a:ext cx="181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1600">
                  <a:latin typeface="Lucida Sans Unicode" pitchFamily="34" charset="0"/>
                </a:rPr>
                <a:t>r     e      d   \0             </a:t>
              </a:r>
            </a:p>
          </p:txBody>
        </p:sp>
        <p:sp>
          <p:nvSpPr>
            <p:cNvPr id="11270" name="Line 7"/>
            <p:cNvSpPr>
              <a:spLocks noChangeShapeType="1"/>
            </p:cNvSpPr>
            <p:nvPr/>
          </p:nvSpPr>
          <p:spPr bwMode="auto">
            <a:xfrm>
              <a:off x="1832"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1" name="Line 8"/>
            <p:cNvSpPr>
              <a:spLocks noChangeShapeType="1"/>
            </p:cNvSpPr>
            <p:nvPr/>
          </p:nvSpPr>
          <p:spPr bwMode="auto">
            <a:xfrm>
              <a:off x="2134"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2" name="Line 9"/>
            <p:cNvSpPr>
              <a:spLocks noChangeShapeType="1"/>
            </p:cNvSpPr>
            <p:nvPr/>
          </p:nvSpPr>
          <p:spPr bwMode="auto">
            <a:xfrm>
              <a:off x="2437"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3" name="Line 10"/>
            <p:cNvSpPr>
              <a:spLocks noChangeShapeType="1"/>
            </p:cNvSpPr>
            <p:nvPr/>
          </p:nvSpPr>
          <p:spPr bwMode="auto">
            <a:xfrm>
              <a:off x="2740"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4" name="Line 11"/>
            <p:cNvSpPr>
              <a:spLocks noChangeShapeType="1"/>
            </p:cNvSpPr>
            <p:nvPr/>
          </p:nvSpPr>
          <p:spPr bwMode="auto">
            <a:xfrm>
              <a:off x="3042"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5" name="Text Box 12"/>
            <p:cNvSpPr txBox="1">
              <a:spLocks noChangeArrowheads="1"/>
            </p:cNvSpPr>
            <p:nvPr/>
          </p:nvSpPr>
          <p:spPr bwMode="auto">
            <a:xfrm>
              <a:off x="815" y="1029"/>
              <a:ext cx="559" cy="1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1600">
                  <a:latin typeface="Lucida Sans Unicode" pitchFamily="34" charset="0"/>
                </a:rPr>
                <a:t>colors[0]</a:t>
              </a:r>
            </a:p>
            <a:p>
              <a:pPr eaLnBrk="1" hangingPunct="1"/>
              <a:endParaRPr lang="en-US" altLang="ko-KR" sz="1600">
                <a:latin typeface="Lucida Sans Unicode" pitchFamily="34" charset="0"/>
              </a:endParaRPr>
            </a:p>
            <a:p>
              <a:pPr eaLnBrk="1" hangingPunct="1"/>
              <a:endParaRPr lang="en-US" altLang="ko-KR" sz="1600">
                <a:latin typeface="Lucida Sans Unicode" pitchFamily="34" charset="0"/>
              </a:endParaRPr>
            </a:p>
            <a:p>
              <a:pPr eaLnBrk="1" hangingPunct="1"/>
              <a:r>
                <a:rPr lang="en-US" altLang="ko-KR" sz="1600">
                  <a:latin typeface="Lucida Sans Unicode" pitchFamily="34" charset="0"/>
                </a:rPr>
                <a:t>colors[1]</a:t>
              </a:r>
            </a:p>
            <a:p>
              <a:pPr eaLnBrk="1" hangingPunct="1"/>
              <a:endParaRPr lang="en-US" altLang="ko-KR" sz="1600">
                <a:latin typeface="Lucida Sans Unicode" pitchFamily="34" charset="0"/>
              </a:endParaRPr>
            </a:p>
            <a:p>
              <a:pPr eaLnBrk="1" hangingPunct="1"/>
              <a:endParaRPr lang="en-US" altLang="ko-KR" sz="1600">
                <a:latin typeface="Lucida Sans Unicode" pitchFamily="34" charset="0"/>
              </a:endParaRPr>
            </a:p>
            <a:p>
              <a:pPr eaLnBrk="1" hangingPunct="1"/>
              <a:r>
                <a:rPr lang="en-US" altLang="ko-KR" sz="1600">
                  <a:latin typeface="Lucida Sans Unicode" pitchFamily="34" charset="0"/>
                </a:rPr>
                <a:t>colors[2]</a:t>
              </a:r>
            </a:p>
          </p:txBody>
        </p:sp>
        <p:sp>
          <p:nvSpPr>
            <p:cNvPr id="11276" name="Rectangle 13"/>
            <p:cNvSpPr>
              <a:spLocks noChangeArrowheads="1"/>
            </p:cNvSpPr>
            <p:nvPr/>
          </p:nvSpPr>
          <p:spPr bwMode="auto">
            <a:xfrm>
              <a:off x="1512" y="1497"/>
              <a:ext cx="181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1600">
                  <a:latin typeface="Lucida Sans Unicode" pitchFamily="34" charset="0"/>
                </a:rPr>
                <a:t>b     l      u     e    \0     </a:t>
              </a:r>
            </a:p>
          </p:txBody>
        </p:sp>
        <p:sp>
          <p:nvSpPr>
            <p:cNvPr id="11277" name="Line 14"/>
            <p:cNvSpPr>
              <a:spLocks noChangeShapeType="1"/>
            </p:cNvSpPr>
            <p:nvPr/>
          </p:nvSpPr>
          <p:spPr bwMode="auto">
            <a:xfrm>
              <a:off x="1814" y="1505"/>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8" name="Line 15"/>
            <p:cNvSpPr>
              <a:spLocks noChangeShapeType="1"/>
            </p:cNvSpPr>
            <p:nvPr/>
          </p:nvSpPr>
          <p:spPr bwMode="auto">
            <a:xfrm>
              <a:off x="2116" y="1505"/>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9" name="Line 16"/>
            <p:cNvSpPr>
              <a:spLocks noChangeShapeType="1"/>
            </p:cNvSpPr>
            <p:nvPr/>
          </p:nvSpPr>
          <p:spPr bwMode="auto">
            <a:xfrm>
              <a:off x="2419" y="1505"/>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0" name="Line 17"/>
            <p:cNvSpPr>
              <a:spLocks noChangeShapeType="1"/>
            </p:cNvSpPr>
            <p:nvPr/>
          </p:nvSpPr>
          <p:spPr bwMode="auto">
            <a:xfrm>
              <a:off x="2722" y="1505"/>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1" name="Line 18"/>
            <p:cNvSpPr>
              <a:spLocks noChangeShapeType="1"/>
            </p:cNvSpPr>
            <p:nvPr/>
          </p:nvSpPr>
          <p:spPr bwMode="auto">
            <a:xfrm>
              <a:off x="3024" y="1505"/>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2" name="Rectangle 19"/>
            <p:cNvSpPr>
              <a:spLocks noChangeArrowheads="1"/>
            </p:cNvSpPr>
            <p:nvPr/>
          </p:nvSpPr>
          <p:spPr bwMode="auto">
            <a:xfrm>
              <a:off x="1512" y="2034"/>
              <a:ext cx="181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r>
                <a:rPr lang="en-US" altLang="ko-KR" sz="1600">
                  <a:latin typeface="Lucida Sans Unicode" pitchFamily="34" charset="0"/>
                </a:rPr>
                <a:t>w    h     i     t      e    \0             </a:t>
              </a:r>
            </a:p>
          </p:txBody>
        </p:sp>
        <p:sp>
          <p:nvSpPr>
            <p:cNvPr id="11283" name="Line 20"/>
            <p:cNvSpPr>
              <a:spLocks noChangeShapeType="1"/>
            </p:cNvSpPr>
            <p:nvPr/>
          </p:nvSpPr>
          <p:spPr bwMode="auto">
            <a:xfrm>
              <a:off x="1814" y="2042"/>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4" name="Line 21"/>
            <p:cNvSpPr>
              <a:spLocks noChangeShapeType="1"/>
            </p:cNvSpPr>
            <p:nvPr/>
          </p:nvSpPr>
          <p:spPr bwMode="auto">
            <a:xfrm>
              <a:off x="2116" y="2042"/>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5" name="Line 22"/>
            <p:cNvSpPr>
              <a:spLocks noChangeShapeType="1"/>
            </p:cNvSpPr>
            <p:nvPr/>
          </p:nvSpPr>
          <p:spPr bwMode="auto">
            <a:xfrm>
              <a:off x="2419" y="2042"/>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6" name="Line 23"/>
            <p:cNvSpPr>
              <a:spLocks noChangeShapeType="1"/>
            </p:cNvSpPr>
            <p:nvPr/>
          </p:nvSpPr>
          <p:spPr bwMode="auto">
            <a:xfrm>
              <a:off x="2722" y="2042"/>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7" name="Line 24"/>
            <p:cNvSpPr>
              <a:spLocks noChangeShapeType="1"/>
            </p:cNvSpPr>
            <p:nvPr/>
          </p:nvSpPr>
          <p:spPr bwMode="auto">
            <a:xfrm>
              <a:off x="3024" y="2042"/>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8" name="Rectangle 25"/>
            <p:cNvSpPr>
              <a:spLocks noChangeArrowheads="1"/>
            </p:cNvSpPr>
            <p:nvPr/>
          </p:nvSpPr>
          <p:spPr bwMode="auto">
            <a:xfrm>
              <a:off x="3317" y="2032"/>
              <a:ext cx="152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p>
          </p:txBody>
        </p:sp>
        <p:sp>
          <p:nvSpPr>
            <p:cNvPr id="11289" name="Line 26"/>
            <p:cNvSpPr>
              <a:spLocks noChangeShapeType="1"/>
            </p:cNvSpPr>
            <p:nvPr/>
          </p:nvSpPr>
          <p:spPr bwMode="auto">
            <a:xfrm>
              <a:off x="3616" y="204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0" name="Line 27"/>
            <p:cNvSpPr>
              <a:spLocks noChangeShapeType="1"/>
            </p:cNvSpPr>
            <p:nvPr/>
          </p:nvSpPr>
          <p:spPr bwMode="auto">
            <a:xfrm>
              <a:off x="3915" y="204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1" name="Line 28"/>
            <p:cNvSpPr>
              <a:spLocks noChangeShapeType="1"/>
            </p:cNvSpPr>
            <p:nvPr/>
          </p:nvSpPr>
          <p:spPr bwMode="auto">
            <a:xfrm>
              <a:off x="4215" y="204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2" name="Line 29"/>
            <p:cNvSpPr>
              <a:spLocks noChangeShapeType="1"/>
            </p:cNvSpPr>
            <p:nvPr/>
          </p:nvSpPr>
          <p:spPr bwMode="auto">
            <a:xfrm>
              <a:off x="4515" y="204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3" name="Rectangle 30"/>
            <p:cNvSpPr>
              <a:spLocks noChangeArrowheads="1"/>
            </p:cNvSpPr>
            <p:nvPr/>
          </p:nvSpPr>
          <p:spPr bwMode="auto">
            <a:xfrm>
              <a:off x="3327" y="1502"/>
              <a:ext cx="152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p>
          </p:txBody>
        </p:sp>
        <p:sp>
          <p:nvSpPr>
            <p:cNvPr id="11294" name="Line 31"/>
            <p:cNvSpPr>
              <a:spLocks noChangeShapeType="1"/>
            </p:cNvSpPr>
            <p:nvPr/>
          </p:nvSpPr>
          <p:spPr bwMode="auto">
            <a:xfrm>
              <a:off x="3626" y="151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5" name="Line 32"/>
            <p:cNvSpPr>
              <a:spLocks noChangeShapeType="1"/>
            </p:cNvSpPr>
            <p:nvPr/>
          </p:nvSpPr>
          <p:spPr bwMode="auto">
            <a:xfrm>
              <a:off x="3925" y="151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6" name="Line 33"/>
            <p:cNvSpPr>
              <a:spLocks noChangeShapeType="1"/>
            </p:cNvSpPr>
            <p:nvPr/>
          </p:nvSpPr>
          <p:spPr bwMode="auto">
            <a:xfrm>
              <a:off x="4225" y="151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7" name="Line 34"/>
            <p:cNvSpPr>
              <a:spLocks noChangeShapeType="1"/>
            </p:cNvSpPr>
            <p:nvPr/>
          </p:nvSpPr>
          <p:spPr bwMode="auto">
            <a:xfrm>
              <a:off x="4525" y="151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8" name="Rectangle 35"/>
            <p:cNvSpPr>
              <a:spLocks noChangeArrowheads="1"/>
            </p:cNvSpPr>
            <p:nvPr/>
          </p:nvSpPr>
          <p:spPr bwMode="auto">
            <a:xfrm>
              <a:off x="3334" y="953"/>
              <a:ext cx="152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p>
          </p:txBody>
        </p:sp>
        <p:sp>
          <p:nvSpPr>
            <p:cNvPr id="11299" name="Line 36"/>
            <p:cNvSpPr>
              <a:spLocks noChangeShapeType="1"/>
            </p:cNvSpPr>
            <p:nvPr/>
          </p:nvSpPr>
          <p:spPr bwMode="auto">
            <a:xfrm>
              <a:off x="3633"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0" name="Line 37"/>
            <p:cNvSpPr>
              <a:spLocks noChangeShapeType="1"/>
            </p:cNvSpPr>
            <p:nvPr/>
          </p:nvSpPr>
          <p:spPr bwMode="auto">
            <a:xfrm>
              <a:off x="3932"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1" name="Line 38"/>
            <p:cNvSpPr>
              <a:spLocks noChangeShapeType="1"/>
            </p:cNvSpPr>
            <p:nvPr/>
          </p:nvSpPr>
          <p:spPr bwMode="auto">
            <a:xfrm>
              <a:off x="4232"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2" name="Line 39"/>
            <p:cNvSpPr>
              <a:spLocks noChangeShapeType="1"/>
            </p:cNvSpPr>
            <p:nvPr/>
          </p:nvSpPr>
          <p:spPr bwMode="auto">
            <a:xfrm>
              <a:off x="4532"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3" name="Rectangle 40"/>
            <p:cNvSpPr>
              <a:spLocks noChangeArrowheads="1"/>
            </p:cNvSpPr>
            <p:nvPr/>
          </p:nvSpPr>
          <p:spPr bwMode="auto">
            <a:xfrm>
              <a:off x="2491" y="2659"/>
              <a:ext cx="122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r>
                <a:rPr lang="en-US" altLang="ko-KR" sz="1600">
                  <a:latin typeface="Lucida Sans Unicode" pitchFamily="34" charset="0"/>
                </a:rPr>
                <a:t>r     e     d   \0             </a:t>
              </a:r>
            </a:p>
          </p:txBody>
        </p:sp>
        <p:sp>
          <p:nvSpPr>
            <p:cNvPr id="11304" name="Line 41"/>
            <p:cNvSpPr>
              <a:spLocks noChangeShapeType="1"/>
            </p:cNvSpPr>
            <p:nvPr/>
          </p:nvSpPr>
          <p:spPr bwMode="auto">
            <a:xfrm>
              <a:off x="2793" y="2667"/>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5" name="Line 42"/>
            <p:cNvSpPr>
              <a:spLocks noChangeShapeType="1"/>
            </p:cNvSpPr>
            <p:nvPr/>
          </p:nvSpPr>
          <p:spPr bwMode="auto">
            <a:xfrm>
              <a:off x="3095" y="2667"/>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6" name="Line 43"/>
            <p:cNvSpPr>
              <a:spLocks noChangeShapeType="1"/>
            </p:cNvSpPr>
            <p:nvPr/>
          </p:nvSpPr>
          <p:spPr bwMode="auto">
            <a:xfrm>
              <a:off x="3398" y="2667"/>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7" name="Rectangle 44"/>
            <p:cNvSpPr>
              <a:spLocks noChangeArrowheads="1"/>
            </p:cNvSpPr>
            <p:nvPr/>
          </p:nvSpPr>
          <p:spPr bwMode="auto">
            <a:xfrm>
              <a:off x="2491" y="3140"/>
              <a:ext cx="1542"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r>
                <a:rPr lang="en-US" altLang="ko-KR" sz="1600">
                  <a:latin typeface="Lucida Sans Unicode" pitchFamily="34" charset="0"/>
                </a:rPr>
                <a:t>b     l      u     e   \0     </a:t>
              </a:r>
            </a:p>
          </p:txBody>
        </p:sp>
        <p:sp>
          <p:nvSpPr>
            <p:cNvPr id="11308" name="Line 45"/>
            <p:cNvSpPr>
              <a:spLocks noChangeShapeType="1"/>
            </p:cNvSpPr>
            <p:nvPr/>
          </p:nvSpPr>
          <p:spPr bwMode="auto">
            <a:xfrm>
              <a:off x="2793" y="3166"/>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9" name="Line 46"/>
            <p:cNvSpPr>
              <a:spLocks noChangeShapeType="1"/>
            </p:cNvSpPr>
            <p:nvPr/>
          </p:nvSpPr>
          <p:spPr bwMode="auto">
            <a:xfrm>
              <a:off x="3095" y="3166"/>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0" name="Line 47"/>
            <p:cNvSpPr>
              <a:spLocks noChangeShapeType="1"/>
            </p:cNvSpPr>
            <p:nvPr/>
          </p:nvSpPr>
          <p:spPr bwMode="auto">
            <a:xfrm>
              <a:off x="3398" y="3166"/>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1" name="Line 48"/>
            <p:cNvSpPr>
              <a:spLocks noChangeShapeType="1"/>
            </p:cNvSpPr>
            <p:nvPr/>
          </p:nvSpPr>
          <p:spPr bwMode="auto">
            <a:xfrm>
              <a:off x="3701" y="3166"/>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2" name="Rectangle 49"/>
            <p:cNvSpPr>
              <a:spLocks noChangeArrowheads="1"/>
            </p:cNvSpPr>
            <p:nvPr/>
          </p:nvSpPr>
          <p:spPr bwMode="auto">
            <a:xfrm>
              <a:off x="2500" y="3603"/>
              <a:ext cx="181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r>
                <a:rPr lang="en-US" altLang="ko-KR" sz="1600">
                  <a:latin typeface="Lucida Sans Unicode" pitchFamily="34" charset="0"/>
                </a:rPr>
                <a:t>w    h     i     t      e    \0             </a:t>
              </a:r>
            </a:p>
          </p:txBody>
        </p:sp>
        <p:sp>
          <p:nvSpPr>
            <p:cNvPr id="11313" name="Line 50"/>
            <p:cNvSpPr>
              <a:spLocks noChangeShapeType="1"/>
            </p:cNvSpPr>
            <p:nvPr/>
          </p:nvSpPr>
          <p:spPr bwMode="auto">
            <a:xfrm>
              <a:off x="2802" y="361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4" name="Line 51"/>
            <p:cNvSpPr>
              <a:spLocks noChangeShapeType="1"/>
            </p:cNvSpPr>
            <p:nvPr/>
          </p:nvSpPr>
          <p:spPr bwMode="auto">
            <a:xfrm>
              <a:off x="3104" y="361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5" name="Line 52"/>
            <p:cNvSpPr>
              <a:spLocks noChangeShapeType="1"/>
            </p:cNvSpPr>
            <p:nvPr/>
          </p:nvSpPr>
          <p:spPr bwMode="auto">
            <a:xfrm>
              <a:off x="3407" y="361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6" name="Line 53"/>
            <p:cNvSpPr>
              <a:spLocks noChangeShapeType="1"/>
            </p:cNvSpPr>
            <p:nvPr/>
          </p:nvSpPr>
          <p:spPr bwMode="auto">
            <a:xfrm>
              <a:off x="3710" y="361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7" name="Line 54"/>
            <p:cNvSpPr>
              <a:spLocks noChangeShapeType="1"/>
            </p:cNvSpPr>
            <p:nvPr/>
          </p:nvSpPr>
          <p:spPr bwMode="auto">
            <a:xfrm>
              <a:off x="4012" y="361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8" name="Rectangle 55"/>
            <p:cNvSpPr>
              <a:spLocks noChangeArrowheads="1"/>
            </p:cNvSpPr>
            <p:nvPr/>
          </p:nvSpPr>
          <p:spPr bwMode="auto">
            <a:xfrm>
              <a:off x="1584" y="2704"/>
              <a:ext cx="544" cy="1180"/>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a:p>
          </p:txBody>
        </p:sp>
        <p:sp>
          <p:nvSpPr>
            <p:cNvPr id="11319" name="Line 56"/>
            <p:cNvSpPr>
              <a:spLocks noChangeShapeType="1"/>
            </p:cNvSpPr>
            <p:nvPr/>
          </p:nvSpPr>
          <p:spPr bwMode="auto">
            <a:xfrm>
              <a:off x="1584" y="3104"/>
              <a:ext cx="5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20" name="Line 57"/>
            <p:cNvSpPr>
              <a:spLocks noChangeShapeType="1"/>
            </p:cNvSpPr>
            <p:nvPr/>
          </p:nvSpPr>
          <p:spPr bwMode="auto">
            <a:xfrm>
              <a:off x="1584" y="3512"/>
              <a:ext cx="5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21" name="Line 58"/>
            <p:cNvSpPr>
              <a:spLocks noChangeShapeType="1"/>
            </p:cNvSpPr>
            <p:nvPr/>
          </p:nvSpPr>
          <p:spPr bwMode="auto">
            <a:xfrm>
              <a:off x="1983" y="2840"/>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1322" name="Line 59"/>
            <p:cNvSpPr>
              <a:spLocks noChangeShapeType="1"/>
            </p:cNvSpPr>
            <p:nvPr/>
          </p:nvSpPr>
          <p:spPr bwMode="auto">
            <a:xfrm>
              <a:off x="1992" y="3294"/>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1323" name="Line 60"/>
            <p:cNvSpPr>
              <a:spLocks noChangeShapeType="1"/>
            </p:cNvSpPr>
            <p:nvPr/>
          </p:nvSpPr>
          <p:spPr bwMode="auto">
            <a:xfrm>
              <a:off x="1992" y="3748"/>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1324" name="Text Box 61"/>
            <p:cNvSpPr txBox="1">
              <a:spLocks noChangeArrowheads="1"/>
            </p:cNvSpPr>
            <p:nvPr/>
          </p:nvSpPr>
          <p:spPr bwMode="auto">
            <a:xfrm>
              <a:off x="814" y="2861"/>
              <a:ext cx="572"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1600">
                  <a:latin typeface="Lucida Sans Unicode" pitchFamily="34" charset="0"/>
                </a:rPr>
                <a:t>colorp[0]</a:t>
              </a:r>
            </a:p>
            <a:p>
              <a:pPr eaLnBrk="1" hangingPunct="1"/>
              <a:endParaRPr lang="en-US" altLang="ko-KR" sz="1600">
                <a:latin typeface="Lucida Sans Unicode" pitchFamily="34" charset="0"/>
              </a:endParaRPr>
            </a:p>
            <a:p>
              <a:pPr eaLnBrk="1" hangingPunct="1"/>
              <a:r>
                <a:rPr lang="en-US" altLang="ko-KR" sz="1600">
                  <a:latin typeface="Lucida Sans Unicode" pitchFamily="34" charset="0"/>
                </a:rPr>
                <a:t>colorp[1]</a:t>
              </a:r>
            </a:p>
            <a:p>
              <a:pPr eaLnBrk="1" hangingPunct="1"/>
              <a:endParaRPr lang="en-US" altLang="ko-KR" sz="1600">
                <a:latin typeface="Lucida Sans Unicode" pitchFamily="34" charset="0"/>
              </a:endParaRPr>
            </a:p>
            <a:p>
              <a:pPr eaLnBrk="1" hangingPunct="1"/>
              <a:r>
                <a:rPr lang="en-US" altLang="ko-KR" sz="1600">
                  <a:latin typeface="Lucida Sans Unicode" pitchFamily="34" charset="0"/>
                </a:rPr>
                <a:t>colorp[2]</a:t>
              </a:r>
            </a:p>
          </p:txBody>
        </p:sp>
      </p:grpSp>
    </p:spTree>
    <p:extLst>
      <p:ext uri="{BB962C8B-B14F-4D97-AF65-F5344CB8AC3E}">
        <p14:creationId xmlns:p14="http://schemas.microsoft.com/office/powerpoint/2010/main" val="3024728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endParaRPr lang="tr-T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25" y="290513"/>
            <a:ext cx="10039350" cy="627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8772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제목 1"/>
          <p:cNvSpPr>
            <a:spLocks noGrp="1"/>
          </p:cNvSpPr>
          <p:nvPr>
            <p:ph type="title"/>
          </p:nvPr>
        </p:nvSpPr>
        <p:spPr/>
        <p:txBody>
          <a:bodyPr/>
          <a:lstStyle/>
          <a:p>
            <a:r>
              <a:rPr lang="en-US" altLang="ko-KR" b="1" u="sng" smtClean="0"/>
              <a:t>String Input/Output</a:t>
            </a:r>
            <a:endParaRPr lang="ko-KR" altLang="en-US" b="1" u="sng" smtClean="0"/>
          </a:p>
        </p:txBody>
      </p:sp>
      <p:sp>
        <p:nvSpPr>
          <p:cNvPr id="12291" name="내용 개체 틀 2"/>
          <p:cNvSpPr>
            <a:spLocks noGrp="1"/>
          </p:cNvSpPr>
          <p:nvPr>
            <p:ph idx="1"/>
          </p:nvPr>
        </p:nvSpPr>
        <p:spPr/>
        <p:txBody>
          <a:bodyPr/>
          <a:lstStyle/>
          <a:p>
            <a:r>
              <a:rPr lang="en-US" altLang="ko-KR" b="1" smtClean="0">
                <a:solidFill>
                  <a:srgbClr val="0000CC"/>
                </a:solidFill>
              </a:rPr>
              <a:t>char</a:t>
            </a:r>
            <a:r>
              <a:rPr lang="en-US" altLang="ko-KR" b="1" smtClean="0"/>
              <a:t> *gets(</a:t>
            </a:r>
            <a:r>
              <a:rPr lang="en-US" altLang="ko-KR" b="1" smtClean="0">
                <a:solidFill>
                  <a:srgbClr val="0000CC"/>
                </a:solidFill>
              </a:rPr>
              <a:t>char</a:t>
            </a:r>
            <a:r>
              <a:rPr lang="en-US" altLang="ko-KR" b="1" smtClean="0"/>
              <a:t> *str); </a:t>
            </a:r>
          </a:p>
          <a:p>
            <a:pPr lvl="1"/>
            <a:r>
              <a:rPr lang="en-US" altLang="ko-KR" smtClean="0"/>
              <a:t>Read one line string from keyboard</a:t>
            </a:r>
          </a:p>
          <a:p>
            <a:pPr lvl="1"/>
            <a:r>
              <a:rPr lang="en-US" altLang="ko-KR" smtClean="0"/>
              <a:t>Put the input string into str</a:t>
            </a:r>
          </a:p>
          <a:p>
            <a:endParaRPr lang="en-US" altLang="ko-KR" smtClean="0"/>
          </a:p>
          <a:p>
            <a:r>
              <a:rPr lang="en-US" altLang="ko-KR" b="1" smtClean="0">
                <a:solidFill>
                  <a:srgbClr val="0000CC"/>
                </a:solidFill>
              </a:rPr>
              <a:t>int</a:t>
            </a:r>
            <a:r>
              <a:rPr lang="en-US" altLang="ko-KR" b="1" smtClean="0"/>
              <a:t> puts(</a:t>
            </a:r>
            <a:r>
              <a:rPr lang="en-US" altLang="ko-KR" b="1" smtClean="0">
                <a:solidFill>
                  <a:srgbClr val="0000CC"/>
                </a:solidFill>
              </a:rPr>
              <a:t>char</a:t>
            </a:r>
            <a:r>
              <a:rPr lang="en-US" altLang="ko-KR" b="1" smtClean="0"/>
              <a:t> *str);  </a:t>
            </a:r>
          </a:p>
          <a:p>
            <a:pPr lvl="1"/>
            <a:r>
              <a:rPr lang="en-US" altLang="ko-KR" smtClean="0"/>
              <a:t>Print string str into standard output</a:t>
            </a:r>
            <a:endParaRPr lang="ko-KR" altLang="en-US" smtClean="0"/>
          </a:p>
        </p:txBody>
      </p:sp>
    </p:spTree>
    <p:extLst>
      <p:ext uri="{BB962C8B-B14F-4D97-AF65-F5344CB8AC3E}">
        <p14:creationId xmlns:p14="http://schemas.microsoft.com/office/powerpoint/2010/main" val="1094175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209800" y="0"/>
            <a:ext cx="7772400" cy="1143000"/>
          </a:xfrm>
        </p:spPr>
        <p:txBody>
          <a:bodyPr/>
          <a:lstStyle/>
          <a:p>
            <a:pPr eaLnBrk="1" hangingPunct="1"/>
            <a:r>
              <a:rPr lang="en-US" altLang="en-US" smtClean="0"/>
              <a:t>Pointers to Pointers</a:t>
            </a:r>
          </a:p>
        </p:txBody>
      </p:sp>
      <p:sp>
        <p:nvSpPr>
          <p:cNvPr id="13315" name="Rectangle 3"/>
          <p:cNvSpPr>
            <a:spLocks noGrp="1" noChangeArrowheads="1"/>
          </p:cNvSpPr>
          <p:nvPr>
            <p:ph type="body" idx="1"/>
          </p:nvPr>
        </p:nvSpPr>
        <p:spPr>
          <a:xfrm>
            <a:off x="2209800" y="1143000"/>
            <a:ext cx="7772400" cy="2895600"/>
          </a:xfrm>
        </p:spPr>
        <p:txBody>
          <a:bodyPr/>
          <a:lstStyle/>
          <a:p>
            <a:pPr eaLnBrk="1" hangingPunct="1">
              <a:lnSpc>
                <a:spcPct val="90000"/>
              </a:lnSpc>
            </a:pPr>
            <a:r>
              <a:rPr lang="en-US" altLang="en-US" sz="2800"/>
              <a:t>As indicated in the last slide, we can have an array of arrays which is really an array of pointers or pointers to pointers</a:t>
            </a:r>
          </a:p>
          <a:p>
            <a:pPr lvl="1" eaLnBrk="1" hangingPunct="1">
              <a:lnSpc>
                <a:spcPct val="90000"/>
              </a:lnSpc>
            </a:pPr>
            <a:r>
              <a:rPr lang="en-US" altLang="en-US" sz="2400"/>
              <a:t>We may wish to use pointers to pointers outside of arrays as well, although it is more common that pointers to pointers represent array of pointers</a:t>
            </a:r>
          </a:p>
          <a:p>
            <a:pPr lvl="1" eaLnBrk="1" hangingPunct="1">
              <a:lnSpc>
                <a:spcPct val="90000"/>
              </a:lnSpc>
            </a:pPr>
            <a:r>
              <a:rPr lang="en-US" altLang="en-US" sz="2400"/>
              <a:t>Consider the following:</a:t>
            </a:r>
          </a:p>
        </p:txBody>
      </p:sp>
      <p:sp>
        <p:nvSpPr>
          <p:cNvPr id="13316" name="Text Box 4"/>
          <p:cNvSpPr txBox="1">
            <a:spLocks noChangeArrowheads="1"/>
          </p:cNvSpPr>
          <p:nvPr/>
        </p:nvSpPr>
        <p:spPr bwMode="auto">
          <a:xfrm>
            <a:off x="2590800" y="4114801"/>
            <a:ext cx="364715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 int a;</a:t>
            </a:r>
          </a:p>
          <a:p>
            <a:pPr eaLnBrk="1" hangingPunct="1">
              <a:spcBef>
                <a:spcPct val="0"/>
              </a:spcBef>
              <a:buFontTx/>
              <a:buNone/>
            </a:pPr>
            <a:r>
              <a:rPr lang="en-US" altLang="en-US" sz="1800"/>
              <a:t> int *p;</a:t>
            </a:r>
          </a:p>
          <a:p>
            <a:pPr eaLnBrk="1" hangingPunct="1">
              <a:spcBef>
                <a:spcPct val="0"/>
              </a:spcBef>
              <a:buFontTx/>
              <a:buNone/>
            </a:pPr>
            <a:r>
              <a:rPr lang="en-US" altLang="en-US" sz="1800"/>
              <a:t> int **q;</a:t>
            </a:r>
          </a:p>
          <a:p>
            <a:pPr eaLnBrk="1" hangingPunct="1">
              <a:spcBef>
                <a:spcPct val="0"/>
              </a:spcBef>
              <a:buFontTx/>
              <a:buNone/>
            </a:pPr>
            <a:r>
              <a:rPr lang="en-US" altLang="en-US" sz="1800"/>
              <a:t> a = 10;</a:t>
            </a:r>
          </a:p>
          <a:p>
            <a:pPr eaLnBrk="1" hangingPunct="1">
              <a:spcBef>
                <a:spcPct val="0"/>
              </a:spcBef>
              <a:buFontTx/>
              <a:buNone/>
            </a:pPr>
            <a:r>
              <a:rPr lang="en-US" altLang="en-US" sz="1800"/>
              <a:t> p = &amp;a;</a:t>
            </a:r>
          </a:p>
          <a:p>
            <a:pPr eaLnBrk="1" hangingPunct="1">
              <a:spcBef>
                <a:spcPct val="0"/>
              </a:spcBef>
              <a:buFontTx/>
              <a:buNone/>
            </a:pPr>
            <a:r>
              <a:rPr lang="en-US" altLang="en-US" sz="1800"/>
              <a:t> q = &amp;p;</a:t>
            </a:r>
          </a:p>
          <a:p>
            <a:pPr eaLnBrk="1" hangingPunct="1">
              <a:spcBef>
                <a:spcPct val="0"/>
              </a:spcBef>
              <a:buFontTx/>
              <a:buNone/>
            </a:pPr>
            <a:r>
              <a:rPr lang="en-US" altLang="en-US" sz="1800"/>
              <a:t> printf(“%d”, **q);		// outputs 10</a:t>
            </a:r>
          </a:p>
        </p:txBody>
      </p:sp>
      <p:sp>
        <p:nvSpPr>
          <p:cNvPr id="13317" name="Text Box 5"/>
          <p:cNvSpPr txBox="1">
            <a:spLocks noChangeArrowheads="1"/>
          </p:cNvSpPr>
          <p:nvPr/>
        </p:nvSpPr>
        <p:spPr bwMode="auto">
          <a:xfrm>
            <a:off x="4800600" y="4191001"/>
            <a:ext cx="5410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We dereference our pointer p with *p but we dereference</a:t>
            </a:r>
          </a:p>
          <a:p>
            <a:pPr eaLnBrk="1" hangingPunct="1">
              <a:spcBef>
                <a:spcPct val="0"/>
              </a:spcBef>
              <a:buFontTx/>
              <a:buNone/>
            </a:pPr>
            <a:r>
              <a:rPr lang="en-US" altLang="en-US" sz="1800"/>
              <a:t>our pointer to a pointer q with **q</a:t>
            </a:r>
          </a:p>
          <a:p>
            <a:pPr eaLnBrk="1" hangingPunct="1">
              <a:spcBef>
                <a:spcPct val="0"/>
              </a:spcBef>
              <a:buFontTx/>
              <a:buNone/>
            </a:pPr>
            <a:endParaRPr lang="en-US" altLang="en-US" sz="1800"/>
          </a:p>
          <a:p>
            <a:pPr eaLnBrk="1" hangingPunct="1">
              <a:spcBef>
                <a:spcPct val="0"/>
              </a:spcBef>
              <a:buFontTx/>
              <a:buNone/>
            </a:pPr>
            <a:r>
              <a:rPr lang="en-US" altLang="en-US" sz="1800"/>
              <a:t>*q is actually p, so **q is a</a:t>
            </a:r>
          </a:p>
        </p:txBody>
      </p:sp>
    </p:spTree>
    <p:extLst>
      <p:ext uri="{BB962C8B-B14F-4D97-AF65-F5344CB8AC3E}">
        <p14:creationId xmlns:p14="http://schemas.microsoft.com/office/powerpoint/2010/main" val="1514931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338348" y="548640"/>
            <a:ext cx="9789899" cy="5623560"/>
          </a:xfrm>
        </p:spPr>
        <p:txBody>
          <a:bodyPr>
            <a:normAutofit fontScale="62500" lnSpcReduction="20000"/>
          </a:bodyPr>
          <a:lstStyle/>
          <a:p>
            <a:pPr marL="0" indent="0">
              <a:buNone/>
            </a:pPr>
            <a:r>
              <a:rPr lang="tr-TR" dirty="0"/>
              <a:t>#</a:t>
            </a:r>
            <a:r>
              <a:rPr lang="tr-TR" dirty="0" err="1"/>
              <a:t>include</a:t>
            </a:r>
            <a:r>
              <a:rPr lang="tr-TR" dirty="0"/>
              <a:t> &lt;</a:t>
            </a:r>
            <a:r>
              <a:rPr lang="tr-TR" dirty="0" err="1"/>
              <a:t>stdio.h</a:t>
            </a:r>
            <a:r>
              <a:rPr lang="tr-TR" dirty="0"/>
              <a:t>&gt;</a:t>
            </a:r>
          </a:p>
          <a:p>
            <a:pPr marL="0" indent="0">
              <a:buNone/>
            </a:pPr>
            <a:endParaRPr lang="tr-TR" dirty="0"/>
          </a:p>
          <a:p>
            <a:pPr marL="0" indent="0">
              <a:buNone/>
            </a:pPr>
            <a:r>
              <a:rPr lang="tr-TR" dirty="0" err="1"/>
              <a:t>int</a:t>
            </a:r>
            <a:r>
              <a:rPr lang="tr-TR" dirty="0"/>
              <a:t> main()</a:t>
            </a:r>
          </a:p>
          <a:p>
            <a:pPr marL="0" indent="0">
              <a:buNone/>
            </a:pPr>
            <a:r>
              <a:rPr lang="tr-TR" dirty="0"/>
              <a:t>{</a:t>
            </a:r>
          </a:p>
          <a:p>
            <a:pPr marL="0" indent="0">
              <a:buNone/>
            </a:pPr>
            <a:r>
              <a:rPr lang="tr-TR" dirty="0"/>
              <a:t>	</a:t>
            </a:r>
            <a:r>
              <a:rPr lang="tr-TR" dirty="0" err="1"/>
              <a:t>char</a:t>
            </a:r>
            <a:r>
              <a:rPr lang="tr-TR" dirty="0"/>
              <a:t> </a:t>
            </a:r>
            <a:r>
              <a:rPr lang="tr-TR" dirty="0" err="1"/>
              <a:t>month</a:t>
            </a:r>
            <a:r>
              <a:rPr lang="tr-TR" dirty="0"/>
              <a:t>[12][10]={</a:t>
            </a:r>
          </a:p>
          <a:p>
            <a:pPr marL="0" indent="0">
              <a:buNone/>
            </a:pPr>
            <a:r>
              <a:rPr lang="tr-TR" dirty="0"/>
              <a:t>		"</a:t>
            </a:r>
            <a:r>
              <a:rPr lang="tr-TR" dirty="0" err="1"/>
              <a:t>January</a:t>
            </a:r>
            <a:r>
              <a:rPr lang="tr-TR" dirty="0"/>
              <a:t>", "</a:t>
            </a:r>
            <a:r>
              <a:rPr lang="tr-TR" dirty="0" err="1"/>
              <a:t>February</a:t>
            </a:r>
            <a:r>
              <a:rPr lang="tr-TR" dirty="0"/>
              <a:t>", "</a:t>
            </a:r>
            <a:r>
              <a:rPr lang="tr-TR" dirty="0" err="1"/>
              <a:t>March</a:t>
            </a:r>
            <a:r>
              <a:rPr lang="tr-TR" dirty="0"/>
              <a:t>", "April",</a:t>
            </a:r>
          </a:p>
          <a:p>
            <a:pPr marL="0" indent="0">
              <a:buNone/>
            </a:pPr>
            <a:r>
              <a:rPr lang="tr-TR" dirty="0"/>
              <a:t>		"May", "</a:t>
            </a:r>
            <a:r>
              <a:rPr lang="tr-TR" dirty="0" err="1"/>
              <a:t>June</a:t>
            </a:r>
            <a:r>
              <a:rPr lang="tr-TR" dirty="0"/>
              <a:t>", "</a:t>
            </a:r>
            <a:r>
              <a:rPr lang="tr-TR" dirty="0" err="1"/>
              <a:t>July</a:t>
            </a:r>
            <a:r>
              <a:rPr lang="tr-TR" dirty="0"/>
              <a:t>", "</a:t>
            </a:r>
            <a:r>
              <a:rPr lang="tr-TR" dirty="0" err="1"/>
              <a:t>August</a:t>
            </a:r>
            <a:r>
              <a:rPr lang="tr-TR" dirty="0"/>
              <a:t>",</a:t>
            </a:r>
          </a:p>
          <a:p>
            <a:pPr marL="0" indent="0">
              <a:buNone/>
            </a:pPr>
            <a:r>
              <a:rPr lang="tr-TR" dirty="0"/>
              <a:t>		"</a:t>
            </a:r>
            <a:r>
              <a:rPr lang="tr-TR" dirty="0" err="1"/>
              <a:t>September</a:t>
            </a:r>
            <a:r>
              <a:rPr lang="tr-TR" dirty="0"/>
              <a:t>", "</a:t>
            </a:r>
            <a:r>
              <a:rPr lang="tr-TR" dirty="0" err="1"/>
              <a:t>October</a:t>
            </a:r>
            <a:r>
              <a:rPr lang="tr-TR" dirty="0"/>
              <a:t>", "</a:t>
            </a:r>
            <a:r>
              <a:rPr lang="tr-TR" dirty="0" err="1"/>
              <a:t>November</a:t>
            </a:r>
            <a:r>
              <a:rPr lang="tr-TR" dirty="0"/>
              <a:t>", "</a:t>
            </a:r>
            <a:r>
              <a:rPr lang="tr-TR" dirty="0" err="1"/>
              <a:t>December</a:t>
            </a:r>
            <a:r>
              <a:rPr lang="tr-TR" dirty="0"/>
              <a:t>"};</a:t>
            </a:r>
          </a:p>
          <a:p>
            <a:pPr marL="0" indent="0">
              <a:buNone/>
            </a:pPr>
            <a:r>
              <a:rPr lang="tr-TR" dirty="0"/>
              <a:t>	</a:t>
            </a:r>
            <a:r>
              <a:rPr lang="tr-TR" dirty="0" err="1"/>
              <a:t>char</a:t>
            </a:r>
            <a:r>
              <a:rPr lang="tr-TR" dirty="0"/>
              <a:t> </a:t>
            </a:r>
            <a:r>
              <a:rPr lang="tr-TR" dirty="0" err="1"/>
              <a:t>str</a:t>
            </a:r>
            <a:r>
              <a:rPr lang="tr-TR" dirty="0"/>
              <a:t>[100];</a:t>
            </a:r>
          </a:p>
          <a:p>
            <a:pPr marL="0" indent="0">
              <a:buNone/>
            </a:pPr>
            <a:r>
              <a:rPr lang="tr-TR" dirty="0"/>
              <a:t>	</a:t>
            </a:r>
            <a:r>
              <a:rPr lang="tr-TR" dirty="0" err="1"/>
              <a:t>int</a:t>
            </a:r>
            <a:r>
              <a:rPr lang="tr-TR" dirty="0"/>
              <a:t> m;</a:t>
            </a:r>
          </a:p>
          <a:p>
            <a:pPr marL="0" indent="0">
              <a:buNone/>
            </a:pPr>
            <a:endParaRPr lang="tr-TR" dirty="0"/>
          </a:p>
          <a:p>
            <a:pPr marL="0" indent="0">
              <a:buNone/>
            </a:pPr>
            <a:r>
              <a:rPr lang="tr-TR" dirty="0"/>
              <a:t>	</a:t>
            </a:r>
            <a:r>
              <a:rPr lang="tr-TR" dirty="0" err="1"/>
              <a:t>printf</a:t>
            </a:r>
            <a:r>
              <a:rPr lang="tr-TR" dirty="0"/>
              <a:t>("</a:t>
            </a:r>
            <a:r>
              <a:rPr lang="tr-TR" dirty="0" err="1"/>
              <a:t>Input</a:t>
            </a:r>
            <a:r>
              <a:rPr lang="tr-TR" dirty="0"/>
              <a:t> </a:t>
            </a:r>
            <a:r>
              <a:rPr lang="tr-TR" dirty="0" err="1"/>
              <a:t>Month</a:t>
            </a:r>
            <a:r>
              <a:rPr lang="tr-TR" dirty="0"/>
              <a:t> : ");</a:t>
            </a:r>
          </a:p>
          <a:p>
            <a:pPr marL="0" indent="0">
              <a:buNone/>
            </a:pPr>
            <a:r>
              <a:rPr lang="tr-TR" dirty="0"/>
              <a:t>	</a:t>
            </a:r>
            <a:r>
              <a:rPr lang="tr-TR" dirty="0" err="1"/>
              <a:t>scanf</a:t>
            </a:r>
            <a:r>
              <a:rPr lang="tr-TR" dirty="0"/>
              <a:t>("%</a:t>
            </a:r>
            <a:r>
              <a:rPr lang="tr-TR" dirty="0" err="1"/>
              <a:t>d",&amp;m</a:t>
            </a:r>
            <a:r>
              <a:rPr lang="tr-TR" dirty="0"/>
              <a:t>);</a:t>
            </a:r>
          </a:p>
          <a:p>
            <a:pPr marL="0" indent="0">
              <a:buNone/>
            </a:pPr>
            <a:endParaRPr lang="tr-TR" dirty="0"/>
          </a:p>
          <a:p>
            <a:pPr marL="0" indent="0">
              <a:buNone/>
            </a:pPr>
            <a:r>
              <a:rPr lang="tr-TR" dirty="0"/>
              <a:t>	</a:t>
            </a:r>
            <a:r>
              <a:rPr lang="tr-TR" dirty="0" err="1"/>
              <a:t>if</a:t>
            </a:r>
            <a:r>
              <a:rPr lang="tr-TR" dirty="0"/>
              <a:t> (m&gt;=1 &amp;&amp; m&lt;=12) </a:t>
            </a:r>
            <a:r>
              <a:rPr lang="tr-TR" dirty="0" err="1"/>
              <a:t>printf</a:t>
            </a:r>
            <a:r>
              <a:rPr lang="tr-TR" dirty="0"/>
              <a:t>("</a:t>
            </a:r>
            <a:r>
              <a:rPr lang="tr-TR" dirty="0" err="1"/>
              <a:t>Text</a:t>
            </a:r>
            <a:r>
              <a:rPr lang="tr-TR" dirty="0"/>
              <a:t> : %s\n",</a:t>
            </a:r>
            <a:r>
              <a:rPr lang="tr-TR" dirty="0" err="1"/>
              <a:t>month</a:t>
            </a:r>
            <a:r>
              <a:rPr lang="tr-TR" dirty="0"/>
              <a:t>[m-1]);</a:t>
            </a:r>
          </a:p>
          <a:p>
            <a:pPr marL="0" indent="0">
              <a:buNone/>
            </a:pPr>
            <a:r>
              <a:rPr lang="tr-TR" dirty="0"/>
              <a:t>	else </a:t>
            </a:r>
            <a:r>
              <a:rPr lang="tr-TR" dirty="0" err="1"/>
              <a:t>printf</a:t>
            </a:r>
            <a:r>
              <a:rPr lang="tr-TR" dirty="0"/>
              <a:t>("</a:t>
            </a:r>
            <a:r>
              <a:rPr lang="tr-TR" dirty="0" err="1"/>
              <a:t>Illegal</a:t>
            </a:r>
            <a:r>
              <a:rPr lang="tr-TR" dirty="0"/>
              <a:t> </a:t>
            </a:r>
            <a:r>
              <a:rPr lang="tr-TR" dirty="0" err="1"/>
              <a:t>Month</a:t>
            </a:r>
            <a:r>
              <a:rPr lang="tr-TR" dirty="0"/>
              <a:t>\n");</a:t>
            </a:r>
          </a:p>
          <a:p>
            <a:pPr marL="0" indent="0">
              <a:buNone/>
            </a:pPr>
            <a:endParaRPr lang="tr-TR" dirty="0"/>
          </a:p>
          <a:p>
            <a:pPr marL="0" indent="0">
              <a:buNone/>
            </a:pPr>
            <a:r>
              <a:rPr lang="tr-TR" dirty="0"/>
              <a:t>	</a:t>
            </a:r>
            <a:r>
              <a:rPr lang="tr-TR" dirty="0" err="1"/>
              <a:t>return</a:t>
            </a:r>
            <a:r>
              <a:rPr lang="tr-TR" dirty="0"/>
              <a:t> 0;</a:t>
            </a:r>
          </a:p>
          <a:p>
            <a:pPr marL="0" indent="0">
              <a:buNone/>
            </a:pPr>
            <a:r>
              <a:rPr lang="tr-TR" dirty="0"/>
              <a:t>}</a:t>
            </a:r>
          </a:p>
        </p:txBody>
      </p:sp>
    </p:spTree>
    <p:extLst>
      <p:ext uri="{BB962C8B-B14F-4D97-AF65-F5344CB8AC3E}">
        <p14:creationId xmlns:p14="http://schemas.microsoft.com/office/powerpoint/2010/main" val="477515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0" y="0"/>
            <a:ext cx="7772400" cy="1143000"/>
          </a:xfrm>
        </p:spPr>
        <p:txBody>
          <a:bodyPr>
            <a:normAutofit fontScale="90000"/>
          </a:bodyPr>
          <a:lstStyle/>
          <a:p>
            <a:pPr eaLnBrk="1" hangingPunct="1"/>
            <a:r>
              <a:rPr lang="en-US" altLang="en-US" smtClean="0"/>
              <a:t>Arrays of Strings Implementation</a:t>
            </a:r>
          </a:p>
        </p:txBody>
      </p:sp>
      <p:sp>
        <p:nvSpPr>
          <p:cNvPr id="14339" name="Rectangle 3"/>
          <p:cNvSpPr>
            <a:spLocks noGrp="1" noChangeArrowheads="1"/>
          </p:cNvSpPr>
          <p:nvPr>
            <p:ph type="body" idx="1"/>
          </p:nvPr>
        </p:nvSpPr>
        <p:spPr>
          <a:xfrm>
            <a:off x="1752600" y="1143000"/>
            <a:ext cx="8610600" cy="5334000"/>
          </a:xfrm>
        </p:spPr>
        <p:txBody>
          <a:bodyPr>
            <a:normAutofit lnSpcReduction="10000"/>
          </a:bodyPr>
          <a:lstStyle/>
          <a:p>
            <a:pPr eaLnBrk="1" hangingPunct="1"/>
            <a:r>
              <a:rPr lang="en-US" altLang="en-US" sz="2400"/>
              <a:t>We could implement an array of strings as a 2-D array of chars</a:t>
            </a:r>
          </a:p>
          <a:p>
            <a:pPr lvl="1" eaLnBrk="1" hangingPunct="1"/>
            <a:r>
              <a:rPr lang="en-US" altLang="en-US" sz="2000"/>
              <a:t>char array[10][10];</a:t>
            </a:r>
          </a:p>
          <a:p>
            <a:pPr eaLnBrk="1" hangingPunct="1"/>
            <a:r>
              <a:rPr lang="en-US" altLang="en-US" sz="2400"/>
              <a:t>This has two disadvantages</a:t>
            </a:r>
          </a:p>
          <a:p>
            <a:pPr lvl="1" eaLnBrk="1" hangingPunct="1"/>
            <a:r>
              <a:rPr lang="en-US" altLang="en-US" sz="2000"/>
              <a:t>All strings will be 10 chars long</a:t>
            </a:r>
          </a:p>
          <a:p>
            <a:pPr lvl="1" eaLnBrk="1" hangingPunct="1"/>
            <a:r>
              <a:rPr lang="en-US" altLang="en-US" sz="2000"/>
              <a:t>Requires 2 nested for-loops for most operations such as string comparison or string copying, which can become complicated</a:t>
            </a:r>
          </a:p>
          <a:p>
            <a:pPr eaLnBrk="1" hangingPunct="1"/>
            <a:r>
              <a:rPr lang="en-US" altLang="en-US" sz="2400"/>
              <a:t>Instead, we will implement our array of strings as an array of pointers</a:t>
            </a:r>
          </a:p>
          <a:p>
            <a:pPr lvl="1" eaLnBrk="1" hangingPunct="1"/>
            <a:r>
              <a:rPr lang="en-US" altLang="en-US" sz="2000"/>
              <a:t>char *array[10];</a:t>
            </a:r>
          </a:p>
          <a:p>
            <a:pPr eaLnBrk="1" hangingPunct="1"/>
            <a:r>
              <a:rPr lang="en-US" altLang="en-US" sz="2400"/>
              <a:t>Each pointer points to one string</a:t>
            </a:r>
          </a:p>
          <a:p>
            <a:pPr lvl="1" eaLnBrk="1" hangingPunct="1"/>
            <a:r>
              <a:rPr lang="en-US" altLang="en-US" sz="2000"/>
              <a:t>Follow the string through the pointer</a:t>
            </a:r>
          </a:p>
          <a:p>
            <a:pPr lvl="1" eaLnBrk="1" hangingPunct="1"/>
            <a:r>
              <a:rPr lang="en-US" altLang="en-US" sz="2000"/>
              <a:t>Go to the next string using a for-loop</a:t>
            </a:r>
          </a:p>
          <a:p>
            <a:pPr lvl="1" eaLnBrk="1" hangingPunct="1"/>
            <a:r>
              <a:rPr lang="en-US" altLang="en-US" sz="2000"/>
              <a:t>Because strcpy, strcmp, strlen all expect pointers, we can use these by passing an array element (since each array element is a pointer to a string)</a:t>
            </a:r>
          </a:p>
          <a:p>
            <a:pPr lvl="2" eaLnBrk="1" hangingPunct="1"/>
            <a:endParaRPr lang="en-US" altLang="en-US" sz="1800"/>
          </a:p>
        </p:txBody>
      </p:sp>
    </p:spTree>
    <p:extLst>
      <p:ext uri="{BB962C8B-B14F-4D97-AF65-F5344CB8AC3E}">
        <p14:creationId xmlns:p14="http://schemas.microsoft.com/office/powerpoint/2010/main" val="660087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286000" y="0"/>
            <a:ext cx="7772400" cy="1143000"/>
          </a:xfrm>
        </p:spPr>
        <p:txBody>
          <a:bodyPr/>
          <a:lstStyle/>
          <a:p>
            <a:pPr eaLnBrk="1" hangingPunct="1"/>
            <a:r>
              <a:rPr lang="en-US" altLang="en-US" smtClean="0"/>
              <a:t>Example</a:t>
            </a:r>
          </a:p>
        </p:txBody>
      </p:sp>
      <p:sp>
        <p:nvSpPr>
          <p:cNvPr id="15363" name="Rectangle 4"/>
          <p:cNvSpPr>
            <a:spLocks noGrp="1" noChangeArrowheads="1"/>
          </p:cNvSpPr>
          <p:nvPr>
            <p:ph type="body" idx="1"/>
          </p:nvPr>
        </p:nvSpPr>
        <p:spPr>
          <a:xfrm>
            <a:off x="1752600" y="5486400"/>
            <a:ext cx="8534400" cy="1066800"/>
          </a:xfrm>
        </p:spPr>
        <p:txBody>
          <a:bodyPr>
            <a:normAutofit fontScale="92500"/>
          </a:bodyPr>
          <a:lstStyle/>
          <a:p>
            <a:pPr eaLnBrk="1" hangingPunct="1">
              <a:lnSpc>
                <a:spcPct val="90000"/>
              </a:lnSpc>
            </a:pPr>
            <a:r>
              <a:rPr lang="en-US" altLang="en-US" sz="2400"/>
              <a:t>Notice that if we had used char x[ ][ ] = {…}; then the storage space would have been 4 strings of length 23 (the length of the longest string) or 92 bytes instead of 42 bytes as it is above</a:t>
            </a:r>
          </a:p>
        </p:txBody>
      </p:sp>
      <p:sp>
        <p:nvSpPr>
          <p:cNvPr id="15364" name="Text Box 3"/>
          <p:cNvSpPr txBox="1">
            <a:spLocks noChangeArrowheads="1"/>
          </p:cNvSpPr>
          <p:nvPr/>
        </p:nvSpPr>
        <p:spPr bwMode="auto">
          <a:xfrm>
            <a:off x="1828800" y="1066800"/>
            <a:ext cx="8528050"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char *x[ ] = {"hello", "goodbye", "so long", "thanks for all the fish"};</a:t>
            </a:r>
          </a:p>
          <a:p>
            <a:pPr eaLnBrk="1" hangingPunct="1">
              <a:spcBef>
                <a:spcPct val="0"/>
              </a:spcBef>
              <a:buFontTx/>
              <a:buNone/>
            </a:pPr>
            <a:r>
              <a:rPr lang="en-US" altLang="en-US" sz="1800"/>
              <a:t>	// our array of strings x is a set of 4 pointers</a:t>
            </a:r>
          </a:p>
          <a:p>
            <a:pPr eaLnBrk="1" hangingPunct="1">
              <a:spcBef>
                <a:spcPct val="0"/>
              </a:spcBef>
              <a:buFontTx/>
              <a:buNone/>
            </a:pPr>
            <a:r>
              <a:rPr lang="en-US" altLang="en-US" sz="1800"/>
              <a:t>char *y;	// let y be a pointer to a char so it can be used to move through a single string</a:t>
            </a:r>
          </a:p>
          <a:p>
            <a:pPr eaLnBrk="1" hangingPunct="1">
              <a:spcBef>
                <a:spcPct val="0"/>
              </a:spcBef>
              <a:buFontTx/>
              <a:buNone/>
            </a:pPr>
            <a:r>
              <a:rPr lang="en-US" altLang="en-US" sz="1800"/>
              <a:t>int i;</a:t>
            </a:r>
          </a:p>
          <a:p>
            <a:pPr eaLnBrk="1" hangingPunct="1">
              <a:spcBef>
                <a:spcPct val="0"/>
              </a:spcBef>
              <a:buFontTx/>
              <a:buNone/>
            </a:pPr>
            <a:r>
              <a:rPr lang="en-US" altLang="en-US" sz="1800"/>
              <a:t>for(i=0;i&lt;4;i++)	// iterate for each string in x</a:t>
            </a:r>
          </a:p>
          <a:p>
            <a:pPr eaLnBrk="1" hangingPunct="1">
              <a:spcBef>
                <a:spcPct val="0"/>
              </a:spcBef>
              <a:buFontTx/>
              <a:buNone/>
            </a:pPr>
            <a:r>
              <a:rPr lang="en-US" altLang="en-US" sz="1800"/>
              <a:t>{</a:t>
            </a:r>
          </a:p>
          <a:p>
            <a:pPr eaLnBrk="1" hangingPunct="1">
              <a:spcBef>
                <a:spcPct val="0"/>
              </a:spcBef>
              <a:buFontTx/>
              <a:buNone/>
            </a:pPr>
            <a:r>
              <a:rPr lang="en-US" altLang="en-US" sz="1800"/>
              <a:t>	y = x[i];	// x[i] is an array, x is really a pointer, so this sets y to x’s starting addr.</a:t>
            </a:r>
          </a:p>
          <a:p>
            <a:pPr eaLnBrk="1" hangingPunct="1">
              <a:spcBef>
                <a:spcPct val="0"/>
              </a:spcBef>
              <a:buFontTx/>
              <a:buNone/>
            </a:pPr>
            <a:r>
              <a:rPr lang="en-US" altLang="en-US" sz="1800"/>
              <a:t>	while(*y!='\0') 	// while the thing y points to is not the end of a string</a:t>
            </a:r>
          </a:p>
          <a:p>
            <a:pPr eaLnBrk="1" hangingPunct="1">
              <a:spcBef>
                <a:spcPct val="0"/>
              </a:spcBef>
              <a:buFontTx/>
              <a:buNone/>
            </a:pPr>
            <a:r>
              <a:rPr lang="en-US" altLang="en-US" sz="1800"/>
              <a:t>	{</a:t>
            </a:r>
          </a:p>
          <a:p>
            <a:pPr eaLnBrk="1" hangingPunct="1">
              <a:spcBef>
                <a:spcPct val="0"/>
              </a:spcBef>
              <a:buFontTx/>
              <a:buNone/>
            </a:pPr>
            <a:r>
              <a:rPr lang="en-US" altLang="en-US" sz="1800"/>
              <a:t>		printf("%c", *y);		// print what y points to</a:t>
            </a:r>
          </a:p>
          <a:p>
            <a:pPr eaLnBrk="1" hangingPunct="1">
              <a:spcBef>
                <a:spcPct val="0"/>
              </a:spcBef>
              <a:buFontTx/>
              <a:buNone/>
            </a:pPr>
            <a:r>
              <a:rPr lang="en-US" altLang="en-US" sz="1800"/>
              <a:t>		y++;			// and go on to the next char in x</a:t>
            </a:r>
          </a:p>
          <a:p>
            <a:pPr eaLnBrk="1" hangingPunct="1">
              <a:spcBef>
                <a:spcPct val="0"/>
              </a:spcBef>
              <a:buFontTx/>
              <a:buNone/>
            </a:pPr>
            <a:r>
              <a:rPr lang="en-US" altLang="en-US" sz="1800"/>
              <a:t>	}</a:t>
            </a:r>
          </a:p>
          <a:p>
            <a:pPr eaLnBrk="1" hangingPunct="1">
              <a:spcBef>
                <a:spcPct val="0"/>
              </a:spcBef>
              <a:buFontTx/>
              <a:buNone/>
            </a:pPr>
            <a:r>
              <a:rPr lang="en-US" altLang="en-US" sz="1800"/>
              <a:t>	printf("\n");			// separate strings in output with \n</a:t>
            </a:r>
          </a:p>
          <a:p>
            <a:pPr eaLnBrk="1" hangingPunct="1">
              <a:spcBef>
                <a:spcPct val="0"/>
              </a:spcBef>
              <a:buFontTx/>
              <a:buNone/>
            </a:pPr>
            <a:r>
              <a:rPr lang="en-US" altLang="en-US" sz="1800"/>
              <a:t>}</a:t>
            </a:r>
          </a:p>
        </p:txBody>
      </p:sp>
    </p:spTree>
    <p:extLst>
      <p:ext uri="{BB962C8B-B14F-4D97-AF65-F5344CB8AC3E}">
        <p14:creationId xmlns:p14="http://schemas.microsoft.com/office/powerpoint/2010/main" val="2011559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209800" y="0"/>
            <a:ext cx="7772400" cy="1143000"/>
          </a:xfrm>
        </p:spPr>
        <p:txBody>
          <a:bodyPr/>
          <a:lstStyle/>
          <a:p>
            <a:pPr eaLnBrk="1" hangingPunct="1"/>
            <a:r>
              <a:rPr lang="en-US" altLang="en-US" smtClean="0"/>
              <a:t>Passing Arrays</a:t>
            </a:r>
          </a:p>
        </p:txBody>
      </p:sp>
      <p:sp>
        <p:nvSpPr>
          <p:cNvPr id="16387" name="Rectangle 3"/>
          <p:cNvSpPr>
            <a:spLocks noGrp="1" noChangeArrowheads="1"/>
          </p:cNvSpPr>
          <p:nvPr>
            <p:ph type="body" sz="half" idx="1"/>
          </p:nvPr>
        </p:nvSpPr>
        <p:spPr>
          <a:xfrm>
            <a:off x="1981200" y="1219200"/>
            <a:ext cx="3810000" cy="2895600"/>
          </a:xfrm>
        </p:spPr>
        <p:txBody>
          <a:bodyPr/>
          <a:lstStyle/>
          <a:p>
            <a:pPr eaLnBrk="1" hangingPunct="1"/>
            <a:r>
              <a:rPr lang="en-US" altLang="en-US" sz="2400"/>
              <a:t>When an array is passed to a function, what is being passed is a pointer to the array</a:t>
            </a:r>
          </a:p>
          <a:p>
            <a:pPr lvl="1" eaLnBrk="1" hangingPunct="1"/>
            <a:r>
              <a:rPr lang="en-US" altLang="en-US" sz="2000"/>
              <a:t>In the formal parameter list, you can either specify the parameter as an array or a pointer</a:t>
            </a:r>
          </a:p>
        </p:txBody>
      </p:sp>
      <p:sp>
        <p:nvSpPr>
          <p:cNvPr id="16388" name="Rectangle 4"/>
          <p:cNvSpPr>
            <a:spLocks noGrp="1" noChangeArrowheads="1"/>
          </p:cNvSpPr>
          <p:nvPr>
            <p:ph type="body" sz="half" idx="2"/>
          </p:nvPr>
        </p:nvSpPr>
        <p:spPr>
          <a:xfrm>
            <a:off x="6096000" y="1143000"/>
            <a:ext cx="4419600" cy="3810000"/>
          </a:xfrm>
        </p:spPr>
        <p:txBody>
          <a:bodyPr/>
          <a:lstStyle/>
          <a:p>
            <a:pPr eaLnBrk="1" hangingPunct="1"/>
            <a:r>
              <a:rPr lang="en-US" altLang="en-US" sz="2400"/>
              <a:t>Because you can compile functions separately, the compiler must be able to “know” about an array being passed in to a function, so you must specify all (or most) of the definition:</a:t>
            </a:r>
          </a:p>
          <a:p>
            <a:pPr lvl="1" eaLnBrk="1" hangingPunct="1"/>
            <a:r>
              <a:rPr lang="en-US" altLang="en-US" sz="2000"/>
              <a:t>The type and all dimensions except for the first</a:t>
            </a:r>
          </a:p>
          <a:p>
            <a:pPr eaLnBrk="1" hangingPunct="1"/>
            <a:endParaRPr lang="en-US" altLang="en-US" sz="2400"/>
          </a:p>
        </p:txBody>
      </p:sp>
      <p:sp>
        <p:nvSpPr>
          <p:cNvPr id="16389" name="Text Box 5"/>
          <p:cNvSpPr txBox="1">
            <a:spLocks noChangeArrowheads="1"/>
          </p:cNvSpPr>
          <p:nvPr/>
        </p:nvSpPr>
        <p:spPr bwMode="auto">
          <a:xfrm>
            <a:off x="2133601" y="4267201"/>
            <a:ext cx="2778125"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int array[100];</a:t>
            </a:r>
          </a:p>
          <a:p>
            <a:pPr eaLnBrk="1" hangingPunct="1">
              <a:spcBef>
                <a:spcPct val="0"/>
              </a:spcBef>
              <a:buFontTx/>
              <a:buNone/>
            </a:pPr>
            <a:r>
              <a:rPr lang="en-US" altLang="en-US" sz="1800"/>
              <a:t>…</a:t>
            </a:r>
          </a:p>
          <a:p>
            <a:pPr eaLnBrk="1" hangingPunct="1">
              <a:spcBef>
                <a:spcPct val="0"/>
              </a:spcBef>
              <a:buFontTx/>
              <a:buNone/>
            </a:pPr>
            <a:r>
              <a:rPr lang="en-US" altLang="en-US" sz="1800"/>
              <a:t>afunction(array);</a:t>
            </a:r>
          </a:p>
          <a:p>
            <a:pPr eaLnBrk="1" hangingPunct="1">
              <a:spcBef>
                <a:spcPct val="0"/>
              </a:spcBef>
              <a:buFontTx/>
              <a:buNone/>
            </a:pPr>
            <a:r>
              <a:rPr lang="en-US" altLang="en-US" sz="1800"/>
              <a:t>…</a:t>
            </a:r>
          </a:p>
          <a:p>
            <a:pPr eaLnBrk="1" hangingPunct="1">
              <a:spcBef>
                <a:spcPct val="0"/>
              </a:spcBef>
              <a:buFontTx/>
              <a:buNone/>
            </a:pPr>
            <a:endParaRPr lang="en-US" altLang="en-US" sz="1800"/>
          </a:p>
          <a:p>
            <a:pPr eaLnBrk="1" hangingPunct="1">
              <a:spcBef>
                <a:spcPct val="0"/>
              </a:spcBef>
              <a:buFontTx/>
              <a:buNone/>
            </a:pPr>
            <a:r>
              <a:rPr lang="en-US" altLang="en-US" sz="1800"/>
              <a:t>void afunction(int *a) {…}</a:t>
            </a:r>
          </a:p>
          <a:p>
            <a:pPr eaLnBrk="1" hangingPunct="1">
              <a:spcBef>
                <a:spcPct val="0"/>
              </a:spcBef>
              <a:buFontTx/>
              <a:buNone/>
            </a:pPr>
            <a:r>
              <a:rPr lang="en-US" altLang="en-US" sz="1800"/>
              <a:t>or</a:t>
            </a:r>
          </a:p>
          <a:p>
            <a:pPr eaLnBrk="1" hangingPunct="1">
              <a:spcBef>
                <a:spcPct val="0"/>
              </a:spcBef>
              <a:buFontTx/>
              <a:buNone/>
            </a:pPr>
            <a:r>
              <a:rPr lang="en-US" altLang="en-US" sz="1800"/>
              <a:t>void afunction(int a[ ]) {…}</a:t>
            </a:r>
          </a:p>
        </p:txBody>
      </p:sp>
      <p:sp>
        <p:nvSpPr>
          <p:cNvPr id="16390" name="Text Box 6"/>
          <p:cNvSpPr txBox="1">
            <a:spLocks noChangeArrowheads="1"/>
          </p:cNvSpPr>
          <p:nvPr/>
        </p:nvSpPr>
        <p:spPr bwMode="auto">
          <a:xfrm>
            <a:off x="6003926" y="4457701"/>
            <a:ext cx="4073525"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 int array[5][10][15];</a:t>
            </a:r>
          </a:p>
          <a:p>
            <a:pPr eaLnBrk="1" hangingPunct="1">
              <a:spcBef>
                <a:spcPct val="0"/>
              </a:spcBef>
              <a:buFontTx/>
              <a:buNone/>
            </a:pPr>
            <a:r>
              <a:rPr lang="en-US" altLang="en-US" sz="1800"/>
              <a:t> …</a:t>
            </a:r>
          </a:p>
          <a:p>
            <a:pPr eaLnBrk="1" hangingPunct="1">
              <a:spcBef>
                <a:spcPct val="0"/>
              </a:spcBef>
              <a:buFontTx/>
              <a:buNone/>
            </a:pPr>
            <a:r>
              <a:rPr lang="en-US" altLang="en-US" sz="1800"/>
              <a:t> afunction(array);</a:t>
            </a:r>
          </a:p>
          <a:p>
            <a:pPr eaLnBrk="1" hangingPunct="1">
              <a:spcBef>
                <a:spcPct val="0"/>
              </a:spcBef>
              <a:buFontTx/>
              <a:buNone/>
            </a:pPr>
            <a:r>
              <a:rPr lang="en-US" altLang="en-US" sz="1800"/>
              <a:t> …</a:t>
            </a:r>
          </a:p>
          <a:p>
            <a:pPr eaLnBrk="1" hangingPunct="1">
              <a:spcBef>
                <a:spcPct val="0"/>
              </a:spcBef>
              <a:buFontTx/>
              <a:buNone/>
            </a:pPr>
            <a:r>
              <a:rPr lang="en-US" altLang="en-US" sz="1800"/>
              <a:t> void afunction(int a[ ][10][15]) {…}    or</a:t>
            </a:r>
          </a:p>
          <a:p>
            <a:pPr eaLnBrk="1" hangingPunct="1">
              <a:spcBef>
                <a:spcPct val="0"/>
              </a:spcBef>
              <a:buFontTx/>
              <a:buNone/>
            </a:pPr>
            <a:r>
              <a:rPr lang="en-US" altLang="en-US" sz="1800"/>
              <a:t> void afunction(int *a[10][15]) {…}      or</a:t>
            </a:r>
          </a:p>
          <a:p>
            <a:pPr eaLnBrk="1" hangingPunct="1">
              <a:spcBef>
                <a:spcPct val="0"/>
              </a:spcBef>
              <a:buFontTx/>
              <a:buNone/>
            </a:pPr>
            <a:r>
              <a:rPr lang="en-US" altLang="en-US" sz="1800"/>
              <a:t> void afunction(int a[5][10][15]) {…}   or</a:t>
            </a:r>
          </a:p>
          <a:p>
            <a:pPr eaLnBrk="1" hangingPunct="1">
              <a:spcBef>
                <a:spcPct val="0"/>
              </a:spcBef>
              <a:buFontTx/>
              <a:buNone/>
            </a:pPr>
            <a:r>
              <a:rPr lang="en-US" altLang="en-US" sz="1800"/>
              <a:t> void afunction(int **a[15]) {…}          etc</a:t>
            </a:r>
          </a:p>
        </p:txBody>
      </p:sp>
    </p:spTree>
    <p:extLst>
      <p:ext uri="{BB962C8B-B14F-4D97-AF65-F5344CB8AC3E}">
        <p14:creationId xmlns:p14="http://schemas.microsoft.com/office/powerpoint/2010/main" val="14360516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209800" y="0"/>
            <a:ext cx="7772400" cy="1143000"/>
          </a:xfrm>
        </p:spPr>
        <p:txBody>
          <a:bodyPr/>
          <a:lstStyle/>
          <a:p>
            <a:pPr eaLnBrk="1" hangingPunct="1"/>
            <a:r>
              <a:rPr lang="en-US" altLang="en-US" smtClean="0"/>
              <a:t>Some Additional Comments</a:t>
            </a:r>
          </a:p>
        </p:txBody>
      </p:sp>
      <p:sp>
        <p:nvSpPr>
          <p:cNvPr id="17411" name="Rectangle 3"/>
          <p:cNvSpPr>
            <a:spLocks noGrp="1" noChangeArrowheads="1"/>
          </p:cNvSpPr>
          <p:nvPr>
            <p:ph type="body" idx="1"/>
          </p:nvPr>
        </p:nvSpPr>
        <p:spPr>
          <a:xfrm>
            <a:off x="1828800" y="914400"/>
            <a:ext cx="8534400" cy="5562600"/>
          </a:xfrm>
        </p:spPr>
        <p:txBody>
          <a:bodyPr>
            <a:normAutofit fontScale="92500" lnSpcReduction="10000"/>
          </a:bodyPr>
          <a:lstStyle/>
          <a:p>
            <a:pPr eaLnBrk="1" hangingPunct="1">
              <a:lnSpc>
                <a:spcPct val="90000"/>
              </a:lnSpc>
            </a:pPr>
            <a:r>
              <a:rPr lang="en-US" altLang="en-US" sz="2800"/>
              <a:t>In functions, do not do return p; where p is a pointer</a:t>
            </a:r>
          </a:p>
          <a:p>
            <a:pPr lvl="1" eaLnBrk="1" hangingPunct="1">
              <a:lnSpc>
                <a:spcPct val="90000"/>
              </a:lnSpc>
            </a:pPr>
            <a:r>
              <a:rPr lang="en-US" altLang="en-US" sz="2400"/>
              <a:t>Recall local variables are deallocated when the function ends</a:t>
            </a:r>
          </a:p>
          <a:p>
            <a:pPr lvl="2" eaLnBrk="1" hangingPunct="1">
              <a:lnSpc>
                <a:spcPct val="90000"/>
              </a:lnSpc>
            </a:pPr>
            <a:r>
              <a:rPr lang="en-US" altLang="en-US" sz="2000"/>
              <a:t>so whatever p is pointing to will no longer be available</a:t>
            </a:r>
          </a:p>
          <a:p>
            <a:pPr lvl="2" eaLnBrk="1" hangingPunct="1">
              <a:lnSpc>
                <a:spcPct val="90000"/>
              </a:lnSpc>
            </a:pPr>
            <a:r>
              <a:rPr lang="en-US" altLang="en-US" sz="2000"/>
              <a:t>but if you return the pointer, then you still are pointing at that memory location even though you no longer know what is there</a:t>
            </a:r>
          </a:p>
          <a:p>
            <a:pPr eaLnBrk="1" hangingPunct="1">
              <a:lnSpc>
                <a:spcPct val="90000"/>
              </a:lnSpc>
            </a:pPr>
            <a:r>
              <a:rPr lang="en-US" altLang="en-US" sz="2800"/>
              <a:t>We can declare a pointer to point to a void type, which means that the pointer can point to any type</a:t>
            </a:r>
          </a:p>
          <a:p>
            <a:pPr lvl="1" eaLnBrk="1" hangingPunct="1">
              <a:lnSpc>
                <a:spcPct val="90000"/>
              </a:lnSpc>
            </a:pPr>
            <a:r>
              <a:rPr lang="en-US" altLang="en-US" sz="2400"/>
              <a:t>However, this does require a cast before the pointer can be assigned</a:t>
            </a:r>
          </a:p>
          <a:p>
            <a:pPr lvl="2" eaLnBrk="1" hangingPunct="1">
              <a:lnSpc>
                <a:spcPct val="90000"/>
              </a:lnSpc>
            </a:pPr>
            <a:r>
              <a:rPr lang="en-US" altLang="en-US" sz="2000"/>
              <a:t>int x; float y; void *p;	// p can point to either x or y</a:t>
            </a:r>
          </a:p>
          <a:p>
            <a:pPr lvl="2" eaLnBrk="1" hangingPunct="1">
              <a:lnSpc>
                <a:spcPct val="90000"/>
              </a:lnSpc>
            </a:pPr>
            <a:r>
              <a:rPr lang="en-US" altLang="en-US" sz="2000"/>
              <a:t>p = (int *) &amp;x;		// p can point to int x once the address is cast</a:t>
            </a:r>
          </a:p>
          <a:p>
            <a:pPr lvl="2" eaLnBrk="1" hangingPunct="1">
              <a:lnSpc>
                <a:spcPct val="90000"/>
              </a:lnSpc>
            </a:pPr>
            <a:r>
              <a:rPr lang="en-US" altLang="en-US" sz="2000"/>
              <a:t>p = (float *) &amp;y;	// or p can point to float y</a:t>
            </a:r>
          </a:p>
          <a:p>
            <a:pPr eaLnBrk="1" hangingPunct="1">
              <a:lnSpc>
                <a:spcPct val="90000"/>
              </a:lnSpc>
            </a:pPr>
            <a:r>
              <a:rPr lang="en-US" altLang="en-US" sz="2800"/>
              <a:t>Pointers that don’t currently point to anything have the special value NULL and can be tested as (p = = NULL) or (!p), and (p != NULL) or (p)</a:t>
            </a:r>
          </a:p>
        </p:txBody>
      </p:sp>
    </p:spTree>
    <p:extLst>
      <p:ext uri="{BB962C8B-B14F-4D97-AF65-F5344CB8AC3E}">
        <p14:creationId xmlns:p14="http://schemas.microsoft.com/office/powerpoint/2010/main" val="30281521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smtClean="0"/>
              <a:t>2-Dimensional Arrays (Array </a:t>
            </a:r>
            <a:r>
              <a:rPr lang="en-US" dirty="0" smtClean="0"/>
              <a:t>of arrays)</a:t>
            </a:r>
            <a:endParaRPr lang="en-US" dirty="0"/>
          </a:p>
        </p:txBody>
      </p:sp>
      <p:sp>
        <p:nvSpPr>
          <p:cNvPr id="16387" name="Content Placeholder 2"/>
          <p:cNvSpPr>
            <a:spLocks noGrp="1"/>
          </p:cNvSpPr>
          <p:nvPr>
            <p:ph idx="1"/>
          </p:nvPr>
        </p:nvSpPr>
        <p:spPr/>
        <p:txBody>
          <a:bodyPr/>
          <a:lstStyle/>
          <a:p>
            <a:pPr>
              <a:buFont typeface="Arial" panose="020B0604020202020204" pitchFamily="34" charset="0"/>
              <a:buNone/>
            </a:pPr>
            <a:r>
              <a:rPr lang="en-US" altLang="tr-TR" smtClean="0"/>
              <a:t>int d[3][2];</a:t>
            </a:r>
          </a:p>
          <a:p>
            <a:pPr>
              <a:buFont typeface="Arial" panose="020B0604020202020204" pitchFamily="34" charset="0"/>
              <a:buNone/>
            </a:pPr>
            <a:endParaRPr lang="en-US" altLang="tr-TR" smtClean="0"/>
          </a:p>
          <a:p>
            <a:pPr>
              <a:buFont typeface="Arial" panose="020B0604020202020204" pitchFamily="34" charset="0"/>
              <a:buNone/>
            </a:pPr>
            <a:r>
              <a:rPr lang="en-US" altLang="tr-TR" smtClean="0"/>
              <a:t>Access the point 1, 2 of the array:</a:t>
            </a:r>
            <a:br>
              <a:rPr lang="en-US" altLang="tr-TR" smtClean="0"/>
            </a:br>
            <a:r>
              <a:rPr lang="en-US" altLang="tr-TR" smtClean="0"/>
              <a:t>d[1][2]</a:t>
            </a:r>
          </a:p>
          <a:p>
            <a:pPr>
              <a:buFont typeface="Arial" panose="020B0604020202020204" pitchFamily="34" charset="0"/>
              <a:buNone/>
            </a:pPr>
            <a:endParaRPr lang="en-US" altLang="tr-TR" smtClean="0"/>
          </a:p>
          <a:p>
            <a:pPr>
              <a:buFont typeface="Arial" panose="020B0604020202020204" pitchFamily="34" charset="0"/>
              <a:buNone/>
            </a:pPr>
            <a:r>
              <a:rPr lang="en-US" altLang="tr-TR" smtClean="0"/>
              <a:t>Initialize (without loops):</a:t>
            </a:r>
          </a:p>
          <a:p>
            <a:pPr>
              <a:buFont typeface="Arial" panose="020B0604020202020204" pitchFamily="34" charset="0"/>
              <a:buNone/>
            </a:pPr>
            <a:r>
              <a:rPr lang="en-US" altLang="tr-TR" smtClean="0"/>
              <a:t>int d[3][2] = {{1, 2}, {4, 5}, {7, 8}};</a:t>
            </a:r>
          </a:p>
        </p:txBody>
      </p:sp>
      <p:sp>
        <p:nvSpPr>
          <p:cNvPr id="4" name="Footer Placeholder 3"/>
          <p:cNvSpPr>
            <a:spLocks noGrp="1"/>
          </p:cNvSpPr>
          <p:nvPr>
            <p:ph type="ftr" sz="quarter" idx="11"/>
          </p:nvPr>
        </p:nvSpPr>
        <p:spPr/>
        <p:txBody>
          <a:bodyPr/>
          <a:lstStyle/>
          <a:p>
            <a:pPr>
              <a:defRPr/>
            </a:pPr>
            <a:r>
              <a:rPr lang="en-US"/>
              <a:t>C Course, Programming club, Fall 2008</a:t>
            </a:r>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15DE1C-9F0E-42CB-A93A-4D6F2593D188}" type="slidenum">
              <a:rPr lang="en-US" altLang="tr-TR">
                <a:solidFill>
                  <a:srgbClr val="898989"/>
                </a:solidFill>
              </a:rPr>
              <a:pPr/>
              <a:t>35</a:t>
            </a:fld>
            <a:endParaRPr lang="en-US" altLang="tr-TR">
              <a:solidFill>
                <a:srgbClr val="898989"/>
              </a:solidFill>
            </a:endParaRPr>
          </a:p>
        </p:txBody>
      </p:sp>
    </p:spTree>
    <p:extLst>
      <p:ext uri="{BB962C8B-B14F-4D97-AF65-F5344CB8AC3E}">
        <p14:creationId xmlns:p14="http://schemas.microsoft.com/office/powerpoint/2010/main" val="8166959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tr-TR" smtClean="0"/>
              <a:t>More about 2-Dimensional arrays</a:t>
            </a:r>
          </a:p>
        </p:txBody>
      </p:sp>
      <p:graphicFrame>
        <p:nvGraphicFramePr>
          <p:cNvPr id="4" name="Content Placeholder 3"/>
          <p:cNvGraphicFramePr>
            <a:graphicFrameLocks noGrp="1"/>
          </p:cNvGraphicFramePr>
          <p:nvPr>
            <p:ph idx="1"/>
          </p:nvPr>
        </p:nvGraphicFramePr>
        <p:xfrm>
          <a:off x="2819400" y="3306763"/>
          <a:ext cx="6629400" cy="1112838"/>
        </p:xfrm>
        <a:graphic>
          <a:graphicData uri="http://schemas.openxmlformats.org/drawingml/2006/table">
            <a:tbl>
              <a:tblPr bandRow="1">
                <a:tableStyleId>{5C22544A-7EE6-4342-B048-85BDC9FD1C3A}</a:tableStyleId>
              </a:tblPr>
              <a:tblGrid>
                <a:gridCol w="16573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1657350">
                  <a:extLst>
                    <a:ext uri="{9D8B030D-6E8A-4147-A177-3AD203B41FA5}">
                      <a16:colId xmlns:a16="http://schemas.microsoft.com/office/drawing/2014/main" val="20003"/>
                    </a:ext>
                  </a:extLst>
                </a:gridCol>
              </a:tblGrid>
              <a:tr h="370946">
                <a:tc>
                  <a:txBody>
                    <a:bodyPr/>
                    <a:lstStyle/>
                    <a:p>
                      <a:pPr algn="ctr"/>
                      <a:r>
                        <a:rPr lang="en-US" sz="1800" dirty="0" smtClean="0"/>
                        <a:t>d[0][0]</a:t>
                      </a:r>
                      <a:endParaRPr lang="en-US" sz="1800" dirty="0"/>
                    </a:p>
                  </a:txBody>
                  <a:tcPr marT="45733" marB="45733"/>
                </a:tc>
                <a:tc>
                  <a:txBody>
                    <a:bodyPr/>
                    <a:lstStyle/>
                    <a:p>
                      <a:pPr algn="ctr"/>
                      <a:r>
                        <a:rPr lang="en-US" sz="1800" dirty="0" smtClean="0"/>
                        <a:t>d[0][1]</a:t>
                      </a:r>
                      <a:endParaRPr lang="en-US" sz="1800" dirty="0"/>
                    </a:p>
                  </a:txBody>
                  <a:tcPr marT="45733" marB="45733"/>
                </a:tc>
                <a:tc>
                  <a:txBody>
                    <a:bodyPr/>
                    <a:lstStyle/>
                    <a:p>
                      <a:pPr algn="ctr"/>
                      <a:r>
                        <a:rPr lang="en-US" sz="1800" dirty="0" smtClean="0"/>
                        <a:t>d[0][2]</a:t>
                      </a:r>
                      <a:endParaRPr lang="en-US" sz="1800" dirty="0"/>
                    </a:p>
                  </a:txBody>
                  <a:tcPr marT="45733" marB="45733"/>
                </a:tc>
                <a:tc>
                  <a:txBody>
                    <a:bodyPr/>
                    <a:lstStyle/>
                    <a:p>
                      <a:pPr algn="ctr"/>
                      <a:r>
                        <a:rPr lang="en-US" sz="1800" dirty="0" smtClean="0"/>
                        <a:t>d[0][3]</a:t>
                      </a:r>
                      <a:endParaRPr lang="en-US" sz="1800" dirty="0"/>
                    </a:p>
                  </a:txBody>
                  <a:tcPr marT="45733" marB="45733"/>
                </a:tc>
                <a:extLst>
                  <a:ext uri="{0D108BD9-81ED-4DB2-BD59-A6C34878D82A}">
                    <a16:rowId xmlns:a16="http://schemas.microsoft.com/office/drawing/2014/main" val="10000"/>
                  </a:ext>
                </a:extLst>
              </a:tr>
              <a:tr h="370946">
                <a:tc>
                  <a:txBody>
                    <a:bodyPr/>
                    <a:lstStyle/>
                    <a:p>
                      <a:pPr algn="ctr"/>
                      <a:r>
                        <a:rPr lang="en-US" sz="1800" dirty="0" smtClean="0"/>
                        <a:t>d[1][0]</a:t>
                      </a:r>
                      <a:endParaRPr lang="en-US" sz="1800" dirty="0"/>
                    </a:p>
                  </a:txBody>
                  <a:tcPr marT="45733" marB="45733"/>
                </a:tc>
                <a:tc>
                  <a:txBody>
                    <a:bodyPr/>
                    <a:lstStyle/>
                    <a:p>
                      <a:pPr algn="ctr"/>
                      <a:r>
                        <a:rPr lang="en-US" sz="1800" dirty="0" smtClean="0"/>
                        <a:t>d[1][1]</a:t>
                      </a:r>
                      <a:endParaRPr lang="en-US" sz="1800" dirty="0"/>
                    </a:p>
                  </a:txBody>
                  <a:tcPr marT="45733" marB="45733"/>
                </a:tc>
                <a:tc>
                  <a:txBody>
                    <a:bodyPr/>
                    <a:lstStyle/>
                    <a:p>
                      <a:pPr algn="ctr"/>
                      <a:r>
                        <a:rPr lang="en-US" sz="1800" dirty="0" smtClean="0"/>
                        <a:t>d[1][2]</a:t>
                      </a:r>
                      <a:endParaRPr lang="en-US" sz="1800" dirty="0"/>
                    </a:p>
                  </a:txBody>
                  <a:tcPr marT="45733" marB="45733"/>
                </a:tc>
                <a:tc>
                  <a:txBody>
                    <a:bodyPr/>
                    <a:lstStyle/>
                    <a:p>
                      <a:pPr algn="ctr"/>
                      <a:r>
                        <a:rPr lang="en-US" sz="1800" dirty="0" smtClean="0"/>
                        <a:t>d[1][3]</a:t>
                      </a:r>
                      <a:endParaRPr lang="en-US" sz="1800" dirty="0"/>
                    </a:p>
                  </a:txBody>
                  <a:tcPr marT="45733" marB="45733"/>
                </a:tc>
                <a:extLst>
                  <a:ext uri="{0D108BD9-81ED-4DB2-BD59-A6C34878D82A}">
                    <a16:rowId xmlns:a16="http://schemas.microsoft.com/office/drawing/2014/main" val="10001"/>
                  </a:ext>
                </a:extLst>
              </a:tr>
              <a:tr h="370946">
                <a:tc>
                  <a:txBody>
                    <a:bodyPr/>
                    <a:lstStyle/>
                    <a:p>
                      <a:pPr algn="ctr"/>
                      <a:r>
                        <a:rPr lang="en-US" sz="1800" dirty="0" smtClean="0"/>
                        <a:t>d[2][0]</a:t>
                      </a:r>
                      <a:endParaRPr lang="en-US" sz="1800" dirty="0"/>
                    </a:p>
                  </a:txBody>
                  <a:tcPr marT="45733" marB="45733"/>
                </a:tc>
                <a:tc>
                  <a:txBody>
                    <a:bodyPr/>
                    <a:lstStyle/>
                    <a:p>
                      <a:pPr algn="ctr"/>
                      <a:r>
                        <a:rPr lang="en-US" sz="1800" dirty="0" smtClean="0"/>
                        <a:t>d[2][1]</a:t>
                      </a:r>
                      <a:endParaRPr lang="en-US" sz="1800" dirty="0"/>
                    </a:p>
                  </a:txBody>
                  <a:tcPr marT="45733" marB="45733"/>
                </a:tc>
                <a:tc>
                  <a:txBody>
                    <a:bodyPr/>
                    <a:lstStyle/>
                    <a:p>
                      <a:pPr algn="ctr"/>
                      <a:r>
                        <a:rPr lang="en-US" sz="1800" dirty="0" smtClean="0"/>
                        <a:t>d[2][2]</a:t>
                      </a:r>
                      <a:endParaRPr lang="en-US" sz="1800" dirty="0"/>
                    </a:p>
                  </a:txBody>
                  <a:tcPr marT="45733" marB="45733"/>
                </a:tc>
                <a:tc>
                  <a:txBody>
                    <a:bodyPr/>
                    <a:lstStyle/>
                    <a:p>
                      <a:pPr algn="ctr"/>
                      <a:r>
                        <a:rPr lang="en-US" sz="1800" dirty="0" smtClean="0"/>
                        <a:t>d[2][3]</a:t>
                      </a:r>
                      <a:endParaRPr lang="en-US" sz="1800" dirty="0"/>
                    </a:p>
                  </a:txBody>
                  <a:tcPr marT="45733" marB="45733"/>
                </a:tc>
                <a:extLst>
                  <a:ext uri="{0D108BD9-81ED-4DB2-BD59-A6C34878D82A}">
                    <a16:rowId xmlns:a16="http://schemas.microsoft.com/office/drawing/2014/main" val="10002"/>
                  </a:ext>
                </a:extLst>
              </a:tr>
            </a:tbl>
          </a:graphicData>
        </a:graphic>
      </p:graphicFrame>
      <p:cxnSp>
        <p:nvCxnSpPr>
          <p:cNvPr id="6" name="Curved Connector 5"/>
          <p:cNvCxnSpPr/>
          <p:nvPr/>
        </p:nvCxnSpPr>
        <p:spPr>
          <a:xfrm rot="10800000" flipV="1">
            <a:off x="2819400" y="3505200"/>
            <a:ext cx="6629400" cy="381000"/>
          </a:xfrm>
          <a:prstGeom prst="curvedConnector3">
            <a:avLst>
              <a:gd name="adj1" fmla="val 104979"/>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Curved Connector 21"/>
          <p:cNvCxnSpPr/>
          <p:nvPr/>
        </p:nvCxnSpPr>
        <p:spPr>
          <a:xfrm rot="10800000" flipV="1">
            <a:off x="2819400" y="3886200"/>
            <a:ext cx="6629400" cy="381000"/>
          </a:xfrm>
          <a:prstGeom prst="curvedConnector3">
            <a:avLst>
              <a:gd name="adj1" fmla="val 104979"/>
            </a:avLst>
          </a:prstGeom>
          <a:ln>
            <a:tailEnd type="arrow"/>
          </a:ln>
        </p:spPr>
        <p:style>
          <a:lnRef idx="1">
            <a:schemeClr val="accent1"/>
          </a:lnRef>
          <a:fillRef idx="0">
            <a:schemeClr val="accent1"/>
          </a:fillRef>
          <a:effectRef idx="0">
            <a:schemeClr val="accent1"/>
          </a:effectRef>
          <a:fontRef idx="minor">
            <a:schemeClr val="tx1"/>
          </a:fontRef>
        </p:style>
      </p:cxnSp>
      <p:sp>
        <p:nvSpPr>
          <p:cNvPr id="17435" name="TextBox 22"/>
          <p:cNvSpPr txBox="1">
            <a:spLocks noChangeArrowheads="1"/>
          </p:cNvSpPr>
          <p:nvPr/>
        </p:nvSpPr>
        <p:spPr bwMode="auto">
          <a:xfrm>
            <a:off x="2133600" y="1752600"/>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sz="2400"/>
              <a:t>A Multidimensional array is stored in a row major format.</a:t>
            </a:r>
          </a:p>
          <a:p>
            <a:r>
              <a:rPr lang="en-US" altLang="tr-TR" sz="2400"/>
              <a:t>A two dimensional case:</a:t>
            </a:r>
          </a:p>
          <a:p>
            <a:r>
              <a:rPr lang="en-US" altLang="tr-TR" sz="2400"/>
              <a:t> </a:t>
            </a:r>
            <a:r>
              <a:rPr lang="en-US" altLang="tr-TR" sz="2400">
                <a:sym typeface="Wingdings" panose="05000000000000000000" pitchFamily="2" charset="2"/>
              </a:rPr>
              <a:t> next memory element to d[0][3] is d[1][0]</a:t>
            </a:r>
            <a:endParaRPr lang="en-US" altLang="tr-TR" sz="2400"/>
          </a:p>
        </p:txBody>
      </p:sp>
      <p:sp>
        <p:nvSpPr>
          <p:cNvPr id="7" name="TextBox 6"/>
          <p:cNvSpPr txBox="1">
            <a:spLocks noChangeArrowheads="1"/>
          </p:cNvSpPr>
          <p:nvPr/>
        </p:nvSpPr>
        <p:spPr bwMode="auto">
          <a:xfrm>
            <a:off x="2143126" y="5029200"/>
            <a:ext cx="76866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sz="2400"/>
              <a:t>What about memory addresses sequence of a three dimensional array?</a:t>
            </a:r>
          </a:p>
          <a:p>
            <a:r>
              <a:rPr lang="en-US" altLang="tr-TR" sz="2400">
                <a:sym typeface="Wingdings" panose="05000000000000000000" pitchFamily="2" charset="2"/>
              </a:rPr>
              <a:t> next memory element to t[0][0][0] is t[0][0][1]</a:t>
            </a:r>
            <a:endParaRPr lang="en-US" altLang="tr-TR" sz="2400"/>
          </a:p>
        </p:txBody>
      </p:sp>
      <p:sp>
        <p:nvSpPr>
          <p:cNvPr id="8" name="Footer Placeholder 7"/>
          <p:cNvSpPr>
            <a:spLocks noGrp="1"/>
          </p:cNvSpPr>
          <p:nvPr>
            <p:ph type="ftr" sz="quarter" idx="11"/>
          </p:nvPr>
        </p:nvSpPr>
        <p:spPr/>
        <p:txBody>
          <a:bodyPr/>
          <a:lstStyle/>
          <a:p>
            <a:pPr>
              <a:defRPr/>
            </a:pPr>
            <a:r>
              <a:rPr lang="en-US"/>
              <a:t>C Course, Programming club, Fall 2008</a:t>
            </a:r>
          </a:p>
        </p:txBody>
      </p:sp>
      <p:sp>
        <p:nvSpPr>
          <p:cNvPr id="9" name="Slide Number Placeholder 8"/>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99713A8A-7D00-4159-9420-3CF53C769711}" type="slidenum">
              <a:rPr lang="en-US" altLang="tr-TR">
                <a:solidFill>
                  <a:srgbClr val="898989"/>
                </a:solidFill>
              </a:rPr>
              <a:pPr/>
              <a:t>36</a:t>
            </a:fld>
            <a:endParaRPr lang="en-US" altLang="tr-TR">
              <a:solidFill>
                <a:srgbClr val="898989"/>
              </a:solidFill>
            </a:endParaRPr>
          </a:p>
        </p:txBody>
      </p:sp>
    </p:spTree>
    <p:extLst>
      <p:ext uri="{BB962C8B-B14F-4D97-AF65-F5344CB8AC3E}">
        <p14:creationId xmlns:p14="http://schemas.microsoft.com/office/powerpoint/2010/main" val="34945083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endParaRPr lang="tr-TR"/>
          </a:p>
        </p:txBody>
      </p:sp>
      <p:pic>
        <p:nvPicPr>
          <p:cNvPr id="4" name="Resim 3"/>
          <p:cNvPicPr>
            <a:picLocks noChangeAspect="1"/>
          </p:cNvPicPr>
          <p:nvPr/>
        </p:nvPicPr>
        <p:blipFill>
          <a:blip r:embed="rId2"/>
          <a:stretch>
            <a:fillRect/>
          </a:stretch>
        </p:blipFill>
        <p:spPr>
          <a:xfrm>
            <a:off x="2209800" y="1195387"/>
            <a:ext cx="7772400" cy="4467225"/>
          </a:xfrm>
          <a:prstGeom prst="rect">
            <a:avLst/>
          </a:prstGeom>
        </p:spPr>
      </p:pic>
    </p:spTree>
    <p:extLst>
      <p:ext uri="{BB962C8B-B14F-4D97-AF65-F5344CB8AC3E}">
        <p14:creationId xmlns:p14="http://schemas.microsoft.com/office/powerpoint/2010/main" val="41978702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endParaRPr lang="tr-TR"/>
          </a:p>
        </p:txBody>
      </p:sp>
      <p:pic>
        <p:nvPicPr>
          <p:cNvPr id="4" name="Resim 3"/>
          <p:cNvPicPr>
            <a:picLocks noChangeAspect="1"/>
          </p:cNvPicPr>
          <p:nvPr/>
        </p:nvPicPr>
        <p:blipFill>
          <a:blip r:embed="rId2"/>
          <a:stretch>
            <a:fillRect/>
          </a:stretch>
        </p:blipFill>
        <p:spPr>
          <a:xfrm>
            <a:off x="1123950" y="-114300"/>
            <a:ext cx="9944100" cy="7086600"/>
          </a:xfrm>
          <a:prstGeom prst="rect">
            <a:avLst/>
          </a:prstGeom>
        </p:spPr>
      </p:pic>
    </p:spTree>
    <p:extLst>
      <p:ext uri="{BB962C8B-B14F-4D97-AF65-F5344CB8AC3E}">
        <p14:creationId xmlns:p14="http://schemas.microsoft.com/office/powerpoint/2010/main" val="35554288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Yazı Tipi">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Tahta Yazı</Template>
  <TotalTime>1669</TotalTime>
  <Words>2855</Words>
  <Application>Microsoft Office PowerPoint</Application>
  <PresentationFormat>Geniş ekran</PresentationFormat>
  <Paragraphs>569</Paragraphs>
  <Slides>38</Slides>
  <Notes>12</Notes>
  <HiddenSlides>0</HiddenSlides>
  <MMClips>0</MMClips>
  <ScaleCrop>false</ScaleCrop>
  <HeadingPairs>
    <vt:vector size="6" baseType="variant">
      <vt:variant>
        <vt:lpstr>Kullanılan Yazı Tipleri</vt:lpstr>
      </vt:variant>
      <vt:variant>
        <vt:i4>11</vt:i4>
      </vt:variant>
      <vt:variant>
        <vt:lpstr>Tema</vt:lpstr>
      </vt:variant>
      <vt:variant>
        <vt:i4>1</vt:i4>
      </vt:variant>
      <vt:variant>
        <vt:lpstr>Slayt Başlıkları</vt:lpstr>
      </vt:variant>
      <vt:variant>
        <vt:i4>38</vt:i4>
      </vt:variant>
    </vt:vector>
  </HeadingPairs>
  <TitlesOfParts>
    <vt:vector size="50" baseType="lpstr">
      <vt:lpstr>Arial</vt:lpstr>
      <vt:lpstr>바탕</vt:lpstr>
      <vt:lpstr>Calibri</vt:lpstr>
      <vt:lpstr>Courier New</vt:lpstr>
      <vt:lpstr>굴림</vt:lpstr>
      <vt:lpstr>Lucida Sans Unicode</vt:lpstr>
      <vt:lpstr>Rockwell</vt:lpstr>
      <vt:lpstr>Rockwell Condensed</vt:lpstr>
      <vt:lpstr>Tahoma</vt:lpstr>
      <vt:lpstr>Times New Roman</vt:lpstr>
      <vt:lpstr>Wingdings</vt:lpstr>
      <vt:lpstr>Wood Type Yazı Tipi</vt:lpstr>
      <vt:lpstr>poInter ve array</vt:lpstr>
      <vt:lpstr>PowerPoint Sunusu</vt:lpstr>
      <vt:lpstr>PowerPoint Sunusu</vt:lpstr>
      <vt:lpstr>PowerPoint Sunusu</vt:lpstr>
      <vt:lpstr>Arrays</vt:lpstr>
      <vt:lpstr>Array Initialization</vt:lpstr>
      <vt:lpstr>Memory addresses</vt:lpstr>
      <vt:lpstr>Array - Accessing an element</vt:lpstr>
      <vt:lpstr>Strings in C</vt:lpstr>
      <vt:lpstr>Significance of NULL character ‘\0’</vt:lpstr>
      <vt:lpstr>Pointers in C</vt:lpstr>
      <vt:lpstr>More about pointers</vt:lpstr>
      <vt:lpstr>PowerPoint Sunusu</vt:lpstr>
      <vt:lpstr>PowerPoint Sunusu</vt:lpstr>
      <vt:lpstr>Pointers and arrays</vt:lpstr>
      <vt:lpstr>String input</vt:lpstr>
      <vt:lpstr>PowerPoint Sunusu</vt:lpstr>
      <vt:lpstr>Example Code</vt:lpstr>
      <vt:lpstr>Arrays and Pointers</vt:lpstr>
      <vt:lpstr>Iterating Through the Array</vt:lpstr>
      <vt:lpstr>Array Example Using a Pointer</vt:lpstr>
      <vt:lpstr>Strings</vt:lpstr>
      <vt:lpstr>More On Pointer Arithmetic</vt:lpstr>
      <vt:lpstr>Multidimensional Arrays</vt:lpstr>
      <vt:lpstr>Multiple String</vt:lpstr>
      <vt:lpstr>Multiple String</vt:lpstr>
      <vt:lpstr>PowerPoint Sunusu</vt:lpstr>
      <vt:lpstr>String Input/Output</vt:lpstr>
      <vt:lpstr>Pointers to Pointers</vt:lpstr>
      <vt:lpstr>PowerPoint Sunusu</vt:lpstr>
      <vt:lpstr>Arrays of Strings Implementation</vt:lpstr>
      <vt:lpstr>Example</vt:lpstr>
      <vt:lpstr>Passing Arrays</vt:lpstr>
      <vt:lpstr>Some Additional Comments</vt:lpstr>
      <vt:lpstr>2-Dimensional Arrays (Array of arrays)</vt:lpstr>
      <vt:lpstr>More about 2-Dimensional arrays</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poınter</dc:title>
  <dc:creator>Buket Doğan</dc:creator>
  <cp:lastModifiedBy>bd</cp:lastModifiedBy>
  <cp:revision>16</cp:revision>
  <dcterms:created xsi:type="dcterms:W3CDTF">2019-03-11T01:45:44Z</dcterms:created>
  <dcterms:modified xsi:type="dcterms:W3CDTF">2021-12-13T15:15:11Z</dcterms:modified>
</cp:coreProperties>
</file>