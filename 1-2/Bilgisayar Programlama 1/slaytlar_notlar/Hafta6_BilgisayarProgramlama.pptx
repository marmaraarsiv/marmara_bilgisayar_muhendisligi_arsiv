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67"/>
  </p:notesMasterIdLst>
  <p:sldIdLst>
    <p:sldId id="319" r:id="rId2"/>
    <p:sldId id="352" r:id="rId3"/>
    <p:sldId id="349" r:id="rId4"/>
    <p:sldId id="350" r:id="rId5"/>
    <p:sldId id="353" r:id="rId6"/>
    <p:sldId id="351" r:id="rId7"/>
    <p:sldId id="320" r:id="rId8"/>
    <p:sldId id="321" r:id="rId9"/>
    <p:sldId id="322" r:id="rId10"/>
    <p:sldId id="323" r:id="rId11"/>
    <p:sldId id="324" r:id="rId12"/>
    <p:sldId id="326" r:id="rId13"/>
    <p:sldId id="327" r:id="rId14"/>
    <p:sldId id="328" r:id="rId15"/>
    <p:sldId id="325" r:id="rId16"/>
    <p:sldId id="329" r:id="rId17"/>
    <p:sldId id="330" r:id="rId18"/>
    <p:sldId id="331" r:id="rId19"/>
    <p:sldId id="332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274" r:id="rId29"/>
    <p:sldId id="275" r:id="rId30"/>
    <p:sldId id="276" r:id="rId31"/>
    <p:sldId id="277" r:id="rId32"/>
    <p:sldId id="278" r:id="rId33"/>
    <p:sldId id="280" r:id="rId34"/>
    <p:sldId id="281" r:id="rId35"/>
    <p:sldId id="282" r:id="rId36"/>
    <p:sldId id="343" r:id="rId37"/>
    <p:sldId id="283" r:id="rId38"/>
    <p:sldId id="284" r:id="rId39"/>
    <p:sldId id="285" r:id="rId40"/>
    <p:sldId id="286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33" r:id="rId54"/>
    <p:sldId id="300" r:id="rId55"/>
    <p:sldId id="301" r:id="rId56"/>
    <p:sldId id="302" r:id="rId57"/>
    <p:sldId id="304" r:id="rId58"/>
    <p:sldId id="305" r:id="rId59"/>
    <p:sldId id="306" r:id="rId60"/>
    <p:sldId id="307" r:id="rId61"/>
    <p:sldId id="334" r:id="rId62"/>
    <p:sldId id="346" r:id="rId63"/>
    <p:sldId id="344" r:id="rId64"/>
    <p:sldId id="347" r:id="rId65"/>
    <p:sldId id="348" r:id="rId66"/>
  </p:sldIdLst>
  <p:sldSz cx="9144000" cy="6858000" type="screen4x3"/>
  <p:notesSz cx="6858000" cy="9144000"/>
  <p:defaultTextStyle>
    <a:defPPr>
      <a:defRPr lang="tr-T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AB81231-58D3-4E92-A2C9-B6A1DFCEA477}" type="datetimeFigureOut">
              <a:rPr lang="tr-TR"/>
              <a:pPr>
                <a:defRPr/>
              </a:pPr>
              <a:t>11.04.2023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 smtClean="0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noProof="0" smtClean="0"/>
              <a:t>Asıl metin stillerini düzenle</a:t>
            </a:r>
          </a:p>
          <a:p>
            <a:pPr lvl="1"/>
            <a:r>
              <a:rPr lang="tr-TR" noProof="0" smtClean="0"/>
              <a:t>İkinci düzey</a:t>
            </a:r>
          </a:p>
          <a:p>
            <a:pPr lvl="2"/>
            <a:r>
              <a:rPr lang="tr-TR" noProof="0" smtClean="0"/>
              <a:t>Üçüncü düzey</a:t>
            </a:r>
          </a:p>
          <a:p>
            <a:pPr lvl="3"/>
            <a:r>
              <a:rPr lang="tr-TR" noProof="0" smtClean="0"/>
              <a:t>Dördüncü düzey</a:t>
            </a:r>
          </a:p>
          <a:p>
            <a:pPr lvl="4"/>
            <a:r>
              <a:rPr lang="tr-TR" noProof="0" smtClean="0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033EB6C-A2AD-4D5E-8801-A8577B692136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ayt Görüntüsü Yer Tutucus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 Yer Tutucusu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 smtClean="0"/>
          </a:p>
        </p:txBody>
      </p:sp>
      <p:sp>
        <p:nvSpPr>
          <p:cNvPr id="69636" name="Slayt Numarası Yer Tutucusu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FE099939-5603-44F2-91F4-66E454D81CB9}" type="slidenum">
              <a:rPr lang="tr-TR" altLang="tr-TR" smtClean="0"/>
              <a:pPr/>
              <a:t>63</a:t>
            </a:fld>
            <a:endParaRPr lang="tr-TR" altLang="tr-T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9"/>
          <p:cNvGrpSpPr>
            <a:grpSpLocks noChangeAspect="1"/>
          </p:cNvGrpSpPr>
          <p:nvPr/>
        </p:nvGrpSpPr>
        <p:grpSpPr bwMode="auto">
          <a:xfrm>
            <a:off x="7234238" y="4106863"/>
            <a:ext cx="914400" cy="914400"/>
            <a:chOff x="9685338" y="4460675"/>
            <a:chExt cx="1080904" cy="1080902"/>
          </a:xfrm>
        </p:grpSpPr>
        <p:sp>
          <p:nvSpPr>
            <p:cNvPr id="8" name="Oval 7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15"/>
            <p:cNvSpPr>
              <a:spLocks noChangeArrowheads="1"/>
            </p:cNvSpPr>
            <p:nvPr/>
          </p:nvSpPr>
          <p:spPr bwMode="auto">
            <a:xfrm>
              <a:off x="9794179" y="4569516"/>
              <a:ext cx="863222" cy="863220"/>
            </a:xfrm>
            <a:prstGeom prst="ellipse">
              <a:avLst/>
            </a:prstGeom>
            <a:noFill/>
            <a:ln w="254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tr-TR" altLang="tr-TR" smtClean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0" y="6272213"/>
            <a:ext cx="47450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3763" y="4227513"/>
            <a:ext cx="895350" cy="639762"/>
          </a:xfrm>
        </p:spPr>
        <p:txBody>
          <a:bodyPr/>
          <a:lstStyle>
            <a:lvl1pPr>
              <a:defRPr sz="2800" b="1"/>
            </a:lvl1pPr>
          </a:lstStyle>
          <a:p>
            <a:pPr>
              <a:defRPr/>
            </a:pPr>
            <a:fld id="{BB9B2E18-524B-4CA1-99AE-072BC874D70F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56542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BE855-7ED5-4F52-BED2-A2A2ECF12B16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90033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5" name="Group 7"/>
          <p:cNvGrpSpPr>
            <a:grpSpLocks noChangeAspect="1"/>
          </p:cNvGrpSpPr>
          <p:nvPr/>
        </p:nvGrpSpPr>
        <p:grpSpPr bwMode="auto">
          <a:xfrm>
            <a:off x="633413" y="2430463"/>
            <a:ext cx="914400" cy="914400"/>
            <a:chOff x="9685338" y="4460675"/>
            <a:chExt cx="1080904" cy="1080902"/>
          </a:xfrm>
        </p:grpSpPr>
        <p:sp>
          <p:nvSpPr>
            <p:cNvPr id="6" name="Oval 5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7" name="Oval 13"/>
            <p:cNvSpPr>
              <a:spLocks noChangeArrowheads="1"/>
            </p:cNvSpPr>
            <p:nvPr/>
          </p:nvSpPr>
          <p:spPr bwMode="auto">
            <a:xfrm>
              <a:off x="9794179" y="4569516"/>
              <a:ext cx="863222" cy="863220"/>
            </a:xfrm>
            <a:prstGeom prst="ellipse">
              <a:avLst/>
            </a:prstGeom>
            <a:noFill/>
            <a:ln w="254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tr-TR" altLang="tr-TR" smtClean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/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0" y="6272213"/>
            <a:ext cx="198278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713" y="6272213"/>
            <a:ext cx="4745037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6113" y="2508250"/>
            <a:ext cx="890587" cy="720725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EAF5C39B-2C2D-448C-AEDA-174671D5073B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58294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E902B-C6C7-4FF8-90FD-6DA66FD040F9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112567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D627A-9DA2-4DEF-A9AC-260F00AEFEC8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78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1365FD-3666-44DD-AD10-9471B3875B79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70950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E803A-EF85-4809-AC68-9863568FABAA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534951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" name="Group 11"/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7" name="Oval 6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8" name="Oval 13"/>
            <p:cNvSpPr>
              <a:spLocks noChangeAspect="1"/>
            </p:cNvSpPr>
            <p:nvPr/>
          </p:nvSpPr>
          <p:spPr bwMode="auto">
            <a:xfrm>
              <a:off x="8568802" y="5105290"/>
              <a:ext cx="319967" cy="320261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tr-TR" altLang="tr-TR" smtClean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/>
          <a:lstStyle>
            <a:lvl1pPr>
              <a:defRPr sz="2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EE827-474B-40C7-A22C-E714B51204E5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51895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" name="Group 11"/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7" name="Oval 6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8" name="Oval 13"/>
            <p:cNvSpPr>
              <a:spLocks noChangeAspect="1"/>
            </p:cNvSpPr>
            <p:nvPr/>
          </p:nvSpPr>
          <p:spPr bwMode="auto">
            <a:xfrm>
              <a:off x="8568802" y="5105290"/>
              <a:ext cx="319967" cy="320261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tr-TR" altLang="tr-TR" smtClean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/>
          <a:lstStyle>
            <a:lvl1pPr>
              <a:defRPr sz="2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tr-TR" noProof="0" smtClean="0"/>
              <a:t>Resim eklemek için simgeyi tıklatın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9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2BDD1-3BC9-44B2-94DB-19688CFBD3C6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531526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6CD63-52EF-4860-A906-0AA57B225FF2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392332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DDE88-BA99-402C-A0FB-4B3A1533975E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497447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1"/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35" name="Oval 8"/>
            <p:cNvSpPr>
              <a:spLocks noChangeAspect="1"/>
            </p:cNvSpPr>
            <p:nvPr/>
          </p:nvSpPr>
          <p:spPr bwMode="auto">
            <a:xfrm>
              <a:off x="8568802" y="5105290"/>
              <a:ext cx="319967" cy="320261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tr-TR" altLang="tr-TR" smtClean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1609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2120900"/>
            <a:ext cx="7772400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tr-TR" smtClean="0"/>
              <a:t>Asıl metin stillerini düzenle</a:t>
            </a:r>
          </a:p>
          <a:p>
            <a:pPr lvl="1"/>
            <a:r>
              <a:rPr lang="tr-TR" altLang="tr-TR" smtClean="0"/>
              <a:t>İkinci düzey</a:t>
            </a:r>
          </a:p>
          <a:p>
            <a:pPr lvl="2"/>
            <a:r>
              <a:rPr lang="tr-TR" altLang="tr-TR" smtClean="0"/>
              <a:t>Üçüncü düzey</a:t>
            </a:r>
          </a:p>
          <a:p>
            <a:pPr lvl="3"/>
            <a:r>
              <a:rPr lang="tr-TR" altLang="tr-TR" smtClean="0"/>
              <a:t>Dördüncü düzey</a:t>
            </a:r>
          </a:p>
          <a:p>
            <a:pPr lvl="4"/>
            <a:r>
              <a:rPr lang="tr-TR" altLang="tr-TR" smtClean="0"/>
              <a:t>Beşinci düzey</a:t>
            </a:r>
            <a:endParaRPr lang="en-US" altLang="tr-TR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813" y="6272213"/>
            <a:ext cx="2454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213"/>
            <a:ext cx="4745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600" y="6272213"/>
            <a:ext cx="479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0A435CF6-A292-452C-986B-491C5642A49D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48" r:id="rId2"/>
    <p:sldLayoutId id="2147483856" r:id="rId3"/>
    <p:sldLayoutId id="2147483849" r:id="rId4"/>
    <p:sldLayoutId id="2147483850" r:id="rId5"/>
    <p:sldLayoutId id="2147483851" r:id="rId6"/>
    <p:sldLayoutId id="2147483852" r:id="rId7"/>
    <p:sldLayoutId id="2147483857" r:id="rId8"/>
    <p:sldLayoutId id="2147483858" r:id="rId9"/>
    <p:sldLayoutId id="2147483853" r:id="rId10"/>
    <p:sldLayoutId id="214748385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 kern="1200" cap="all">
          <a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9pPr>
    </p:titleStyle>
    <p:bodyStyle>
      <a:lvl1pPr marL="182563" indent="-182563" algn="l" rtl="0" eaLnBrk="0" fontAlgn="base" hangingPunct="0">
        <a:lnSpc>
          <a:spcPct val="90000"/>
        </a:lnSpc>
        <a:spcBef>
          <a:spcPts val="1200"/>
        </a:spcBef>
        <a:spcAft>
          <a:spcPct val="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730250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/>
              <a:t>STRİNG</a:t>
            </a:r>
            <a:br>
              <a:rPr lang="tr-TR" altLang="tr-TR"/>
            </a:br>
            <a:r>
              <a:rPr lang="tr-TR" altLang="tr-TR"/>
              <a:t>FONKSİYONLARI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QUİZDEN ÖNCEKİ ÖDEV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Klavyeden girilen bir string için aranan bir harf değeri girilecek ve harfin string içinde ilk hangi numaralı karakterde ve kaç adet olduğu bir fonksiyon aracılığı ile bulunacaktır</a:t>
            </a:r>
            <a:r>
              <a:rPr lang="tr-TR" dirty="0" smtClean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6867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800" y="19472"/>
            <a:ext cx="7772400" cy="1609725"/>
          </a:xfrm>
        </p:spPr>
        <p:txBody>
          <a:bodyPr/>
          <a:lstStyle/>
          <a:p>
            <a:pPr>
              <a:defRPr/>
            </a:pPr>
            <a:r>
              <a:rPr lang="tr-TR" dirty="0" smtClean="0"/>
              <a:t>Ödev çözümü</a:t>
            </a:r>
            <a:endParaRPr lang="tr-TR" dirty="0"/>
          </a:p>
        </p:txBody>
      </p:sp>
      <p:sp>
        <p:nvSpPr>
          <p:cNvPr id="8195" name="İçerik Yer Tutucusu 2"/>
          <p:cNvSpPr>
            <a:spLocks noGrp="1"/>
          </p:cNvSpPr>
          <p:nvPr>
            <p:ph idx="1"/>
          </p:nvPr>
        </p:nvSpPr>
        <p:spPr>
          <a:xfrm>
            <a:off x="539750" y="908050"/>
            <a:ext cx="7918450" cy="519271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tr-TR" altLang="tr-TR" b="1" dirty="0" smtClean="0"/>
              <a:t>#include&lt;stdio.h&gt;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b="1" dirty="0" smtClean="0"/>
              <a:t>#include&lt;string.h&gt;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b="1" dirty="0" smtClean="0"/>
              <a:t>void arama( char string[20], char harf, int *ptr1, int *ptr2 );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dirty="0" smtClean="0"/>
              <a:t>int main()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dirty="0" smtClean="0"/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dirty="0" smtClean="0"/>
              <a:t>	char string[20],harf;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dirty="0" smtClean="0"/>
              <a:t>	int p1, p2;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dirty="0" smtClean="0"/>
              <a:t>	printf("String = 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dirty="0" smtClean="0"/>
              <a:t>	gets(string);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dirty="0" smtClean="0"/>
              <a:t>	printf("Aranan harf = 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dirty="0" smtClean="0"/>
              <a:t>	scanf("%c",&amp;harf);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dirty="0" smtClean="0"/>
              <a:t>	arama( string, harf,&amp;p1,&amp;p2);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dirty="0" smtClean="0"/>
              <a:t>	printf("%d , %d",p1,p2);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altLang="tr-TR" dirty="0" smtClean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55576" y="27500"/>
            <a:ext cx="7629525" cy="6415088"/>
          </a:xfrm>
        </p:spPr>
        <p:txBody>
          <a:bodyPr/>
          <a:lstStyle/>
          <a:p>
            <a:pPr>
              <a:defRPr/>
            </a:pPr>
            <a:r>
              <a:rPr lang="tr-TR" dirty="0" smtClean="0"/>
              <a:t>Devam</a:t>
            </a:r>
          </a:p>
          <a:p>
            <a:pPr>
              <a:defRPr/>
            </a:pPr>
            <a:endParaRPr lang="tr-TR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tr-TR" b="1" dirty="0" err="1" smtClean="0"/>
              <a:t>void</a:t>
            </a:r>
            <a:r>
              <a:rPr lang="tr-TR" b="1" dirty="0" smtClean="0"/>
              <a:t> arama( </a:t>
            </a:r>
            <a:r>
              <a:rPr lang="tr-TR" b="1" dirty="0" err="1" smtClean="0"/>
              <a:t>char</a:t>
            </a:r>
            <a:r>
              <a:rPr lang="tr-TR" b="1" dirty="0" smtClean="0"/>
              <a:t> </a:t>
            </a:r>
            <a:r>
              <a:rPr lang="tr-TR" b="1" dirty="0" err="1" smtClean="0"/>
              <a:t>string</a:t>
            </a:r>
            <a:r>
              <a:rPr lang="tr-TR" b="1" dirty="0" smtClean="0"/>
              <a:t>[20], </a:t>
            </a:r>
            <a:r>
              <a:rPr lang="tr-TR" b="1" dirty="0" err="1" smtClean="0"/>
              <a:t>char</a:t>
            </a:r>
            <a:r>
              <a:rPr lang="tr-TR" b="1" dirty="0" smtClean="0"/>
              <a:t> harf, </a:t>
            </a:r>
            <a:r>
              <a:rPr lang="tr-TR" b="1" dirty="0" err="1" smtClean="0"/>
              <a:t>int</a:t>
            </a:r>
            <a:r>
              <a:rPr lang="tr-TR" b="1" dirty="0" smtClean="0"/>
              <a:t> *ptr1, </a:t>
            </a:r>
            <a:r>
              <a:rPr lang="tr-TR" b="1" dirty="0" err="1" smtClean="0"/>
              <a:t>int</a:t>
            </a:r>
            <a:r>
              <a:rPr lang="tr-TR" b="1" dirty="0" smtClean="0"/>
              <a:t> *ptr2 )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{     </a:t>
            </a:r>
            <a:r>
              <a:rPr lang="tr-TR" dirty="0" err="1" smtClean="0"/>
              <a:t>int</a:t>
            </a:r>
            <a:r>
              <a:rPr lang="tr-TR" dirty="0" smtClean="0"/>
              <a:t> </a:t>
            </a:r>
            <a:r>
              <a:rPr lang="tr-TR" dirty="0" err="1" smtClean="0"/>
              <a:t>i,k,j,flag</a:t>
            </a:r>
            <a:r>
              <a:rPr lang="tr-TR" dirty="0" smtClean="0"/>
              <a:t> = 0;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</a:t>
            </a:r>
            <a:r>
              <a:rPr lang="tr-TR" dirty="0" err="1" smtClean="0"/>
              <a:t>for</a:t>
            </a:r>
            <a:r>
              <a:rPr lang="tr-TR" dirty="0" smtClean="0"/>
              <a:t>( i = 0; i &lt; </a:t>
            </a:r>
            <a:r>
              <a:rPr lang="tr-TR" dirty="0" err="1" smtClean="0"/>
              <a:t>strlen</a:t>
            </a:r>
            <a:r>
              <a:rPr lang="tr-TR" dirty="0" smtClean="0"/>
              <a:t>(</a:t>
            </a:r>
            <a:r>
              <a:rPr lang="tr-TR" dirty="0" err="1" smtClean="0"/>
              <a:t>string</a:t>
            </a:r>
            <a:r>
              <a:rPr lang="tr-TR" dirty="0" smtClean="0"/>
              <a:t>); i++ )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{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	</a:t>
            </a:r>
            <a:r>
              <a:rPr lang="tr-TR" dirty="0" err="1" smtClean="0"/>
              <a:t>if</a:t>
            </a:r>
            <a:r>
              <a:rPr lang="tr-TR" dirty="0" smtClean="0"/>
              <a:t>( </a:t>
            </a:r>
            <a:r>
              <a:rPr lang="tr-TR" dirty="0" err="1" smtClean="0"/>
              <a:t>string</a:t>
            </a:r>
            <a:r>
              <a:rPr lang="tr-TR" dirty="0" smtClean="0"/>
              <a:t>[i] == harf &amp;&amp; </a:t>
            </a:r>
            <a:r>
              <a:rPr lang="tr-TR" dirty="0" err="1" smtClean="0"/>
              <a:t>flag</a:t>
            </a:r>
            <a:r>
              <a:rPr lang="tr-TR" dirty="0" smtClean="0"/>
              <a:t> == 0)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	{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		k = i;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		</a:t>
            </a:r>
            <a:r>
              <a:rPr lang="tr-TR" dirty="0" err="1" smtClean="0"/>
              <a:t>flag</a:t>
            </a:r>
            <a:r>
              <a:rPr lang="tr-TR" dirty="0" smtClean="0"/>
              <a:t>++;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	}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	</a:t>
            </a:r>
            <a:r>
              <a:rPr lang="tr-TR" dirty="0" err="1" smtClean="0"/>
              <a:t>if</a:t>
            </a:r>
            <a:r>
              <a:rPr lang="tr-TR" dirty="0" smtClean="0"/>
              <a:t>( </a:t>
            </a:r>
            <a:r>
              <a:rPr lang="tr-TR" dirty="0" err="1" smtClean="0"/>
              <a:t>string</a:t>
            </a:r>
            <a:r>
              <a:rPr lang="tr-TR" dirty="0" smtClean="0"/>
              <a:t>[i] == harf )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	{	j++;	}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}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</a:t>
            </a:r>
            <a:r>
              <a:rPr lang="tr-TR" dirty="0" err="1" smtClean="0"/>
              <a:t>if</a:t>
            </a:r>
            <a:r>
              <a:rPr lang="tr-TR" dirty="0" smtClean="0"/>
              <a:t>( j == 0 )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{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	</a:t>
            </a:r>
            <a:r>
              <a:rPr lang="tr-TR" dirty="0" err="1" smtClean="0"/>
              <a:t>printf</a:t>
            </a:r>
            <a:r>
              <a:rPr lang="tr-TR" dirty="0" smtClean="0"/>
              <a:t>("</a:t>
            </a:r>
            <a:r>
              <a:rPr lang="tr-TR" dirty="0" err="1" smtClean="0"/>
              <a:t>Hic</a:t>
            </a:r>
            <a:r>
              <a:rPr lang="tr-TR" dirty="0" smtClean="0"/>
              <a:t> Yok!!!");	}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else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//</a:t>
            </a:r>
            <a:r>
              <a:rPr lang="tr-TR" dirty="0" err="1" smtClean="0"/>
              <a:t>printf</a:t>
            </a:r>
            <a:r>
              <a:rPr lang="tr-TR" dirty="0" smtClean="0"/>
              <a:t>("ilk %d. elemanda var ve %d defa var ",k+1,j);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*ptr1 = k+1;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	*ptr2 = j;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tr-TR" dirty="0" smtClean="0"/>
              <a:t>}</a:t>
            </a:r>
          </a:p>
          <a:p>
            <a:pPr>
              <a:spcBef>
                <a:spcPts val="0"/>
              </a:spcBef>
              <a:defRPr/>
            </a:pPr>
            <a:endParaRPr lang="tr-T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Ev ödevi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Aranan karakterin string içinde geçtiği tüm konumları ayrı bir integer dizi içerisinde tutan fonksiyonu da yazmaya çalışınız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>
                <a:solidFill>
                  <a:srgbClr val="00B050"/>
                </a:solidFill>
              </a:rPr>
              <a:t>Peki konumların tümünü bir dizide tutmak istersek??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9142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39750" y="-387350"/>
            <a:ext cx="7772400" cy="1609725"/>
          </a:xfrm>
        </p:spPr>
        <p:txBody>
          <a:bodyPr/>
          <a:lstStyle/>
          <a:p>
            <a:pPr>
              <a:defRPr/>
            </a:pPr>
            <a:r>
              <a:rPr lang="tr-TR" sz="3200" dirty="0" smtClean="0">
                <a:solidFill>
                  <a:srgbClr val="00B050"/>
                </a:solidFill>
              </a:rPr>
              <a:t>ÇÖZÜMÜ</a:t>
            </a:r>
            <a:endParaRPr lang="tr-TR" sz="3200" dirty="0">
              <a:solidFill>
                <a:srgbClr val="00B050"/>
              </a:solidFill>
            </a:endParaRPr>
          </a:p>
        </p:txBody>
      </p:sp>
      <p:sp>
        <p:nvSpPr>
          <p:cNvPr id="10243" name="İçerik Yer Tutucusu 2"/>
          <p:cNvSpPr>
            <a:spLocks noGrp="1"/>
          </p:cNvSpPr>
          <p:nvPr>
            <p:ph idx="1"/>
          </p:nvPr>
        </p:nvSpPr>
        <p:spPr>
          <a:xfrm>
            <a:off x="684213" y="908050"/>
            <a:ext cx="7772400" cy="40513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#include&lt;stdio.h&gt;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#include&lt;string.h&gt;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void arama( char string[20], char harf, int p[], int *ptr2 );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int main()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char string[20],harf;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int p1,i,p2;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int bul[100];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printf("String = ");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gets(string);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printf("Aranan harf = ");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scanf("%c",&amp;harf);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arama( string, harf,&amp;bul[0],&amp;p2);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printf("% c den %d adet vardır ",harf, p2);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for(i=0;i&lt;p2;i++)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printf("\n  %d.Konumda %c vardır %", bul[i],string[bul[i]] 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}    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void arama( char string[20], char harf, int p[], int *ptr2 )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int i,k,j=0,flag = 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for( i = 0; i &lt; strlen(string); i++ 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	if( string[i] == harf &amp;&amp; flag == 0)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	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		k = i;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			flag++;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	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	if( string[i] == harf 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	{p[j]=i;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	 j++;	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if( j == 0 )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	printf("Hic Yok!!!");	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else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//printf("ilk %d. elemanda var ve %d defa var ",k+1,j);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tr-TR" altLang="tr-TR" sz="1000" dirty="0" smtClean="0"/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000" dirty="0" smtClean="0"/>
              <a:t>	*ptr2 = j;}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Rectangle 3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11398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dirty="0" err="1" smtClean="0"/>
              <a:t>StrIng</a:t>
            </a:r>
            <a:endParaRPr lang="tr-TR" altLang="tr-TR" dirty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435975" cy="5068887"/>
          </a:xfrm>
        </p:spPr>
        <p:txBody>
          <a:bodyPr/>
          <a:lstStyle/>
          <a:p>
            <a:pPr eaLnBrk="1" hangingPunct="1"/>
            <a:r>
              <a:rPr lang="tr-TR" altLang="tr-TR" smtClean="0"/>
              <a:t>Stringler, char tipinde bildirilen karakter dizileridir ve harfler, rakamlar, veya bazı sembollerden oluşurlar.</a:t>
            </a:r>
          </a:p>
          <a:p>
            <a:pPr eaLnBrk="1" hangingPunct="1"/>
            <a:r>
              <a:rPr lang="tr-TR" altLang="tr-TR" smtClean="0"/>
              <a:t>Genel olarak bir string bildirimi: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   char string_adı[eleman_sayısı];yada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   char *string_adı;şeklinde yapılır. </a:t>
            </a:r>
          </a:p>
          <a:p>
            <a:pPr eaLnBrk="1" hangingPunct="1"/>
            <a:endParaRPr lang="tr-TR" altLang="tr-TR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tr-TR" altLang="tr-TR" smtClean="0"/>
          </a:p>
          <a:p>
            <a:pPr eaLnBrk="1" hangingPunct="1"/>
            <a:endParaRPr lang="tr-TR" alt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dirty="0" err="1"/>
              <a:t>Scanf</a:t>
            </a:r>
            <a:r>
              <a:rPr lang="tr-TR" altLang="tr-TR" dirty="0"/>
              <a:t> ve </a:t>
            </a:r>
            <a:r>
              <a:rPr lang="tr-TR" altLang="tr-TR" dirty="0" err="1" smtClean="0"/>
              <a:t>PrIntf</a:t>
            </a:r>
            <a:endParaRPr lang="tr-TR" altLang="tr-TR" dirty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idx="1"/>
          </p:nvPr>
        </p:nvSpPr>
        <p:spPr>
          <a:xfrm>
            <a:off x="179388" y="1412875"/>
            <a:ext cx="8675687" cy="5832475"/>
          </a:xfrm>
        </p:spPr>
        <p:txBody>
          <a:bodyPr/>
          <a:lstStyle/>
          <a:p>
            <a:pPr eaLnBrk="1" hangingPunct="1"/>
            <a:endParaRPr lang="tr-TR" altLang="tr-TR" smtClean="0"/>
          </a:p>
          <a:p>
            <a:pPr eaLnBrk="1" hangingPunct="1"/>
            <a:endParaRPr lang="tr-TR" altLang="tr-TR" smtClean="0"/>
          </a:p>
          <a:p>
            <a:pPr eaLnBrk="1" hangingPunct="1"/>
            <a:r>
              <a:rPr lang="tr-TR" altLang="tr-TR" smtClean="0"/>
              <a:t>printf() ve scanf() fonksiyonları diğer tiplerde olduğu gibi formatlı okuma/yazma amaçlı kullanılır.String formatı %s dir.</a:t>
            </a:r>
          </a:p>
          <a:p>
            <a:pPr eaLnBrk="1" hangingPunct="1"/>
            <a:r>
              <a:rPr lang="tr-TR" altLang="tr-TR" smtClean="0"/>
              <a:t>Genellikle bir döngü içersinde, her dizi elemanı için scanf(  ) veya printf(  ) fonksiyonunu çağırmamız gerekiyordu.  String için böyle bir mecburiyet bulunmuyor. Tek bir kelimeyi, tek bir scanf(  ) fonksiyonuyla okutabilir ve elemanlara otomatik değer atayabilirsiniz.</a:t>
            </a:r>
          </a:p>
          <a:p>
            <a:pPr eaLnBrk="1" hangingPunct="1"/>
            <a:endParaRPr lang="tr-TR" alt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8229600" cy="11398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/>
              <a:t>Gets ve Puts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0" y="1141413"/>
            <a:ext cx="8748713" cy="57165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tr-TR" altLang="tr-TR" sz="2800" smtClean="0"/>
              <a:t>puts() fonksiyonu bir karakter dizisini ekrana yazdırmak için kullanılır. Bu fonksiyon diziyi ekrana yazdırdıktan sonra imleci bir sonraki satıra geçirir.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r-TR" altLang="tr-TR" sz="2800" smtClean="0"/>
              <a:t>      char *str = "Hangi cilgin bana zincir vuracakmis sasarim";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r-TR" altLang="tr-TR" sz="2800" smtClean="0"/>
              <a:t>      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r-TR" altLang="tr-TR" sz="2800" smtClean="0"/>
              <a:t>      puts(str);</a:t>
            </a:r>
          </a:p>
          <a:p>
            <a:pPr eaLnBrk="1" hangingPunct="1">
              <a:lnSpc>
                <a:spcPct val="80000"/>
              </a:lnSpc>
            </a:pPr>
            <a:r>
              <a:rPr lang="tr-TR" altLang="tr-TR" sz="2800" smtClean="0"/>
              <a:t>gets(  ) isminden anlayacağınız ( </a:t>
            </a:r>
            <a:r>
              <a:rPr lang="tr-TR" altLang="tr-TR" sz="2800" i="1" smtClean="0"/>
              <a:t>get string</a:t>
            </a:r>
            <a:r>
              <a:rPr lang="tr-TR" altLang="tr-TR" sz="2800" smtClean="0"/>
              <a:t> ) gibi stringe değer atamak için kullanılır. gets(  ) atayacağı değerin ayrımını yapabilmek için '</a:t>
            </a:r>
            <a:r>
              <a:rPr lang="tr-TR" altLang="tr-TR" sz="2800" b="1" smtClean="0"/>
              <a:t>\n</a:t>
            </a:r>
            <a:r>
              <a:rPr lang="tr-TR" altLang="tr-TR" sz="2800" smtClean="0"/>
              <a:t>' aramaktadır. Yani klavyeden Enter'a basılana kadar girilen her şeyi, tek bir stringe atayacaktır.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/>
              <a:t>Karakter Dizisi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35975" cy="5068888"/>
          </a:xfrm>
        </p:spPr>
        <p:txBody>
          <a:bodyPr/>
          <a:lstStyle/>
          <a:p>
            <a:pPr eaLnBrk="1" hangingPunct="1"/>
            <a:r>
              <a:rPr lang="tr-TR" altLang="tr-TR" sz="2400" smtClean="0"/>
              <a:t>Diziler sadece sayısal değişkenlerde ve sayısal işlemlerde kullanılmazlar.Bir çok kez cümle vb. yapılarda aslında karakter dizileri kullanırız.</a:t>
            </a:r>
          </a:p>
          <a:p>
            <a:pPr eaLnBrk="1" hangingPunct="1"/>
            <a:r>
              <a:rPr lang="tr-TR" altLang="tr-TR" sz="2400" smtClean="0"/>
              <a:t>Karakter dizileri normal bir dizi tanımlanıyormuş gibi tanımlanır sadece tür değimi char olarak seçilir. Bu karakter dizeleri ile ilgili bir takım işlemleri gerçekleştirmek için gerekli olabilecek fonksiyonlar "string.h" kütüphanesi içerisindedir. </a:t>
            </a:r>
          </a:p>
          <a:p>
            <a:pPr eaLnBrk="1" hangingPunct="1"/>
            <a:r>
              <a:rPr lang="tr-TR" altLang="tr-TR" sz="2400" smtClean="0"/>
              <a:t>Eğer bir karakter dizisinin eleman sayısı belirtilmezse, başlangıçta bildirilen karakter sayısı kaç tane ise dizinin eleman sayısı o kadar olduğu varsayılır.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981075"/>
            <a:ext cx="8496300" cy="5111750"/>
          </a:xfrm>
        </p:spPr>
        <p:txBody>
          <a:bodyPr/>
          <a:lstStyle/>
          <a:p>
            <a:pPr eaLnBrk="1" hangingPunct="1"/>
            <a:r>
              <a:rPr lang="tr-TR" altLang="tr-TR" sz="2800" dirty="0" smtClean="0"/>
              <a:t>Diğer dizi bildirimlerinde olduğu gibi, karakter dizilerine değer verilebilir.Örneğin aşağıda verilen iki bildirim aynı anlamdadır: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sz="2800" dirty="0" smtClean="0"/>
              <a:t>     char s[5]={'I','z','m','i','r'};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sz="2800" dirty="0" smtClean="0"/>
              <a:t>     char s[5]="Izmir";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sz="2800" dirty="0" smtClean="0"/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dirty="0" smtClean="0"/>
              <a:t>STRING</a:t>
            </a:r>
            <a:endParaRPr lang="tr-TR" altLang="tr-TR" dirty="0"/>
          </a:p>
        </p:txBody>
      </p:sp>
      <p:sp>
        <p:nvSpPr>
          <p:cNvPr id="16589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800" dirty="0"/>
              <a:t>Bir </a:t>
            </a:r>
            <a:r>
              <a:rPr lang="tr-TR" altLang="tr-TR" sz="2800" dirty="0" err="1" smtClean="0"/>
              <a:t>string</a:t>
            </a:r>
            <a:r>
              <a:rPr lang="tr-TR" altLang="tr-TR" sz="2800" dirty="0" smtClean="0"/>
              <a:t> </a:t>
            </a:r>
            <a:r>
              <a:rPr lang="tr-TR" altLang="tr-TR" sz="2800" dirty="0"/>
              <a:t>karakterden oluşur. '\0' karakteri dizginin sonunu gösterir</a:t>
            </a:r>
            <a:r>
              <a:rPr lang="tr-TR" altLang="tr-TR" sz="2800" dirty="0" smtClean="0"/>
              <a:t>. </a:t>
            </a:r>
            <a:r>
              <a:rPr lang="tr-TR" altLang="tr-TR" sz="2800" dirty="0" err="1"/>
              <a:t>string</a:t>
            </a:r>
            <a:r>
              <a:rPr lang="tr-TR" altLang="tr-TR" sz="2800" dirty="0" smtClean="0"/>
              <a:t> </a:t>
            </a:r>
            <a:r>
              <a:rPr lang="tr-TR" altLang="tr-TR" sz="2800" dirty="0"/>
              <a:t>sabitler çift tırnak içinde gösterilir. Bu ifadede dil \0 karakterini otomatik koyar.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2800" dirty="0"/>
              <a:t>   "ALİ",   "Bir sayı girin"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800" dirty="0"/>
              <a:t>Karakter ile </a:t>
            </a:r>
            <a:r>
              <a:rPr lang="tr-TR" altLang="tr-TR" sz="2800" dirty="0" err="1" smtClean="0"/>
              <a:t>string</a:t>
            </a:r>
            <a:r>
              <a:rPr lang="tr-TR" altLang="tr-TR" sz="2800" dirty="0"/>
              <a:t> </a:t>
            </a:r>
            <a:r>
              <a:rPr lang="tr-TR" altLang="tr-TR" sz="2800" dirty="0" smtClean="0"/>
              <a:t> </a:t>
            </a:r>
            <a:r>
              <a:rPr lang="tr-TR" altLang="tr-TR" sz="2800" dirty="0"/>
              <a:t>birbirinden farklı şeylerdir. </a:t>
            </a:r>
            <a:r>
              <a:rPr lang="tr-TR" altLang="tr-TR" sz="2800" dirty="0" err="1" smtClean="0"/>
              <a:t>Stringin</a:t>
            </a:r>
            <a:r>
              <a:rPr lang="tr-TR" altLang="tr-TR" sz="2800" dirty="0" smtClean="0"/>
              <a:t> </a:t>
            </a:r>
            <a:r>
              <a:rPr lang="tr-TR" altLang="tr-TR" sz="2800" dirty="0"/>
              <a:t>sonunda her zaman \0 karakteri </a:t>
            </a:r>
            <a:r>
              <a:rPr lang="tr-TR" altLang="tr-TR" sz="2800" dirty="0" err="1"/>
              <a:t>vardır.'A</a:t>
            </a:r>
            <a:r>
              <a:rPr lang="tr-TR" altLang="tr-TR" sz="2800" dirty="0"/>
              <a:t>' ile "A" birbirinin aynısı değildir. 'A' karakterini gösteren 65 değerinde bellekte int olarak saklanırken "A" ise bir string</a:t>
            </a:r>
            <a:r>
              <a:rPr lang="tr-TR" altLang="tr-TR" sz="2800" dirty="0" smtClean="0"/>
              <a:t> tir.</a:t>
            </a:r>
            <a:endParaRPr lang="tr-TR" altLang="tr-T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92150"/>
            <a:ext cx="8229600" cy="11398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/>
              <a:t/>
            </a:r>
            <a:br>
              <a:rPr lang="tr-TR" altLang="tr-TR" sz="4000"/>
            </a:br>
            <a:r>
              <a:rPr lang="tr-TR" altLang="tr-TR" sz="4000"/>
              <a:t/>
            </a:r>
            <a:br>
              <a:rPr lang="tr-TR" altLang="tr-TR" sz="4000"/>
            </a:br>
            <a:r>
              <a:rPr lang="tr-TR" altLang="tr-TR" sz="4000"/>
              <a:t>Tanımlama Biçimleri</a:t>
            </a:r>
            <a:br>
              <a:rPr lang="tr-TR" altLang="tr-TR" sz="4000"/>
            </a:br>
            <a:r>
              <a:rPr lang="tr-TR" altLang="tr-TR" sz="4000"/>
              <a:t/>
            </a:r>
            <a:br>
              <a:rPr lang="tr-TR" altLang="tr-TR" sz="4000"/>
            </a:br>
            <a:r>
              <a:rPr lang="tr-TR" altLang="tr-TR" sz="4000"/>
              <a:t>Dizi şeklinde tanımlama</a:t>
            </a:r>
            <a:br>
              <a:rPr lang="tr-TR" altLang="tr-TR" sz="4000"/>
            </a:br>
            <a:endParaRPr lang="tr-TR" altLang="tr-TR" sz="400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2636838"/>
            <a:ext cx="8229600" cy="4530725"/>
          </a:xfrm>
        </p:spPr>
        <p:txBody>
          <a:bodyPr/>
          <a:lstStyle/>
          <a:p>
            <a:pPr eaLnBrk="1" hangingPunct="1"/>
            <a:r>
              <a:rPr lang="tr-TR" altLang="tr-TR" dirty="0" smtClean="0"/>
              <a:t>char a[7] = {'K','O','C','A','E','L','İ'};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dirty="0" smtClean="0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dirty="0" smtClean="0"/>
              <a:t>char a[7] = "KOCAELİ";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dirty="0" smtClean="0"/>
              <a:t>puts(a)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/>
              <a:t/>
            </a:r>
            <a:br>
              <a:rPr lang="tr-TR" altLang="tr-TR" sz="4000"/>
            </a:br>
            <a:r>
              <a:rPr lang="tr-TR" altLang="tr-TR" sz="4000"/>
              <a:t/>
            </a:r>
            <a:br>
              <a:rPr lang="tr-TR" altLang="tr-TR" sz="4000"/>
            </a:br>
            <a:r>
              <a:rPr lang="tr-TR" altLang="tr-TR" sz="4000"/>
              <a:t>İşaretçi olarak tanımlama</a:t>
            </a:r>
            <a:r>
              <a:rPr lang="tr-TR" altLang="tr-TR" sz="4000" b="1"/>
              <a:t/>
            </a:r>
            <a:br>
              <a:rPr lang="tr-TR" altLang="tr-TR" sz="4000" b="1"/>
            </a:br>
            <a:endParaRPr lang="tr-TR" altLang="tr-TR" sz="400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b="1" smtClean="0"/>
              <a:t>char *</a:t>
            </a:r>
            <a:r>
              <a:rPr lang="tr-TR" altLang="tr-TR" smtClean="0"/>
              <a:t>değişken;</a:t>
            </a:r>
            <a:br>
              <a:rPr lang="tr-TR" altLang="tr-TR" smtClean="0"/>
            </a:br>
            <a:r>
              <a:rPr lang="tr-TR" altLang="tr-TR" smtClean="0"/>
              <a:t>char *a;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        </a:t>
            </a:r>
            <a:r>
              <a:rPr lang="tr-TR" altLang="tr-TR" b="1" smtClean="0">
                <a:solidFill>
                  <a:schemeClr val="tx2"/>
                </a:solidFill>
              </a:rPr>
              <a:t>Değerini Yazdırma</a:t>
            </a:r>
            <a:r>
              <a:rPr lang="tr-TR" altLang="tr-TR" b="1" smtClean="0"/>
              <a:t> </a:t>
            </a:r>
            <a:endParaRPr lang="tr-TR" altLang="tr-TR" smtClean="0"/>
          </a:p>
          <a:p>
            <a:pPr eaLnBrk="1" hangingPunct="1"/>
            <a:r>
              <a:rPr lang="tr-TR" altLang="tr-TR" smtClean="0"/>
              <a:t>printf("%s", a);</a:t>
            </a:r>
          </a:p>
          <a:p>
            <a:pPr eaLnBrk="1" hangingPunct="1"/>
            <a:r>
              <a:rPr lang="tr-TR" altLang="tr-TR" smtClean="0"/>
              <a:t>puts(a);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r-TR" alt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/>
          <p:cNvSpPr>
            <a:spLocks noGrp="1" noChangeArrowheads="1"/>
          </p:cNvSpPr>
          <p:nvPr>
            <p:ph type="title"/>
          </p:nvPr>
        </p:nvSpPr>
        <p:spPr>
          <a:xfrm>
            <a:off x="619125" y="0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dirty="0"/>
              <a:t>Değer Atama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1341438"/>
            <a:ext cx="8362950" cy="5257800"/>
          </a:xfrm>
        </p:spPr>
        <p:txBody>
          <a:bodyPr/>
          <a:lstStyle/>
          <a:p>
            <a:pPr eaLnBrk="1" hangingPunct="1"/>
            <a:r>
              <a:rPr lang="tr-TR" altLang="tr-TR" sz="2400" smtClean="0"/>
              <a:t>Tek bir kelimeyi, tek bir scanf(  ) fonksiyonuyla okutabilir ve elemanlara otomatik değer atayabilirsiniz. Yani "Merhaba" şeklinde bir girdi-input gelirse, 3.dizi elemanı 'r' olurken; 6.dizi elemanı 'b' olur. Önceki dizilerde gördüğümüzün aksine, eleman atamaları kendiliğinden gerçekleşir. </a:t>
            </a:r>
          </a:p>
          <a:p>
            <a:pPr eaLnBrk="1" hangingPunct="1"/>
            <a:r>
              <a:rPr lang="tr-TR" altLang="tr-TR" sz="2400" smtClean="0"/>
              <a:t>Stringlere değer atarken ya da stringlerden değer okurken, sadece string adını yazmanız yeterlidir. Yani scanf(  ) fonksiyonu içersine &amp; işareti koymamız gerekmiyor. Çünkü scanf(  ), stringin ilk adresinden başlayarak aşağıya doğru harfleri tek tek ataması gerektiğini biliyor.  </a:t>
            </a:r>
          </a:p>
          <a:p>
            <a:pPr eaLnBrk="1" hangingPunct="1"/>
            <a:endParaRPr lang="tr-TR" altLang="tr-TR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8229600" cy="4530725"/>
          </a:xfrm>
        </p:spPr>
        <p:txBody>
          <a:bodyPr/>
          <a:lstStyle/>
          <a:p>
            <a:pPr eaLnBrk="1" hangingPunct="1"/>
            <a:r>
              <a:rPr lang="tr-TR" altLang="tr-TR" dirty="0" smtClean="0"/>
              <a:t>char a[20];</a:t>
            </a:r>
            <a:br>
              <a:rPr lang="tr-TR" altLang="tr-TR" dirty="0" smtClean="0"/>
            </a:br>
            <a:r>
              <a:rPr lang="tr-TR" altLang="tr-TR" dirty="0" smtClean="0"/>
              <a:t/>
            </a:r>
            <a:br>
              <a:rPr lang="tr-TR" altLang="tr-TR" dirty="0" smtClean="0"/>
            </a:br>
            <a:r>
              <a:rPr lang="tr-TR" altLang="tr-TR" dirty="0" smtClean="0"/>
              <a:t>a[0] = 'A';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dirty="0" smtClean="0"/>
              <a:t>  /* dizinin bir elemanına değer verir gibi ve tek tırnak içinde ( karakter sabiti) */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b="1"/>
              <a:t>Karakter Dizisinin Herhangi Bir Karakterine Erişme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341438"/>
            <a:ext cx="8229600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tr-TR" altLang="tr-TR" dirty="0" smtClean="0"/>
          </a:p>
          <a:p>
            <a:pPr eaLnBrk="1" hangingPunct="1"/>
            <a:r>
              <a:rPr lang="tr-TR" altLang="tr-TR" dirty="0" smtClean="0"/>
              <a:t>Dizilerde olduğu gibi erişilmek istenen karakterin indisi bildirilir.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dirty="0" smtClean="0"/>
              <a:t>  a[2] = 'G';    b[2] = 'G';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dirty="0" smtClean="0"/>
              <a:t>printf("%c ", b[3]);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dirty="0" smtClean="0"/>
              <a:t>  /*  b'nin 4. elemanını yazar */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/>
              <a:t>    string.h kütüphanesine ait </a:t>
            </a:r>
            <a:br>
              <a:rPr lang="tr-TR" altLang="tr-TR" sz="4000"/>
            </a:br>
            <a:r>
              <a:rPr lang="tr-TR" altLang="tr-TR" sz="4000"/>
              <a:t>bazı fonksiyonlar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int strcmp(char *str1,char *str2);str1 ve str2 yi karşlaştırır. </a:t>
            </a:r>
            <a:br>
              <a:rPr lang="tr-TR" altLang="tr-TR" smtClean="0"/>
            </a:br>
            <a:r>
              <a:rPr lang="tr-TR" altLang="tr-TR" smtClean="0"/>
              <a:t>Eşitse 0, str1 büyükse 0'dan büyük bir değer aksi halde 0'dan küçük bir değer göderir.</a:t>
            </a:r>
          </a:p>
          <a:p>
            <a:pPr eaLnBrk="1" hangingPunct="1"/>
            <a:r>
              <a:rPr lang="tr-TR" altLang="tr-TR" smtClean="0"/>
              <a:t>char *strcpy(char *str1,char*str2);str2 yi str1 e kopyalar.</a:t>
            </a:r>
          </a:p>
          <a:p>
            <a:pPr eaLnBrk="1" hangingPunct="1"/>
            <a:r>
              <a:rPr lang="tr-TR" altLang="tr-TR" smtClean="0"/>
              <a:t>char *strcat(char *str1,char *str2);str2 yi str1 e ekler.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836613"/>
            <a:ext cx="8424862" cy="5400675"/>
          </a:xfrm>
        </p:spPr>
        <p:txBody>
          <a:bodyPr/>
          <a:lstStyle/>
          <a:p>
            <a:pPr eaLnBrk="1" hangingPunct="1"/>
            <a:r>
              <a:rPr lang="tr-TR" altLang="tr-TR" dirty="0" smtClean="0"/>
              <a:t>char *strrev(str);str yi ters çevirir.</a:t>
            </a:r>
          </a:p>
          <a:p>
            <a:pPr eaLnBrk="1" hangingPunct="1"/>
            <a:r>
              <a:rPr lang="tr-TR" altLang="tr-TR" dirty="0" smtClean="0"/>
              <a:t>int strlen(str);str nin kaç karakterden oluştuğunu hesaplar.</a:t>
            </a:r>
          </a:p>
          <a:p>
            <a:pPr eaLnBrk="1" hangingPunct="1"/>
            <a:r>
              <a:rPr lang="tr-TR" altLang="tr-TR" dirty="0" smtClean="0"/>
              <a:t>char *strstr(char *str1,char *str2);str2 katarının str1 içindeki (baştan itibaren) ilk karşılaştığı yeri verir.</a:t>
            </a:r>
          </a:p>
          <a:p>
            <a:pPr eaLnBrk="1" hangingPunct="1"/>
            <a:r>
              <a:rPr lang="tr-TR" altLang="tr-TR" dirty="0" smtClean="0"/>
              <a:t>char *strlwr(char *str);str nin bütün karakterini küçük harfe çevirir.</a:t>
            </a:r>
          </a:p>
          <a:p>
            <a:pPr eaLnBrk="1" hangingPunct="1"/>
            <a:r>
              <a:rPr lang="tr-TR" altLang="tr-TR" dirty="0" smtClean="0"/>
              <a:t>char *strupr(char *str);str nin bütün karakterini büyük harfe çevirir.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 smtClean="0"/>
              <a:t>strrev</a:t>
            </a:r>
            <a:endParaRPr lang="tr-TR" dirty="0"/>
          </a:p>
        </p:txBody>
      </p:sp>
      <p:sp>
        <p:nvSpPr>
          <p:cNvPr id="24579" name="İçerik Yer Tutucusu 2"/>
          <p:cNvSpPr>
            <a:spLocks noGrp="1"/>
          </p:cNvSpPr>
          <p:nvPr>
            <p:ph idx="1"/>
          </p:nvPr>
        </p:nvSpPr>
        <p:spPr>
          <a:xfrm>
            <a:off x="666692" y="2093976"/>
            <a:ext cx="7772400" cy="40513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tr-TR" dirty="0"/>
              <a:t>#include&lt;</a:t>
            </a:r>
            <a:r>
              <a:rPr lang="en-US" altLang="tr-TR" dirty="0" err="1"/>
              <a:t>stdio.h</a:t>
            </a:r>
            <a:r>
              <a:rPr lang="en-US" altLang="tr-TR" dirty="0" smtClean="0"/>
              <a:t>&gt;</a:t>
            </a:r>
            <a:endParaRPr lang="tr-TR" altLang="tr-TR" dirty="0" smtClean="0"/>
          </a:p>
          <a:p>
            <a:pPr marL="0" indent="0" eaLnBrk="1" hangingPunct="1">
              <a:buNone/>
            </a:pPr>
            <a:r>
              <a:rPr lang="en-US" altLang="tr-TR" dirty="0" smtClean="0"/>
              <a:t>#</a:t>
            </a:r>
            <a:r>
              <a:rPr lang="en-US" altLang="tr-TR" dirty="0"/>
              <a:t>include&lt;</a:t>
            </a:r>
            <a:r>
              <a:rPr lang="en-US" altLang="tr-TR" dirty="0" err="1"/>
              <a:t>string.h</a:t>
            </a:r>
            <a:r>
              <a:rPr lang="en-US" altLang="tr-TR" dirty="0"/>
              <a:t>&gt;  </a:t>
            </a:r>
            <a:endParaRPr lang="tr-TR" altLang="tr-TR" dirty="0" smtClean="0"/>
          </a:p>
          <a:p>
            <a:pPr marL="0" indent="0" eaLnBrk="1" hangingPunct="1">
              <a:buNone/>
            </a:pPr>
            <a:r>
              <a:rPr lang="en-US" altLang="tr-TR" dirty="0" err="1" smtClean="0"/>
              <a:t>int</a:t>
            </a:r>
            <a:r>
              <a:rPr lang="en-US" altLang="tr-TR" dirty="0" smtClean="0"/>
              <a:t> </a:t>
            </a:r>
            <a:r>
              <a:rPr lang="en-US" altLang="tr-TR" dirty="0"/>
              <a:t>main(){   </a:t>
            </a:r>
            <a:endParaRPr lang="tr-TR" altLang="tr-TR" dirty="0" smtClean="0"/>
          </a:p>
          <a:p>
            <a:pPr marL="0" indent="0" eaLnBrk="1" hangingPunct="1">
              <a:buNone/>
            </a:pPr>
            <a:r>
              <a:rPr lang="en-US" altLang="tr-TR" dirty="0" smtClean="0"/>
              <a:t>char </a:t>
            </a:r>
            <a:r>
              <a:rPr lang="en-US" altLang="tr-TR" dirty="0" err="1"/>
              <a:t>str</a:t>
            </a:r>
            <a:r>
              <a:rPr lang="en-US" altLang="tr-TR" dirty="0"/>
              <a:t>[50] = "123456789";     </a:t>
            </a:r>
            <a:endParaRPr lang="tr-TR" altLang="tr-TR" dirty="0" smtClean="0"/>
          </a:p>
          <a:p>
            <a:pPr marL="0" indent="0" eaLnBrk="1" hangingPunct="1">
              <a:buNone/>
            </a:pPr>
            <a:r>
              <a:rPr lang="en-US" altLang="tr-TR" dirty="0" err="1" smtClean="0"/>
              <a:t>printf</a:t>
            </a:r>
            <a:r>
              <a:rPr lang="en-US" altLang="tr-TR" dirty="0"/>
              <a:t>("The given string is =%s\n",</a:t>
            </a:r>
            <a:r>
              <a:rPr lang="en-US" altLang="tr-TR" dirty="0" err="1"/>
              <a:t>str</a:t>
            </a:r>
            <a:r>
              <a:rPr lang="en-US" altLang="tr-TR" dirty="0"/>
              <a:t>);     </a:t>
            </a:r>
            <a:endParaRPr lang="tr-TR" altLang="tr-TR" dirty="0" smtClean="0"/>
          </a:p>
          <a:p>
            <a:pPr marL="0" indent="0" eaLnBrk="1" hangingPunct="1">
              <a:buNone/>
            </a:pPr>
            <a:r>
              <a:rPr lang="en-US" altLang="tr-TR" dirty="0" err="1" smtClean="0"/>
              <a:t>printf</a:t>
            </a:r>
            <a:r>
              <a:rPr lang="en-US" altLang="tr-TR" dirty="0"/>
              <a:t>("After reversing string is =%s",</a:t>
            </a:r>
            <a:r>
              <a:rPr lang="en-US" altLang="tr-TR" dirty="0" err="1"/>
              <a:t>strrev</a:t>
            </a:r>
            <a:r>
              <a:rPr lang="en-US" altLang="tr-TR" dirty="0"/>
              <a:t>(</a:t>
            </a:r>
            <a:r>
              <a:rPr lang="en-US" altLang="tr-TR" dirty="0" err="1"/>
              <a:t>str</a:t>
            </a:r>
            <a:r>
              <a:rPr lang="en-US" altLang="tr-TR" dirty="0"/>
              <a:t>));     </a:t>
            </a:r>
            <a:endParaRPr lang="tr-TR" altLang="tr-TR" dirty="0" smtClean="0"/>
          </a:p>
          <a:p>
            <a:pPr marL="0" indent="0" eaLnBrk="1" hangingPunct="1">
              <a:buNone/>
            </a:pPr>
            <a:r>
              <a:rPr lang="en-US" altLang="tr-TR" dirty="0" smtClean="0"/>
              <a:t>return </a:t>
            </a:r>
            <a:r>
              <a:rPr lang="en-US" altLang="tr-TR" dirty="0"/>
              <a:t>0;}</a:t>
            </a:r>
            <a:endParaRPr lang="tr-TR" altLang="tr-TR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27088" y="484188"/>
            <a:ext cx="7631112" cy="28098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dirty="0" smtClean="0">
                <a:solidFill>
                  <a:srgbClr val="FF0000"/>
                </a:solidFill>
              </a:rPr>
              <a:t>Hazır fonksiyon kullanmadan NASIL YAPILIR?:EV ÖDEVİ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4213" y="1196975"/>
            <a:ext cx="7918450" cy="5119688"/>
          </a:xfrm>
        </p:spPr>
        <p:txBody>
          <a:bodyPr rtlCol="0">
            <a:normAutofit fontScale="70000" lnSpcReduction="20000"/>
          </a:bodyPr>
          <a:lstStyle/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string.h</a:t>
            </a:r>
            <a:r>
              <a:rPr lang="tr-TR" dirty="0"/>
              <a:t>&gt;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 err="1"/>
              <a:t>char</a:t>
            </a:r>
            <a:r>
              <a:rPr lang="tr-TR" dirty="0"/>
              <a:t> *strrev_1(</a:t>
            </a:r>
            <a:r>
              <a:rPr lang="tr-TR" dirty="0" err="1"/>
              <a:t>char</a:t>
            </a:r>
            <a:r>
              <a:rPr lang="tr-TR" dirty="0"/>
              <a:t> *</a:t>
            </a:r>
            <a:r>
              <a:rPr lang="tr-TR" dirty="0" err="1"/>
              <a:t>str</a:t>
            </a:r>
            <a:r>
              <a:rPr lang="tr-TR" dirty="0"/>
              <a:t>);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 err="1"/>
              <a:t>int</a:t>
            </a:r>
            <a:r>
              <a:rPr lang="tr-TR" dirty="0"/>
              <a:t> main()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{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</a:t>
            </a:r>
            <a:r>
              <a:rPr lang="tr-TR" dirty="0" err="1"/>
              <a:t>char</a:t>
            </a:r>
            <a:r>
              <a:rPr lang="tr-TR" dirty="0"/>
              <a:t> a[80];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enter</a:t>
            </a:r>
            <a:r>
              <a:rPr lang="tr-TR" dirty="0"/>
              <a:t> a </a:t>
            </a:r>
            <a:r>
              <a:rPr lang="tr-TR" dirty="0" err="1"/>
              <a:t>string</a:t>
            </a:r>
            <a:r>
              <a:rPr lang="tr-TR" dirty="0"/>
              <a:t>: ");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</a:t>
            </a:r>
            <a:r>
              <a:rPr lang="tr-TR" dirty="0" err="1"/>
              <a:t>gets</a:t>
            </a:r>
            <a:r>
              <a:rPr lang="tr-TR" dirty="0"/>
              <a:t>(a);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</a:t>
            </a:r>
            <a:r>
              <a:rPr lang="tr-TR" dirty="0" err="1"/>
              <a:t>printf</a:t>
            </a:r>
            <a:r>
              <a:rPr lang="tr-TR" dirty="0"/>
              <a:t>("%s\n", a);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strrev_1(a);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</a:t>
            </a:r>
            <a:r>
              <a:rPr lang="tr-TR" dirty="0" err="1"/>
              <a:t>printf</a:t>
            </a:r>
            <a:r>
              <a:rPr lang="tr-TR" dirty="0"/>
              <a:t>("%s\n", a);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</a:t>
            </a:r>
            <a:r>
              <a:rPr lang="tr-TR" dirty="0" err="1"/>
              <a:t>return</a:t>
            </a:r>
            <a:r>
              <a:rPr lang="tr-TR" dirty="0"/>
              <a:t> 0;}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 err="1"/>
              <a:t>char</a:t>
            </a:r>
            <a:r>
              <a:rPr lang="tr-TR" dirty="0"/>
              <a:t> *strrev_1(</a:t>
            </a:r>
            <a:r>
              <a:rPr lang="tr-TR" dirty="0" err="1"/>
              <a:t>char</a:t>
            </a:r>
            <a:r>
              <a:rPr lang="tr-TR" dirty="0"/>
              <a:t> *</a:t>
            </a:r>
            <a:r>
              <a:rPr lang="tr-TR" dirty="0" err="1"/>
              <a:t>str</a:t>
            </a:r>
            <a:r>
              <a:rPr lang="tr-TR" dirty="0"/>
              <a:t>)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{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</a:t>
            </a:r>
            <a:r>
              <a:rPr lang="tr-TR" dirty="0" err="1"/>
              <a:t>int</a:t>
            </a:r>
            <a:r>
              <a:rPr lang="tr-TR" dirty="0"/>
              <a:t> i, j = </a:t>
            </a:r>
            <a:r>
              <a:rPr lang="tr-TR" dirty="0" err="1"/>
              <a:t>strlen</a:t>
            </a:r>
            <a:r>
              <a:rPr lang="tr-TR" dirty="0"/>
              <a:t>(</a:t>
            </a:r>
            <a:r>
              <a:rPr lang="tr-TR" dirty="0" err="1"/>
              <a:t>str</a:t>
            </a:r>
            <a:r>
              <a:rPr lang="tr-TR" dirty="0"/>
              <a:t>) - 1, </a:t>
            </a:r>
            <a:r>
              <a:rPr lang="tr-TR" dirty="0" err="1"/>
              <a:t>ch</a:t>
            </a:r>
            <a:r>
              <a:rPr lang="tr-TR" dirty="0"/>
              <a:t>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</a:t>
            </a:r>
            <a:r>
              <a:rPr lang="tr-TR" dirty="0" err="1"/>
              <a:t>for</a:t>
            </a:r>
            <a:r>
              <a:rPr lang="tr-TR" dirty="0"/>
              <a:t> (i = 0; i &lt; j; i++, j--) {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   </a:t>
            </a:r>
            <a:r>
              <a:rPr lang="tr-TR" dirty="0" err="1"/>
              <a:t>ch</a:t>
            </a:r>
            <a:r>
              <a:rPr lang="tr-TR" dirty="0"/>
              <a:t> = </a:t>
            </a:r>
            <a:r>
              <a:rPr lang="tr-TR" dirty="0" err="1"/>
              <a:t>str</a:t>
            </a:r>
            <a:r>
              <a:rPr lang="tr-TR" dirty="0"/>
              <a:t>[i];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   </a:t>
            </a:r>
            <a:r>
              <a:rPr lang="tr-TR" dirty="0" err="1"/>
              <a:t>str</a:t>
            </a:r>
            <a:r>
              <a:rPr lang="tr-TR" dirty="0"/>
              <a:t>[i] = </a:t>
            </a:r>
            <a:r>
              <a:rPr lang="tr-TR" dirty="0" err="1"/>
              <a:t>str</a:t>
            </a:r>
            <a:r>
              <a:rPr lang="tr-TR" dirty="0"/>
              <a:t>[j];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   </a:t>
            </a:r>
            <a:r>
              <a:rPr lang="tr-TR" dirty="0" err="1"/>
              <a:t>str</a:t>
            </a:r>
            <a:r>
              <a:rPr lang="tr-TR" dirty="0"/>
              <a:t>[j] = </a:t>
            </a:r>
            <a:r>
              <a:rPr lang="tr-TR" dirty="0" err="1"/>
              <a:t>ch</a:t>
            </a:r>
            <a:r>
              <a:rPr lang="tr-TR" dirty="0"/>
              <a:t>;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}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</a:t>
            </a:r>
            <a:r>
              <a:rPr lang="tr-TR" dirty="0" err="1"/>
              <a:t>return</a:t>
            </a:r>
            <a:r>
              <a:rPr lang="tr-TR" dirty="0"/>
              <a:t> </a:t>
            </a:r>
            <a:r>
              <a:rPr lang="tr-TR" dirty="0" err="1"/>
              <a:t>str</a:t>
            </a:r>
            <a:r>
              <a:rPr lang="tr-TR" dirty="0"/>
              <a:t>;}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3524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dirty="0"/>
              <a:t>strcat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11188" y="1196975"/>
            <a:ext cx="7847012" cy="4975225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string.h</a:t>
            </a:r>
            <a:r>
              <a:rPr lang="tr-TR" dirty="0"/>
              <a:t>&gt;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pt-BR" dirty="0"/>
              <a:t>int main( ){   </a:t>
            </a:r>
            <a:endParaRPr lang="tr-TR" dirty="0" smtClean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pt-BR" dirty="0" smtClean="0"/>
              <a:t>char </a:t>
            </a:r>
            <a:r>
              <a:rPr lang="pt-BR" dirty="0"/>
              <a:t>s1[50 ] = "Marmara" ;  </a:t>
            </a:r>
            <a:endParaRPr lang="tr-TR" dirty="0" smtClean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pt-BR" dirty="0" smtClean="0"/>
              <a:t> </a:t>
            </a:r>
            <a:r>
              <a:rPr lang="pt-BR" dirty="0"/>
              <a:t>char s2[50 ]= "Universitesi" ;    </a:t>
            </a:r>
            <a:endParaRPr lang="tr-TR" dirty="0" smtClean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pt-BR" dirty="0" smtClean="0"/>
              <a:t>printf </a:t>
            </a:r>
            <a:r>
              <a:rPr lang="pt-BR" dirty="0"/>
              <a:t>( "\n Kaynak = %s", s1 ) ;   </a:t>
            </a:r>
            <a:endParaRPr lang="tr-TR" dirty="0" smtClean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pt-BR" dirty="0" smtClean="0"/>
              <a:t>printf </a:t>
            </a:r>
            <a:r>
              <a:rPr lang="pt-BR" dirty="0"/>
              <a:t>( "\n Hedef= %s", s2 ) ;   strcat ( s1, s2 ) ;   </a:t>
            </a:r>
            <a:endParaRPr lang="tr-TR" dirty="0" smtClean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pt-BR" dirty="0" smtClean="0"/>
              <a:t>printf </a:t>
            </a:r>
            <a:r>
              <a:rPr lang="pt-BR" dirty="0"/>
              <a:t>( "\n( s1) = %s", s1 ) ;   </a:t>
            </a:r>
            <a:endParaRPr lang="tr-TR" dirty="0" smtClean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pt-BR" dirty="0" smtClean="0"/>
              <a:t>printf </a:t>
            </a:r>
            <a:r>
              <a:rPr lang="pt-BR" dirty="0"/>
              <a:t>( "\n( s2) = %s", s2 ) </a:t>
            </a:r>
            <a:r>
              <a:rPr lang="pt-BR" dirty="0" smtClean="0"/>
              <a:t>;</a:t>
            </a:r>
            <a:endParaRPr lang="tr-TR" dirty="0" smtClean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tr-TR" dirty="0"/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dirty="0" err="1"/>
              <a:t>strcpy</a:t>
            </a:r>
            <a:r>
              <a:rPr lang="tr-TR" dirty="0"/>
              <a:t> ( s2, s1 </a:t>
            </a:r>
            <a:r>
              <a:rPr lang="tr-TR" dirty="0" smtClean="0"/>
              <a:t>)     (s1’den s2’ye kopyalar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string.h</a:t>
            </a:r>
            <a:r>
              <a:rPr lang="tr-TR" dirty="0"/>
              <a:t>&gt;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 err="1"/>
              <a:t>int</a:t>
            </a:r>
            <a:r>
              <a:rPr lang="tr-TR" dirty="0"/>
              <a:t> main( )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{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</a:t>
            </a:r>
            <a:r>
              <a:rPr lang="tr-TR" dirty="0" err="1"/>
              <a:t>char</a:t>
            </a:r>
            <a:r>
              <a:rPr lang="tr-TR" dirty="0"/>
              <a:t> s1[50] = "Marmara </a:t>
            </a:r>
            <a:r>
              <a:rPr lang="tr-TR" dirty="0" err="1"/>
              <a:t>Universitesi</a:t>
            </a:r>
            <a:r>
              <a:rPr lang="tr-TR" dirty="0"/>
              <a:t>" 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</a:t>
            </a:r>
            <a:r>
              <a:rPr lang="tr-TR" dirty="0" err="1"/>
              <a:t>char</a:t>
            </a:r>
            <a:r>
              <a:rPr lang="tr-TR" dirty="0"/>
              <a:t> s2[50];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</a:t>
            </a:r>
            <a:r>
              <a:rPr lang="tr-TR" dirty="0" err="1"/>
              <a:t>strcpy</a:t>
            </a:r>
            <a:r>
              <a:rPr lang="tr-TR" dirty="0"/>
              <a:t> ( s2, s1 ) 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</a:t>
            </a:r>
            <a:r>
              <a:rPr lang="tr-TR" dirty="0" err="1"/>
              <a:t>printf</a:t>
            </a:r>
            <a:r>
              <a:rPr lang="tr-TR" dirty="0"/>
              <a:t> ( "\n( s1) = %s", s1 ) 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</a:t>
            </a:r>
            <a:r>
              <a:rPr lang="tr-TR" dirty="0" err="1"/>
              <a:t>printf</a:t>
            </a:r>
            <a:r>
              <a:rPr lang="tr-TR" dirty="0"/>
              <a:t> ( "\n( s2) = %s", s2 ) ;}</a:t>
            </a:r>
          </a:p>
        </p:txBody>
      </p:sp>
      <p:sp>
        <p:nvSpPr>
          <p:cNvPr id="6" name="Bükülü Ok 5"/>
          <p:cNvSpPr/>
          <p:nvPr/>
        </p:nvSpPr>
        <p:spPr>
          <a:xfrm flipH="1">
            <a:off x="2124075" y="280988"/>
            <a:ext cx="2232025" cy="1008062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71550" y="333375"/>
            <a:ext cx="7415213" cy="566738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39750" y="1196975"/>
            <a:ext cx="7918450" cy="4975225"/>
          </a:xfrm>
        </p:spPr>
        <p:txBody>
          <a:bodyPr rtlCol="0">
            <a:normAutofit fontScale="92500" lnSpcReduction="10000"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&lt;</a:t>
            </a:r>
            <a:r>
              <a:rPr lang="tr-TR" dirty="0" err="1"/>
              <a:t>stdio.h</a:t>
            </a:r>
            <a:r>
              <a:rPr lang="tr-TR" dirty="0"/>
              <a:t>&gt;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&lt;</a:t>
            </a:r>
            <a:r>
              <a:rPr lang="tr-TR" dirty="0" err="1"/>
              <a:t>string.h</a:t>
            </a:r>
            <a:r>
              <a:rPr lang="tr-TR" dirty="0"/>
              <a:t>&gt;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 err="1"/>
              <a:t>int</a:t>
            </a:r>
            <a:r>
              <a:rPr lang="tr-TR" dirty="0"/>
              <a:t> main()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{   </a:t>
            </a:r>
            <a:r>
              <a:rPr lang="tr-TR" dirty="0" err="1"/>
              <a:t>char</a:t>
            </a:r>
            <a:r>
              <a:rPr lang="tr-TR" dirty="0"/>
              <a:t> </a:t>
            </a:r>
            <a:r>
              <a:rPr lang="tr-TR" dirty="0" err="1"/>
              <a:t>leftStr</a:t>
            </a:r>
            <a:r>
              <a:rPr lang="tr-TR" dirty="0"/>
              <a:t>[] = "</a:t>
            </a:r>
            <a:r>
              <a:rPr lang="tr-TR" dirty="0" err="1"/>
              <a:t>aag</a:t>
            </a:r>
            <a:r>
              <a:rPr lang="tr-TR" dirty="0"/>
              <a:t>";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</a:t>
            </a:r>
            <a:r>
              <a:rPr lang="tr-TR" dirty="0" err="1"/>
              <a:t>rightStr</a:t>
            </a:r>
            <a:r>
              <a:rPr lang="tr-TR" dirty="0"/>
              <a:t>[] ="</a:t>
            </a:r>
            <a:r>
              <a:rPr lang="tr-TR" dirty="0" err="1"/>
              <a:t>azg</a:t>
            </a:r>
            <a:r>
              <a:rPr lang="tr-TR" dirty="0"/>
              <a:t>";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 </a:t>
            </a:r>
            <a:r>
              <a:rPr lang="tr-TR" dirty="0" err="1"/>
              <a:t>int</a:t>
            </a:r>
            <a:r>
              <a:rPr lang="tr-TR" dirty="0"/>
              <a:t> </a:t>
            </a:r>
            <a:r>
              <a:rPr lang="tr-TR" dirty="0" err="1"/>
              <a:t>res</a:t>
            </a:r>
            <a:r>
              <a:rPr lang="tr-TR" dirty="0"/>
              <a:t> = </a:t>
            </a:r>
            <a:r>
              <a:rPr lang="tr-TR" dirty="0" err="1"/>
              <a:t>strcmp</a:t>
            </a:r>
            <a:r>
              <a:rPr lang="tr-TR" dirty="0"/>
              <a:t>(</a:t>
            </a:r>
            <a:r>
              <a:rPr lang="tr-TR" dirty="0" err="1"/>
              <a:t>leftStr</a:t>
            </a:r>
            <a:r>
              <a:rPr lang="tr-TR" dirty="0"/>
              <a:t>, </a:t>
            </a:r>
            <a:r>
              <a:rPr lang="tr-TR" dirty="0" err="1"/>
              <a:t>rightStr</a:t>
            </a:r>
            <a:r>
              <a:rPr lang="tr-TR" dirty="0"/>
              <a:t>); 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 </a:t>
            </a:r>
            <a:r>
              <a:rPr lang="tr-TR" dirty="0" err="1"/>
              <a:t>if</a:t>
            </a:r>
            <a:r>
              <a:rPr lang="tr-TR" dirty="0"/>
              <a:t> (</a:t>
            </a:r>
            <a:r>
              <a:rPr lang="tr-TR" dirty="0" err="1"/>
              <a:t>res</a:t>
            </a:r>
            <a:r>
              <a:rPr lang="tr-TR" dirty="0"/>
              <a:t>==0)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  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Esit</a:t>
            </a:r>
            <a:r>
              <a:rPr lang="tr-TR" dirty="0"/>
              <a:t>");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 else </a:t>
            </a:r>
            <a:r>
              <a:rPr lang="tr-TR" dirty="0" err="1"/>
              <a:t>if</a:t>
            </a:r>
            <a:r>
              <a:rPr lang="tr-TR" dirty="0"/>
              <a:t>(</a:t>
            </a:r>
            <a:r>
              <a:rPr lang="tr-TR" dirty="0" err="1"/>
              <a:t>res</a:t>
            </a:r>
            <a:r>
              <a:rPr lang="tr-TR" dirty="0"/>
              <a:t>&gt;0)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     </a:t>
            </a:r>
            <a:r>
              <a:rPr lang="tr-TR" dirty="0" err="1"/>
              <a:t>printf</a:t>
            </a:r>
            <a:r>
              <a:rPr lang="tr-TR" dirty="0"/>
              <a:t>("BUYUK");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 smtClean="0"/>
              <a:t>    else </a:t>
            </a:r>
            <a:endParaRPr lang="tr-TR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 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kucuk</a:t>
            </a:r>
            <a:r>
              <a:rPr lang="tr-TR" dirty="0"/>
              <a:t>");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("\n </a:t>
            </a:r>
            <a:r>
              <a:rPr lang="tr-TR" dirty="0" err="1"/>
              <a:t>strcmp</a:t>
            </a:r>
            <a:r>
              <a:rPr lang="tr-TR" dirty="0"/>
              <a:t>() den donen </a:t>
            </a:r>
            <a:r>
              <a:rPr lang="tr-TR" dirty="0" err="1"/>
              <a:t>deger</a:t>
            </a:r>
            <a:r>
              <a:rPr lang="tr-TR" dirty="0"/>
              <a:t>:  %d" , </a:t>
            </a:r>
            <a:r>
              <a:rPr lang="tr-TR" dirty="0" err="1"/>
              <a:t>res</a:t>
            </a:r>
            <a:r>
              <a:rPr lang="tr-TR" dirty="0"/>
              <a:t>);  }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tr-T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3524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5800" y="1052513"/>
            <a:ext cx="7989888" cy="5329237"/>
          </a:xfrm>
        </p:spPr>
        <p:txBody>
          <a:bodyPr rtlCol="0">
            <a:normAutofit fontScale="85000" lnSpcReduction="20000"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tr-TR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string.h</a:t>
            </a:r>
            <a:r>
              <a:rPr lang="tr-TR" dirty="0"/>
              <a:t>&gt;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 err="1"/>
              <a:t>int</a:t>
            </a:r>
            <a:r>
              <a:rPr lang="tr-TR" dirty="0"/>
              <a:t> main()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{   </a:t>
            </a:r>
            <a:r>
              <a:rPr lang="tr-TR" dirty="0" err="1"/>
              <a:t>char</a:t>
            </a:r>
            <a:r>
              <a:rPr lang="tr-TR" dirty="0"/>
              <a:t> s1[] = "Okulu </a:t>
            </a:r>
            <a:r>
              <a:rPr lang="tr-TR" dirty="0" err="1"/>
              <a:t>cok</a:t>
            </a:r>
            <a:r>
              <a:rPr lang="tr-TR" dirty="0"/>
              <a:t> </a:t>
            </a:r>
            <a:r>
              <a:rPr lang="tr-TR" dirty="0" err="1"/>
              <a:t>Ozledik</a:t>
            </a:r>
            <a:r>
              <a:rPr lang="tr-TR" dirty="0"/>
              <a:t>";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s2[] = "</a:t>
            </a:r>
            <a:r>
              <a:rPr lang="tr-TR" dirty="0" err="1"/>
              <a:t>cok</a:t>
            </a:r>
            <a:r>
              <a:rPr lang="tr-TR" dirty="0"/>
              <a:t>";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* p;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 p = </a:t>
            </a:r>
            <a:r>
              <a:rPr lang="tr-TR" dirty="0" err="1"/>
              <a:t>strstr</a:t>
            </a:r>
            <a:r>
              <a:rPr lang="tr-TR" dirty="0"/>
              <a:t>(s1, s2);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 </a:t>
            </a:r>
            <a:r>
              <a:rPr lang="tr-TR" dirty="0" err="1"/>
              <a:t>if</a:t>
            </a:r>
            <a:r>
              <a:rPr lang="tr-TR" dirty="0"/>
              <a:t> (p) {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     </a:t>
            </a:r>
            <a:r>
              <a:rPr lang="tr-TR" dirty="0" err="1"/>
              <a:t>printf</a:t>
            </a:r>
            <a:r>
              <a:rPr lang="tr-TR" dirty="0"/>
              <a:t>("Bulundu \n");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  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Ilk</a:t>
            </a:r>
            <a:r>
              <a:rPr lang="tr-TR" dirty="0"/>
              <a:t> </a:t>
            </a:r>
            <a:r>
              <a:rPr lang="tr-TR" dirty="0" err="1"/>
              <a:t>gectigi</a:t>
            </a:r>
            <a:r>
              <a:rPr lang="tr-TR" dirty="0"/>
              <a:t> </a:t>
            </a:r>
            <a:r>
              <a:rPr lang="tr-TR" dirty="0" err="1"/>
              <a:t>yer'%s</a:t>
            </a:r>
            <a:r>
              <a:rPr lang="tr-TR" dirty="0"/>
              <a:t>' un '%s' donen </a:t>
            </a:r>
            <a:r>
              <a:rPr lang="tr-TR" dirty="0" err="1"/>
              <a:t>deger</a:t>
            </a:r>
            <a:r>
              <a:rPr lang="tr-TR" dirty="0"/>
              <a:t>= '%s'", s2, s1, p);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 } else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    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Bulunamadi</a:t>
            </a:r>
            <a:r>
              <a:rPr lang="tr-TR" dirty="0"/>
              <a:t>\n"); 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tr-TR"/>
          </a:p>
        </p:txBody>
      </p:sp>
      <p:sp>
        <p:nvSpPr>
          <p:cNvPr id="3072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#include&lt;stdio.h&gt;</a:t>
            </a:r>
          </a:p>
          <a:p>
            <a:pPr eaLnBrk="1" hangingPunct="1"/>
            <a:r>
              <a:rPr lang="tr-TR" altLang="tr-TR" smtClean="0"/>
              <a:t>#include&lt;string.h&gt;</a:t>
            </a:r>
          </a:p>
          <a:p>
            <a:pPr eaLnBrk="1" hangingPunct="1"/>
            <a:r>
              <a:rPr lang="tr-TR" altLang="tr-TR" smtClean="0"/>
              <a:t>int main()</a:t>
            </a:r>
          </a:p>
          <a:p>
            <a:pPr eaLnBrk="1" hangingPunct="1"/>
            <a:r>
              <a:rPr lang="tr-TR" altLang="tr-TR" smtClean="0"/>
              <a:t>{</a:t>
            </a:r>
          </a:p>
          <a:p>
            <a:pPr eaLnBrk="1" hangingPunct="1"/>
            <a:r>
              <a:rPr lang="tr-TR" altLang="tr-TR" smtClean="0"/>
              <a:t>    char str[ ] = "Degisecek BUYUK HARFLI METIN";</a:t>
            </a:r>
          </a:p>
          <a:p>
            <a:pPr eaLnBrk="1" hangingPunct="1"/>
            <a:r>
              <a:rPr lang="tr-TR" altLang="tr-TR" smtClean="0"/>
              <a:t>    printf("%s\n",strlwr (str));</a:t>
            </a:r>
          </a:p>
          <a:p>
            <a:pPr eaLnBrk="1" hangingPunct="1"/>
            <a:r>
              <a:rPr lang="tr-TR" altLang="tr-TR" smtClean="0"/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tr-TR"/>
          </a:p>
        </p:txBody>
      </p:sp>
      <p:sp>
        <p:nvSpPr>
          <p:cNvPr id="31747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	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#include&lt;stdio.h&gt;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#include&lt;string.h&gt;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int main()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{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    char str[ ] = "Degisecek BUYUK HARFLI METIN";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    printf("%s\n",strupr (str));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-14840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dirty="0"/>
              <a:t>Örnekler</a:t>
            </a:r>
          </a:p>
        </p:txBody>
      </p:sp>
      <p:sp>
        <p:nvSpPr>
          <p:cNvPr id="86032" name="Rectangle 16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8229600" cy="4530725"/>
          </a:xfrm>
        </p:spPr>
        <p:txBody>
          <a:bodyPr rtlCol="0">
            <a:normAutofit fontScale="92500" lnSpcReduction="20000"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#include &lt;stdio.h&gt;  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int main()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{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int i;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char kelime[3]; 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kelime[0]= 'a';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kelime[1]= 'b';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 smtClean="0"/>
              <a:t>kelime[2</a:t>
            </a:r>
            <a:r>
              <a:rPr lang="tr-TR" altLang="tr-TR" sz="2400" i="1" dirty="0"/>
              <a:t>]= 'c'; </a:t>
            </a:r>
            <a:r>
              <a:rPr lang="tr-TR" altLang="tr-TR" sz="2400" dirty="0"/>
              <a:t> </a:t>
            </a:r>
            <a:r>
              <a:rPr lang="tr-TR" altLang="tr-TR" sz="2400" i="1" dirty="0"/>
              <a:t> 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for(i=0;i&lt;3; i++)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{</a:t>
            </a:r>
            <a:r>
              <a:rPr lang="tr-TR" altLang="tr-TR" sz="2400" dirty="0"/>
              <a:t> </a:t>
            </a:r>
            <a:r>
              <a:rPr lang="tr-TR" altLang="tr-TR" sz="2400" i="1" dirty="0"/>
              <a:t>printf("index %d : %c", i,kelime[i]);</a:t>
            </a:r>
            <a:r>
              <a:rPr lang="tr-TR" altLang="tr-TR" sz="2400" dirty="0"/>
              <a:t> </a:t>
            </a:r>
            <a:r>
              <a:rPr lang="tr-TR" altLang="tr-TR" sz="2400" i="1" dirty="0"/>
              <a:t>}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return 0;</a:t>
            </a:r>
            <a:r>
              <a:rPr lang="tr-TR" altLang="tr-TR" sz="2400" dirty="0"/>
              <a:t> </a:t>
            </a:r>
            <a:r>
              <a:rPr lang="tr-TR" altLang="tr-TR" sz="2400" i="1" dirty="0"/>
              <a:t>} </a:t>
            </a:r>
            <a:r>
              <a:rPr lang="tr-TR" altLang="tr-TR" sz="2400" dirty="0"/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Buradaki örneğimizde öncelikle 3 boyutunda bir string tanımladık. </a:t>
            </a:r>
          </a:p>
          <a:p>
            <a:pPr eaLnBrk="1" hangingPunct="1"/>
            <a:r>
              <a:rPr lang="tr-TR" altLang="tr-TR" smtClean="0"/>
              <a:t>Ardından sırayla stringin elemanlarını doldurduk. </a:t>
            </a:r>
          </a:p>
          <a:p>
            <a:pPr eaLnBrk="1" hangingPunct="1"/>
            <a:r>
              <a:rPr lang="tr-TR" altLang="tr-TR" smtClean="0"/>
              <a:t>Son olarakta bunları bir döngüyle kullanıcıya geri bastırdık.  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Stringleri bu şekilde karakter karakter doldurmak çok yorucu bir iş.</a:t>
            </a:r>
          </a:p>
          <a:p>
            <a:pPr eaLnBrk="1" hangingPunct="1"/>
            <a:r>
              <a:rPr lang="tr-TR" altLang="tr-TR" smtClean="0"/>
              <a:t> Bunun yerine biz gets() fonksiyonunu kullanacağız. </a:t>
            </a:r>
          </a:p>
          <a:p>
            <a:pPr eaLnBrk="1" hangingPunct="1"/>
            <a:r>
              <a:rPr lang="tr-TR" altLang="tr-TR" smtClean="0"/>
              <a:t>Şimdiki örneğimizi gets fonksiyonu kullanarak yapalım.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#include &lt;stdio.h&gt;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#include &lt;string.h&gt; </a:t>
            </a:r>
            <a:r>
              <a:rPr lang="tr-TR" altLang="tr-TR" sz="2400" dirty="0"/>
              <a:t> </a:t>
            </a:r>
            <a:endParaRPr lang="tr-TR" altLang="tr-TR" sz="2400" i="1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main()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{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int i;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char kelime[100]; 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printf("Bir kelime giriniz\n");</a:t>
            </a:r>
            <a:r>
              <a:rPr lang="tr-TR" altLang="tr-TR" sz="2400" dirty="0"/>
              <a:t> </a:t>
            </a:r>
            <a:r>
              <a:rPr lang="tr-TR" altLang="tr-TR" sz="2400" i="1" dirty="0"/>
              <a:t>gets(kelime); 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printf("%s", kelime);</a:t>
            </a:r>
            <a:r>
              <a:rPr lang="tr-TR" altLang="tr-TR" sz="2400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i="1" dirty="0"/>
              <a:t>return 0;</a:t>
            </a:r>
            <a:r>
              <a:rPr lang="tr-TR" altLang="tr-TR" sz="2400" dirty="0"/>
              <a:t> </a:t>
            </a:r>
            <a:r>
              <a:rPr lang="tr-TR" altLang="tr-TR" sz="2400" i="1" dirty="0"/>
              <a:t>} </a:t>
            </a:r>
            <a:r>
              <a:rPr lang="tr-TR" altLang="tr-TR" sz="2400" dirty="0"/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125538"/>
            <a:ext cx="8229600" cy="4530725"/>
          </a:xfrm>
        </p:spPr>
        <p:txBody>
          <a:bodyPr/>
          <a:lstStyle/>
          <a:p>
            <a:pPr eaLnBrk="1" hangingPunct="1"/>
            <a:r>
              <a:rPr lang="tr-TR" altLang="tr-TR" sz="2800" smtClean="0"/>
              <a:t>Kodumuza bakacak olursak bir string tanımladık 100 boyutunda. (En fazla 100 boyutunda bir kelime girilebilir).</a:t>
            </a:r>
          </a:p>
          <a:p>
            <a:pPr eaLnBrk="1" hangingPunct="1"/>
            <a:r>
              <a:rPr lang="tr-TR" altLang="tr-TR" sz="2800" smtClean="0"/>
              <a:t> Gets fonksiyonunun kullanımı gördüğünüz gibi çok kolay. </a:t>
            </a:r>
          </a:p>
          <a:p>
            <a:pPr eaLnBrk="1" hangingPunct="1"/>
            <a:r>
              <a:rPr lang="tr-TR" altLang="tr-TR" sz="2800" smtClean="0"/>
              <a:t>Sadece içine string ismini yollamak yeterli oluyor. Ardındansa stringimizi ekrana bastırdık.</a:t>
            </a:r>
          </a:p>
          <a:p>
            <a:pPr eaLnBrk="1" hangingPunct="1"/>
            <a:r>
              <a:rPr lang="tr-TR" altLang="tr-TR" sz="2800" smtClean="0"/>
              <a:t>Bunun için geçen seferki gibi döngü kullanmadık , sadece tek bir printfle %s (string olduğunu belirtir) kullanarak bastırdık. 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398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i="1"/>
              <a:t>Bir string i farklı yöntemlerle ekrana yazdırılması</a:t>
            </a:r>
            <a:r>
              <a:rPr lang="tr-TR" altLang="tr-TR" sz="4000"/>
              <a:t> 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435975" cy="54292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#include &lt;stdio.h&gt;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tr-TR" altLang="tr-TR" sz="1600" dirty="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int main()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char dizi[7] = {'S', 'e', 'l', 'a', 'm', '!', '\0'};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int i;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tr-TR" altLang="tr-TR" sz="1600" dirty="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/* Herbir karakteri ayrı ayrı alt alta yaz */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printf("Dizi elemanlari:\n");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for (i=0; i&lt;7; i++)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   printf("dizi[%d] icerigi: %c\n", i, dizi[i]);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printf("\n");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tr-TR" altLang="tr-TR" sz="1600" dirty="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/* 1. yöntem: her elemanı yanyana yaz */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printf( "Butun dizi (1.yontem): ");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for (i=0; i&lt;7; i++)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   printf("%c", dizi[i]);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tr-TR" altLang="tr-TR" sz="1600" dirty="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/* 2. Yöntem: bütün diziyi yaz */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printf("\nButun dizi (2.yontem): ");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printf("%s\n", dizi);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tr-TR" altLang="tr-TR" sz="1600" dirty="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    printf("\n");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tr-TR" altLang="tr-TR" sz="1600" dirty="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 return 0;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600" dirty="0" smtClean="0"/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/>
              <a:t>ÇIKTI</a:t>
            </a:r>
            <a:br>
              <a:rPr lang="tr-TR" altLang="tr-TR" sz="4000"/>
            </a:br>
            <a:endParaRPr lang="tr-TR" altLang="tr-TR" sz="4000"/>
          </a:p>
        </p:txBody>
      </p:sp>
      <p:sp>
        <p:nvSpPr>
          <p:cNvPr id="108549" name="Rectangle 5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tr-TR" altLang="tr-TR" sz="2400"/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Dizi elemanlari: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dizi[0] icerigi: S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dizi[1] icerigi: e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dizi[2] icerigi: l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dizi[3] icerigi: a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dizi[4] icerigi: m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dizi[5] icerigi: !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dizi[6] icerigi: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tr-TR" altLang="tr-TR" sz="2400"/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Butun dizi (1.yontem): Selam!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Butun dizi (2.yontem): Selam!</a:t>
            </a:r>
          </a:p>
        </p:txBody>
      </p:sp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468313" y="1628775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 smtClean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b="1" dirty="0"/>
              <a:t>Bir </a:t>
            </a:r>
            <a:r>
              <a:rPr lang="tr-TR" altLang="tr-TR" sz="4000" b="1" dirty="0" err="1"/>
              <a:t>string</a:t>
            </a:r>
            <a:r>
              <a:rPr lang="tr-TR" altLang="tr-TR" sz="4000" b="1" dirty="0"/>
              <a:t> içinde 'm' karakterinin sayısını öğrenme 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tr-TR" altLang="tr-TR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dirty="0" smtClean="0"/>
              <a:t>Dinamik bellek kullanımı ile çözüm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stdlib.h</a:t>
            </a:r>
            <a:r>
              <a:rPr lang="tr-TR" dirty="0"/>
              <a:t>&gt;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 err="1"/>
              <a:t>int</a:t>
            </a:r>
            <a:r>
              <a:rPr lang="tr-TR" dirty="0"/>
              <a:t> main()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{  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 err="1"/>
              <a:t>char</a:t>
            </a:r>
            <a:r>
              <a:rPr lang="tr-TR" dirty="0"/>
              <a:t> *</a:t>
            </a:r>
            <a:r>
              <a:rPr lang="tr-TR" dirty="0" err="1"/>
              <a:t>str</a:t>
            </a:r>
            <a:r>
              <a:rPr lang="tr-TR" dirty="0"/>
              <a:t>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 err="1"/>
              <a:t>str</a:t>
            </a:r>
            <a:r>
              <a:rPr lang="tr-TR" dirty="0"/>
              <a:t>=(</a:t>
            </a:r>
            <a:r>
              <a:rPr lang="tr-TR" dirty="0" err="1"/>
              <a:t>char</a:t>
            </a:r>
            <a:r>
              <a:rPr lang="tr-TR" dirty="0"/>
              <a:t> *) </a:t>
            </a:r>
            <a:r>
              <a:rPr lang="tr-TR" dirty="0" err="1"/>
              <a:t>malloc</a:t>
            </a:r>
            <a:r>
              <a:rPr lang="tr-TR" dirty="0"/>
              <a:t>(20);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 err="1"/>
              <a:t>int</a:t>
            </a:r>
            <a:r>
              <a:rPr lang="tr-TR" dirty="0"/>
              <a:t>  </a:t>
            </a:r>
            <a:r>
              <a:rPr lang="tr-TR" dirty="0" err="1"/>
              <a:t>i,sayac</a:t>
            </a:r>
            <a:r>
              <a:rPr lang="tr-TR" dirty="0"/>
              <a:t>=0;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 err="1"/>
              <a:t>printf</a:t>
            </a:r>
            <a:r>
              <a:rPr lang="tr-TR" dirty="0"/>
              <a:t>("Bir </a:t>
            </a:r>
            <a:r>
              <a:rPr lang="tr-TR" dirty="0" err="1"/>
              <a:t>string</a:t>
            </a:r>
            <a:r>
              <a:rPr lang="tr-TR" dirty="0"/>
              <a:t> girin: ");  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 err="1"/>
              <a:t>gets</a:t>
            </a:r>
            <a:r>
              <a:rPr lang="tr-TR" dirty="0"/>
              <a:t>(</a:t>
            </a:r>
            <a:r>
              <a:rPr lang="tr-TR" dirty="0" err="1"/>
              <a:t>str</a:t>
            </a:r>
            <a:r>
              <a:rPr lang="tr-TR" dirty="0"/>
              <a:t>);  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 err="1"/>
              <a:t>for</a:t>
            </a:r>
            <a:r>
              <a:rPr lang="tr-TR" dirty="0"/>
              <a:t>(i=0; </a:t>
            </a:r>
            <a:r>
              <a:rPr lang="tr-TR" dirty="0" err="1"/>
              <a:t>str</a:t>
            </a:r>
            <a:r>
              <a:rPr lang="tr-TR" dirty="0"/>
              <a:t>[i] != '\0'; i++)    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( </a:t>
            </a:r>
            <a:r>
              <a:rPr lang="tr-TR" dirty="0" err="1"/>
              <a:t>str</a:t>
            </a:r>
            <a:r>
              <a:rPr lang="tr-TR" dirty="0"/>
              <a:t>[i] == 'm') </a:t>
            </a:r>
            <a:r>
              <a:rPr lang="tr-TR" dirty="0" err="1"/>
              <a:t>sayac</a:t>
            </a:r>
            <a:r>
              <a:rPr lang="tr-TR" dirty="0"/>
              <a:t>++; 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dirty="0"/>
              <a:t> </a:t>
            </a:r>
            <a:r>
              <a:rPr lang="tr-TR" dirty="0" err="1"/>
              <a:t>printf</a:t>
            </a:r>
            <a:r>
              <a:rPr lang="tr-TR" dirty="0"/>
              <a:t>("'m' karakteri </a:t>
            </a:r>
            <a:r>
              <a:rPr lang="tr-TR" dirty="0" err="1"/>
              <a:t>sayisi</a:t>
            </a:r>
            <a:r>
              <a:rPr lang="tr-TR" dirty="0"/>
              <a:t> = %d\n",</a:t>
            </a:r>
            <a:r>
              <a:rPr lang="tr-TR" dirty="0" err="1"/>
              <a:t>sayac</a:t>
            </a:r>
            <a:r>
              <a:rPr lang="tr-TR" dirty="0"/>
              <a:t>); }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b="1"/>
              <a:t>ÇIKTI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tr-TR" altLang="tr-TR" smtClean="0"/>
          </a:p>
          <a:p>
            <a:pPr eaLnBrk="1" hangingPunct="1"/>
            <a:r>
              <a:rPr lang="tr-TR" altLang="tr-TR" smtClean="0"/>
              <a:t>Bir katar girin: </a:t>
            </a:r>
            <a:r>
              <a:rPr lang="tr-TR" altLang="tr-TR" b="1" smtClean="0"/>
              <a:t>marmara</a:t>
            </a:r>
            <a:r>
              <a:rPr lang="tr-TR" altLang="tr-TR" smtClean="0"/>
              <a:t>'m' karakteri sayisi =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229600" cy="11398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i="1"/>
              <a:t>Bir string yazdırma</a:t>
            </a:r>
            <a:r>
              <a:rPr lang="tr-TR" altLang="tr-TR" sz="4000"/>
              <a:t> </a:t>
            </a:r>
            <a:br>
              <a:rPr lang="tr-TR" altLang="tr-TR" sz="4000"/>
            </a:br>
            <a:r>
              <a:rPr lang="tr-TR" altLang="tr-TR" sz="4000"/>
              <a:t>[/* </a:t>
            </a:r>
            <a:r>
              <a:rPr lang="tr-TR" altLang="tr-TR" sz="1800"/>
              <a:t> Bir elemanları string olan karakter dizisini yazdırma</a:t>
            </a:r>
            <a:r>
              <a:rPr lang="tr-TR" altLang="tr-TR" sz="4000"/>
              <a:t> */ ]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229600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tr-TR" altLang="tr-TR" sz="2800" dirty="0" smtClean="0"/>
              <a:t>#include &lt;stdio.h&gt;</a:t>
            </a:r>
          </a:p>
          <a:p>
            <a:pPr eaLnBrk="1" hangingPunct="1">
              <a:lnSpc>
                <a:spcPct val="80000"/>
              </a:lnSpc>
            </a:pPr>
            <a:r>
              <a:rPr lang="tr-TR" altLang="tr-TR" sz="2800" dirty="0" smtClean="0"/>
              <a:t>int main()</a:t>
            </a:r>
          </a:p>
          <a:p>
            <a:pPr eaLnBrk="1" hangingPunct="1">
              <a:lnSpc>
                <a:spcPct val="80000"/>
              </a:lnSpc>
            </a:pPr>
            <a:r>
              <a:rPr lang="tr-TR" altLang="tr-TR" sz="2800" dirty="0" smtClean="0"/>
              <a:t>{  </a:t>
            </a:r>
          </a:p>
          <a:p>
            <a:pPr eaLnBrk="1" hangingPunct="1">
              <a:lnSpc>
                <a:spcPct val="80000"/>
              </a:lnSpc>
            </a:pPr>
            <a:r>
              <a:rPr lang="tr-TR" altLang="tr-TR" sz="2800" dirty="0" smtClean="0"/>
              <a:t>char *gun[7] = { "Pazartesi", "Sali", "Carsamba",                     "Persembe", "Cuma", "Cumartesi", "Pazar" }; </a:t>
            </a:r>
          </a:p>
          <a:p>
            <a:pPr eaLnBrk="1" hangingPunct="1">
              <a:lnSpc>
                <a:spcPct val="80000"/>
              </a:lnSpc>
            </a:pPr>
            <a:r>
              <a:rPr lang="tr-TR" altLang="tr-TR" sz="2800" dirty="0" smtClean="0"/>
              <a:t> int i;  </a:t>
            </a:r>
          </a:p>
          <a:p>
            <a:pPr eaLnBrk="1" hangingPunct="1">
              <a:lnSpc>
                <a:spcPct val="80000"/>
              </a:lnSpc>
            </a:pPr>
            <a:r>
              <a:rPr lang="tr-TR" altLang="tr-TR" sz="2800" dirty="0" smtClean="0"/>
              <a:t>for(i=0; i&lt;7; i++)   </a:t>
            </a:r>
          </a:p>
          <a:p>
            <a:pPr eaLnBrk="1" hangingPunct="1">
              <a:lnSpc>
                <a:spcPct val="80000"/>
              </a:lnSpc>
            </a:pPr>
            <a:r>
              <a:rPr lang="tr-TR" altLang="tr-TR" sz="2800" dirty="0" smtClean="0"/>
              <a:t> printf("%d, %s\n",i+1,gun[i]);</a:t>
            </a:r>
          </a:p>
          <a:p>
            <a:pPr eaLnBrk="1" hangingPunct="1">
              <a:lnSpc>
                <a:spcPct val="80000"/>
              </a:lnSpc>
            </a:pPr>
            <a:r>
              <a:rPr lang="tr-TR" altLang="tr-TR" sz="2800" dirty="0" smtClean="0"/>
              <a:t> return 0;}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b="1"/>
              <a:t>ÇIKTI</a:t>
            </a:r>
            <a:r>
              <a:rPr lang="tr-TR" altLang="tr-TR" sz="4000"/>
              <a:t/>
            </a:r>
            <a:br>
              <a:rPr lang="tr-TR" altLang="tr-TR" sz="4000"/>
            </a:br>
            <a:endParaRPr lang="tr-TR" altLang="tr-TR" sz="400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1. Pazartesi</a:t>
            </a:r>
          </a:p>
          <a:p>
            <a:pPr eaLnBrk="1" hangingPunct="1"/>
            <a:r>
              <a:rPr lang="tr-TR" altLang="tr-TR" smtClean="0"/>
              <a:t>2. Sali</a:t>
            </a:r>
          </a:p>
          <a:p>
            <a:pPr eaLnBrk="1" hangingPunct="1"/>
            <a:r>
              <a:rPr lang="tr-TR" altLang="tr-TR" smtClean="0"/>
              <a:t>3. Carsamba</a:t>
            </a:r>
          </a:p>
          <a:p>
            <a:pPr eaLnBrk="1" hangingPunct="1"/>
            <a:r>
              <a:rPr lang="tr-TR" altLang="tr-TR" smtClean="0"/>
              <a:t>4. Persembe</a:t>
            </a:r>
          </a:p>
          <a:p>
            <a:pPr eaLnBrk="1" hangingPunct="1"/>
            <a:r>
              <a:rPr lang="tr-TR" altLang="tr-TR" smtClean="0"/>
              <a:t>5. Cuma</a:t>
            </a:r>
          </a:p>
          <a:p>
            <a:pPr eaLnBrk="1" hangingPunct="1"/>
            <a:r>
              <a:rPr lang="tr-TR" altLang="tr-TR" smtClean="0"/>
              <a:t>6. Cumartesi</a:t>
            </a:r>
          </a:p>
          <a:p>
            <a:pPr eaLnBrk="1" hangingPunct="1"/>
            <a:r>
              <a:rPr lang="tr-TR" altLang="tr-TR" smtClean="0"/>
              <a:t>7. Pazar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398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/>
              <a:t>strcmp </a:t>
            </a:r>
            <a:r>
              <a:rPr lang="tr-TR" altLang="tr-TR" sz="4000" i="1"/>
              <a:t>fonksiyonunun kullanımı</a:t>
            </a:r>
            <a:br>
              <a:rPr lang="tr-TR" altLang="tr-TR" sz="4000" i="1"/>
            </a:br>
            <a:r>
              <a:rPr lang="tr-TR" altLang="tr-TR" sz="4000" i="1"/>
              <a:t>[</a:t>
            </a:r>
            <a:r>
              <a:rPr lang="tr-TR" altLang="tr-TR" sz="2000" i="1"/>
              <a:t>Basit bir şifre programı.    Kullanıcı en fazla 3 kez yanlış şifre</a:t>
            </a:r>
            <a:r>
              <a:rPr lang="tr-TR" altLang="tr-TR" sz="4000"/>
              <a:t> </a:t>
            </a:r>
            <a:r>
              <a:rPr lang="tr-TR" altLang="tr-TR" sz="4000" i="1"/>
              <a:t>]</a:t>
            </a:r>
            <a:r>
              <a:rPr lang="tr-TR" altLang="tr-TR" sz="4000"/>
              <a:t> 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 err="1"/>
              <a:t>int</a:t>
            </a:r>
            <a:r>
              <a:rPr lang="tr-TR" altLang="tr-TR" sz="1800" dirty="0"/>
              <a:t> main()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/>
              <a:t>{   </a:t>
            </a:r>
            <a:r>
              <a:rPr lang="tr-TR" altLang="tr-TR" sz="1800" dirty="0" err="1"/>
              <a:t>char</a:t>
            </a:r>
            <a:r>
              <a:rPr lang="tr-TR" altLang="tr-TR" sz="1800" dirty="0"/>
              <a:t> </a:t>
            </a:r>
            <a:r>
              <a:rPr lang="tr-TR" altLang="tr-TR" sz="1800" dirty="0" err="1"/>
              <a:t>sifre</a:t>
            </a:r>
            <a:r>
              <a:rPr lang="tr-TR" altLang="tr-TR" sz="1800" dirty="0"/>
              <a:t>[8];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 err="1"/>
              <a:t>int</a:t>
            </a:r>
            <a:r>
              <a:rPr lang="tr-TR" altLang="tr-TR" sz="1800" dirty="0"/>
              <a:t>  </a:t>
            </a:r>
            <a:r>
              <a:rPr lang="tr-TR" altLang="tr-TR" sz="1800" dirty="0" err="1"/>
              <a:t>sonuc</a:t>
            </a:r>
            <a:r>
              <a:rPr lang="tr-TR" altLang="tr-TR" sz="1800" dirty="0"/>
              <a:t>, hak=3;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 err="1"/>
              <a:t>while</a:t>
            </a:r>
            <a:r>
              <a:rPr lang="tr-TR" altLang="tr-TR" sz="1800" dirty="0"/>
              <a:t>( hak-- &gt; 0 )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/>
              <a:t>{   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 err="1"/>
              <a:t>printf</a:t>
            </a:r>
            <a:r>
              <a:rPr lang="tr-TR" altLang="tr-TR" sz="1800" dirty="0"/>
              <a:t>("</a:t>
            </a:r>
            <a:r>
              <a:rPr lang="tr-TR" altLang="tr-TR" sz="1800" dirty="0" err="1"/>
              <a:t>Sifre</a:t>
            </a:r>
            <a:r>
              <a:rPr lang="tr-TR" altLang="tr-TR" sz="1800" dirty="0"/>
              <a:t> : ");  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/>
              <a:t> </a:t>
            </a:r>
            <a:r>
              <a:rPr lang="tr-TR" altLang="tr-TR" sz="1800" dirty="0" err="1"/>
              <a:t>gets</a:t>
            </a:r>
            <a:r>
              <a:rPr lang="tr-TR" altLang="tr-TR" sz="1800" dirty="0"/>
              <a:t>(</a:t>
            </a:r>
            <a:r>
              <a:rPr lang="tr-TR" altLang="tr-TR" sz="1800" dirty="0" err="1"/>
              <a:t>sifre</a:t>
            </a:r>
            <a:r>
              <a:rPr lang="tr-TR" altLang="tr-TR" sz="1800" dirty="0"/>
              <a:t>);                    /* şifreyi al */      </a:t>
            </a:r>
            <a:r>
              <a:rPr lang="tr-TR" altLang="tr-TR" sz="1800" dirty="0" err="1"/>
              <a:t>sonuc</a:t>
            </a:r>
            <a:r>
              <a:rPr lang="tr-TR" altLang="tr-TR" sz="1800" dirty="0"/>
              <a:t> = </a:t>
            </a:r>
            <a:r>
              <a:rPr lang="tr-TR" altLang="tr-TR" sz="1800" dirty="0" err="1"/>
              <a:t>strcmp</a:t>
            </a:r>
            <a:r>
              <a:rPr lang="tr-TR" altLang="tr-TR" sz="1800" dirty="0"/>
              <a:t>(sifre,"</a:t>
            </a:r>
            <a:r>
              <a:rPr lang="tr-TR" altLang="tr-TR" sz="1800" dirty="0" smtClean="0"/>
              <a:t>elma");      </a:t>
            </a:r>
            <a:endParaRPr lang="tr-TR" altLang="tr-TR" sz="1800" dirty="0"/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 err="1"/>
              <a:t>if</a:t>
            </a:r>
            <a:r>
              <a:rPr lang="tr-TR" altLang="tr-TR" sz="1800" dirty="0"/>
              <a:t>( </a:t>
            </a:r>
            <a:r>
              <a:rPr lang="tr-TR" altLang="tr-TR" sz="1800" dirty="0" err="1"/>
              <a:t>sonuc</a:t>
            </a:r>
            <a:r>
              <a:rPr lang="tr-TR" altLang="tr-TR" sz="1800" dirty="0"/>
              <a:t>==0 )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/>
              <a:t>{                 /* şifre kontrol */      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 err="1"/>
              <a:t>puts</a:t>
            </a:r>
            <a:r>
              <a:rPr lang="tr-TR" altLang="tr-TR" sz="1800" dirty="0"/>
              <a:t>("</a:t>
            </a:r>
            <a:r>
              <a:rPr lang="tr-TR" altLang="tr-TR" sz="1800" dirty="0" err="1"/>
              <a:t>sifre</a:t>
            </a:r>
            <a:r>
              <a:rPr lang="tr-TR" altLang="tr-TR" sz="1800" dirty="0"/>
              <a:t> </a:t>
            </a:r>
            <a:r>
              <a:rPr lang="tr-TR" altLang="tr-TR" sz="1800" dirty="0" err="1"/>
              <a:t>dogru</a:t>
            </a:r>
            <a:r>
              <a:rPr lang="tr-TR" altLang="tr-TR" sz="1800" dirty="0"/>
              <a:t>");      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/>
              <a:t>break;      }   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/>
              <a:t>else         </a:t>
            </a:r>
            <a:r>
              <a:rPr lang="tr-TR" altLang="tr-TR" sz="1800" dirty="0" err="1"/>
              <a:t>puts</a:t>
            </a:r>
            <a:r>
              <a:rPr lang="tr-TR" altLang="tr-TR" sz="1800" dirty="0"/>
              <a:t>("</a:t>
            </a:r>
            <a:r>
              <a:rPr lang="tr-TR" altLang="tr-TR" sz="1800" dirty="0" err="1"/>
              <a:t>sifre</a:t>
            </a:r>
            <a:r>
              <a:rPr lang="tr-TR" altLang="tr-TR" sz="1800" dirty="0"/>
              <a:t> </a:t>
            </a:r>
            <a:r>
              <a:rPr lang="tr-TR" altLang="tr-TR" sz="1800" dirty="0" err="1"/>
              <a:t>yanlis</a:t>
            </a:r>
            <a:r>
              <a:rPr lang="tr-TR" altLang="tr-TR" sz="1800" dirty="0"/>
              <a:t>");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/>
              <a:t> }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800" dirty="0" err="1"/>
              <a:t>return</a:t>
            </a:r>
            <a:r>
              <a:rPr lang="tr-TR" altLang="tr-TR" sz="1800" dirty="0"/>
              <a:t> 0;}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/>
              <a:t>strcpy </a:t>
            </a:r>
            <a:r>
              <a:rPr lang="tr-TR" altLang="tr-TR" sz="4000" i="1"/>
              <a:t>fonksiyonunun kullanımı</a:t>
            </a:r>
            <a:r>
              <a:rPr lang="tr-TR" altLang="tr-TR" sz="4000"/>
              <a:t> </a:t>
            </a:r>
            <a:br>
              <a:rPr lang="tr-TR" altLang="tr-TR" sz="4000"/>
            </a:br>
            <a:r>
              <a:rPr lang="tr-TR" altLang="tr-TR" sz="4000"/>
              <a:t>[Bir string diğerine kopyalama ]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40000" lnSpcReduction="20000"/>
          </a:bodyPr>
          <a:lstStyle/>
          <a:p>
            <a:r>
              <a:rPr lang="tr-TR" dirty="0"/>
              <a:t>#include &lt;stdio.h&gt;</a:t>
            </a:r>
          </a:p>
          <a:p>
            <a:r>
              <a:rPr lang="tr-TR" dirty="0"/>
              <a:t>#include &lt;string.h&gt;</a:t>
            </a:r>
          </a:p>
          <a:p>
            <a:r>
              <a:rPr lang="tr-TR" dirty="0"/>
              <a:t>int main()</a:t>
            </a:r>
          </a:p>
          <a:p>
            <a:r>
              <a:rPr lang="tr-TR" dirty="0"/>
              <a:t>{   char str1[] = "Marmara ";</a:t>
            </a:r>
          </a:p>
          <a:p>
            <a:r>
              <a:rPr lang="tr-TR" dirty="0"/>
              <a:t>char str2[] = "Üniversitesi";</a:t>
            </a:r>
          </a:p>
          <a:p>
            <a:r>
              <a:rPr lang="tr-TR" dirty="0"/>
              <a:t> char str3[50];   </a:t>
            </a:r>
          </a:p>
          <a:p>
            <a:r>
              <a:rPr lang="tr-TR" dirty="0"/>
              <a:t>int  i;   /* strcpy kullanarak  kopyalama */   </a:t>
            </a:r>
          </a:p>
          <a:p>
            <a:r>
              <a:rPr lang="tr-TR" dirty="0"/>
              <a:t>strcpy(str2, str1);  /* strcpy kullanmadan kopyalama */  </a:t>
            </a:r>
          </a:p>
          <a:p>
            <a:r>
              <a:rPr lang="tr-TR" dirty="0"/>
              <a:t> </a:t>
            </a:r>
          </a:p>
          <a:p>
            <a:r>
              <a:rPr lang="tr-TR" dirty="0"/>
              <a:t>for(i=0; str1[i]; i++)      </a:t>
            </a:r>
          </a:p>
          <a:p>
            <a:r>
              <a:rPr lang="tr-TR" dirty="0"/>
              <a:t>str3[i] = str1[i];   </a:t>
            </a:r>
          </a:p>
          <a:p>
            <a:r>
              <a:rPr lang="tr-TR" dirty="0"/>
              <a:t>str3[i] = '\0';      /* sonlandırıcı ekle */   /* sonuçlar ekrana */   </a:t>
            </a:r>
          </a:p>
          <a:p>
            <a:r>
              <a:rPr lang="tr-TR" dirty="0"/>
              <a:t>printf("str1 : %s\n",str1);  </a:t>
            </a:r>
          </a:p>
          <a:p>
            <a:r>
              <a:rPr lang="tr-TR" dirty="0"/>
              <a:t> printf("str2 : %s\n",str2);  </a:t>
            </a:r>
          </a:p>
          <a:p>
            <a:r>
              <a:rPr lang="tr-TR" dirty="0"/>
              <a:t> printf("str3 : %s\n",str3); </a:t>
            </a:r>
          </a:p>
          <a:p>
            <a:r>
              <a:rPr lang="tr-TR" dirty="0"/>
              <a:t>return 0;}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b="1"/>
              <a:t>ÇIKTI</a:t>
            </a:r>
            <a:r>
              <a:rPr lang="tr-TR" altLang="tr-TR" sz="4000"/>
              <a:t/>
            </a:r>
            <a:br>
              <a:rPr lang="tr-TR" altLang="tr-TR" sz="4000"/>
            </a:br>
            <a:endParaRPr lang="tr-TR" altLang="tr-TR" sz="400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dirty="0" smtClean="0"/>
              <a:t>str1 : Marmara</a:t>
            </a:r>
          </a:p>
          <a:p>
            <a:pPr eaLnBrk="1" hangingPunct="1"/>
            <a:r>
              <a:rPr lang="tr-TR" altLang="tr-TR" dirty="0" smtClean="0"/>
              <a:t>str2 </a:t>
            </a:r>
            <a:r>
              <a:rPr lang="tr-TR" altLang="tr-TR" dirty="0"/>
              <a:t>: Marmara</a:t>
            </a:r>
            <a:endParaRPr lang="tr-TR" altLang="tr-TR" dirty="0" smtClean="0"/>
          </a:p>
          <a:p>
            <a:pPr eaLnBrk="1" hangingPunct="1"/>
            <a:r>
              <a:rPr lang="tr-TR" altLang="tr-TR" dirty="0" smtClean="0"/>
              <a:t>str3 </a:t>
            </a:r>
            <a:r>
              <a:rPr lang="tr-TR" altLang="tr-TR" dirty="0"/>
              <a:t>: Marmara </a:t>
            </a:r>
            <a:endParaRPr lang="tr-TR" altLang="tr-TR" dirty="0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dirty="0" err="1"/>
              <a:t>strcat</a:t>
            </a:r>
            <a:r>
              <a:rPr lang="tr-TR" altLang="tr-TR" sz="4000" dirty="0"/>
              <a:t> fonksiyonunun kullanımı</a:t>
            </a:r>
            <a:br>
              <a:rPr lang="tr-TR" altLang="tr-TR" sz="4000" dirty="0"/>
            </a:br>
            <a:r>
              <a:rPr lang="tr-TR" altLang="tr-TR" sz="4000" dirty="0"/>
              <a:t>Bir katarı diğerine ekler  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dirty="0"/>
              <a:t>#</a:t>
            </a:r>
            <a:r>
              <a:rPr lang="tr-TR" altLang="tr-TR" sz="2400" dirty="0" err="1"/>
              <a:t>include</a:t>
            </a:r>
            <a:r>
              <a:rPr lang="tr-TR" altLang="tr-TR" sz="2400" dirty="0"/>
              <a:t> &lt;</a:t>
            </a:r>
            <a:r>
              <a:rPr lang="tr-TR" altLang="tr-TR" sz="2400" dirty="0" err="1"/>
              <a:t>stdio.h</a:t>
            </a:r>
            <a:r>
              <a:rPr lang="tr-TR" altLang="tr-TR" sz="2400" dirty="0"/>
              <a:t>&gt;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dirty="0"/>
              <a:t>#</a:t>
            </a:r>
            <a:r>
              <a:rPr lang="tr-TR" altLang="tr-TR" sz="2400" dirty="0" err="1"/>
              <a:t>include</a:t>
            </a:r>
            <a:r>
              <a:rPr lang="tr-TR" altLang="tr-TR" sz="2400" dirty="0"/>
              <a:t> &lt;</a:t>
            </a:r>
            <a:r>
              <a:rPr lang="tr-TR" altLang="tr-TR" sz="2400" dirty="0" err="1"/>
              <a:t>string.h</a:t>
            </a:r>
            <a:r>
              <a:rPr lang="tr-TR" altLang="tr-TR" sz="2400" dirty="0"/>
              <a:t>&gt;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dirty="0" err="1"/>
              <a:t>int</a:t>
            </a:r>
            <a:r>
              <a:rPr lang="tr-TR" altLang="tr-TR" sz="2400" dirty="0"/>
              <a:t> main()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dirty="0"/>
              <a:t>{   </a:t>
            </a:r>
            <a:r>
              <a:rPr lang="tr-TR" altLang="tr-TR" sz="2400" dirty="0" err="1"/>
              <a:t>char</a:t>
            </a:r>
            <a:r>
              <a:rPr lang="tr-TR" altLang="tr-TR" sz="2400" dirty="0"/>
              <a:t> mesaj[20] = "Selam ";  /* 1. katar */  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dirty="0" err="1"/>
              <a:t>char</a:t>
            </a:r>
            <a:r>
              <a:rPr lang="tr-TR" altLang="tr-TR" sz="2400" dirty="0"/>
              <a:t>  isim[10];             /* 2. katar */ 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dirty="0"/>
              <a:t> </a:t>
            </a:r>
            <a:r>
              <a:rPr lang="tr-TR" altLang="tr-TR" sz="2400" dirty="0" err="1"/>
              <a:t>printf</a:t>
            </a:r>
            <a:r>
              <a:rPr lang="tr-TR" altLang="tr-TR" sz="2400" dirty="0"/>
              <a:t>("Adiniz ? : ");  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dirty="0" err="1"/>
              <a:t>scanf</a:t>
            </a:r>
            <a:r>
              <a:rPr lang="tr-TR" altLang="tr-TR" sz="2400" dirty="0"/>
              <a:t>("%</a:t>
            </a:r>
            <a:r>
              <a:rPr lang="tr-TR" altLang="tr-TR" sz="2400" dirty="0" err="1"/>
              <a:t>s",isim</a:t>
            </a:r>
            <a:r>
              <a:rPr lang="tr-TR" altLang="tr-TR" sz="2400" dirty="0"/>
              <a:t>);   /* ekle */  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dirty="0" err="1"/>
              <a:t>strcat</a:t>
            </a:r>
            <a:r>
              <a:rPr lang="tr-TR" altLang="tr-TR" sz="2400" dirty="0"/>
              <a:t>(mesaj, isim);  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dirty="0" err="1"/>
              <a:t>printf</a:t>
            </a:r>
            <a:r>
              <a:rPr lang="tr-TR" altLang="tr-TR" sz="2400" dirty="0"/>
              <a:t>("%s\</a:t>
            </a:r>
            <a:r>
              <a:rPr lang="tr-TR" altLang="tr-TR" sz="2400" dirty="0" err="1"/>
              <a:t>n",mesaj</a:t>
            </a:r>
            <a:r>
              <a:rPr lang="tr-TR" altLang="tr-TR" sz="2400" dirty="0"/>
              <a:t>);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 dirty="0" err="1"/>
              <a:t>return</a:t>
            </a:r>
            <a:r>
              <a:rPr lang="tr-TR" altLang="tr-TR" sz="2400" dirty="0"/>
              <a:t> 0;}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b="1"/>
              <a:t>ÇIKTI</a:t>
            </a:r>
            <a:r>
              <a:rPr lang="tr-TR" altLang="tr-TR" sz="4000"/>
              <a:t/>
            </a:r>
            <a:br>
              <a:rPr lang="tr-TR" altLang="tr-TR" sz="4000"/>
            </a:br>
            <a:endParaRPr lang="tr-TR" altLang="tr-TR" sz="400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Adiniz ? : </a:t>
            </a:r>
            <a:r>
              <a:rPr lang="tr-TR" altLang="tr-TR" b="1" smtClean="0"/>
              <a:t>Derya</a:t>
            </a:r>
          </a:p>
          <a:p>
            <a:pPr eaLnBrk="1" hangingPunct="1"/>
            <a:r>
              <a:rPr lang="tr-TR" altLang="tr-TR" smtClean="0"/>
              <a:t>Selam Derya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dirty="0" err="1"/>
              <a:t>strlen</a:t>
            </a:r>
            <a:r>
              <a:rPr lang="tr-TR" altLang="tr-TR" sz="4000" dirty="0"/>
              <a:t> </a:t>
            </a:r>
            <a:r>
              <a:rPr lang="tr-TR" altLang="tr-TR" sz="4000" i="1" dirty="0"/>
              <a:t>fonksiyonunun kullanımı</a:t>
            </a:r>
            <a:r>
              <a:rPr lang="tr-TR" altLang="tr-TR" sz="4000" dirty="0"/>
              <a:t> </a:t>
            </a:r>
            <a:br>
              <a:rPr lang="tr-TR" altLang="tr-TR" sz="4000" dirty="0"/>
            </a:br>
            <a:r>
              <a:rPr lang="tr-TR" altLang="tr-TR" sz="4000" dirty="0"/>
              <a:t>[</a:t>
            </a:r>
            <a:r>
              <a:rPr lang="tr-TR" altLang="tr-TR" sz="2000" dirty="0"/>
              <a:t>Bir karakter dizisinin uzunluğunu bulur</a:t>
            </a:r>
            <a:r>
              <a:rPr lang="tr-TR" altLang="tr-TR" sz="4000" dirty="0"/>
              <a:t> ]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#include &lt;stdio.h&gt;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#include &lt;string.h&gt;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int main()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{   char s[20];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 int  k = 0;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printf("Bir seyler yazin : ");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scanf("%s",s);   /* sonlandırıcı karaktere kadar */   while( s[k] != '\0' )         k++; 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puts("Dizinin uzunlugu");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printf("strlen kullanarak  = %d\n",strlen(s));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   printf("strlen kullanmadan = %d\n",k);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2400"/>
              <a:t>return 0;}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b="1"/>
              <a:t>ÇIKTI</a:t>
            </a:r>
            <a:r>
              <a:rPr lang="tr-TR" altLang="tr-TR" sz="4000"/>
              <a:t/>
            </a:r>
            <a:br>
              <a:rPr lang="tr-TR" altLang="tr-TR" sz="4000"/>
            </a:br>
            <a:r>
              <a:rPr lang="tr-TR" altLang="tr-TR" sz="4000"/>
              <a:t>	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Bir seyler yazin : </a:t>
            </a:r>
            <a:r>
              <a:rPr lang="tr-TR" altLang="tr-TR" b="1" smtClean="0"/>
              <a:t>deneme stringi</a:t>
            </a:r>
          </a:p>
          <a:p>
            <a:pPr eaLnBrk="1" hangingPunct="1"/>
            <a:r>
              <a:rPr lang="tr-TR" altLang="tr-TR" smtClean="0"/>
              <a:t>Dizinin uzunlugu</a:t>
            </a:r>
          </a:p>
          <a:p>
            <a:pPr eaLnBrk="1" hangingPunct="1"/>
            <a:r>
              <a:rPr lang="tr-TR" altLang="tr-TR" smtClean="0"/>
              <a:t>strlen kullanarak  = 14</a:t>
            </a:r>
          </a:p>
          <a:p>
            <a:pPr eaLnBrk="1" hangingPunct="1"/>
            <a:r>
              <a:rPr lang="tr-TR" altLang="tr-TR" smtClean="0"/>
              <a:t>strlen kullanmadan = 14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484632"/>
            <a:ext cx="7630616" cy="568104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 i="1" dirty="0" err="1"/>
              <a:t>Isim</a:t>
            </a:r>
            <a:r>
              <a:rPr lang="tr-TR" altLang="tr-TR" sz="4000" i="1" dirty="0"/>
              <a:t> sırlama</a:t>
            </a:r>
            <a:r>
              <a:rPr lang="tr-TR" altLang="tr-TR" sz="4000" dirty="0"/>
              <a:t> </a:t>
            </a:r>
            <a:br>
              <a:rPr lang="tr-TR" altLang="tr-TR" sz="4000" dirty="0"/>
            </a:br>
            <a:r>
              <a:rPr lang="tr-TR" altLang="tr-TR" sz="4000" dirty="0"/>
              <a:t>[</a:t>
            </a:r>
            <a:r>
              <a:rPr lang="tr-TR" altLang="tr-TR" sz="1400" dirty="0"/>
              <a:t>Kabarcık Sıralama (</a:t>
            </a:r>
            <a:r>
              <a:rPr lang="tr-TR" altLang="tr-TR" sz="1400" dirty="0" err="1"/>
              <a:t>Bubble</a:t>
            </a:r>
            <a:r>
              <a:rPr lang="tr-TR" altLang="tr-TR" sz="1400" dirty="0"/>
              <a:t> </a:t>
            </a:r>
            <a:r>
              <a:rPr lang="tr-TR" altLang="tr-TR" sz="1400" dirty="0" err="1"/>
              <a:t>Sort</a:t>
            </a:r>
            <a:r>
              <a:rPr lang="tr-TR" altLang="tr-TR" sz="1400" dirty="0"/>
              <a:t>) Algoritması ile   isimleri alfabetik sırayla listeler</a:t>
            </a:r>
            <a:r>
              <a:rPr lang="tr-TR" altLang="tr-TR" sz="4000" dirty="0"/>
              <a:t> ]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588963" y="1268413"/>
            <a:ext cx="7847012" cy="5119687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#include &lt;stdio.h&gt;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#include &lt;string.h&gt;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#define n  5int main()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{  char isim[n][8] = { "Semra", "Mustafa", "Ceyhun", "Asli", "Leyla" };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char  gecici[8];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int i,j,k;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puts("Once:\n------");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for(i=0; i&lt;n; i++)  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printf("%s\n",isim[i]);     /* sırala */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for(k=0; k&lt;n-1; k++)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for(j=0; j&lt;n-1; j++)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 if( strcmp(isim[j],isim[j+1]) &gt; 0 )  /* isim[j]&gt;isim[j+1] ? */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 {      strcpy(gecici   ,isim[j]);   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strcpy(isim[j]  ,isim[j+1]);   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strcpy(isim[j+1],gecici);    }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puts("\nSonra:\n------");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 for(i=0; i&lt;n; i++)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  printf("%s\n",isim[i]);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tr-TR" altLang="tr-TR" sz="1400" smtClean="0"/>
              <a:t>return 0;} 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17288" t="4172" r="24792"/>
          <a:stretch/>
        </p:blipFill>
        <p:spPr bwMode="auto">
          <a:xfrm>
            <a:off x="5508104" y="3284984"/>
            <a:ext cx="3335700" cy="29610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85800" y="2193925"/>
            <a:ext cx="3657600" cy="3978275"/>
          </a:xfrm>
        </p:spPr>
        <p:txBody>
          <a:bodyPr/>
          <a:lstStyle/>
          <a:p>
            <a:pPr eaLnBrk="1" hangingPunct="1"/>
            <a:r>
              <a:rPr lang="tr-TR" altLang="tr-TR" sz="2800" smtClean="0"/>
              <a:t>Once:</a:t>
            </a:r>
          </a:p>
          <a:p>
            <a:pPr eaLnBrk="1" hangingPunct="1"/>
            <a:r>
              <a:rPr lang="tr-TR" altLang="tr-TR" sz="2800" smtClean="0"/>
              <a:t>------</a:t>
            </a:r>
          </a:p>
          <a:p>
            <a:pPr eaLnBrk="1" hangingPunct="1"/>
            <a:r>
              <a:rPr lang="tr-TR" altLang="tr-TR" sz="2800" smtClean="0"/>
              <a:t>Semra</a:t>
            </a:r>
          </a:p>
          <a:p>
            <a:pPr eaLnBrk="1" hangingPunct="1"/>
            <a:r>
              <a:rPr lang="tr-TR" altLang="tr-TR" sz="2800" smtClean="0"/>
              <a:t>Mustafa</a:t>
            </a:r>
          </a:p>
          <a:p>
            <a:pPr eaLnBrk="1" hangingPunct="1"/>
            <a:r>
              <a:rPr lang="tr-TR" altLang="tr-TR" sz="2800" smtClean="0"/>
              <a:t>Ceyhun</a:t>
            </a:r>
          </a:p>
          <a:p>
            <a:pPr eaLnBrk="1" hangingPunct="1"/>
            <a:r>
              <a:rPr lang="tr-TR" altLang="tr-TR" sz="2800" smtClean="0"/>
              <a:t>Asli</a:t>
            </a:r>
          </a:p>
          <a:p>
            <a:pPr eaLnBrk="1" hangingPunct="1"/>
            <a:r>
              <a:rPr lang="tr-TR" altLang="tr-TR" sz="2800" smtClean="0"/>
              <a:t>Leyla</a:t>
            </a:r>
          </a:p>
          <a:p>
            <a:pPr eaLnBrk="1" hangingPunct="1"/>
            <a:endParaRPr lang="tr-TR" altLang="tr-TR" sz="2800" smtClean="0"/>
          </a:p>
        </p:txBody>
      </p:sp>
      <p:sp>
        <p:nvSpPr>
          <p:cNvPr id="53251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4792663" y="2193925"/>
            <a:ext cx="3657600" cy="3978275"/>
          </a:xfrm>
        </p:spPr>
        <p:txBody>
          <a:bodyPr/>
          <a:lstStyle/>
          <a:p>
            <a:pPr eaLnBrk="1" hangingPunct="1"/>
            <a:r>
              <a:rPr lang="tr-TR" altLang="tr-TR" sz="2800" smtClean="0"/>
              <a:t>Sonra:</a:t>
            </a:r>
          </a:p>
          <a:p>
            <a:pPr eaLnBrk="1" hangingPunct="1"/>
            <a:r>
              <a:rPr lang="tr-TR" altLang="tr-TR" sz="2800" smtClean="0"/>
              <a:t>------</a:t>
            </a:r>
          </a:p>
          <a:p>
            <a:pPr eaLnBrk="1" hangingPunct="1"/>
            <a:r>
              <a:rPr lang="tr-TR" altLang="tr-TR" sz="2800" smtClean="0"/>
              <a:t>Asli</a:t>
            </a:r>
          </a:p>
          <a:p>
            <a:pPr eaLnBrk="1" hangingPunct="1"/>
            <a:r>
              <a:rPr lang="tr-TR" altLang="tr-TR" sz="2800" smtClean="0"/>
              <a:t>Ceyhun</a:t>
            </a:r>
          </a:p>
          <a:p>
            <a:pPr eaLnBrk="1" hangingPunct="1"/>
            <a:r>
              <a:rPr lang="tr-TR" altLang="tr-TR" sz="2800" smtClean="0"/>
              <a:t>Leyla</a:t>
            </a:r>
          </a:p>
          <a:p>
            <a:pPr eaLnBrk="1" hangingPunct="1"/>
            <a:r>
              <a:rPr lang="tr-TR" altLang="tr-TR" sz="2800" smtClean="0"/>
              <a:t>Mustafa</a:t>
            </a:r>
          </a:p>
          <a:p>
            <a:pPr eaLnBrk="1" hangingPunct="1"/>
            <a:r>
              <a:rPr lang="tr-TR" altLang="tr-TR" sz="2800" smtClean="0"/>
              <a:t>Semra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/>
              <a:t>strlen dengi bir fonksiyon: struzn</a:t>
            </a:r>
            <a:br>
              <a:rPr lang="tr-TR" altLang="tr-TR" sz="4000"/>
            </a:br>
            <a:r>
              <a:rPr lang="tr-TR" altLang="tr-TR" sz="4000"/>
              <a:t>[</a:t>
            </a:r>
            <a:r>
              <a:rPr lang="tr-TR" altLang="tr-TR" sz="2000"/>
              <a:t>Bir katarın uzunluğunu bulan strlen dengi bir fonksiyon</a:t>
            </a:r>
            <a:r>
              <a:rPr lang="tr-TR" altLang="tr-TR" sz="4000"/>
              <a:t> ] 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#include &lt;stdio.h&gt;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#include &lt;string.h&gt;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int struzn(char *);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int main()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{  char *s;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printf("Bir katar girin: "); 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 gets(s);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printf("Uzunlugu (struzn) : %d\n",struzn(s));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printf("Uzunlugu (strlen) : %d\n",strlen(s)); return 0;}/* bir karakter dizisinin uzunluğunu hesaplar */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int struzn(char *str){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 int n = 0; 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while(str[n</a:t>
            </a:r>
            <a:r>
              <a:rPr lang="tr-TR" altLang="tr-TR" dirty="0" smtClean="0"/>
              <a:t>]!=‘\0’)      </a:t>
            </a:r>
            <a:r>
              <a:rPr lang="tr-TR" altLang="tr-TR" dirty="0"/>
              <a:t>n++;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dirty="0"/>
              <a:t> return n;}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b="1"/>
              <a:t>ÇIKTI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tr-TR" altLang="tr-TR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Bir katargirin:</a:t>
            </a:r>
            <a:r>
              <a:rPr lang="tr-TR" altLang="tr-TR" b="1" smtClean="0"/>
              <a:t>Programlama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Uzunlugu (struzn) : 11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tr-TR" smtClean="0"/>
              <a:t>Uzunlugu (strlen) : 11</a:t>
            </a:r>
            <a:br>
              <a:rPr lang="tr-TR" altLang="tr-TR" smtClean="0"/>
            </a:br>
            <a:r>
              <a:rPr lang="tr-TR" altLang="tr-TR" smtClean="0"/>
              <a:t/>
            </a:r>
            <a:br>
              <a:rPr lang="tr-TR" altLang="tr-TR" smtClean="0"/>
            </a:br>
            <a:endParaRPr lang="tr-TR" altLang="tr-TR" smtClean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4000"/>
              <a:t>strrev dengi bir fonksiyon: strcev</a:t>
            </a:r>
            <a:br>
              <a:rPr lang="tr-TR" altLang="tr-TR" sz="4000"/>
            </a:br>
            <a:r>
              <a:rPr lang="tr-TR" altLang="tr-TR" sz="4000"/>
              <a:t>[: </a:t>
            </a:r>
            <a:r>
              <a:rPr lang="tr-TR" altLang="tr-TR" sz="2000"/>
              <a:t>Bir katarın tersini veren bir fonksiyon</a:t>
            </a:r>
            <a:r>
              <a:rPr lang="tr-TR" altLang="tr-TR" sz="4000"/>
              <a:t> */ ] 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#include &lt;stdio.h&gt;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#include &lt;string.h&gt;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char *strcev(char *);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int main(){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char s[50];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 printf("Bir katar girin: ");  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 scanf("%s",s);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 printf("Katar, s : %s\n",s);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 printf("Tersi, strcev(s) : %s\n",strcev(s));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return 0;}/* str katarını ters-yüz eder */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char *strcev(char *str){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  int  i,n;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char gecici;  n = strlen(str);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 for(i=0; i&lt;n/2; i++)  { 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 gecici     = str[i]; 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 str[i]     = str[n-i-1];   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str[n-i-1] = gecici;  }  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800" dirty="0" smtClean="0"/>
              <a:t>return str; /* geri dönüş değeri bir gösterici */}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b="1"/>
              <a:t>ÇIKTI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tr-TR" altLang="tr-TR" smtClean="0"/>
          </a:p>
          <a:p>
            <a:pPr eaLnBrk="1" hangingPunct="1"/>
            <a:r>
              <a:rPr lang="tr-TR" altLang="tr-TR" smtClean="0"/>
              <a:t>Bir katar girin: </a:t>
            </a:r>
            <a:r>
              <a:rPr lang="tr-TR" altLang="tr-TR" b="1" smtClean="0"/>
              <a:t>Programlama</a:t>
            </a:r>
          </a:p>
          <a:p>
            <a:pPr eaLnBrk="1" hangingPunct="1"/>
            <a:r>
              <a:rPr lang="tr-TR" altLang="tr-TR" smtClean="0"/>
              <a:t>Katar, s : ProgramlamaTersi, </a:t>
            </a:r>
          </a:p>
          <a:p>
            <a:pPr eaLnBrk="1" hangingPunct="1"/>
            <a:r>
              <a:rPr lang="tr-TR" altLang="tr-TR" smtClean="0"/>
              <a:t>strcev(s) : amalmargorP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1365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dirty="0" smtClean="0"/>
              <a:t>EV ÖDEVİ:2 STRİNG İ KIYASLAMA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39750" y="765175"/>
            <a:ext cx="8424863" cy="5976938"/>
          </a:xfrm>
        </p:spPr>
        <p:txBody>
          <a:bodyPr rtlCol="0">
            <a:noAutofit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b="1" dirty="0"/>
              <a:t> #</a:t>
            </a:r>
            <a:r>
              <a:rPr lang="tr-TR" sz="1200" b="1" dirty="0" err="1" smtClean="0"/>
              <a:t>include</a:t>
            </a:r>
            <a:r>
              <a:rPr lang="tr-TR" sz="1200" b="1" dirty="0" smtClean="0"/>
              <a:t>&lt;</a:t>
            </a:r>
            <a:r>
              <a:rPr lang="tr-TR" sz="1200" b="1" dirty="0" err="1" smtClean="0"/>
              <a:t>stdio.h</a:t>
            </a:r>
            <a:r>
              <a:rPr lang="tr-TR" sz="1200" b="1" dirty="0" smtClean="0"/>
              <a:t>&gt;</a:t>
            </a:r>
            <a:endParaRPr lang="tr-TR" sz="1200" b="1" dirty="0"/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b="1" dirty="0"/>
              <a:t>    </a:t>
            </a:r>
            <a:r>
              <a:rPr lang="tr-TR" sz="1200" b="1" dirty="0" err="1"/>
              <a:t>int</a:t>
            </a:r>
            <a:r>
              <a:rPr lang="tr-TR" sz="1200" b="1" dirty="0"/>
              <a:t> </a:t>
            </a:r>
            <a:r>
              <a:rPr lang="tr-TR" sz="1200" b="1" dirty="0" err="1"/>
              <a:t>compare_string</a:t>
            </a:r>
            <a:r>
              <a:rPr lang="tr-TR" sz="1200" b="1" dirty="0"/>
              <a:t>(</a:t>
            </a:r>
            <a:r>
              <a:rPr lang="tr-TR" sz="1200" b="1" dirty="0" err="1"/>
              <a:t>char</a:t>
            </a:r>
            <a:r>
              <a:rPr lang="tr-TR" sz="1200" b="1" dirty="0"/>
              <a:t>*, </a:t>
            </a:r>
            <a:r>
              <a:rPr lang="tr-TR" sz="1200" b="1" dirty="0" err="1"/>
              <a:t>char</a:t>
            </a:r>
            <a:r>
              <a:rPr lang="tr-TR" sz="1200" b="1" dirty="0"/>
              <a:t>*);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b="1" dirty="0" smtClean="0"/>
              <a:t>     </a:t>
            </a:r>
            <a:endParaRPr lang="tr-TR" sz="1200" b="1" dirty="0"/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b="1" dirty="0" smtClean="0"/>
              <a:t>    main()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 smtClean="0"/>
              <a:t>    </a:t>
            </a:r>
            <a:r>
              <a:rPr lang="tr-TR" sz="1200" dirty="0"/>
              <a:t>{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</a:t>
            </a:r>
            <a:r>
              <a:rPr lang="tr-TR" sz="1200" dirty="0" err="1"/>
              <a:t>char</a:t>
            </a:r>
            <a:r>
              <a:rPr lang="tr-TR" sz="1200" dirty="0"/>
              <a:t> </a:t>
            </a:r>
            <a:r>
              <a:rPr lang="tr-TR" sz="1200" dirty="0" err="1"/>
              <a:t>first</a:t>
            </a:r>
            <a:r>
              <a:rPr lang="tr-TR" sz="1200" dirty="0"/>
              <a:t>[100], </a:t>
            </a:r>
            <a:r>
              <a:rPr lang="tr-TR" sz="1200" dirty="0" err="1"/>
              <a:t>second</a:t>
            </a:r>
            <a:r>
              <a:rPr lang="tr-TR" sz="1200" dirty="0"/>
              <a:t>[100], </a:t>
            </a:r>
            <a:r>
              <a:rPr lang="tr-TR" sz="1200" dirty="0" err="1"/>
              <a:t>result</a:t>
            </a:r>
            <a:r>
              <a:rPr lang="tr-TR" sz="1200" dirty="0" smtClean="0"/>
              <a:t>;</a:t>
            </a:r>
            <a:endParaRPr lang="tr-TR" sz="1200" dirty="0"/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</a:t>
            </a:r>
            <a:r>
              <a:rPr lang="tr-TR" sz="1200" dirty="0" err="1"/>
              <a:t>printf</a:t>
            </a:r>
            <a:r>
              <a:rPr lang="tr-TR" sz="1200" dirty="0"/>
              <a:t>("Birinci </a:t>
            </a:r>
            <a:r>
              <a:rPr lang="tr-TR" sz="1200" dirty="0" err="1"/>
              <a:t>stringi</a:t>
            </a:r>
            <a:r>
              <a:rPr lang="tr-TR" sz="1200" dirty="0"/>
              <a:t> giriniz\n");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</a:t>
            </a:r>
            <a:r>
              <a:rPr lang="tr-TR" sz="1200" dirty="0" err="1"/>
              <a:t>gets</a:t>
            </a:r>
            <a:r>
              <a:rPr lang="tr-TR" sz="1200" dirty="0"/>
              <a:t>(</a:t>
            </a:r>
            <a:r>
              <a:rPr lang="tr-TR" sz="1200" dirty="0" err="1"/>
              <a:t>first</a:t>
            </a:r>
            <a:r>
              <a:rPr lang="tr-TR" sz="1200" dirty="0"/>
              <a:t>);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 err="1" smtClean="0"/>
              <a:t>printf</a:t>
            </a:r>
            <a:r>
              <a:rPr lang="tr-TR" sz="1200" dirty="0"/>
              <a:t>("İkinci </a:t>
            </a:r>
            <a:r>
              <a:rPr lang="tr-TR" sz="1200" dirty="0" err="1"/>
              <a:t>stringi</a:t>
            </a:r>
            <a:r>
              <a:rPr lang="tr-TR" sz="1200" dirty="0"/>
              <a:t> giriniz\n");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 err="1" smtClean="0"/>
              <a:t>gets</a:t>
            </a:r>
            <a:r>
              <a:rPr lang="tr-TR" sz="1200" dirty="0" smtClean="0"/>
              <a:t>(</a:t>
            </a:r>
            <a:r>
              <a:rPr lang="tr-TR" sz="1200" dirty="0" err="1" smtClean="0"/>
              <a:t>second</a:t>
            </a:r>
            <a:r>
              <a:rPr lang="tr-TR" sz="1200" dirty="0"/>
              <a:t>);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 err="1" smtClean="0"/>
              <a:t>result</a:t>
            </a:r>
            <a:r>
              <a:rPr lang="tr-TR" sz="1200" dirty="0" smtClean="0"/>
              <a:t> </a:t>
            </a:r>
            <a:r>
              <a:rPr lang="tr-TR" sz="1200" dirty="0"/>
              <a:t>= </a:t>
            </a:r>
            <a:r>
              <a:rPr lang="tr-TR" sz="1200" dirty="0" err="1"/>
              <a:t>compare_string</a:t>
            </a:r>
            <a:r>
              <a:rPr lang="tr-TR" sz="1200" dirty="0"/>
              <a:t>(</a:t>
            </a:r>
            <a:r>
              <a:rPr lang="tr-TR" sz="1200" dirty="0" err="1"/>
              <a:t>first</a:t>
            </a:r>
            <a:r>
              <a:rPr lang="tr-TR" sz="1200" dirty="0"/>
              <a:t>, </a:t>
            </a:r>
            <a:r>
              <a:rPr lang="tr-TR" sz="1200" dirty="0" err="1"/>
              <a:t>second</a:t>
            </a:r>
            <a:r>
              <a:rPr lang="tr-TR" sz="1200" dirty="0"/>
              <a:t>);</a:t>
            </a: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tr-TR" sz="1200" dirty="0"/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</a:t>
            </a:r>
            <a:r>
              <a:rPr lang="tr-TR" sz="1200" dirty="0" err="1"/>
              <a:t>if</a:t>
            </a:r>
            <a:r>
              <a:rPr lang="tr-TR" sz="1200" dirty="0"/>
              <a:t> ( </a:t>
            </a:r>
            <a:r>
              <a:rPr lang="tr-TR" sz="1200" dirty="0" err="1"/>
              <a:t>result</a:t>
            </a:r>
            <a:r>
              <a:rPr lang="tr-TR" sz="1200" dirty="0"/>
              <a:t> == 0 )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   </a:t>
            </a:r>
            <a:r>
              <a:rPr lang="tr-TR" sz="1200" dirty="0" err="1"/>
              <a:t>printf</a:t>
            </a:r>
            <a:r>
              <a:rPr lang="tr-TR" sz="1200" dirty="0"/>
              <a:t>("</a:t>
            </a:r>
            <a:r>
              <a:rPr lang="tr-TR" sz="1200" dirty="0" err="1"/>
              <a:t>Esitler</a:t>
            </a:r>
            <a:r>
              <a:rPr lang="tr-TR" sz="1200" dirty="0"/>
              <a:t>.\n");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else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   </a:t>
            </a:r>
            <a:r>
              <a:rPr lang="tr-TR" sz="1200" dirty="0" err="1"/>
              <a:t>printf</a:t>
            </a:r>
            <a:r>
              <a:rPr lang="tr-TR" sz="1200" dirty="0"/>
              <a:t>("</a:t>
            </a:r>
            <a:r>
              <a:rPr lang="tr-TR" sz="1200" dirty="0" err="1"/>
              <a:t>Esit</a:t>
            </a:r>
            <a:r>
              <a:rPr lang="tr-TR" sz="1200" dirty="0"/>
              <a:t> DEGILLER.\n");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</a:t>
            </a:r>
            <a:r>
              <a:rPr lang="tr-TR" sz="1200" dirty="0" err="1"/>
              <a:t>return</a:t>
            </a:r>
            <a:r>
              <a:rPr lang="tr-TR" sz="1200" dirty="0"/>
              <a:t> 0;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}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b="1" dirty="0"/>
              <a:t>    </a:t>
            </a:r>
            <a:r>
              <a:rPr lang="tr-TR" sz="1200" b="1" dirty="0" err="1"/>
              <a:t>int</a:t>
            </a:r>
            <a:r>
              <a:rPr lang="tr-TR" sz="1200" b="1" dirty="0"/>
              <a:t> </a:t>
            </a:r>
            <a:r>
              <a:rPr lang="tr-TR" sz="1200" b="1" dirty="0" err="1"/>
              <a:t>compare_string</a:t>
            </a:r>
            <a:r>
              <a:rPr lang="tr-TR" sz="1200" b="1" dirty="0"/>
              <a:t>(</a:t>
            </a:r>
            <a:r>
              <a:rPr lang="tr-TR" sz="1200" b="1" dirty="0" err="1"/>
              <a:t>char</a:t>
            </a:r>
            <a:r>
              <a:rPr lang="tr-TR" sz="1200" b="1" dirty="0"/>
              <a:t> *</a:t>
            </a:r>
            <a:r>
              <a:rPr lang="tr-TR" sz="1200" b="1" dirty="0" err="1"/>
              <a:t>first</a:t>
            </a:r>
            <a:r>
              <a:rPr lang="tr-TR" sz="1200" b="1" dirty="0"/>
              <a:t>, </a:t>
            </a:r>
            <a:r>
              <a:rPr lang="tr-TR" sz="1200" b="1" dirty="0" err="1"/>
              <a:t>char</a:t>
            </a:r>
            <a:r>
              <a:rPr lang="tr-TR" sz="1200" b="1" dirty="0"/>
              <a:t> *</a:t>
            </a:r>
            <a:r>
              <a:rPr lang="tr-TR" sz="1200" b="1" dirty="0" err="1"/>
              <a:t>second</a:t>
            </a:r>
            <a:r>
              <a:rPr lang="tr-TR" sz="1200" b="1" dirty="0"/>
              <a:t>)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{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</a:t>
            </a:r>
            <a:r>
              <a:rPr lang="tr-TR" sz="1200" dirty="0" err="1"/>
              <a:t>while</a:t>
            </a:r>
            <a:r>
              <a:rPr lang="tr-TR" sz="1200" dirty="0"/>
              <a:t>(*</a:t>
            </a:r>
            <a:r>
              <a:rPr lang="tr-TR" sz="1200" dirty="0" err="1"/>
              <a:t>first</a:t>
            </a:r>
            <a:r>
              <a:rPr lang="tr-TR" sz="1200" dirty="0"/>
              <a:t>==*</a:t>
            </a:r>
            <a:r>
              <a:rPr lang="tr-TR" sz="1200" dirty="0" err="1"/>
              <a:t>second</a:t>
            </a:r>
            <a:r>
              <a:rPr lang="tr-TR" sz="1200" dirty="0"/>
              <a:t>)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{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  </a:t>
            </a:r>
            <a:r>
              <a:rPr lang="tr-TR" sz="1200" dirty="0" err="1"/>
              <a:t>if</a:t>
            </a:r>
            <a:r>
              <a:rPr lang="tr-TR" sz="1200" dirty="0"/>
              <a:t> ( *</a:t>
            </a:r>
            <a:r>
              <a:rPr lang="tr-TR" sz="1200" dirty="0" err="1"/>
              <a:t>first</a:t>
            </a:r>
            <a:r>
              <a:rPr lang="tr-TR" sz="1200" dirty="0"/>
              <a:t> == '\0' || *</a:t>
            </a:r>
            <a:r>
              <a:rPr lang="tr-TR" sz="1200" dirty="0" err="1"/>
              <a:t>second</a:t>
            </a:r>
            <a:r>
              <a:rPr lang="tr-TR" sz="1200" dirty="0"/>
              <a:t> == '\0' )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     break;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  </a:t>
            </a:r>
            <a:r>
              <a:rPr lang="tr-TR" sz="1200" dirty="0" err="1"/>
              <a:t>first</a:t>
            </a:r>
            <a:r>
              <a:rPr lang="tr-TR" sz="1200" dirty="0"/>
              <a:t>++;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  </a:t>
            </a:r>
            <a:r>
              <a:rPr lang="tr-TR" sz="1200" dirty="0" err="1"/>
              <a:t>second</a:t>
            </a:r>
            <a:r>
              <a:rPr lang="tr-TR" sz="1200" dirty="0"/>
              <a:t>++;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}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</a:t>
            </a:r>
            <a:r>
              <a:rPr lang="tr-TR" sz="1200" dirty="0" err="1"/>
              <a:t>if</a:t>
            </a:r>
            <a:r>
              <a:rPr lang="tr-TR" sz="1200" dirty="0"/>
              <a:t>( *</a:t>
            </a:r>
            <a:r>
              <a:rPr lang="tr-TR" sz="1200" dirty="0" err="1"/>
              <a:t>first</a:t>
            </a:r>
            <a:r>
              <a:rPr lang="tr-TR" sz="1200" dirty="0"/>
              <a:t> == '\0' &amp;&amp; *</a:t>
            </a:r>
            <a:r>
              <a:rPr lang="tr-TR" sz="1200" dirty="0" err="1"/>
              <a:t>second</a:t>
            </a:r>
            <a:r>
              <a:rPr lang="tr-TR" sz="1200" dirty="0"/>
              <a:t> == '\0' )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  </a:t>
            </a:r>
            <a:r>
              <a:rPr lang="tr-TR" sz="1200" dirty="0" err="1"/>
              <a:t>return</a:t>
            </a:r>
            <a:r>
              <a:rPr lang="tr-TR" sz="1200" dirty="0"/>
              <a:t> 0;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else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      </a:t>
            </a:r>
            <a:r>
              <a:rPr lang="tr-TR" sz="1200" dirty="0" err="1"/>
              <a:t>return</a:t>
            </a:r>
            <a:r>
              <a:rPr lang="tr-TR" sz="1200" dirty="0"/>
              <a:t> -1;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1200" dirty="0"/>
              <a:t>    }</a:t>
            </a:r>
          </a:p>
          <a:p>
            <a:pPr marL="18288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sz="900" dirty="0"/>
              <a:t>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2400" dirty="0" smtClean="0"/>
              <a:t>EV ÖDEVİ:</a:t>
            </a:r>
            <a:br>
              <a:rPr lang="tr-TR" altLang="tr-TR" sz="2400" dirty="0" smtClean="0"/>
            </a:br>
            <a:r>
              <a:rPr lang="tr-TR" altLang="tr-TR" sz="2400" dirty="0" smtClean="0"/>
              <a:t>Klavyeden </a:t>
            </a:r>
            <a:r>
              <a:rPr lang="tr-TR" altLang="tr-TR" sz="2400" dirty="0"/>
              <a:t>enter tuşuna basılıncaya girilen bir ifadenin bir değişkende</a:t>
            </a:r>
            <a:br>
              <a:rPr lang="tr-TR" altLang="tr-TR" sz="2400" dirty="0"/>
            </a:br>
            <a:r>
              <a:rPr lang="tr-TR" altLang="tr-TR" sz="2400" dirty="0"/>
              <a:t>saklanmasını sağlayan bir program yazınız.</a:t>
            </a:r>
            <a:br>
              <a:rPr lang="tr-TR" altLang="tr-TR" sz="2400" dirty="0"/>
            </a:br>
            <a:endParaRPr lang="tr-TR" altLang="tr-TR" sz="2400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tr-TR" altLang="tr-TR" sz="1400" smtClean="0"/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#include &lt;stdio.h&gt;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#include &lt;stdlib.h&gt;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#include &lt;string.h&gt;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int main()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{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  char cumle[1024],ch,uz;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int s=0;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   ch=getc(stdin);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   while (ch!='\n'){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      cumle[s]=ch;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      s++;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      ch=getc(stdin);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   }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   cumle[s]='\0'; // girilen ifadenin sonuna karakter dizesi sonu işaretini yerleştiriyoruz.//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  puts(cumle)	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  uz=strlen (cumle);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  printf("\n uzunluk=%d",uz);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400" smtClean="0"/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2400" dirty="0" smtClean="0"/>
              <a:t>EV ÖDEVİ:</a:t>
            </a:r>
            <a:br>
              <a:rPr lang="tr-TR" altLang="tr-TR" sz="2400" dirty="0" smtClean="0"/>
            </a:br>
            <a:r>
              <a:rPr lang="tr-TR" altLang="tr-TR" sz="2400" dirty="0" smtClean="0"/>
              <a:t>Klavyeden </a:t>
            </a:r>
            <a:r>
              <a:rPr lang="tr-TR" altLang="tr-TR" sz="2400" dirty="0"/>
              <a:t>girilmiş bir ifadenin uzunluğunu strlen fonksiyonu kullanmadan</a:t>
            </a:r>
            <a:br>
              <a:rPr lang="tr-TR" altLang="tr-TR" sz="2400" dirty="0"/>
            </a:br>
            <a:r>
              <a:rPr lang="tr-TR" altLang="tr-TR" sz="2400" dirty="0"/>
              <a:t>bulan programı yazınız.</a:t>
            </a:r>
            <a:br>
              <a:rPr lang="tr-TR" altLang="tr-TR" sz="2400" dirty="0"/>
            </a:br>
            <a:endParaRPr lang="tr-TR" altLang="tr-TR" sz="2400" dirty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800" dirty="0" smtClean="0"/>
              <a:t>#</a:t>
            </a:r>
            <a:r>
              <a:rPr lang="tr-TR" altLang="tr-TR" sz="1800" dirty="0" err="1" smtClean="0"/>
              <a:t>include</a:t>
            </a:r>
            <a:r>
              <a:rPr lang="tr-TR" altLang="tr-TR" sz="1800" dirty="0" smtClean="0"/>
              <a:t> &lt;</a:t>
            </a:r>
            <a:r>
              <a:rPr lang="tr-TR" altLang="tr-TR" sz="1800" dirty="0" err="1" smtClean="0"/>
              <a:t>stdio.h</a:t>
            </a:r>
            <a:r>
              <a:rPr lang="tr-TR" altLang="tr-TR" sz="1800" dirty="0" smtClean="0"/>
              <a:t>&gt;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800" dirty="0" smtClean="0"/>
              <a:t>#</a:t>
            </a:r>
            <a:r>
              <a:rPr lang="tr-TR" altLang="tr-TR" sz="1800" dirty="0" err="1" smtClean="0"/>
              <a:t>include</a:t>
            </a:r>
            <a:r>
              <a:rPr lang="tr-TR" altLang="tr-TR" sz="1800" dirty="0" smtClean="0"/>
              <a:t> &lt;</a:t>
            </a:r>
            <a:r>
              <a:rPr lang="tr-TR" altLang="tr-TR" sz="1800" dirty="0" err="1" smtClean="0"/>
              <a:t>stdlib.h</a:t>
            </a:r>
            <a:r>
              <a:rPr lang="tr-TR" altLang="tr-TR" sz="1800" dirty="0" smtClean="0"/>
              <a:t>&gt;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tr-TR" altLang="tr-TR" sz="1800" dirty="0" smtClean="0"/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800" dirty="0" smtClean="0"/>
              <a:t> main()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800" dirty="0" smtClean="0"/>
              <a:t>{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800" dirty="0" smtClean="0"/>
              <a:t>  </a:t>
            </a:r>
            <a:r>
              <a:rPr lang="tr-TR" altLang="tr-TR" sz="1800" dirty="0" err="1" smtClean="0"/>
              <a:t>char</a:t>
            </a:r>
            <a:r>
              <a:rPr lang="tr-TR" altLang="tr-TR" sz="1800" dirty="0" smtClean="0"/>
              <a:t> </a:t>
            </a:r>
            <a:r>
              <a:rPr lang="tr-TR" altLang="tr-TR" sz="1800" dirty="0" err="1" smtClean="0"/>
              <a:t>cumle</a:t>
            </a:r>
            <a:r>
              <a:rPr lang="tr-TR" altLang="tr-TR" sz="1800" dirty="0" smtClean="0"/>
              <a:t>[1024];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800" dirty="0" err="1" smtClean="0"/>
              <a:t>int</a:t>
            </a:r>
            <a:r>
              <a:rPr lang="tr-TR" altLang="tr-TR" sz="1800" dirty="0" smtClean="0"/>
              <a:t> s=0;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800" dirty="0" smtClean="0"/>
              <a:t>  </a:t>
            </a:r>
            <a:r>
              <a:rPr lang="tr-TR" altLang="tr-TR" sz="1800" dirty="0" err="1" smtClean="0"/>
              <a:t>gets</a:t>
            </a:r>
            <a:r>
              <a:rPr lang="tr-TR" altLang="tr-TR" sz="1800" dirty="0" smtClean="0"/>
              <a:t>(</a:t>
            </a:r>
            <a:r>
              <a:rPr lang="tr-TR" altLang="tr-TR" sz="1800" dirty="0" err="1" smtClean="0"/>
              <a:t>cumle</a:t>
            </a:r>
            <a:r>
              <a:rPr lang="tr-TR" altLang="tr-TR" sz="1800" dirty="0" smtClean="0"/>
              <a:t>);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800" dirty="0" smtClean="0"/>
              <a:t>   </a:t>
            </a:r>
            <a:r>
              <a:rPr lang="tr-TR" altLang="tr-TR" sz="1800" dirty="0" err="1" smtClean="0"/>
              <a:t>while</a:t>
            </a:r>
            <a:r>
              <a:rPr lang="tr-TR" altLang="tr-TR" sz="1800" dirty="0" smtClean="0"/>
              <a:t> (</a:t>
            </a:r>
            <a:r>
              <a:rPr lang="tr-TR" altLang="tr-TR" sz="1800" dirty="0" err="1" smtClean="0"/>
              <a:t>cumle</a:t>
            </a:r>
            <a:r>
              <a:rPr lang="tr-TR" altLang="tr-TR" sz="1800" dirty="0" smtClean="0"/>
              <a:t>[s]!='\0')s++;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800" dirty="0" smtClean="0"/>
              <a:t>   </a:t>
            </a:r>
            <a:r>
              <a:rPr lang="tr-TR" altLang="tr-TR" sz="1800" dirty="0" err="1" smtClean="0"/>
              <a:t>printf</a:t>
            </a:r>
            <a:r>
              <a:rPr lang="tr-TR" altLang="tr-TR" sz="1800" dirty="0" smtClean="0"/>
              <a:t>("Uzunluk:%d\</a:t>
            </a:r>
            <a:r>
              <a:rPr lang="tr-TR" altLang="tr-TR" sz="1800" dirty="0" err="1" smtClean="0"/>
              <a:t>n",s</a:t>
            </a:r>
            <a:r>
              <a:rPr lang="tr-TR" altLang="tr-TR" sz="1800" dirty="0" smtClean="0"/>
              <a:t>);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800" dirty="0" smtClean="0"/>
              <a:t>   // girilen ifadenin sonuna kadar harfler </a:t>
            </a:r>
            <a:r>
              <a:rPr lang="tr-TR" altLang="tr-TR" sz="1800" dirty="0" err="1" smtClean="0"/>
              <a:t>sayılır.karakter</a:t>
            </a:r>
            <a:r>
              <a:rPr lang="tr-TR" altLang="tr-TR" sz="1800" dirty="0" smtClean="0"/>
              <a:t> dizesi sonu işaretini bulmaya çalışıyoruz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800" dirty="0" smtClean="0"/>
              <a:t>}</a:t>
            </a:r>
            <a:endParaRPr lang="tr-TR" altLang="tr-TR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2000" dirty="0"/>
              <a:t>EV ÖDEVİ:</a:t>
            </a:r>
            <a:br>
              <a:rPr lang="tr-TR" altLang="tr-TR" sz="2000" dirty="0"/>
            </a:br>
            <a:r>
              <a:rPr lang="tr-TR" altLang="tr-TR" sz="2000" dirty="0"/>
              <a:t>Klavyeden </a:t>
            </a:r>
            <a:r>
              <a:rPr lang="tr-TR" altLang="tr-TR" sz="2000" dirty="0" smtClean="0"/>
              <a:t>EN FAZLA 8 karakter ve enter </a:t>
            </a:r>
            <a:r>
              <a:rPr lang="tr-TR" altLang="tr-TR" sz="2000" dirty="0"/>
              <a:t>tuşuna basılıncaya kadar</a:t>
            </a:r>
            <a:br>
              <a:rPr lang="tr-TR" altLang="tr-TR" sz="2000" dirty="0"/>
            </a:br>
            <a:r>
              <a:rPr lang="tr-TR" altLang="tr-TR" sz="2000" dirty="0"/>
              <a:t>ifadelerin okunmasını sağlayan programı yazınız</a:t>
            </a:r>
            <a:r>
              <a:rPr lang="tr-TR" altLang="tr-TR" sz="2000" dirty="0" smtClean="0"/>
              <a:t>.</a:t>
            </a:r>
            <a:br>
              <a:rPr lang="tr-TR" altLang="tr-TR" sz="2000" dirty="0" smtClean="0"/>
            </a:br>
            <a:r>
              <a:rPr lang="tr-TR" altLang="tr-TR" sz="2000" dirty="0" smtClean="0"/>
              <a:t>Bir karakter </a:t>
            </a:r>
            <a:r>
              <a:rPr lang="tr-TR" altLang="tr-TR" sz="2000" dirty="0" err="1" smtClean="0"/>
              <a:t>strıng</a:t>
            </a:r>
            <a:r>
              <a:rPr lang="tr-TR" altLang="tr-TR" sz="2000" dirty="0" smtClean="0"/>
              <a:t> sonlandırma için ayrılıyor</a:t>
            </a:r>
            <a:endParaRPr lang="tr-TR" altLang="tr-TR" sz="2000" dirty="0"/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120900"/>
            <a:ext cx="8207375" cy="4476750"/>
          </a:xfrm>
        </p:spPr>
        <p:txBody>
          <a:bodyPr rtlCol="0">
            <a:normAutofit fontScale="77500" lnSpcReduction="20000"/>
          </a:bodyPr>
          <a:lstStyle/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 smtClean="0"/>
              <a:t>#</a:t>
            </a:r>
            <a:r>
              <a:rPr lang="en-US" altLang="tr-TR" sz="2300" dirty="0"/>
              <a:t>include &lt;</a:t>
            </a:r>
            <a:r>
              <a:rPr lang="en-US" altLang="tr-TR" sz="2300" dirty="0" err="1"/>
              <a:t>stdio.h</a:t>
            </a:r>
            <a:r>
              <a:rPr lang="en-US" altLang="tr-TR" sz="2300" dirty="0"/>
              <a:t>&gt;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/>
              <a:t>#include &lt;</a:t>
            </a:r>
            <a:r>
              <a:rPr lang="en-US" altLang="tr-TR" sz="2300" dirty="0" err="1"/>
              <a:t>stdlib.h</a:t>
            </a:r>
            <a:r>
              <a:rPr lang="en-US" altLang="tr-TR" sz="2300" dirty="0"/>
              <a:t>&gt;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/>
              <a:t>#define SAY 9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 err="1"/>
              <a:t>int</a:t>
            </a:r>
            <a:r>
              <a:rPr lang="en-US" altLang="tr-TR" sz="2300" dirty="0"/>
              <a:t> main()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/>
              <a:t>{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/>
              <a:t>  char </a:t>
            </a:r>
            <a:r>
              <a:rPr lang="en-US" altLang="tr-TR" sz="2300" dirty="0" err="1"/>
              <a:t>kelime</a:t>
            </a:r>
            <a:r>
              <a:rPr lang="en-US" altLang="tr-TR" sz="2300" dirty="0"/>
              <a:t>[SAY];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 err="1"/>
              <a:t>int</a:t>
            </a:r>
            <a:r>
              <a:rPr lang="en-US" altLang="tr-TR" sz="2300" dirty="0"/>
              <a:t> l;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/>
              <a:t>   l=0;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/>
              <a:t>   while((</a:t>
            </a:r>
            <a:r>
              <a:rPr lang="en-US" altLang="tr-TR" sz="2300" dirty="0" err="1"/>
              <a:t>kelime</a:t>
            </a:r>
            <a:r>
              <a:rPr lang="en-US" altLang="tr-TR" sz="2300" dirty="0"/>
              <a:t>[l]=</a:t>
            </a:r>
            <a:r>
              <a:rPr lang="en-US" altLang="tr-TR" sz="2300" dirty="0" err="1"/>
              <a:t>getc</a:t>
            </a:r>
            <a:r>
              <a:rPr lang="en-US" altLang="tr-TR" sz="2300" dirty="0"/>
              <a:t>(</a:t>
            </a:r>
            <a:r>
              <a:rPr lang="en-US" altLang="tr-TR" sz="2300" dirty="0" err="1"/>
              <a:t>stdin</a:t>
            </a:r>
            <a:r>
              <a:rPr lang="en-US" altLang="tr-TR" sz="2300" dirty="0"/>
              <a:t>))!='\n' &amp;&amp; l&lt;SAY)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/>
              <a:t>      l++;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/>
              <a:t>   if (l&gt;=SAY) l=SAY-1;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/>
              <a:t>   </a:t>
            </a:r>
            <a:r>
              <a:rPr lang="en-US" altLang="tr-TR" sz="2300" dirty="0" err="1"/>
              <a:t>kelime</a:t>
            </a:r>
            <a:r>
              <a:rPr lang="en-US" altLang="tr-TR" sz="2300" dirty="0"/>
              <a:t>[l]='\0';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/>
              <a:t>puts(</a:t>
            </a:r>
            <a:r>
              <a:rPr lang="en-US" altLang="tr-TR" sz="2300" dirty="0" err="1"/>
              <a:t>kelime</a:t>
            </a:r>
            <a:r>
              <a:rPr lang="en-US" altLang="tr-TR" sz="2300" dirty="0"/>
              <a:t>);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US" altLang="tr-TR" sz="2300" dirty="0"/>
              <a:t>}</a:t>
            </a:r>
            <a:endParaRPr lang="tr-TR" altLang="tr-TR" sz="2300" dirty="0"/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tr-TR" altLang="tr-TR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2400" dirty="0"/>
              <a:t>EV ÖDEVİ: </a:t>
            </a:r>
            <a:br>
              <a:rPr lang="tr-TR" altLang="tr-TR" sz="2400" dirty="0"/>
            </a:br>
            <a:r>
              <a:rPr lang="tr-TR" altLang="tr-TR" sz="2400" dirty="0"/>
              <a:t>Girilen cümleyi oluşturan kelimelerin sadece ilk harflerini yazdıran program.</a:t>
            </a:r>
            <a:br>
              <a:rPr lang="tr-TR" altLang="tr-TR" sz="2400" dirty="0"/>
            </a:br>
            <a:endParaRPr lang="tr-TR" altLang="tr-TR" sz="2400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tr-TR" altLang="tr-TR" sz="2800" smtClean="0"/>
          </a:p>
          <a:p>
            <a:pPr eaLnBrk="1" hangingPunct="1"/>
            <a:r>
              <a:rPr lang="tr-TR" altLang="tr-TR" sz="2800" smtClean="0"/>
              <a:t>1. c = sıradaki karakteri oku</a:t>
            </a:r>
          </a:p>
          <a:p>
            <a:pPr eaLnBrk="1" hangingPunct="1"/>
            <a:r>
              <a:rPr lang="tr-TR" altLang="tr-TR" sz="2800" smtClean="0"/>
              <a:t>2. Eğer  c boşluk ise 4. adıma git</a:t>
            </a:r>
          </a:p>
          <a:p>
            <a:pPr eaLnBrk="1" hangingPunct="1"/>
            <a:r>
              <a:rPr lang="tr-TR" altLang="tr-TR" sz="2800" smtClean="0"/>
              <a:t>3. Hiç karakter yazılmamış ise c'yi yaz.</a:t>
            </a:r>
          </a:p>
          <a:p>
            <a:pPr eaLnBrk="1" hangingPunct="1"/>
            <a:r>
              <a:rPr lang="tr-TR" altLang="tr-TR" sz="2800" smtClean="0"/>
              <a:t>4. Eğer son karakter ise dur aksi halde bir sonraki karakteri göster ve 1.adıma git.</a:t>
            </a:r>
          </a:p>
          <a:p>
            <a:pPr eaLnBrk="1" hangingPunct="1"/>
            <a:r>
              <a:rPr lang="tr-TR" altLang="tr-TR" sz="2800" smtClean="0"/>
              <a:t>Yukarıdaki algoritmada çözümün en önemli noktası herhangi bir kelimenin ilk kara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412875"/>
            <a:ext cx="8280400" cy="4895850"/>
          </a:xfrm>
        </p:spPr>
        <p:txBody>
          <a:bodyPr rtlCol="0">
            <a:normAutofit fontScale="40000" lnSpcReduction="20000"/>
          </a:bodyPr>
          <a:lstStyle/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#</a:t>
            </a:r>
            <a:r>
              <a:rPr lang="tr-TR" altLang="tr-TR" sz="4400" dirty="0" err="1"/>
              <a:t>include</a:t>
            </a:r>
            <a:r>
              <a:rPr lang="tr-TR" altLang="tr-TR" sz="4400" dirty="0"/>
              <a:t> &lt;</a:t>
            </a:r>
            <a:r>
              <a:rPr lang="tr-TR" altLang="tr-TR" sz="4400" dirty="0" err="1"/>
              <a:t>stdio.h</a:t>
            </a:r>
            <a:r>
              <a:rPr lang="tr-TR" altLang="tr-TR" sz="4400" dirty="0"/>
              <a:t>&gt;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#</a:t>
            </a:r>
            <a:r>
              <a:rPr lang="tr-TR" altLang="tr-TR" sz="4400" dirty="0" err="1"/>
              <a:t>include</a:t>
            </a:r>
            <a:r>
              <a:rPr lang="tr-TR" altLang="tr-TR" sz="4400" dirty="0"/>
              <a:t> &lt;</a:t>
            </a:r>
            <a:r>
              <a:rPr lang="tr-TR" altLang="tr-TR" sz="4400" dirty="0" err="1"/>
              <a:t>stdlib.h</a:t>
            </a:r>
            <a:r>
              <a:rPr lang="tr-TR" altLang="tr-TR" sz="4400" dirty="0"/>
              <a:t>&gt;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tr-TR" altLang="tr-TR" sz="4400" dirty="0"/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 err="1"/>
              <a:t>int</a:t>
            </a:r>
            <a:r>
              <a:rPr lang="tr-TR" altLang="tr-TR" sz="4400" dirty="0"/>
              <a:t> main(</a:t>
            </a:r>
            <a:r>
              <a:rPr lang="tr-TR" altLang="tr-TR" sz="4400" dirty="0" err="1"/>
              <a:t>int</a:t>
            </a:r>
            <a:r>
              <a:rPr lang="tr-TR" altLang="tr-TR" sz="4400" dirty="0"/>
              <a:t> </a:t>
            </a:r>
            <a:r>
              <a:rPr lang="tr-TR" altLang="tr-TR" sz="4400" dirty="0" err="1"/>
              <a:t>argc</a:t>
            </a:r>
            <a:r>
              <a:rPr lang="tr-TR" altLang="tr-TR" sz="4400" dirty="0"/>
              <a:t>, </a:t>
            </a:r>
            <a:r>
              <a:rPr lang="tr-TR" altLang="tr-TR" sz="4400" dirty="0" err="1"/>
              <a:t>char</a:t>
            </a:r>
            <a:r>
              <a:rPr lang="tr-TR" altLang="tr-TR" sz="4400" dirty="0"/>
              <a:t> *</a:t>
            </a:r>
            <a:r>
              <a:rPr lang="tr-TR" altLang="tr-TR" sz="4400" dirty="0" err="1"/>
              <a:t>argv</a:t>
            </a:r>
            <a:r>
              <a:rPr lang="tr-TR" altLang="tr-TR" sz="4400" dirty="0"/>
              <a:t>[])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{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  </a:t>
            </a:r>
            <a:r>
              <a:rPr lang="tr-TR" altLang="tr-TR" sz="4400" dirty="0" err="1"/>
              <a:t>int</a:t>
            </a:r>
            <a:r>
              <a:rPr lang="tr-TR" altLang="tr-TR" sz="4400" dirty="0"/>
              <a:t> i;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</a:t>
            </a:r>
            <a:r>
              <a:rPr lang="tr-TR" altLang="tr-TR" sz="4400" dirty="0" err="1"/>
              <a:t>int</a:t>
            </a:r>
            <a:r>
              <a:rPr lang="tr-TR" altLang="tr-TR" sz="4400" dirty="0"/>
              <a:t> yaz; /* 1/0 -&gt; karakteri yaz/yazma */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</a:t>
            </a:r>
            <a:r>
              <a:rPr lang="tr-TR" altLang="tr-TR" sz="4400" dirty="0" err="1"/>
              <a:t>char</a:t>
            </a:r>
            <a:r>
              <a:rPr lang="tr-TR" altLang="tr-TR" sz="4400" dirty="0"/>
              <a:t> *s;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tr-TR" altLang="tr-TR" sz="4400" dirty="0"/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</a:t>
            </a:r>
            <a:r>
              <a:rPr lang="tr-TR" altLang="tr-TR" sz="4400" dirty="0" err="1"/>
              <a:t>clrscr</a:t>
            </a:r>
            <a:r>
              <a:rPr lang="tr-TR" altLang="tr-TR" sz="4400" dirty="0"/>
              <a:t>();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</a:t>
            </a:r>
            <a:r>
              <a:rPr lang="tr-TR" altLang="tr-TR" sz="4400" dirty="0" err="1"/>
              <a:t>gets</a:t>
            </a:r>
            <a:r>
              <a:rPr lang="tr-TR" altLang="tr-TR" sz="4400" dirty="0"/>
              <a:t>(s);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yaz = 1;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</a:t>
            </a:r>
            <a:r>
              <a:rPr lang="tr-TR" altLang="tr-TR" sz="4400" dirty="0" err="1"/>
              <a:t>for</a:t>
            </a:r>
            <a:r>
              <a:rPr lang="tr-TR" altLang="tr-TR" sz="4400" dirty="0"/>
              <a:t> (i = 0; i&lt;</a:t>
            </a:r>
            <a:r>
              <a:rPr lang="tr-TR" altLang="tr-TR" sz="4400" dirty="0" err="1"/>
              <a:t>strlen</a:t>
            </a:r>
            <a:r>
              <a:rPr lang="tr-TR" altLang="tr-TR" sz="4400" dirty="0"/>
              <a:t>(s); i++)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    </a:t>
            </a:r>
            <a:r>
              <a:rPr lang="tr-TR" altLang="tr-TR" sz="4400" dirty="0" err="1"/>
              <a:t>if</a:t>
            </a:r>
            <a:r>
              <a:rPr lang="tr-TR" altLang="tr-TR" sz="4400" dirty="0"/>
              <a:t> (s[i] == ' ')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       yaz = 1;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    else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       </a:t>
            </a:r>
            <a:r>
              <a:rPr lang="tr-TR" altLang="tr-TR" sz="4400" dirty="0" err="1"/>
              <a:t>if</a:t>
            </a:r>
            <a:r>
              <a:rPr lang="tr-TR" altLang="tr-TR" sz="4400" dirty="0"/>
              <a:t> (yaz) {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          </a:t>
            </a:r>
            <a:r>
              <a:rPr lang="tr-TR" altLang="tr-TR" sz="4400" dirty="0" err="1"/>
              <a:t>printf</a:t>
            </a:r>
            <a:r>
              <a:rPr lang="tr-TR" altLang="tr-TR" sz="4400" dirty="0"/>
              <a:t>("%c", s[i]);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          yaz = 0;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tr-TR" altLang="tr-TR" sz="4400" dirty="0"/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</a:t>
            </a:r>
            <a:r>
              <a:rPr lang="tr-TR" altLang="tr-TR" sz="4400" dirty="0" err="1"/>
              <a:t>system</a:t>
            </a:r>
            <a:r>
              <a:rPr lang="tr-TR" altLang="tr-TR" sz="4400" dirty="0"/>
              <a:t>("PAUSE");	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4400" dirty="0"/>
              <a:t>  </a:t>
            </a:r>
            <a:r>
              <a:rPr lang="tr-TR" altLang="tr-TR" sz="4400" dirty="0" err="1"/>
              <a:t>return</a:t>
            </a:r>
            <a:r>
              <a:rPr lang="tr-TR" altLang="tr-TR" sz="4400" dirty="0"/>
              <a:t> 0;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tr-TR" altLang="tr-TR" sz="1200" dirty="0"/>
              <a:t>  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1800" dirty="0"/>
              <a:t>EV ÖDEVİ:</a:t>
            </a:r>
            <a:br>
              <a:rPr lang="tr-TR" altLang="tr-TR" sz="1800" dirty="0"/>
            </a:br>
            <a:r>
              <a:rPr lang="tr-TR" altLang="tr-TR" sz="1800" dirty="0"/>
              <a:t>String tipi bir değişkenin değerini  tamsayısal tipe dönüştüren işlevi yazınız.(atoi (stdlib.h))</a:t>
            </a:r>
            <a:br>
              <a:rPr lang="tr-TR" altLang="tr-TR" sz="1800" dirty="0"/>
            </a:br>
            <a:r>
              <a:rPr lang="tr-TR" altLang="tr-TR" sz="1800" dirty="0"/>
              <a:t>Girdi : Tamsayısal string</a:t>
            </a:r>
            <a:br>
              <a:rPr lang="tr-TR" altLang="tr-TR" sz="1800" dirty="0"/>
            </a:br>
            <a:r>
              <a:rPr lang="tr-TR" altLang="tr-TR" sz="1800" dirty="0"/>
              <a:t>Çıktı : Karşılık gelen sayı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1042988" y="1989138"/>
            <a:ext cx="7772400" cy="40497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#include &lt;stdio.h&gt;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#include &lt;stdlib.h&gt;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#include &lt;string.h&gt;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tr-TR" altLang="tr-TR" sz="12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int main(int argc, char *argv[])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  int deger (char *);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tr-TR" altLang="tr-TR" sz="12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char *c;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int i;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tr-TR" altLang="tr-TR" sz="12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c="93t54";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i=deger(c);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printf("%s dizi katarının sayısal karşılığı %d \n",c, i);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}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int deger( char *s)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int i,j;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int x;   /*sayı */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x = 0;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for (i = 0; i&lt;strlen(s); i++) 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    j = s[i] - '0';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    x = x * 10 + j 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}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tr-TR" altLang="tr-TR" sz="12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tr-TR" altLang="tr-TR" sz="12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system("PAUSE");	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  return 0;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tr-TR" altLang="tr-TR" sz="1200" smtClean="0"/>
              <a:t>}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2000" dirty="0"/>
              <a:t>EV ÖDEVİ:</a:t>
            </a:r>
            <a:br>
              <a:rPr lang="tr-TR" altLang="tr-TR" sz="2000" dirty="0"/>
            </a:br>
            <a:r>
              <a:rPr lang="tr-TR" altLang="tr-TR" sz="2000" dirty="0"/>
              <a:t>Bir dizgi içerisindeki bir karakterin </a:t>
            </a:r>
            <a:r>
              <a:rPr lang="tr-TR" altLang="tr-TR" sz="2000" dirty="0" smtClean="0"/>
              <a:t>bulunması ve DEĞİŞTİRİLMESİ</a:t>
            </a:r>
            <a:endParaRPr lang="tr-TR" altLang="tr-TR" sz="2000" dirty="0"/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err="1" smtClean="0"/>
              <a:t>int</a:t>
            </a:r>
            <a:r>
              <a:rPr lang="tr-TR" altLang="tr-TR" sz="1400" dirty="0" smtClean="0"/>
              <a:t> main()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 {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    </a:t>
            </a:r>
            <a:r>
              <a:rPr lang="tr-TR" altLang="tr-TR" sz="1400" dirty="0" err="1" smtClean="0"/>
              <a:t>char</a:t>
            </a:r>
            <a:r>
              <a:rPr lang="tr-TR" altLang="tr-TR" sz="1400" dirty="0" smtClean="0"/>
              <a:t> *s1, *s2, *s3;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    </a:t>
            </a:r>
            <a:r>
              <a:rPr lang="tr-TR" altLang="tr-TR" sz="1400" dirty="0" err="1" smtClean="0"/>
              <a:t>int</a:t>
            </a:r>
            <a:r>
              <a:rPr lang="tr-TR" altLang="tr-TR" sz="1400" dirty="0" smtClean="0"/>
              <a:t> i;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    s1 = (</a:t>
            </a:r>
            <a:r>
              <a:rPr lang="tr-TR" altLang="tr-TR" sz="1400" dirty="0" err="1" smtClean="0"/>
              <a:t>char</a:t>
            </a:r>
            <a:r>
              <a:rPr lang="tr-TR" altLang="tr-TR" sz="1400" dirty="0" smtClean="0"/>
              <a:t> *) </a:t>
            </a:r>
            <a:r>
              <a:rPr lang="tr-TR" altLang="tr-TR" sz="1400" dirty="0" err="1" smtClean="0"/>
              <a:t>malloc</a:t>
            </a:r>
            <a:r>
              <a:rPr lang="tr-TR" altLang="tr-TR" sz="1400" dirty="0" smtClean="0"/>
              <a:t>(20*</a:t>
            </a:r>
            <a:r>
              <a:rPr lang="tr-TR" altLang="tr-TR" sz="1400" dirty="0" err="1" smtClean="0"/>
              <a:t>sizeof</a:t>
            </a:r>
            <a:r>
              <a:rPr lang="tr-TR" altLang="tr-TR" sz="1400" dirty="0" smtClean="0"/>
              <a:t>(</a:t>
            </a:r>
            <a:r>
              <a:rPr lang="tr-TR" altLang="tr-TR" sz="1400" dirty="0" err="1" smtClean="0"/>
              <a:t>char</a:t>
            </a:r>
            <a:r>
              <a:rPr lang="tr-TR" altLang="tr-TR" sz="1400" dirty="0" smtClean="0"/>
              <a:t>));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    s2 = (</a:t>
            </a:r>
            <a:r>
              <a:rPr lang="tr-TR" altLang="tr-TR" sz="1400" dirty="0" err="1" smtClean="0"/>
              <a:t>char</a:t>
            </a:r>
            <a:r>
              <a:rPr lang="tr-TR" altLang="tr-TR" sz="1400" dirty="0" smtClean="0"/>
              <a:t> *) </a:t>
            </a:r>
            <a:r>
              <a:rPr lang="tr-TR" altLang="tr-TR" sz="1400" dirty="0" err="1" smtClean="0"/>
              <a:t>malloc</a:t>
            </a:r>
            <a:r>
              <a:rPr lang="tr-TR" altLang="tr-TR" sz="1400" dirty="0" smtClean="0"/>
              <a:t>(20*</a:t>
            </a:r>
            <a:r>
              <a:rPr lang="tr-TR" altLang="tr-TR" sz="1400" dirty="0" err="1" smtClean="0"/>
              <a:t>sizeof</a:t>
            </a:r>
            <a:r>
              <a:rPr lang="tr-TR" altLang="tr-TR" sz="1400" dirty="0" smtClean="0"/>
              <a:t>(</a:t>
            </a:r>
            <a:r>
              <a:rPr lang="tr-TR" altLang="tr-TR" sz="1400" dirty="0" err="1" smtClean="0"/>
              <a:t>char</a:t>
            </a:r>
            <a:r>
              <a:rPr lang="tr-TR" altLang="tr-TR" sz="1400" dirty="0" smtClean="0"/>
              <a:t>));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    </a:t>
            </a:r>
            <a:r>
              <a:rPr lang="tr-TR" altLang="tr-TR" sz="1400" dirty="0" err="1" smtClean="0"/>
              <a:t>gets</a:t>
            </a:r>
            <a:r>
              <a:rPr lang="tr-TR" altLang="tr-TR" sz="1400" dirty="0" smtClean="0"/>
              <a:t>(s1);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    </a:t>
            </a:r>
            <a:r>
              <a:rPr lang="tr-TR" altLang="tr-TR" sz="1400" dirty="0" err="1" smtClean="0"/>
              <a:t>strcpy</a:t>
            </a:r>
            <a:r>
              <a:rPr lang="tr-TR" altLang="tr-TR" sz="1400" dirty="0" smtClean="0"/>
              <a:t>(s2, s1);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    </a:t>
            </a:r>
            <a:r>
              <a:rPr lang="tr-TR" altLang="tr-TR" sz="1400" dirty="0" err="1" smtClean="0"/>
              <a:t>for</a:t>
            </a:r>
            <a:r>
              <a:rPr lang="tr-TR" altLang="tr-TR" sz="1400" dirty="0" smtClean="0"/>
              <a:t> (i=0; i&lt;</a:t>
            </a:r>
            <a:r>
              <a:rPr lang="tr-TR" altLang="tr-TR" sz="1400" dirty="0" err="1" smtClean="0"/>
              <a:t>strlen</a:t>
            </a:r>
            <a:r>
              <a:rPr lang="tr-TR" altLang="tr-TR" sz="1400" dirty="0" smtClean="0"/>
              <a:t>(s1); i++)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       {</a:t>
            </a:r>
            <a:r>
              <a:rPr lang="tr-TR" altLang="tr-TR" sz="1400" dirty="0" err="1" smtClean="0"/>
              <a:t>if</a:t>
            </a:r>
            <a:r>
              <a:rPr lang="tr-TR" altLang="tr-TR" sz="1400" dirty="0" smtClean="0"/>
              <a:t> (s1[i] == 'a') 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	   { </a:t>
            </a:r>
            <a:r>
              <a:rPr lang="tr-TR" altLang="tr-TR" sz="1400" dirty="0" err="1" smtClean="0"/>
              <a:t>printf</a:t>
            </a:r>
            <a:r>
              <a:rPr lang="tr-TR" altLang="tr-TR" sz="1400" dirty="0" smtClean="0"/>
              <a:t>("\n </a:t>
            </a:r>
            <a:r>
              <a:rPr lang="tr-TR" altLang="tr-TR" sz="1400" dirty="0" err="1" smtClean="0"/>
              <a:t>degisti</a:t>
            </a:r>
            <a:r>
              <a:rPr lang="tr-TR" altLang="tr-TR" sz="1400" dirty="0" smtClean="0"/>
              <a:t>");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        s1[i] = 'A';}}</a:t>
            </a:r>
          </a:p>
          <a:p>
            <a:pPr marL="18288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1400" dirty="0" smtClean="0"/>
              <a:t> </a:t>
            </a:r>
            <a:r>
              <a:rPr lang="tr-TR" altLang="tr-TR" sz="1400" dirty="0" err="1" smtClean="0"/>
              <a:t>puts</a:t>
            </a:r>
            <a:r>
              <a:rPr lang="tr-TR" altLang="tr-TR" sz="1400" dirty="0" smtClean="0"/>
              <a:t>(s1);}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İçerik Yer Tutucusu 2"/>
          <p:cNvSpPr>
            <a:spLocks noGrp="1"/>
          </p:cNvSpPr>
          <p:nvPr>
            <p:ph idx="1"/>
          </p:nvPr>
        </p:nvSpPr>
        <p:spPr>
          <a:xfrm>
            <a:off x="827088" y="30163"/>
            <a:ext cx="7666037" cy="6337300"/>
          </a:xfrm>
        </p:spPr>
        <p:txBody>
          <a:bodyPr/>
          <a:lstStyle/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#include &lt;stdio.h&gt;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tr-TR" altLang="tr-TR" sz="1200" smtClean="0"/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#define MAX 100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tr-TR" altLang="tr-TR" sz="1200" smtClean="0"/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int main()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{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char str1[MAX];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char str2[MAX];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int i;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int flag=1;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char *pStr1=str1;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char *pStr2=str2;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printf("Birinci string: ");	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scanf</a:t>
            </a:r>
            <a:r>
              <a:rPr lang="tr-TR" altLang="tr-TR" sz="1200" smtClean="0">
                <a:solidFill>
                  <a:srgbClr val="FF0000"/>
                </a:solidFill>
              </a:rPr>
              <a:t>("%[^\n]s</a:t>
            </a:r>
            <a:r>
              <a:rPr lang="tr-TR" altLang="tr-TR" sz="1200" smtClean="0"/>
              <a:t>",pStr1);// </a:t>
            </a:r>
            <a:r>
              <a:rPr lang="tr-TR" altLang="tr-TR" sz="1200" smtClean="0">
                <a:solidFill>
                  <a:srgbClr val="FF0000"/>
                </a:solidFill>
              </a:rPr>
              <a:t>Boşluk tab gibi karakterleri -whitespace karakterleri- alabilmek için bu şekilde giriş yapmak gerekir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printf("İkinci string ");	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getchar(); //read &amp; ignore extra character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scanf</a:t>
            </a:r>
            <a:r>
              <a:rPr lang="tr-TR" altLang="tr-TR" sz="1200" smtClean="0">
                <a:solidFill>
                  <a:srgbClr val="FF0000"/>
                </a:solidFill>
              </a:rPr>
              <a:t>("%[^\n]s</a:t>
            </a:r>
            <a:r>
              <a:rPr lang="tr-TR" altLang="tr-TR" sz="1200" smtClean="0"/>
              <a:t>",pStr2);	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printf("birinci: %s\n ikinci: %s\n",pStr1,pStr2);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//karsilastir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for(i=0; (*(pStr1+i))!='\0'; i++)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{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	if(*(pStr1+i) != *(pStr2+i))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	{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		flag=0;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		break;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	}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}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if(flag)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	printf("Esit.\n");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else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	printf("Esit DEGIL\n");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1200" smtClean="0"/>
              <a:t>	return 0;	}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288" y="260350"/>
            <a:ext cx="8497887" cy="6376988"/>
          </a:xfrm>
        </p:spPr>
        <p:txBody>
          <a:bodyPr>
            <a:normAutofit fontScale="55000" lnSpcReduction="20000"/>
          </a:bodyPr>
          <a:lstStyle/>
          <a:p>
            <a:pPr eaLnBrk="1" hangingPunct="1"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pPr eaLnBrk="1" hangingPunct="1"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string.h</a:t>
            </a:r>
            <a:r>
              <a:rPr lang="tr-TR" dirty="0"/>
              <a:t>&gt;</a:t>
            </a:r>
          </a:p>
          <a:p>
            <a:pPr eaLnBrk="1" hangingPunct="1">
              <a:defRPr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stdlib.h</a:t>
            </a:r>
            <a:r>
              <a:rPr lang="tr-TR" dirty="0"/>
              <a:t>&gt;</a:t>
            </a:r>
          </a:p>
          <a:p>
            <a:pPr eaLnBrk="1" hangingPunct="1">
              <a:defRPr/>
            </a:pP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printName</a:t>
            </a:r>
            <a:r>
              <a:rPr lang="tr-TR" dirty="0"/>
              <a:t>(</a:t>
            </a:r>
            <a:r>
              <a:rPr lang="tr-TR" dirty="0" err="1"/>
              <a:t>char</a:t>
            </a:r>
            <a:r>
              <a:rPr lang="tr-TR" dirty="0"/>
              <a:t> *name[10], </a:t>
            </a:r>
            <a:r>
              <a:rPr lang="tr-TR" dirty="0" err="1"/>
              <a:t>int</a:t>
            </a:r>
            <a:r>
              <a:rPr lang="tr-TR" dirty="0"/>
              <a:t> *</a:t>
            </a:r>
            <a:r>
              <a:rPr lang="tr-TR" dirty="0" err="1"/>
              <a:t>players</a:t>
            </a:r>
            <a:r>
              <a:rPr lang="tr-TR" dirty="0"/>
              <a:t>);</a:t>
            </a:r>
          </a:p>
          <a:p>
            <a:pPr eaLnBrk="1" hangingPunct="1">
              <a:defRPr/>
            </a:pPr>
            <a:r>
              <a:rPr lang="tr-TR" dirty="0" err="1"/>
              <a:t>int</a:t>
            </a:r>
            <a:r>
              <a:rPr lang="tr-TR" dirty="0"/>
              <a:t> main()</a:t>
            </a:r>
          </a:p>
          <a:p>
            <a:pPr eaLnBrk="1" hangingPunct="1">
              <a:defRPr/>
            </a:pPr>
            <a:r>
              <a:rPr lang="tr-TR" dirty="0"/>
              <a:t>{</a:t>
            </a:r>
            <a:r>
              <a:rPr lang="tr-TR" dirty="0" err="1"/>
              <a:t>char</a:t>
            </a:r>
            <a:r>
              <a:rPr lang="tr-TR" dirty="0"/>
              <a:t> *name [10];</a:t>
            </a:r>
          </a:p>
          <a:p>
            <a:pPr eaLnBrk="1" hangingPunct="1">
              <a:defRPr/>
            </a:pPr>
            <a:r>
              <a:rPr lang="tr-TR" dirty="0"/>
              <a:t>	</a:t>
            </a:r>
            <a:r>
              <a:rPr lang="tr-TR" dirty="0" err="1"/>
              <a:t>int</a:t>
            </a:r>
            <a:r>
              <a:rPr lang="tr-TR" dirty="0"/>
              <a:t> i, </a:t>
            </a:r>
            <a:r>
              <a:rPr lang="tr-TR" dirty="0" err="1"/>
              <a:t>players</a:t>
            </a:r>
            <a:r>
              <a:rPr lang="tr-TR" dirty="0"/>
              <a:t>;</a:t>
            </a:r>
          </a:p>
          <a:p>
            <a:pPr eaLnBrk="1" hangingPunct="1">
              <a:defRPr/>
            </a:pPr>
            <a:r>
              <a:rPr lang="tr-TR" dirty="0"/>
              <a:t>	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Kac</a:t>
            </a:r>
            <a:r>
              <a:rPr lang="tr-TR" dirty="0"/>
              <a:t> </a:t>
            </a:r>
            <a:r>
              <a:rPr lang="tr-TR" dirty="0" err="1"/>
              <a:t>deger</a:t>
            </a:r>
            <a:r>
              <a:rPr lang="tr-TR" dirty="0"/>
              <a:t> girilecek: ");</a:t>
            </a:r>
          </a:p>
          <a:p>
            <a:pPr eaLnBrk="1" hangingPunct="1">
              <a:defRPr/>
            </a:pPr>
            <a:r>
              <a:rPr lang="tr-TR" dirty="0"/>
              <a:t>	</a:t>
            </a:r>
            <a:r>
              <a:rPr lang="tr-TR" dirty="0" err="1"/>
              <a:t>scanf</a:t>
            </a:r>
            <a:r>
              <a:rPr lang="tr-TR" dirty="0"/>
              <a:t>("%d", &amp;</a:t>
            </a:r>
            <a:r>
              <a:rPr lang="tr-TR" dirty="0" err="1"/>
              <a:t>players</a:t>
            </a:r>
            <a:r>
              <a:rPr lang="tr-TR" dirty="0" smtClean="0"/>
              <a:t>); // 10 dan </a:t>
            </a:r>
            <a:r>
              <a:rPr lang="tr-TR" smtClean="0"/>
              <a:t>küçük girilmeli</a:t>
            </a:r>
            <a:endParaRPr lang="tr-TR" dirty="0"/>
          </a:p>
          <a:p>
            <a:pPr eaLnBrk="1" hangingPunct="1">
              <a:defRPr/>
            </a:pPr>
            <a:r>
              <a:rPr lang="tr-TR" dirty="0"/>
              <a:t>	</a:t>
            </a:r>
            <a:r>
              <a:rPr lang="tr-TR" dirty="0" err="1"/>
              <a:t>getchar</a:t>
            </a:r>
            <a:r>
              <a:rPr lang="tr-TR" dirty="0"/>
              <a:t>();</a:t>
            </a:r>
          </a:p>
          <a:p>
            <a:pPr eaLnBrk="1" hangingPunct="1">
              <a:defRPr/>
            </a:pPr>
            <a:r>
              <a:rPr lang="tr-TR" dirty="0"/>
              <a:t>    </a:t>
            </a:r>
            <a:r>
              <a:rPr lang="tr-TR" dirty="0" err="1"/>
              <a:t>for</a:t>
            </a:r>
            <a:r>
              <a:rPr lang="tr-TR" dirty="0"/>
              <a:t> (i=0; i&lt;</a:t>
            </a:r>
            <a:r>
              <a:rPr lang="tr-TR" dirty="0" err="1"/>
              <a:t>players</a:t>
            </a:r>
            <a:r>
              <a:rPr lang="tr-TR" dirty="0"/>
              <a:t>; i++) </a:t>
            </a:r>
          </a:p>
          <a:p>
            <a:pPr eaLnBrk="1" hangingPunct="1">
              <a:defRPr/>
            </a:pPr>
            <a:r>
              <a:rPr lang="tr-TR" dirty="0"/>
              <a:t>         name[i] = (</a:t>
            </a:r>
            <a:r>
              <a:rPr lang="tr-TR" dirty="0" err="1"/>
              <a:t>char</a:t>
            </a:r>
            <a:r>
              <a:rPr lang="tr-TR" dirty="0"/>
              <a:t> *)</a:t>
            </a:r>
            <a:r>
              <a:rPr lang="tr-TR" dirty="0" err="1"/>
              <a:t>malloc</a:t>
            </a:r>
            <a:r>
              <a:rPr lang="tr-TR" dirty="0"/>
              <a:t>(10); </a:t>
            </a:r>
          </a:p>
          <a:p>
            <a:pPr eaLnBrk="1" hangingPunct="1">
              <a:defRPr/>
            </a:pPr>
            <a:r>
              <a:rPr lang="tr-TR" dirty="0"/>
              <a:t>	</a:t>
            </a:r>
            <a:r>
              <a:rPr lang="tr-TR" dirty="0" err="1"/>
              <a:t>for</a:t>
            </a:r>
            <a:r>
              <a:rPr lang="tr-TR" dirty="0"/>
              <a:t> (</a:t>
            </a:r>
            <a:r>
              <a:rPr lang="tr-TR" dirty="0" err="1"/>
              <a:t>int</a:t>
            </a:r>
            <a:r>
              <a:rPr lang="tr-TR" dirty="0"/>
              <a:t> i = 0; i &lt; </a:t>
            </a:r>
            <a:r>
              <a:rPr lang="tr-TR" dirty="0" err="1"/>
              <a:t>players</a:t>
            </a:r>
            <a:r>
              <a:rPr lang="tr-TR" dirty="0"/>
              <a:t>; i++)</a:t>
            </a:r>
          </a:p>
          <a:p>
            <a:pPr eaLnBrk="1" hangingPunct="1">
              <a:defRPr/>
            </a:pPr>
            <a:r>
              <a:rPr lang="tr-TR" dirty="0"/>
              <a:t>	</a:t>
            </a:r>
            <a:r>
              <a:rPr lang="tr-TR" dirty="0" smtClean="0"/>
              <a:t>{</a:t>
            </a:r>
          </a:p>
          <a:p>
            <a:pPr eaLnBrk="1" hangingPunct="1">
              <a:defRPr/>
            </a:pPr>
            <a:r>
              <a:rPr lang="tr-TR" dirty="0" smtClean="0"/>
              <a:t>		</a:t>
            </a:r>
            <a:r>
              <a:rPr lang="tr-TR" dirty="0" err="1" smtClean="0"/>
              <a:t>printf</a:t>
            </a:r>
            <a:r>
              <a:rPr lang="tr-TR" dirty="0"/>
              <a:t>("\</a:t>
            </a:r>
            <a:r>
              <a:rPr lang="tr-TR" dirty="0" err="1"/>
              <a:t>nEnter</a:t>
            </a:r>
            <a:r>
              <a:rPr lang="tr-TR" dirty="0"/>
              <a:t> name: ");</a:t>
            </a:r>
          </a:p>
          <a:p>
            <a:pPr eaLnBrk="1" hangingPunct="1">
              <a:defRPr/>
            </a:pPr>
            <a:r>
              <a:rPr lang="tr-TR" dirty="0"/>
              <a:t>		</a:t>
            </a:r>
            <a:r>
              <a:rPr lang="tr-TR" dirty="0" err="1"/>
              <a:t>scanf</a:t>
            </a:r>
            <a:r>
              <a:rPr lang="tr-TR" dirty="0"/>
              <a:t>("%s", name[i]);</a:t>
            </a:r>
          </a:p>
          <a:p>
            <a:pPr eaLnBrk="1" hangingPunct="1">
              <a:defRPr/>
            </a:pPr>
            <a:r>
              <a:rPr lang="tr-TR" dirty="0"/>
              <a:t>		</a:t>
            </a:r>
            <a:r>
              <a:rPr lang="tr-TR" dirty="0" err="1"/>
              <a:t>getchar</a:t>
            </a:r>
            <a:r>
              <a:rPr lang="tr-TR" dirty="0"/>
              <a:t>();	}</a:t>
            </a:r>
          </a:p>
          <a:p>
            <a:pPr eaLnBrk="1" hangingPunct="1">
              <a:defRPr/>
            </a:pPr>
            <a:r>
              <a:rPr lang="tr-TR" dirty="0"/>
              <a:t>	</a:t>
            </a:r>
            <a:r>
              <a:rPr lang="tr-TR" dirty="0" err="1"/>
              <a:t>printName</a:t>
            </a:r>
            <a:r>
              <a:rPr lang="tr-TR" dirty="0"/>
              <a:t>( &amp;name[0], &amp;</a:t>
            </a:r>
            <a:r>
              <a:rPr lang="tr-TR" dirty="0" err="1"/>
              <a:t>players</a:t>
            </a:r>
            <a:r>
              <a:rPr lang="tr-TR" dirty="0"/>
              <a:t>);}</a:t>
            </a:r>
          </a:p>
          <a:p>
            <a:pPr eaLnBrk="1" hangingPunct="1">
              <a:defRPr/>
            </a:pPr>
            <a:endParaRPr lang="tr-TR" dirty="0"/>
          </a:p>
          <a:p>
            <a:pPr eaLnBrk="1" hangingPunct="1">
              <a:defRPr/>
            </a:pP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printName</a:t>
            </a:r>
            <a:r>
              <a:rPr lang="tr-TR" dirty="0"/>
              <a:t>(</a:t>
            </a:r>
            <a:r>
              <a:rPr lang="tr-TR" dirty="0" err="1"/>
              <a:t>char</a:t>
            </a:r>
            <a:r>
              <a:rPr lang="tr-TR" dirty="0"/>
              <a:t> *name[10], </a:t>
            </a:r>
            <a:r>
              <a:rPr lang="tr-TR" dirty="0" err="1"/>
              <a:t>int</a:t>
            </a:r>
            <a:r>
              <a:rPr lang="tr-TR" dirty="0"/>
              <a:t> *</a:t>
            </a:r>
            <a:r>
              <a:rPr lang="tr-TR" dirty="0" err="1"/>
              <a:t>players</a:t>
            </a:r>
            <a:r>
              <a:rPr lang="tr-TR" dirty="0"/>
              <a:t>)</a:t>
            </a:r>
          </a:p>
          <a:p>
            <a:pPr eaLnBrk="1" hangingPunct="1">
              <a:defRPr/>
            </a:pPr>
            <a:r>
              <a:rPr lang="tr-TR" dirty="0"/>
              <a:t>{</a:t>
            </a:r>
            <a:r>
              <a:rPr lang="tr-TR" dirty="0" err="1"/>
              <a:t>printf</a:t>
            </a:r>
            <a:r>
              <a:rPr lang="tr-TR" dirty="0"/>
              <a:t>("\</a:t>
            </a:r>
            <a:r>
              <a:rPr lang="tr-TR" dirty="0" err="1"/>
              <a:t>n%s</a:t>
            </a:r>
            <a:r>
              <a:rPr lang="tr-TR" dirty="0"/>
              <a:t>", name[0]);</a:t>
            </a:r>
          </a:p>
          <a:p>
            <a:pPr eaLnBrk="1" hangingPunct="1">
              <a:defRPr/>
            </a:pPr>
            <a:r>
              <a:rPr lang="tr-TR" dirty="0" err="1"/>
              <a:t>for</a:t>
            </a:r>
            <a:r>
              <a:rPr lang="tr-TR" dirty="0"/>
              <a:t> (</a:t>
            </a:r>
            <a:r>
              <a:rPr lang="tr-TR" dirty="0" err="1"/>
              <a:t>int</a:t>
            </a:r>
            <a:r>
              <a:rPr lang="tr-TR" dirty="0"/>
              <a:t> i = 1; i &lt; *</a:t>
            </a:r>
            <a:r>
              <a:rPr lang="tr-TR" dirty="0" err="1"/>
              <a:t>players</a:t>
            </a:r>
            <a:r>
              <a:rPr lang="tr-TR" dirty="0"/>
              <a:t>; i++)</a:t>
            </a:r>
          </a:p>
          <a:p>
            <a:pPr eaLnBrk="1" hangingPunct="1">
              <a:defRPr/>
            </a:pPr>
            <a:r>
              <a:rPr lang="tr-TR" dirty="0"/>
              <a:t>	{	</a:t>
            </a:r>
            <a:r>
              <a:rPr lang="tr-TR" dirty="0" err="1"/>
              <a:t>printf</a:t>
            </a:r>
            <a:r>
              <a:rPr lang="tr-TR" dirty="0"/>
              <a:t>("\n\</a:t>
            </a:r>
            <a:r>
              <a:rPr lang="tr-TR" dirty="0" err="1"/>
              <a:t>n%s</a:t>
            </a:r>
            <a:r>
              <a:rPr lang="tr-TR" dirty="0"/>
              <a:t>", name[i]);	}}</a:t>
            </a:r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Bilgisayar Programlama 1</a:t>
            </a:r>
            <a:endParaRPr lang="en-US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A4A4DD-9079-48BC-9283-D992FC901522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İçerik Yer Tutucusu 2"/>
          <p:cNvSpPr>
            <a:spLocks noGrp="1"/>
          </p:cNvSpPr>
          <p:nvPr>
            <p:ph idx="1"/>
          </p:nvPr>
        </p:nvSpPr>
        <p:spPr>
          <a:xfrm>
            <a:off x="539750" y="333375"/>
            <a:ext cx="8208963" cy="6740525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endParaRPr lang="tr-TR" altLang="tr-TR" sz="1100" smtClean="0"/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#include &lt;stdio.h&gt;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#include &lt;string.h&gt;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#include &lt;stdlib.h&gt;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void printName(char *name[], int p);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int main()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{char **isim ;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int i, players;	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printf("Kac deger girilecek: ");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scanf("%d", &amp;players);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isim=(char **) malloc(players*sizeof(char *));//girilen değer adet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   for(i=0;i&lt;players ;i++)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    isim[i]=(char *) malloc(20*sizeof(char));// her biri 20 karakterlik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for ( i = 0; i &lt; players; i++)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{	printf("\n Isim giriniz: ");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	scanf("%s", &amp;isim[i][0]);	}	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	for ( i = 0; i &lt; players; i++)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{puts(isim[i]);}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//burada fonksiyon içinden yazdırılıyor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printName( &amp;isim[0], players);	}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endParaRPr lang="tr-TR" altLang="tr-TR" sz="1100" smtClean="0"/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void printName(char *name[], int p)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{for (int i = 0; i &lt; p; i++)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tr-TR" altLang="tr-TR" sz="1100" smtClean="0"/>
              <a:t>	{	printf("\n%s", name[i]);	}}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r-TR" dirty="0" err="1" smtClean="0"/>
              <a:t>char</a:t>
            </a:r>
            <a:r>
              <a:rPr lang="tr-TR" dirty="0" smtClean="0"/>
              <a:t> arama 1</a:t>
            </a:r>
            <a:endParaRPr lang="tr-TR" dirty="0"/>
          </a:p>
        </p:txBody>
      </p:sp>
      <p:sp>
        <p:nvSpPr>
          <p:cNvPr id="70659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sz="1100" smtClean="0"/>
              <a:t>#include&lt;stdio.h&gt;</a:t>
            </a:r>
          </a:p>
          <a:p>
            <a:pPr eaLnBrk="1" hangingPunct="1"/>
            <a:r>
              <a:rPr lang="tr-TR" altLang="tr-TR" sz="1100" smtClean="0"/>
              <a:t>#include&lt;string.h&gt;</a:t>
            </a:r>
          </a:p>
          <a:p>
            <a:pPr eaLnBrk="1" hangingPunct="1"/>
            <a:r>
              <a:rPr lang="tr-TR" altLang="tr-TR" sz="1100" smtClean="0"/>
              <a:t>void arama( char string[20], char harf, int *ptr1, int *ptr2 );</a:t>
            </a:r>
          </a:p>
          <a:p>
            <a:pPr eaLnBrk="1" hangingPunct="1"/>
            <a:r>
              <a:rPr lang="tr-TR" altLang="tr-TR" sz="1100" smtClean="0"/>
              <a:t>int main()</a:t>
            </a:r>
          </a:p>
          <a:p>
            <a:pPr eaLnBrk="1" hangingPunct="1"/>
            <a:r>
              <a:rPr lang="tr-TR" altLang="tr-TR" sz="1100" smtClean="0"/>
              <a:t>{char string[20],harf;</a:t>
            </a:r>
          </a:p>
          <a:p>
            <a:pPr eaLnBrk="1" hangingPunct="1"/>
            <a:r>
              <a:rPr lang="tr-TR" altLang="tr-TR" sz="1100" smtClean="0"/>
              <a:t>	int p1, p2;</a:t>
            </a:r>
          </a:p>
          <a:p>
            <a:pPr eaLnBrk="1" hangingPunct="1"/>
            <a:r>
              <a:rPr lang="tr-TR" altLang="tr-TR" sz="1100" smtClean="0"/>
              <a:t>	printf("String = ");</a:t>
            </a:r>
          </a:p>
          <a:p>
            <a:pPr eaLnBrk="1" hangingPunct="1"/>
            <a:r>
              <a:rPr lang="tr-TR" altLang="tr-TR" sz="1100" smtClean="0"/>
              <a:t>	gets(string);</a:t>
            </a:r>
          </a:p>
          <a:p>
            <a:pPr eaLnBrk="1" hangingPunct="1"/>
            <a:r>
              <a:rPr lang="tr-TR" altLang="tr-TR" sz="1100" smtClean="0"/>
              <a:t>	printf("Aranan harf = ");</a:t>
            </a:r>
          </a:p>
          <a:p>
            <a:pPr eaLnBrk="1" hangingPunct="1"/>
            <a:r>
              <a:rPr lang="tr-TR" altLang="tr-TR" sz="1100" smtClean="0"/>
              <a:t>	scanf("%c",&amp;harf);</a:t>
            </a:r>
          </a:p>
          <a:p>
            <a:pPr eaLnBrk="1" hangingPunct="1"/>
            <a:r>
              <a:rPr lang="tr-TR" altLang="tr-TR" sz="1100" smtClean="0"/>
              <a:t>	arama( string, harf,&amp;p1,&amp;p2);</a:t>
            </a:r>
          </a:p>
          <a:p>
            <a:pPr eaLnBrk="1" hangingPunct="1"/>
            <a:r>
              <a:rPr lang="tr-TR" altLang="tr-TR" sz="1100" smtClean="0"/>
              <a:t>	printf("%d , %d",p1,p2);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İçerik Yer Tutucusu 2"/>
          <p:cNvSpPr>
            <a:spLocks noGrp="1"/>
          </p:cNvSpPr>
          <p:nvPr>
            <p:ph idx="1"/>
          </p:nvPr>
        </p:nvSpPr>
        <p:spPr>
          <a:xfrm>
            <a:off x="755650" y="836613"/>
            <a:ext cx="7773988" cy="4040187"/>
          </a:xfrm>
        </p:spPr>
        <p:txBody>
          <a:bodyPr/>
          <a:lstStyle/>
          <a:p>
            <a:pPr eaLnBrk="1" hangingPunct="1"/>
            <a:r>
              <a:rPr lang="tr-TR" altLang="tr-TR" sz="1800" smtClean="0"/>
              <a:t>void arama( char string[20], char harf, int *ptr1, int *ptr2 )</a:t>
            </a:r>
          </a:p>
          <a:p>
            <a:pPr eaLnBrk="1" hangingPunct="1"/>
            <a:r>
              <a:rPr lang="tr-TR" altLang="tr-TR" sz="1800" smtClean="0"/>
              <a:t>{int i,k,j,flag = 0;</a:t>
            </a:r>
          </a:p>
          <a:p>
            <a:pPr eaLnBrk="1" hangingPunct="1"/>
            <a:r>
              <a:rPr lang="tr-TR" altLang="tr-TR" sz="1800" smtClean="0"/>
              <a:t>	for( i = 0; i &lt; strlen(string); i++ )</a:t>
            </a:r>
          </a:p>
          <a:p>
            <a:pPr eaLnBrk="1" hangingPunct="1"/>
            <a:r>
              <a:rPr lang="tr-TR" altLang="tr-TR" sz="1800" smtClean="0"/>
              <a:t>	{	if( string[i] == harf &amp;&amp; flag == 0)</a:t>
            </a:r>
          </a:p>
          <a:p>
            <a:pPr eaLnBrk="1" hangingPunct="1"/>
            <a:r>
              <a:rPr lang="tr-TR" altLang="tr-TR" sz="1800" smtClean="0"/>
              <a:t>		{	k = i;</a:t>
            </a:r>
          </a:p>
          <a:p>
            <a:pPr eaLnBrk="1" hangingPunct="1"/>
            <a:r>
              <a:rPr lang="tr-TR" altLang="tr-TR" sz="1800" smtClean="0"/>
              <a:t>			flag++;	}</a:t>
            </a:r>
          </a:p>
          <a:p>
            <a:pPr eaLnBrk="1" hangingPunct="1"/>
            <a:r>
              <a:rPr lang="tr-TR" altLang="tr-TR" sz="1800" smtClean="0"/>
              <a:t>		if( string[i] == harf )</a:t>
            </a:r>
          </a:p>
          <a:p>
            <a:pPr eaLnBrk="1" hangingPunct="1"/>
            <a:r>
              <a:rPr lang="tr-TR" altLang="tr-TR" sz="1800" smtClean="0"/>
              <a:t>		{	j++;	}	}</a:t>
            </a:r>
          </a:p>
          <a:p>
            <a:pPr eaLnBrk="1" hangingPunct="1"/>
            <a:r>
              <a:rPr lang="tr-TR" altLang="tr-TR" sz="1800" smtClean="0"/>
              <a:t>	if( j == 0 )</a:t>
            </a:r>
          </a:p>
          <a:p>
            <a:pPr eaLnBrk="1" hangingPunct="1"/>
            <a:r>
              <a:rPr lang="tr-TR" altLang="tr-TR" sz="1800" smtClean="0"/>
              <a:t>	{	printf("Hic Yok!!!");	}</a:t>
            </a:r>
          </a:p>
          <a:p>
            <a:pPr eaLnBrk="1" hangingPunct="1"/>
            <a:r>
              <a:rPr lang="tr-TR" altLang="tr-TR" sz="1800" smtClean="0"/>
              <a:t>	else</a:t>
            </a:r>
          </a:p>
          <a:p>
            <a:pPr eaLnBrk="1" hangingPunct="1"/>
            <a:r>
              <a:rPr lang="tr-TR" altLang="tr-TR" sz="1800" smtClean="0"/>
              <a:t>	//printf("ilk %d. elemanda var ve %d defa var ",k+1,j);</a:t>
            </a:r>
          </a:p>
          <a:p>
            <a:pPr eaLnBrk="1" hangingPunct="1"/>
            <a:r>
              <a:rPr lang="tr-TR" altLang="tr-TR" sz="1800" smtClean="0"/>
              <a:t>	*ptr1 = k+1;</a:t>
            </a:r>
          </a:p>
          <a:p>
            <a:pPr eaLnBrk="1" hangingPunct="1"/>
            <a:r>
              <a:rPr lang="tr-TR" altLang="tr-TR" sz="1800" smtClean="0"/>
              <a:t>	*ptr2 = j;}</a:t>
            </a:r>
          </a:p>
        </p:txBody>
      </p:sp>
      <p:sp>
        <p:nvSpPr>
          <p:cNvPr id="4" name="Unvan 3"/>
          <p:cNvSpPr>
            <a:spLocks noGrp="1"/>
          </p:cNvSpPr>
          <p:nvPr>
            <p:ph type="title"/>
          </p:nvPr>
        </p:nvSpPr>
        <p:spPr>
          <a:xfrm>
            <a:off x="727303" y="-243408"/>
            <a:ext cx="7772400" cy="1609725"/>
          </a:xfrm>
        </p:spPr>
        <p:txBody>
          <a:bodyPr/>
          <a:lstStyle/>
          <a:p>
            <a:pPr eaLnBrk="1" hangingPunct="1">
              <a:defRPr/>
            </a:pPr>
            <a:r>
              <a:rPr lang="tr-TR" dirty="0" err="1" smtClean="0"/>
              <a:t>char</a:t>
            </a:r>
            <a:r>
              <a:rPr lang="tr-TR" dirty="0" smtClean="0"/>
              <a:t> arama 2</a:t>
            </a:r>
            <a:endParaRPr lang="tr-T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 Yazı Tipi">
  <a:themeElements>
    <a:clrScheme name="Wood Type Yazı Tipi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 Yazı Tipi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 Yazı Tipi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Tahta Yazı</Template>
  <TotalTime>5585</TotalTime>
  <Words>3158</Words>
  <Application>Microsoft Office PowerPoint</Application>
  <PresentationFormat>On-screen Show (4:3)</PresentationFormat>
  <Paragraphs>759</Paragraphs>
  <Slides>65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Arial</vt:lpstr>
      <vt:lpstr>Calibri</vt:lpstr>
      <vt:lpstr>Rockwell</vt:lpstr>
      <vt:lpstr>Rockwell Condensed</vt:lpstr>
      <vt:lpstr>Verdana</vt:lpstr>
      <vt:lpstr>Wingdings</vt:lpstr>
      <vt:lpstr>Wood Type Yazı Tipi</vt:lpstr>
      <vt:lpstr>STRİNG FONKSİYONLARI</vt:lpstr>
      <vt:lpstr>QUİZDEN ÖNCEKİ ÖDEV</vt:lpstr>
      <vt:lpstr>Ödev çözümü</vt:lpstr>
      <vt:lpstr>PowerPoint Presentation</vt:lpstr>
      <vt:lpstr>Ev ödevi</vt:lpstr>
      <vt:lpstr>ÇÖZÜMÜ</vt:lpstr>
      <vt:lpstr>StrIng</vt:lpstr>
      <vt:lpstr>Scanf ve PrIntf</vt:lpstr>
      <vt:lpstr>Gets ve Puts </vt:lpstr>
      <vt:lpstr>Karakter Dizisi</vt:lpstr>
      <vt:lpstr>PowerPoint Presentation</vt:lpstr>
      <vt:lpstr>STRING</vt:lpstr>
      <vt:lpstr>  Tanımlama Biçimleri  Dizi şeklinde tanımlama </vt:lpstr>
      <vt:lpstr>  İşaretçi olarak tanımlama </vt:lpstr>
      <vt:lpstr>Değer Atama</vt:lpstr>
      <vt:lpstr>PowerPoint Presentation</vt:lpstr>
      <vt:lpstr>Karakter Dizisinin Herhangi Bir Karakterine Erişme</vt:lpstr>
      <vt:lpstr>    string.h kütüphanesine ait  bazı fonksiyonlar</vt:lpstr>
      <vt:lpstr>PowerPoint Presentation</vt:lpstr>
      <vt:lpstr>strrev</vt:lpstr>
      <vt:lpstr>Hazır fonksiyon kullanmadan NASIL YAPILIR?:EV ÖDEVİ</vt:lpstr>
      <vt:lpstr>strcat</vt:lpstr>
      <vt:lpstr>strcpy ( s2, s1 )     (s1’den s2’ye kopyalar</vt:lpstr>
      <vt:lpstr>PowerPoint Presentation</vt:lpstr>
      <vt:lpstr>PowerPoint Presentation</vt:lpstr>
      <vt:lpstr>PowerPoint Presentation</vt:lpstr>
      <vt:lpstr>PowerPoint Presentation</vt:lpstr>
      <vt:lpstr>Örnekler</vt:lpstr>
      <vt:lpstr>PowerPoint Presentation</vt:lpstr>
      <vt:lpstr>PowerPoint Presentation</vt:lpstr>
      <vt:lpstr>PowerPoint Presentation</vt:lpstr>
      <vt:lpstr>PowerPoint Presentation</vt:lpstr>
      <vt:lpstr>Bir string i farklı yöntemlerle ekrana yazdırılması </vt:lpstr>
      <vt:lpstr>ÇIKTI </vt:lpstr>
      <vt:lpstr>Bir string içinde 'm' karakterinin sayısını öğrenme </vt:lpstr>
      <vt:lpstr>Dinamik bellek kullanımı ile çözüm</vt:lpstr>
      <vt:lpstr>ÇIKTI</vt:lpstr>
      <vt:lpstr>Bir string yazdırma  [/*  Bir elemanları string olan karakter dizisini yazdırma */ ]</vt:lpstr>
      <vt:lpstr>ÇIKTI </vt:lpstr>
      <vt:lpstr>strcmp fonksiyonunun kullanımı [Basit bir şifre programı.    Kullanıcı en fazla 3 kez yanlış şifre ] </vt:lpstr>
      <vt:lpstr>strcpy fonksiyonunun kullanımı  [Bir string diğerine kopyalama ]</vt:lpstr>
      <vt:lpstr>ÇIKTI </vt:lpstr>
      <vt:lpstr>strcat fonksiyonunun kullanımı Bir katarı diğerine ekler  </vt:lpstr>
      <vt:lpstr>ÇIKTI </vt:lpstr>
      <vt:lpstr>strlen fonksiyonunun kullanımı  [Bir karakter dizisinin uzunluğunu bulur ]</vt:lpstr>
      <vt:lpstr>ÇIKTI  </vt:lpstr>
      <vt:lpstr>Isim sırlama  [Kabarcık Sıralama (Bubble Sort) Algoritması ile   isimleri alfabetik sırayla listeler ]</vt:lpstr>
      <vt:lpstr>PowerPoint Presentation</vt:lpstr>
      <vt:lpstr>strlen dengi bir fonksiyon: struzn [Bir katarın uzunluğunu bulan strlen dengi bir fonksiyon ] </vt:lpstr>
      <vt:lpstr>ÇIKTI</vt:lpstr>
      <vt:lpstr>strrev dengi bir fonksiyon: strcev [: Bir katarın tersini veren bir fonksiyon */ ] </vt:lpstr>
      <vt:lpstr>ÇIKTI</vt:lpstr>
      <vt:lpstr>EV ÖDEVİ:2 STRİNG İ KIYASLAMA</vt:lpstr>
      <vt:lpstr>EV ÖDEVİ: Klavyeden enter tuşuna basılıncaya girilen bir ifadenin bir değişkende saklanmasını sağlayan bir program yazınız. </vt:lpstr>
      <vt:lpstr>EV ÖDEVİ: Klavyeden girilmiş bir ifadenin uzunluğunu strlen fonksiyonu kullanmadan bulan programı yazınız. </vt:lpstr>
      <vt:lpstr>EV ÖDEVİ: Klavyeden EN FAZLA 8 karakter ve enter tuşuna basılıncaya kadar ifadelerin okunmasını sağlayan programı yazınız. Bir karakter strıng sonlandırma için ayrılıyor</vt:lpstr>
      <vt:lpstr>EV ÖDEVİ:  Girilen cümleyi oluşturan kelimelerin sadece ilk harflerini yazdıran program. </vt:lpstr>
      <vt:lpstr>PowerPoint Presentation</vt:lpstr>
      <vt:lpstr>EV ÖDEVİ: String tipi bir değişkenin değerini  tamsayısal tipe dönüştüren işlevi yazınız.(atoi (stdlib.h)) Girdi : Tamsayısal string Çıktı : Karşılık gelen sayı</vt:lpstr>
      <vt:lpstr>EV ÖDEVİ: Bir dizgi içerisindeki bir karakterin bulunması ve DEĞİŞTİRİLMESİ</vt:lpstr>
      <vt:lpstr>PowerPoint Presentation</vt:lpstr>
      <vt:lpstr>PowerPoint Presentation</vt:lpstr>
      <vt:lpstr>PowerPoint Presentation</vt:lpstr>
      <vt:lpstr>char arama 1</vt:lpstr>
      <vt:lpstr>char arama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STRİNG FONKSİYONLAR</dc:title>
  <dc:creator>NİYAZİ</dc:creator>
  <cp:lastModifiedBy>Berna</cp:lastModifiedBy>
  <cp:revision>97</cp:revision>
  <dcterms:created xsi:type="dcterms:W3CDTF">2012-05-17T11:18:11Z</dcterms:created>
  <dcterms:modified xsi:type="dcterms:W3CDTF">2023-04-12T09:03:35Z</dcterms:modified>
</cp:coreProperties>
</file>